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DRAWINGS — ELECTRICAL / AGL SCOPE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325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RECTIFICATION OF TWY E BETWEEN E4 &amp; E6 (ADIA)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AT THREE (3) MILLING LOCATIONS — FIELD CONDITION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49377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[XXX-ELE-SHD-1001 / 1002 / 1003]  ·  Revision P05 (EDITABLE ISSUE)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413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of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54132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verification sheets: Document_3 (LOC-01) · Second_milling_area rev _1 (LOC-02/03)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888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5888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As-built AGL asset survey assets_20260726120533.xlsx — UTM 40N (EPSG:32640)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364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63642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— AGL Team Leader, ADB SAFEGATE AGL Team  ·  Issued 28.07.2026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7863840"/>
            <a:ext cx="1325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VERSION — every symbol, polygon, label, note and legend entry on the drawing sheets is a native PowerPoint shape. Click any element to move, restyle or retype it, then export to PDF for issue.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1   ·   DWG NO [XXX-ELE-SHD-1001] REV P05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951025" y="777240"/>
            <a:ext cx="166132" cy="134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7157" y="911348"/>
            <a:ext cx="522676" cy="41748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39833" y="1328834"/>
            <a:ext cx="2059" cy="16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1892" y="1330519"/>
            <a:ext cx="521647" cy="41889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3539" y="1749409"/>
            <a:ext cx="523612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7151" y="2170170"/>
            <a:ext cx="522021" cy="4190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9173" y="2589247"/>
            <a:ext cx="523987" cy="42066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3159" y="3009915"/>
            <a:ext cx="522957" cy="41963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6117" y="3429554"/>
            <a:ext cx="566381" cy="455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2497" y="3884661"/>
            <a:ext cx="522957" cy="413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5455" y="4298123"/>
            <a:ext cx="11885" cy="954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57340" y="4307669"/>
            <a:ext cx="544950" cy="443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02290" y="4751266"/>
            <a:ext cx="76927" cy="690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79217" y="4820332"/>
            <a:ext cx="69909" cy="760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49126" y="4896417"/>
            <a:ext cx="62328" cy="823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1454" y="4978773"/>
            <a:ext cx="21244" cy="3453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2698" y="5013306"/>
            <a:ext cx="43237" cy="1516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5935" y="5028467"/>
            <a:ext cx="96580" cy="4492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515" y="5073388"/>
            <a:ext cx="91620" cy="5428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4136" y="5127667"/>
            <a:ext cx="85818" cy="630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9954" y="5190744"/>
            <a:ext cx="544856" cy="443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4810" y="5634341"/>
            <a:ext cx="79174" cy="7121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73984" y="5705559"/>
            <a:ext cx="71780" cy="787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45764" y="5784359"/>
            <a:ext cx="63545" cy="8544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09309" y="5869802"/>
            <a:ext cx="14225" cy="236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67403" y="7240459"/>
            <a:ext cx="91340" cy="74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58743" y="7247946"/>
            <a:ext cx="105003" cy="1927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63746" y="7267225"/>
            <a:ext cx="338968" cy="79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06522" y="10155469"/>
            <a:ext cx="199079" cy="1772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2846" y="3168387"/>
            <a:ext cx="322871" cy="25929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5717" y="3427682"/>
            <a:ext cx="523706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39423" y="3848444"/>
            <a:ext cx="522302" cy="41935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61725" y="4267802"/>
            <a:ext cx="524174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85899" y="4688563"/>
            <a:ext cx="522676" cy="41954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08575" y="5108108"/>
            <a:ext cx="569001" cy="4571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7577" y="5565274"/>
            <a:ext cx="6551" cy="52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84128" y="5570515"/>
            <a:ext cx="520243" cy="4113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04371" y="5981825"/>
            <a:ext cx="8891" cy="720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13261" y="5989031"/>
            <a:ext cx="6457" cy="322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19719" y="6021318"/>
            <a:ext cx="31070" cy="10210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50789" y="6123420"/>
            <a:ext cx="41084" cy="9845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91874" y="6221872"/>
            <a:ext cx="50723" cy="939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42597" y="6315832"/>
            <a:ext cx="59708" cy="8843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02305" y="6404271"/>
            <a:ext cx="421229" cy="56188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23534" y="6966160"/>
            <a:ext cx="65884" cy="796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89419" y="7045801"/>
            <a:ext cx="73184" cy="7290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62603" y="7118704"/>
            <a:ext cx="58398" cy="4791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21000" y="7166620"/>
            <a:ext cx="16845" cy="649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37846" y="7231569"/>
            <a:ext cx="37247" cy="1008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75093" y="7332454"/>
            <a:ext cx="47074" cy="966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22166" y="7429128"/>
            <a:ext cx="318940" cy="5791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41107" y="8008237"/>
            <a:ext cx="253711" cy="5578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94818" y="8566102"/>
            <a:ext cx="200929" cy="56516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95746" y="9131266"/>
            <a:ext cx="186423" cy="60999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82169" y="9741258"/>
            <a:ext cx="122674" cy="591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9050973" y="10155469"/>
            <a:ext cx="155549" cy="1772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80275" y="7171861"/>
            <a:ext cx="87128" cy="6859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69095" y="7104386"/>
            <a:ext cx="111180" cy="6747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84177" y="6901305"/>
            <a:ext cx="384918" cy="20308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81341" y="6499167"/>
            <a:ext cx="502836" cy="4021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75913" y="6494862"/>
            <a:ext cx="5428" cy="4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524318" y="6059594"/>
            <a:ext cx="551594" cy="4352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2846" y="1790079"/>
            <a:ext cx="475228" cy="37962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68" name="Shape 66"/>
          <p:cNvSpPr/>
          <p:nvPr/>
        </p:nvSpPr>
        <p:spPr>
          <a:xfrm>
            <a:off x="968075" y="2169702"/>
            <a:ext cx="521647" cy="41889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69" name="Shape 67"/>
          <p:cNvSpPr/>
          <p:nvPr/>
        </p:nvSpPr>
        <p:spPr>
          <a:xfrm>
            <a:off x="1489722" y="2588592"/>
            <a:ext cx="523519" cy="42066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0" name="Shape 68"/>
          <p:cNvSpPr/>
          <p:nvPr/>
        </p:nvSpPr>
        <p:spPr>
          <a:xfrm>
            <a:off x="2013240" y="3009260"/>
            <a:ext cx="522209" cy="41926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1" name="Shape 69"/>
          <p:cNvSpPr/>
          <p:nvPr/>
        </p:nvSpPr>
        <p:spPr>
          <a:xfrm>
            <a:off x="2535449" y="3428524"/>
            <a:ext cx="524080" cy="42066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2" name="Shape 70"/>
          <p:cNvSpPr/>
          <p:nvPr/>
        </p:nvSpPr>
        <p:spPr>
          <a:xfrm>
            <a:off x="3059529" y="3849192"/>
            <a:ext cx="522957" cy="41973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3" name="Shape 71"/>
          <p:cNvSpPr/>
          <p:nvPr/>
        </p:nvSpPr>
        <p:spPr>
          <a:xfrm>
            <a:off x="3582486" y="4268925"/>
            <a:ext cx="569189" cy="45735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4" name="Shape 72"/>
          <p:cNvSpPr/>
          <p:nvPr/>
        </p:nvSpPr>
        <p:spPr>
          <a:xfrm>
            <a:off x="4151675" y="4726278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5" name="Shape 73"/>
          <p:cNvSpPr/>
          <p:nvPr/>
        </p:nvSpPr>
        <p:spPr>
          <a:xfrm>
            <a:off x="4151675" y="4726278"/>
            <a:ext cx="526233" cy="41608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6" name="Shape 74"/>
          <p:cNvSpPr/>
          <p:nvPr/>
        </p:nvSpPr>
        <p:spPr>
          <a:xfrm>
            <a:off x="4677908" y="5142360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7" name="Shape 75"/>
          <p:cNvSpPr/>
          <p:nvPr/>
        </p:nvSpPr>
        <p:spPr>
          <a:xfrm>
            <a:off x="4677908" y="5142360"/>
            <a:ext cx="544950" cy="44359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8" name="Shape 76"/>
          <p:cNvSpPr/>
          <p:nvPr/>
        </p:nvSpPr>
        <p:spPr>
          <a:xfrm flipV="1">
            <a:off x="5063387" y="5585957"/>
            <a:ext cx="159470" cy="1727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9" name="Shape 77"/>
          <p:cNvSpPr/>
          <p:nvPr/>
        </p:nvSpPr>
        <p:spPr>
          <a:xfrm>
            <a:off x="5063387" y="5758716"/>
            <a:ext cx="421229" cy="56188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0" name="Shape 78"/>
          <p:cNvSpPr/>
          <p:nvPr/>
        </p:nvSpPr>
        <p:spPr>
          <a:xfrm flipV="1">
            <a:off x="5484617" y="6025342"/>
            <a:ext cx="285811" cy="29526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1" name="Shape 79"/>
          <p:cNvSpPr/>
          <p:nvPr/>
        </p:nvSpPr>
        <p:spPr>
          <a:xfrm>
            <a:off x="5770428" y="6025342"/>
            <a:ext cx="544856" cy="44359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2" name="Shape 80"/>
          <p:cNvSpPr/>
          <p:nvPr/>
        </p:nvSpPr>
        <p:spPr>
          <a:xfrm flipV="1">
            <a:off x="5864856" y="6468938"/>
            <a:ext cx="450428" cy="4409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3" name="Shape 81"/>
          <p:cNvSpPr/>
          <p:nvPr/>
        </p:nvSpPr>
        <p:spPr>
          <a:xfrm>
            <a:off x="5864856" y="6909915"/>
            <a:ext cx="338874" cy="61523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4" name="Shape 82"/>
          <p:cNvSpPr/>
          <p:nvPr/>
        </p:nvSpPr>
        <p:spPr>
          <a:xfrm>
            <a:off x="6203730" y="7525147"/>
            <a:ext cx="289741" cy="63722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5" name="Shape 83"/>
          <p:cNvSpPr/>
          <p:nvPr/>
        </p:nvSpPr>
        <p:spPr>
          <a:xfrm>
            <a:off x="6493471" y="8162373"/>
            <a:ext cx="224419" cy="63114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6" name="Shape 84"/>
          <p:cNvSpPr/>
          <p:nvPr/>
        </p:nvSpPr>
        <p:spPr>
          <a:xfrm>
            <a:off x="6717890" y="8793515"/>
            <a:ext cx="208041" cy="68064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7" name="Shape 85"/>
          <p:cNvSpPr/>
          <p:nvPr/>
        </p:nvSpPr>
        <p:spPr>
          <a:xfrm>
            <a:off x="6925931" y="9474164"/>
            <a:ext cx="140847" cy="67924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8" name="Shape 86"/>
          <p:cNvSpPr/>
          <p:nvPr/>
        </p:nvSpPr>
        <p:spPr>
          <a:xfrm>
            <a:off x="7066778" y="10153410"/>
            <a:ext cx="25992" cy="1793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9" name="Shape 87"/>
          <p:cNvSpPr/>
          <p:nvPr/>
        </p:nvSpPr>
        <p:spPr>
          <a:xfrm flipV="1">
            <a:off x="7619078" y="8630957"/>
            <a:ext cx="1493390" cy="170176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0" name="Shape 88"/>
          <p:cNvSpPr/>
          <p:nvPr/>
        </p:nvSpPr>
        <p:spPr>
          <a:xfrm>
            <a:off x="9112469" y="8630957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1" name="Shape 89"/>
          <p:cNvSpPr/>
          <p:nvPr/>
        </p:nvSpPr>
        <p:spPr>
          <a:xfrm flipV="1">
            <a:off x="9112469" y="8314918"/>
            <a:ext cx="5147" cy="31603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2" name="Shape 90"/>
          <p:cNvSpPr/>
          <p:nvPr/>
        </p:nvSpPr>
        <p:spPr>
          <a:xfrm>
            <a:off x="9117616" y="8314918"/>
            <a:ext cx="585098" cy="13744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3" name="Shape 91"/>
          <p:cNvSpPr/>
          <p:nvPr/>
        </p:nvSpPr>
        <p:spPr>
          <a:xfrm>
            <a:off x="8466914" y="8056246"/>
            <a:ext cx="1235800" cy="110008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4" name="Shape 92"/>
          <p:cNvSpPr/>
          <p:nvPr/>
        </p:nvSpPr>
        <p:spPr>
          <a:xfrm>
            <a:off x="7952847" y="7785035"/>
            <a:ext cx="514067" cy="27121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5" name="Shape 93"/>
          <p:cNvSpPr/>
          <p:nvPr/>
        </p:nvSpPr>
        <p:spPr>
          <a:xfrm>
            <a:off x="7918314" y="7746852"/>
            <a:ext cx="34533" cy="3818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6" name="Shape 94"/>
          <p:cNvSpPr/>
          <p:nvPr/>
        </p:nvSpPr>
        <p:spPr>
          <a:xfrm>
            <a:off x="7409208" y="7339754"/>
            <a:ext cx="509107" cy="40709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7" name="Shape 95"/>
          <p:cNvSpPr/>
          <p:nvPr/>
        </p:nvSpPr>
        <p:spPr>
          <a:xfrm>
            <a:off x="6857613" y="6904487"/>
            <a:ext cx="551594" cy="4352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8" name="Shape 96"/>
          <p:cNvSpPr/>
          <p:nvPr/>
        </p:nvSpPr>
        <p:spPr>
          <a:xfrm flipV="1">
            <a:off x="4384516" y="3796691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4208762" y="4015681"/>
            <a:ext cx="175754" cy="21908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4032914" y="4234766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3857067" y="4453756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3681313" y="4672747"/>
            <a:ext cx="175754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3505465" y="4891738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334952" y="5110728"/>
            <a:ext cx="170513" cy="217587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7918314" y="5683099"/>
            <a:ext cx="584349" cy="2063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 flipV="1">
            <a:off x="3582486" y="2467867"/>
            <a:ext cx="635915" cy="18010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 flipV="1">
            <a:off x="6857613" y="5683099"/>
            <a:ext cx="1645050" cy="12213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 flipV="1">
            <a:off x="7952847" y="5683099"/>
            <a:ext cx="549816" cy="210193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 flipV="1">
            <a:off x="9047614" y="6944825"/>
            <a:ext cx="655100" cy="172216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 flipV="1">
            <a:off x="7409208" y="5683099"/>
            <a:ext cx="1093456" cy="165665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 flipV="1">
            <a:off x="6454914" y="3958688"/>
            <a:ext cx="1270052" cy="7678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7621086" y="5506315"/>
            <a:ext cx="881578" cy="17678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 flipV="1">
            <a:off x="8453906" y="5683099"/>
            <a:ext cx="48758" cy="25417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 flipV="1">
            <a:off x="3059529" y="2467867"/>
            <a:ext cx="1158872" cy="138132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 flipV="1">
            <a:off x="2535449" y="2467867"/>
            <a:ext cx="1682953" cy="9606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 flipV="1">
            <a:off x="2013240" y="1612586"/>
            <a:ext cx="1308235" cy="13966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 flipV="1">
            <a:off x="1489722" y="796519"/>
            <a:ext cx="801281" cy="17920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 flipV="1">
            <a:off x="968075" y="796519"/>
            <a:ext cx="1322928" cy="137318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 flipV="1">
            <a:off x="492846" y="796519"/>
            <a:ext cx="1798157" cy="92845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 flipV="1">
            <a:off x="492846" y="796519"/>
            <a:ext cx="1798157" cy="460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 flipV="1">
            <a:off x="1935751" y="5328315"/>
            <a:ext cx="1399201" cy="16003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 flipV="1">
            <a:off x="1935751" y="5110728"/>
            <a:ext cx="1569714" cy="37761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 flipV="1">
            <a:off x="9112469" y="6996736"/>
            <a:ext cx="590245" cy="163422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 flipV="1">
            <a:off x="492846" y="796519"/>
            <a:ext cx="1798157" cy="38641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 flipV="1">
            <a:off x="4133238" y="7525147"/>
            <a:ext cx="2070491" cy="49993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4133238" y="8025082"/>
            <a:ext cx="2360233" cy="13729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 flipV="1">
            <a:off x="4965966" y="8793515"/>
            <a:ext cx="1751924" cy="153920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 flipV="1">
            <a:off x="5068702" y="9474164"/>
            <a:ext cx="1857229" cy="85855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 flipV="1">
            <a:off x="6530809" y="10153410"/>
            <a:ext cx="535968" cy="17931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 flipV="1">
            <a:off x="9117616" y="6879600"/>
            <a:ext cx="585098" cy="143531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 flipV="1">
            <a:off x="8466914" y="5683099"/>
            <a:ext cx="35750" cy="237314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2" name="Shape 130"/>
          <p:cNvSpPr/>
          <p:nvPr/>
        </p:nvSpPr>
        <p:spPr>
          <a:xfrm flipV="1">
            <a:off x="9316205" y="6128775"/>
            <a:ext cx="386509" cy="16628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3" name="Shape 131"/>
          <p:cNvSpPr/>
          <p:nvPr/>
        </p:nvSpPr>
        <p:spPr>
          <a:xfrm flipV="1">
            <a:off x="4133238" y="6025342"/>
            <a:ext cx="1637189" cy="199974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4" name="Shape 132"/>
          <p:cNvSpPr/>
          <p:nvPr/>
        </p:nvSpPr>
        <p:spPr>
          <a:xfrm flipV="1">
            <a:off x="6315284" y="5683099"/>
            <a:ext cx="2187380" cy="78584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 flipV="1">
            <a:off x="4677908" y="3169760"/>
            <a:ext cx="563386" cy="197260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6" name="Shape 134"/>
          <p:cNvSpPr/>
          <p:nvPr/>
        </p:nvSpPr>
        <p:spPr>
          <a:xfrm flipV="1">
            <a:off x="5222857" y="3169760"/>
            <a:ext cx="18436" cy="241619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 flipV="1">
            <a:off x="4106473" y="3169760"/>
            <a:ext cx="1134821" cy="156260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8" name="Shape 136"/>
          <p:cNvSpPr/>
          <p:nvPr/>
        </p:nvSpPr>
        <p:spPr>
          <a:xfrm flipV="1">
            <a:off x="1935751" y="4891738"/>
            <a:ext cx="1745562" cy="59660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 flipV="1">
            <a:off x="3857067" y="3169760"/>
            <a:ext cx="1384227" cy="150298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 flipV="1">
            <a:off x="4032914" y="3169760"/>
            <a:ext cx="1208379" cy="128399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1" name="Shape 139"/>
          <p:cNvSpPr/>
          <p:nvPr/>
        </p:nvSpPr>
        <p:spPr>
          <a:xfrm flipV="1">
            <a:off x="4208762" y="3169760"/>
            <a:ext cx="1032532" cy="106500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2" name="Shape 140"/>
          <p:cNvSpPr/>
          <p:nvPr/>
        </p:nvSpPr>
        <p:spPr>
          <a:xfrm flipV="1">
            <a:off x="4384516" y="3169760"/>
            <a:ext cx="856778" cy="84592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3" name="Shape 141"/>
          <p:cNvSpPr/>
          <p:nvPr/>
        </p:nvSpPr>
        <p:spPr>
          <a:xfrm flipV="1">
            <a:off x="4560364" y="3169760"/>
            <a:ext cx="680930" cy="62693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4" name="Shape 142"/>
          <p:cNvSpPr/>
          <p:nvPr/>
        </p:nvSpPr>
        <p:spPr>
          <a:xfrm flipV="1">
            <a:off x="4151675" y="3169760"/>
            <a:ext cx="1089619" cy="155651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5" name="Shape 143"/>
          <p:cNvSpPr/>
          <p:nvPr/>
        </p:nvSpPr>
        <p:spPr>
          <a:xfrm flipV="1">
            <a:off x="4604349" y="3169760"/>
            <a:ext cx="636945" cy="2058325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 flipV="1">
            <a:off x="4133238" y="5758716"/>
            <a:ext cx="930149" cy="226636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 flipV="1">
            <a:off x="4133238" y="6320605"/>
            <a:ext cx="1351378" cy="170447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 flipV="1">
            <a:off x="4133238" y="6909915"/>
            <a:ext cx="1731617" cy="111516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>
            <a:off x="1870241" y="5422837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175784" y="3104250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067728" y="7959572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437154" y="5617589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019978" y="5313109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&amp;.27153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5325521" y="299452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&amp;.27152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4217466" y="78498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&amp;.27154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8586891" y="550786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&amp;.27162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 flipV="1">
            <a:off x="3152928" y="3693559"/>
            <a:ext cx="1116291" cy="1243661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269219" y="3693559"/>
            <a:ext cx="338406" cy="303779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3491334" y="3997339"/>
            <a:ext cx="1116291" cy="124356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152928" y="4937220"/>
            <a:ext cx="338406" cy="303686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3484128" y="4649912"/>
            <a:ext cx="522115" cy="581729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006243" y="4649912"/>
            <a:ext cx="2822921" cy="253392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6307048" y="7183840"/>
            <a:ext cx="522115" cy="581635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484128" y="5231641"/>
            <a:ext cx="2822921" cy="253383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891779" y="3419239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(425.3 m² TOTAL)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5389846" y="942815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207951" y="690863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889053" y="771759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305410" y="58251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277371" y="48638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83785" y="362677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899363" y="812347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923587" y="77557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018353" y="86377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379947" y="731049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25653" y="469729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591825" y="547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424645" y="590801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468724" y="4253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030268" y="38199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506188" y="339926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983979" y="29799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460461" y="25593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38814" y="214044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305691" y="52990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083208" y="860169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464210" y="81331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88629" y="87642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96670" y="94449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037517" y="101241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088355" y="82856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437653" y="8026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212033" y="31404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906490" y="54590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103978" y="799582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261742" y="76725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473403" y="56538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491761" y="23259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716928" y="248530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729807" y="321817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95705" y="392942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2798737" y="714391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537971" y="83388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166961" y="987399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164570" y="426923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001975" y="47191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670561" y="59321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292215" y="15833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57581" y="46115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62592" y="51700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3963693" y="11798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189141" y="2438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556667" y="677761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873591" y="22705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286944" y="626579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5479294" y="934704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RRM.76</a:t>
            </a:r>
            <a:endParaRPr lang="en-US" sz="500" dirty="0"/>
          </a:p>
        </p:txBody>
      </p:sp>
      <p:sp>
        <p:nvSpPr>
          <p:cNvPr id="217" name="Text 215"/>
          <p:cNvSpPr/>
          <p:nvPr/>
        </p:nvSpPr>
        <p:spPr>
          <a:xfrm>
            <a:off x="4297399" y="682752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RRM.282</a:t>
            </a:r>
            <a:endParaRPr lang="en-US" sz="500" dirty="0"/>
          </a:p>
        </p:txBody>
      </p:sp>
      <p:sp>
        <p:nvSpPr>
          <p:cNvPr id="218" name="Text 216"/>
          <p:cNvSpPr/>
          <p:nvPr/>
        </p:nvSpPr>
        <p:spPr>
          <a:xfrm>
            <a:off x="7978501" y="76364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TCCECH.04.018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3394858" y="57439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RRM.539</a:t>
            </a:r>
            <a:endParaRPr lang="en-US" sz="500" dirty="0"/>
          </a:p>
        </p:txBody>
      </p:sp>
      <p:sp>
        <p:nvSpPr>
          <p:cNvPr id="220" name="Text 218"/>
          <p:cNvSpPr/>
          <p:nvPr/>
        </p:nvSpPr>
        <p:spPr>
          <a:xfrm>
            <a:off x="2366819" y="478277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RRM.540</a:t>
            </a:r>
            <a:endParaRPr lang="en-US" sz="500" dirty="0"/>
          </a:p>
        </p:txBody>
      </p:sp>
      <p:sp>
        <p:nvSpPr>
          <p:cNvPr id="221" name="Text 219"/>
          <p:cNvSpPr/>
          <p:nvPr/>
        </p:nvSpPr>
        <p:spPr>
          <a:xfrm>
            <a:off x="973233" y="354566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RRM.541</a:t>
            </a:r>
            <a:endParaRPr lang="en-US" sz="500" dirty="0"/>
          </a:p>
        </p:txBody>
      </p:sp>
      <p:sp>
        <p:nvSpPr>
          <p:cNvPr id="222" name="Text 220"/>
          <p:cNvSpPr/>
          <p:nvPr/>
        </p:nvSpPr>
        <p:spPr>
          <a:xfrm>
            <a:off x="4988811" y="804236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RRM.636</a:t>
            </a:r>
            <a:endParaRPr lang="en-US" sz="500" dirty="0"/>
          </a:p>
        </p:txBody>
      </p:sp>
      <p:sp>
        <p:nvSpPr>
          <p:cNvPr id="223" name="Text 221"/>
          <p:cNvSpPr/>
          <p:nvPr/>
        </p:nvSpPr>
        <p:spPr>
          <a:xfrm>
            <a:off x="8013034" y="767466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TCC103.12.019</a:t>
            </a:r>
            <a:endParaRPr lang="en-US" sz="500" dirty="0"/>
          </a:p>
        </p:txBody>
      </p:sp>
      <p:sp>
        <p:nvSpPr>
          <p:cNvPr id="224" name="Text 222"/>
          <p:cNvSpPr/>
          <p:nvPr/>
        </p:nvSpPr>
        <p:spPr>
          <a:xfrm>
            <a:off x="9107801" y="85566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TCC103.11.019</a:t>
            </a:r>
            <a:endParaRPr lang="en-US" sz="500" dirty="0"/>
          </a:p>
        </p:txBody>
      </p:sp>
      <p:sp>
        <p:nvSpPr>
          <p:cNvPr id="225" name="Text 223"/>
          <p:cNvSpPr/>
          <p:nvPr/>
        </p:nvSpPr>
        <p:spPr>
          <a:xfrm>
            <a:off x="7469395" y="72293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TCC103.11.020</a:t>
            </a:r>
            <a:endParaRPr lang="en-US" sz="500" dirty="0"/>
          </a:p>
        </p:txBody>
      </p:sp>
      <p:sp>
        <p:nvSpPr>
          <p:cNvPr id="226" name="Text 224"/>
          <p:cNvSpPr/>
          <p:nvPr/>
        </p:nvSpPr>
        <p:spPr>
          <a:xfrm>
            <a:off x="6515101" y="461618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TEC102.02.047</a:t>
            </a:r>
            <a:endParaRPr lang="en-US" sz="500" dirty="0"/>
          </a:p>
        </p:txBody>
      </p:sp>
      <p:sp>
        <p:nvSpPr>
          <p:cNvPr id="227" name="Text 225"/>
          <p:cNvSpPr/>
          <p:nvPr/>
        </p:nvSpPr>
        <p:spPr>
          <a:xfrm>
            <a:off x="7681273" y="53959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TEC102.02.048</a:t>
            </a:r>
            <a:endParaRPr lang="en-US" sz="500" dirty="0"/>
          </a:p>
        </p:txBody>
      </p:sp>
      <p:sp>
        <p:nvSpPr>
          <p:cNvPr id="228" name="Text 226"/>
          <p:cNvSpPr/>
          <p:nvPr/>
        </p:nvSpPr>
        <p:spPr>
          <a:xfrm>
            <a:off x="8514093" y="582690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TEC102.02.049</a:t>
            </a:r>
            <a:endParaRPr lang="en-US" sz="500" dirty="0"/>
          </a:p>
        </p:txBody>
      </p:sp>
      <p:sp>
        <p:nvSpPr>
          <p:cNvPr id="229" name="Text 227"/>
          <p:cNvSpPr/>
          <p:nvPr/>
        </p:nvSpPr>
        <p:spPr>
          <a:xfrm>
            <a:off x="8558171" y="41725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HH.E6.033</a:t>
            </a:r>
            <a:endParaRPr lang="en-US" sz="500" dirty="0"/>
          </a:p>
        </p:txBody>
      </p:sp>
      <p:sp>
        <p:nvSpPr>
          <p:cNvPr id="230" name="Text 228"/>
          <p:cNvSpPr/>
          <p:nvPr/>
        </p:nvSpPr>
        <p:spPr>
          <a:xfrm>
            <a:off x="3119716" y="37388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TCCECH.03.017</a:t>
            </a:r>
            <a:endParaRPr lang="en-US" sz="500" dirty="0"/>
          </a:p>
        </p:txBody>
      </p:sp>
      <p:sp>
        <p:nvSpPr>
          <p:cNvPr id="231" name="Text 229"/>
          <p:cNvSpPr/>
          <p:nvPr/>
        </p:nvSpPr>
        <p:spPr>
          <a:xfrm>
            <a:off x="2595636" y="33181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TCCECH.04.016</a:t>
            </a:r>
            <a:endParaRPr lang="en-US" sz="500" dirty="0"/>
          </a:p>
        </p:txBody>
      </p:sp>
      <p:sp>
        <p:nvSpPr>
          <p:cNvPr id="232" name="Text 230"/>
          <p:cNvSpPr/>
          <p:nvPr/>
        </p:nvSpPr>
        <p:spPr>
          <a:xfrm>
            <a:off x="2073427" y="28988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TCCECH.03.016</a:t>
            </a:r>
            <a:endParaRPr lang="en-US" sz="500" dirty="0"/>
          </a:p>
        </p:txBody>
      </p:sp>
      <p:sp>
        <p:nvSpPr>
          <p:cNvPr id="233" name="Text 231"/>
          <p:cNvSpPr/>
          <p:nvPr/>
        </p:nvSpPr>
        <p:spPr>
          <a:xfrm>
            <a:off x="1549909" y="24782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TCCECH.04.015</a:t>
            </a:r>
            <a:endParaRPr lang="en-US" sz="500" dirty="0"/>
          </a:p>
        </p:txBody>
      </p:sp>
      <p:sp>
        <p:nvSpPr>
          <p:cNvPr id="234" name="Text 232"/>
          <p:cNvSpPr/>
          <p:nvPr/>
        </p:nvSpPr>
        <p:spPr>
          <a:xfrm>
            <a:off x="1028262" y="205933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TCCECH.03.015</a:t>
            </a:r>
            <a:endParaRPr lang="en-US" sz="500" dirty="0"/>
          </a:p>
        </p:txBody>
      </p:sp>
      <p:sp>
        <p:nvSpPr>
          <p:cNvPr id="235" name="Text 233"/>
          <p:cNvSpPr/>
          <p:nvPr/>
        </p:nvSpPr>
        <p:spPr>
          <a:xfrm>
            <a:off x="3395139" y="52179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SBC102.02.027</a:t>
            </a:r>
            <a:endParaRPr lang="en-US" sz="500" dirty="0"/>
          </a:p>
        </p:txBody>
      </p:sp>
      <p:sp>
        <p:nvSpPr>
          <p:cNvPr id="236" name="Text 234"/>
          <p:cNvSpPr/>
          <p:nvPr/>
        </p:nvSpPr>
        <p:spPr>
          <a:xfrm>
            <a:off x="9172656" y="852058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TCC103.11.027</a:t>
            </a:r>
            <a:endParaRPr lang="en-US" sz="500" dirty="0"/>
          </a:p>
        </p:txBody>
      </p:sp>
      <p:sp>
        <p:nvSpPr>
          <p:cNvPr id="237" name="Text 235"/>
          <p:cNvSpPr/>
          <p:nvPr/>
        </p:nvSpPr>
        <p:spPr>
          <a:xfrm>
            <a:off x="6553658" y="805200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TCCECH.03.038</a:t>
            </a:r>
            <a:endParaRPr lang="en-US" sz="500" dirty="0"/>
          </a:p>
        </p:txBody>
      </p:sp>
      <p:sp>
        <p:nvSpPr>
          <p:cNvPr id="238" name="Text 236"/>
          <p:cNvSpPr/>
          <p:nvPr/>
        </p:nvSpPr>
        <p:spPr>
          <a:xfrm>
            <a:off x="6778077" y="868314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TCCECH.04.037</a:t>
            </a:r>
            <a:endParaRPr lang="en-US" sz="500" dirty="0"/>
          </a:p>
        </p:txBody>
      </p:sp>
      <p:sp>
        <p:nvSpPr>
          <p:cNvPr id="239" name="Text 237"/>
          <p:cNvSpPr/>
          <p:nvPr/>
        </p:nvSpPr>
        <p:spPr>
          <a:xfrm>
            <a:off x="6986118" y="93637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TCCECH.03.039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7126965" y="100430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TCCECH.04.038</a:t>
            </a:r>
            <a:endParaRPr lang="en-US" sz="500" dirty="0"/>
          </a:p>
        </p:txBody>
      </p:sp>
      <p:sp>
        <p:nvSpPr>
          <p:cNvPr id="241" name="Text 239"/>
          <p:cNvSpPr/>
          <p:nvPr/>
        </p:nvSpPr>
        <p:spPr>
          <a:xfrm>
            <a:off x="9177803" y="820454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TCCECH.04.019</a:t>
            </a:r>
            <a:endParaRPr lang="en-US" sz="500" dirty="0"/>
          </a:p>
        </p:txBody>
      </p:sp>
      <p:sp>
        <p:nvSpPr>
          <p:cNvPr id="242" name="Text 240"/>
          <p:cNvSpPr/>
          <p:nvPr/>
        </p:nvSpPr>
        <p:spPr>
          <a:xfrm>
            <a:off x="8527101" y="794587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TCCECH.03.020</a:t>
            </a:r>
            <a:endParaRPr lang="en-US" sz="500" dirty="0"/>
          </a:p>
        </p:txBody>
      </p:sp>
      <p:sp>
        <p:nvSpPr>
          <p:cNvPr id="243" name="Text 241"/>
          <p:cNvSpPr/>
          <p:nvPr/>
        </p:nvSpPr>
        <p:spPr>
          <a:xfrm>
            <a:off x="5301481" y="30593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&amp;.27152</a:t>
            </a:r>
            <a:endParaRPr lang="en-US" sz="500" dirty="0"/>
          </a:p>
        </p:txBody>
      </p:sp>
      <p:sp>
        <p:nvSpPr>
          <p:cNvPr id="244" name="Text 242"/>
          <p:cNvSpPr/>
          <p:nvPr/>
        </p:nvSpPr>
        <p:spPr>
          <a:xfrm>
            <a:off x="1995938" y="537797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&amp;.27153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4193425" y="791471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&amp;.27154</a:t>
            </a:r>
            <a:endParaRPr lang="en-US" sz="500" dirty="0"/>
          </a:p>
        </p:txBody>
      </p:sp>
      <p:sp>
        <p:nvSpPr>
          <p:cNvPr id="246" name="Text 244"/>
          <p:cNvSpPr/>
          <p:nvPr/>
        </p:nvSpPr>
        <p:spPr>
          <a:xfrm>
            <a:off x="8562851" y="557272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&amp;.27162</a:t>
            </a:r>
            <a:endParaRPr lang="en-US" sz="500" dirty="0"/>
          </a:p>
        </p:txBody>
      </p:sp>
      <p:sp>
        <p:nvSpPr>
          <p:cNvPr id="247" name="Text 245"/>
          <p:cNvSpPr/>
          <p:nvPr/>
        </p:nvSpPr>
        <p:spPr>
          <a:xfrm>
            <a:off x="5581209" y="224481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HH.E6.038</a:t>
            </a:r>
            <a:endParaRPr lang="en-US" sz="500" dirty="0"/>
          </a:p>
        </p:txBody>
      </p:sp>
      <p:sp>
        <p:nvSpPr>
          <p:cNvPr id="248" name="Text 246"/>
          <p:cNvSpPr/>
          <p:nvPr/>
        </p:nvSpPr>
        <p:spPr>
          <a:xfrm>
            <a:off x="5806376" y="240419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HH.E6.037</a:t>
            </a:r>
            <a:endParaRPr lang="en-US" sz="500" dirty="0"/>
          </a:p>
        </p:txBody>
      </p:sp>
      <p:sp>
        <p:nvSpPr>
          <p:cNvPr id="249" name="Text 247"/>
          <p:cNvSpPr/>
          <p:nvPr/>
        </p:nvSpPr>
        <p:spPr>
          <a:xfrm>
            <a:off x="6819255" y="31370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HH.E6.036</a:t>
            </a:r>
            <a:endParaRPr lang="en-US" sz="500" dirty="0"/>
          </a:p>
        </p:txBody>
      </p:sp>
      <p:sp>
        <p:nvSpPr>
          <p:cNvPr id="250" name="Text 248"/>
          <p:cNvSpPr/>
          <p:nvPr/>
        </p:nvSpPr>
        <p:spPr>
          <a:xfrm>
            <a:off x="7785153" y="38483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HH.E6.035</a:t>
            </a:r>
            <a:endParaRPr lang="en-US" sz="500" dirty="0"/>
          </a:p>
        </p:txBody>
      </p:sp>
      <p:sp>
        <p:nvSpPr>
          <p:cNvPr id="251" name="Text 249"/>
          <p:cNvSpPr/>
          <p:nvPr/>
        </p:nvSpPr>
        <p:spPr>
          <a:xfrm>
            <a:off x="2888185" y="70628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HH.E6.040</a:t>
            </a:r>
            <a:endParaRPr lang="en-US" sz="500" dirty="0"/>
          </a:p>
        </p:txBody>
      </p:sp>
      <p:sp>
        <p:nvSpPr>
          <p:cNvPr id="252" name="Text 250"/>
          <p:cNvSpPr/>
          <p:nvPr/>
        </p:nvSpPr>
        <p:spPr>
          <a:xfrm>
            <a:off x="3627419" y="825770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HH.E6.041</a:t>
            </a:r>
            <a:endParaRPr lang="en-US" sz="500" dirty="0"/>
          </a:p>
        </p:txBody>
      </p:sp>
      <p:sp>
        <p:nvSpPr>
          <p:cNvPr id="253" name="Text 251"/>
          <p:cNvSpPr/>
          <p:nvPr/>
        </p:nvSpPr>
        <p:spPr>
          <a:xfrm>
            <a:off x="4256409" y="979288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HH.E6.042</a:t>
            </a:r>
            <a:endParaRPr lang="en-US" sz="500" dirty="0"/>
          </a:p>
        </p:txBody>
      </p:sp>
      <p:sp>
        <p:nvSpPr>
          <p:cNvPr id="254" name="Text 252"/>
          <p:cNvSpPr/>
          <p:nvPr/>
        </p:nvSpPr>
        <p:spPr>
          <a:xfrm>
            <a:off x="8254018" y="418812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HH.E6.034</a:t>
            </a:r>
            <a:endParaRPr lang="en-US" sz="500" dirty="0"/>
          </a:p>
        </p:txBody>
      </p:sp>
      <p:sp>
        <p:nvSpPr>
          <p:cNvPr id="255" name="Text 253"/>
          <p:cNvSpPr/>
          <p:nvPr/>
        </p:nvSpPr>
        <p:spPr>
          <a:xfrm>
            <a:off x="9091423" y="46379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HH.E6.032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1760009" y="585105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HH.E6.039</a:t>
            </a:r>
            <a:endParaRPr lang="en-US" sz="500" dirty="0"/>
          </a:p>
        </p:txBody>
      </p:sp>
      <p:sp>
        <p:nvSpPr>
          <p:cNvPr id="257" name="Text 255"/>
          <p:cNvSpPr/>
          <p:nvPr/>
        </p:nvSpPr>
        <p:spPr>
          <a:xfrm>
            <a:off x="3381663" y="15022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P6.009</a:t>
            </a:r>
            <a:endParaRPr lang="en-US" sz="500" dirty="0"/>
          </a:p>
        </p:txBody>
      </p:sp>
      <p:sp>
        <p:nvSpPr>
          <p:cNvPr id="258" name="Text 256"/>
          <p:cNvSpPr/>
          <p:nvPr/>
        </p:nvSpPr>
        <p:spPr>
          <a:xfrm>
            <a:off x="947029" y="453046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P6.038</a:t>
            </a:r>
            <a:endParaRPr lang="en-US" sz="500" dirty="0"/>
          </a:p>
        </p:txBody>
      </p:sp>
      <p:sp>
        <p:nvSpPr>
          <p:cNvPr id="259" name="Text 257"/>
          <p:cNvSpPr/>
          <p:nvPr/>
        </p:nvSpPr>
        <p:spPr>
          <a:xfrm>
            <a:off x="852040" y="50888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MH.E.024</a:t>
            </a:r>
            <a:endParaRPr lang="en-US" sz="500" dirty="0"/>
          </a:p>
        </p:txBody>
      </p:sp>
      <p:sp>
        <p:nvSpPr>
          <p:cNvPr id="260" name="Text 258"/>
          <p:cNvSpPr/>
          <p:nvPr/>
        </p:nvSpPr>
        <p:spPr>
          <a:xfrm>
            <a:off x="4053140" y="10987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MH.E.014</a:t>
            </a:r>
            <a:endParaRPr lang="en-US" sz="500" dirty="0"/>
          </a:p>
        </p:txBody>
      </p:sp>
      <p:sp>
        <p:nvSpPr>
          <p:cNvPr id="261" name="Text 259"/>
          <p:cNvSpPr/>
          <p:nvPr/>
        </p:nvSpPr>
        <p:spPr>
          <a:xfrm>
            <a:off x="4278588" y="235749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&amp;.23918</a:t>
            </a:r>
            <a:endParaRPr lang="en-US" sz="500" dirty="0"/>
          </a:p>
        </p:txBody>
      </p:sp>
      <p:sp>
        <p:nvSpPr>
          <p:cNvPr id="262" name="Text 260"/>
          <p:cNvSpPr/>
          <p:nvPr/>
        </p:nvSpPr>
        <p:spPr>
          <a:xfrm>
            <a:off x="1646115" y="669650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SGC102.02.017</a:t>
            </a:r>
            <a:endParaRPr lang="en-US" sz="500" dirty="0"/>
          </a:p>
        </p:txBody>
      </p:sp>
      <p:sp>
        <p:nvSpPr>
          <p:cNvPr id="263" name="Text 261"/>
          <p:cNvSpPr/>
          <p:nvPr/>
        </p:nvSpPr>
        <p:spPr>
          <a:xfrm>
            <a:off x="5963038" y="21894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SGC102.02.016</a:t>
            </a:r>
            <a:endParaRPr lang="en-US" sz="500" dirty="0"/>
          </a:p>
        </p:txBody>
      </p:sp>
      <p:sp>
        <p:nvSpPr>
          <p:cNvPr id="264" name="Text 262"/>
          <p:cNvSpPr/>
          <p:nvPr/>
        </p:nvSpPr>
        <p:spPr>
          <a:xfrm>
            <a:off x="9376392" y="61846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TEC102.02.050</a:t>
            </a:r>
            <a:endParaRPr lang="en-US" sz="500" dirty="0"/>
          </a:p>
        </p:txBody>
      </p:sp>
      <p:sp>
        <p:nvSpPr>
          <p:cNvPr id="265" name="Shape 263"/>
          <p:cNvSpPr/>
          <p:nvPr/>
        </p:nvSpPr>
        <p:spPr>
          <a:xfrm>
            <a:off x="4279360" y="3910525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329652" y="3960817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4503388" y="379622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SBC102-02/024</a:t>
            </a:r>
            <a:endParaRPr lang="en-US" sz="650" dirty="0"/>
          </a:p>
        </p:txBody>
      </p:sp>
      <p:sp>
        <p:nvSpPr>
          <p:cNvPr id="268" name="Shape 266"/>
          <p:cNvSpPr/>
          <p:nvPr/>
        </p:nvSpPr>
        <p:spPr>
          <a:xfrm>
            <a:off x="4103606" y="412961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153898" y="417990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327634" y="401531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SBC102-01/027</a:t>
            </a:r>
            <a:endParaRPr lang="en-US" sz="650" dirty="0"/>
          </a:p>
        </p:txBody>
      </p:sp>
      <p:sp>
        <p:nvSpPr>
          <p:cNvPr id="271" name="Shape 269"/>
          <p:cNvSpPr/>
          <p:nvPr/>
        </p:nvSpPr>
        <p:spPr>
          <a:xfrm>
            <a:off x="3927758" y="434860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3978050" y="439889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4151786" y="42343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SBC102-02/025</a:t>
            </a:r>
            <a:endParaRPr lang="en-US" sz="650" dirty="0"/>
          </a:p>
        </p:txBody>
      </p:sp>
      <p:sp>
        <p:nvSpPr>
          <p:cNvPr id="274" name="Shape 272"/>
          <p:cNvSpPr/>
          <p:nvPr/>
        </p:nvSpPr>
        <p:spPr>
          <a:xfrm>
            <a:off x="3751911" y="45675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802203" y="4617883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975939" y="44532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SBC102-01/028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3576157" y="478658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626449" y="483687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3800185" y="467228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SBC102-02/026</a:t>
            </a:r>
            <a:endParaRPr lang="en-US" sz="650" dirty="0"/>
          </a:p>
        </p:txBody>
      </p:sp>
      <p:sp>
        <p:nvSpPr>
          <p:cNvPr id="280" name="Shape 278"/>
          <p:cNvSpPr/>
          <p:nvPr/>
        </p:nvSpPr>
        <p:spPr>
          <a:xfrm>
            <a:off x="3400309" y="500557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450601" y="505586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3624337" y="48912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SBC102-01/029</a:t>
            </a:r>
            <a:endParaRPr lang="en-US" sz="650" dirty="0"/>
          </a:p>
        </p:txBody>
      </p:sp>
      <p:sp>
        <p:nvSpPr>
          <p:cNvPr id="283" name="Shape 281"/>
          <p:cNvSpPr/>
          <p:nvPr/>
        </p:nvSpPr>
        <p:spPr>
          <a:xfrm>
            <a:off x="4499193" y="512292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549485" y="517322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4723221" y="500862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TCCECH-04/034</a:t>
            </a:r>
            <a:endParaRPr lang="en-US" sz="650" dirty="0"/>
          </a:p>
        </p:txBody>
      </p:sp>
      <p:sp>
        <p:nvSpPr>
          <p:cNvPr id="286" name="Shape 284"/>
          <p:cNvSpPr/>
          <p:nvPr/>
        </p:nvSpPr>
        <p:spPr>
          <a:xfrm>
            <a:off x="4958231" y="565356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008523" y="5703852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5182259" y="55392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TCCECH-03/036</a:t>
            </a:r>
            <a:endParaRPr lang="en-US" sz="650" dirty="0"/>
          </a:p>
        </p:txBody>
      </p:sp>
      <p:sp>
        <p:nvSpPr>
          <p:cNvPr id="289" name="Shape 287"/>
          <p:cNvSpPr/>
          <p:nvPr/>
        </p:nvSpPr>
        <p:spPr>
          <a:xfrm>
            <a:off x="5379461" y="621544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429753" y="626574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5603489" y="610114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TCCECH-04/035</a:t>
            </a:r>
            <a:endParaRPr lang="en-US" sz="650" dirty="0"/>
          </a:p>
        </p:txBody>
      </p:sp>
      <p:sp>
        <p:nvSpPr>
          <p:cNvPr id="292" name="Shape 290"/>
          <p:cNvSpPr/>
          <p:nvPr/>
        </p:nvSpPr>
        <p:spPr>
          <a:xfrm>
            <a:off x="5759700" y="680475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5809992" y="685505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5983728" y="66904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TCCECH-03/037</a:t>
            </a:r>
            <a:endParaRPr lang="en-US" sz="650" dirty="0"/>
          </a:p>
        </p:txBody>
      </p:sp>
      <p:sp>
        <p:nvSpPr>
          <p:cNvPr id="295" name="Shape 293"/>
          <p:cNvSpPr/>
          <p:nvPr/>
        </p:nvSpPr>
        <p:spPr>
          <a:xfrm>
            <a:off x="6098574" y="74199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6148866" y="7470283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6322602" y="73056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TCCECH-04/036</a:t>
            </a:r>
            <a:endParaRPr lang="en-US" sz="650" dirty="0"/>
          </a:p>
        </p:txBody>
      </p:sp>
      <p:sp>
        <p:nvSpPr>
          <p:cNvPr id="298" name="Shape 296"/>
          <p:cNvSpPr/>
          <p:nvPr/>
        </p:nvSpPr>
        <p:spPr>
          <a:xfrm>
            <a:off x="3229796" y="5223159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280088" y="5273451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3453824" y="51088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SBC102-02/027</a:t>
            </a:r>
            <a:endParaRPr lang="en-US" sz="650" dirty="0"/>
          </a:p>
        </p:txBody>
      </p:sp>
      <p:sp>
        <p:nvSpPr>
          <p:cNvPr id="301" name="Shape 299"/>
          <p:cNvSpPr/>
          <p:nvPr/>
        </p:nvSpPr>
        <p:spPr>
          <a:xfrm>
            <a:off x="4001317" y="4627205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051609" y="4677497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4225345" y="451290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TCCECH-03/035</a:t>
            </a:r>
            <a:endParaRPr lang="en-US" sz="650" dirty="0"/>
          </a:p>
        </p:txBody>
      </p:sp>
      <p:sp>
        <p:nvSpPr>
          <p:cNvPr id="304" name="Shape 302"/>
          <p:cNvSpPr/>
          <p:nvPr/>
        </p:nvSpPr>
        <p:spPr>
          <a:xfrm>
            <a:off x="4046519" y="4621122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4096811" y="467141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4270547" y="450682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TCCECH-03/018</a:t>
            </a:r>
            <a:endParaRPr lang="en-US" sz="650" dirty="0"/>
          </a:p>
        </p:txBody>
      </p:sp>
      <p:sp>
        <p:nvSpPr>
          <p:cNvPr id="307" name="Shape 305"/>
          <p:cNvSpPr/>
          <p:nvPr/>
        </p:nvSpPr>
        <p:spPr>
          <a:xfrm>
            <a:off x="4455208" y="3691535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4679236" y="357723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SBC102-01/026</a:t>
            </a:r>
            <a:endParaRPr lang="en-US" sz="650" dirty="0"/>
          </a:p>
        </p:txBody>
      </p:sp>
      <p:sp>
        <p:nvSpPr>
          <p:cNvPr id="309" name="Shape 307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1 — 1001  ·  REV P05 (EDITABLE)</a:t>
            </a:r>
            <a:endParaRPr lang="en-US" sz="1250" dirty="0"/>
          </a:p>
        </p:txBody>
      </p:sp>
      <p:sp>
        <p:nvSpPr>
          <p:cNvPr id="311" name="Text 309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Document_3 — FIELD CONDITION GOVERNS</a:t>
            </a:r>
            <a:endParaRPr lang="en-US" sz="800" dirty="0"/>
          </a:p>
        </p:txBody>
      </p:sp>
      <p:sp>
        <p:nvSpPr>
          <p:cNvPr id="312" name="Text 310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313" name="Shape 311"/>
          <p:cNvSpPr/>
          <p:nvPr/>
        </p:nvSpPr>
        <p:spPr>
          <a:xfrm>
            <a:off x="10104120" y="2057400"/>
            <a:ext cx="4709160" cy="2502713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315" name="Text 313"/>
          <p:cNvSpPr/>
          <p:nvPr/>
        </p:nvSpPr>
        <p:spPr>
          <a:xfrm>
            <a:off x="10241280" y="2386584"/>
            <a:ext cx="4434840" cy="2118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SHALLOW BASE + NEW CABLE: 11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VIA DUCT (6): SBC102-02/024, 01/027, 02/025, 01/028, 02/026, 01/029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VIA SAWCUT (5): TCCECH-04/034, 03/036, 04/035, 03/037, 04/036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ONLY: 3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SBC102-02/027 (DUCT) · TCCECH-03/035, 03/018 (SAWCUT — bases OK, verify at cut line)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VERIFIED NOT AFFECTED: SBC102-01/026 (no works)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 FITTINGS NOT IN FIELD SCOPE — SHOWN AS EXISTING ONLY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SBC102.01/.02, TCCECH.03/.04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RECORD 23.07.2026: 9 cored + 2 reinstatement already worked</a:t>
            </a:r>
            <a:endParaRPr lang="en-US" sz="760" dirty="0"/>
          </a:p>
        </p:txBody>
      </p:sp>
      <p:sp>
        <p:nvSpPr>
          <p:cNvPr id="316" name="Shape 314"/>
          <p:cNvSpPr/>
          <p:nvPr/>
        </p:nvSpPr>
        <p:spPr>
          <a:xfrm>
            <a:off x="10104120" y="4669841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10241280" y="474299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318" name="Text 316"/>
          <p:cNvSpPr/>
          <p:nvPr/>
        </p:nvSpPr>
        <p:spPr>
          <a:xfrm>
            <a:off x="10241280" y="4999025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area (red) per field condition — rectangular strips aligned to stop bar / centerline around field-verified affected assets. Coring at Location 1 only.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Taxiway centerline &amp; stop bar alignments derived from as-built AGL fitting positions (TCC / SBC). Edge / pavement boundary indicative at 23 m width from as-built CL — confirm on site.</a:t>
            </a:r>
            <a:endParaRPr lang="en-US" sz="680" dirty="0"/>
          </a:p>
        </p:txBody>
      </p:sp>
      <p:sp>
        <p:nvSpPr>
          <p:cNvPr id="319" name="Shape 317"/>
          <p:cNvSpPr/>
          <p:nvPr/>
        </p:nvSpPr>
        <p:spPr>
          <a:xfrm>
            <a:off x="10104120" y="7047281"/>
            <a:ext cx="4709160" cy="396849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10241280" y="712043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321" name="Shape 319"/>
          <p:cNvSpPr/>
          <p:nvPr/>
        </p:nvSpPr>
        <p:spPr>
          <a:xfrm>
            <a:off x="10305288" y="744504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351008" y="7490765"/>
            <a:ext cx="100584" cy="100584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10616184" y="74313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(DUCT) — outer red / inner blue</a:t>
            </a:r>
            <a:endParaRPr lang="en-US" sz="740" dirty="0"/>
          </a:p>
        </p:txBody>
      </p:sp>
      <p:sp>
        <p:nvSpPr>
          <p:cNvPr id="324" name="Shape 322"/>
          <p:cNvSpPr/>
          <p:nvPr/>
        </p:nvSpPr>
        <p:spPr>
          <a:xfrm>
            <a:off x="10305288" y="771936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351008" y="7765085"/>
            <a:ext cx="100584" cy="100584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10616184" y="770564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(SAWCUT) — outer red / inner orange</a:t>
            </a:r>
            <a:endParaRPr lang="en-US" sz="740" dirty="0"/>
          </a:p>
        </p:txBody>
      </p:sp>
      <p:sp>
        <p:nvSpPr>
          <p:cNvPr id="327" name="Shape 325"/>
          <p:cNvSpPr/>
          <p:nvPr/>
        </p:nvSpPr>
        <p:spPr>
          <a:xfrm>
            <a:off x="10305288" y="7993685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0351008" y="803940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10616184" y="797996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330" name="Shape 328"/>
          <p:cNvSpPr/>
          <p:nvPr/>
        </p:nvSpPr>
        <p:spPr>
          <a:xfrm>
            <a:off x="10305288" y="8268005"/>
            <a:ext cx="192024" cy="192024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0351008" y="831372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10616184" y="825428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(SAWCUT) — outer orange / inner green</a:t>
            </a:r>
            <a:endParaRPr lang="en-US" sz="740" dirty="0"/>
          </a:p>
        </p:txBody>
      </p:sp>
      <p:sp>
        <p:nvSpPr>
          <p:cNvPr id="333" name="Shape 331"/>
          <p:cNvSpPr/>
          <p:nvPr/>
        </p:nvSpPr>
        <p:spPr>
          <a:xfrm>
            <a:off x="10305288" y="8542325"/>
            <a:ext cx="192024" cy="192024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10616184" y="852860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VERIFIED — NOT AFFECTED (grey)</a:t>
            </a:r>
            <a:endParaRPr lang="en-US" sz="740" dirty="0"/>
          </a:p>
        </p:txBody>
      </p:sp>
      <p:sp>
        <p:nvSpPr>
          <p:cNvPr id="335" name="Shape 333"/>
          <p:cNvSpPr/>
          <p:nvPr/>
        </p:nvSpPr>
        <p:spPr>
          <a:xfrm>
            <a:off x="10351008" y="8866937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10616184" y="88029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337" name="Shape 335"/>
          <p:cNvSpPr/>
          <p:nvPr/>
        </p:nvSpPr>
        <p:spPr>
          <a:xfrm>
            <a:off x="10268712" y="9186977"/>
            <a:ext cx="274320" cy="914"/>
          </a:xfrm>
          <a:prstGeom prst="line">
            <a:avLst/>
          </a:prstGeom>
          <a:noFill/>
          <a:ln w="12700">
            <a:solidFill>
              <a:srgbClr val="C9CDD2"/>
            </a:solidFill>
            <a:prstDash val="dash"/>
          </a:ln>
        </p:spPr>
      </p:sp>
      <p:sp>
        <p:nvSpPr>
          <p:cNvPr id="338" name="Text 336"/>
          <p:cNvSpPr/>
          <p:nvPr/>
        </p:nvSpPr>
        <p:spPr>
          <a:xfrm>
            <a:off x="10616184" y="907724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DUCT — LIGHT TO NEAREST MH/HH</a:t>
            </a:r>
            <a:endParaRPr lang="en-US" sz="740" dirty="0"/>
          </a:p>
        </p:txBody>
      </p:sp>
      <p:sp>
        <p:nvSpPr>
          <p:cNvPr id="339" name="Shape 337"/>
          <p:cNvSpPr/>
          <p:nvPr/>
        </p:nvSpPr>
        <p:spPr>
          <a:xfrm>
            <a:off x="10268712" y="9461297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40" name="Text 338"/>
          <p:cNvSpPr/>
          <p:nvPr/>
        </p:nvSpPr>
        <p:spPr>
          <a:xfrm>
            <a:off x="10616184" y="935156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341" name="Shape 339"/>
          <p:cNvSpPr/>
          <p:nvPr/>
        </p:nvSpPr>
        <p:spPr>
          <a:xfrm>
            <a:off x="10268712" y="9735617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10616184" y="962588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(GOVERNING)</a:t>
            </a:r>
            <a:endParaRPr lang="en-US" sz="740" dirty="0"/>
          </a:p>
        </p:txBody>
      </p:sp>
      <p:sp>
        <p:nvSpPr>
          <p:cNvPr id="343" name="Shape 341"/>
          <p:cNvSpPr/>
          <p:nvPr/>
        </p:nvSpPr>
        <p:spPr>
          <a:xfrm>
            <a:off x="10268712" y="10009937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44" name="Text 342"/>
          <p:cNvSpPr/>
          <p:nvPr/>
        </p:nvSpPr>
        <p:spPr>
          <a:xfrm>
            <a:off x="10616184" y="990020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345" name="Shape 343"/>
          <p:cNvSpPr/>
          <p:nvPr/>
        </p:nvSpPr>
        <p:spPr>
          <a:xfrm>
            <a:off x="10268712" y="10284257"/>
            <a:ext cx="274320" cy="91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10616184" y="101745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BAR (AS-BUILT, THROUGH SBC FITTINGS)</a:t>
            </a:r>
            <a:endParaRPr lang="en-US" sz="740" dirty="0"/>
          </a:p>
        </p:txBody>
      </p:sp>
      <p:sp>
        <p:nvSpPr>
          <p:cNvPr id="347" name="Shape 345"/>
          <p:cNvSpPr/>
          <p:nvPr/>
        </p:nvSpPr>
        <p:spPr>
          <a:xfrm>
            <a:off x="10268712" y="10558577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10616184" y="1044884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  <p:sp>
        <p:nvSpPr>
          <p:cNvPr id="349" name="Shape 347"/>
          <p:cNvSpPr/>
          <p:nvPr/>
        </p:nvSpPr>
        <p:spPr>
          <a:xfrm>
            <a:off x="10287000" y="10750601"/>
            <a:ext cx="219456" cy="146304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10616184" y="1072316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FEED MANHOLE / HANDHOLE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2   ·   DWG NO [XXX-ELE-SHD-1002] REV P05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571627" y="10137349"/>
            <a:ext cx="243215" cy="19537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4963" y="9313422"/>
            <a:ext cx="1026664" cy="82392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17861" y="8488268"/>
            <a:ext cx="1027102" cy="8251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93477" y="7665744"/>
            <a:ext cx="1024384" cy="82252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6813" y="6842694"/>
            <a:ext cx="1026664" cy="82305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5936" y="6841993"/>
            <a:ext cx="914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9097" y="6016926"/>
            <a:ext cx="1026839" cy="8250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15064" y="5193701"/>
            <a:ext cx="1024033" cy="82322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9277" y="4371879"/>
            <a:ext cx="1025787" cy="82182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577" y="3590641"/>
            <a:ext cx="973700" cy="7812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07511" y="7740631"/>
            <a:ext cx="972472" cy="78043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0672" y="6915739"/>
            <a:ext cx="1026839" cy="82489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5323" y="6092339"/>
            <a:ext cx="1025349" cy="82340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28747" y="5269377"/>
            <a:ext cx="1026576" cy="8229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2434" y="4444748"/>
            <a:ext cx="1026313" cy="82462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8050" y="3621260"/>
            <a:ext cx="1024384" cy="82348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6734" y="3620208"/>
            <a:ext cx="1315" cy="105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0597" y="2798123"/>
            <a:ext cx="1026138" cy="8220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24722" y="1974898"/>
            <a:ext cx="1025875" cy="82322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198" y="1151146"/>
            <a:ext cx="1025524" cy="8237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5577" y="1003267"/>
            <a:ext cx="183621" cy="14787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02989" y="9351041"/>
            <a:ext cx="576994" cy="46351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27" name="Shape 25"/>
          <p:cNvSpPr/>
          <p:nvPr/>
        </p:nvSpPr>
        <p:spPr>
          <a:xfrm>
            <a:off x="8176149" y="8526939"/>
            <a:ext cx="1026839" cy="82410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28" name="Shape 26"/>
          <p:cNvSpPr/>
          <p:nvPr/>
        </p:nvSpPr>
        <p:spPr>
          <a:xfrm>
            <a:off x="7149310" y="7702047"/>
            <a:ext cx="1026839" cy="82489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29" name="Shape 27"/>
          <p:cNvSpPr/>
          <p:nvPr/>
        </p:nvSpPr>
        <p:spPr>
          <a:xfrm>
            <a:off x="6124575" y="6879173"/>
            <a:ext cx="1024735" cy="82287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0" name="Shape 28"/>
          <p:cNvSpPr/>
          <p:nvPr/>
        </p:nvSpPr>
        <p:spPr>
          <a:xfrm>
            <a:off x="5097561" y="6055860"/>
            <a:ext cx="1027015" cy="82331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1" name="Shape 29"/>
          <p:cNvSpPr/>
          <p:nvPr/>
        </p:nvSpPr>
        <p:spPr>
          <a:xfrm>
            <a:off x="4070722" y="5230793"/>
            <a:ext cx="1026839" cy="8250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2" name="Shape 30"/>
          <p:cNvSpPr/>
          <p:nvPr/>
        </p:nvSpPr>
        <p:spPr>
          <a:xfrm>
            <a:off x="3046250" y="4407218"/>
            <a:ext cx="1024472" cy="8235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3" name="Shape 31"/>
          <p:cNvSpPr/>
          <p:nvPr/>
        </p:nvSpPr>
        <p:spPr>
          <a:xfrm>
            <a:off x="2019761" y="3584869"/>
            <a:ext cx="1026488" cy="82234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4" name="Shape 32"/>
          <p:cNvSpPr/>
          <p:nvPr/>
        </p:nvSpPr>
        <p:spPr>
          <a:xfrm>
            <a:off x="993361" y="2761293"/>
            <a:ext cx="1026401" cy="8235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5" name="Shape 33"/>
          <p:cNvSpPr/>
          <p:nvPr/>
        </p:nvSpPr>
        <p:spPr>
          <a:xfrm>
            <a:off x="415577" y="2297161"/>
            <a:ext cx="577783" cy="46413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6" name="Shape 34"/>
          <p:cNvSpPr/>
          <p:nvPr/>
        </p:nvSpPr>
        <p:spPr>
          <a:xfrm flipV="1">
            <a:off x="9202989" y="8952823"/>
            <a:ext cx="576994" cy="39821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 flipV="1">
            <a:off x="8176149" y="8387952"/>
            <a:ext cx="1603833" cy="13898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 flipV="1">
            <a:off x="2019761" y="2025670"/>
            <a:ext cx="485271" cy="155920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 flipV="1">
            <a:off x="993361" y="2025670"/>
            <a:ext cx="1511672" cy="73562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 flipV="1">
            <a:off x="3046250" y="2670009"/>
            <a:ext cx="1782193" cy="173720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046250" y="4407218"/>
            <a:ext cx="1024472" cy="82357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070722" y="5230793"/>
            <a:ext cx="1026839" cy="82506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097561" y="6055860"/>
            <a:ext cx="1027015" cy="82331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124575" y="6879173"/>
            <a:ext cx="1024735" cy="82287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7149310" y="7702047"/>
            <a:ext cx="2630673" cy="110925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 flipV="1">
            <a:off x="4070722" y="3729293"/>
            <a:ext cx="1905045" cy="150150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538286" y="4125648"/>
            <a:ext cx="122765" cy="122765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78589" y="4015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P2.002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017137" y="4158882"/>
            <a:ext cx="4380859" cy="3517999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7177721" y="7676881"/>
            <a:ext cx="220275" cy="274291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96862" y="4433261"/>
            <a:ext cx="4380859" cy="3517911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2796862" y="4158882"/>
            <a:ext cx="220275" cy="274379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9697" y="388456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(257.1 m² TOTAL)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73846" y="78828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60110" y="51331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19085" y="62053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42726" y="18073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75772" y="19964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73728" y="932178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46889" y="849767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41461" y="52015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16989" y="43779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90501" y="355560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4100" y="27320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68300" y="60265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95315" y="68499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20049" y="76727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570408" y="415776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15815" y="372633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68491" y="266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61230" y="78035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RRM.545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2447494" y="50537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RRM.546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7206469" y="61259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RRM.554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1730110" y="172800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RRM.556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2563156" y="19170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&amp;.24043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9261112" y="92424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TCCECH.03.010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8234272" y="841833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TCCECH.04.009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4128845" y="51221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TCCECH.04.007</a:t>
            </a:r>
            <a:endParaRPr lang="en-US" sz="500" dirty="0"/>
          </a:p>
        </p:txBody>
      </p:sp>
      <p:sp>
        <p:nvSpPr>
          <p:cNvPr id="79" name="Text 77"/>
          <p:cNvSpPr/>
          <p:nvPr/>
        </p:nvSpPr>
        <p:spPr>
          <a:xfrm>
            <a:off x="3104373" y="42986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TCCECH.03.007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2077885" y="34762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TCCECH.04.006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1051484" y="26526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82" name="Text 80"/>
          <p:cNvSpPr/>
          <p:nvPr/>
        </p:nvSpPr>
        <p:spPr>
          <a:xfrm>
            <a:off x="5155684" y="594725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TCCECH.03.008</a:t>
            </a:r>
            <a:endParaRPr lang="en-US" sz="500" dirty="0"/>
          </a:p>
        </p:txBody>
      </p:sp>
      <p:sp>
        <p:nvSpPr>
          <p:cNvPr id="83" name="Text 81"/>
          <p:cNvSpPr/>
          <p:nvPr/>
        </p:nvSpPr>
        <p:spPr>
          <a:xfrm>
            <a:off x="6182699" y="677057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TCCECH.04.008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7207433" y="759344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TCCECH.03.009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5657792" y="407842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P2.002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6003199" y="364699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HH.E.055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4855875" y="258771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HH.E.056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2941094" y="430206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991386" y="435235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65122" y="418776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TCCECH-03/007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3965566" y="512563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15858" y="517592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189594" y="501133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TCCECH-04/007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4992405" y="595070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042697" y="600099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216433" y="58364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TCCECH-03/008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6019419" y="677401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69711" y="682430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43447" y="665971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TCCECH-04/008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7044154" y="7596891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094446" y="7647183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268182" y="74825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TCCECH-03/009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3620509" y="3379485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70801" y="3429777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44537" y="326518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 — 1002  ·  REV P05 (EDITABLE)</a:t>
            </a:r>
            <a:endParaRPr lang="en-US" sz="1250" dirty="0"/>
          </a:p>
        </p:txBody>
      </p:sp>
      <p:sp>
        <p:nvSpPr>
          <p:cNvPr id="108" name="Text 106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— FIELD CONDITION GOVERNS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10104120" y="2057400"/>
            <a:ext cx="4709160" cy="204002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10241280" y="2386584"/>
            <a:ext cx="4434840" cy="165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5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TCCECH-03/007, 04/007, 03/008, 04/008, 03/009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SHALLOW BASES AFFECTED AT THIS LOCATION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DUCT: CHAINED RUN HH.E.056 → 03/007 → 04/007 → 03/008 → 04/008 → 03/009 → HH.E.054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 SPUR FROM HH.E.055 — INDICATIVE, CONFIRM VS DUCT-LAYOUT CAD (REV B)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 (0.41 m from cut): REMOVE / PROTECT BEFORE SAWCUT, RE-FIX AFTER PAVING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TCCECH.03, TCCECH.04</a:t>
            </a:r>
            <a:endParaRPr lang="en-US" sz="760" dirty="0"/>
          </a:p>
        </p:txBody>
      </p:sp>
      <p:sp>
        <p:nvSpPr>
          <p:cNvPr id="113" name="Shape 111"/>
          <p:cNvSpPr/>
          <p:nvPr/>
        </p:nvSpPr>
        <p:spPr>
          <a:xfrm>
            <a:off x="10104120" y="4207154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241280" y="428030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10241280" y="4536338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area (red) per field condition — rectangular strips aligned to stop bar / centerline around field-verified affected assets. Coring at Location 1 only.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Taxiway centerline &amp; stop bar alignments derived from as-built AGL fitting positions (TCC / SBC). Edge / pavement boundary indicative at 23 m width from as-built CL — confirm on site.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10104120" y="6584594"/>
            <a:ext cx="4709160" cy="287121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241280" y="665774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10305288" y="6982358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351008" y="7028078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616184" y="696864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121" name="Shape 119"/>
          <p:cNvSpPr/>
          <p:nvPr/>
        </p:nvSpPr>
        <p:spPr>
          <a:xfrm>
            <a:off x="10305288" y="7256678"/>
            <a:ext cx="192024" cy="192024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351008" y="7302398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616184" y="724296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 — REMOVE / PROTECT / RE-FIX (magenta / white)</a:t>
            </a:r>
            <a:endParaRPr lang="en-US" sz="740" dirty="0"/>
          </a:p>
        </p:txBody>
      </p:sp>
      <p:sp>
        <p:nvSpPr>
          <p:cNvPr id="124" name="Shape 122"/>
          <p:cNvSpPr/>
          <p:nvPr/>
        </p:nvSpPr>
        <p:spPr>
          <a:xfrm>
            <a:off x="10351008" y="7581290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616184" y="751728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126" name="Shape 124"/>
          <p:cNvSpPr/>
          <p:nvPr/>
        </p:nvSpPr>
        <p:spPr>
          <a:xfrm>
            <a:off x="10268712" y="7901330"/>
            <a:ext cx="274320" cy="914"/>
          </a:xfrm>
          <a:prstGeom prst="line">
            <a:avLst/>
          </a:prstGeom>
          <a:noFill/>
          <a:ln w="12700">
            <a:solidFill>
              <a:srgbClr val="C9CDD2"/>
            </a:solidFill>
            <a:prstDash val="dash"/>
          </a:ln>
        </p:spPr>
      </p:sp>
      <p:sp>
        <p:nvSpPr>
          <p:cNvPr id="127" name="Text 125"/>
          <p:cNvSpPr/>
          <p:nvPr/>
        </p:nvSpPr>
        <p:spPr>
          <a:xfrm>
            <a:off x="10616184" y="779160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DUCT — LIGHT TO NEAREST MH/HH</a:t>
            </a:r>
            <a:endParaRPr lang="en-US" sz="740" dirty="0"/>
          </a:p>
        </p:txBody>
      </p:sp>
      <p:sp>
        <p:nvSpPr>
          <p:cNvPr id="128" name="Shape 126"/>
          <p:cNvSpPr/>
          <p:nvPr/>
        </p:nvSpPr>
        <p:spPr>
          <a:xfrm>
            <a:off x="10268712" y="8175650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29" name="Text 127"/>
          <p:cNvSpPr/>
          <p:nvPr/>
        </p:nvSpPr>
        <p:spPr>
          <a:xfrm>
            <a:off x="10616184" y="806592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130" name="Shape 128"/>
          <p:cNvSpPr/>
          <p:nvPr/>
        </p:nvSpPr>
        <p:spPr>
          <a:xfrm>
            <a:off x="10268712" y="8449970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616184" y="834024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(GOVERNING)</a:t>
            </a:r>
            <a:endParaRPr lang="en-US" sz="740" dirty="0"/>
          </a:p>
        </p:txBody>
      </p:sp>
      <p:sp>
        <p:nvSpPr>
          <p:cNvPr id="132" name="Shape 130"/>
          <p:cNvSpPr/>
          <p:nvPr/>
        </p:nvSpPr>
        <p:spPr>
          <a:xfrm>
            <a:off x="10268712" y="8724290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33" name="Text 131"/>
          <p:cNvSpPr/>
          <p:nvPr/>
        </p:nvSpPr>
        <p:spPr>
          <a:xfrm>
            <a:off x="10616184" y="861456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134" name="Shape 132"/>
          <p:cNvSpPr/>
          <p:nvPr/>
        </p:nvSpPr>
        <p:spPr>
          <a:xfrm>
            <a:off x="10268712" y="8998610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616184" y="888888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  <p:sp>
        <p:nvSpPr>
          <p:cNvPr id="136" name="Shape 134"/>
          <p:cNvSpPr/>
          <p:nvPr/>
        </p:nvSpPr>
        <p:spPr>
          <a:xfrm>
            <a:off x="10287000" y="9190634"/>
            <a:ext cx="219456" cy="146304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616184" y="916320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FEED MANHOLE / HANDHOLE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3   ·   DWG NO [XXX-ELE-SHD-1003] REV P05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415709" y="9583565"/>
            <a:ext cx="283772" cy="2279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14605" y="9582661"/>
            <a:ext cx="1104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30317" y="9112099"/>
            <a:ext cx="584288" cy="4705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4925" y="8643746"/>
            <a:ext cx="585392" cy="4683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3018" y="8642240"/>
            <a:ext cx="1907" cy="150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56723" y="8171377"/>
            <a:ext cx="586295" cy="47086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69022" y="7703023"/>
            <a:ext cx="587701" cy="4683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62799" y="7698004"/>
            <a:ext cx="6223" cy="501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9013" y="7226138"/>
            <a:ext cx="583786" cy="4718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93521" y="6754572"/>
            <a:ext cx="585492" cy="4715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7928" y="6287523"/>
            <a:ext cx="585593" cy="4670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05419" y="6285515"/>
            <a:ext cx="2509" cy="20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23339" y="5818366"/>
            <a:ext cx="582080" cy="4671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0479" y="5656661"/>
            <a:ext cx="202860" cy="1617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5762" y="5652846"/>
            <a:ext cx="4718" cy="38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3141" y="5433124"/>
            <a:ext cx="272621" cy="21972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4233" y="5383137"/>
            <a:ext cx="108908" cy="499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28136" y="5327629"/>
            <a:ext cx="106097" cy="555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8362" y="5261280"/>
            <a:ext cx="99774" cy="6634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36016" y="5185095"/>
            <a:ext cx="92346" cy="761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52002" y="5099675"/>
            <a:ext cx="84015" cy="8542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40358" y="5085121"/>
            <a:ext cx="11644" cy="145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5076" y="5068659"/>
            <a:ext cx="75282" cy="16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9782" y="5034933"/>
            <a:ext cx="105294" cy="3372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8202" y="4991269"/>
            <a:ext cx="101580" cy="4366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61339" y="4938070"/>
            <a:ext cx="96863" cy="531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69897" y="4875837"/>
            <a:ext cx="91442" cy="6223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4878" y="4805172"/>
            <a:ext cx="85018" cy="706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8342" y="4768334"/>
            <a:ext cx="36537" cy="368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7639" y="4756490"/>
            <a:ext cx="80702" cy="1184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036" y="4730091"/>
            <a:ext cx="107603" cy="263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5445" y="4693454"/>
            <a:ext cx="104592" cy="3663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868" y="4646980"/>
            <a:ext cx="100577" cy="464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9210" y="4590970"/>
            <a:ext cx="95658" cy="5601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9374" y="4526128"/>
            <a:ext cx="89836" cy="6484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5145" y="4496115"/>
            <a:ext cx="34228" cy="3001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6300" y="4494810"/>
            <a:ext cx="38845" cy="1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5284" y="4480256"/>
            <a:ext cx="111016" cy="145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465190"/>
            <a:ext cx="65244" cy="150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62125" y="7784127"/>
            <a:ext cx="1013395" cy="8140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76834" y="7312762"/>
            <a:ext cx="585292" cy="4713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73823" y="7310453"/>
            <a:ext cx="3011" cy="23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7929" y="6841698"/>
            <a:ext cx="585894" cy="4687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00830" y="6370132"/>
            <a:ext cx="587098" cy="4715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97317" y="6367221"/>
            <a:ext cx="3513" cy="291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10921" y="5899972"/>
            <a:ext cx="586396" cy="46725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29444" y="5430012"/>
            <a:ext cx="581477" cy="4699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27838" y="5428707"/>
            <a:ext cx="1606" cy="1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39435" y="4954833"/>
            <a:ext cx="588403" cy="4738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35319" y="4951520"/>
            <a:ext cx="4115" cy="331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48924" y="4483769"/>
            <a:ext cx="586396" cy="4677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6744" y="4016620"/>
            <a:ext cx="582180" cy="4671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4034" y="4014512"/>
            <a:ext cx="2710" cy="2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962278" y="3853609"/>
            <a:ext cx="201755" cy="16090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79947" y="3545455"/>
            <a:ext cx="382332" cy="3081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03259" y="3488643"/>
            <a:ext cx="76687" cy="5681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22156" y="3438455"/>
            <a:ext cx="81104" cy="5018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78392" y="3416071"/>
            <a:ext cx="43764" cy="2238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52019" y="3239610"/>
            <a:ext cx="126373" cy="17646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82257" y="3151581"/>
            <a:ext cx="69761" cy="8803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04366" y="3070778"/>
            <a:ext cx="77892" cy="8080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18946" y="2997905"/>
            <a:ext cx="85420" cy="7287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26801" y="2933665"/>
            <a:ext cx="92145" cy="642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68683" y="2901042"/>
            <a:ext cx="58118" cy="3262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45798" y="2847643"/>
            <a:ext cx="22886" cy="5340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90290" y="2746865"/>
            <a:ext cx="55508" cy="1007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24945" y="2652110"/>
            <a:ext cx="65345" cy="947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50466" y="2564281"/>
            <a:ext cx="74479" cy="8782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567656" y="2484382"/>
            <a:ext cx="82810" cy="798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77318" y="2413115"/>
            <a:ext cx="90338" cy="712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439476" y="2388925"/>
            <a:ext cx="37842" cy="2419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413178" y="2315851"/>
            <a:ext cx="26298" cy="730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65599" y="2215475"/>
            <a:ext cx="47578" cy="10037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308486" y="2120018"/>
            <a:ext cx="57114" cy="9545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14812" y="1528102"/>
            <a:ext cx="393674" cy="59191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785546" y="1298442"/>
            <a:ext cx="129266" cy="2296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13315" y="9627228"/>
            <a:ext cx="229676" cy="18429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2" name="Shape 80"/>
          <p:cNvSpPr/>
          <p:nvPr/>
        </p:nvSpPr>
        <p:spPr>
          <a:xfrm>
            <a:off x="8138616" y="8683595"/>
            <a:ext cx="1174699" cy="94363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3" name="Shape 81"/>
          <p:cNvSpPr/>
          <p:nvPr/>
        </p:nvSpPr>
        <p:spPr>
          <a:xfrm>
            <a:off x="7552823" y="8211828"/>
            <a:ext cx="585793" cy="4717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4" name="Shape 82"/>
          <p:cNvSpPr/>
          <p:nvPr/>
        </p:nvSpPr>
        <p:spPr>
          <a:xfrm>
            <a:off x="6965925" y="7742371"/>
            <a:ext cx="586898" cy="46945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5" name="Shape 83"/>
          <p:cNvSpPr/>
          <p:nvPr/>
        </p:nvSpPr>
        <p:spPr>
          <a:xfrm>
            <a:off x="6377923" y="7270002"/>
            <a:ext cx="588002" cy="4723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6" name="Shape 84"/>
          <p:cNvSpPr/>
          <p:nvPr/>
        </p:nvSpPr>
        <p:spPr>
          <a:xfrm>
            <a:off x="5788416" y="6800243"/>
            <a:ext cx="589507" cy="4697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7" name="Shape 85"/>
          <p:cNvSpPr/>
          <p:nvPr/>
        </p:nvSpPr>
        <p:spPr>
          <a:xfrm>
            <a:off x="5203827" y="6327774"/>
            <a:ext cx="584589" cy="4724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8" name="Shape 86"/>
          <p:cNvSpPr/>
          <p:nvPr/>
        </p:nvSpPr>
        <p:spPr>
          <a:xfrm>
            <a:off x="4615424" y="5853899"/>
            <a:ext cx="588403" cy="47387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9" name="Shape 87"/>
          <p:cNvSpPr/>
          <p:nvPr/>
        </p:nvSpPr>
        <p:spPr>
          <a:xfrm>
            <a:off x="4027824" y="5385144"/>
            <a:ext cx="587600" cy="46875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0" name="Shape 88"/>
          <p:cNvSpPr/>
          <p:nvPr/>
        </p:nvSpPr>
        <p:spPr>
          <a:xfrm>
            <a:off x="3444339" y="4916991"/>
            <a:ext cx="583485" cy="46815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1" name="Shape 89"/>
          <p:cNvSpPr/>
          <p:nvPr/>
        </p:nvSpPr>
        <p:spPr>
          <a:xfrm>
            <a:off x="3240174" y="4754181"/>
            <a:ext cx="204164" cy="1628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2" name="Shape 90"/>
          <p:cNvSpPr/>
          <p:nvPr/>
        </p:nvSpPr>
        <p:spPr>
          <a:xfrm>
            <a:off x="2855534" y="4444120"/>
            <a:ext cx="384640" cy="31006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3" name="Shape 91"/>
          <p:cNvSpPr/>
          <p:nvPr/>
        </p:nvSpPr>
        <p:spPr>
          <a:xfrm>
            <a:off x="2615937" y="4334109"/>
            <a:ext cx="239597" cy="11001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4" name="Shape 92"/>
          <p:cNvSpPr/>
          <p:nvPr/>
        </p:nvSpPr>
        <p:spPr>
          <a:xfrm>
            <a:off x="2313404" y="3911526"/>
            <a:ext cx="302533" cy="42258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5" name="Shape 93"/>
          <p:cNvSpPr/>
          <p:nvPr/>
        </p:nvSpPr>
        <p:spPr>
          <a:xfrm>
            <a:off x="2313404" y="3911526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6" name="Shape 94"/>
          <p:cNvSpPr/>
          <p:nvPr/>
        </p:nvSpPr>
        <p:spPr>
          <a:xfrm flipV="1">
            <a:off x="1964498" y="3911526"/>
            <a:ext cx="348906" cy="423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7" name="Shape 95"/>
          <p:cNvSpPr/>
          <p:nvPr/>
        </p:nvSpPr>
        <p:spPr>
          <a:xfrm>
            <a:off x="1808413" y="3353838"/>
            <a:ext cx="156084" cy="60004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8" name="Shape 96"/>
          <p:cNvSpPr/>
          <p:nvPr/>
        </p:nvSpPr>
        <p:spPr>
          <a:xfrm flipV="1">
            <a:off x="1289068" y="3353838"/>
            <a:ext cx="519345" cy="2698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9" name="Shape 97"/>
          <p:cNvSpPr/>
          <p:nvPr/>
        </p:nvSpPr>
        <p:spPr>
          <a:xfrm>
            <a:off x="1090826" y="3028419"/>
            <a:ext cx="198242" cy="59522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0" name="Shape 98"/>
          <p:cNvSpPr/>
          <p:nvPr/>
        </p:nvSpPr>
        <p:spPr>
          <a:xfrm flipV="1">
            <a:off x="1090826" y="2759312"/>
            <a:ext cx="256561" cy="26910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1" name="Shape 99"/>
          <p:cNvSpPr/>
          <p:nvPr/>
        </p:nvSpPr>
        <p:spPr>
          <a:xfrm>
            <a:off x="929924" y="2131662"/>
            <a:ext cx="417463" cy="62765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2" name="Shape 100"/>
          <p:cNvSpPr/>
          <p:nvPr/>
        </p:nvSpPr>
        <p:spPr>
          <a:xfrm>
            <a:off x="561544" y="1477211"/>
            <a:ext cx="368379" cy="65445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3" name="Shape 101"/>
          <p:cNvSpPr/>
          <p:nvPr/>
        </p:nvSpPr>
        <p:spPr>
          <a:xfrm>
            <a:off x="478115" y="1298442"/>
            <a:ext cx="83429" cy="1787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4" name="Shape 102"/>
          <p:cNvSpPr/>
          <p:nvPr/>
        </p:nvSpPr>
        <p:spPr>
          <a:xfrm>
            <a:off x="320040" y="3256882"/>
            <a:ext cx="270413" cy="8742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5" name="Shape 103"/>
          <p:cNvSpPr/>
          <p:nvPr/>
        </p:nvSpPr>
        <p:spPr>
          <a:xfrm>
            <a:off x="320040" y="3267801"/>
            <a:ext cx="270413" cy="7650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6" name="Shape 104"/>
          <p:cNvSpPr/>
          <p:nvPr/>
        </p:nvSpPr>
        <p:spPr>
          <a:xfrm flipV="1">
            <a:off x="4461748" y="4530444"/>
            <a:ext cx="189108" cy="236285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4273042" y="4766728"/>
            <a:ext cx="188707" cy="236686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085941" y="5003415"/>
            <a:ext cx="187101" cy="23528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897134" y="5238696"/>
            <a:ext cx="188807" cy="23337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707324" y="5472070"/>
            <a:ext cx="189811" cy="234679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3518918" y="5706748"/>
            <a:ext cx="188405" cy="23528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331316" y="5942029"/>
            <a:ext cx="187602" cy="235080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8138616" y="6554322"/>
            <a:ext cx="580574" cy="212927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 flipV="1">
            <a:off x="6965925" y="6554322"/>
            <a:ext cx="1753265" cy="118804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 flipV="1">
            <a:off x="9313315" y="9353643"/>
            <a:ext cx="562205" cy="27358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 flipV="1">
            <a:off x="6377923" y="6554322"/>
            <a:ext cx="2341267" cy="71568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 flipV="1">
            <a:off x="7552823" y="6554322"/>
            <a:ext cx="1166367" cy="16575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 flipV="1">
            <a:off x="320040" y="3344302"/>
            <a:ext cx="270413" cy="19211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 flipV="1">
            <a:off x="1676720" y="3953885"/>
            <a:ext cx="287778" cy="23469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 flipV="1">
            <a:off x="1676720" y="4334109"/>
            <a:ext cx="939217" cy="196676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1289068" y="3623648"/>
            <a:ext cx="387652" cy="26772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 flipV="1">
            <a:off x="1676720" y="5706748"/>
            <a:ext cx="2030603" cy="5941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 flipV="1">
            <a:off x="1676720" y="5942029"/>
            <a:ext cx="1842198" cy="35884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 flipV="1">
            <a:off x="1676720" y="6177110"/>
            <a:ext cx="1654596" cy="12376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 flipV="1">
            <a:off x="1090826" y="1298442"/>
            <a:ext cx="800030" cy="172997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 flipV="1">
            <a:off x="1676720" y="3975867"/>
            <a:ext cx="590812" cy="23250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 flipV="1">
            <a:off x="1676720" y="4754181"/>
            <a:ext cx="1563454" cy="154669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 flipV="1">
            <a:off x="561544" y="1298442"/>
            <a:ext cx="266014" cy="17876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 flipV="1">
            <a:off x="1347387" y="1298442"/>
            <a:ext cx="598309" cy="146087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 flipV="1">
            <a:off x="1676720" y="4444120"/>
            <a:ext cx="1178814" cy="1856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 flipV="1">
            <a:off x="929924" y="1298442"/>
            <a:ext cx="641799" cy="83322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2" name="Shape 130"/>
          <p:cNvSpPr/>
          <p:nvPr/>
        </p:nvSpPr>
        <p:spPr>
          <a:xfrm flipV="1">
            <a:off x="1808413" y="2767442"/>
            <a:ext cx="2698404" cy="58639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3" name="Shape 131"/>
          <p:cNvSpPr/>
          <p:nvPr/>
        </p:nvSpPr>
        <p:spPr>
          <a:xfrm flipV="1">
            <a:off x="1676720" y="4916991"/>
            <a:ext cx="1767619" cy="138388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4" name="Shape 132"/>
          <p:cNvSpPr/>
          <p:nvPr/>
        </p:nvSpPr>
        <p:spPr>
          <a:xfrm flipV="1">
            <a:off x="1676720" y="3911526"/>
            <a:ext cx="636684" cy="238934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 flipV="1">
            <a:off x="5788416" y="5207981"/>
            <a:ext cx="2251129" cy="159226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6" name="Shape 134"/>
          <p:cNvSpPr/>
          <p:nvPr/>
        </p:nvSpPr>
        <p:spPr>
          <a:xfrm flipV="1">
            <a:off x="5203827" y="3840862"/>
            <a:ext cx="282658" cy="248691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 flipV="1">
            <a:off x="4615424" y="3840862"/>
            <a:ext cx="871062" cy="201303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8" name="Shape 136"/>
          <p:cNvSpPr/>
          <p:nvPr/>
        </p:nvSpPr>
        <p:spPr>
          <a:xfrm flipV="1">
            <a:off x="4027824" y="3840862"/>
            <a:ext cx="1458662" cy="15442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 flipV="1">
            <a:off x="4650857" y="3840862"/>
            <a:ext cx="835629" cy="6895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 flipV="1">
            <a:off x="4461748" y="3840862"/>
            <a:ext cx="1024737" cy="92586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1" name="Shape 139"/>
          <p:cNvSpPr/>
          <p:nvPr/>
        </p:nvSpPr>
        <p:spPr>
          <a:xfrm flipV="1">
            <a:off x="4273042" y="3840862"/>
            <a:ext cx="1213444" cy="116255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2" name="Shape 140"/>
          <p:cNvSpPr/>
          <p:nvPr/>
        </p:nvSpPr>
        <p:spPr>
          <a:xfrm flipV="1">
            <a:off x="4085941" y="3840862"/>
            <a:ext cx="1400544" cy="139783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3" name="Shape 141"/>
          <p:cNvSpPr/>
          <p:nvPr/>
        </p:nvSpPr>
        <p:spPr>
          <a:xfrm flipV="1">
            <a:off x="3897134" y="3840862"/>
            <a:ext cx="1589351" cy="163120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4" name="Shape 142"/>
          <p:cNvSpPr/>
          <p:nvPr/>
        </p:nvSpPr>
        <p:spPr>
          <a:xfrm>
            <a:off x="5416222" y="377059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969282" y="513771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576824" y="366087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P4.037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8129884" y="502799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HH.E.058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3087402" y="6322353"/>
            <a:ext cx="2846258" cy="721803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3087402" y="4071626"/>
            <a:ext cx="570737" cy="225072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658139" y="4071626"/>
            <a:ext cx="2846358" cy="721803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5933660" y="4793428"/>
            <a:ext cx="570837" cy="225072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280699" y="379730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(676.7 m² TOTAL)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8102128" y="69599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477556" y="27381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109355" y="865433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936664" y="77131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51911" y="7016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550942" y="58420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247651" y="2605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300003" y="144413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249569" y="51190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329502" y="36588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31117" y="78138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284054" y="95979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348663" y="7240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759155" y="67709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174566" y="62985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86163" y="58246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523562" y="81825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61192" y="33150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935237" y="392462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586676" y="430484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259808" y="35943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23173" y="325431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500107" y="35661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166101" y="392231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800878" y="43224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998563" y="53558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867873" y="54428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678063" y="56774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489657" y="59127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302055" y="61478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61565" y="299915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238271" y="3946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210913" y="472492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32284" y="144795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318126" y="27300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826273" y="441486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00663" y="21024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779152" y="33245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415078" y="488773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284143" y="388226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457225" y="38116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689929" y="652506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115523" y="60539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5743095" y="31713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953985" y="3341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280619" y="17448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010284" y="517872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49386" y="41946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647459" y="62716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632035" y="204006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90299" y="659401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638325" y="83469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755642" y="23427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8193953" y="687684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RRM.283</a:t>
            </a:r>
            <a:endParaRPr lang="en-US" sz="500" dirty="0"/>
          </a:p>
        </p:txBody>
      </p:sp>
      <p:sp>
        <p:nvSpPr>
          <p:cNvPr id="207" name="Text 205"/>
          <p:cNvSpPr/>
          <p:nvPr/>
        </p:nvSpPr>
        <p:spPr>
          <a:xfrm>
            <a:off x="4569381" y="265503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P4.036.399</a:t>
            </a:r>
            <a:endParaRPr lang="en-US" sz="500" dirty="0"/>
          </a:p>
        </p:txBody>
      </p:sp>
      <p:sp>
        <p:nvSpPr>
          <p:cNvPr id="208" name="Text 206"/>
          <p:cNvSpPr/>
          <p:nvPr/>
        </p:nvSpPr>
        <p:spPr>
          <a:xfrm>
            <a:off x="8201180" y="857118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TCCECH.04.005</a:t>
            </a:r>
            <a:endParaRPr lang="en-US" sz="500" dirty="0"/>
          </a:p>
        </p:txBody>
      </p:sp>
      <p:sp>
        <p:nvSpPr>
          <p:cNvPr id="209" name="Text 207"/>
          <p:cNvSpPr/>
          <p:nvPr/>
        </p:nvSpPr>
        <p:spPr>
          <a:xfrm>
            <a:off x="7028489" y="762996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TCCECH.04.004</a:t>
            </a:r>
            <a:endParaRPr lang="en-US" sz="500" dirty="0"/>
          </a:p>
        </p:txBody>
      </p:sp>
      <p:sp>
        <p:nvSpPr>
          <p:cNvPr id="210" name="Text 208"/>
          <p:cNvSpPr/>
          <p:nvPr/>
        </p:nvSpPr>
        <p:spPr>
          <a:xfrm>
            <a:off x="4343736" y="693355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RRM.547</a:t>
            </a:r>
            <a:endParaRPr lang="en-US" sz="500" dirty="0"/>
          </a:p>
        </p:txBody>
      </p:sp>
      <p:sp>
        <p:nvSpPr>
          <p:cNvPr id="211" name="Text 209"/>
          <p:cNvSpPr/>
          <p:nvPr/>
        </p:nvSpPr>
        <p:spPr>
          <a:xfrm>
            <a:off x="2642767" y="57588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RRM.548</a:t>
            </a:r>
            <a:endParaRPr lang="en-US" sz="500" dirty="0"/>
          </a:p>
        </p:txBody>
      </p:sp>
      <p:sp>
        <p:nvSpPr>
          <p:cNvPr id="212" name="Text 210"/>
          <p:cNvSpPr/>
          <p:nvPr/>
        </p:nvSpPr>
        <p:spPr>
          <a:xfrm>
            <a:off x="3339475" y="25228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RRM.558</a:t>
            </a:r>
            <a:endParaRPr lang="en-US" sz="500" dirty="0"/>
          </a:p>
        </p:txBody>
      </p:sp>
      <p:sp>
        <p:nvSpPr>
          <p:cNvPr id="213" name="Text 211"/>
          <p:cNvSpPr/>
          <p:nvPr/>
        </p:nvSpPr>
        <p:spPr>
          <a:xfrm>
            <a:off x="2391827" y="13609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RRM.559</a:t>
            </a:r>
            <a:endParaRPr lang="en-US" sz="500" dirty="0"/>
          </a:p>
        </p:txBody>
      </p:sp>
      <p:sp>
        <p:nvSpPr>
          <p:cNvPr id="214" name="Text 212"/>
          <p:cNvSpPr/>
          <p:nvPr/>
        </p:nvSpPr>
        <p:spPr>
          <a:xfrm>
            <a:off x="1341394" y="503594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RRM.655</a:t>
            </a:r>
            <a:endParaRPr lang="en-US" sz="500" dirty="0"/>
          </a:p>
        </p:txBody>
      </p:sp>
      <p:sp>
        <p:nvSpPr>
          <p:cNvPr id="215" name="Text 213"/>
          <p:cNvSpPr/>
          <p:nvPr/>
        </p:nvSpPr>
        <p:spPr>
          <a:xfrm>
            <a:off x="4421326" y="357568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RRM.669</a:t>
            </a:r>
            <a:endParaRPr lang="en-US" sz="500" dirty="0"/>
          </a:p>
        </p:txBody>
      </p:sp>
      <p:sp>
        <p:nvSpPr>
          <p:cNvPr id="216" name="Text 214"/>
          <p:cNvSpPr/>
          <p:nvPr/>
        </p:nvSpPr>
        <p:spPr>
          <a:xfrm>
            <a:off x="2822941" y="773073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HH.E.144</a:t>
            </a:r>
            <a:endParaRPr lang="en-US" sz="500" dirty="0"/>
          </a:p>
        </p:txBody>
      </p:sp>
      <p:sp>
        <p:nvSpPr>
          <p:cNvPr id="217" name="Text 215"/>
          <p:cNvSpPr/>
          <p:nvPr/>
        </p:nvSpPr>
        <p:spPr>
          <a:xfrm>
            <a:off x="9375878" y="95148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218" name="Text 216"/>
          <p:cNvSpPr/>
          <p:nvPr/>
        </p:nvSpPr>
        <p:spPr>
          <a:xfrm>
            <a:off x="6440487" y="71575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TCCECH.03.004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5850980" y="668783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TCCECH.04.003</a:t>
            </a:r>
            <a:endParaRPr lang="en-US" sz="500" dirty="0"/>
          </a:p>
        </p:txBody>
      </p:sp>
      <p:sp>
        <p:nvSpPr>
          <p:cNvPr id="220" name="Text 218"/>
          <p:cNvSpPr/>
          <p:nvPr/>
        </p:nvSpPr>
        <p:spPr>
          <a:xfrm>
            <a:off x="5266391" y="621536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TCCECH.03.003</a:t>
            </a:r>
            <a:endParaRPr lang="en-US" sz="500" dirty="0"/>
          </a:p>
        </p:txBody>
      </p:sp>
      <p:sp>
        <p:nvSpPr>
          <p:cNvPr id="221" name="Text 219"/>
          <p:cNvSpPr/>
          <p:nvPr/>
        </p:nvSpPr>
        <p:spPr>
          <a:xfrm>
            <a:off x="4677987" y="57414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TCCECH.04.002</a:t>
            </a:r>
            <a:endParaRPr lang="en-US" sz="500" dirty="0"/>
          </a:p>
        </p:txBody>
      </p:sp>
      <p:sp>
        <p:nvSpPr>
          <p:cNvPr id="222" name="Text 220"/>
          <p:cNvSpPr/>
          <p:nvPr/>
        </p:nvSpPr>
        <p:spPr>
          <a:xfrm>
            <a:off x="7615386" y="80994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TCCECH.03.005</a:t>
            </a:r>
            <a:endParaRPr lang="en-US" sz="500" dirty="0"/>
          </a:p>
        </p:txBody>
      </p:sp>
      <p:sp>
        <p:nvSpPr>
          <p:cNvPr id="223" name="Text 221"/>
          <p:cNvSpPr/>
          <p:nvPr/>
        </p:nvSpPr>
        <p:spPr>
          <a:xfrm>
            <a:off x="653016" y="32318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TCCECH.05.034</a:t>
            </a:r>
            <a:endParaRPr lang="en-US" sz="500" dirty="0"/>
          </a:p>
        </p:txBody>
      </p:sp>
      <p:sp>
        <p:nvSpPr>
          <p:cNvPr id="224" name="Text 222"/>
          <p:cNvSpPr/>
          <p:nvPr/>
        </p:nvSpPr>
        <p:spPr>
          <a:xfrm>
            <a:off x="2027061" y="38414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TCCECH.05.033</a:t>
            </a:r>
            <a:endParaRPr lang="en-US" sz="500" dirty="0"/>
          </a:p>
        </p:txBody>
      </p:sp>
      <p:sp>
        <p:nvSpPr>
          <p:cNvPr id="225" name="Text 223"/>
          <p:cNvSpPr/>
          <p:nvPr/>
        </p:nvSpPr>
        <p:spPr>
          <a:xfrm>
            <a:off x="2678500" y="42217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TCCECH.06.035</a:t>
            </a:r>
            <a:endParaRPr lang="en-US" sz="500" dirty="0"/>
          </a:p>
        </p:txBody>
      </p:sp>
      <p:sp>
        <p:nvSpPr>
          <p:cNvPr id="226" name="Text 224"/>
          <p:cNvSpPr/>
          <p:nvPr/>
        </p:nvSpPr>
        <p:spPr>
          <a:xfrm>
            <a:off x="1351632" y="351123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TCCECH.06.036</a:t>
            </a:r>
            <a:endParaRPr lang="en-US" sz="500" dirty="0"/>
          </a:p>
        </p:txBody>
      </p:sp>
      <p:sp>
        <p:nvSpPr>
          <p:cNvPr id="227" name="Text 225"/>
          <p:cNvSpPr/>
          <p:nvPr/>
        </p:nvSpPr>
        <p:spPr>
          <a:xfrm>
            <a:off x="914997" y="317116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EL.EBASE.13328</a:t>
            </a:r>
            <a:endParaRPr lang="en-US" sz="500" dirty="0"/>
          </a:p>
        </p:txBody>
      </p:sp>
      <p:sp>
        <p:nvSpPr>
          <p:cNvPr id="228" name="Text 226"/>
          <p:cNvSpPr/>
          <p:nvPr/>
        </p:nvSpPr>
        <p:spPr>
          <a:xfrm>
            <a:off x="1591932" y="348303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EL.EBASE.13329</a:t>
            </a:r>
            <a:endParaRPr lang="en-US" sz="500" dirty="0"/>
          </a:p>
        </p:txBody>
      </p:sp>
      <p:sp>
        <p:nvSpPr>
          <p:cNvPr id="229" name="Text 227"/>
          <p:cNvSpPr/>
          <p:nvPr/>
        </p:nvSpPr>
        <p:spPr>
          <a:xfrm>
            <a:off x="2257926" y="38391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EL.EBASE.13330</a:t>
            </a:r>
            <a:endParaRPr lang="en-US" sz="500" dirty="0"/>
          </a:p>
        </p:txBody>
      </p:sp>
      <p:sp>
        <p:nvSpPr>
          <p:cNvPr id="230" name="Text 228"/>
          <p:cNvSpPr/>
          <p:nvPr/>
        </p:nvSpPr>
        <p:spPr>
          <a:xfrm>
            <a:off x="2892702" y="423926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EL.EBASE.13331</a:t>
            </a:r>
            <a:endParaRPr lang="en-US" sz="500" dirty="0"/>
          </a:p>
        </p:txBody>
      </p:sp>
      <p:sp>
        <p:nvSpPr>
          <p:cNvPr id="231" name="Text 229"/>
          <p:cNvSpPr/>
          <p:nvPr/>
        </p:nvSpPr>
        <p:spPr>
          <a:xfrm>
            <a:off x="4090387" y="527273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TCCECH.03.002</a:t>
            </a:r>
            <a:endParaRPr lang="en-US" sz="500" dirty="0"/>
          </a:p>
        </p:txBody>
      </p:sp>
      <p:sp>
        <p:nvSpPr>
          <p:cNvPr id="232" name="Text 230"/>
          <p:cNvSpPr/>
          <p:nvPr/>
        </p:nvSpPr>
        <p:spPr>
          <a:xfrm>
            <a:off x="3959698" y="535966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SBC102.01.040</a:t>
            </a:r>
            <a:endParaRPr lang="en-US" sz="500" dirty="0"/>
          </a:p>
        </p:txBody>
      </p:sp>
      <p:sp>
        <p:nvSpPr>
          <p:cNvPr id="233" name="Text 231"/>
          <p:cNvSpPr/>
          <p:nvPr/>
        </p:nvSpPr>
        <p:spPr>
          <a:xfrm>
            <a:off x="3769887" y="559434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SBC102.02.037</a:t>
            </a:r>
            <a:endParaRPr lang="en-US" sz="500" dirty="0"/>
          </a:p>
        </p:txBody>
      </p:sp>
      <p:sp>
        <p:nvSpPr>
          <p:cNvPr id="234" name="Text 232"/>
          <p:cNvSpPr/>
          <p:nvPr/>
        </p:nvSpPr>
        <p:spPr>
          <a:xfrm>
            <a:off x="3581482" y="58296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SBC102.01.041</a:t>
            </a:r>
            <a:endParaRPr lang="en-US" sz="500" dirty="0"/>
          </a:p>
        </p:txBody>
      </p:sp>
      <p:sp>
        <p:nvSpPr>
          <p:cNvPr id="235" name="Text 233"/>
          <p:cNvSpPr/>
          <p:nvPr/>
        </p:nvSpPr>
        <p:spPr>
          <a:xfrm>
            <a:off x="3393879" y="606470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SBC102.02.038</a:t>
            </a:r>
            <a:endParaRPr lang="en-US" sz="500" dirty="0"/>
          </a:p>
        </p:txBody>
      </p:sp>
      <p:sp>
        <p:nvSpPr>
          <p:cNvPr id="236" name="Text 234"/>
          <p:cNvSpPr/>
          <p:nvPr/>
        </p:nvSpPr>
        <p:spPr>
          <a:xfrm>
            <a:off x="1153390" y="291601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TCC102.01.052</a:t>
            </a:r>
            <a:endParaRPr lang="en-US" sz="500" dirty="0"/>
          </a:p>
        </p:txBody>
      </p:sp>
      <p:sp>
        <p:nvSpPr>
          <p:cNvPr id="237" name="Text 235"/>
          <p:cNvSpPr/>
          <p:nvPr/>
        </p:nvSpPr>
        <p:spPr>
          <a:xfrm>
            <a:off x="2330096" y="386345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TCC102.02.050</a:t>
            </a:r>
            <a:endParaRPr lang="en-US" sz="500" dirty="0"/>
          </a:p>
        </p:txBody>
      </p:sp>
      <p:sp>
        <p:nvSpPr>
          <p:cNvPr id="238" name="Text 236"/>
          <p:cNvSpPr/>
          <p:nvPr/>
        </p:nvSpPr>
        <p:spPr>
          <a:xfrm>
            <a:off x="3302738" y="464177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TCCECH.03.001</a:t>
            </a:r>
            <a:endParaRPr lang="en-US" sz="500" dirty="0"/>
          </a:p>
        </p:txBody>
      </p:sp>
      <p:sp>
        <p:nvSpPr>
          <p:cNvPr id="239" name="Text 237"/>
          <p:cNvSpPr/>
          <p:nvPr/>
        </p:nvSpPr>
        <p:spPr>
          <a:xfrm>
            <a:off x="624108" y="136480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TCCECH.05.016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1409950" y="264690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TCCECH.05.017</a:t>
            </a:r>
            <a:endParaRPr lang="en-US" sz="500" dirty="0"/>
          </a:p>
        </p:txBody>
      </p:sp>
      <p:sp>
        <p:nvSpPr>
          <p:cNvPr id="241" name="Text 239"/>
          <p:cNvSpPr/>
          <p:nvPr/>
        </p:nvSpPr>
        <p:spPr>
          <a:xfrm>
            <a:off x="2918098" y="433171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TCCECH.06.019</a:t>
            </a:r>
            <a:endParaRPr lang="en-US" sz="500" dirty="0"/>
          </a:p>
        </p:txBody>
      </p:sp>
      <p:sp>
        <p:nvSpPr>
          <p:cNvPr id="242" name="Text 240"/>
          <p:cNvSpPr/>
          <p:nvPr/>
        </p:nvSpPr>
        <p:spPr>
          <a:xfrm>
            <a:off x="992487" y="20192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TCCECH.06.017</a:t>
            </a:r>
            <a:endParaRPr lang="en-US" sz="500" dirty="0"/>
          </a:p>
        </p:txBody>
      </p:sp>
      <p:sp>
        <p:nvSpPr>
          <p:cNvPr id="243" name="Text 241"/>
          <p:cNvSpPr/>
          <p:nvPr/>
        </p:nvSpPr>
        <p:spPr>
          <a:xfrm>
            <a:off x="1870977" y="324142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TCCECH.06.018</a:t>
            </a:r>
            <a:endParaRPr lang="en-US" sz="500" dirty="0"/>
          </a:p>
        </p:txBody>
      </p:sp>
      <p:sp>
        <p:nvSpPr>
          <p:cNvPr id="244" name="Text 242"/>
          <p:cNvSpPr/>
          <p:nvPr/>
        </p:nvSpPr>
        <p:spPr>
          <a:xfrm>
            <a:off x="3506902" y="48045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TCCECH.04.001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2375968" y="379911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TCCECH.05.018</a:t>
            </a:r>
            <a:endParaRPr lang="en-US" sz="500" dirty="0"/>
          </a:p>
        </p:txBody>
      </p:sp>
      <p:sp>
        <p:nvSpPr>
          <p:cNvPr id="246" name="Text 244"/>
          <p:cNvSpPr/>
          <p:nvPr/>
        </p:nvSpPr>
        <p:spPr>
          <a:xfrm>
            <a:off x="5549049" y="37284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P4.037</a:t>
            </a:r>
            <a:endParaRPr lang="en-US" sz="500" dirty="0"/>
          </a:p>
        </p:txBody>
      </p:sp>
      <p:sp>
        <p:nvSpPr>
          <p:cNvPr id="247" name="Text 245"/>
          <p:cNvSpPr/>
          <p:nvPr/>
        </p:nvSpPr>
        <p:spPr>
          <a:xfrm>
            <a:off x="8781754" y="644191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P4.039</a:t>
            </a:r>
            <a:endParaRPr lang="en-US" sz="500" dirty="0"/>
          </a:p>
        </p:txBody>
      </p:sp>
      <p:sp>
        <p:nvSpPr>
          <p:cNvPr id="248" name="Text 246"/>
          <p:cNvSpPr/>
          <p:nvPr/>
        </p:nvSpPr>
        <p:spPr>
          <a:xfrm>
            <a:off x="9207347" y="597084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HH.E.057</a:t>
            </a:r>
            <a:endParaRPr lang="en-US" sz="500" dirty="0"/>
          </a:p>
        </p:txBody>
      </p:sp>
      <p:sp>
        <p:nvSpPr>
          <p:cNvPr id="249" name="Text 247"/>
          <p:cNvSpPr/>
          <p:nvPr/>
        </p:nvSpPr>
        <p:spPr>
          <a:xfrm>
            <a:off x="5834919" y="308815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HH.E.061</a:t>
            </a:r>
            <a:endParaRPr lang="en-US" sz="500" dirty="0"/>
          </a:p>
        </p:txBody>
      </p:sp>
      <p:sp>
        <p:nvSpPr>
          <p:cNvPr id="250" name="Text 248"/>
          <p:cNvSpPr/>
          <p:nvPr/>
        </p:nvSpPr>
        <p:spPr>
          <a:xfrm>
            <a:off x="6045809" y="32585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HH.E.060</a:t>
            </a:r>
            <a:endParaRPr lang="en-US" sz="500" dirty="0"/>
          </a:p>
        </p:txBody>
      </p:sp>
      <p:sp>
        <p:nvSpPr>
          <p:cNvPr id="251" name="Text 249"/>
          <p:cNvSpPr/>
          <p:nvPr/>
        </p:nvSpPr>
        <p:spPr>
          <a:xfrm>
            <a:off x="4372443" y="166171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HH.E4.010</a:t>
            </a:r>
            <a:endParaRPr lang="en-US" sz="500" dirty="0"/>
          </a:p>
        </p:txBody>
      </p:sp>
      <p:sp>
        <p:nvSpPr>
          <p:cNvPr id="252" name="Text 250"/>
          <p:cNvSpPr/>
          <p:nvPr/>
        </p:nvSpPr>
        <p:spPr>
          <a:xfrm>
            <a:off x="8102109" y="50955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HH.E.058</a:t>
            </a:r>
            <a:endParaRPr lang="en-US" sz="500" dirty="0"/>
          </a:p>
        </p:txBody>
      </p:sp>
      <p:sp>
        <p:nvSpPr>
          <p:cNvPr id="253" name="Text 251"/>
          <p:cNvSpPr/>
          <p:nvPr/>
        </p:nvSpPr>
        <p:spPr>
          <a:xfrm>
            <a:off x="7141211" y="411148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HH.E.059</a:t>
            </a:r>
            <a:endParaRPr lang="en-US" sz="500" dirty="0"/>
          </a:p>
        </p:txBody>
      </p:sp>
      <p:sp>
        <p:nvSpPr>
          <p:cNvPr id="254" name="Text 252"/>
          <p:cNvSpPr/>
          <p:nvPr/>
        </p:nvSpPr>
        <p:spPr>
          <a:xfrm>
            <a:off x="1739284" y="61884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P4.041</a:t>
            </a:r>
            <a:endParaRPr lang="en-US" sz="500" dirty="0"/>
          </a:p>
        </p:txBody>
      </p:sp>
      <p:sp>
        <p:nvSpPr>
          <p:cNvPr id="255" name="Text 253"/>
          <p:cNvSpPr/>
          <p:nvPr/>
        </p:nvSpPr>
        <p:spPr>
          <a:xfrm>
            <a:off x="4723859" y="195691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MH.E.015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1082123" y="651087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MH.E.023</a:t>
            </a:r>
            <a:endParaRPr lang="en-US" sz="500" dirty="0"/>
          </a:p>
        </p:txBody>
      </p:sp>
      <p:sp>
        <p:nvSpPr>
          <p:cNvPr id="257" name="Text 255"/>
          <p:cNvSpPr/>
          <p:nvPr/>
        </p:nvSpPr>
        <p:spPr>
          <a:xfrm>
            <a:off x="1730149" y="826383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SGC102.02.015</a:t>
            </a:r>
            <a:endParaRPr lang="en-US" sz="500" dirty="0"/>
          </a:p>
        </p:txBody>
      </p:sp>
      <p:sp>
        <p:nvSpPr>
          <p:cNvPr id="258" name="Text 256"/>
          <p:cNvSpPr/>
          <p:nvPr/>
        </p:nvSpPr>
        <p:spPr>
          <a:xfrm>
            <a:off x="5847466" y="22595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SGC102.02.014</a:t>
            </a:r>
            <a:endParaRPr lang="en-US" sz="500" dirty="0"/>
          </a:p>
        </p:txBody>
      </p:sp>
      <p:sp>
        <p:nvSpPr>
          <p:cNvPr id="259" name="Shape 257"/>
          <p:cNvSpPr/>
          <p:nvPr/>
        </p:nvSpPr>
        <p:spPr>
          <a:xfrm>
            <a:off x="4545701" y="4425288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595993" y="447558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769729" y="431098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SBC102-01/038</a:t>
            </a:r>
            <a:endParaRPr lang="en-US" sz="650" dirty="0"/>
          </a:p>
        </p:txBody>
      </p:sp>
      <p:sp>
        <p:nvSpPr>
          <p:cNvPr id="262" name="Shape 260"/>
          <p:cNvSpPr/>
          <p:nvPr/>
        </p:nvSpPr>
        <p:spPr>
          <a:xfrm>
            <a:off x="4167886" y="4898259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218178" y="4948551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4391914" y="47839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SBC102-01/039</a:t>
            </a:r>
            <a:endParaRPr lang="en-US" sz="650" dirty="0"/>
          </a:p>
        </p:txBody>
      </p:sp>
      <p:sp>
        <p:nvSpPr>
          <p:cNvPr id="265" name="Shape 263"/>
          <p:cNvSpPr/>
          <p:nvPr/>
        </p:nvSpPr>
        <p:spPr>
          <a:xfrm>
            <a:off x="4356592" y="4661572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406884" y="471186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4580620" y="45472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SBC102-02/035</a:t>
            </a:r>
            <a:endParaRPr lang="en-US" sz="650" dirty="0"/>
          </a:p>
        </p:txBody>
      </p:sp>
      <p:sp>
        <p:nvSpPr>
          <p:cNvPr id="268" name="Shape 266"/>
          <p:cNvSpPr/>
          <p:nvPr/>
        </p:nvSpPr>
        <p:spPr>
          <a:xfrm>
            <a:off x="3980785" y="5133540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031077" y="5183832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204813" y="50192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SBC102-02/036</a:t>
            </a:r>
            <a:endParaRPr lang="en-US" sz="650" dirty="0"/>
          </a:p>
        </p:txBody>
      </p:sp>
      <p:sp>
        <p:nvSpPr>
          <p:cNvPr id="271" name="Shape 269"/>
          <p:cNvSpPr/>
          <p:nvPr/>
        </p:nvSpPr>
        <p:spPr>
          <a:xfrm>
            <a:off x="3791978" y="536691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3842270" y="541720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4016006" y="525261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SBC102-01/040</a:t>
            </a:r>
            <a:endParaRPr lang="en-US" sz="650" dirty="0"/>
          </a:p>
        </p:txBody>
      </p:sp>
      <p:sp>
        <p:nvSpPr>
          <p:cNvPr id="274" name="Shape 272"/>
          <p:cNvSpPr/>
          <p:nvPr/>
        </p:nvSpPr>
        <p:spPr>
          <a:xfrm>
            <a:off x="3413762" y="583687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464054" y="588716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637790" y="5722573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SBC102-01/041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3602168" y="560159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652460" y="565188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3826196" y="54872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SBC102-02/037</a:t>
            </a:r>
            <a:endParaRPr lang="en-US" sz="650" dirty="0"/>
          </a:p>
        </p:txBody>
      </p:sp>
      <p:sp>
        <p:nvSpPr>
          <p:cNvPr id="280" name="Shape 278"/>
          <p:cNvSpPr/>
          <p:nvPr/>
        </p:nvSpPr>
        <p:spPr>
          <a:xfrm>
            <a:off x="3226160" y="607195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276452" y="612224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3450188" y="595765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SBC102-02/038</a:t>
            </a:r>
            <a:endParaRPr lang="en-US" sz="650" dirty="0"/>
          </a:p>
        </p:txBody>
      </p:sp>
      <p:sp>
        <p:nvSpPr>
          <p:cNvPr id="283" name="Shape 281"/>
          <p:cNvSpPr/>
          <p:nvPr/>
        </p:nvSpPr>
        <p:spPr>
          <a:xfrm>
            <a:off x="3922668" y="527998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972960" y="533028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4146696" y="516568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TCCECH-03/002</a:t>
            </a:r>
            <a:endParaRPr lang="en-US" sz="650" dirty="0"/>
          </a:p>
        </p:txBody>
      </p:sp>
      <p:sp>
        <p:nvSpPr>
          <p:cNvPr id="286" name="Shape 284"/>
          <p:cNvSpPr/>
          <p:nvPr/>
        </p:nvSpPr>
        <p:spPr>
          <a:xfrm>
            <a:off x="4510268" y="574874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4560560" y="579903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4734296" y="5634443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TCCECH-04/002</a:t>
            </a:r>
            <a:endParaRPr lang="en-US" sz="650" dirty="0"/>
          </a:p>
        </p:txBody>
      </p:sp>
      <p:sp>
        <p:nvSpPr>
          <p:cNvPr id="289" name="Shape 287"/>
          <p:cNvSpPr/>
          <p:nvPr/>
        </p:nvSpPr>
        <p:spPr>
          <a:xfrm>
            <a:off x="5098671" y="622261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148963" y="627291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5322699" y="610831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TCCECH-03/003</a:t>
            </a:r>
            <a:endParaRPr lang="en-US" sz="650" dirty="0"/>
          </a:p>
        </p:txBody>
      </p:sp>
      <p:sp>
        <p:nvSpPr>
          <p:cNvPr id="292" name="Shape 290"/>
          <p:cNvSpPr/>
          <p:nvPr/>
        </p:nvSpPr>
        <p:spPr>
          <a:xfrm>
            <a:off x="5683260" y="669508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5733552" y="674537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5907288" y="658078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TCCECH-04/003</a:t>
            </a:r>
            <a:endParaRPr lang="en-US" sz="650" dirty="0"/>
          </a:p>
        </p:txBody>
      </p:sp>
      <p:sp>
        <p:nvSpPr>
          <p:cNvPr id="295" name="Shape 293"/>
          <p:cNvSpPr/>
          <p:nvPr/>
        </p:nvSpPr>
        <p:spPr>
          <a:xfrm>
            <a:off x="6510959" y="5567966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6561251" y="5618258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6734987" y="545366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</a:t>
            </a:r>
            <a:endParaRPr lang="en-US" sz="650" dirty="0"/>
          </a:p>
        </p:txBody>
      </p:sp>
      <p:sp>
        <p:nvSpPr>
          <p:cNvPr id="298" name="Shape 296"/>
          <p:cNvSpPr/>
          <p:nvPr/>
        </p:nvSpPr>
        <p:spPr>
          <a:xfrm>
            <a:off x="5387252" y="4581071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437544" y="4631363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5611280" y="446677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RRM.670</a:t>
            </a:r>
            <a:endParaRPr lang="en-US" sz="650" dirty="0"/>
          </a:p>
        </p:txBody>
      </p:sp>
      <p:sp>
        <p:nvSpPr>
          <p:cNvPr id="301" name="Shape 299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3 — 1003  ·  REV P05 (EDITABLE)</a:t>
            </a:r>
            <a:endParaRPr lang="en-US" sz="1250" dirty="0"/>
          </a:p>
        </p:txBody>
      </p:sp>
      <p:sp>
        <p:nvSpPr>
          <p:cNvPr id="303" name="Text 301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— FIELD CONDITION GOVERNS (rev _1 supersedes earlier all-NO rev)</a:t>
            </a:r>
            <a:endParaRPr lang="en-US" sz="800" dirty="0"/>
          </a:p>
        </p:txBody>
      </p:sp>
      <p:sp>
        <p:nvSpPr>
          <p:cNvPr id="304" name="Text 302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305" name="Shape 303"/>
          <p:cNvSpPr/>
          <p:nvPr/>
        </p:nvSpPr>
        <p:spPr>
          <a:xfrm>
            <a:off x="10104120" y="2057400"/>
            <a:ext cx="4709160" cy="204002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307" name="Text 305"/>
          <p:cNvSpPr/>
          <p:nvPr/>
        </p:nvSpPr>
        <p:spPr>
          <a:xfrm>
            <a:off x="10241280" y="2386584"/>
            <a:ext cx="4434840" cy="165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CORING AT THIS LOCATION — SECONDARY CABLES ONLY (12 RUNS)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CABLE VIA SAWCUT: 4 No. — SBC102-01/038, 01/039, 02/035, 02/036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(EP7 STOP BAR — bases per field rev _1: remove fitting &amp; protect base, NO coring)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8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SBC102-01/040, 01/041, 02/037, 02/038, TCCECH-03/002, 04/002, 03/003, 04/003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 (0.07 m — treat as within works) &amp; RRM.670: REMOVE / PROTECT / RE-FIX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SBC102.01/.02, TCCECH.03/.04</a:t>
            </a:r>
            <a:endParaRPr lang="en-US" sz="760" dirty="0"/>
          </a:p>
        </p:txBody>
      </p:sp>
      <p:sp>
        <p:nvSpPr>
          <p:cNvPr id="308" name="Shape 306"/>
          <p:cNvSpPr/>
          <p:nvPr/>
        </p:nvSpPr>
        <p:spPr>
          <a:xfrm>
            <a:off x="10104120" y="4207154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10241280" y="428030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310" name="Text 308"/>
          <p:cNvSpPr/>
          <p:nvPr/>
        </p:nvSpPr>
        <p:spPr>
          <a:xfrm>
            <a:off x="10241280" y="4536338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area (red) per field condition — rectangular strips aligned to stop bar / centerline around field-verified affected assets. Coring at Location 1 only.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Taxiway centerline &amp; stop bar alignments derived from as-built AGL fitting positions (TCC / SBC). Edge / pavement boundary indicative at 23 m width from as-built CL — confirm on site.</a:t>
            </a:r>
            <a:endParaRPr lang="en-US" sz="680" dirty="0"/>
          </a:p>
        </p:txBody>
      </p:sp>
      <p:sp>
        <p:nvSpPr>
          <p:cNvPr id="311" name="Shape 309"/>
          <p:cNvSpPr/>
          <p:nvPr/>
        </p:nvSpPr>
        <p:spPr>
          <a:xfrm>
            <a:off x="10104120" y="6584594"/>
            <a:ext cx="4709160" cy="341985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10241280" y="665774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313" name="Shape 311"/>
          <p:cNvSpPr/>
          <p:nvPr/>
        </p:nvSpPr>
        <p:spPr>
          <a:xfrm>
            <a:off x="10305288" y="6982358"/>
            <a:ext cx="192024" cy="192024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51008" y="7028078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10616184" y="696864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(SAWCUT) — outer orange / inner green</a:t>
            </a:r>
            <a:endParaRPr lang="en-US" sz="740" dirty="0"/>
          </a:p>
        </p:txBody>
      </p:sp>
      <p:sp>
        <p:nvSpPr>
          <p:cNvPr id="316" name="Shape 314"/>
          <p:cNvSpPr/>
          <p:nvPr/>
        </p:nvSpPr>
        <p:spPr>
          <a:xfrm>
            <a:off x="10305288" y="7256678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351008" y="7302398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10616184" y="724296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319" name="Shape 317"/>
          <p:cNvSpPr/>
          <p:nvPr/>
        </p:nvSpPr>
        <p:spPr>
          <a:xfrm>
            <a:off x="10305288" y="7530998"/>
            <a:ext cx="192024" cy="192024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351008" y="7576718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10616184" y="751728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 — REMOVE / PROTECT / RE-FIX (magenta / white)</a:t>
            </a:r>
            <a:endParaRPr lang="en-US" sz="740" dirty="0"/>
          </a:p>
        </p:txBody>
      </p:sp>
      <p:sp>
        <p:nvSpPr>
          <p:cNvPr id="322" name="Shape 320"/>
          <p:cNvSpPr/>
          <p:nvPr/>
        </p:nvSpPr>
        <p:spPr>
          <a:xfrm>
            <a:off x="10351008" y="7855610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10616184" y="779160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324" name="Shape 322"/>
          <p:cNvSpPr/>
          <p:nvPr/>
        </p:nvSpPr>
        <p:spPr>
          <a:xfrm>
            <a:off x="10268712" y="8175650"/>
            <a:ext cx="274320" cy="914"/>
          </a:xfrm>
          <a:prstGeom prst="line">
            <a:avLst/>
          </a:prstGeom>
          <a:noFill/>
          <a:ln w="12700">
            <a:solidFill>
              <a:srgbClr val="C9CDD2"/>
            </a:solidFill>
            <a:prstDash val="dash"/>
          </a:ln>
        </p:spPr>
      </p:sp>
      <p:sp>
        <p:nvSpPr>
          <p:cNvPr id="325" name="Text 323"/>
          <p:cNvSpPr/>
          <p:nvPr/>
        </p:nvSpPr>
        <p:spPr>
          <a:xfrm>
            <a:off x="10616184" y="806592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DUCT — LIGHT TO NEAREST MH/HH</a:t>
            </a:r>
            <a:endParaRPr lang="en-US" sz="740" dirty="0"/>
          </a:p>
        </p:txBody>
      </p:sp>
      <p:sp>
        <p:nvSpPr>
          <p:cNvPr id="326" name="Shape 324"/>
          <p:cNvSpPr/>
          <p:nvPr/>
        </p:nvSpPr>
        <p:spPr>
          <a:xfrm>
            <a:off x="10268712" y="8449970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27" name="Text 325"/>
          <p:cNvSpPr/>
          <p:nvPr/>
        </p:nvSpPr>
        <p:spPr>
          <a:xfrm>
            <a:off x="10616184" y="834024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328" name="Shape 326"/>
          <p:cNvSpPr/>
          <p:nvPr/>
        </p:nvSpPr>
        <p:spPr>
          <a:xfrm>
            <a:off x="10268712" y="8724290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10616184" y="861456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AREA — FIELD CONDITION (GOVERNING)</a:t>
            </a:r>
            <a:endParaRPr lang="en-US" sz="740" dirty="0"/>
          </a:p>
        </p:txBody>
      </p:sp>
      <p:sp>
        <p:nvSpPr>
          <p:cNvPr id="330" name="Shape 328"/>
          <p:cNvSpPr/>
          <p:nvPr/>
        </p:nvSpPr>
        <p:spPr>
          <a:xfrm>
            <a:off x="10268712" y="8998610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31" name="Text 329"/>
          <p:cNvSpPr/>
          <p:nvPr/>
        </p:nvSpPr>
        <p:spPr>
          <a:xfrm>
            <a:off x="10616184" y="888888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332" name="Shape 330"/>
          <p:cNvSpPr/>
          <p:nvPr/>
        </p:nvSpPr>
        <p:spPr>
          <a:xfrm>
            <a:off x="10268712" y="9272930"/>
            <a:ext cx="274320" cy="91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10616184" y="916320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BAR (AS-BUILT, THROUGH SBC FITTINGS)</a:t>
            </a:r>
            <a:endParaRPr lang="en-US" sz="740" dirty="0"/>
          </a:p>
        </p:txBody>
      </p:sp>
      <p:sp>
        <p:nvSpPr>
          <p:cNvPr id="334" name="Shape 332"/>
          <p:cNvSpPr/>
          <p:nvPr/>
        </p:nvSpPr>
        <p:spPr>
          <a:xfrm>
            <a:off x="10268712" y="9547250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10616184" y="943752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  <p:sp>
        <p:nvSpPr>
          <p:cNvPr id="336" name="Shape 334"/>
          <p:cNvSpPr/>
          <p:nvPr/>
        </p:nvSpPr>
        <p:spPr>
          <a:xfrm>
            <a:off x="10287000" y="9739274"/>
            <a:ext cx="219456" cy="146304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10616184" y="971184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FEED MANHOLE / HANDHOLE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FIELD-GOVERNED SCOPE — TWY E (E4–E6) · REV P05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4173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  <a:gridCol w="3108960"/>
                <a:gridCol w="1097280"/>
                <a:gridCol w="68580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AFFECTED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verified — no works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RRM.670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1010412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Totals: 11 core-outs (Location 1 only — no coring at Locations 2/3) · 31 secondary cable runs · 3 RRMs · 1 field-verified not affected. Edit rows as required, then align the drawing sheets to match.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2026-07-28T13:45:45Z</dcterms:created>
  <dcterms:modified xsi:type="dcterms:W3CDTF">2026-07-28T13:45:45Z</dcterms:modified>
</cp:coreProperties>
</file>