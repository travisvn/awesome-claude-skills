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5124176" cy="10689336"/>
  <p:notesSz cx="10689336" cy="1512417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920240"/>
            <a:ext cx="1325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DRAWINGS — ELECTRICAL / AGL SCOPE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1325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RECTIFICATION OF TWY E BETWEEN E4 &amp; E6 (ADIA)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AT THREE (3) MILLING LOCATIONS — FIELD CONDITION SCOPE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914400" y="49377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No.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023360" y="49377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[XXX-ELE-SHD-1001 / 1002 / 1003]  ·  Revision P05 (EDITABLE ISSUE)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541324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 of scope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23360" y="5413248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verification sheets: Document_3 (LOC-01) · Second_milling_area rev _1 (LOC-02/03)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588873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layer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23360" y="5888736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As-built AGL asset survey assets_20260726120533.xlsx — UTM 40N (EPSG:32640)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636422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23360" y="636422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Mohammed — AGL Team Leader, ADB SAFEGATE AGL Team  ·  Issued 28.07.2026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7863840"/>
            <a:ext cx="1325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EDITABLE VERSION — every symbol, polygon, label, note and legend entry on the drawing sheets is a native PowerPoint shape. Click any element to move, restyle or retype it, then export to PDF for issue.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1449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 — ELECTRICAL / AGL SCOPE (FIELD-GOVERNED)   ·   TAXIWAY E (E4–E6) — LOCATION 1   ·   DWG NO [XXX-ELE-SHD-1001] REV P05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320040" y="777240"/>
            <a:ext cx="9555480" cy="955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F63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" y="10058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UTM 40N (EPSG:32640) — AS-BUILT POSITIONS · NOT TO SCALE WHEN EDITED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951025" y="777240"/>
            <a:ext cx="166132" cy="1341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17157" y="911348"/>
            <a:ext cx="522676" cy="41748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39833" y="1328834"/>
            <a:ext cx="2059" cy="168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41892" y="1330519"/>
            <a:ext cx="521647" cy="41889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63539" y="1749409"/>
            <a:ext cx="523612" cy="4207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87151" y="2170170"/>
            <a:ext cx="522021" cy="41907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9173" y="2589247"/>
            <a:ext cx="523987" cy="42066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33159" y="3009915"/>
            <a:ext cx="522957" cy="41963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56117" y="3429554"/>
            <a:ext cx="566381" cy="4551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22497" y="3884661"/>
            <a:ext cx="522957" cy="4134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45455" y="4298123"/>
            <a:ext cx="11885" cy="954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57340" y="4307669"/>
            <a:ext cx="544950" cy="44359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02290" y="4751266"/>
            <a:ext cx="76927" cy="6906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79217" y="4820332"/>
            <a:ext cx="69909" cy="7608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49126" y="4896417"/>
            <a:ext cx="62328" cy="8235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11454" y="4978773"/>
            <a:ext cx="21244" cy="3453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32698" y="5013306"/>
            <a:ext cx="43237" cy="1516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75935" y="5028467"/>
            <a:ext cx="96580" cy="4492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515" y="5073388"/>
            <a:ext cx="91620" cy="5428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64136" y="5127667"/>
            <a:ext cx="85818" cy="6307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49954" y="5190744"/>
            <a:ext cx="544856" cy="44359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94810" y="5634341"/>
            <a:ext cx="79174" cy="7121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073984" y="5705559"/>
            <a:ext cx="71780" cy="7879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45764" y="5784359"/>
            <a:ext cx="63545" cy="8544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09309" y="5869802"/>
            <a:ext cx="14225" cy="2367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67403" y="7240459"/>
            <a:ext cx="91340" cy="748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258743" y="7247946"/>
            <a:ext cx="105003" cy="1927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363746" y="7267225"/>
            <a:ext cx="338968" cy="7959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206522" y="10155469"/>
            <a:ext cx="199079" cy="17725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2846" y="3168387"/>
            <a:ext cx="322871" cy="25929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15717" y="3427682"/>
            <a:ext cx="523706" cy="4207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339423" y="3848444"/>
            <a:ext cx="522302" cy="41935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861725" y="4267802"/>
            <a:ext cx="524174" cy="4207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385899" y="4688563"/>
            <a:ext cx="522676" cy="41954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08575" y="5108108"/>
            <a:ext cx="569001" cy="45716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477577" y="5565274"/>
            <a:ext cx="6551" cy="524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484128" y="5570515"/>
            <a:ext cx="520243" cy="41130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004371" y="5981825"/>
            <a:ext cx="8891" cy="720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013261" y="5989031"/>
            <a:ext cx="6457" cy="3228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019719" y="6021318"/>
            <a:ext cx="31070" cy="10210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50789" y="6123420"/>
            <a:ext cx="41084" cy="9845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091874" y="6221872"/>
            <a:ext cx="50723" cy="9396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142597" y="6315832"/>
            <a:ext cx="59708" cy="8843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202305" y="6404271"/>
            <a:ext cx="421229" cy="56188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623534" y="6966160"/>
            <a:ext cx="65884" cy="7964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689419" y="7045801"/>
            <a:ext cx="73184" cy="7290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762603" y="7118704"/>
            <a:ext cx="58398" cy="4791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821000" y="7166620"/>
            <a:ext cx="16845" cy="6494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837846" y="7231569"/>
            <a:ext cx="37247" cy="10088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875093" y="7332454"/>
            <a:ext cx="47074" cy="9667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922166" y="7429128"/>
            <a:ext cx="318940" cy="57910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241107" y="8008237"/>
            <a:ext cx="253711" cy="55786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94818" y="8566102"/>
            <a:ext cx="200929" cy="56516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695746" y="9131266"/>
            <a:ext cx="186423" cy="60999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882169" y="9741258"/>
            <a:ext cx="122674" cy="5914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9050973" y="10155469"/>
            <a:ext cx="155549" cy="17725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080275" y="7171861"/>
            <a:ext cx="87128" cy="6859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969095" y="7104386"/>
            <a:ext cx="111180" cy="6747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584177" y="6901305"/>
            <a:ext cx="384918" cy="20308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81341" y="6499167"/>
            <a:ext cx="502836" cy="40213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075913" y="6494862"/>
            <a:ext cx="5428" cy="430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524318" y="6059594"/>
            <a:ext cx="551594" cy="43526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92846" y="1790079"/>
            <a:ext cx="475228" cy="37962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68" name="Shape 66"/>
          <p:cNvSpPr/>
          <p:nvPr/>
        </p:nvSpPr>
        <p:spPr>
          <a:xfrm>
            <a:off x="968075" y="2169702"/>
            <a:ext cx="521647" cy="41889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69" name="Shape 67"/>
          <p:cNvSpPr/>
          <p:nvPr/>
        </p:nvSpPr>
        <p:spPr>
          <a:xfrm>
            <a:off x="1489722" y="2588592"/>
            <a:ext cx="523519" cy="42066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70" name="Shape 68"/>
          <p:cNvSpPr/>
          <p:nvPr/>
        </p:nvSpPr>
        <p:spPr>
          <a:xfrm>
            <a:off x="2013240" y="3009260"/>
            <a:ext cx="522209" cy="41926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71" name="Shape 69"/>
          <p:cNvSpPr/>
          <p:nvPr/>
        </p:nvSpPr>
        <p:spPr>
          <a:xfrm>
            <a:off x="2535449" y="3428524"/>
            <a:ext cx="524080" cy="42066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72" name="Shape 70"/>
          <p:cNvSpPr/>
          <p:nvPr/>
        </p:nvSpPr>
        <p:spPr>
          <a:xfrm>
            <a:off x="3059529" y="3849192"/>
            <a:ext cx="522957" cy="41973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73" name="Shape 71"/>
          <p:cNvSpPr/>
          <p:nvPr/>
        </p:nvSpPr>
        <p:spPr>
          <a:xfrm>
            <a:off x="3582486" y="4268925"/>
            <a:ext cx="569189" cy="45735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74" name="Shape 72"/>
          <p:cNvSpPr/>
          <p:nvPr/>
        </p:nvSpPr>
        <p:spPr>
          <a:xfrm>
            <a:off x="4151675" y="4726278"/>
            <a:ext cx="91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75" name="Shape 73"/>
          <p:cNvSpPr/>
          <p:nvPr/>
        </p:nvSpPr>
        <p:spPr>
          <a:xfrm>
            <a:off x="4151675" y="4726278"/>
            <a:ext cx="526233" cy="41608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76" name="Shape 74"/>
          <p:cNvSpPr/>
          <p:nvPr/>
        </p:nvSpPr>
        <p:spPr>
          <a:xfrm>
            <a:off x="4677908" y="5142360"/>
            <a:ext cx="91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77" name="Shape 75"/>
          <p:cNvSpPr/>
          <p:nvPr/>
        </p:nvSpPr>
        <p:spPr>
          <a:xfrm>
            <a:off x="4677908" y="5142360"/>
            <a:ext cx="544950" cy="44359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78" name="Shape 76"/>
          <p:cNvSpPr/>
          <p:nvPr/>
        </p:nvSpPr>
        <p:spPr>
          <a:xfrm flipV="1">
            <a:off x="5063387" y="5585957"/>
            <a:ext cx="159470" cy="17275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79" name="Shape 77"/>
          <p:cNvSpPr/>
          <p:nvPr/>
        </p:nvSpPr>
        <p:spPr>
          <a:xfrm>
            <a:off x="5063387" y="5758716"/>
            <a:ext cx="421229" cy="56188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0" name="Shape 78"/>
          <p:cNvSpPr/>
          <p:nvPr/>
        </p:nvSpPr>
        <p:spPr>
          <a:xfrm flipV="1">
            <a:off x="5484617" y="6025342"/>
            <a:ext cx="285811" cy="29526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1" name="Shape 79"/>
          <p:cNvSpPr/>
          <p:nvPr/>
        </p:nvSpPr>
        <p:spPr>
          <a:xfrm>
            <a:off x="5770428" y="6025342"/>
            <a:ext cx="544856" cy="44359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2" name="Shape 80"/>
          <p:cNvSpPr/>
          <p:nvPr/>
        </p:nvSpPr>
        <p:spPr>
          <a:xfrm flipV="1">
            <a:off x="5864856" y="6468938"/>
            <a:ext cx="450428" cy="44097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3" name="Shape 81"/>
          <p:cNvSpPr/>
          <p:nvPr/>
        </p:nvSpPr>
        <p:spPr>
          <a:xfrm>
            <a:off x="5864856" y="6909915"/>
            <a:ext cx="338874" cy="61523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4" name="Shape 82"/>
          <p:cNvSpPr/>
          <p:nvPr/>
        </p:nvSpPr>
        <p:spPr>
          <a:xfrm>
            <a:off x="6203730" y="7525147"/>
            <a:ext cx="289741" cy="637225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5" name="Shape 83"/>
          <p:cNvSpPr/>
          <p:nvPr/>
        </p:nvSpPr>
        <p:spPr>
          <a:xfrm>
            <a:off x="6493471" y="8162373"/>
            <a:ext cx="224419" cy="63114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6" name="Shape 84"/>
          <p:cNvSpPr/>
          <p:nvPr/>
        </p:nvSpPr>
        <p:spPr>
          <a:xfrm>
            <a:off x="6717890" y="8793515"/>
            <a:ext cx="208041" cy="68064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7" name="Shape 85"/>
          <p:cNvSpPr/>
          <p:nvPr/>
        </p:nvSpPr>
        <p:spPr>
          <a:xfrm>
            <a:off x="6925931" y="9474164"/>
            <a:ext cx="140847" cy="679245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8" name="Shape 86"/>
          <p:cNvSpPr/>
          <p:nvPr/>
        </p:nvSpPr>
        <p:spPr>
          <a:xfrm>
            <a:off x="7066778" y="10153410"/>
            <a:ext cx="25992" cy="17931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9" name="Shape 87"/>
          <p:cNvSpPr/>
          <p:nvPr/>
        </p:nvSpPr>
        <p:spPr>
          <a:xfrm flipV="1">
            <a:off x="7619078" y="8630957"/>
            <a:ext cx="1493390" cy="170176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0" name="Shape 88"/>
          <p:cNvSpPr/>
          <p:nvPr/>
        </p:nvSpPr>
        <p:spPr>
          <a:xfrm>
            <a:off x="9112469" y="8630957"/>
            <a:ext cx="91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1" name="Shape 89"/>
          <p:cNvSpPr/>
          <p:nvPr/>
        </p:nvSpPr>
        <p:spPr>
          <a:xfrm flipV="1">
            <a:off x="9112469" y="8314918"/>
            <a:ext cx="5147" cy="31603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2" name="Shape 90"/>
          <p:cNvSpPr/>
          <p:nvPr/>
        </p:nvSpPr>
        <p:spPr>
          <a:xfrm>
            <a:off x="9117616" y="8314918"/>
            <a:ext cx="585098" cy="13744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3" name="Shape 91"/>
          <p:cNvSpPr/>
          <p:nvPr/>
        </p:nvSpPr>
        <p:spPr>
          <a:xfrm>
            <a:off x="8466914" y="8056246"/>
            <a:ext cx="1235800" cy="1100085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4" name="Shape 92"/>
          <p:cNvSpPr/>
          <p:nvPr/>
        </p:nvSpPr>
        <p:spPr>
          <a:xfrm>
            <a:off x="7952847" y="7785035"/>
            <a:ext cx="514067" cy="27121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5" name="Shape 93"/>
          <p:cNvSpPr/>
          <p:nvPr/>
        </p:nvSpPr>
        <p:spPr>
          <a:xfrm>
            <a:off x="7918314" y="7746852"/>
            <a:ext cx="34533" cy="3818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6" name="Shape 94"/>
          <p:cNvSpPr/>
          <p:nvPr/>
        </p:nvSpPr>
        <p:spPr>
          <a:xfrm>
            <a:off x="7409208" y="7339754"/>
            <a:ext cx="509107" cy="40709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7" name="Shape 95"/>
          <p:cNvSpPr/>
          <p:nvPr/>
        </p:nvSpPr>
        <p:spPr>
          <a:xfrm>
            <a:off x="6857613" y="6904487"/>
            <a:ext cx="551594" cy="435267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8" name="Shape 96"/>
          <p:cNvSpPr/>
          <p:nvPr/>
        </p:nvSpPr>
        <p:spPr>
          <a:xfrm flipV="1">
            <a:off x="4384516" y="3796691"/>
            <a:ext cx="175848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4208762" y="4015681"/>
            <a:ext cx="175754" cy="219084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 flipV="1">
            <a:off x="4032914" y="4234766"/>
            <a:ext cx="175848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 flipV="1">
            <a:off x="3857067" y="4453756"/>
            <a:ext cx="175848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 flipV="1">
            <a:off x="3681313" y="4672747"/>
            <a:ext cx="175754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 flipV="1">
            <a:off x="3505465" y="4891738"/>
            <a:ext cx="175848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 flipV="1">
            <a:off x="3334952" y="5110728"/>
            <a:ext cx="170513" cy="217587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 flipV="1">
            <a:off x="7918314" y="5683099"/>
            <a:ext cx="584349" cy="206375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 flipV="1">
            <a:off x="3582486" y="2467867"/>
            <a:ext cx="635915" cy="180105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 flipV="1">
            <a:off x="6857613" y="5683099"/>
            <a:ext cx="1645050" cy="122138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 flipV="1">
            <a:off x="7952847" y="5683099"/>
            <a:ext cx="549816" cy="210193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09" name="Shape 107"/>
          <p:cNvSpPr/>
          <p:nvPr/>
        </p:nvSpPr>
        <p:spPr>
          <a:xfrm flipV="1">
            <a:off x="9047614" y="6944825"/>
            <a:ext cx="655100" cy="172216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0" name="Shape 108"/>
          <p:cNvSpPr/>
          <p:nvPr/>
        </p:nvSpPr>
        <p:spPr>
          <a:xfrm flipV="1">
            <a:off x="7409208" y="5683099"/>
            <a:ext cx="1093456" cy="165665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1" name="Shape 109"/>
          <p:cNvSpPr/>
          <p:nvPr/>
        </p:nvSpPr>
        <p:spPr>
          <a:xfrm flipV="1">
            <a:off x="6454914" y="3958688"/>
            <a:ext cx="1270052" cy="76787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2" name="Shape 110"/>
          <p:cNvSpPr/>
          <p:nvPr/>
        </p:nvSpPr>
        <p:spPr>
          <a:xfrm>
            <a:off x="7621086" y="5506315"/>
            <a:ext cx="881578" cy="17678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3" name="Shape 111"/>
          <p:cNvSpPr/>
          <p:nvPr/>
        </p:nvSpPr>
        <p:spPr>
          <a:xfrm flipV="1">
            <a:off x="8453906" y="5683099"/>
            <a:ext cx="48758" cy="254179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4" name="Shape 112"/>
          <p:cNvSpPr/>
          <p:nvPr/>
        </p:nvSpPr>
        <p:spPr>
          <a:xfrm flipV="1">
            <a:off x="3059529" y="2467867"/>
            <a:ext cx="1158872" cy="138132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5" name="Shape 113"/>
          <p:cNvSpPr/>
          <p:nvPr/>
        </p:nvSpPr>
        <p:spPr>
          <a:xfrm flipV="1">
            <a:off x="2535449" y="2467867"/>
            <a:ext cx="1682953" cy="96065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6" name="Shape 114"/>
          <p:cNvSpPr/>
          <p:nvPr/>
        </p:nvSpPr>
        <p:spPr>
          <a:xfrm flipV="1">
            <a:off x="2013240" y="1612586"/>
            <a:ext cx="1308235" cy="139667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7" name="Shape 115"/>
          <p:cNvSpPr/>
          <p:nvPr/>
        </p:nvSpPr>
        <p:spPr>
          <a:xfrm flipV="1">
            <a:off x="1489722" y="796519"/>
            <a:ext cx="801281" cy="179207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8" name="Shape 116"/>
          <p:cNvSpPr/>
          <p:nvPr/>
        </p:nvSpPr>
        <p:spPr>
          <a:xfrm flipV="1">
            <a:off x="968075" y="796519"/>
            <a:ext cx="1322928" cy="137318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9" name="Shape 117"/>
          <p:cNvSpPr/>
          <p:nvPr/>
        </p:nvSpPr>
        <p:spPr>
          <a:xfrm flipV="1">
            <a:off x="492846" y="796519"/>
            <a:ext cx="1798157" cy="92845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0" name="Shape 118"/>
          <p:cNvSpPr/>
          <p:nvPr/>
        </p:nvSpPr>
        <p:spPr>
          <a:xfrm flipV="1">
            <a:off x="492846" y="796519"/>
            <a:ext cx="1798157" cy="4607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1" name="Shape 119"/>
          <p:cNvSpPr/>
          <p:nvPr/>
        </p:nvSpPr>
        <p:spPr>
          <a:xfrm flipV="1">
            <a:off x="1935751" y="5328315"/>
            <a:ext cx="1399201" cy="16003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2" name="Shape 120"/>
          <p:cNvSpPr/>
          <p:nvPr/>
        </p:nvSpPr>
        <p:spPr>
          <a:xfrm flipV="1">
            <a:off x="1935751" y="5110728"/>
            <a:ext cx="1569714" cy="377619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3" name="Shape 121"/>
          <p:cNvSpPr/>
          <p:nvPr/>
        </p:nvSpPr>
        <p:spPr>
          <a:xfrm flipV="1">
            <a:off x="9112469" y="6996736"/>
            <a:ext cx="590245" cy="163422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4" name="Shape 122"/>
          <p:cNvSpPr/>
          <p:nvPr/>
        </p:nvSpPr>
        <p:spPr>
          <a:xfrm flipV="1">
            <a:off x="492846" y="796519"/>
            <a:ext cx="1798157" cy="38641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5" name="Shape 123"/>
          <p:cNvSpPr/>
          <p:nvPr/>
        </p:nvSpPr>
        <p:spPr>
          <a:xfrm flipV="1">
            <a:off x="4133238" y="7525147"/>
            <a:ext cx="2070491" cy="49993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6" name="Shape 124"/>
          <p:cNvSpPr/>
          <p:nvPr/>
        </p:nvSpPr>
        <p:spPr>
          <a:xfrm>
            <a:off x="4133238" y="8025082"/>
            <a:ext cx="2360233" cy="13729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7" name="Shape 125"/>
          <p:cNvSpPr/>
          <p:nvPr/>
        </p:nvSpPr>
        <p:spPr>
          <a:xfrm flipV="1">
            <a:off x="4965966" y="8793515"/>
            <a:ext cx="1751924" cy="153920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8" name="Shape 126"/>
          <p:cNvSpPr/>
          <p:nvPr/>
        </p:nvSpPr>
        <p:spPr>
          <a:xfrm flipV="1">
            <a:off x="5068702" y="9474164"/>
            <a:ext cx="1857229" cy="85855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flipV="1">
            <a:off x="6530809" y="10153410"/>
            <a:ext cx="535968" cy="17931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 flipV="1">
            <a:off x="9117616" y="6879600"/>
            <a:ext cx="585098" cy="143531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 flipV="1">
            <a:off x="8466914" y="5683099"/>
            <a:ext cx="35750" cy="237314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32" name="Shape 130"/>
          <p:cNvSpPr/>
          <p:nvPr/>
        </p:nvSpPr>
        <p:spPr>
          <a:xfrm flipV="1">
            <a:off x="9316205" y="6128775"/>
            <a:ext cx="386509" cy="16628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 flipV="1">
            <a:off x="4133238" y="6025342"/>
            <a:ext cx="1637189" cy="1999740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 flipV="1">
            <a:off x="6315284" y="5683099"/>
            <a:ext cx="2187380" cy="785840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35" name="Shape 133"/>
          <p:cNvSpPr/>
          <p:nvPr/>
        </p:nvSpPr>
        <p:spPr>
          <a:xfrm flipV="1">
            <a:off x="4677908" y="3169760"/>
            <a:ext cx="563386" cy="1972601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36" name="Shape 134"/>
          <p:cNvSpPr/>
          <p:nvPr/>
        </p:nvSpPr>
        <p:spPr>
          <a:xfrm flipV="1">
            <a:off x="5222857" y="3169760"/>
            <a:ext cx="18436" cy="241619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37" name="Shape 135"/>
          <p:cNvSpPr/>
          <p:nvPr/>
        </p:nvSpPr>
        <p:spPr>
          <a:xfrm flipV="1">
            <a:off x="4106473" y="3169760"/>
            <a:ext cx="1134821" cy="1562601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38" name="Shape 136"/>
          <p:cNvSpPr/>
          <p:nvPr/>
        </p:nvSpPr>
        <p:spPr>
          <a:xfrm flipV="1">
            <a:off x="1935751" y="4891738"/>
            <a:ext cx="1745562" cy="596609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39" name="Shape 137"/>
          <p:cNvSpPr/>
          <p:nvPr/>
        </p:nvSpPr>
        <p:spPr>
          <a:xfrm flipV="1">
            <a:off x="3857067" y="3169760"/>
            <a:ext cx="1384227" cy="150298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0" name="Shape 138"/>
          <p:cNvSpPr/>
          <p:nvPr/>
        </p:nvSpPr>
        <p:spPr>
          <a:xfrm flipV="1">
            <a:off x="4032914" y="3169760"/>
            <a:ext cx="1208379" cy="128399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 flipV="1">
            <a:off x="4208762" y="3169760"/>
            <a:ext cx="1032532" cy="1065006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 flipV="1">
            <a:off x="4384516" y="3169760"/>
            <a:ext cx="856778" cy="84592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 flipV="1">
            <a:off x="4560364" y="3169760"/>
            <a:ext cx="680930" cy="626931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4" name="Shape 142"/>
          <p:cNvSpPr/>
          <p:nvPr/>
        </p:nvSpPr>
        <p:spPr>
          <a:xfrm flipV="1">
            <a:off x="4151675" y="3169760"/>
            <a:ext cx="1089619" cy="1556518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5" name="Shape 143"/>
          <p:cNvSpPr/>
          <p:nvPr/>
        </p:nvSpPr>
        <p:spPr>
          <a:xfrm flipV="1">
            <a:off x="4604349" y="3169760"/>
            <a:ext cx="636945" cy="2058325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6" name="Shape 144"/>
          <p:cNvSpPr/>
          <p:nvPr/>
        </p:nvSpPr>
        <p:spPr>
          <a:xfrm flipV="1">
            <a:off x="4133238" y="5758716"/>
            <a:ext cx="930149" cy="2266366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7" name="Shape 145"/>
          <p:cNvSpPr/>
          <p:nvPr/>
        </p:nvSpPr>
        <p:spPr>
          <a:xfrm flipV="1">
            <a:off x="4133238" y="6320605"/>
            <a:ext cx="1351378" cy="170447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8" name="Shape 146"/>
          <p:cNvSpPr/>
          <p:nvPr/>
        </p:nvSpPr>
        <p:spPr>
          <a:xfrm flipV="1">
            <a:off x="4133238" y="6909915"/>
            <a:ext cx="1731617" cy="1115168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9" name="Shape 147"/>
          <p:cNvSpPr/>
          <p:nvPr/>
        </p:nvSpPr>
        <p:spPr>
          <a:xfrm>
            <a:off x="1870241" y="5422837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5175784" y="3104250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4067728" y="7959572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8437154" y="5617589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2019978" y="5313109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B00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&amp;.27153</a:t>
            </a:r>
            <a:endParaRPr lang="en-US" sz="650" dirty="0"/>
          </a:p>
        </p:txBody>
      </p:sp>
      <p:sp>
        <p:nvSpPr>
          <p:cNvPr id="154" name="Text 152"/>
          <p:cNvSpPr/>
          <p:nvPr/>
        </p:nvSpPr>
        <p:spPr>
          <a:xfrm>
            <a:off x="5325521" y="299452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B00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&amp;.27152</a:t>
            </a:r>
            <a:endParaRPr lang="en-US" sz="650" dirty="0"/>
          </a:p>
        </p:txBody>
      </p:sp>
      <p:sp>
        <p:nvSpPr>
          <p:cNvPr id="155" name="Text 153"/>
          <p:cNvSpPr/>
          <p:nvPr/>
        </p:nvSpPr>
        <p:spPr>
          <a:xfrm>
            <a:off x="4217466" y="784984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B00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&amp;.27154</a:t>
            </a:r>
            <a:endParaRPr lang="en-US" sz="650" dirty="0"/>
          </a:p>
        </p:txBody>
      </p:sp>
      <p:sp>
        <p:nvSpPr>
          <p:cNvPr id="156" name="Text 154"/>
          <p:cNvSpPr/>
          <p:nvPr/>
        </p:nvSpPr>
        <p:spPr>
          <a:xfrm>
            <a:off x="8586891" y="5507861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B00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&amp;.27162</a:t>
            </a:r>
            <a:endParaRPr lang="en-US" sz="650" dirty="0"/>
          </a:p>
        </p:txBody>
      </p:sp>
      <p:sp>
        <p:nvSpPr>
          <p:cNvPr id="157" name="Shape 155"/>
          <p:cNvSpPr/>
          <p:nvPr/>
        </p:nvSpPr>
        <p:spPr>
          <a:xfrm flipV="1">
            <a:off x="3152928" y="3693559"/>
            <a:ext cx="1116291" cy="1243661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4269219" y="3693559"/>
            <a:ext cx="338406" cy="303779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3491334" y="3997339"/>
            <a:ext cx="1116291" cy="1243568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3152928" y="4937220"/>
            <a:ext cx="338406" cy="303686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3484128" y="4649912"/>
            <a:ext cx="522115" cy="581729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4006243" y="4649912"/>
            <a:ext cx="2822921" cy="2533928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 flipV="1">
            <a:off x="6307048" y="7183840"/>
            <a:ext cx="522115" cy="581635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3484128" y="5231641"/>
            <a:ext cx="2822921" cy="2533834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1891779" y="3419239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AREA — FIELD CONDITION (425.3 m² TOTAL)</a:t>
            </a:r>
            <a:endParaRPr lang="en-US" sz="800" dirty="0"/>
          </a:p>
        </p:txBody>
      </p:sp>
      <p:sp>
        <p:nvSpPr>
          <p:cNvPr id="166" name="Shape 164"/>
          <p:cNvSpPr/>
          <p:nvPr/>
        </p:nvSpPr>
        <p:spPr>
          <a:xfrm>
            <a:off x="5389846" y="942815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4207951" y="690863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7889053" y="771759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3305410" y="582510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277371" y="486388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883785" y="362677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4899363" y="812347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7923587" y="775577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9018353" y="863772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379947" y="731049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6425653" y="469729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591825" y="547705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8424645" y="590801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8468724" y="425370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030268" y="381993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506188" y="339926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1983979" y="297999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1460461" y="255933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938814" y="214044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3305691" y="529905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9083208" y="860169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6464210" y="813311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6688629" y="876425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6896670" y="944490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7037517" y="1012414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9088355" y="828565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8437653" y="802698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5212033" y="314049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1906490" y="545908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4103978" y="799582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2261742" y="76725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8473403" y="565383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5491761" y="232592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5716928" y="248530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729807" y="321817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695705" y="392942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798737" y="714391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3537971" y="833881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4166961" y="987399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8164570" y="426923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9001975" y="471910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1670561" y="593216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3292215" y="158332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57581" y="461157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762592" y="517000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3963693" y="117987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4189141" y="243860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1556667" y="677761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73591" y="227052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9286944" y="626579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16" name="Text 214"/>
          <p:cNvSpPr/>
          <p:nvPr/>
        </p:nvSpPr>
        <p:spPr>
          <a:xfrm>
            <a:off x="5479294" y="934704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RRM.76</a:t>
            </a:r>
            <a:endParaRPr lang="en-US" sz="500" dirty="0"/>
          </a:p>
        </p:txBody>
      </p:sp>
      <p:sp>
        <p:nvSpPr>
          <p:cNvPr id="217" name="Text 215"/>
          <p:cNvSpPr/>
          <p:nvPr/>
        </p:nvSpPr>
        <p:spPr>
          <a:xfrm>
            <a:off x="4297399" y="682752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RRM.282</a:t>
            </a:r>
            <a:endParaRPr lang="en-US" sz="500" dirty="0"/>
          </a:p>
        </p:txBody>
      </p:sp>
      <p:sp>
        <p:nvSpPr>
          <p:cNvPr id="218" name="Text 216"/>
          <p:cNvSpPr/>
          <p:nvPr/>
        </p:nvSpPr>
        <p:spPr>
          <a:xfrm>
            <a:off x="7978501" y="763648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TCCECH.04.018</a:t>
            </a:r>
            <a:endParaRPr lang="en-US" sz="500" dirty="0"/>
          </a:p>
        </p:txBody>
      </p:sp>
      <p:sp>
        <p:nvSpPr>
          <p:cNvPr id="219" name="Text 217"/>
          <p:cNvSpPr/>
          <p:nvPr/>
        </p:nvSpPr>
        <p:spPr>
          <a:xfrm>
            <a:off x="3394858" y="574398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RRM.539</a:t>
            </a:r>
            <a:endParaRPr lang="en-US" sz="500" dirty="0"/>
          </a:p>
        </p:txBody>
      </p:sp>
      <p:sp>
        <p:nvSpPr>
          <p:cNvPr id="220" name="Text 218"/>
          <p:cNvSpPr/>
          <p:nvPr/>
        </p:nvSpPr>
        <p:spPr>
          <a:xfrm>
            <a:off x="2366819" y="478277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RRM.540</a:t>
            </a:r>
            <a:endParaRPr lang="en-US" sz="500" dirty="0"/>
          </a:p>
        </p:txBody>
      </p:sp>
      <p:sp>
        <p:nvSpPr>
          <p:cNvPr id="221" name="Text 219"/>
          <p:cNvSpPr/>
          <p:nvPr/>
        </p:nvSpPr>
        <p:spPr>
          <a:xfrm>
            <a:off x="973233" y="354566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RRM.541</a:t>
            </a:r>
            <a:endParaRPr lang="en-US" sz="500" dirty="0"/>
          </a:p>
        </p:txBody>
      </p:sp>
      <p:sp>
        <p:nvSpPr>
          <p:cNvPr id="222" name="Text 220"/>
          <p:cNvSpPr/>
          <p:nvPr/>
        </p:nvSpPr>
        <p:spPr>
          <a:xfrm>
            <a:off x="4988811" y="804236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RRM.636</a:t>
            </a:r>
            <a:endParaRPr lang="en-US" sz="500" dirty="0"/>
          </a:p>
        </p:txBody>
      </p:sp>
      <p:sp>
        <p:nvSpPr>
          <p:cNvPr id="223" name="Text 221"/>
          <p:cNvSpPr/>
          <p:nvPr/>
        </p:nvSpPr>
        <p:spPr>
          <a:xfrm>
            <a:off x="8013034" y="767466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TCC103.12.019</a:t>
            </a:r>
            <a:endParaRPr lang="en-US" sz="500" dirty="0"/>
          </a:p>
        </p:txBody>
      </p:sp>
      <p:sp>
        <p:nvSpPr>
          <p:cNvPr id="224" name="Text 222"/>
          <p:cNvSpPr/>
          <p:nvPr/>
        </p:nvSpPr>
        <p:spPr>
          <a:xfrm>
            <a:off x="9107801" y="855661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TCC103.11.019</a:t>
            </a:r>
            <a:endParaRPr lang="en-US" sz="500" dirty="0"/>
          </a:p>
        </p:txBody>
      </p:sp>
      <p:sp>
        <p:nvSpPr>
          <p:cNvPr id="225" name="Text 223"/>
          <p:cNvSpPr/>
          <p:nvPr/>
        </p:nvSpPr>
        <p:spPr>
          <a:xfrm>
            <a:off x="7469395" y="722938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TCC103.11.020</a:t>
            </a:r>
            <a:endParaRPr lang="en-US" sz="500" dirty="0"/>
          </a:p>
        </p:txBody>
      </p:sp>
      <p:sp>
        <p:nvSpPr>
          <p:cNvPr id="226" name="Text 224"/>
          <p:cNvSpPr/>
          <p:nvPr/>
        </p:nvSpPr>
        <p:spPr>
          <a:xfrm>
            <a:off x="6515101" y="461618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TEC102.02.047</a:t>
            </a:r>
            <a:endParaRPr lang="en-US" sz="500" dirty="0"/>
          </a:p>
        </p:txBody>
      </p:sp>
      <p:sp>
        <p:nvSpPr>
          <p:cNvPr id="227" name="Text 225"/>
          <p:cNvSpPr/>
          <p:nvPr/>
        </p:nvSpPr>
        <p:spPr>
          <a:xfrm>
            <a:off x="7681273" y="539594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TEC102.02.048</a:t>
            </a:r>
            <a:endParaRPr lang="en-US" sz="500" dirty="0"/>
          </a:p>
        </p:txBody>
      </p:sp>
      <p:sp>
        <p:nvSpPr>
          <p:cNvPr id="228" name="Text 226"/>
          <p:cNvSpPr/>
          <p:nvPr/>
        </p:nvSpPr>
        <p:spPr>
          <a:xfrm>
            <a:off x="8514093" y="582690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TEC102.02.049</a:t>
            </a:r>
            <a:endParaRPr lang="en-US" sz="500" dirty="0"/>
          </a:p>
        </p:txBody>
      </p:sp>
      <p:sp>
        <p:nvSpPr>
          <p:cNvPr id="229" name="Text 227"/>
          <p:cNvSpPr/>
          <p:nvPr/>
        </p:nvSpPr>
        <p:spPr>
          <a:xfrm>
            <a:off x="8558171" y="417259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HH.E6.033</a:t>
            </a:r>
            <a:endParaRPr lang="en-US" sz="500" dirty="0"/>
          </a:p>
        </p:txBody>
      </p:sp>
      <p:sp>
        <p:nvSpPr>
          <p:cNvPr id="230" name="Text 228"/>
          <p:cNvSpPr/>
          <p:nvPr/>
        </p:nvSpPr>
        <p:spPr>
          <a:xfrm>
            <a:off x="3119716" y="373882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TCCECH.03.017</a:t>
            </a:r>
            <a:endParaRPr lang="en-US" sz="500" dirty="0"/>
          </a:p>
        </p:txBody>
      </p:sp>
      <p:sp>
        <p:nvSpPr>
          <p:cNvPr id="231" name="Text 229"/>
          <p:cNvSpPr/>
          <p:nvPr/>
        </p:nvSpPr>
        <p:spPr>
          <a:xfrm>
            <a:off x="2595636" y="331815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TCCECH.04.016</a:t>
            </a:r>
            <a:endParaRPr lang="en-US" sz="500" dirty="0"/>
          </a:p>
        </p:txBody>
      </p:sp>
      <p:sp>
        <p:nvSpPr>
          <p:cNvPr id="232" name="Text 230"/>
          <p:cNvSpPr/>
          <p:nvPr/>
        </p:nvSpPr>
        <p:spPr>
          <a:xfrm>
            <a:off x="2073427" y="289888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TCCECH.03.016</a:t>
            </a:r>
            <a:endParaRPr lang="en-US" sz="500" dirty="0"/>
          </a:p>
        </p:txBody>
      </p:sp>
      <p:sp>
        <p:nvSpPr>
          <p:cNvPr id="233" name="Text 231"/>
          <p:cNvSpPr/>
          <p:nvPr/>
        </p:nvSpPr>
        <p:spPr>
          <a:xfrm>
            <a:off x="1549909" y="247822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TCCECH.04.015</a:t>
            </a:r>
            <a:endParaRPr lang="en-US" sz="500" dirty="0"/>
          </a:p>
        </p:txBody>
      </p:sp>
      <p:sp>
        <p:nvSpPr>
          <p:cNvPr id="234" name="Text 232"/>
          <p:cNvSpPr/>
          <p:nvPr/>
        </p:nvSpPr>
        <p:spPr>
          <a:xfrm>
            <a:off x="1028262" y="205933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TCCECH.03.015</a:t>
            </a:r>
            <a:endParaRPr lang="en-US" sz="500" dirty="0"/>
          </a:p>
        </p:txBody>
      </p:sp>
      <p:sp>
        <p:nvSpPr>
          <p:cNvPr id="235" name="Text 233"/>
          <p:cNvSpPr/>
          <p:nvPr/>
        </p:nvSpPr>
        <p:spPr>
          <a:xfrm>
            <a:off x="3395139" y="521794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SBC102.02.027</a:t>
            </a:r>
            <a:endParaRPr lang="en-US" sz="500" dirty="0"/>
          </a:p>
        </p:txBody>
      </p:sp>
      <p:sp>
        <p:nvSpPr>
          <p:cNvPr id="236" name="Text 234"/>
          <p:cNvSpPr/>
          <p:nvPr/>
        </p:nvSpPr>
        <p:spPr>
          <a:xfrm>
            <a:off x="9172656" y="852058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TCC103.11.027</a:t>
            </a:r>
            <a:endParaRPr lang="en-US" sz="500" dirty="0"/>
          </a:p>
        </p:txBody>
      </p:sp>
      <p:sp>
        <p:nvSpPr>
          <p:cNvPr id="237" name="Text 235"/>
          <p:cNvSpPr/>
          <p:nvPr/>
        </p:nvSpPr>
        <p:spPr>
          <a:xfrm>
            <a:off x="6553658" y="805200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TCCECH.03.038</a:t>
            </a:r>
            <a:endParaRPr lang="en-US" sz="500" dirty="0"/>
          </a:p>
        </p:txBody>
      </p:sp>
      <p:sp>
        <p:nvSpPr>
          <p:cNvPr id="238" name="Text 236"/>
          <p:cNvSpPr/>
          <p:nvPr/>
        </p:nvSpPr>
        <p:spPr>
          <a:xfrm>
            <a:off x="6778077" y="868314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TCCECH.04.037</a:t>
            </a:r>
            <a:endParaRPr lang="en-US" sz="500" dirty="0"/>
          </a:p>
        </p:txBody>
      </p:sp>
      <p:sp>
        <p:nvSpPr>
          <p:cNvPr id="239" name="Text 237"/>
          <p:cNvSpPr/>
          <p:nvPr/>
        </p:nvSpPr>
        <p:spPr>
          <a:xfrm>
            <a:off x="6986118" y="936379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TCCECH.03.039</a:t>
            </a:r>
            <a:endParaRPr lang="en-US" sz="500" dirty="0"/>
          </a:p>
        </p:txBody>
      </p:sp>
      <p:sp>
        <p:nvSpPr>
          <p:cNvPr id="240" name="Text 238"/>
          <p:cNvSpPr/>
          <p:nvPr/>
        </p:nvSpPr>
        <p:spPr>
          <a:xfrm>
            <a:off x="7126965" y="1004303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TCCECH.04.038</a:t>
            </a:r>
            <a:endParaRPr lang="en-US" sz="500" dirty="0"/>
          </a:p>
        </p:txBody>
      </p:sp>
      <p:sp>
        <p:nvSpPr>
          <p:cNvPr id="241" name="Text 239"/>
          <p:cNvSpPr/>
          <p:nvPr/>
        </p:nvSpPr>
        <p:spPr>
          <a:xfrm>
            <a:off x="9177803" y="820454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TCCECH.04.019</a:t>
            </a:r>
            <a:endParaRPr lang="en-US" sz="500" dirty="0"/>
          </a:p>
        </p:txBody>
      </p:sp>
      <p:sp>
        <p:nvSpPr>
          <p:cNvPr id="242" name="Text 240"/>
          <p:cNvSpPr/>
          <p:nvPr/>
        </p:nvSpPr>
        <p:spPr>
          <a:xfrm>
            <a:off x="8527101" y="794587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TCCECH.03.020</a:t>
            </a:r>
            <a:endParaRPr lang="en-US" sz="500" dirty="0"/>
          </a:p>
        </p:txBody>
      </p:sp>
      <p:sp>
        <p:nvSpPr>
          <p:cNvPr id="243" name="Text 241"/>
          <p:cNvSpPr/>
          <p:nvPr/>
        </p:nvSpPr>
        <p:spPr>
          <a:xfrm>
            <a:off x="5301481" y="305938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&amp;.27152</a:t>
            </a:r>
            <a:endParaRPr lang="en-US" sz="500" dirty="0"/>
          </a:p>
        </p:txBody>
      </p:sp>
      <p:sp>
        <p:nvSpPr>
          <p:cNvPr id="244" name="Text 242"/>
          <p:cNvSpPr/>
          <p:nvPr/>
        </p:nvSpPr>
        <p:spPr>
          <a:xfrm>
            <a:off x="1995938" y="537797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&amp;.27153</a:t>
            </a:r>
            <a:endParaRPr lang="en-US" sz="500" dirty="0"/>
          </a:p>
        </p:txBody>
      </p:sp>
      <p:sp>
        <p:nvSpPr>
          <p:cNvPr id="245" name="Text 243"/>
          <p:cNvSpPr/>
          <p:nvPr/>
        </p:nvSpPr>
        <p:spPr>
          <a:xfrm>
            <a:off x="4193425" y="791471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&amp;.27154</a:t>
            </a:r>
            <a:endParaRPr lang="en-US" sz="500" dirty="0"/>
          </a:p>
        </p:txBody>
      </p:sp>
      <p:sp>
        <p:nvSpPr>
          <p:cNvPr id="246" name="Text 244"/>
          <p:cNvSpPr/>
          <p:nvPr/>
        </p:nvSpPr>
        <p:spPr>
          <a:xfrm>
            <a:off x="8562851" y="557272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&amp;.27162</a:t>
            </a:r>
            <a:endParaRPr lang="en-US" sz="500" dirty="0"/>
          </a:p>
        </p:txBody>
      </p:sp>
      <p:sp>
        <p:nvSpPr>
          <p:cNvPr id="247" name="Text 245"/>
          <p:cNvSpPr/>
          <p:nvPr/>
        </p:nvSpPr>
        <p:spPr>
          <a:xfrm>
            <a:off x="5581209" y="224481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HH.E6.038</a:t>
            </a:r>
            <a:endParaRPr lang="en-US" sz="500" dirty="0"/>
          </a:p>
        </p:txBody>
      </p:sp>
      <p:sp>
        <p:nvSpPr>
          <p:cNvPr id="248" name="Text 246"/>
          <p:cNvSpPr/>
          <p:nvPr/>
        </p:nvSpPr>
        <p:spPr>
          <a:xfrm>
            <a:off x="5806376" y="240419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HH.E6.037</a:t>
            </a:r>
            <a:endParaRPr lang="en-US" sz="500" dirty="0"/>
          </a:p>
        </p:txBody>
      </p:sp>
      <p:sp>
        <p:nvSpPr>
          <p:cNvPr id="249" name="Text 247"/>
          <p:cNvSpPr/>
          <p:nvPr/>
        </p:nvSpPr>
        <p:spPr>
          <a:xfrm>
            <a:off x="6819255" y="313706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HH.E6.036</a:t>
            </a:r>
            <a:endParaRPr lang="en-US" sz="500" dirty="0"/>
          </a:p>
        </p:txBody>
      </p:sp>
      <p:sp>
        <p:nvSpPr>
          <p:cNvPr id="250" name="Text 248"/>
          <p:cNvSpPr/>
          <p:nvPr/>
        </p:nvSpPr>
        <p:spPr>
          <a:xfrm>
            <a:off x="7785153" y="384831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HH.E6.035</a:t>
            </a:r>
            <a:endParaRPr lang="en-US" sz="500" dirty="0"/>
          </a:p>
        </p:txBody>
      </p:sp>
      <p:sp>
        <p:nvSpPr>
          <p:cNvPr id="251" name="Text 249"/>
          <p:cNvSpPr/>
          <p:nvPr/>
        </p:nvSpPr>
        <p:spPr>
          <a:xfrm>
            <a:off x="2888185" y="706280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HH.E6.040</a:t>
            </a:r>
            <a:endParaRPr lang="en-US" sz="500" dirty="0"/>
          </a:p>
        </p:txBody>
      </p:sp>
      <p:sp>
        <p:nvSpPr>
          <p:cNvPr id="252" name="Text 250"/>
          <p:cNvSpPr/>
          <p:nvPr/>
        </p:nvSpPr>
        <p:spPr>
          <a:xfrm>
            <a:off x="3627419" y="825770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HH.E6.041</a:t>
            </a:r>
            <a:endParaRPr lang="en-US" sz="500" dirty="0"/>
          </a:p>
        </p:txBody>
      </p:sp>
      <p:sp>
        <p:nvSpPr>
          <p:cNvPr id="253" name="Text 251"/>
          <p:cNvSpPr/>
          <p:nvPr/>
        </p:nvSpPr>
        <p:spPr>
          <a:xfrm>
            <a:off x="4256409" y="979288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HH.E6.042</a:t>
            </a:r>
            <a:endParaRPr lang="en-US" sz="500" dirty="0"/>
          </a:p>
        </p:txBody>
      </p:sp>
      <p:sp>
        <p:nvSpPr>
          <p:cNvPr id="254" name="Text 252"/>
          <p:cNvSpPr/>
          <p:nvPr/>
        </p:nvSpPr>
        <p:spPr>
          <a:xfrm>
            <a:off x="8254018" y="418812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HH.E6.034</a:t>
            </a:r>
            <a:endParaRPr lang="en-US" sz="500" dirty="0"/>
          </a:p>
        </p:txBody>
      </p:sp>
      <p:sp>
        <p:nvSpPr>
          <p:cNvPr id="255" name="Text 253"/>
          <p:cNvSpPr/>
          <p:nvPr/>
        </p:nvSpPr>
        <p:spPr>
          <a:xfrm>
            <a:off x="9091423" y="463799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HH.E6.032</a:t>
            </a:r>
            <a:endParaRPr lang="en-US" sz="500" dirty="0"/>
          </a:p>
        </p:txBody>
      </p:sp>
      <p:sp>
        <p:nvSpPr>
          <p:cNvPr id="256" name="Text 254"/>
          <p:cNvSpPr/>
          <p:nvPr/>
        </p:nvSpPr>
        <p:spPr>
          <a:xfrm>
            <a:off x="1760009" y="585105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HH.E6.039</a:t>
            </a:r>
            <a:endParaRPr lang="en-US" sz="500" dirty="0"/>
          </a:p>
        </p:txBody>
      </p:sp>
      <p:sp>
        <p:nvSpPr>
          <p:cNvPr id="257" name="Text 255"/>
          <p:cNvSpPr/>
          <p:nvPr/>
        </p:nvSpPr>
        <p:spPr>
          <a:xfrm>
            <a:off x="3381663" y="150221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P6.009</a:t>
            </a:r>
            <a:endParaRPr lang="en-US" sz="500" dirty="0"/>
          </a:p>
        </p:txBody>
      </p:sp>
      <p:sp>
        <p:nvSpPr>
          <p:cNvPr id="258" name="Text 256"/>
          <p:cNvSpPr/>
          <p:nvPr/>
        </p:nvSpPr>
        <p:spPr>
          <a:xfrm>
            <a:off x="947029" y="453046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P6.038</a:t>
            </a:r>
            <a:endParaRPr lang="en-US" sz="500" dirty="0"/>
          </a:p>
        </p:txBody>
      </p:sp>
      <p:sp>
        <p:nvSpPr>
          <p:cNvPr id="259" name="Text 257"/>
          <p:cNvSpPr/>
          <p:nvPr/>
        </p:nvSpPr>
        <p:spPr>
          <a:xfrm>
            <a:off x="852040" y="508888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MH.E.024</a:t>
            </a:r>
            <a:endParaRPr lang="en-US" sz="500" dirty="0"/>
          </a:p>
        </p:txBody>
      </p:sp>
      <p:sp>
        <p:nvSpPr>
          <p:cNvPr id="260" name="Text 258"/>
          <p:cNvSpPr/>
          <p:nvPr/>
        </p:nvSpPr>
        <p:spPr>
          <a:xfrm>
            <a:off x="4053140" y="109876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MH.E.014</a:t>
            </a:r>
            <a:endParaRPr lang="en-US" sz="500" dirty="0"/>
          </a:p>
        </p:txBody>
      </p:sp>
      <p:sp>
        <p:nvSpPr>
          <p:cNvPr id="261" name="Text 259"/>
          <p:cNvSpPr/>
          <p:nvPr/>
        </p:nvSpPr>
        <p:spPr>
          <a:xfrm>
            <a:off x="4278588" y="235749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&amp;.23918</a:t>
            </a:r>
            <a:endParaRPr lang="en-US" sz="500" dirty="0"/>
          </a:p>
        </p:txBody>
      </p:sp>
      <p:sp>
        <p:nvSpPr>
          <p:cNvPr id="262" name="Text 260"/>
          <p:cNvSpPr/>
          <p:nvPr/>
        </p:nvSpPr>
        <p:spPr>
          <a:xfrm>
            <a:off x="1646115" y="669650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SGC102.02.017</a:t>
            </a:r>
            <a:endParaRPr lang="en-US" sz="500" dirty="0"/>
          </a:p>
        </p:txBody>
      </p:sp>
      <p:sp>
        <p:nvSpPr>
          <p:cNvPr id="263" name="Text 261"/>
          <p:cNvSpPr/>
          <p:nvPr/>
        </p:nvSpPr>
        <p:spPr>
          <a:xfrm>
            <a:off x="5963038" y="218941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SGC102.02.016</a:t>
            </a:r>
            <a:endParaRPr lang="en-US" sz="500" dirty="0"/>
          </a:p>
        </p:txBody>
      </p:sp>
      <p:sp>
        <p:nvSpPr>
          <p:cNvPr id="264" name="Text 262"/>
          <p:cNvSpPr/>
          <p:nvPr/>
        </p:nvSpPr>
        <p:spPr>
          <a:xfrm>
            <a:off x="9376392" y="618468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TEC102.02.050</a:t>
            </a:r>
            <a:endParaRPr lang="en-US" sz="500" dirty="0"/>
          </a:p>
        </p:txBody>
      </p:sp>
      <p:sp>
        <p:nvSpPr>
          <p:cNvPr id="265" name="Shape 263"/>
          <p:cNvSpPr/>
          <p:nvPr/>
        </p:nvSpPr>
        <p:spPr>
          <a:xfrm>
            <a:off x="4279360" y="3910525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4329652" y="3960817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</p:sp>
      <p:sp>
        <p:nvSpPr>
          <p:cNvPr id="267" name="Text 265"/>
          <p:cNvSpPr/>
          <p:nvPr/>
        </p:nvSpPr>
        <p:spPr>
          <a:xfrm>
            <a:off x="4503388" y="3796225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SBC102-02/024</a:t>
            </a:r>
            <a:endParaRPr lang="en-US" sz="650" dirty="0"/>
          </a:p>
        </p:txBody>
      </p:sp>
      <p:sp>
        <p:nvSpPr>
          <p:cNvPr id="268" name="Shape 266"/>
          <p:cNvSpPr/>
          <p:nvPr/>
        </p:nvSpPr>
        <p:spPr>
          <a:xfrm>
            <a:off x="4103606" y="4129610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4153898" y="4179902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</p:sp>
      <p:sp>
        <p:nvSpPr>
          <p:cNvPr id="270" name="Text 268"/>
          <p:cNvSpPr/>
          <p:nvPr/>
        </p:nvSpPr>
        <p:spPr>
          <a:xfrm>
            <a:off x="4327634" y="401531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SBC102-01/027</a:t>
            </a:r>
            <a:endParaRPr lang="en-US" sz="650" dirty="0"/>
          </a:p>
        </p:txBody>
      </p:sp>
      <p:sp>
        <p:nvSpPr>
          <p:cNvPr id="271" name="Shape 269"/>
          <p:cNvSpPr/>
          <p:nvPr/>
        </p:nvSpPr>
        <p:spPr>
          <a:xfrm>
            <a:off x="3927758" y="4348600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3978050" y="4398892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</p:sp>
      <p:sp>
        <p:nvSpPr>
          <p:cNvPr id="273" name="Text 271"/>
          <p:cNvSpPr/>
          <p:nvPr/>
        </p:nvSpPr>
        <p:spPr>
          <a:xfrm>
            <a:off x="4151786" y="423430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SBC102-02/025</a:t>
            </a:r>
            <a:endParaRPr lang="en-US" sz="650" dirty="0"/>
          </a:p>
        </p:txBody>
      </p:sp>
      <p:sp>
        <p:nvSpPr>
          <p:cNvPr id="274" name="Shape 272"/>
          <p:cNvSpPr/>
          <p:nvPr/>
        </p:nvSpPr>
        <p:spPr>
          <a:xfrm>
            <a:off x="3751911" y="4567591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3802203" y="4617883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</p:sp>
      <p:sp>
        <p:nvSpPr>
          <p:cNvPr id="276" name="Text 274"/>
          <p:cNvSpPr/>
          <p:nvPr/>
        </p:nvSpPr>
        <p:spPr>
          <a:xfrm>
            <a:off x="3975939" y="4453291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SBC102-01/028</a:t>
            </a:r>
            <a:endParaRPr lang="en-US" sz="650" dirty="0"/>
          </a:p>
        </p:txBody>
      </p:sp>
      <p:sp>
        <p:nvSpPr>
          <p:cNvPr id="277" name="Shape 275"/>
          <p:cNvSpPr/>
          <p:nvPr/>
        </p:nvSpPr>
        <p:spPr>
          <a:xfrm>
            <a:off x="3576157" y="4786582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3626449" y="4836874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</p:sp>
      <p:sp>
        <p:nvSpPr>
          <p:cNvPr id="279" name="Text 277"/>
          <p:cNvSpPr/>
          <p:nvPr/>
        </p:nvSpPr>
        <p:spPr>
          <a:xfrm>
            <a:off x="3800185" y="467228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SBC102-02/026</a:t>
            </a:r>
            <a:endParaRPr lang="en-US" sz="650" dirty="0"/>
          </a:p>
        </p:txBody>
      </p:sp>
      <p:sp>
        <p:nvSpPr>
          <p:cNvPr id="280" name="Shape 278"/>
          <p:cNvSpPr/>
          <p:nvPr/>
        </p:nvSpPr>
        <p:spPr>
          <a:xfrm>
            <a:off x="3400309" y="5005572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3450601" y="5055864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</p:sp>
      <p:sp>
        <p:nvSpPr>
          <p:cNvPr id="282" name="Text 280"/>
          <p:cNvSpPr/>
          <p:nvPr/>
        </p:nvSpPr>
        <p:spPr>
          <a:xfrm>
            <a:off x="3624337" y="48912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SBC102-01/029</a:t>
            </a:r>
            <a:endParaRPr lang="en-US" sz="650" dirty="0"/>
          </a:p>
        </p:txBody>
      </p:sp>
      <p:sp>
        <p:nvSpPr>
          <p:cNvPr id="283" name="Shape 281"/>
          <p:cNvSpPr/>
          <p:nvPr/>
        </p:nvSpPr>
        <p:spPr>
          <a:xfrm>
            <a:off x="4499193" y="5122929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4549485" y="5173221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</p:sp>
      <p:sp>
        <p:nvSpPr>
          <p:cNvPr id="285" name="Text 283"/>
          <p:cNvSpPr/>
          <p:nvPr/>
        </p:nvSpPr>
        <p:spPr>
          <a:xfrm>
            <a:off x="4723221" y="5008629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TCCECH-04/034</a:t>
            </a:r>
            <a:endParaRPr lang="en-US" sz="650" dirty="0"/>
          </a:p>
        </p:txBody>
      </p:sp>
      <p:sp>
        <p:nvSpPr>
          <p:cNvPr id="286" name="Shape 284"/>
          <p:cNvSpPr/>
          <p:nvPr/>
        </p:nvSpPr>
        <p:spPr>
          <a:xfrm>
            <a:off x="4958231" y="5653560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5008523" y="5703852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</p:sp>
      <p:sp>
        <p:nvSpPr>
          <p:cNvPr id="288" name="Text 286"/>
          <p:cNvSpPr/>
          <p:nvPr/>
        </p:nvSpPr>
        <p:spPr>
          <a:xfrm>
            <a:off x="5182259" y="553926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TCCECH-03/036</a:t>
            </a:r>
            <a:endParaRPr lang="en-US" sz="650" dirty="0"/>
          </a:p>
        </p:txBody>
      </p:sp>
      <p:sp>
        <p:nvSpPr>
          <p:cNvPr id="289" name="Shape 287"/>
          <p:cNvSpPr/>
          <p:nvPr/>
        </p:nvSpPr>
        <p:spPr>
          <a:xfrm>
            <a:off x="5379461" y="6215449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5429753" y="6265741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</p:sp>
      <p:sp>
        <p:nvSpPr>
          <p:cNvPr id="291" name="Text 289"/>
          <p:cNvSpPr/>
          <p:nvPr/>
        </p:nvSpPr>
        <p:spPr>
          <a:xfrm>
            <a:off x="5603489" y="6101149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TCCECH-04/035</a:t>
            </a:r>
            <a:endParaRPr lang="en-US" sz="650" dirty="0"/>
          </a:p>
        </p:txBody>
      </p:sp>
      <p:sp>
        <p:nvSpPr>
          <p:cNvPr id="292" name="Shape 290"/>
          <p:cNvSpPr/>
          <p:nvPr/>
        </p:nvSpPr>
        <p:spPr>
          <a:xfrm>
            <a:off x="5759700" y="6804759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5809992" y="6855051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</p:sp>
      <p:sp>
        <p:nvSpPr>
          <p:cNvPr id="294" name="Text 292"/>
          <p:cNvSpPr/>
          <p:nvPr/>
        </p:nvSpPr>
        <p:spPr>
          <a:xfrm>
            <a:off x="5983728" y="6690459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TCCECH-03/037</a:t>
            </a:r>
            <a:endParaRPr lang="en-US" sz="650" dirty="0"/>
          </a:p>
        </p:txBody>
      </p:sp>
      <p:sp>
        <p:nvSpPr>
          <p:cNvPr id="295" name="Shape 293"/>
          <p:cNvSpPr/>
          <p:nvPr/>
        </p:nvSpPr>
        <p:spPr>
          <a:xfrm>
            <a:off x="6098574" y="7419991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6148866" y="7470283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</p:sp>
      <p:sp>
        <p:nvSpPr>
          <p:cNvPr id="297" name="Text 295"/>
          <p:cNvSpPr/>
          <p:nvPr/>
        </p:nvSpPr>
        <p:spPr>
          <a:xfrm>
            <a:off x="6322602" y="7305691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TCCECH-04/036</a:t>
            </a:r>
            <a:endParaRPr lang="en-US" sz="650" dirty="0"/>
          </a:p>
        </p:txBody>
      </p:sp>
      <p:sp>
        <p:nvSpPr>
          <p:cNvPr id="298" name="Shape 296"/>
          <p:cNvSpPr/>
          <p:nvPr/>
        </p:nvSpPr>
        <p:spPr>
          <a:xfrm>
            <a:off x="3229796" y="5223159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3280088" y="5273451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300" name="Text 298"/>
          <p:cNvSpPr/>
          <p:nvPr/>
        </p:nvSpPr>
        <p:spPr>
          <a:xfrm>
            <a:off x="3453824" y="5108859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SBC102-02/027</a:t>
            </a:r>
            <a:endParaRPr lang="en-US" sz="650" dirty="0"/>
          </a:p>
        </p:txBody>
      </p:sp>
      <p:sp>
        <p:nvSpPr>
          <p:cNvPr id="301" name="Shape 299"/>
          <p:cNvSpPr/>
          <p:nvPr/>
        </p:nvSpPr>
        <p:spPr>
          <a:xfrm>
            <a:off x="4001317" y="4627205"/>
            <a:ext cx="210312" cy="210312"/>
          </a:xfrm>
          <a:prstGeom prst="ellipse">
            <a:avLst/>
          </a:prstGeom>
          <a:ln w="28575">
            <a:solidFill>
              <a:srgbClr val="E8710A"/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4051609" y="4677497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303" name="Text 301"/>
          <p:cNvSpPr/>
          <p:nvPr/>
        </p:nvSpPr>
        <p:spPr>
          <a:xfrm>
            <a:off x="4225345" y="4512905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TCCECH-03/035</a:t>
            </a:r>
            <a:endParaRPr lang="en-US" sz="650" dirty="0"/>
          </a:p>
        </p:txBody>
      </p:sp>
      <p:sp>
        <p:nvSpPr>
          <p:cNvPr id="304" name="Shape 302"/>
          <p:cNvSpPr/>
          <p:nvPr/>
        </p:nvSpPr>
        <p:spPr>
          <a:xfrm>
            <a:off x="4046519" y="4621122"/>
            <a:ext cx="210312" cy="210312"/>
          </a:xfrm>
          <a:prstGeom prst="ellipse">
            <a:avLst/>
          </a:prstGeom>
          <a:ln w="28575">
            <a:solidFill>
              <a:srgbClr val="E8710A"/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4096811" y="4671414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306" name="Text 304"/>
          <p:cNvSpPr/>
          <p:nvPr/>
        </p:nvSpPr>
        <p:spPr>
          <a:xfrm>
            <a:off x="4270547" y="450682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TCCECH-03/018</a:t>
            </a:r>
            <a:endParaRPr lang="en-US" sz="650" dirty="0"/>
          </a:p>
        </p:txBody>
      </p:sp>
      <p:sp>
        <p:nvSpPr>
          <p:cNvPr id="307" name="Shape 305"/>
          <p:cNvSpPr/>
          <p:nvPr/>
        </p:nvSpPr>
        <p:spPr>
          <a:xfrm>
            <a:off x="4455208" y="3691535"/>
            <a:ext cx="210312" cy="210312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</p:sp>
      <p:sp>
        <p:nvSpPr>
          <p:cNvPr id="308" name="Text 306"/>
          <p:cNvSpPr/>
          <p:nvPr/>
        </p:nvSpPr>
        <p:spPr>
          <a:xfrm>
            <a:off x="4679236" y="3577235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SBC102-01/026</a:t>
            </a:r>
            <a:endParaRPr lang="en-US" sz="650" dirty="0"/>
          </a:p>
        </p:txBody>
      </p:sp>
      <p:sp>
        <p:nvSpPr>
          <p:cNvPr id="309" name="Shape 307"/>
          <p:cNvSpPr/>
          <p:nvPr/>
        </p:nvSpPr>
        <p:spPr>
          <a:xfrm>
            <a:off x="10104120" y="777240"/>
            <a:ext cx="4709160" cy="1170432"/>
          </a:xfrm>
          <a:prstGeom prst="rect">
            <a:avLst/>
          </a:prstGeom>
          <a:solidFill>
            <a:srgbClr val="1E2761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310" name="Text 308"/>
          <p:cNvSpPr/>
          <p:nvPr/>
        </p:nvSpPr>
        <p:spPr>
          <a:xfrm>
            <a:off x="10241280" y="86868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1 — 1001  ·  REV P05 (EDITABLE)</a:t>
            </a:r>
            <a:endParaRPr lang="en-US" sz="1250" dirty="0"/>
          </a:p>
        </p:txBody>
      </p:sp>
      <p:sp>
        <p:nvSpPr>
          <p:cNvPr id="311" name="Text 309"/>
          <p:cNvSpPr/>
          <p:nvPr/>
        </p:nvSpPr>
        <p:spPr>
          <a:xfrm>
            <a:off x="10241280" y="117957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PER FIELD SHEET Document_3 — FIELD CONDITION GOVERNS</a:t>
            </a:r>
            <a:endParaRPr lang="en-US" sz="800" dirty="0"/>
          </a:p>
        </p:txBody>
      </p:sp>
      <p:sp>
        <p:nvSpPr>
          <p:cNvPr id="312" name="Text 310"/>
          <p:cNvSpPr/>
          <p:nvPr/>
        </p:nvSpPr>
        <p:spPr>
          <a:xfrm>
            <a:off x="10241280" y="160020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1:250 @ A1 equivalent · UTM 40N · Issued 28.07.2026 · Prepared: Mohammed, AGL Team Leader — ADB SAFEGATE</a:t>
            </a:r>
            <a:endParaRPr lang="en-US" sz="700" dirty="0"/>
          </a:p>
        </p:txBody>
      </p:sp>
      <p:sp>
        <p:nvSpPr>
          <p:cNvPr id="313" name="Shape 311"/>
          <p:cNvSpPr/>
          <p:nvPr/>
        </p:nvSpPr>
        <p:spPr>
          <a:xfrm>
            <a:off x="10104120" y="2057400"/>
            <a:ext cx="4709160" cy="2502713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314" name="Text 312"/>
          <p:cNvSpPr/>
          <p:nvPr/>
        </p:nvSpPr>
        <p:spPr>
          <a:xfrm>
            <a:off x="10241280" y="2130552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/ QUANTITIES (PER FIELD VERIFICATION)</a:t>
            </a:r>
            <a:endParaRPr lang="en-US" sz="950" dirty="0"/>
          </a:p>
        </p:txBody>
      </p:sp>
      <p:sp>
        <p:nvSpPr>
          <p:cNvPr id="315" name="Text 313"/>
          <p:cNvSpPr/>
          <p:nvPr/>
        </p:nvSpPr>
        <p:spPr>
          <a:xfrm>
            <a:off x="10241280" y="2386584"/>
            <a:ext cx="4434840" cy="21186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OUT SHALLOW BASE + NEW CABLE: 11 No.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VIA DUCT (6): SBC102-02/024, 01/027, 02/025, 01/028, 02/026, 01/029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VIA SAWCUT (5): TCCECH-04/034, 03/036, 04/035, 03/037, 04/036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SECONDARY CABLE ONLY: 3 No.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SBC102-02/027 (DUCT) · TCCECH-03/035, 03/018 (SAWCUT — bases OK, verify at cut line)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VERIFIED NOT AFFECTED: SBC102-01/026 (no works)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 FITTINGS NOT IN FIELD SCOPE — SHOWN AS EXISTING ONLY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 CIRCUITS: SBC102.01/.02, TCCECH.03/.04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RECORD 23.07.2026: 9 cored + 2 reinstatement already worked</a:t>
            </a:r>
            <a:endParaRPr lang="en-US" sz="760" dirty="0"/>
          </a:p>
        </p:txBody>
      </p:sp>
      <p:sp>
        <p:nvSpPr>
          <p:cNvPr id="316" name="Shape 314"/>
          <p:cNvSpPr/>
          <p:nvPr/>
        </p:nvSpPr>
        <p:spPr>
          <a:xfrm>
            <a:off x="10104120" y="4669841"/>
            <a:ext cx="4709160" cy="2267712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317" name="Text 315"/>
          <p:cNvSpPr/>
          <p:nvPr/>
        </p:nvSpPr>
        <p:spPr>
          <a:xfrm>
            <a:off x="10241280" y="4742993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NOTES</a:t>
            </a:r>
            <a:endParaRPr lang="en-US" sz="950" dirty="0"/>
          </a:p>
        </p:txBody>
      </p:sp>
      <p:sp>
        <p:nvSpPr>
          <p:cNvPr id="318" name="Text 316"/>
          <p:cNvSpPr/>
          <p:nvPr/>
        </p:nvSpPr>
        <p:spPr>
          <a:xfrm>
            <a:off x="10241280" y="4999025"/>
            <a:ext cx="4434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All asset positions as-built (asset survey assets_20260726120533.xlsx, UTM 40N / EPSG:32640).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AGL works area (red) per field condition — rectangular strips aligned to stop bar / centerline around field-verified affected assets. Coring at Location 1 only.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Secondary cables: no joints — full manhole-to-light replacement. Confirm routes vs AGL duct-layout CAD (Rev B) before works.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Isolate, lock out &amp; prove dead all listed circuits at CCR under permit before any cutting, coring or excavation.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Reinstatement setting-out by civil survey from as-built E/N, checked against adjacent undisturbed fittings before coring.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Taxiway centerline &amp; stop bar alignments derived from as-built AGL fitting positions (TCC / SBC). Edge / pavement boundary indicative at 23 m width from as-built CL — confirm on site.</a:t>
            </a:r>
            <a:endParaRPr lang="en-US" sz="680" dirty="0"/>
          </a:p>
        </p:txBody>
      </p:sp>
      <p:sp>
        <p:nvSpPr>
          <p:cNvPr id="319" name="Shape 317"/>
          <p:cNvSpPr/>
          <p:nvPr/>
        </p:nvSpPr>
        <p:spPr>
          <a:xfrm>
            <a:off x="10104120" y="7047281"/>
            <a:ext cx="4709160" cy="3968496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320" name="Text 318"/>
          <p:cNvSpPr/>
          <p:nvPr/>
        </p:nvSpPr>
        <p:spPr>
          <a:xfrm>
            <a:off x="10241280" y="7120433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 — WORKS ACTIONS (THIS SHEET)</a:t>
            </a:r>
            <a:endParaRPr lang="en-US" sz="950" dirty="0"/>
          </a:p>
        </p:txBody>
      </p:sp>
      <p:sp>
        <p:nvSpPr>
          <p:cNvPr id="321" name="Shape 319"/>
          <p:cNvSpPr/>
          <p:nvPr/>
        </p:nvSpPr>
        <p:spPr>
          <a:xfrm>
            <a:off x="10305288" y="7445045"/>
            <a:ext cx="192024" cy="192024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10351008" y="7490765"/>
            <a:ext cx="100584" cy="100584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</p:sp>
      <p:sp>
        <p:nvSpPr>
          <p:cNvPr id="323" name="Text 321"/>
          <p:cNvSpPr/>
          <p:nvPr/>
        </p:nvSpPr>
        <p:spPr>
          <a:xfrm>
            <a:off x="10616184" y="7431329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OUT + NEW CABLE (DUCT) — outer red / inner blue</a:t>
            </a:r>
            <a:endParaRPr lang="en-US" sz="740" dirty="0"/>
          </a:p>
        </p:txBody>
      </p:sp>
      <p:sp>
        <p:nvSpPr>
          <p:cNvPr id="324" name="Shape 322"/>
          <p:cNvSpPr/>
          <p:nvPr/>
        </p:nvSpPr>
        <p:spPr>
          <a:xfrm>
            <a:off x="10305288" y="7719365"/>
            <a:ext cx="192024" cy="192024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10351008" y="7765085"/>
            <a:ext cx="100584" cy="100584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</p:sp>
      <p:sp>
        <p:nvSpPr>
          <p:cNvPr id="326" name="Text 324"/>
          <p:cNvSpPr/>
          <p:nvPr/>
        </p:nvSpPr>
        <p:spPr>
          <a:xfrm>
            <a:off x="10616184" y="7705649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OUT + NEW CABLE (SAWCUT) — outer red / inner orange</a:t>
            </a:r>
            <a:endParaRPr lang="en-US" sz="740" dirty="0"/>
          </a:p>
        </p:txBody>
      </p:sp>
      <p:sp>
        <p:nvSpPr>
          <p:cNvPr id="327" name="Shape 325"/>
          <p:cNvSpPr/>
          <p:nvPr/>
        </p:nvSpPr>
        <p:spPr>
          <a:xfrm>
            <a:off x="10305288" y="7993685"/>
            <a:ext cx="192024" cy="192024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10351008" y="8039405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329" name="Text 327"/>
          <p:cNvSpPr/>
          <p:nvPr/>
        </p:nvSpPr>
        <p:spPr>
          <a:xfrm>
            <a:off x="10616184" y="7979969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SEC. CABLE ONLY (DUCT) — outer blue / inner green</a:t>
            </a:r>
            <a:endParaRPr lang="en-US" sz="740" dirty="0"/>
          </a:p>
        </p:txBody>
      </p:sp>
      <p:sp>
        <p:nvSpPr>
          <p:cNvPr id="330" name="Shape 328"/>
          <p:cNvSpPr/>
          <p:nvPr/>
        </p:nvSpPr>
        <p:spPr>
          <a:xfrm>
            <a:off x="10305288" y="8268005"/>
            <a:ext cx="192024" cy="192024"/>
          </a:xfrm>
          <a:prstGeom prst="ellipse">
            <a:avLst/>
          </a:prstGeom>
          <a:ln w="28575">
            <a:solidFill>
              <a:srgbClr val="E8710A"/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10351008" y="8313725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332" name="Text 330"/>
          <p:cNvSpPr/>
          <p:nvPr/>
        </p:nvSpPr>
        <p:spPr>
          <a:xfrm>
            <a:off x="10616184" y="8254289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SEC. CABLE ONLY (SAWCUT) — outer orange / inner green</a:t>
            </a:r>
            <a:endParaRPr lang="en-US" sz="740" dirty="0"/>
          </a:p>
        </p:txBody>
      </p:sp>
      <p:sp>
        <p:nvSpPr>
          <p:cNvPr id="333" name="Shape 331"/>
          <p:cNvSpPr/>
          <p:nvPr/>
        </p:nvSpPr>
        <p:spPr>
          <a:xfrm>
            <a:off x="10305288" y="8542325"/>
            <a:ext cx="192024" cy="192024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</p:sp>
      <p:sp>
        <p:nvSpPr>
          <p:cNvPr id="334" name="Text 332"/>
          <p:cNvSpPr/>
          <p:nvPr/>
        </p:nvSpPr>
        <p:spPr>
          <a:xfrm>
            <a:off x="10616184" y="8528609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VERIFIED — NOT AFFECTED (grey)</a:t>
            </a:r>
            <a:endParaRPr lang="en-US" sz="740" dirty="0"/>
          </a:p>
        </p:txBody>
      </p:sp>
      <p:sp>
        <p:nvSpPr>
          <p:cNvPr id="335" name="Shape 333"/>
          <p:cNvSpPr/>
          <p:nvPr/>
        </p:nvSpPr>
        <p:spPr>
          <a:xfrm>
            <a:off x="10351008" y="8866937"/>
            <a:ext cx="91440" cy="91440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336" name="Text 334"/>
          <p:cNvSpPr/>
          <p:nvPr/>
        </p:nvSpPr>
        <p:spPr>
          <a:xfrm>
            <a:off x="10616184" y="8802929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AGL ASSET (AS-BUILT)</a:t>
            </a:r>
            <a:endParaRPr lang="en-US" sz="740" dirty="0"/>
          </a:p>
        </p:txBody>
      </p:sp>
      <p:sp>
        <p:nvSpPr>
          <p:cNvPr id="337" name="Shape 335"/>
          <p:cNvSpPr/>
          <p:nvPr/>
        </p:nvSpPr>
        <p:spPr>
          <a:xfrm>
            <a:off x="10268712" y="9186977"/>
            <a:ext cx="274320" cy="914"/>
          </a:xfrm>
          <a:prstGeom prst="line">
            <a:avLst/>
          </a:prstGeom>
          <a:noFill/>
          <a:ln w="12700">
            <a:solidFill>
              <a:srgbClr val="C9CDD2"/>
            </a:solidFill>
            <a:prstDash val="dash"/>
          </a:ln>
        </p:spPr>
      </p:sp>
      <p:sp>
        <p:nvSpPr>
          <p:cNvPr id="338" name="Text 336"/>
          <p:cNvSpPr/>
          <p:nvPr/>
        </p:nvSpPr>
        <p:spPr>
          <a:xfrm>
            <a:off x="10616184" y="9077249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INDICATIVE DUCT — LIGHT TO NEAREST MH/HH</a:t>
            </a:r>
            <a:endParaRPr lang="en-US" sz="740" dirty="0"/>
          </a:p>
        </p:txBody>
      </p:sp>
      <p:sp>
        <p:nvSpPr>
          <p:cNvPr id="339" name="Shape 337"/>
          <p:cNvSpPr/>
          <p:nvPr/>
        </p:nvSpPr>
        <p:spPr>
          <a:xfrm>
            <a:off x="10268712" y="9461297"/>
            <a:ext cx="274320" cy="91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340" name="Text 338"/>
          <p:cNvSpPr/>
          <p:nvPr/>
        </p:nvSpPr>
        <p:spPr>
          <a:xfrm>
            <a:off x="10616184" y="9351569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DUCT RUN CROSSING CUT (INDICATIVE)</a:t>
            </a:r>
            <a:endParaRPr lang="en-US" sz="740" dirty="0"/>
          </a:p>
        </p:txBody>
      </p:sp>
      <p:sp>
        <p:nvSpPr>
          <p:cNvPr id="341" name="Shape 339"/>
          <p:cNvSpPr/>
          <p:nvPr/>
        </p:nvSpPr>
        <p:spPr>
          <a:xfrm>
            <a:off x="10268712" y="9735617"/>
            <a:ext cx="274320" cy="914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342" name="Text 340"/>
          <p:cNvSpPr/>
          <p:nvPr/>
        </p:nvSpPr>
        <p:spPr>
          <a:xfrm>
            <a:off x="10616184" y="9625889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AREA — FIELD CONDITION (GOVERNING)</a:t>
            </a:r>
            <a:endParaRPr lang="en-US" sz="740" dirty="0"/>
          </a:p>
        </p:txBody>
      </p:sp>
      <p:sp>
        <p:nvSpPr>
          <p:cNvPr id="343" name="Shape 341"/>
          <p:cNvSpPr/>
          <p:nvPr/>
        </p:nvSpPr>
        <p:spPr>
          <a:xfrm>
            <a:off x="10268712" y="10009937"/>
            <a:ext cx="274320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344" name="Text 342"/>
          <p:cNvSpPr/>
          <p:nvPr/>
        </p:nvSpPr>
        <p:spPr>
          <a:xfrm>
            <a:off x="10616184" y="9900209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TAXIWAY CENTERLINE (AS-BUILT, THROUGH TCC FITTINGS)</a:t>
            </a:r>
            <a:endParaRPr lang="en-US" sz="740" dirty="0"/>
          </a:p>
        </p:txBody>
      </p:sp>
      <p:sp>
        <p:nvSpPr>
          <p:cNvPr id="345" name="Shape 343"/>
          <p:cNvSpPr/>
          <p:nvPr/>
        </p:nvSpPr>
        <p:spPr>
          <a:xfrm>
            <a:off x="10268712" y="10284257"/>
            <a:ext cx="274320" cy="914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346" name="Text 344"/>
          <p:cNvSpPr/>
          <p:nvPr/>
        </p:nvSpPr>
        <p:spPr>
          <a:xfrm>
            <a:off x="10616184" y="10174529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BAR (AS-BUILT, THROUGH SBC FITTINGS)</a:t>
            </a:r>
            <a:endParaRPr lang="en-US" sz="740" dirty="0"/>
          </a:p>
        </p:txBody>
      </p:sp>
      <p:sp>
        <p:nvSpPr>
          <p:cNvPr id="347" name="Shape 345"/>
          <p:cNvSpPr/>
          <p:nvPr/>
        </p:nvSpPr>
        <p:spPr>
          <a:xfrm>
            <a:off x="10268712" y="10558577"/>
            <a:ext cx="274320" cy="9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48" name="Text 346"/>
          <p:cNvSpPr/>
          <p:nvPr/>
        </p:nvSpPr>
        <p:spPr>
          <a:xfrm>
            <a:off x="10616184" y="10448849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TWY EDGE / PAVEMENT BOUNDARY (INDICATIVE 23 m — CONFIRM ON SITE)</a:t>
            </a:r>
            <a:endParaRPr lang="en-US" sz="740" dirty="0"/>
          </a:p>
        </p:txBody>
      </p:sp>
      <p:sp>
        <p:nvSpPr>
          <p:cNvPr id="349" name="Shape 347"/>
          <p:cNvSpPr/>
          <p:nvPr/>
        </p:nvSpPr>
        <p:spPr>
          <a:xfrm>
            <a:off x="10287000" y="10750601"/>
            <a:ext cx="219456" cy="146304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</p:sp>
      <p:sp>
        <p:nvSpPr>
          <p:cNvPr id="350" name="Text 348"/>
          <p:cNvSpPr/>
          <p:nvPr/>
        </p:nvSpPr>
        <p:spPr>
          <a:xfrm>
            <a:off x="10616184" y="10723169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FEED MANHOLE / HANDHOLE</a:t>
            </a:r>
            <a:endParaRPr lang="en-US" sz="7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1449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 — ELECTRICAL / AGL SCOPE (FIELD-GOVERNED)   ·   TAXIWAY E (E4–E6) — LOCATION 2   ·   DWG NO [XXX-ELE-SHD-1002] REV P05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320040" y="777240"/>
            <a:ext cx="9555480" cy="955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F63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" y="10058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UTM 40N (EPSG:32640) — AS-BUILT POSITIONS · NOT TO SCALE WHEN EDITED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571627" y="10137349"/>
            <a:ext cx="243215" cy="19537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544963" y="9313422"/>
            <a:ext cx="1026664" cy="82392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17861" y="8488268"/>
            <a:ext cx="1027102" cy="8251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93477" y="7665744"/>
            <a:ext cx="1024384" cy="82252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66813" y="6842694"/>
            <a:ext cx="1026664" cy="82305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65936" y="6841993"/>
            <a:ext cx="914" cy="9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39097" y="6016926"/>
            <a:ext cx="1026839" cy="82506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15064" y="5193701"/>
            <a:ext cx="1024033" cy="82322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89277" y="4371879"/>
            <a:ext cx="1025787" cy="82182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5577" y="3590641"/>
            <a:ext cx="973700" cy="78123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807511" y="7740631"/>
            <a:ext cx="972472" cy="78043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0672" y="6915739"/>
            <a:ext cx="1026839" cy="82489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55323" y="6092339"/>
            <a:ext cx="1025349" cy="82340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28747" y="5269377"/>
            <a:ext cx="1026576" cy="8229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02434" y="4444748"/>
            <a:ext cx="1026313" cy="82462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78050" y="3621260"/>
            <a:ext cx="1024384" cy="82348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76734" y="3620208"/>
            <a:ext cx="1315" cy="105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50597" y="2798123"/>
            <a:ext cx="1026138" cy="82208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24722" y="1974898"/>
            <a:ext cx="1025875" cy="82322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9198" y="1151146"/>
            <a:ext cx="1025524" cy="82375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5577" y="1003267"/>
            <a:ext cx="183621" cy="14787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02989" y="9351041"/>
            <a:ext cx="576994" cy="46351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27" name="Shape 25"/>
          <p:cNvSpPr/>
          <p:nvPr/>
        </p:nvSpPr>
        <p:spPr>
          <a:xfrm>
            <a:off x="8176149" y="8526939"/>
            <a:ext cx="1026839" cy="82410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28" name="Shape 26"/>
          <p:cNvSpPr/>
          <p:nvPr/>
        </p:nvSpPr>
        <p:spPr>
          <a:xfrm>
            <a:off x="7149310" y="7702047"/>
            <a:ext cx="1026839" cy="82489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29" name="Shape 27"/>
          <p:cNvSpPr/>
          <p:nvPr/>
        </p:nvSpPr>
        <p:spPr>
          <a:xfrm>
            <a:off x="6124575" y="6879173"/>
            <a:ext cx="1024735" cy="82287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30" name="Shape 28"/>
          <p:cNvSpPr/>
          <p:nvPr/>
        </p:nvSpPr>
        <p:spPr>
          <a:xfrm>
            <a:off x="5097561" y="6055860"/>
            <a:ext cx="1027015" cy="82331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31" name="Shape 29"/>
          <p:cNvSpPr/>
          <p:nvPr/>
        </p:nvSpPr>
        <p:spPr>
          <a:xfrm>
            <a:off x="4070722" y="5230793"/>
            <a:ext cx="1026839" cy="825067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32" name="Shape 30"/>
          <p:cNvSpPr/>
          <p:nvPr/>
        </p:nvSpPr>
        <p:spPr>
          <a:xfrm>
            <a:off x="3046250" y="4407218"/>
            <a:ext cx="1024472" cy="82357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33" name="Shape 31"/>
          <p:cNvSpPr/>
          <p:nvPr/>
        </p:nvSpPr>
        <p:spPr>
          <a:xfrm>
            <a:off x="2019761" y="3584869"/>
            <a:ext cx="1026488" cy="82234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34" name="Shape 32"/>
          <p:cNvSpPr/>
          <p:nvPr/>
        </p:nvSpPr>
        <p:spPr>
          <a:xfrm>
            <a:off x="993361" y="2761293"/>
            <a:ext cx="1026401" cy="82357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35" name="Shape 33"/>
          <p:cNvSpPr/>
          <p:nvPr/>
        </p:nvSpPr>
        <p:spPr>
          <a:xfrm>
            <a:off x="415577" y="2297161"/>
            <a:ext cx="577783" cy="46413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36" name="Shape 34"/>
          <p:cNvSpPr/>
          <p:nvPr/>
        </p:nvSpPr>
        <p:spPr>
          <a:xfrm flipV="1">
            <a:off x="9202989" y="8952823"/>
            <a:ext cx="576994" cy="39821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 flipV="1">
            <a:off x="8176149" y="8387952"/>
            <a:ext cx="1603833" cy="13898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2505033" y="2025670"/>
            <a:ext cx="541217" cy="238154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2019761" y="2025670"/>
            <a:ext cx="485271" cy="155920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993361" y="2025670"/>
            <a:ext cx="1511672" cy="73562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7149310" y="7702047"/>
            <a:ext cx="2630673" cy="44607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4070722" y="4187030"/>
            <a:ext cx="1528947" cy="1043763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 flipV="1">
            <a:off x="5097561" y="4187030"/>
            <a:ext cx="502108" cy="1868830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5599668" y="4187030"/>
            <a:ext cx="524907" cy="2692143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5538286" y="4125648"/>
            <a:ext cx="122765" cy="122765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678589" y="40159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B00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P2.002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3017137" y="4158882"/>
            <a:ext cx="4380859" cy="3517999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7177721" y="7676881"/>
            <a:ext cx="220275" cy="274291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96862" y="4433261"/>
            <a:ext cx="4380859" cy="3517911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2796862" y="4158882"/>
            <a:ext cx="220275" cy="274379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9697" y="388456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AREA — FIELD CONDITION (257.1 m² TOTAL)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5773846" y="788289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360110" y="513313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119085" y="620531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642726" y="180735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475772" y="199640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173728" y="932178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46889" y="849767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041461" y="520153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016989" y="437795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990501" y="355560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64100" y="273203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068300" y="602659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095315" y="684991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20049" y="767278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570408" y="415776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915815" y="372633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68491" y="266705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861230" y="780354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RRM.545</a:t>
            </a:r>
            <a:endParaRPr lang="en-US" sz="500" dirty="0"/>
          </a:p>
        </p:txBody>
      </p:sp>
      <p:sp>
        <p:nvSpPr>
          <p:cNvPr id="70" name="Text 68"/>
          <p:cNvSpPr/>
          <p:nvPr/>
        </p:nvSpPr>
        <p:spPr>
          <a:xfrm>
            <a:off x="2447494" y="505379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RRM.546</a:t>
            </a:r>
            <a:endParaRPr lang="en-US" sz="500" dirty="0"/>
          </a:p>
        </p:txBody>
      </p:sp>
      <p:sp>
        <p:nvSpPr>
          <p:cNvPr id="71" name="Text 69"/>
          <p:cNvSpPr/>
          <p:nvPr/>
        </p:nvSpPr>
        <p:spPr>
          <a:xfrm>
            <a:off x="7206469" y="612596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RRM.554</a:t>
            </a:r>
            <a:endParaRPr lang="en-US" sz="500" dirty="0"/>
          </a:p>
        </p:txBody>
      </p:sp>
      <p:sp>
        <p:nvSpPr>
          <p:cNvPr id="72" name="Text 70"/>
          <p:cNvSpPr/>
          <p:nvPr/>
        </p:nvSpPr>
        <p:spPr>
          <a:xfrm>
            <a:off x="1730110" y="172800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RRM.556</a:t>
            </a:r>
            <a:endParaRPr lang="en-US" sz="500" dirty="0"/>
          </a:p>
        </p:txBody>
      </p:sp>
      <p:sp>
        <p:nvSpPr>
          <p:cNvPr id="73" name="Text 71"/>
          <p:cNvSpPr/>
          <p:nvPr/>
        </p:nvSpPr>
        <p:spPr>
          <a:xfrm>
            <a:off x="2563156" y="191706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&amp;.24043</a:t>
            </a:r>
            <a:endParaRPr lang="en-US" sz="500" dirty="0"/>
          </a:p>
        </p:txBody>
      </p:sp>
      <p:sp>
        <p:nvSpPr>
          <p:cNvPr id="74" name="Text 72"/>
          <p:cNvSpPr/>
          <p:nvPr/>
        </p:nvSpPr>
        <p:spPr>
          <a:xfrm>
            <a:off x="9261112" y="924243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TCCECH.03.010</a:t>
            </a:r>
            <a:endParaRPr lang="en-US" sz="500" dirty="0"/>
          </a:p>
        </p:txBody>
      </p:sp>
      <p:sp>
        <p:nvSpPr>
          <p:cNvPr id="75" name="Text 73"/>
          <p:cNvSpPr/>
          <p:nvPr/>
        </p:nvSpPr>
        <p:spPr>
          <a:xfrm>
            <a:off x="8234272" y="841833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TCCECH.04.009</a:t>
            </a:r>
            <a:endParaRPr lang="en-US" sz="500" dirty="0"/>
          </a:p>
        </p:txBody>
      </p:sp>
      <p:sp>
        <p:nvSpPr>
          <p:cNvPr id="76" name="Text 74"/>
          <p:cNvSpPr/>
          <p:nvPr/>
        </p:nvSpPr>
        <p:spPr>
          <a:xfrm>
            <a:off x="4128845" y="512219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TCCECH.04.007</a:t>
            </a:r>
            <a:endParaRPr lang="en-US" sz="500" dirty="0"/>
          </a:p>
        </p:txBody>
      </p:sp>
      <p:sp>
        <p:nvSpPr>
          <p:cNvPr id="77" name="Text 75"/>
          <p:cNvSpPr/>
          <p:nvPr/>
        </p:nvSpPr>
        <p:spPr>
          <a:xfrm>
            <a:off x="3104373" y="429861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TCCECH.03.007</a:t>
            </a:r>
            <a:endParaRPr lang="en-US" sz="500" dirty="0"/>
          </a:p>
        </p:txBody>
      </p:sp>
      <p:sp>
        <p:nvSpPr>
          <p:cNvPr id="78" name="Text 76"/>
          <p:cNvSpPr/>
          <p:nvPr/>
        </p:nvSpPr>
        <p:spPr>
          <a:xfrm>
            <a:off x="2077885" y="347626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TCCECH.04.006</a:t>
            </a:r>
            <a:endParaRPr lang="en-US" sz="500" dirty="0"/>
          </a:p>
        </p:txBody>
      </p:sp>
      <p:sp>
        <p:nvSpPr>
          <p:cNvPr id="79" name="Text 77"/>
          <p:cNvSpPr/>
          <p:nvPr/>
        </p:nvSpPr>
        <p:spPr>
          <a:xfrm>
            <a:off x="1051484" y="265269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TCCECH.03.006</a:t>
            </a:r>
            <a:endParaRPr lang="en-US" sz="500" dirty="0"/>
          </a:p>
        </p:txBody>
      </p:sp>
      <p:sp>
        <p:nvSpPr>
          <p:cNvPr id="80" name="Text 78"/>
          <p:cNvSpPr/>
          <p:nvPr/>
        </p:nvSpPr>
        <p:spPr>
          <a:xfrm>
            <a:off x="5155684" y="594725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TCCECH.03.008</a:t>
            </a:r>
            <a:endParaRPr lang="en-US" sz="500" dirty="0"/>
          </a:p>
        </p:txBody>
      </p:sp>
      <p:sp>
        <p:nvSpPr>
          <p:cNvPr id="81" name="Text 79"/>
          <p:cNvSpPr/>
          <p:nvPr/>
        </p:nvSpPr>
        <p:spPr>
          <a:xfrm>
            <a:off x="6182699" y="677057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TCCECH.04.008</a:t>
            </a:r>
            <a:endParaRPr lang="en-US" sz="500" dirty="0"/>
          </a:p>
        </p:txBody>
      </p:sp>
      <p:sp>
        <p:nvSpPr>
          <p:cNvPr id="82" name="Text 80"/>
          <p:cNvSpPr/>
          <p:nvPr/>
        </p:nvSpPr>
        <p:spPr>
          <a:xfrm>
            <a:off x="7207433" y="759344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TCCECH.03.009</a:t>
            </a:r>
            <a:endParaRPr lang="en-US" sz="500" dirty="0"/>
          </a:p>
        </p:txBody>
      </p:sp>
      <p:sp>
        <p:nvSpPr>
          <p:cNvPr id="83" name="Text 81"/>
          <p:cNvSpPr/>
          <p:nvPr/>
        </p:nvSpPr>
        <p:spPr>
          <a:xfrm>
            <a:off x="5657792" y="407842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P2.002</a:t>
            </a:r>
            <a:endParaRPr lang="en-US" sz="500" dirty="0"/>
          </a:p>
        </p:txBody>
      </p:sp>
      <p:sp>
        <p:nvSpPr>
          <p:cNvPr id="84" name="Text 82"/>
          <p:cNvSpPr/>
          <p:nvPr/>
        </p:nvSpPr>
        <p:spPr>
          <a:xfrm>
            <a:off x="6003199" y="364699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HH.E.055</a:t>
            </a:r>
            <a:endParaRPr lang="en-US" sz="500" dirty="0"/>
          </a:p>
        </p:txBody>
      </p:sp>
      <p:sp>
        <p:nvSpPr>
          <p:cNvPr id="85" name="Text 83"/>
          <p:cNvSpPr/>
          <p:nvPr/>
        </p:nvSpPr>
        <p:spPr>
          <a:xfrm>
            <a:off x="4855875" y="258771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HH.E.056</a:t>
            </a:r>
            <a:endParaRPr lang="en-US" sz="500" dirty="0"/>
          </a:p>
        </p:txBody>
      </p:sp>
      <p:sp>
        <p:nvSpPr>
          <p:cNvPr id="86" name="Shape 84"/>
          <p:cNvSpPr/>
          <p:nvPr/>
        </p:nvSpPr>
        <p:spPr>
          <a:xfrm>
            <a:off x="2941094" y="4302062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991386" y="4352354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165122" y="418776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TCCECH-03/007</a:t>
            </a:r>
            <a:endParaRPr lang="en-US" sz="650" dirty="0"/>
          </a:p>
        </p:txBody>
      </p:sp>
      <p:sp>
        <p:nvSpPr>
          <p:cNvPr id="89" name="Shape 87"/>
          <p:cNvSpPr/>
          <p:nvPr/>
        </p:nvSpPr>
        <p:spPr>
          <a:xfrm>
            <a:off x="3965566" y="5125637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015858" y="5175929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189594" y="5011337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TCCECH-04/007</a:t>
            </a:r>
            <a:endParaRPr lang="en-US" sz="650" dirty="0"/>
          </a:p>
        </p:txBody>
      </p:sp>
      <p:sp>
        <p:nvSpPr>
          <p:cNvPr id="92" name="Shape 90"/>
          <p:cNvSpPr/>
          <p:nvPr/>
        </p:nvSpPr>
        <p:spPr>
          <a:xfrm>
            <a:off x="4992405" y="5950704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042697" y="6000996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216433" y="5836404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TCCECH-03/008</a:t>
            </a:r>
            <a:endParaRPr lang="en-US" sz="650" dirty="0"/>
          </a:p>
        </p:txBody>
      </p:sp>
      <p:sp>
        <p:nvSpPr>
          <p:cNvPr id="95" name="Shape 93"/>
          <p:cNvSpPr/>
          <p:nvPr/>
        </p:nvSpPr>
        <p:spPr>
          <a:xfrm>
            <a:off x="6019419" y="6774017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069711" y="6824309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6243447" y="6659717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TCCECH-04/008</a:t>
            </a:r>
            <a:endParaRPr lang="en-US" sz="650" dirty="0"/>
          </a:p>
        </p:txBody>
      </p:sp>
      <p:sp>
        <p:nvSpPr>
          <p:cNvPr id="98" name="Shape 96"/>
          <p:cNvSpPr/>
          <p:nvPr/>
        </p:nvSpPr>
        <p:spPr>
          <a:xfrm>
            <a:off x="7044154" y="7596891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94446" y="7647183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268182" y="7482591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TCCECH-03/009</a:t>
            </a:r>
            <a:endParaRPr lang="en-US" sz="650" dirty="0"/>
          </a:p>
        </p:txBody>
      </p:sp>
      <p:sp>
        <p:nvSpPr>
          <p:cNvPr id="101" name="Shape 99"/>
          <p:cNvSpPr/>
          <p:nvPr/>
        </p:nvSpPr>
        <p:spPr>
          <a:xfrm>
            <a:off x="3620509" y="3379485"/>
            <a:ext cx="210312" cy="210312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670801" y="3429777"/>
            <a:ext cx="109728" cy="109728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844537" y="3265185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RRM.555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10104120" y="777240"/>
            <a:ext cx="4709160" cy="1170432"/>
          </a:xfrm>
          <a:prstGeom prst="rect">
            <a:avLst/>
          </a:prstGeom>
          <a:solidFill>
            <a:srgbClr val="1E2761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241280" y="86868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2 — 1002  ·  REV P05 (EDITABLE)</a:t>
            </a:r>
            <a:endParaRPr lang="en-US" sz="1250" dirty="0"/>
          </a:p>
        </p:txBody>
      </p:sp>
      <p:sp>
        <p:nvSpPr>
          <p:cNvPr id="106" name="Text 104"/>
          <p:cNvSpPr/>
          <p:nvPr/>
        </p:nvSpPr>
        <p:spPr>
          <a:xfrm>
            <a:off x="10241280" y="117957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PER FIELD SHEET Second_milling_area rev _1 — FIELD CONDITION GOVERNS</a:t>
            </a:r>
            <a:endParaRPr lang="en-US" sz="800" dirty="0"/>
          </a:p>
        </p:txBody>
      </p:sp>
      <p:sp>
        <p:nvSpPr>
          <p:cNvPr id="107" name="Text 105"/>
          <p:cNvSpPr/>
          <p:nvPr/>
        </p:nvSpPr>
        <p:spPr>
          <a:xfrm>
            <a:off x="10241280" y="160020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1:250 @ A1 equivalent · UTM 40N · Issued 28.07.2026 · Prepared: Mohammed, AGL Team Leader — ADB SAFEGATE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10104120" y="2057400"/>
            <a:ext cx="4709160" cy="1577340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241280" y="2130552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/ QUANTITIES (PER FIELD VERIFICATION)</a:t>
            </a:r>
            <a:endParaRPr lang="en-US" sz="950" dirty="0"/>
          </a:p>
        </p:txBody>
      </p:sp>
      <p:sp>
        <p:nvSpPr>
          <p:cNvPr id="110" name="Text 108"/>
          <p:cNvSpPr/>
          <p:nvPr/>
        </p:nvSpPr>
        <p:spPr>
          <a:xfrm>
            <a:off x="10241280" y="2386584"/>
            <a:ext cx="4434840" cy="1193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SECONDARY CABLE ONLY (VIA DUCT): 5 No.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TCCECH-03/007, 04/007, 03/008, 04/008, 03/009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SHALLOW BASES AFFECTED AT THIS LOCATION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RRM.555 (0.41 m from cut): REMOVE / PROTECT BEFORE SAWCUT, RE-FIX AFTER PAVING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 CIRCUITS: TCCECH.03, TCCECH.04</a:t>
            </a:r>
            <a:endParaRPr lang="en-US" sz="760" dirty="0"/>
          </a:p>
        </p:txBody>
      </p:sp>
      <p:sp>
        <p:nvSpPr>
          <p:cNvPr id="111" name="Shape 109"/>
          <p:cNvSpPr/>
          <p:nvPr/>
        </p:nvSpPr>
        <p:spPr>
          <a:xfrm>
            <a:off x="10104120" y="3744468"/>
            <a:ext cx="4709160" cy="2267712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0241280" y="3817620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NOTES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10241280" y="4073652"/>
            <a:ext cx="4434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All asset positions as-built (asset survey assets_20260726120533.xlsx, UTM 40N / EPSG:32640).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AGL works area (red) per field condition — rectangular strips aligned to stop bar / centerline around field-verified affected assets. Coring at Location 1 only.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Secondary cables: no joints — full manhole-to-light replacement. Confirm routes vs AGL duct-layout CAD (Rev B) before works.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Isolate, lock out &amp; prove dead all listed circuits at CCR under permit before any cutting, coring or excavation.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Reinstatement setting-out by civil survey from as-built E/N, checked against adjacent undisturbed fittings before coring.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Taxiway centerline &amp; stop bar alignments derived from as-built AGL fitting positions (TCC / SBC). Edge / pavement boundary indicative at 23 m width from as-built CL — confirm on site.</a:t>
            </a:r>
            <a:endParaRPr lang="en-US" sz="680" dirty="0"/>
          </a:p>
        </p:txBody>
      </p:sp>
      <p:sp>
        <p:nvSpPr>
          <p:cNvPr id="114" name="Shape 112"/>
          <p:cNvSpPr/>
          <p:nvPr/>
        </p:nvSpPr>
        <p:spPr>
          <a:xfrm>
            <a:off x="10104120" y="6121908"/>
            <a:ext cx="4709160" cy="2871216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0241280" y="6195060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 — WORKS ACTIONS (THIS SHEET)</a:t>
            </a:r>
            <a:endParaRPr lang="en-US" sz="950" dirty="0"/>
          </a:p>
        </p:txBody>
      </p:sp>
      <p:sp>
        <p:nvSpPr>
          <p:cNvPr id="116" name="Shape 114"/>
          <p:cNvSpPr/>
          <p:nvPr/>
        </p:nvSpPr>
        <p:spPr>
          <a:xfrm>
            <a:off x="10305288" y="6519672"/>
            <a:ext cx="192024" cy="192024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0351008" y="6565392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0616184" y="6505956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SEC. CABLE ONLY (DUCT) — outer blue / inner green</a:t>
            </a:r>
            <a:endParaRPr lang="en-US" sz="740" dirty="0"/>
          </a:p>
        </p:txBody>
      </p:sp>
      <p:sp>
        <p:nvSpPr>
          <p:cNvPr id="119" name="Shape 117"/>
          <p:cNvSpPr/>
          <p:nvPr/>
        </p:nvSpPr>
        <p:spPr>
          <a:xfrm>
            <a:off x="10305288" y="6793992"/>
            <a:ext cx="192024" cy="192024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10351008" y="6839712"/>
            <a:ext cx="100584" cy="100584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0616184" y="6780276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 — REMOVE / PROTECT / RE-FIX (magenta / white)</a:t>
            </a:r>
            <a:endParaRPr lang="en-US" sz="740" dirty="0"/>
          </a:p>
        </p:txBody>
      </p:sp>
      <p:sp>
        <p:nvSpPr>
          <p:cNvPr id="122" name="Shape 120"/>
          <p:cNvSpPr/>
          <p:nvPr/>
        </p:nvSpPr>
        <p:spPr>
          <a:xfrm>
            <a:off x="10351008" y="7118604"/>
            <a:ext cx="91440" cy="91440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0616184" y="7054596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AGL ASSET (AS-BUILT)</a:t>
            </a:r>
            <a:endParaRPr lang="en-US" sz="740" dirty="0"/>
          </a:p>
        </p:txBody>
      </p:sp>
      <p:sp>
        <p:nvSpPr>
          <p:cNvPr id="124" name="Shape 122"/>
          <p:cNvSpPr/>
          <p:nvPr/>
        </p:nvSpPr>
        <p:spPr>
          <a:xfrm>
            <a:off x="10268712" y="7438644"/>
            <a:ext cx="274320" cy="914"/>
          </a:xfrm>
          <a:prstGeom prst="line">
            <a:avLst/>
          </a:prstGeom>
          <a:noFill/>
          <a:ln w="12700">
            <a:solidFill>
              <a:srgbClr val="C9CDD2"/>
            </a:solidFill>
            <a:prstDash val="dash"/>
          </a:ln>
        </p:spPr>
      </p:sp>
      <p:sp>
        <p:nvSpPr>
          <p:cNvPr id="125" name="Text 123"/>
          <p:cNvSpPr/>
          <p:nvPr/>
        </p:nvSpPr>
        <p:spPr>
          <a:xfrm>
            <a:off x="10616184" y="7328916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INDICATIVE DUCT — LIGHT TO NEAREST MH/HH</a:t>
            </a:r>
            <a:endParaRPr lang="en-US" sz="740" dirty="0"/>
          </a:p>
        </p:txBody>
      </p:sp>
      <p:sp>
        <p:nvSpPr>
          <p:cNvPr id="126" name="Shape 124"/>
          <p:cNvSpPr/>
          <p:nvPr/>
        </p:nvSpPr>
        <p:spPr>
          <a:xfrm>
            <a:off x="10268712" y="7712964"/>
            <a:ext cx="274320" cy="91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27" name="Text 125"/>
          <p:cNvSpPr/>
          <p:nvPr/>
        </p:nvSpPr>
        <p:spPr>
          <a:xfrm>
            <a:off x="10616184" y="7603236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DUCT RUN CROSSING CUT (INDICATIVE)</a:t>
            </a:r>
            <a:endParaRPr lang="en-US" sz="740" dirty="0"/>
          </a:p>
        </p:txBody>
      </p:sp>
      <p:sp>
        <p:nvSpPr>
          <p:cNvPr id="128" name="Shape 126"/>
          <p:cNvSpPr/>
          <p:nvPr/>
        </p:nvSpPr>
        <p:spPr>
          <a:xfrm>
            <a:off x="10268712" y="7987284"/>
            <a:ext cx="274320" cy="914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10616184" y="7877556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AREA — FIELD CONDITION (GOVERNING)</a:t>
            </a:r>
            <a:endParaRPr lang="en-US" sz="740" dirty="0"/>
          </a:p>
        </p:txBody>
      </p:sp>
      <p:sp>
        <p:nvSpPr>
          <p:cNvPr id="130" name="Shape 128"/>
          <p:cNvSpPr/>
          <p:nvPr/>
        </p:nvSpPr>
        <p:spPr>
          <a:xfrm>
            <a:off x="10268712" y="8261604"/>
            <a:ext cx="274320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131" name="Text 129"/>
          <p:cNvSpPr/>
          <p:nvPr/>
        </p:nvSpPr>
        <p:spPr>
          <a:xfrm>
            <a:off x="10616184" y="8151876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TAXIWAY CENTERLINE (AS-BUILT, THROUGH TCC FITTINGS)</a:t>
            </a:r>
            <a:endParaRPr lang="en-US" sz="740" dirty="0"/>
          </a:p>
        </p:txBody>
      </p:sp>
      <p:sp>
        <p:nvSpPr>
          <p:cNvPr id="132" name="Shape 130"/>
          <p:cNvSpPr/>
          <p:nvPr/>
        </p:nvSpPr>
        <p:spPr>
          <a:xfrm>
            <a:off x="10268712" y="8535924"/>
            <a:ext cx="274320" cy="9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10616184" y="8426196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TWY EDGE / PAVEMENT BOUNDARY (INDICATIVE 23 m — CONFIRM ON SITE)</a:t>
            </a:r>
            <a:endParaRPr lang="en-US" sz="740" dirty="0"/>
          </a:p>
        </p:txBody>
      </p:sp>
      <p:sp>
        <p:nvSpPr>
          <p:cNvPr id="134" name="Shape 132"/>
          <p:cNvSpPr/>
          <p:nvPr/>
        </p:nvSpPr>
        <p:spPr>
          <a:xfrm>
            <a:off x="10287000" y="8727948"/>
            <a:ext cx="219456" cy="146304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10616184" y="8700516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FEED MANHOLE / HANDHOLE</a:t>
            </a:r>
            <a:endParaRPr lang="en-US" sz="7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1449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 — ELECTRICAL / AGL SCOPE (FIELD-GOVERNED)   ·   TAXIWAY E (E4–E6) — LOCATION 3   ·   DWG NO [XXX-ELE-SHD-1003] REV P05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320040" y="777240"/>
            <a:ext cx="9555480" cy="955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F63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" y="10058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UTM 40N (EPSG:32640) — AS-BUILT POSITIONS · NOT TO SCALE WHEN EDITED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7415709" y="9583565"/>
            <a:ext cx="283772" cy="2279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14605" y="9582661"/>
            <a:ext cx="1104" cy="9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30317" y="9112099"/>
            <a:ext cx="584288" cy="4705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44925" y="8643746"/>
            <a:ext cx="585392" cy="4683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43018" y="8642240"/>
            <a:ext cx="1907" cy="150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56723" y="8171377"/>
            <a:ext cx="586295" cy="47086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69022" y="7703023"/>
            <a:ext cx="587701" cy="4683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62799" y="7698004"/>
            <a:ext cx="6223" cy="501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9013" y="7226138"/>
            <a:ext cx="583786" cy="47186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93521" y="6754572"/>
            <a:ext cx="585492" cy="47156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07928" y="6287523"/>
            <a:ext cx="585593" cy="46704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5419" y="6285515"/>
            <a:ext cx="2509" cy="20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23339" y="5818366"/>
            <a:ext cx="582080" cy="46714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20479" y="5656661"/>
            <a:ext cx="202860" cy="16170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15762" y="5652846"/>
            <a:ext cx="4718" cy="38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43141" y="5433124"/>
            <a:ext cx="272621" cy="21972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34233" y="5383137"/>
            <a:ext cx="108908" cy="4998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28136" y="5327629"/>
            <a:ext cx="106097" cy="555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28362" y="5261280"/>
            <a:ext cx="99774" cy="6634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836016" y="5185095"/>
            <a:ext cx="92346" cy="7618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52002" y="5099675"/>
            <a:ext cx="84015" cy="8542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40358" y="5085121"/>
            <a:ext cx="11644" cy="145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5076" y="5068659"/>
            <a:ext cx="75282" cy="164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59782" y="5034933"/>
            <a:ext cx="105294" cy="3372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58202" y="4991269"/>
            <a:ext cx="101580" cy="4366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61339" y="4938070"/>
            <a:ext cx="96863" cy="5319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269897" y="4875837"/>
            <a:ext cx="91442" cy="6223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184878" y="4805172"/>
            <a:ext cx="85018" cy="7066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48342" y="4768334"/>
            <a:ext cx="36537" cy="3683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67639" y="4756490"/>
            <a:ext cx="80702" cy="1184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60036" y="4730091"/>
            <a:ext cx="107603" cy="2639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55445" y="4693454"/>
            <a:ext cx="104592" cy="3663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54868" y="4646980"/>
            <a:ext cx="100577" cy="4647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9210" y="4590970"/>
            <a:ext cx="95658" cy="5601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69374" y="4526128"/>
            <a:ext cx="89836" cy="6484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5145" y="4496115"/>
            <a:ext cx="34228" cy="3001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6300" y="4494810"/>
            <a:ext cx="38845" cy="130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5284" y="4480256"/>
            <a:ext cx="111016" cy="145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20040" y="4465190"/>
            <a:ext cx="65244" cy="1506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862125" y="7784127"/>
            <a:ext cx="1013395" cy="8140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76834" y="7312762"/>
            <a:ext cx="585292" cy="47136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73823" y="7310453"/>
            <a:ext cx="3011" cy="230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687929" y="6841698"/>
            <a:ext cx="585894" cy="46875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00830" y="6370132"/>
            <a:ext cx="587098" cy="47156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097317" y="6367221"/>
            <a:ext cx="3513" cy="291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510921" y="5899972"/>
            <a:ext cx="586396" cy="46725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929444" y="5430012"/>
            <a:ext cx="581477" cy="46996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927838" y="5428707"/>
            <a:ext cx="1606" cy="130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339435" y="4954833"/>
            <a:ext cx="588403" cy="47387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335319" y="4951520"/>
            <a:ext cx="4115" cy="331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748924" y="4483769"/>
            <a:ext cx="586396" cy="46775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66744" y="4016620"/>
            <a:ext cx="582180" cy="46714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164034" y="4014512"/>
            <a:ext cx="2710" cy="21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962278" y="3853609"/>
            <a:ext cx="201755" cy="16090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579947" y="3545455"/>
            <a:ext cx="382332" cy="3081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503259" y="3488643"/>
            <a:ext cx="76687" cy="5681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422156" y="3438455"/>
            <a:ext cx="81104" cy="5018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378392" y="3416071"/>
            <a:ext cx="43764" cy="2238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252019" y="3239610"/>
            <a:ext cx="126373" cy="17646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82257" y="3151581"/>
            <a:ext cx="69761" cy="8803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04366" y="3070778"/>
            <a:ext cx="77892" cy="8080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18946" y="2997905"/>
            <a:ext cx="85420" cy="7287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926801" y="2933665"/>
            <a:ext cx="92145" cy="6424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868683" y="2901042"/>
            <a:ext cx="58118" cy="3262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845798" y="2847643"/>
            <a:ext cx="22886" cy="5340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790290" y="2746865"/>
            <a:ext cx="55508" cy="10077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724945" y="2652110"/>
            <a:ext cx="65345" cy="9475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650466" y="2564281"/>
            <a:ext cx="74479" cy="8782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567656" y="2484382"/>
            <a:ext cx="82810" cy="7989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477318" y="2413115"/>
            <a:ext cx="90338" cy="7126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439476" y="2388925"/>
            <a:ext cx="37842" cy="2419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413178" y="2315851"/>
            <a:ext cx="26298" cy="7307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365599" y="2215475"/>
            <a:ext cx="47578" cy="10037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308486" y="2120018"/>
            <a:ext cx="57114" cy="9545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914812" y="1528102"/>
            <a:ext cx="393674" cy="59191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785546" y="1298442"/>
            <a:ext cx="129266" cy="22966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313315" y="9627228"/>
            <a:ext cx="229676" cy="18429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2" name="Shape 80"/>
          <p:cNvSpPr/>
          <p:nvPr/>
        </p:nvSpPr>
        <p:spPr>
          <a:xfrm>
            <a:off x="8138616" y="8683595"/>
            <a:ext cx="1174699" cy="94363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3" name="Shape 81"/>
          <p:cNvSpPr/>
          <p:nvPr/>
        </p:nvSpPr>
        <p:spPr>
          <a:xfrm>
            <a:off x="7552823" y="8211828"/>
            <a:ext cx="585793" cy="471767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4" name="Shape 82"/>
          <p:cNvSpPr/>
          <p:nvPr/>
        </p:nvSpPr>
        <p:spPr>
          <a:xfrm>
            <a:off x="6965925" y="7742371"/>
            <a:ext cx="586898" cy="46945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5" name="Shape 83"/>
          <p:cNvSpPr/>
          <p:nvPr/>
        </p:nvSpPr>
        <p:spPr>
          <a:xfrm>
            <a:off x="6377923" y="7270002"/>
            <a:ext cx="588002" cy="47236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6" name="Shape 84"/>
          <p:cNvSpPr/>
          <p:nvPr/>
        </p:nvSpPr>
        <p:spPr>
          <a:xfrm>
            <a:off x="5788416" y="6800243"/>
            <a:ext cx="589507" cy="46975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7" name="Shape 85"/>
          <p:cNvSpPr/>
          <p:nvPr/>
        </p:nvSpPr>
        <p:spPr>
          <a:xfrm>
            <a:off x="5203827" y="6327774"/>
            <a:ext cx="584589" cy="47246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8" name="Shape 86"/>
          <p:cNvSpPr/>
          <p:nvPr/>
        </p:nvSpPr>
        <p:spPr>
          <a:xfrm>
            <a:off x="4615424" y="5853899"/>
            <a:ext cx="588403" cy="47387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89" name="Shape 87"/>
          <p:cNvSpPr/>
          <p:nvPr/>
        </p:nvSpPr>
        <p:spPr>
          <a:xfrm>
            <a:off x="4027824" y="5385144"/>
            <a:ext cx="587600" cy="468755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0" name="Shape 88"/>
          <p:cNvSpPr/>
          <p:nvPr/>
        </p:nvSpPr>
        <p:spPr>
          <a:xfrm>
            <a:off x="3444339" y="4916991"/>
            <a:ext cx="583485" cy="46815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1" name="Shape 89"/>
          <p:cNvSpPr/>
          <p:nvPr/>
        </p:nvSpPr>
        <p:spPr>
          <a:xfrm>
            <a:off x="3240174" y="4754181"/>
            <a:ext cx="204164" cy="16281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2" name="Shape 90"/>
          <p:cNvSpPr/>
          <p:nvPr/>
        </p:nvSpPr>
        <p:spPr>
          <a:xfrm>
            <a:off x="2855534" y="4444120"/>
            <a:ext cx="384640" cy="31006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3" name="Shape 91"/>
          <p:cNvSpPr/>
          <p:nvPr/>
        </p:nvSpPr>
        <p:spPr>
          <a:xfrm>
            <a:off x="2615937" y="4334109"/>
            <a:ext cx="239597" cy="11001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4" name="Shape 92"/>
          <p:cNvSpPr/>
          <p:nvPr/>
        </p:nvSpPr>
        <p:spPr>
          <a:xfrm>
            <a:off x="2313404" y="3911526"/>
            <a:ext cx="302533" cy="42258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5" name="Shape 93"/>
          <p:cNvSpPr/>
          <p:nvPr/>
        </p:nvSpPr>
        <p:spPr>
          <a:xfrm>
            <a:off x="2313404" y="3911526"/>
            <a:ext cx="91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6" name="Shape 94"/>
          <p:cNvSpPr/>
          <p:nvPr/>
        </p:nvSpPr>
        <p:spPr>
          <a:xfrm flipV="1">
            <a:off x="1964498" y="3911526"/>
            <a:ext cx="348906" cy="4235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7" name="Shape 95"/>
          <p:cNvSpPr/>
          <p:nvPr/>
        </p:nvSpPr>
        <p:spPr>
          <a:xfrm>
            <a:off x="1808413" y="3353838"/>
            <a:ext cx="156084" cy="600047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8" name="Shape 96"/>
          <p:cNvSpPr/>
          <p:nvPr/>
        </p:nvSpPr>
        <p:spPr>
          <a:xfrm flipV="1">
            <a:off x="1289068" y="3353838"/>
            <a:ext cx="519345" cy="26981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99" name="Shape 97"/>
          <p:cNvSpPr/>
          <p:nvPr/>
        </p:nvSpPr>
        <p:spPr>
          <a:xfrm>
            <a:off x="1090826" y="3028419"/>
            <a:ext cx="198242" cy="59522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100" name="Shape 98"/>
          <p:cNvSpPr/>
          <p:nvPr/>
        </p:nvSpPr>
        <p:spPr>
          <a:xfrm flipV="1">
            <a:off x="1090826" y="2759312"/>
            <a:ext cx="256561" cy="26910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101" name="Shape 99"/>
          <p:cNvSpPr/>
          <p:nvPr/>
        </p:nvSpPr>
        <p:spPr>
          <a:xfrm>
            <a:off x="929924" y="2131662"/>
            <a:ext cx="417463" cy="62765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102" name="Shape 100"/>
          <p:cNvSpPr/>
          <p:nvPr/>
        </p:nvSpPr>
        <p:spPr>
          <a:xfrm>
            <a:off x="561544" y="1477211"/>
            <a:ext cx="368379" cy="65445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103" name="Shape 101"/>
          <p:cNvSpPr/>
          <p:nvPr/>
        </p:nvSpPr>
        <p:spPr>
          <a:xfrm>
            <a:off x="478115" y="1298442"/>
            <a:ext cx="83429" cy="17876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104" name="Shape 102"/>
          <p:cNvSpPr/>
          <p:nvPr/>
        </p:nvSpPr>
        <p:spPr>
          <a:xfrm>
            <a:off x="320040" y="3256882"/>
            <a:ext cx="270413" cy="8742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105" name="Shape 103"/>
          <p:cNvSpPr/>
          <p:nvPr/>
        </p:nvSpPr>
        <p:spPr>
          <a:xfrm>
            <a:off x="320040" y="3267801"/>
            <a:ext cx="270413" cy="7650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106" name="Shape 104"/>
          <p:cNvSpPr/>
          <p:nvPr/>
        </p:nvSpPr>
        <p:spPr>
          <a:xfrm flipV="1">
            <a:off x="4461748" y="4530444"/>
            <a:ext cx="189108" cy="236285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 flipV="1">
            <a:off x="4273042" y="4766728"/>
            <a:ext cx="188707" cy="236686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4085941" y="5003415"/>
            <a:ext cx="187101" cy="23528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 flipV="1">
            <a:off x="3897134" y="5238696"/>
            <a:ext cx="188807" cy="233374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3707324" y="5472070"/>
            <a:ext cx="189811" cy="234679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V="1">
            <a:off x="3518918" y="5706748"/>
            <a:ext cx="188405" cy="23528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V="1">
            <a:off x="3331316" y="5942029"/>
            <a:ext cx="187602" cy="235080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 flipV="1">
            <a:off x="8138616" y="6554322"/>
            <a:ext cx="580574" cy="212927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4" name="Shape 112"/>
          <p:cNvSpPr/>
          <p:nvPr/>
        </p:nvSpPr>
        <p:spPr>
          <a:xfrm flipV="1">
            <a:off x="6965925" y="6554322"/>
            <a:ext cx="1753265" cy="1188049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5" name="Shape 113"/>
          <p:cNvSpPr/>
          <p:nvPr/>
        </p:nvSpPr>
        <p:spPr>
          <a:xfrm flipV="1">
            <a:off x="9313315" y="9353643"/>
            <a:ext cx="562205" cy="27358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6" name="Shape 114"/>
          <p:cNvSpPr/>
          <p:nvPr/>
        </p:nvSpPr>
        <p:spPr>
          <a:xfrm flipV="1">
            <a:off x="6377923" y="6554322"/>
            <a:ext cx="2341267" cy="71568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7" name="Shape 115"/>
          <p:cNvSpPr/>
          <p:nvPr/>
        </p:nvSpPr>
        <p:spPr>
          <a:xfrm flipV="1">
            <a:off x="7552823" y="6554322"/>
            <a:ext cx="1166367" cy="165750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8" name="Shape 116"/>
          <p:cNvSpPr/>
          <p:nvPr/>
        </p:nvSpPr>
        <p:spPr>
          <a:xfrm flipV="1">
            <a:off x="320040" y="3344302"/>
            <a:ext cx="270413" cy="19211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19" name="Shape 117"/>
          <p:cNvSpPr/>
          <p:nvPr/>
        </p:nvSpPr>
        <p:spPr>
          <a:xfrm flipV="1">
            <a:off x="1676720" y="3953885"/>
            <a:ext cx="287778" cy="234698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0" name="Shape 118"/>
          <p:cNvSpPr/>
          <p:nvPr/>
        </p:nvSpPr>
        <p:spPr>
          <a:xfrm flipV="1">
            <a:off x="1676720" y="4334109"/>
            <a:ext cx="939217" cy="196676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1" name="Shape 119"/>
          <p:cNvSpPr/>
          <p:nvPr/>
        </p:nvSpPr>
        <p:spPr>
          <a:xfrm>
            <a:off x="1289068" y="3623648"/>
            <a:ext cx="387652" cy="267722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2" name="Shape 120"/>
          <p:cNvSpPr/>
          <p:nvPr/>
        </p:nvSpPr>
        <p:spPr>
          <a:xfrm flipV="1">
            <a:off x="1676720" y="5706748"/>
            <a:ext cx="2030603" cy="59412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3" name="Shape 121"/>
          <p:cNvSpPr/>
          <p:nvPr/>
        </p:nvSpPr>
        <p:spPr>
          <a:xfrm flipV="1">
            <a:off x="1676720" y="5942029"/>
            <a:ext cx="1842198" cy="35884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4" name="Shape 122"/>
          <p:cNvSpPr/>
          <p:nvPr/>
        </p:nvSpPr>
        <p:spPr>
          <a:xfrm flipV="1">
            <a:off x="1676720" y="6177110"/>
            <a:ext cx="1654596" cy="12376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5" name="Shape 123"/>
          <p:cNvSpPr/>
          <p:nvPr/>
        </p:nvSpPr>
        <p:spPr>
          <a:xfrm flipV="1">
            <a:off x="1090826" y="1298442"/>
            <a:ext cx="800030" cy="172997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6" name="Shape 124"/>
          <p:cNvSpPr/>
          <p:nvPr/>
        </p:nvSpPr>
        <p:spPr>
          <a:xfrm flipV="1">
            <a:off x="1676720" y="3975867"/>
            <a:ext cx="590812" cy="232500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7" name="Shape 125"/>
          <p:cNvSpPr/>
          <p:nvPr/>
        </p:nvSpPr>
        <p:spPr>
          <a:xfrm flipV="1">
            <a:off x="1676720" y="4754181"/>
            <a:ext cx="1563454" cy="154669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8" name="Shape 126"/>
          <p:cNvSpPr/>
          <p:nvPr/>
        </p:nvSpPr>
        <p:spPr>
          <a:xfrm flipV="1">
            <a:off x="561544" y="1298442"/>
            <a:ext cx="266014" cy="178769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flipV="1">
            <a:off x="1347387" y="1298442"/>
            <a:ext cx="598309" cy="146087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 flipV="1">
            <a:off x="1676720" y="4444120"/>
            <a:ext cx="1178814" cy="185675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 flipV="1">
            <a:off x="929924" y="1298442"/>
            <a:ext cx="641799" cy="83322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32" name="Shape 130"/>
          <p:cNvSpPr/>
          <p:nvPr/>
        </p:nvSpPr>
        <p:spPr>
          <a:xfrm flipV="1">
            <a:off x="1808413" y="2767442"/>
            <a:ext cx="2698404" cy="58639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 flipV="1">
            <a:off x="1676720" y="4916991"/>
            <a:ext cx="1767619" cy="138388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 flipV="1">
            <a:off x="1676720" y="3911526"/>
            <a:ext cx="636684" cy="238934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</p:sp>
      <p:sp>
        <p:nvSpPr>
          <p:cNvPr id="135" name="Shape 133"/>
          <p:cNvSpPr/>
          <p:nvPr/>
        </p:nvSpPr>
        <p:spPr>
          <a:xfrm flipV="1">
            <a:off x="5788416" y="5207981"/>
            <a:ext cx="2251129" cy="159226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36" name="Shape 134"/>
          <p:cNvSpPr/>
          <p:nvPr/>
        </p:nvSpPr>
        <p:spPr>
          <a:xfrm flipV="1">
            <a:off x="5203827" y="3840862"/>
            <a:ext cx="282658" cy="248691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37" name="Shape 135"/>
          <p:cNvSpPr/>
          <p:nvPr/>
        </p:nvSpPr>
        <p:spPr>
          <a:xfrm flipV="1">
            <a:off x="4615424" y="3840862"/>
            <a:ext cx="871062" cy="2013038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38" name="Shape 136"/>
          <p:cNvSpPr/>
          <p:nvPr/>
        </p:nvSpPr>
        <p:spPr>
          <a:xfrm flipV="1">
            <a:off x="4027824" y="3840862"/>
            <a:ext cx="1458662" cy="154428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39" name="Shape 137"/>
          <p:cNvSpPr/>
          <p:nvPr/>
        </p:nvSpPr>
        <p:spPr>
          <a:xfrm flipV="1">
            <a:off x="4650857" y="3840862"/>
            <a:ext cx="835629" cy="68958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0" name="Shape 138"/>
          <p:cNvSpPr/>
          <p:nvPr/>
        </p:nvSpPr>
        <p:spPr>
          <a:xfrm flipV="1">
            <a:off x="4461748" y="3840862"/>
            <a:ext cx="1024737" cy="92586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 flipV="1">
            <a:off x="4273042" y="3840862"/>
            <a:ext cx="1213444" cy="1162553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 flipV="1">
            <a:off x="4085941" y="3840862"/>
            <a:ext cx="1400544" cy="139783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 flipV="1">
            <a:off x="3897134" y="3840862"/>
            <a:ext cx="1589351" cy="1631208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144" name="Shape 142"/>
          <p:cNvSpPr/>
          <p:nvPr/>
        </p:nvSpPr>
        <p:spPr>
          <a:xfrm>
            <a:off x="5416222" y="3770598"/>
            <a:ext cx="140526" cy="140526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7969282" y="5137718"/>
            <a:ext cx="140526" cy="140526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5576824" y="366087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B00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P4.037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8129884" y="502799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B00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HH.E.058</a:t>
            </a:r>
            <a:endParaRPr lang="en-US" sz="650" dirty="0"/>
          </a:p>
        </p:txBody>
      </p:sp>
      <p:sp>
        <p:nvSpPr>
          <p:cNvPr id="148" name="Shape 146"/>
          <p:cNvSpPr/>
          <p:nvPr/>
        </p:nvSpPr>
        <p:spPr>
          <a:xfrm>
            <a:off x="3087402" y="6322353"/>
            <a:ext cx="2846258" cy="721803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3087402" y="4071626"/>
            <a:ext cx="570737" cy="2250728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3658139" y="4071626"/>
            <a:ext cx="2846358" cy="721803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933660" y="4793428"/>
            <a:ext cx="570837" cy="2250728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1280699" y="3797306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AREA — FIELD CONDITION (676.7 m² TOTAL)</a:t>
            </a:r>
            <a:endParaRPr lang="en-US" sz="800" dirty="0"/>
          </a:p>
        </p:txBody>
      </p:sp>
      <p:sp>
        <p:nvSpPr>
          <p:cNvPr id="153" name="Shape 151"/>
          <p:cNvSpPr/>
          <p:nvPr/>
        </p:nvSpPr>
        <p:spPr>
          <a:xfrm>
            <a:off x="8102128" y="695999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4477556" y="273818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8109355" y="865433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6936664" y="771311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251911" y="701670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550942" y="584200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3247651" y="260598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300003" y="144413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1249569" y="511909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4329502" y="365882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2731117" y="781388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9284054" y="959796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6348663" y="724074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759155" y="677098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174566" y="629851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4586163" y="582463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7523562" y="818256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561192" y="331504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1935237" y="392462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586676" y="430484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1259808" y="359438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823173" y="325431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1500107" y="356618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166101" y="392231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800878" y="432241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3998563" y="535588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3867873" y="544280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678063" y="567748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3489657" y="591276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3302055" y="614784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1061565" y="299915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238271" y="394660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3210913" y="472492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2284" y="144795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1318126" y="273005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826273" y="441486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900663" y="210240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1779152" y="332457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3415078" y="488773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2284143" y="388226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5457225" y="381160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8689929" y="652506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9115523" y="605399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5743095" y="317130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5953985" y="334174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4280619" y="174486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8010284" y="517872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9386" y="419463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1647459" y="627161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4632035" y="204006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990299" y="659401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1638325" y="834698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5755642" y="234270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8193953" y="687684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RRM.283</a:t>
            </a:r>
            <a:endParaRPr lang="en-US" sz="500" dirty="0"/>
          </a:p>
        </p:txBody>
      </p:sp>
      <p:sp>
        <p:nvSpPr>
          <p:cNvPr id="207" name="Text 205"/>
          <p:cNvSpPr/>
          <p:nvPr/>
        </p:nvSpPr>
        <p:spPr>
          <a:xfrm>
            <a:off x="4569381" y="265503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P4.036.399</a:t>
            </a:r>
            <a:endParaRPr lang="en-US" sz="500" dirty="0"/>
          </a:p>
        </p:txBody>
      </p:sp>
      <p:sp>
        <p:nvSpPr>
          <p:cNvPr id="208" name="Text 206"/>
          <p:cNvSpPr/>
          <p:nvPr/>
        </p:nvSpPr>
        <p:spPr>
          <a:xfrm>
            <a:off x="8201180" y="857118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TCCECH.04.005</a:t>
            </a:r>
            <a:endParaRPr lang="en-US" sz="500" dirty="0"/>
          </a:p>
        </p:txBody>
      </p:sp>
      <p:sp>
        <p:nvSpPr>
          <p:cNvPr id="209" name="Text 207"/>
          <p:cNvSpPr/>
          <p:nvPr/>
        </p:nvSpPr>
        <p:spPr>
          <a:xfrm>
            <a:off x="7028489" y="762996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TCCECH.04.004</a:t>
            </a:r>
            <a:endParaRPr lang="en-US" sz="500" dirty="0"/>
          </a:p>
        </p:txBody>
      </p:sp>
      <p:sp>
        <p:nvSpPr>
          <p:cNvPr id="210" name="Text 208"/>
          <p:cNvSpPr/>
          <p:nvPr/>
        </p:nvSpPr>
        <p:spPr>
          <a:xfrm>
            <a:off x="4343736" y="693355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RRM.547</a:t>
            </a:r>
            <a:endParaRPr lang="en-US" sz="500" dirty="0"/>
          </a:p>
        </p:txBody>
      </p:sp>
      <p:sp>
        <p:nvSpPr>
          <p:cNvPr id="211" name="Text 209"/>
          <p:cNvSpPr/>
          <p:nvPr/>
        </p:nvSpPr>
        <p:spPr>
          <a:xfrm>
            <a:off x="2642767" y="575885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RRM.548</a:t>
            </a:r>
            <a:endParaRPr lang="en-US" sz="500" dirty="0"/>
          </a:p>
        </p:txBody>
      </p:sp>
      <p:sp>
        <p:nvSpPr>
          <p:cNvPr id="212" name="Text 210"/>
          <p:cNvSpPr/>
          <p:nvPr/>
        </p:nvSpPr>
        <p:spPr>
          <a:xfrm>
            <a:off x="3339475" y="252283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RRM.558</a:t>
            </a:r>
            <a:endParaRPr lang="en-US" sz="500" dirty="0"/>
          </a:p>
        </p:txBody>
      </p:sp>
      <p:sp>
        <p:nvSpPr>
          <p:cNvPr id="213" name="Text 211"/>
          <p:cNvSpPr/>
          <p:nvPr/>
        </p:nvSpPr>
        <p:spPr>
          <a:xfrm>
            <a:off x="2391827" y="136098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RRM.559</a:t>
            </a:r>
            <a:endParaRPr lang="en-US" sz="500" dirty="0"/>
          </a:p>
        </p:txBody>
      </p:sp>
      <p:sp>
        <p:nvSpPr>
          <p:cNvPr id="214" name="Text 212"/>
          <p:cNvSpPr/>
          <p:nvPr/>
        </p:nvSpPr>
        <p:spPr>
          <a:xfrm>
            <a:off x="1341394" y="503594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RRM.655</a:t>
            </a:r>
            <a:endParaRPr lang="en-US" sz="500" dirty="0"/>
          </a:p>
        </p:txBody>
      </p:sp>
      <p:sp>
        <p:nvSpPr>
          <p:cNvPr id="215" name="Text 213"/>
          <p:cNvSpPr/>
          <p:nvPr/>
        </p:nvSpPr>
        <p:spPr>
          <a:xfrm>
            <a:off x="4421326" y="357568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RRM.669</a:t>
            </a:r>
            <a:endParaRPr lang="en-US" sz="500" dirty="0"/>
          </a:p>
        </p:txBody>
      </p:sp>
      <p:sp>
        <p:nvSpPr>
          <p:cNvPr id="216" name="Text 214"/>
          <p:cNvSpPr/>
          <p:nvPr/>
        </p:nvSpPr>
        <p:spPr>
          <a:xfrm>
            <a:off x="2822941" y="773073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HH.E.144</a:t>
            </a:r>
            <a:endParaRPr lang="en-US" sz="500" dirty="0"/>
          </a:p>
        </p:txBody>
      </p:sp>
      <p:sp>
        <p:nvSpPr>
          <p:cNvPr id="217" name="Text 215"/>
          <p:cNvSpPr/>
          <p:nvPr/>
        </p:nvSpPr>
        <p:spPr>
          <a:xfrm>
            <a:off x="9375878" y="951482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TCCECH.03.006</a:t>
            </a:r>
            <a:endParaRPr lang="en-US" sz="500" dirty="0"/>
          </a:p>
        </p:txBody>
      </p:sp>
      <p:sp>
        <p:nvSpPr>
          <p:cNvPr id="218" name="Text 216"/>
          <p:cNvSpPr/>
          <p:nvPr/>
        </p:nvSpPr>
        <p:spPr>
          <a:xfrm>
            <a:off x="6440487" y="715759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TCCECH.03.004</a:t>
            </a:r>
            <a:endParaRPr lang="en-US" sz="500" dirty="0"/>
          </a:p>
        </p:txBody>
      </p:sp>
      <p:sp>
        <p:nvSpPr>
          <p:cNvPr id="219" name="Text 217"/>
          <p:cNvSpPr/>
          <p:nvPr/>
        </p:nvSpPr>
        <p:spPr>
          <a:xfrm>
            <a:off x="5850980" y="668783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TCCECH.04.003</a:t>
            </a:r>
            <a:endParaRPr lang="en-US" sz="500" dirty="0"/>
          </a:p>
        </p:txBody>
      </p:sp>
      <p:sp>
        <p:nvSpPr>
          <p:cNvPr id="220" name="Text 218"/>
          <p:cNvSpPr/>
          <p:nvPr/>
        </p:nvSpPr>
        <p:spPr>
          <a:xfrm>
            <a:off x="5266391" y="621536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TCCECH.03.003</a:t>
            </a:r>
            <a:endParaRPr lang="en-US" sz="500" dirty="0"/>
          </a:p>
        </p:txBody>
      </p:sp>
      <p:sp>
        <p:nvSpPr>
          <p:cNvPr id="221" name="Text 219"/>
          <p:cNvSpPr/>
          <p:nvPr/>
        </p:nvSpPr>
        <p:spPr>
          <a:xfrm>
            <a:off x="4677987" y="574149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TCCECH.04.002</a:t>
            </a:r>
            <a:endParaRPr lang="en-US" sz="500" dirty="0"/>
          </a:p>
        </p:txBody>
      </p:sp>
      <p:sp>
        <p:nvSpPr>
          <p:cNvPr id="222" name="Text 220"/>
          <p:cNvSpPr/>
          <p:nvPr/>
        </p:nvSpPr>
        <p:spPr>
          <a:xfrm>
            <a:off x="7615386" y="809942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TCCECH.03.005</a:t>
            </a:r>
            <a:endParaRPr lang="en-US" sz="500" dirty="0"/>
          </a:p>
        </p:txBody>
      </p:sp>
      <p:sp>
        <p:nvSpPr>
          <p:cNvPr id="223" name="Text 221"/>
          <p:cNvSpPr/>
          <p:nvPr/>
        </p:nvSpPr>
        <p:spPr>
          <a:xfrm>
            <a:off x="653016" y="323189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TCCECH.05.034</a:t>
            </a:r>
            <a:endParaRPr lang="en-US" sz="500" dirty="0"/>
          </a:p>
        </p:txBody>
      </p:sp>
      <p:sp>
        <p:nvSpPr>
          <p:cNvPr id="224" name="Text 222"/>
          <p:cNvSpPr/>
          <p:nvPr/>
        </p:nvSpPr>
        <p:spPr>
          <a:xfrm>
            <a:off x="2027061" y="384147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TCCECH.05.033</a:t>
            </a:r>
            <a:endParaRPr lang="en-US" sz="500" dirty="0"/>
          </a:p>
        </p:txBody>
      </p:sp>
      <p:sp>
        <p:nvSpPr>
          <p:cNvPr id="225" name="Text 223"/>
          <p:cNvSpPr/>
          <p:nvPr/>
        </p:nvSpPr>
        <p:spPr>
          <a:xfrm>
            <a:off x="2678500" y="422170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TCCECH.06.035</a:t>
            </a:r>
            <a:endParaRPr lang="en-US" sz="500" dirty="0"/>
          </a:p>
        </p:txBody>
      </p:sp>
      <p:sp>
        <p:nvSpPr>
          <p:cNvPr id="226" name="Text 224"/>
          <p:cNvSpPr/>
          <p:nvPr/>
        </p:nvSpPr>
        <p:spPr>
          <a:xfrm>
            <a:off x="1351632" y="351123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TCCECH.06.036</a:t>
            </a:r>
            <a:endParaRPr lang="en-US" sz="500" dirty="0"/>
          </a:p>
        </p:txBody>
      </p:sp>
      <p:sp>
        <p:nvSpPr>
          <p:cNvPr id="227" name="Text 225"/>
          <p:cNvSpPr/>
          <p:nvPr/>
        </p:nvSpPr>
        <p:spPr>
          <a:xfrm>
            <a:off x="914997" y="317116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EL.EBASE.13328</a:t>
            </a:r>
            <a:endParaRPr lang="en-US" sz="500" dirty="0"/>
          </a:p>
        </p:txBody>
      </p:sp>
      <p:sp>
        <p:nvSpPr>
          <p:cNvPr id="228" name="Text 226"/>
          <p:cNvSpPr/>
          <p:nvPr/>
        </p:nvSpPr>
        <p:spPr>
          <a:xfrm>
            <a:off x="1591932" y="348303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EL.EBASE.13329</a:t>
            </a:r>
            <a:endParaRPr lang="en-US" sz="500" dirty="0"/>
          </a:p>
        </p:txBody>
      </p:sp>
      <p:sp>
        <p:nvSpPr>
          <p:cNvPr id="229" name="Text 227"/>
          <p:cNvSpPr/>
          <p:nvPr/>
        </p:nvSpPr>
        <p:spPr>
          <a:xfrm>
            <a:off x="2257926" y="383916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EL.EBASE.13330</a:t>
            </a:r>
            <a:endParaRPr lang="en-US" sz="500" dirty="0"/>
          </a:p>
        </p:txBody>
      </p:sp>
      <p:sp>
        <p:nvSpPr>
          <p:cNvPr id="230" name="Text 228"/>
          <p:cNvSpPr/>
          <p:nvPr/>
        </p:nvSpPr>
        <p:spPr>
          <a:xfrm>
            <a:off x="2892702" y="423926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EL.EBASE.13331</a:t>
            </a:r>
            <a:endParaRPr lang="en-US" sz="500" dirty="0"/>
          </a:p>
        </p:txBody>
      </p:sp>
      <p:sp>
        <p:nvSpPr>
          <p:cNvPr id="231" name="Text 229"/>
          <p:cNvSpPr/>
          <p:nvPr/>
        </p:nvSpPr>
        <p:spPr>
          <a:xfrm>
            <a:off x="4090387" y="527273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TCCECH.03.002</a:t>
            </a:r>
            <a:endParaRPr lang="en-US" sz="500" dirty="0"/>
          </a:p>
        </p:txBody>
      </p:sp>
      <p:sp>
        <p:nvSpPr>
          <p:cNvPr id="232" name="Text 230"/>
          <p:cNvSpPr/>
          <p:nvPr/>
        </p:nvSpPr>
        <p:spPr>
          <a:xfrm>
            <a:off x="3959698" y="535966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SBC102.01.040</a:t>
            </a:r>
            <a:endParaRPr lang="en-US" sz="500" dirty="0"/>
          </a:p>
        </p:txBody>
      </p:sp>
      <p:sp>
        <p:nvSpPr>
          <p:cNvPr id="233" name="Text 231"/>
          <p:cNvSpPr/>
          <p:nvPr/>
        </p:nvSpPr>
        <p:spPr>
          <a:xfrm>
            <a:off x="3769887" y="559434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SBC102.02.037</a:t>
            </a:r>
            <a:endParaRPr lang="en-US" sz="500" dirty="0"/>
          </a:p>
        </p:txBody>
      </p:sp>
      <p:sp>
        <p:nvSpPr>
          <p:cNvPr id="234" name="Text 232"/>
          <p:cNvSpPr/>
          <p:nvPr/>
        </p:nvSpPr>
        <p:spPr>
          <a:xfrm>
            <a:off x="3581482" y="582962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SBC102.01.041</a:t>
            </a:r>
            <a:endParaRPr lang="en-US" sz="500" dirty="0"/>
          </a:p>
        </p:txBody>
      </p:sp>
      <p:sp>
        <p:nvSpPr>
          <p:cNvPr id="235" name="Text 233"/>
          <p:cNvSpPr/>
          <p:nvPr/>
        </p:nvSpPr>
        <p:spPr>
          <a:xfrm>
            <a:off x="3393879" y="606470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SBC102.02.038</a:t>
            </a:r>
            <a:endParaRPr lang="en-US" sz="500" dirty="0"/>
          </a:p>
        </p:txBody>
      </p:sp>
      <p:sp>
        <p:nvSpPr>
          <p:cNvPr id="236" name="Text 234"/>
          <p:cNvSpPr/>
          <p:nvPr/>
        </p:nvSpPr>
        <p:spPr>
          <a:xfrm>
            <a:off x="1153390" y="291601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TCC102.01.052</a:t>
            </a:r>
            <a:endParaRPr lang="en-US" sz="500" dirty="0"/>
          </a:p>
        </p:txBody>
      </p:sp>
      <p:sp>
        <p:nvSpPr>
          <p:cNvPr id="237" name="Text 235"/>
          <p:cNvSpPr/>
          <p:nvPr/>
        </p:nvSpPr>
        <p:spPr>
          <a:xfrm>
            <a:off x="2330096" y="386345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TCC102.02.050</a:t>
            </a:r>
            <a:endParaRPr lang="en-US" sz="500" dirty="0"/>
          </a:p>
        </p:txBody>
      </p:sp>
      <p:sp>
        <p:nvSpPr>
          <p:cNvPr id="238" name="Text 236"/>
          <p:cNvSpPr/>
          <p:nvPr/>
        </p:nvSpPr>
        <p:spPr>
          <a:xfrm>
            <a:off x="3302738" y="464177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TCCECH.03.001</a:t>
            </a:r>
            <a:endParaRPr lang="en-US" sz="500" dirty="0"/>
          </a:p>
        </p:txBody>
      </p:sp>
      <p:sp>
        <p:nvSpPr>
          <p:cNvPr id="239" name="Text 237"/>
          <p:cNvSpPr/>
          <p:nvPr/>
        </p:nvSpPr>
        <p:spPr>
          <a:xfrm>
            <a:off x="624108" y="136480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TCCECH.05.016</a:t>
            </a:r>
            <a:endParaRPr lang="en-US" sz="500" dirty="0"/>
          </a:p>
        </p:txBody>
      </p:sp>
      <p:sp>
        <p:nvSpPr>
          <p:cNvPr id="240" name="Text 238"/>
          <p:cNvSpPr/>
          <p:nvPr/>
        </p:nvSpPr>
        <p:spPr>
          <a:xfrm>
            <a:off x="1409950" y="264690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TCCECH.05.017</a:t>
            </a:r>
            <a:endParaRPr lang="en-US" sz="500" dirty="0"/>
          </a:p>
        </p:txBody>
      </p:sp>
      <p:sp>
        <p:nvSpPr>
          <p:cNvPr id="241" name="Text 239"/>
          <p:cNvSpPr/>
          <p:nvPr/>
        </p:nvSpPr>
        <p:spPr>
          <a:xfrm>
            <a:off x="2918098" y="433171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TCCECH.06.019</a:t>
            </a:r>
            <a:endParaRPr lang="en-US" sz="500" dirty="0"/>
          </a:p>
        </p:txBody>
      </p:sp>
      <p:sp>
        <p:nvSpPr>
          <p:cNvPr id="242" name="Text 240"/>
          <p:cNvSpPr/>
          <p:nvPr/>
        </p:nvSpPr>
        <p:spPr>
          <a:xfrm>
            <a:off x="992487" y="201925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TCCECH.06.017</a:t>
            </a:r>
            <a:endParaRPr lang="en-US" sz="500" dirty="0"/>
          </a:p>
        </p:txBody>
      </p:sp>
      <p:sp>
        <p:nvSpPr>
          <p:cNvPr id="243" name="Text 241"/>
          <p:cNvSpPr/>
          <p:nvPr/>
        </p:nvSpPr>
        <p:spPr>
          <a:xfrm>
            <a:off x="1870977" y="324142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TCCECH.06.018</a:t>
            </a:r>
            <a:endParaRPr lang="en-US" sz="500" dirty="0"/>
          </a:p>
        </p:txBody>
      </p:sp>
      <p:sp>
        <p:nvSpPr>
          <p:cNvPr id="244" name="Text 242"/>
          <p:cNvSpPr/>
          <p:nvPr/>
        </p:nvSpPr>
        <p:spPr>
          <a:xfrm>
            <a:off x="3506902" y="480458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TCCECH.04.001</a:t>
            </a:r>
            <a:endParaRPr lang="en-US" sz="500" dirty="0"/>
          </a:p>
        </p:txBody>
      </p:sp>
      <p:sp>
        <p:nvSpPr>
          <p:cNvPr id="245" name="Text 243"/>
          <p:cNvSpPr/>
          <p:nvPr/>
        </p:nvSpPr>
        <p:spPr>
          <a:xfrm>
            <a:off x="2375968" y="379911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TCCECH.05.018</a:t>
            </a:r>
            <a:endParaRPr lang="en-US" sz="500" dirty="0"/>
          </a:p>
        </p:txBody>
      </p:sp>
      <p:sp>
        <p:nvSpPr>
          <p:cNvPr id="246" name="Text 244"/>
          <p:cNvSpPr/>
          <p:nvPr/>
        </p:nvSpPr>
        <p:spPr>
          <a:xfrm>
            <a:off x="5549049" y="372845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P4.037</a:t>
            </a:r>
            <a:endParaRPr lang="en-US" sz="500" dirty="0"/>
          </a:p>
        </p:txBody>
      </p:sp>
      <p:sp>
        <p:nvSpPr>
          <p:cNvPr id="247" name="Text 245"/>
          <p:cNvSpPr/>
          <p:nvPr/>
        </p:nvSpPr>
        <p:spPr>
          <a:xfrm>
            <a:off x="8781754" y="644191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P4.039</a:t>
            </a:r>
            <a:endParaRPr lang="en-US" sz="500" dirty="0"/>
          </a:p>
        </p:txBody>
      </p:sp>
      <p:sp>
        <p:nvSpPr>
          <p:cNvPr id="248" name="Text 246"/>
          <p:cNvSpPr/>
          <p:nvPr/>
        </p:nvSpPr>
        <p:spPr>
          <a:xfrm>
            <a:off x="9207347" y="597084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HH.E.057</a:t>
            </a:r>
            <a:endParaRPr lang="en-US" sz="500" dirty="0"/>
          </a:p>
        </p:txBody>
      </p:sp>
      <p:sp>
        <p:nvSpPr>
          <p:cNvPr id="249" name="Text 247"/>
          <p:cNvSpPr/>
          <p:nvPr/>
        </p:nvSpPr>
        <p:spPr>
          <a:xfrm>
            <a:off x="5834919" y="308815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HH.E.061</a:t>
            </a:r>
            <a:endParaRPr lang="en-US" sz="500" dirty="0"/>
          </a:p>
        </p:txBody>
      </p:sp>
      <p:sp>
        <p:nvSpPr>
          <p:cNvPr id="250" name="Text 248"/>
          <p:cNvSpPr/>
          <p:nvPr/>
        </p:nvSpPr>
        <p:spPr>
          <a:xfrm>
            <a:off x="6045809" y="325859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HH.E.060</a:t>
            </a:r>
            <a:endParaRPr lang="en-US" sz="500" dirty="0"/>
          </a:p>
        </p:txBody>
      </p:sp>
      <p:sp>
        <p:nvSpPr>
          <p:cNvPr id="251" name="Text 249"/>
          <p:cNvSpPr/>
          <p:nvPr/>
        </p:nvSpPr>
        <p:spPr>
          <a:xfrm>
            <a:off x="4372443" y="166171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HH.E4.010</a:t>
            </a:r>
            <a:endParaRPr lang="en-US" sz="500" dirty="0"/>
          </a:p>
        </p:txBody>
      </p:sp>
      <p:sp>
        <p:nvSpPr>
          <p:cNvPr id="252" name="Text 250"/>
          <p:cNvSpPr/>
          <p:nvPr/>
        </p:nvSpPr>
        <p:spPr>
          <a:xfrm>
            <a:off x="8102109" y="509557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HH.E.058</a:t>
            </a:r>
            <a:endParaRPr lang="en-US" sz="500" dirty="0"/>
          </a:p>
        </p:txBody>
      </p:sp>
      <p:sp>
        <p:nvSpPr>
          <p:cNvPr id="253" name="Text 251"/>
          <p:cNvSpPr/>
          <p:nvPr/>
        </p:nvSpPr>
        <p:spPr>
          <a:xfrm>
            <a:off x="7141211" y="4111487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HH.E.059</a:t>
            </a:r>
            <a:endParaRPr lang="en-US" sz="500" dirty="0"/>
          </a:p>
        </p:txBody>
      </p:sp>
      <p:sp>
        <p:nvSpPr>
          <p:cNvPr id="254" name="Text 252"/>
          <p:cNvSpPr/>
          <p:nvPr/>
        </p:nvSpPr>
        <p:spPr>
          <a:xfrm>
            <a:off x="1739284" y="6188464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P4.041</a:t>
            </a:r>
            <a:endParaRPr lang="en-US" sz="500" dirty="0"/>
          </a:p>
        </p:txBody>
      </p:sp>
      <p:sp>
        <p:nvSpPr>
          <p:cNvPr id="255" name="Text 253"/>
          <p:cNvSpPr/>
          <p:nvPr/>
        </p:nvSpPr>
        <p:spPr>
          <a:xfrm>
            <a:off x="4723859" y="1956919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MH.E.015</a:t>
            </a:r>
            <a:endParaRPr lang="en-US" sz="500" dirty="0"/>
          </a:p>
        </p:txBody>
      </p:sp>
      <p:sp>
        <p:nvSpPr>
          <p:cNvPr id="256" name="Text 254"/>
          <p:cNvSpPr/>
          <p:nvPr/>
        </p:nvSpPr>
        <p:spPr>
          <a:xfrm>
            <a:off x="1082123" y="6510871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MH.E.023</a:t>
            </a:r>
            <a:endParaRPr lang="en-US" sz="500" dirty="0"/>
          </a:p>
        </p:txBody>
      </p:sp>
      <p:sp>
        <p:nvSpPr>
          <p:cNvPr id="257" name="Text 255"/>
          <p:cNvSpPr/>
          <p:nvPr/>
        </p:nvSpPr>
        <p:spPr>
          <a:xfrm>
            <a:off x="1730149" y="8263835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SGC102.02.015</a:t>
            </a:r>
            <a:endParaRPr lang="en-US" sz="500" dirty="0"/>
          </a:p>
        </p:txBody>
      </p:sp>
      <p:sp>
        <p:nvSpPr>
          <p:cNvPr id="258" name="Text 256"/>
          <p:cNvSpPr/>
          <p:nvPr/>
        </p:nvSpPr>
        <p:spPr>
          <a:xfrm>
            <a:off x="5847466" y="2259553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SGC102.02.014</a:t>
            </a:r>
            <a:endParaRPr lang="en-US" sz="500" dirty="0"/>
          </a:p>
        </p:txBody>
      </p:sp>
      <p:sp>
        <p:nvSpPr>
          <p:cNvPr id="259" name="Shape 257"/>
          <p:cNvSpPr/>
          <p:nvPr/>
        </p:nvSpPr>
        <p:spPr>
          <a:xfrm>
            <a:off x="4545701" y="4425288"/>
            <a:ext cx="210312" cy="210312"/>
          </a:xfrm>
          <a:prstGeom prst="ellipse">
            <a:avLst/>
          </a:prstGeom>
          <a:ln w="28575">
            <a:solidFill>
              <a:srgbClr val="E8710A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4595993" y="4475580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61" name="Text 259"/>
          <p:cNvSpPr/>
          <p:nvPr/>
        </p:nvSpPr>
        <p:spPr>
          <a:xfrm>
            <a:off x="4769729" y="431098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SBC102-01/038</a:t>
            </a:r>
            <a:endParaRPr lang="en-US" sz="650" dirty="0"/>
          </a:p>
        </p:txBody>
      </p:sp>
      <p:sp>
        <p:nvSpPr>
          <p:cNvPr id="262" name="Shape 260"/>
          <p:cNvSpPr/>
          <p:nvPr/>
        </p:nvSpPr>
        <p:spPr>
          <a:xfrm>
            <a:off x="4167886" y="4898259"/>
            <a:ext cx="210312" cy="210312"/>
          </a:xfrm>
          <a:prstGeom prst="ellipse">
            <a:avLst/>
          </a:prstGeom>
          <a:ln w="28575">
            <a:solidFill>
              <a:srgbClr val="E8710A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4218178" y="4948551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64" name="Text 262"/>
          <p:cNvSpPr/>
          <p:nvPr/>
        </p:nvSpPr>
        <p:spPr>
          <a:xfrm>
            <a:off x="4391914" y="4783959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SBC102-01/039</a:t>
            </a:r>
            <a:endParaRPr lang="en-US" sz="650" dirty="0"/>
          </a:p>
        </p:txBody>
      </p:sp>
      <p:sp>
        <p:nvSpPr>
          <p:cNvPr id="265" name="Shape 263"/>
          <p:cNvSpPr/>
          <p:nvPr/>
        </p:nvSpPr>
        <p:spPr>
          <a:xfrm>
            <a:off x="4356592" y="4661572"/>
            <a:ext cx="210312" cy="210312"/>
          </a:xfrm>
          <a:prstGeom prst="ellipse">
            <a:avLst/>
          </a:prstGeom>
          <a:ln w="28575">
            <a:solidFill>
              <a:srgbClr val="E8710A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4406884" y="4711864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67" name="Text 265"/>
          <p:cNvSpPr/>
          <p:nvPr/>
        </p:nvSpPr>
        <p:spPr>
          <a:xfrm>
            <a:off x="4580620" y="45472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SBC102-02/035</a:t>
            </a:r>
            <a:endParaRPr lang="en-US" sz="650" dirty="0"/>
          </a:p>
        </p:txBody>
      </p:sp>
      <p:sp>
        <p:nvSpPr>
          <p:cNvPr id="268" name="Shape 266"/>
          <p:cNvSpPr/>
          <p:nvPr/>
        </p:nvSpPr>
        <p:spPr>
          <a:xfrm>
            <a:off x="3980785" y="5133540"/>
            <a:ext cx="210312" cy="210312"/>
          </a:xfrm>
          <a:prstGeom prst="ellipse">
            <a:avLst/>
          </a:prstGeom>
          <a:ln w="28575">
            <a:solidFill>
              <a:srgbClr val="E8710A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4031077" y="5183832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70" name="Text 268"/>
          <p:cNvSpPr/>
          <p:nvPr/>
        </p:nvSpPr>
        <p:spPr>
          <a:xfrm>
            <a:off x="4204813" y="501924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SBC102-02/036</a:t>
            </a:r>
            <a:endParaRPr lang="en-US" sz="650" dirty="0"/>
          </a:p>
        </p:txBody>
      </p:sp>
      <p:sp>
        <p:nvSpPr>
          <p:cNvPr id="271" name="Shape 269"/>
          <p:cNvSpPr/>
          <p:nvPr/>
        </p:nvSpPr>
        <p:spPr>
          <a:xfrm>
            <a:off x="3791978" y="5366914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3842270" y="5417206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73" name="Text 271"/>
          <p:cNvSpPr/>
          <p:nvPr/>
        </p:nvSpPr>
        <p:spPr>
          <a:xfrm>
            <a:off x="4016006" y="5252614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SBC102-01/040</a:t>
            </a:r>
            <a:endParaRPr lang="en-US" sz="650" dirty="0"/>
          </a:p>
        </p:txBody>
      </p:sp>
      <p:sp>
        <p:nvSpPr>
          <p:cNvPr id="274" name="Shape 272"/>
          <p:cNvSpPr/>
          <p:nvPr/>
        </p:nvSpPr>
        <p:spPr>
          <a:xfrm>
            <a:off x="3413762" y="5836873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3464054" y="5887165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76" name="Text 274"/>
          <p:cNvSpPr/>
          <p:nvPr/>
        </p:nvSpPr>
        <p:spPr>
          <a:xfrm>
            <a:off x="3637790" y="5722573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SBC102-01/041</a:t>
            </a:r>
            <a:endParaRPr lang="en-US" sz="650" dirty="0"/>
          </a:p>
        </p:txBody>
      </p:sp>
      <p:sp>
        <p:nvSpPr>
          <p:cNvPr id="277" name="Shape 275"/>
          <p:cNvSpPr/>
          <p:nvPr/>
        </p:nvSpPr>
        <p:spPr>
          <a:xfrm>
            <a:off x="3602168" y="5601592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3652460" y="5651884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79" name="Text 277"/>
          <p:cNvSpPr/>
          <p:nvPr/>
        </p:nvSpPr>
        <p:spPr>
          <a:xfrm>
            <a:off x="3826196" y="548729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SBC102-02/037</a:t>
            </a:r>
            <a:endParaRPr lang="en-US" sz="650" dirty="0"/>
          </a:p>
        </p:txBody>
      </p:sp>
      <p:sp>
        <p:nvSpPr>
          <p:cNvPr id="280" name="Shape 278"/>
          <p:cNvSpPr/>
          <p:nvPr/>
        </p:nvSpPr>
        <p:spPr>
          <a:xfrm>
            <a:off x="3226160" y="6071954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3276452" y="6122246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82" name="Text 280"/>
          <p:cNvSpPr/>
          <p:nvPr/>
        </p:nvSpPr>
        <p:spPr>
          <a:xfrm>
            <a:off x="3450188" y="5957654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SBC102-02/038</a:t>
            </a:r>
            <a:endParaRPr lang="en-US" sz="650" dirty="0"/>
          </a:p>
        </p:txBody>
      </p:sp>
      <p:sp>
        <p:nvSpPr>
          <p:cNvPr id="283" name="Shape 281"/>
          <p:cNvSpPr/>
          <p:nvPr/>
        </p:nvSpPr>
        <p:spPr>
          <a:xfrm>
            <a:off x="3922668" y="5279988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3972960" y="5330280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85" name="Text 283"/>
          <p:cNvSpPr/>
          <p:nvPr/>
        </p:nvSpPr>
        <p:spPr>
          <a:xfrm>
            <a:off x="4146696" y="516568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TCCECH-03/002</a:t>
            </a:r>
            <a:endParaRPr lang="en-US" sz="650" dirty="0"/>
          </a:p>
        </p:txBody>
      </p:sp>
      <p:sp>
        <p:nvSpPr>
          <p:cNvPr id="286" name="Shape 284"/>
          <p:cNvSpPr/>
          <p:nvPr/>
        </p:nvSpPr>
        <p:spPr>
          <a:xfrm>
            <a:off x="4510268" y="5748743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4560560" y="5799035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88" name="Text 286"/>
          <p:cNvSpPr/>
          <p:nvPr/>
        </p:nvSpPr>
        <p:spPr>
          <a:xfrm>
            <a:off x="4734296" y="5634443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TCCECH-04/002</a:t>
            </a:r>
            <a:endParaRPr lang="en-US" sz="650" dirty="0"/>
          </a:p>
        </p:txBody>
      </p:sp>
      <p:sp>
        <p:nvSpPr>
          <p:cNvPr id="289" name="Shape 287"/>
          <p:cNvSpPr/>
          <p:nvPr/>
        </p:nvSpPr>
        <p:spPr>
          <a:xfrm>
            <a:off x="5098671" y="6222618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5148963" y="6272910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91" name="Text 289"/>
          <p:cNvSpPr/>
          <p:nvPr/>
        </p:nvSpPr>
        <p:spPr>
          <a:xfrm>
            <a:off x="5322699" y="610831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TCCECH-03/003</a:t>
            </a:r>
            <a:endParaRPr lang="en-US" sz="650" dirty="0"/>
          </a:p>
        </p:txBody>
      </p:sp>
      <p:sp>
        <p:nvSpPr>
          <p:cNvPr id="292" name="Shape 290"/>
          <p:cNvSpPr/>
          <p:nvPr/>
        </p:nvSpPr>
        <p:spPr>
          <a:xfrm>
            <a:off x="5683260" y="6695087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5733552" y="6745379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294" name="Text 292"/>
          <p:cNvSpPr/>
          <p:nvPr/>
        </p:nvSpPr>
        <p:spPr>
          <a:xfrm>
            <a:off x="5907288" y="6580787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TCCECH-04/003</a:t>
            </a:r>
            <a:endParaRPr lang="en-US" sz="650" dirty="0"/>
          </a:p>
        </p:txBody>
      </p:sp>
      <p:sp>
        <p:nvSpPr>
          <p:cNvPr id="295" name="Shape 293"/>
          <p:cNvSpPr/>
          <p:nvPr/>
        </p:nvSpPr>
        <p:spPr>
          <a:xfrm>
            <a:off x="6510959" y="5567966"/>
            <a:ext cx="210312" cy="210312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6561251" y="5618258"/>
            <a:ext cx="109728" cy="109728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7" name="Text 295"/>
          <p:cNvSpPr/>
          <p:nvPr/>
        </p:nvSpPr>
        <p:spPr>
          <a:xfrm>
            <a:off x="6734987" y="5453666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RRM.557</a:t>
            </a:r>
            <a:endParaRPr lang="en-US" sz="650" dirty="0"/>
          </a:p>
        </p:txBody>
      </p:sp>
      <p:sp>
        <p:nvSpPr>
          <p:cNvPr id="298" name="Shape 296"/>
          <p:cNvSpPr/>
          <p:nvPr/>
        </p:nvSpPr>
        <p:spPr>
          <a:xfrm>
            <a:off x="5387252" y="4581071"/>
            <a:ext cx="210312" cy="210312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5437544" y="4631363"/>
            <a:ext cx="109728" cy="109728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0" name="Text 298"/>
          <p:cNvSpPr/>
          <p:nvPr/>
        </p:nvSpPr>
        <p:spPr>
          <a:xfrm>
            <a:off x="5611280" y="4466771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RRM.670</a:t>
            </a:r>
            <a:endParaRPr lang="en-US" sz="650" dirty="0"/>
          </a:p>
        </p:txBody>
      </p:sp>
      <p:sp>
        <p:nvSpPr>
          <p:cNvPr id="301" name="Shape 299"/>
          <p:cNvSpPr/>
          <p:nvPr/>
        </p:nvSpPr>
        <p:spPr>
          <a:xfrm>
            <a:off x="10104120" y="777240"/>
            <a:ext cx="4709160" cy="1170432"/>
          </a:xfrm>
          <a:prstGeom prst="rect">
            <a:avLst/>
          </a:prstGeom>
          <a:solidFill>
            <a:srgbClr val="1E2761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302" name="Text 300"/>
          <p:cNvSpPr/>
          <p:nvPr/>
        </p:nvSpPr>
        <p:spPr>
          <a:xfrm>
            <a:off x="10241280" y="86868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3 — 1003  ·  REV P05 (EDITABLE)</a:t>
            </a:r>
            <a:endParaRPr lang="en-US" sz="1250" dirty="0"/>
          </a:p>
        </p:txBody>
      </p:sp>
      <p:sp>
        <p:nvSpPr>
          <p:cNvPr id="303" name="Text 301"/>
          <p:cNvSpPr/>
          <p:nvPr/>
        </p:nvSpPr>
        <p:spPr>
          <a:xfrm>
            <a:off x="10241280" y="117957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PER FIELD SHEET Second_milling_area rev _1 — FIELD CONDITION GOVERNS (rev _1 supersedes earlier all-NO rev)</a:t>
            </a:r>
            <a:endParaRPr lang="en-US" sz="800" dirty="0"/>
          </a:p>
        </p:txBody>
      </p:sp>
      <p:sp>
        <p:nvSpPr>
          <p:cNvPr id="304" name="Text 302"/>
          <p:cNvSpPr/>
          <p:nvPr/>
        </p:nvSpPr>
        <p:spPr>
          <a:xfrm>
            <a:off x="10241280" y="160020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1:250 @ A1 equivalent · UTM 40N · Issued 28.07.2026 · Prepared: Mohammed, AGL Team Leader — ADB SAFEGATE</a:t>
            </a:r>
            <a:endParaRPr lang="en-US" sz="700" dirty="0"/>
          </a:p>
        </p:txBody>
      </p:sp>
      <p:sp>
        <p:nvSpPr>
          <p:cNvPr id="305" name="Shape 303"/>
          <p:cNvSpPr/>
          <p:nvPr/>
        </p:nvSpPr>
        <p:spPr>
          <a:xfrm>
            <a:off x="10104120" y="2057400"/>
            <a:ext cx="4709160" cy="2040026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306" name="Text 304"/>
          <p:cNvSpPr/>
          <p:nvPr/>
        </p:nvSpPr>
        <p:spPr>
          <a:xfrm>
            <a:off x="10241280" y="2130552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/ QUANTITIES (PER FIELD VERIFICATION)</a:t>
            </a:r>
            <a:endParaRPr lang="en-US" sz="950" dirty="0"/>
          </a:p>
        </p:txBody>
      </p:sp>
      <p:sp>
        <p:nvSpPr>
          <p:cNvPr id="307" name="Text 305"/>
          <p:cNvSpPr/>
          <p:nvPr/>
        </p:nvSpPr>
        <p:spPr>
          <a:xfrm>
            <a:off x="10241280" y="2386584"/>
            <a:ext cx="4434840" cy="1655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CORING AT THIS LOCATION — SECONDARY CABLES ONLY (12 RUNS)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CABLE VIA SAWCUT: 4 No. — SBC102-01/038, 01/039, 02/035, 02/036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(EP7 STOP BAR — bases per field rev _1: remove fitting &amp; protect base, NO coring)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SECONDARY CABLE ONLY (VIA DUCT): 8 No.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SBC102-01/040, 01/041, 02/037, 02/038, TCCECH-03/002, 04/002, 03/003, 04/003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RRM.557 (0.07 m — treat as within works) &amp; RRM.670: REMOVE / PROTECT / RE-FIX</a:t>
            </a:r>
            <a:endParaRPr lang="en-US" sz="76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 CIRCUITS: SBC102.01/.02, TCCECH.03/.04</a:t>
            </a:r>
            <a:endParaRPr lang="en-US" sz="760" dirty="0"/>
          </a:p>
        </p:txBody>
      </p:sp>
      <p:sp>
        <p:nvSpPr>
          <p:cNvPr id="308" name="Shape 306"/>
          <p:cNvSpPr/>
          <p:nvPr/>
        </p:nvSpPr>
        <p:spPr>
          <a:xfrm>
            <a:off x="10104120" y="4207154"/>
            <a:ext cx="4709160" cy="2267712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309" name="Text 307"/>
          <p:cNvSpPr/>
          <p:nvPr/>
        </p:nvSpPr>
        <p:spPr>
          <a:xfrm>
            <a:off x="10241280" y="4280306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NOTES</a:t>
            </a:r>
            <a:endParaRPr lang="en-US" sz="950" dirty="0"/>
          </a:p>
        </p:txBody>
      </p:sp>
      <p:sp>
        <p:nvSpPr>
          <p:cNvPr id="310" name="Text 308"/>
          <p:cNvSpPr/>
          <p:nvPr/>
        </p:nvSpPr>
        <p:spPr>
          <a:xfrm>
            <a:off x="10241280" y="4536338"/>
            <a:ext cx="4434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All asset positions as-built (asset survey assets_20260726120533.xlsx, UTM 40N / EPSG:32640).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AGL works area (red) per field condition — rectangular strips aligned to stop bar / centerline around field-verified affected assets. Coring at Location 1 only.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Secondary cables: no joints — full manhole-to-light replacement. Confirm routes vs AGL duct-layout CAD (Rev B) before works.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Isolate, lock out &amp; prove dead all listed circuits at CCR under permit before any cutting, coring or excavation.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Reinstatement setting-out by civil survey from as-built E/N, checked against adjacent undisturbed fittings before coring.</a:t>
            </a:r>
            <a:endParaRPr lang="en-US" sz="6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Taxiway centerline &amp; stop bar alignments derived from as-built AGL fitting positions (TCC / SBC). Edge / pavement boundary indicative at 23 m width from as-built CL — confirm on site.</a:t>
            </a:r>
            <a:endParaRPr lang="en-US" sz="680" dirty="0"/>
          </a:p>
        </p:txBody>
      </p:sp>
      <p:sp>
        <p:nvSpPr>
          <p:cNvPr id="311" name="Shape 309"/>
          <p:cNvSpPr/>
          <p:nvPr/>
        </p:nvSpPr>
        <p:spPr>
          <a:xfrm>
            <a:off x="10104120" y="6584594"/>
            <a:ext cx="4709160" cy="3419856"/>
          </a:xfrm>
          <a:prstGeom prst="rect">
            <a:avLst/>
          </a:prstGeom>
          <a:solidFill>
            <a:srgbClr val="F4F6F8"/>
          </a:solidFill>
          <a:ln w="9525">
            <a:solidFill>
              <a:srgbClr val="D5DAE0"/>
            </a:solidFill>
            <a:prstDash val="solid"/>
          </a:ln>
        </p:spPr>
      </p:sp>
      <p:sp>
        <p:nvSpPr>
          <p:cNvPr id="312" name="Text 310"/>
          <p:cNvSpPr/>
          <p:nvPr/>
        </p:nvSpPr>
        <p:spPr>
          <a:xfrm>
            <a:off x="10241280" y="6657746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 — WORKS ACTIONS (THIS SHEET)</a:t>
            </a:r>
            <a:endParaRPr lang="en-US" sz="950" dirty="0"/>
          </a:p>
        </p:txBody>
      </p:sp>
      <p:sp>
        <p:nvSpPr>
          <p:cNvPr id="313" name="Shape 311"/>
          <p:cNvSpPr/>
          <p:nvPr/>
        </p:nvSpPr>
        <p:spPr>
          <a:xfrm>
            <a:off x="10305288" y="6982358"/>
            <a:ext cx="192024" cy="192024"/>
          </a:xfrm>
          <a:prstGeom prst="ellipse">
            <a:avLst/>
          </a:prstGeom>
          <a:ln w="28575">
            <a:solidFill>
              <a:srgbClr val="E8710A"/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10351008" y="7028078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315" name="Text 313"/>
          <p:cNvSpPr/>
          <p:nvPr/>
        </p:nvSpPr>
        <p:spPr>
          <a:xfrm>
            <a:off x="10616184" y="6968642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SEC. CABLE ONLY (SAWCUT) — outer orange / inner green</a:t>
            </a:r>
            <a:endParaRPr lang="en-US" sz="740" dirty="0"/>
          </a:p>
        </p:txBody>
      </p:sp>
      <p:sp>
        <p:nvSpPr>
          <p:cNvPr id="316" name="Shape 314"/>
          <p:cNvSpPr/>
          <p:nvPr/>
        </p:nvSpPr>
        <p:spPr>
          <a:xfrm>
            <a:off x="10305288" y="7256678"/>
            <a:ext cx="192024" cy="192024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10351008" y="7302398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10616184" y="7242962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SEC. CABLE ONLY (DUCT) — outer blue / inner green</a:t>
            </a:r>
            <a:endParaRPr lang="en-US" sz="740" dirty="0"/>
          </a:p>
        </p:txBody>
      </p:sp>
      <p:sp>
        <p:nvSpPr>
          <p:cNvPr id="319" name="Shape 317"/>
          <p:cNvSpPr/>
          <p:nvPr/>
        </p:nvSpPr>
        <p:spPr>
          <a:xfrm>
            <a:off x="10305288" y="7530998"/>
            <a:ext cx="192024" cy="192024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10351008" y="7576718"/>
            <a:ext cx="100584" cy="100584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1" name="Text 319"/>
          <p:cNvSpPr/>
          <p:nvPr/>
        </p:nvSpPr>
        <p:spPr>
          <a:xfrm>
            <a:off x="10616184" y="7517282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 — REMOVE / PROTECT / RE-FIX (magenta / white)</a:t>
            </a:r>
            <a:endParaRPr lang="en-US" sz="740" dirty="0"/>
          </a:p>
        </p:txBody>
      </p:sp>
      <p:sp>
        <p:nvSpPr>
          <p:cNvPr id="322" name="Shape 320"/>
          <p:cNvSpPr/>
          <p:nvPr/>
        </p:nvSpPr>
        <p:spPr>
          <a:xfrm>
            <a:off x="10351008" y="7855610"/>
            <a:ext cx="91440" cy="91440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</p:sp>
      <p:sp>
        <p:nvSpPr>
          <p:cNvPr id="323" name="Text 321"/>
          <p:cNvSpPr/>
          <p:nvPr/>
        </p:nvSpPr>
        <p:spPr>
          <a:xfrm>
            <a:off x="10616184" y="7791602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AGL ASSET (AS-BUILT)</a:t>
            </a:r>
            <a:endParaRPr lang="en-US" sz="740" dirty="0"/>
          </a:p>
        </p:txBody>
      </p:sp>
      <p:sp>
        <p:nvSpPr>
          <p:cNvPr id="324" name="Shape 322"/>
          <p:cNvSpPr/>
          <p:nvPr/>
        </p:nvSpPr>
        <p:spPr>
          <a:xfrm>
            <a:off x="10268712" y="8175650"/>
            <a:ext cx="274320" cy="914"/>
          </a:xfrm>
          <a:prstGeom prst="line">
            <a:avLst/>
          </a:prstGeom>
          <a:noFill/>
          <a:ln w="12700">
            <a:solidFill>
              <a:srgbClr val="C9CDD2"/>
            </a:solidFill>
            <a:prstDash val="dash"/>
          </a:ln>
        </p:spPr>
      </p:sp>
      <p:sp>
        <p:nvSpPr>
          <p:cNvPr id="325" name="Text 323"/>
          <p:cNvSpPr/>
          <p:nvPr/>
        </p:nvSpPr>
        <p:spPr>
          <a:xfrm>
            <a:off x="10616184" y="8065922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INDICATIVE DUCT — LIGHT TO NEAREST MH/HH</a:t>
            </a:r>
            <a:endParaRPr lang="en-US" sz="740" dirty="0"/>
          </a:p>
        </p:txBody>
      </p:sp>
      <p:sp>
        <p:nvSpPr>
          <p:cNvPr id="326" name="Shape 324"/>
          <p:cNvSpPr/>
          <p:nvPr/>
        </p:nvSpPr>
        <p:spPr>
          <a:xfrm>
            <a:off x="10268712" y="8449970"/>
            <a:ext cx="274320" cy="91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</p:sp>
      <p:sp>
        <p:nvSpPr>
          <p:cNvPr id="327" name="Text 325"/>
          <p:cNvSpPr/>
          <p:nvPr/>
        </p:nvSpPr>
        <p:spPr>
          <a:xfrm>
            <a:off x="10616184" y="8340242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DUCT RUN CROSSING CUT (INDICATIVE)</a:t>
            </a:r>
            <a:endParaRPr lang="en-US" sz="740" dirty="0"/>
          </a:p>
        </p:txBody>
      </p:sp>
      <p:sp>
        <p:nvSpPr>
          <p:cNvPr id="328" name="Shape 326"/>
          <p:cNvSpPr/>
          <p:nvPr/>
        </p:nvSpPr>
        <p:spPr>
          <a:xfrm>
            <a:off x="10268712" y="8724290"/>
            <a:ext cx="274320" cy="914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</a:ln>
        </p:spPr>
      </p:sp>
      <p:sp>
        <p:nvSpPr>
          <p:cNvPr id="329" name="Text 327"/>
          <p:cNvSpPr/>
          <p:nvPr/>
        </p:nvSpPr>
        <p:spPr>
          <a:xfrm>
            <a:off x="10616184" y="8614562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AREA — FIELD CONDITION (GOVERNING)</a:t>
            </a:r>
            <a:endParaRPr lang="en-US" sz="740" dirty="0"/>
          </a:p>
        </p:txBody>
      </p:sp>
      <p:sp>
        <p:nvSpPr>
          <p:cNvPr id="330" name="Shape 328"/>
          <p:cNvSpPr/>
          <p:nvPr/>
        </p:nvSpPr>
        <p:spPr>
          <a:xfrm>
            <a:off x="10268712" y="8998610"/>
            <a:ext cx="274320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</p:sp>
      <p:sp>
        <p:nvSpPr>
          <p:cNvPr id="331" name="Text 329"/>
          <p:cNvSpPr/>
          <p:nvPr/>
        </p:nvSpPr>
        <p:spPr>
          <a:xfrm>
            <a:off x="10616184" y="8888882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TAXIWAY CENTERLINE (AS-BUILT, THROUGH TCC FITTINGS)</a:t>
            </a:r>
            <a:endParaRPr lang="en-US" sz="740" dirty="0"/>
          </a:p>
        </p:txBody>
      </p:sp>
      <p:sp>
        <p:nvSpPr>
          <p:cNvPr id="332" name="Shape 330"/>
          <p:cNvSpPr/>
          <p:nvPr/>
        </p:nvSpPr>
        <p:spPr>
          <a:xfrm>
            <a:off x="10268712" y="9272930"/>
            <a:ext cx="274320" cy="914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10616184" y="9163202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BAR (AS-BUILT, THROUGH SBC FITTINGS)</a:t>
            </a:r>
            <a:endParaRPr lang="en-US" sz="740" dirty="0"/>
          </a:p>
        </p:txBody>
      </p:sp>
      <p:sp>
        <p:nvSpPr>
          <p:cNvPr id="334" name="Shape 332"/>
          <p:cNvSpPr/>
          <p:nvPr/>
        </p:nvSpPr>
        <p:spPr>
          <a:xfrm>
            <a:off x="10268712" y="9547250"/>
            <a:ext cx="274320" cy="9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</p:sp>
      <p:sp>
        <p:nvSpPr>
          <p:cNvPr id="335" name="Text 333"/>
          <p:cNvSpPr/>
          <p:nvPr/>
        </p:nvSpPr>
        <p:spPr>
          <a:xfrm>
            <a:off x="10616184" y="9437522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TWY EDGE / PAVEMENT BOUNDARY (INDICATIVE 23 m — CONFIRM ON SITE)</a:t>
            </a:r>
            <a:endParaRPr lang="en-US" sz="740" dirty="0"/>
          </a:p>
        </p:txBody>
      </p:sp>
      <p:sp>
        <p:nvSpPr>
          <p:cNvPr id="336" name="Shape 334"/>
          <p:cNvSpPr/>
          <p:nvPr/>
        </p:nvSpPr>
        <p:spPr>
          <a:xfrm>
            <a:off x="10287000" y="9739274"/>
            <a:ext cx="219456" cy="146304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</p:sp>
      <p:sp>
        <p:nvSpPr>
          <p:cNvPr id="337" name="Text 335"/>
          <p:cNvSpPr/>
          <p:nvPr/>
        </p:nvSpPr>
        <p:spPr>
          <a:xfrm>
            <a:off x="10616184" y="9711842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FEED MANHOLE / HANDHOLE</a:t>
            </a:r>
            <a:endParaRPr lang="en-US" sz="7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417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CONSOLIDATED FIELD-GOVERNED SCOPE — TWY E (E4–E6) · REV P05</a:t>
            </a:r>
            <a:endParaRPr lang="en-US" sz="2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41732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103120"/>
                <a:gridCol w="3108960"/>
                <a:gridCol w="1097280"/>
                <a:gridCol w="685800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 Action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Remarks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AFFECTED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Field verified — no works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RRM.555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 REMOVE / PROTECT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 / protect before sawcut, re-fix after paving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SBC102-01/039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RRM.557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 REMOVE / PROTECT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 / protect before sawcut, re-fix after paving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RRM.670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 REMOVE / PROTECT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 / protect before sawcut, re-fix after paving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10104120"/>
            <a:ext cx="1417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Totals: 11 core-outs (Location 1 only — no coring at Locations 2/3) · 31 secondary cable runs · 3 RRMs · 1 field-verified not affected. Edit rows as required, then align the drawing sheets to match.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2026-07-28T13:41:52Z</dcterms:created>
  <dcterms:modified xsi:type="dcterms:W3CDTF">2026-07-28T13:41:52Z</dcterms:modified>
</cp:coreProperties>
</file>