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DRAWINGS — ELECTRICAL / AGL SCOPE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RECTIFICATION OF TWY E BETWEEN E4 &amp; E6 (ADIA)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AT THREE (3) MILLING LOCATIONS — FIELD CONDITION SCOPE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49377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[XXX-ELE-SHD-1001 / 1002 / 1003]  ·  Revision P04 (EDITABLE ISSUE)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54132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of scope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0" y="541324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verification sheets: Document_3 (LOC-01) · Second_milling_area rev _1 (LOC-02/03)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8887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588873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AGL asset survey assets_20260726120533.xlsx — UTM 40N (EPSG:32640)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3642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636422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Mohammed — AGL Team Leader, ADB SAFEGATE AGL Team  ·  Issued 28.07.2026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7863840"/>
            <a:ext cx="1325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VERSION — every symbol, polygon, label, note and legend entry on the drawing sheets is a native PowerPoint shape. Click any element to move, restyle or retype it, then export to PDF for issue.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1   ·   DWG NO [XXX-ELE-SHD-1001] REV P04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 flipV="1">
            <a:off x="7918314" y="5683099"/>
            <a:ext cx="584349" cy="2063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3582486" y="2467867"/>
            <a:ext cx="635915" cy="18010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6857613" y="5683099"/>
            <a:ext cx="1645050" cy="12213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7952847" y="5683099"/>
            <a:ext cx="549816" cy="210193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9047614" y="6944825"/>
            <a:ext cx="655100" cy="172216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 flipV="1">
            <a:off x="7409208" y="5683099"/>
            <a:ext cx="1093456" cy="165665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flipV="1">
            <a:off x="6454914" y="3958688"/>
            <a:ext cx="1270052" cy="7678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21086" y="5506315"/>
            <a:ext cx="881578" cy="17678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 flipV="1">
            <a:off x="8453906" y="5683099"/>
            <a:ext cx="48758" cy="25417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3059529" y="2467867"/>
            <a:ext cx="1158872" cy="138132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 flipV="1">
            <a:off x="2535449" y="2467867"/>
            <a:ext cx="1682953" cy="9606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 flipV="1">
            <a:off x="2013240" y="1612586"/>
            <a:ext cx="1308235" cy="13966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1489722" y="796519"/>
            <a:ext cx="801281" cy="17920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968075" y="796519"/>
            <a:ext cx="1322928" cy="137318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492846" y="796519"/>
            <a:ext cx="1798157" cy="92845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92846" y="796519"/>
            <a:ext cx="1798157" cy="460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1935751" y="5328315"/>
            <a:ext cx="1399201" cy="16003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1935751" y="5110728"/>
            <a:ext cx="1569714" cy="37761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112469" y="6996736"/>
            <a:ext cx="590245" cy="163422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492846" y="796519"/>
            <a:ext cx="1798157" cy="38641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4133238" y="7525147"/>
            <a:ext cx="2070491" cy="49993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33238" y="8025082"/>
            <a:ext cx="2360233" cy="13729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4965966" y="8793515"/>
            <a:ext cx="1751924" cy="153920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5068702" y="9474164"/>
            <a:ext cx="1857229" cy="85855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6530809" y="10153410"/>
            <a:ext cx="535968" cy="17931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9117616" y="6879600"/>
            <a:ext cx="585098" cy="143531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8466914" y="5683099"/>
            <a:ext cx="35750" cy="23731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9316205" y="6128775"/>
            <a:ext cx="386509" cy="16628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4133238" y="6025342"/>
            <a:ext cx="1637189" cy="19997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6315284" y="5683099"/>
            <a:ext cx="2187380" cy="7858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4677908" y="3169760"/>
            <a:ext cx="563386" cy="197260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 flipV="1">
            <a:off x="5222857" y="3169760"/>
            <a:ext cx="18436" cy="24161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4106473" y="3169760"/>
            <a:ext cx="1134821" cy="156260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1935751" y="4891738"/>
            <a:ext cx="1745562" cy="59660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3857067" y="3169760"/>
            <a:ext cx="1384227" cy="150298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4032914" y="3169760"/>
            <a:ext cx="1208379" cy="12839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4208762" y="3169760"/>
            <a:ext cx="1032532" cy="106500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4384516" y="3169760"/>
            <a:ext cx="856778" cy="84592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4560364" y="3169760"/>
            <a:ext cx="680930" cy="62693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4151675" y="3169760"/>
            <a:ext cx="1089619" cy="155651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4604349" y="3169760"/>
            <a:ext cx="636945" cy="205832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4133238" y="5758716"/>
            <a:ext cx="930149" cy="226636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4133238" y="6320605"/>
            <a:ext cx="1351378" cy="170447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4133238" y="6909915"/>
            <a:ext cx="1731617" cy="111516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870241" y="5422837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5784" y="3104250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67728" y="7959572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37154" y="5617589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019978" y="531310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5325521" y="299452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217466" y="78498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8586891" y="550786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3070853" y="5361819"/>
            <a:ext cx="3685126" cy="2821985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3070853" y="4994401"/>
            <a:ext cx="287963" cy="36741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3358816" y="3674468"/>
            <a:ext cx="1059672" cy="1319933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18488" y="3674468"/>
            <a:ext cx="2337491" cy="4509336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55979" y="8183804"/>
            <a:ext cx="914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41048" y="340014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(572.6 m²)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89846" y="942815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207951" y="69086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889053" y="771759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305410" y="58251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277371" y="48638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3785" y="362677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899363" y="812347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923587" y="77557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018353" y="86377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379947" y="731049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25653" y="469729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91825" y="547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424645" y="590801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468724" y="4253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30268" y="38199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506188" y="339926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983979" y="29799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60461" y="25593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38814" y="214044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305691" y="52990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83208" y="860169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464210" y="81331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88629" y="87642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96670" y="94449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037517" y="101241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088355" y="82856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437653" y="8026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212033" y="31404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906490" y="54590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103978" y="799582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261742" y="76725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473403" y="56538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491761" y="23259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716928" y="248530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729807" y="321817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695705" y="392942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798737" y="714391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537971" y="83388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166961" y="987399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164570" y="426923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001975" y="47191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670561" y="59321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292215" y="15833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57581" y="46115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2592" y="51700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63693" y="11798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189141" y="2438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556667" y="677761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873591" y="22705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86944" y="626579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479294" y="934704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RRM.76</a:t>
            </a:r>
            <a:endParaRPr lang="en-US" sz="500" dirty="0"/>
          </a:p>
        </p:txBody>
      </p:sp>
      <p:sp>
        <p:nvSpPr>
          <p:cNvPr id="114" name="Text 112"/>
          <p:cNvSpPr/>
          <p:nvPr/>
        </p:nvSpPr>
        <p:spPr>
          <a:xfrm>
            <a:off x="4297399" y="682752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RRM.282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7978501" y="763648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TCCECH.04.018</a:t>
            </a:r>
            <a:endParaRPr lang="en-US" sz="500" dirty="0"/>
          </a:p>
        </p:txBody>
      </p:sp>
      <p:sp>
        <p:nvSpPr>
          <p:cNvPr id="116" name="Text 114"/>
          <p:cNvSpPr/>
          <p:nvPr/>
        </p:nvSpPr>
        <p:spPr>
          <a:xfrm>
            <a:off x="3394858" y="57439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RRM.539</a:t>
            </a:r>
            <a:endParaRPr lang="en-US" sz="500" dirty="0"/>
          </a:p>
        </p:txBody>
      </p:sp>
      <p:sp>
        <p:nvSpPr>
          <p:cNvPr id="117" name="Text 115"/>
          <p:cNvSpPr/>
          <p:nvPr/>
        </p:nvSpPr>
        <p:spPr>
          <a:xfrm>
            <a:off x="2366819" y="478277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RRM.540</a:t>
            </a:r>
            <a:endParaRPr lang="en-US" sz="500" dirty="0"/>
          </a:p>
        </p:txBody>
      </p:sp>
      <p:sp>
        <p:nvSpPr>
          <p:cNvPr id="118" name="Text 116"/>
          <p:cNvSpPr/>
          <p:nvPr/>
        </p:nvSpPr>
        <p:spPr>
          <a:xfrm>
            <a:off x="973233" y="354566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RRM.541</a:t>
            </a:r>
            <a:endParaRPr lang="en-US" sz="500" dirty="0"/>
          </a:p>
        </p:txBody>
      </p:sp>
      <p:sp>
        <p:nvSpPr>
          <p:cNvPr id="119" name="Text 117"/>
          <p:cNvSpPr/>
          <p:nvPr/>
        </p:nvSpPr>
        <p:spPr>
          <a:xfrm>
            <a:off x="4988811" y="804236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RRM.636</a:t>
            </a:r>
            <a:endParaRPr lang="en-US" sz="500" dirty="0"/>
          </a:p>
        </p:txBody>
      </p:sp>
      <p:sp>
        <p:nvSpPr>
          <p:cNvPr id="120" name="Text 118"/>
          <p:cNvSpPr/>
          <p:nvPr/>
        </p:nvSpPr>
        <p:spPr>
          <a:xfrm>
            <a:off x="8013034" y="767466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TCC103.12.019</a:t>
            </a:r>
            <a:endParaRPr lang="en-US" sz="500" dirty="0"/>
          </a:p>
        </p:txBody>
      </p:sp>
      <p:sp>
        <p:nvSpPr>
          <p:cNvPr id="121" name="Text 119"/>
          <p:cNvSpPr/>
          <p:nvPr/>
        </p:nvSpPr>
        <p:spPr>
          <a:xfrm>
            <a:off x="9107801" y="85566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TCC103.11.019</a:t>
            </a:r>
            <a:endParaRPr lang="en-US" sz="500" dirty="0"/>
          </a:p>
        </p:txBody>
      </p:sp>
      <p:sp>
        <p:nvSpPr>
          <p:cNvPr id="122" name="Text 120"/>
          <p:cNvSpPr/>
          <p:nvPr/>
        </p:nvSpPr>
        <p:spPr>
          <a:xfrm>
            <a:off x="7469395" y="722938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TCC103.11.020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6515101" y="461618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TEC102.02.047</a:t>
            </a:r>
            <a:endParaRPr lang="en-US" sz="500" dirty="0"/>
          </a:p>
        </p:txBody>
      </p:sp>
      <p:sp>
        <p:nvSpPr>
          <p:cNvPr id="124" name="Text 122"/>
          <p:cNvSpPr/>
          <p:nvPr/>
        </p:nvSpPr>
        <p:spPr>
          <a:xfrm>
            <a:off x="7681273" y="539594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TEC102.02.048</a:t>
            </a:r>
            <a:endParaRPr lang="en-US" sz="500" dirty="0"/>
          </a:p>
        </p:txBody>
      </p:sp>
      <p:sp>
        <p:nvSpPr>
          <p:cNvPr id="125" name="Text 123"/>
          <p:cNvSpPr/>
          <p:nvPr/>
        </p:nvSpPr>
        <p:spPr>
          <a:xfrm>
            <a:off x="8514093" y="582690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TEC102.02.049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8558171" y="41725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HH.E6.033</a:t>
            </a:r>
            <a:endParaRPr lang="en-US" sz="500" dirty="0"/>
          </a:p>
        </p:txBody>
      </p:sp>
      <p:sp>
        <p:nvSpPr>
          <p:cNvPr id="127" name="Text 125"/>
          <p:cNvSpPr/>
          <p:nvPr/>
        </p:nvSpPr>
        <p:spPr>
          <a:xfrm>
            <a:off x="3119716" y="37388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TCCECH.03.017</a:t>
            </a:r>
            <a:endParaRPr lang="en-US" sz="500" dirty="0"/>
          </a:p>
        </p:txBody>
      </p:sp>
      <p:sp>
        <p:nvSpPr>
          <p:cNvPr id="128" name="Text 126"/>
          <p:cNvSpPr/>
          <p:nvPr/>
        </p:nvSpPr>
        <p:spPr>
          <a:xfrm>
            <a:off x="2595636" y="33181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TCCECH.04.016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2073427" y="28988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TCCECH.03.016</a:t>
            </a:r>
            <a:endParaRPr lang="en-US" sz="500" dirty="0"/>
          </a:p>
        </p:txBody>
      </p:sp>
      <p:sp>
        <p:nvSpPr>
          <p:cNvPr id="130" name="Text 128"/>
          <p:cNvSpPr/>
          <p:nvPr/>
        </p:nvSpPr>
        <p:spPr>
          <a:xfrm>
            <a:off x="1549909" y="24782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TCCECH.04.015</a:t>
            </a:r>
            <a:endParaRPr lang="en-US" sz="500" dirty="0"/>
          </a:p>
        </p:txBody>
      </p:sp>
      <p:sp>
        <p:nvSpPr>
          <p:cNvPr id="131" name="Text 129"/>
          <p:cNvSpPr/>
          <p:nvPr/>
        </p:nvSpPr>
        <p:spPr>
          <a:xfrm>
            <a:off x="1028262" y="205933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TCCECH.03.015</a:t>
            </a:r>
            <a:endParaRPr lang="en-US" sz="500" dirty="0"/>
          </a:p>
        </p:txBody>
      </p:sp>
      <p:sp>
        <p:nvSpPr>
          <p:cNvPr id="132" name="Text 130"/>
          <p:cNvSpPr/>
          <p:nvPr/>
        </p:nvSpPr>
        <p:spPr>
          <a:xfrm>
            <a:off x="3395139" y="521794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SBC102.02.027</a:t>
            </a:r>
            <a:endParaRPr lang="en-US" sz="500" dirty="0"/>
          </a:p>
        </p:txBody>
      </p:sp>
      <p:sp>
        <p:nvSpPr>
          <p:cNvPr id="133" name="Text 131"/>
          <p:cNvSpPr/>
          <p:nvPr/>
        </p:nvSpPr>
        <p:spPr>
          <a:xfrm>
            <a:off x="9172656" y="852058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TCC103.11.027</a:t>
            </a:r>
            <a:endParaRPr lang="en-US" sz="500" dirty="0"/>
          </a:p>
        </p:txBody>
      </p:sp>
      <p:sp>
        <p:nvSpPr>
          <p:cNvPr id="134" name="Text 132"/>
          <p:cNvSpPr/>
          <p:nvPr/>
        </p:nvSpPr>
        <p:spPr>
          <a:xfrm>
            <a:off x="6553658" y="805200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TCCECH.03.038</a:t>
            </a:r>
            <a:endParaRPr lang="en-US" sz="500" dirty="0"/>
          </a:p>
        </p:txBody>
      </p:sp>
      <p:sp>
        <p:nvSpPr>
          <p:cNvPr id="135" name="Text 133"/>
          <p:cNvSpPr/>
          <p:nvPr/>
        </p:nvSpPr>
        <p:spPr>
          <a:xfrm>
            <a:off x="6778077" y="868314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TCCECH.04.037</a:t>
            </a:r>
            <a:endParaRPr lang="en-US" sz="500" dirty="0"/>
          </a:p>
        </p:txBody>
      </p:sp>
      <p:sp>
        <p:nvSpPr>
          <p:cNvPr id="136" name="Text 134"/>
          <p:cNvSpPr/>
          <p:nvPr/>
        </p:nvSpPr>
        <p:spPr>
          <a:xfrm>
            <a:off x="6986118" y="93637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TCCECH.03.039</a:t>
            </a:r>
            <a:endParaRPr lang="en-US" sz="500" dirty="0"/>
          </a:p>
        </p:txBody>
      </p:sp>
      <p:sp>
        <p:nvSpPr>
          <p:cNvPr id="137" name="Text 135"/>
          <p:cNvSpPr/>
          <p:nvPr/>
        </p:nvSpPr>
        <p:spPr>
          <a:xfrm>
            <a:off x="7126965" y="100430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TCCECH.04.038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9177803" y="820454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TCCECH.04.019</a:t>
            </a:r>
            <a:endParaRPr lang="en-US" sz="500" dirty="0"/>
          </a:p>
        </p:txBody>
      </p:sp>
      <p:sp>
        <p:nvSpPr>
          <p:cNvPr id="139" name="Text 137"/>
          <p:cNvSpPr/>
          <p:nvPr/>
        </p:nvSpPr>
        <p:spPr>
          <a:xfrm>
            <a:off x="8527101" y="794587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TCCECH.03.020</a:t>
            </a:r>
            <a:endParaRPr lang="en-US" sz="500" dirty="0"/>
          </a:p>
        </p:txBody>
      </p:sp>
      <p:sp>
        <p:nvSpPr>
          <p:cNvPr id="140" name="Text 138"/>
          <p:cNvSpPr/>
          <p:nvPr/>
        </p:nvSpPr>
        <p:spPr>
          <a:xfrm>
            <a:off x="5301481" y="305938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500" dirty="0"/>
          </a:p>
        </p:txBody>
      </p:sp>
      <p:sp>
        <p:nvSpPr>
          <p:cNvPr id="141" name="Text 139"/>
          <p:cNvSpPr/>
          <p:nvPr/>
        </p:nvSpPr>
        <p:spPr>
          <a:xfrm>
            <a:off x="1995938" y="537797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500" dirty="0"/>
          </a:p>
        </p:txBody>
      </p:sp>
      <p:sp>
        <p:nvSpPr>
          <p:cNvPr id="142" name="Text 140"/>
          <p:cNvSpPr/>
          <p:nvPr/>
        </p:nvSpPr>
        <p:spPr>
          <a:xfrm>
            <a:off x="4193425" y="791471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500" dirty="0"/>
          </a:p>
        </p:txBody>
      </p:sp>
      <p:sp>
        <p:nvSpPr>
          <p:cNvPr id="143" name="Text 141"/>
          <p:cNvSpPr/>
          <p:nvPr/>
        </p:nvSpPr>
        <p:spPr>
          <a:xfrm>
            <a:off x="8562851" y="557272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500" dirty="0"/>
          </a:p>
        </p:txBody>
      </p:sp>
      <p:sp>
        <p:nvSpPr>
          <p:cNvPr id="144" name="Text 142"/>
          <p:cNvSpPr/>
          <p:nvPr/>
        </p:nvSpPr>
        <p:spPr>
          <a:xfrm>
            <a:off x="5581209" y="224481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HH.E6.038</a:t>
            </a:r>
            <a:endParaRPr lang="en-US" sz="500" dirty="0"/>
          </a:p>
        </p:txBody>
      </p:sp>
      <p:sp>
        <p:nvSpPr>
          <p:cNvPr id="145" name="Text 143"/>
          <p:cNvSpPr/>
          <p:nvPr/>
        </p:nvSpPr>
        <p:spPr>
          <a:xfrm>
            <a:off x="5806376" y="240419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HH.E6.037</a:t>
            </a:r>
            <a:endParaRPr lang="en-US" sz="500" dirty="0"/>
          </a:p>
        </p:txBody>
      </p:sp>
      <p:sp>
        <p:nvSpPr>
          <p:cNvPr id="146" name="Text 144"/>
          <p:cNvSpPr/>
          <p:nvPr/>
        </p:nvSpPr>
        <p:spPr>
          <a:xfrm>
            <a:off x="6819255" y="313706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HH.E6.036</a:t>
            </a:r>
            <a:endParaRPr lang="en-US" sz="500" dirty="0"/>
          </a:p>
        </p:txBody>
      </p:sp>
      <p:sp>
        <p:nvSpPr>
          <p:cNvPr id="147" name="Text 145"/>
          <p:cNvSpPr/>
          <p:nvPr/>
        </p:nvSpPr>
        <p:spPr>
          <a:xfrm>
            <a:off x="7785153" y="38483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HH.E6.035</a:t>
            </a:r>
            <a:endParaRPr lang="en-US" sz="500" dirty="0"/>
          </a:p>
        </p:txBody>
      </p:sp>
      <p:sp>
        <p:nvSpPr>
          <p:cNvPr id="148" name="Text 146"/>
          <p:cNvSpPr/>
          <p:nvPr/>
        </p:nvSpPr>
        <p:spPr>
          <a:xfrm>
            <a:off x="2888185" y="706280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HH.E6.040</a:t>
            </a:r>
            <a:endParaRPr lang="en-US" sz="500" dirty="0"/>
          </a:p>
        </p:txBody>
      </p:sp>
      <p:sp>
        <p:nvSpPr>
          <p:cNvPr id="149" name="Text 147"/>
          <p:cNvSpPr/>
          <p:nvPr/>
        </p:nvSpPr>
        <p:spPr>
          <a:xfrm>
            <a:off x="3627419" y="825770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HH.E6.041</a:t>
            </a:r>
            <a:endParaRPr lang="en-US" sz="500" dirty="0"/>
          </a:p>
        </p:txBody>
      </p:sp>
      <p:sp>
        <p:nvSpPr>
          <p:cNvPr id="150" name="Text 148"/>
          <p:cNvSpPr/>
          <p:nvPr/>
        </p:nvSpPr>
        <p:spPr>
          <a:xfrm>
            <a:off x="4256409" y="979288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HH.E6.042</a:t>
            </a:r>
            <a:endParaRPr lang="en-US" sz="500" dirty="0"/>
          </a:p>
        </p:txBody>
      </p:sp>
      <p:sp>
        <p:nvSpPr>
          <p:cNvPr id="151" name="Text 149"/>
          <p:cNvSpPr/>
          <p:nvPr/>
        </p:nvSpPr>
        <p:spPr>
          <a:xfrm>
            <a:off x="8254018" y="418812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HH.E6.034</a:t>
            </a:r>
            <a:endParaRPr lang="en-US" sz="500" dirty="0"/>
          </a:p>
        </p:txBody>
      </p:sp>
      <p:sp>
        <p:nvSpPr>
          <p:cNvPr id="152" name="Text 150"/>
          <p:cNvSpPr/>
          <p:nvPr/>
        </p:nvSpPr>
        <p:spPr>
          <a:xfrm>
            <a:off x="9091423" y="46379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HH.E6.032</a:t>
            </a:r>
            <a:endParaRPr lang="en-US" sz="500" dirty="0"/>
          </a:p>
        </p:txBody>
      </p:sp>
      <p:sp>
        <p:nvSpPr>
          <p:cNvPr id="153" name="Text 151"/>
          <p:cNvSpPr/>
          <p:nvPr/>
        </p:nvSpPr>
        <p:spPr>
          <a:xfrm>
            <a:off x="1760009" y="585105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HH.E6.039</a:t>
            </a:r>
            <a:endParaRPr lang="en-US" sz="500" dirty="0"/>
          </a:p>
        </p:txBody>
      </p:sp>
      <p:sp>
        <p:nvSpPr>
          <p:cNvPr id="154" name="Text 152"/>
          <p:cNvSpPr/>
          <p:nvPr/>
        </p:nvSpPr>
        <p:spPr>
          <a:xfrm>
            <a:off x="3381663" y="15022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P6.009</a:t>
            </a:r>
            <a:endParaRPr lang="en-US" sz="500" dirty="0"/>
          </a:p>
        </p:txBody>
      </p:sp>
      <p:sp>
        <p:nvSpPr>
          <p:cNvPr id="155" name="Text 153"/>
          <p:cNvSpPr/>
          <p:nvPr/>
        </p:nvSpPr>
        <p:spPr>
          <a:xfrm>
            <a:off x="947029" y="453046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P6.038</a:t>
            </a:r>
            <a:endParaRPr lang="en-US" sz="500" dirty="0"/>
          </a:p>
        </p:txBody>
      </p:sp>
      <p:sp>
        <p:nvSpPr>
          <p:cNvPr id="156" name="Text 154"/>
          <p:cNvSpPr/>
          <p:nvPr/>
        </p:nvSpPr>
        <p:spPr>
          <a:xfrm>
            <a:off x="852040" y="50888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MH.E.024</a:t>
            </a:r>
            <a:endParaRPr lang="en-US" sz="500" dirty="0"/>
          </a:p>
        </p:txBody>
      </p:sp>
      <p:sp>
        <p:nvSpPr>
          <p:cNvPr id="157" name="Text 155"/>
          <p:cNvSpPr/>
          <p:nvPr/>
        </p:nvSpPr>
        <p:spPr>
          <a:xfrm>
            <a:off x="4053140" y="10987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MH.E.014</a:t>
            </a:r>
            <a:endParaRPr lang="en-US" sz="500" dirty="0"/>
          </a:p>
        </p:txBody>
      </p:sp>
      <p:sp>
        <p:nvSpPr>
          <p:cNvPr id="158" name="Text 156"/>
          <p:cNvSpPr/>
          <p:nvPr/>
        </p:nvSpPr>
        <p:spPr>
          <a:xfrm>
            <a:off x="4278588" y="235749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&amp;.23918</a:t>
            </a:r>
            <a:endParaRPr lang="en-US" sz="500" dirty="0"/>
          </a:p>
        </p:txBody>
      </p:sp>
      <p:sp>
        <p:nvSpPr>
          <p:cNvPr id="159" name="Text 157"/>
          <p:cNvSpPr/>
          <p:nvPr/>
        </p:nvSpPr>
        <p:spPr>
          <a:xfrm>
            <a:off x="1646115" y="669650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SGC102.02.017</a:t>
            </a:r>
            <a:endParaRPr lang="en-US" sz="500" dirty="0"/>
          </a:p>
        </p:txBody>
      </p:sp>
      <p:sp>
        <p:nvSpPr>
          <p:cNvPr id="160" name="Text 158"/>
          <p:cNvSpPr/>
          <p:nvPr/>
        </p:nvSpPr>
        <p:spPr>
          <a:xfrm>
            <a:off x="5963038" y="21894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SGC102.02.016</a:t>
            </a:r>
            <a:endParaRPr lang="en-US" sz="500" dirty="0"/>
          </a:p>
        </p:txBody>
      </p:sp>
      <p:sp>
        <p:nvSpPr>
          <p:cNvPr id="161" name="Text 159"/>
          <p:cNvSpPr/>
          <p:nvPr/>
        </p:nvSpPr>
        <p:spPr>
          <a:xfrm>
            <a:off x="9376392" y="618468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TEC102.02.050</a:t>
            </a:r>
            <a:endParaRPr lang="en-US" sz="500" dirty="0"/>
          </a:p>
        </p:txBody>
      </p:sp>
      <p:sp>
        <p:nvSpPr>
          <p:cNvPr id="162" name="Shape 160"/>
          <p:cNvSpPr/>
          <p:nvPr/>
        </p:nvSpPr>
        <p:spPr>
          <a:xfrm>
            <a:off x="4279360" y="3910525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4329652" y="3960817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4503388" y="379622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SBC102-02/024</a:t>
            </a:r>
            <a:endParaRPr lang="en-US" sz="650" dirty="0"/>
          </a:p>
        </p:txBody>
      </p:sp>
      <p:sp>
        <p:nvSpPr>
          <p:cNvPr id="165" name="Shape 163"/>
          <p:cNvSpPr/>
          <p:nvPr/>
        </p:nvSpPr>
        <p:spPr>
          <a:xfrm>
            <a:off x="4103606" y="412961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4153898" y="417990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327634" y="401531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SBC102-01/027</a:t>
            </a:r>
            <a:endParaRPr lang="en-US" sz="650" dirty="0"/>
          </a:p>
        </p:txBody>
      </p:sp>
      <p:sp>
        <p:nvSpPr>
          <p:cNvPr id="168" name="Shape 166"/>
          <p:cNvSpPr/>
          <p:nvPr/>
        </p:nvSpPr>
        <p:spPr>
          <a:xfrm>
            <a:off x="3927758" y="434860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978050" y="439889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151786" y="42343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SBC102-02/025</a:t>
            </a:r>
            <a:endParaRPr lang="en-US" sz="650" dirty="0"/>
          </a:p>
        </p:txBody>
      </p:sp>
      <p:sp>
        <p:nvSpPr>
          <p:cNvPr id="171" name="Shape 169"/>
          <p:cNvSpPr/>
          <p:nvPr/>
        </p:nvSpPr>
        <p:spPr>
          <a:xfrm>
            <a:off x="3751911" y="45675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3802203" y="4617883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3975939" y="44532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SBC102-01/028</a:t>
            </a:r>
            <a:endParaRPr lang="en-US" sz="650" dirty="0"/>
          </a:p>
        </p:txBody>
      </p:sp>
      <p:sp>
        <p:nvSpPr>
          <p:cNvPr id="174" name="Shape 172"/>
          <p:cNvSpPr/>
          <p:nvPr/>
        </p:nvSpPr>
        <p:spPr>
          <a:xfrm>
            <a:off x="3576157" y="478658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3626449" y="483687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3800185" y="467228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SBC102-02/026</a:t>
            </a:r>
            <a:endParaRPr lang="en-US" sz="650" dirty="0"/>
          </a:p>
        </p:txBody>
      </p:sp>
      <p:sp>
        <p:nvSpPr>
          <p:cNvPr id="177" name="Shape 175"/>
          <p:cNvSpPr/>
          <p:nvPr/>
        </p:nvSpPr>
        <p:spPr>
          <a:xfrm>
            <a:off x="3400309" y="5005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450601" y="505586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3624337" y="48912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SBC102-01/029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499193" y="512292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4549485" y="517322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4723221" y="500862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TCCECH-04/034</a:t>
            </a:r>
            <a:endParaRPr lang="en-US" sz="650" dirty="0"/>
          </a:p>
        </p:txBody>
      </p:sp>
      <p:sp>
        <p:nvSpPr>
          <p:cNvPr id="183" name="Shape 181"/>
          <p:cNvSpPr/>
          <p:nvPr/>
        </p:nvSpPr>
        <p:spPr>
          <a:xfrm>
            <a:off x="4958231" y="565356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008523" y="570385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5182259" y="55392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TCCECH-03/036</a:t>
            </a:r>
            <a:endParaRPr lang="en-US" sz="650" dirty="0"/>
          </a:p>
        </p:txBody>
      </p:sp>
      <p:sp>
        <p:nvSpPr>
          <p:cNvPr id="186" name="Shape 184"/>
          <p:cNvSpPr/>
          <p:nvPr/>
        </p:nvSpPr>
        <p:spPr>
          <a:xfrm>
            <a:off x="5379461" y="621544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29753" y="626574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603489" y="610114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TCCECH-04/035</a:t>
            </a:r>
            <a:endParaRPr lang="en-US" sz="650" dirty="0"/>
          </a:p>
        </p:txBody>
      </p:sp>
      <p:sp>
        <p:nvSpPr>
          <p:cNvPr id="189" name="Shape 187"/>
          <p:cNvSpPr/>
          <p:nvPr/>
        </p:nvSpPr>
        <p:spPr>
          <a:xfrm>
            <a:off x="5759700" y="68047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09992" y="68550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983728" y="66904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TCCECH-03/037</a:t>
            </a:r>
            <a:endParaRPr lang="en-US" sz="650" dirty="0"/>
          </a:p>
        </p:txBody>
      </p:sp>
      <p:sp>
        <p:nvSpPr>
          <p:cNvPr id="192" name="Shape 190"/>
          <p:cNvSpPr/>
          <p:nvPr/>
        </p:nvSpPr>
        <p:spPr>
          <a:xfrm>
            <a:off x="6098574" y="74199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48866" y="7470283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6322602" y="73056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TCCECH-04/036</a:t>
            </a:r>
            <a:endParaRPr lang="en-US" sz="650" dirty="0"/>
          </a:p>
        </p:txBody>
      </p:sp>
      <p:sp>
        <p:nvSpPr>
          <p:cNvPr id="195" name="Shape 193"/>
          <p:cNvSpPr/>
          <p:nvPr/>
        </p:nvSpPr>
        <p:spPr>
          <a:xfrm>
            <a:off x="3229796" y="5223159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3280088" y="527345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3453824" y="51088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SBC102-02/027</a:t>
            </a:r>
            <a:endParaRPr lang="en-US" sz="650" dirty="0"/>
          </a:p>
        </p:txBody>
      </p:sp>
      <p:sp>
        <p:nvSpPr>
          <p:cNvPr id="198" name="Shape 196"/>
          <p:cNvSpPr/>
          <p:nvPr/>
        </p:nvSpPr>
        <p:spPr>
          <a:xfrm>
            <a:off x="4001317" y="4627205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051609" y="4677497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225345" y="451290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TCCECH-03/035</a:t>
            </a:r>
            <a:endParaRPr lang="en-US" sz="650" dirty="0"/>
          </a:p>
        </p:txBody>
      </p:sp>
      <p:sp>
        <p:nvSpPr>
          <p:cNvPr id="201" name="Shape 199"/>
          <p:cNvSpPr/>
          <p:nvPr/>
        </p:nvSpPr>
        <p:spPr>
          <a:xfrm>
            <a:off x="4046519" y="4621122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4096811" y="467141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0547" y="450682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TCCECH-03/018</a:t>
            </a:r>
            <a:endParaRPr lang="en-US" sz="650" dirty="0"/>
          </a:p>
        </p:txBody>
      </p:sp>
      <p:sp>
        <p:nvSpPr>
          <p:cNvPr id="204" name="Shape 202"/>
          <p:cNvSpPr/>
          <p:nvPr/>
        </p:nvSpPr>
        <p:spPr>
          <a:xfrm>
            <a:off x="4455208" y="3691535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4679236" y="357723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SBC102-01/026</a:t>
            </a:r>
            <a:endParaRPr lang="en-US" sz="650" dirty="0"/>
          </a:p>
        </p:txBody>
      </p:sp>
      <p:sp>
        <p:nvSpPr>
          <p:cNvPr id="206" name="Shape 204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1 — 1001  ·  REV P04 (EDITABLE)</a:t>
            </a:r>
            <a:endParaRPr lang="en-US" sz="1250" dirty="0"/>
          </a:p>
        </p:txBody>
      </p:sp>
      <p:sp>
        <p:nvSpPr>
          <p:cNvPr id="208" name="Text 206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Document_3 — FIELD CONDITION GOVERNS</a:t>
            </a:r>
            <a:endParaRPr lang="en-US" sz="800" dirty="0"/>
          </a:p>
        </p:txBody>
      </p:sp>
      <p:sp>
        <p:nvSpPr>
          <p:cNvPr id="209" name="Text 207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210" name="Shape 208"/>
          <p:cNvSpPr/>
          <p:nvPr/>
        </p:nvSpPr>
        <p:spPr>
          <a:xfrm>
            <a:off x="10104120" y="2057400"/>
            <a:ext cx="4709160" cy="2502713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241280" y="2386584"/>
            <a:ext cx="4434840" cy="2118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SHALLOW BASE + NEW CABLE: 11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VIA DUCT (6): SBC102-02/024, 01/027, 02/025, 01/028, 02/026, 01/029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VIA SAWCUT (5): TCCECH-04/034, 03/036, 04/035, 03/037, 04/036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ONLY: 3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SBC102-02/027 (DUCT) · TCCECH-03/035, 03/018 (SAWCUT — bases OK, verify at cut line)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VERIFIED NOT AFFECTED: SBC102-01/026 (no works)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 FITTINGS NOT IN FIELD SCOPE — SHOWN AS EXISTING ONLY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SBC102.01/.02, TCCECH.03/.04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RECORD 23.07.2026: 9 cored + 2 reinstatement already worked</a:t>
            </a:r>
            <a:endParaRPr lang="en-US" sz="760" dirty="0"/>
          </a:p>
        </p:txBody>
      </p:sp>
      <p:sp>
        <p:nvSpPr>
          <p:cNvPr id="213" name="Shape 211"/>
          <p:cNvSpPr/>
          <p:nvPr/>
        </p:nvSpPr>
        <p:spPr>
          <a:xfrm>
            <a:off x="10104120" y="4669841"/>
            <a:ext cx="4709160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10241280" y="4742993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10241280" y="4999025"/>
            <a:ext cx="44348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demarcation (red) drawn around field-verified affected assets (+2.0 m) — field condition governs.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</p:txBody>
      </p:sp>
      <p:sp>
        <p:nvSpPr>
          <p:cNvPr id="216" name="Shape 214"/>
          <p:cNvSpPr/>
          <p:nvPr/>
        </p:nvSpPr>
        <p:spPr>
          <a:xfrm>
            <a:off x="10104120" y="6736385"/>
            <a:ext cx="4709160" cy="25968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10241280" y="6809537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10305288" y="7134149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10351008" y="7179869"/>
            <a:ext cx="100584" cy="100584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10616184" y="712043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(DUCT) — outer red / inner blue</a:t>
            </a:r>
            <a:endParaRPr lang="en-US" sz="740" dirty="0"/>
          </a:p>
        </p:txBody>
      </p:sp>
      <p:sp>
        <p:nvSpPr>
          <p:cNvPr id="221" name="Shape 219"/>
          <p:cNvSpPr/>
          <p:nvPr/>
        </p:nvSpPr>
        <p:spPr>
          <a:xfrm>
            <a:off x="10305288" y="7408469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10351008" y="7454189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10616184" y="739475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(SAWCUT) — outer red / inner orange</a:t>
            </a:r>
            <a:endParaRPr lang="en-US" sz="740" dirty="0"/>
          </a:p>
        </p:txBody>
      </p:sp>
      <p:sp>
        <p:nvSpPr>
          <p:cNvPr id="224" name="Shape 222"/>
          <p:cNvSpPr/>
          <p:nvPr/>
        </p:nvSpPr>
        <p:spPr>
          <a:xfrm>
            <a:off x="10305288" y="7682789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10351008" y="7728509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10616184" y="766907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227" name="Shape 225"/>
          <p:cNvSpPr/>
          <p:nvPr/>
        </p:nvSpPr>
        <p:spPr>
          <a:xfrm>
            <a:off x="10305288" y="7957109"/>
            <a:ext cx="192024" cy="192024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10351008" y="8002829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10616184" y="794339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(SAWCUT) — outer orange / inner green</a:t>
            </a:r>
            <a:endParaRPr lang="en-US" sz="740" dirty="0"/>
          </a:p>
        </p:txBody>
      </p:sp>
      <p:sp>
        <p:nvSpPr>
          <p:cNvPr id="230" name="Shape 228"/>
          <p:cNvSpPr/>
          <p:nvPr/>
        </p:nvSpPr>
        <p:spPr>
          <a:xfrm>
            <a:off x="10305288" y="8231429"/>
            <a:ext cx="192024" cy="192024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</p:sp>
      <p:sp>
        <p:nvSpPr>
          <p:cNvPr id="231" name="Text 229"/>
          <p:cNvSpPr/>
          <p:nvPr/>
        </p:nvSpPr>
        <p:spPr>
          <a:xfrm>
            <a:off x="10616184" y="821771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VERIFIED — NOT AFFECTED (grey)</a:t>
            </a:r>
            <a:endParaRPr lang="en-US" sz="740" dirty="0"/>
          </a:p>
        </p:txBody>
      </p:sp>
      <p:sp>
        <p:nvSpPr>
          <p:cNvPr id="232" name="Shape 230"/>
          <p:cNvSpPr/>
          <p:nvPr/>
        </p:nvSpPr>
        <p:spPr>
          <a:xfrm>
            <a:off x="10351008" y="8556041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10616184" y="849203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234" name="Shape 232"/>
          <p:cNvSpPr/>
          <p:nvPr/>
        </p:nvSpPr>
        <p:spPr>
          <a:xfrm>
            <a:off x="10268712" y="8876081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235" name="Text 233"/>
          <p:cNvSpPr/>
          <p:nvPr/>
        </p:nvSpPr>
        <p:spPr>
          <a:xfrm>
            <a:off x="10616184" y="876635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236" name="Shape 234"/>
          <p:cNvSpPr/>
          <p:nvPr/>
        </p:nvSpPr>
        <p:spPr>
          <a:xfrm>
            <a:off x="10268712" y="9150401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0616184" y="904067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2   ·   DWG NO [XXX-ELE-SHD-1002] REV P04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 flipV="1">
            <a:off x="9202989" y="8952823"/>
            <a:ext cx="576994" cy="3982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176149" y="8387952"/>
            <a:ext cx="1603833" cy="13898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505033" y="2025670"/>
            <a:ext cx="541217" cy="23815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2019761" y="2025670"/>
            <a:ext cx="485271" cy="155920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993361" y="2025670"/>
            <a:ext cx="1511672" cy="73562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7149310" y="7702047"/>
            <a:ext cx="2630673" cy="44607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flipV="1">
            <a:off x="4070722" y="4187030"/>
            <a:ext cx="1528947" cy="104376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5097561" y="4187030"/>
            <a:ext cx="502108" cy="186883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599668" y="4187030"/>
            <a:ext cx="524907" cy="269214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538286" y="4125648"/>
            <a:ext cx="122765" cy="122765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78589" y="40159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 flipV="1">
            <a:off x="7712800" y="8261679"/>
            <a:ext cx="116714" cy="11732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87774" y="6192655"/>
            <a:ext cx="2725026" cy="2186352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60847" y="5367501"/>
            <a:ext cx="1026927" cy="82515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05368" y="4438610"/>
            <a:ext cx="1155479" cy="92889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805368" y="3198073"/>
            <a:ext cx="913545" cy="124053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18913" y="3198073"/>
            <a:ext cx="4110601" cy="5063606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29514" y="8261679"/>
            <a:ext cx="914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41473" y="2923753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(700.3 m²)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73846" y="78828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60110" y="51331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19085" y="62053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42726" y="18073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75772" y="19964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73728" y="932178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46889" y="849767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41461" y="52015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16989" y="43779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90501" y="355560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4100" y="27320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68300" y="60265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5315" y="68499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20049" y="76727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70408" y="415776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5815" y="372633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68491" y="266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61230" y="780354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RRM.545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2447494" y="50537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RRM.546</a:t>
            </a:r>
            <a:endParaRPr lang="en-US" sz="500" dirty="0"/>
          </a:p>
        </p:txBody>
      </p:sp>
      <p:sp>
        <p:nvSpPr>
          <p:cNvPr id="43" name="Text 41"/>
          <p:cNvSpPr/>
          <p:nvPr/>
        </p:nvSpPr>
        <p:spPr>
          <a:xfrm>
            <a:off x="7206469" y="612596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RRM.554</a:t>
            </a:r>
            <a:endParaRPr lang="en-US" sz="500" dirty="0"/>
          </a:p>
        </p:txBody>
      </p:sp>
      <p:sp>
        <p:nvSpPr>
          <p:cNvPr id="44" name="Text 42"/>
          <p:cNvSpPr/>
          <p:nvPr/>
        </p:nvSpPr>
        <p:spPr>
          <a:xfrm>
            <a:off x="1730110" y="172800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RRM.556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2563156" y="19170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&amp;.24043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9261112" y="92424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TCCECH.03.010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234272" y="841833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TCCECH.04.009</a:t>
            </a:r>
            <a:endParaRPr lang="en-US" sz="500" dirty="0"/>
          </a:p>
        </p:txBody>
      </p:sp>
      <p:sp>
        <p:nvSpPr>
          <p:cNvPr id="48" name="Text 46"/>
          <p:cNvSpPr/>
          <p:nvPr/>
        </p:nvSpPr>
        <p:spPr>
          <a:xfrm>
            <a:off x="4128845" y="51221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TCCECH.04.007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3104373" y="42986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TCCECH.03.007</a:t>
            </a:r>
            <a:endParaRPr lang="en-US" sz="500" dirty="0"/>
          </a:p>
        </p:txBody>
      </p:sp>
      <p:sp>
        <p:nvSpPr>
          <p:cNvPr id="50" name="Text 48"/>
          <p:cNvSpPr/>
          <p:nvPr/>
        </p:nvSpPr>
        <p:spPr>
          <a:xfrm>
            <a:off x="2077885" y="34762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TCCECH.04.006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1051484" y="26526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5155684" y="594725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TCCECH.03.008</a:t>
            </a:r>
            <a:endParaRPr lang="en-US" sz="500" dirty="0"/>
          </a:p>
        </p:txBody>
      </p:sp>
      <p:sp>
        <p:nvSpPr>
          <p:cNvPr id="53" name="Text 51"/>
          <p:cNvSpPr/>
          <p:nvPr/>
        </p:nvSpPr>
        <p:spPr>
          <a:xfrm>
            <a:off x="6182699" y="677057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TCCECH.04.008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7207433" y="759344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TCCECH.03.009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5657792" y="407842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6003199" y="364699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HH.E.055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4855875" y="258771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HH.E.056</a:t>
            </a:r>
            <a:endParaRPr lang="en-US" sz="500" dirty="0"/>
          </a:p>
        </p:txBody>
      </p:sp>
      <p:sp>
        <p:nvSpPr>
          <p:cNvPr id="58" name="Shape 56"/>
          <p:cNvSpPr/>
          <p:nvPr/>
        </p:nvSpPr>
        <p:spPr>
          <a:xfrm>
            <a:off x="2941094" y="430206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991386" y="435235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165122" y="418776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TCCECH-03/007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3965566" y="512563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15858" y="517592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189594" y="501133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TCCECH-04/007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4992405" y="595070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042697" y="600099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216433" y="583640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TCCECH-03/008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6019419" y="677401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69711" y="682430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43447" y="665971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TCCECH-04/008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7044154" y="7596891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94446" y="7647183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268182" y="74825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TCCECH-03/009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3620509" y="3379485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670801" y="3429777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44537" y="326518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2 — 1002  ·  REV P04 (EDITABLE)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— FIELD CONDITION GOVERNS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10104120" y="2057400"/>
            <a:ext cx="4709160" cy="15773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0241280" y="2386584"/>
            <a:ext cx="4434840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5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TCCECH-03/007, 04/007, 03/008, 04/008, 03/009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SHALLOW BASES AFFECTED AT THIS LOCATION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 (0.41 m from cut): REMOVE / PROTECT BEFORE SAWCUT, RE-FIX AFTER PAVING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TCCECH.03, TCCECH.04</a:t>
            </a:r>
            <a:endParaRPr lang="en-US" sz="760" dirty="0"/>
          </a:p>
        </p:txBody>
      </p:sp>
      <p:sp>
        <p:nvSpPr>
          <p:cNvPr id="83" name="Shape 81"/>
          <p:cNvSpPr/>
          <p:nvPr/>
        </p:nvSpPr>
        <p:spPr>
          <a:xfrm>
            <a:off x="10104120" y="3744468"/>
            <a:ext cx="4709160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241280" y="381762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10241280" y="4073652"/>
            <a:ext cx="44348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demarcation (red) drawn around field-verified affected assets (+2.0 m) — field condition governs.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</p:txBody>
      </p:sp>
      <p:sp>
        <p:nvSpPr>
          <p:cNvPr id="86" name="Shape 84"/>
          <p:cNvSpPr/>
          <p:nvPr/>
        </p:nvSpPr>
        <p:spPr>
          <a:xfrm>
            <a:off x="10104120" y="5811012"/>
            <a:ext cx="4709160" cy="17739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41280" y="5884164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10305288" y="6208776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351008" y="6254496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0616184" y="6195060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91" name="Shape 89"/>
          <p:cNvSpPr/>
          <p:nvPr/>
        </p:nvSpPr>
        <p:spPr>
          <a:xfrm>
            <a:off x="10305288" y="6483096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351008" y="6528816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16184" y="6469380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94" name="Shape 92"/>
          <p:cNvSpPr/>
          <p:nvPr/>
        </p:nvSpPr>
        <p:spPr>
          <a:xfrm>
            <a:off x="10351008" y="6807708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616184" y="6743700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96" name="Shape 94"/>
          <p:cNvSpPr/>
          <p:nvPr/>
        </p:nvSpPr>
        <p:spPr>
          <a:xfrm>
            <a:off x="10268712" y="7127748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97" name="Text 95"/>
          <p:cNvSpPr/>
          <p:nvPr/>
        </p:nvSpPr>
        <p:spPr>
          <a:xfrm>
            <a:off x="10616184" y="7018020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98" name="Shape 96"/>
          <p:cNvSpPr/>
          <p:nvPr/>
        </p:nvSpPr>
        <p:spPr>
          <a:xfrm>
            <a:off x="10268712" y="7402068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0616184" y="7292340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3   ·   DWG NO [XXX-ELE-SHD-1003] REV P04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 flipV="1">
            <a:off x="8138616" y="6554322"/>
            <a:ext cx="580574" cy="212927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6965925" y="6554322"/>
            <a:ext cx="1753265" cy="118804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313315" y="9353643"/>
            <a:ext cx="562205" cy="27358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6377923" y="6554322"/>
            <a:ext cx="2341267" cy="71568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7552823" y="6554322"/>
            <a:ext cx="1166367" cy="16575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 flipV="1">
            <a:off x="320040" y="3344302"/>
            <a:ext cx="270413" cy="19211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flipV="1">
            <a:off x="1676720" y="3953885"/>
            <a:ext cx="287778" cy="23469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1676720" y="4334109"/>
            <a:ext cx="939217" cy="196676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289068" y="3623648"/>
            <a:ext cx="387652" cy="26772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1676720" y="5706748"/>
            <a:ext cx="2030603" cy="5941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 flipV="1">
            <a:off x="1676720" y="5942029"/>
            <a:ext cx="1842198" cy="35884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 flipV="1">
            <a:off x="1676720" y="6177110"/>
            <a:ext cx="1654596" cy="12376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1090826" y="1298442"/>
            <a:ext cx="800030" cy="172997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1676720" y="3975867"/>
            <a:ext cx="590812" cy="23250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1676720" y="4754181"/>
            <a:ext cx="1563454" cy="154669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561544" y="1298442"/>
            <a:ext cx="266014" cy="17876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1347387" y="1298442"/>
            <a:ext cx="598309" cy="146087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1676720" y="4444120"/>
            <a:ext cx="1178814" cy="1856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29924" y="1298442"/>
            <a:ext cx="641799" cy="83322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1808413" y="2767442"/>
            <a:ext cx="2698404" cy="58639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676720" y="4916991"/>
            <a:ext cx="1767619" cy="138388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676720" y="3911526"/>
            <a:ext cx="636684" cy="238934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5788416" y="5207981"/>
            <a:ext cx="2251129" cy="159226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5203827" y="3840862"/>
            <a:ext cx="282658" cy="248691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4615424" y="3840862"/>
            <a:ext cx="871062" cy="201303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027824" y="3840862"/>
            <a:ext cx="1458662" cy="15442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4650857" y="3840862"/>
            <a:ext cx="835629" cy="6895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4461748" y="3840862"/>
            <a:ext cx="1024737" cy="92586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4273042" y="3840862"/>
            <a:ext cx="1213444" cy="116255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4085941" y="3840862"/>
            <a:ext cx="1400544" cy="139783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3897134" y="3840862"/>
            <a:ext cx="1589351" cy="163120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5416222" y="377059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69282" y="513771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6824" y="366087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129884" y="502799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2980201" y="6295152"/>
            <a:ext cx="2889921" cy="73294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980201" y="5816660"/>
            <a:ext cx="381930" cy="478492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3362131" y="5581278"/>
            <a:ext cx="188506" cy="23538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3550637" y="4311223"/>
            <a:ext cx="1018715" cy="1270056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69351" y="4311223"/>
            <a:ext cx="1013997" cy="187703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83348" y="4498926"/>
            <a:ext cx="1303481" cy="1144787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5870122" y="5643712"/>
            <a:ext cx="1016707" cy="138438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70122" y="7028096"/>
            <a:ext cx="914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91911" y="4036903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(614.4 m²)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102128" y="69599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77556" y="27381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09355" y="865433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36664" y="77131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51911" y="7016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50942" y="58420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47651" y="2605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300003" y="14441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249569" y="51190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329502" y="36588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731117" y="78138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84054" y="95979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48663" y="7240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59155" y="67709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74566" y="62985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86163" y="58246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3562" y="81825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1192" y="33150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935237" y="392462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86676" y="430484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259808" y="35943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3173" y="325431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500107" y="35661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166101" y="392231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800878" y="43224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998563" y="53558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67873" y="54428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678063" y="56774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89657" y="59127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302055" y="61478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61565" y="299915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238271" y="3946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210913" y="472492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32284" y="144795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318126" y="27300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826273" y="441486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00663" y="21024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779152" y="33245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15078" y="488773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284143" y="388226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457225" y="38116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689929" y="652506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115523" y="60539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743095" y="31713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953985" y="3341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280619" y="17448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010284" y="517872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049386" y="41946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647459" y="62716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632035" y="204006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90299" y="659401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638325" y="83469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755642" y="23427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93953" y="687684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RRM.283</a:t>
            </a:r>
            <a:endParaRPr lang="en-US" sz="500" dirty="0"/>
          </a:p>
        </p:txBody>
      </p:sp>
      <p:sp>
        <p:nvSpPr>
          <p:cNvPr id="103" name="Text 101"/>
          <p:cNvSpPr/>
          <p:nvPr/>
        </p:nvSpPr>
        <p:spPr>
          <a:xfrm>
            <a:off x="4569381" y="265503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P4.036.399</a:t>
            </a:r>
            <a:endParaRPr lang="en-US" sz="500" dirty="0"/>
          </a:p>
        </p:txBody>
      </p:sp>
      <p:sp>
        <p:nvSpPr>
          <p:cNvPr id="104" name="Text 102"/>
          <p:cNvSpPr/>
          <p:nvPr/>
        </p:nvSpPr>
        <p:spPr>
          <a:xfrm>
            <a:off x="8201180" y="857118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TCCECH.04.005</a:t>
            </a:r>
            <a:endParaRPr lang="en-US" sz="500" dirty="0"/>
          </a:p>
        </p:txBody>
      </p:sp>
      <p:sp>
        <p:nvSpPr>
          <p:cNvPr id="105" name="Text 103"/>
          <p:cNvSpPr/>
          <p:nvPr/>
        </p:nvSpPr>
        <p:spPr>
          <a:xfrm>
            <a:off x="7028489" y="762996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TCCECH.04.004</a:t>
            </a:r>
            <a:endParaRPr lang="en-US" sz="500" dirty="0"/>
          </a:p>
        </p:txBody>
      </p:sp>
      <p:sp>
        <p:nvSpPr>
          <p:cNvPr id="106" name="Text 104"/>
          <p:cNvSpPr/>
          <p:nvPr/>
        </p:nvSpPr>
        <p:spPr>
          <a:xfrm>
            <a:off x="4343736" y="693355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RRM.547</a:t>
            </a:r>
            <a:endParaRPr lang="en-US" sz="500" dirty="0"/>
          </a:p>
        </p:txBody>
      </p:sp>
      <p:sp>
        <p:nvSpPr>
          <p:cNvPr id="107" name="Text 105"/>
          <p:cNvSpPr/>
          <p:nvPr/>
        </p:nvSpPr>
        <p:spPr>
          <a:xfrm>
            <a:off x="2642767" y="575885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RRM.548</a:t>
            </a:r>
            <a:endParaRPr lang="en-US" sz="500" dirty="0"/>
          </a:p>
        </p:txBody>
      </p:sp>
      <p:sp>
        <p:nvSpPr>
          <p:cNvPr id="108" name="Text 106"/>
          <p:cNvSpPr/>
          <p:nvPr/>
        </p:nvSpPr>
        <p:spPr>
          <a:xfrm>
            <a:off x="3339475" y="25228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RRM.558</a:t>
            </a:r>
            <a:endParaRPr lang="en-US" sz="500" dirty="0"/>
          </a:p>
        </p:txBody>
      </p:sp>
      <p:sp>
        <p:nvSpPr>
          <p:cNvPr id="109" name="Text 107"/>
          <p:cNvSpPr/>
          <p:nvPr/>
        </p:nvSpPr>
        <p:spPr>
          <a:xfrm>
            <a:off x="2391827" y="136098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RRM.559</a:t>
            </a:r>
            <a:endParaRPr lang="en-US" sz="500" dirty="0"/>
          </a:p>
        </p:txBody>
      </p:sp>
      <p:sp>
        <p:nvSpPr>
          <p:cNvPr id="110" name="Text 108"/>
          <p:cNvSpPr/>
          <p:nvPr/>
        </p:nvSpPr>
        <p:spPr>
          <a:xfrm>
            <a:off x="1341394" y="503594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RRM.655</a:t>
            </a:r>
            <a:endParaRPr lang="en-US" sz="500" dirty="0"/>
          </a:p>
        </p:txBody>
      </p:sp>
      <p:sp>
        <p:nvSpPr>
          <p:cNvPr id="111" name="Text 109"/>
          <p:cNvSpPr/>
          <p:nvPr/>
        </p:nvSpPr>
        <p:spPr>
          <a:xfrm>
            <a:off x="4421326" y="357568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RRM.669</a:t>
            </a:r>
            <a:endParaRPr lang="en-US" sz="500" dirty="0"/>
          </a:p>
        </p:txBody>
      </p:sp>
      <p:sp>
        <p:nvSpPr>
          <p:cNvPr id="112" name="Text 110"/>
          <p:cNvSpPr/>
          <p:nvPr/>
        </p:nvSpPr>
        <p:spPr>
          <a:xfrm>
            <a:off x="2822941" y="773073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HH.E.144</a:t>
            </a:r>
            <a:endParaRPr lang="en-US" sz="500" dirty="0"/>
          </a:p>
        </p:txBody>
      </p:sp>
      <p:sp>
        <p:nvSpPr>
          <p:cNvPr id="113" name="Text 111"/>
          <p:cNvSpPr/>
          <p:nvPr/>
        </p:nvSpPr>
        <p:spPr>
          <a:xfrm>
            <a:off x="9375878" y="951482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114" name="Text 112"/>
          <p:cNvSpPr/>
          <p:nvPr/>
        </p:nvSpPr>
        <p:spPr>
          <a:xfrm>
            <a:off x="6440487" y="71575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TCCECH.03.004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5850980" y="668783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TCCECH.04.003</a:t>
            </a:r>
            <a:endParaRPr lang="en-US" sz="500" dirty="0"/>
          </a:p>
        </p:txBody>
      </p:sp>
      <p:sp>
        <p:nvSpPr>
          <p:cNvPr id="116" name="Text 114"/>
          <p:cNvSpPr/>
          <p:nvPr/>
        </p:nvSpPr>
        <p:spPr>
          <a:xfrm>
            <a:off x="5266391" y="621536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TCCECH.03.003</a:t>
            </a:r>
            <a:endParaRPr lang="en-US" sz="500" dirty="0"/>
          </a:p>
        </p:txBody>
      </p:sp>
      <p:sp>
        <p:nvSpPr>
          <p:cNvPr id="117" name="Text 115"/>
          <p:cNvSpPr/>
          <p:nvPr/>
        </p:nvSpPr>
        <p:spPr>
          <a:xfrm>
            <a:off x="4677987" y="57414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TCCECH.04.002</a:t>
            </a:r>
            <a:endParaRPr lang="en-US" sz="500" dirty="0"/>
          </a:p>
        </p:txBody>
      </p:sp>
      <p:sp>
        <p:nvSpPr>
          <p:cNvPr id="118" name="Text 116"/>
          <p:cNvSpPr/>
          <p:nvPr/>
        </p:nvSpPr>
        <p:spPr>
          <a:xfrm>
            <a:off x="7615386" y="809942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TCCECH.03.005</a:t>
            </a:r>
            <a:endParaRPr lang="en-US" sz="500" dirty="0"/>
          </a:p>
        </p:txBody>
      </p:sp>
      <p:sp>
        <p:nvSpPr>
          <p:cNvPr id="119" name="Text 117"/>
          <p:cNvSpPr/>
          <p:nvPr/>
        </p:nvSpPr>
        <p:spPr>
          <a:xfrm>
            <a:off x="653016" y="32318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TCCECH.05.034</a:t>
            </a:r>
            <a:endParaRPr lang="en-US" sz="500" dirty="0"/>
          </a:p>
        </p:txBody>
      </p:sp>
      <p:sp>
        <p:nvSpPr>
          <p:cNvPr id="120" name="Text 118"/>
          <p:cNvSpPr/>
          <p:nvPr/>
        </p:nvSpPr>
        <p:spPr>
          <a:xfrm>
            <a:off x="2027061" y="38414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TCCECH.05.033</a:t>
            </a:r>
            <a:endParaRPr lang="en-US" sz="500" dirty="0"/>
          </a:p>
        </p:txBody>
      </p:sp>
      <p:sp>
        <p:nvSpPr>
          <p:cNvPr id="121" name="Text 119"/>
          <p:cNvSpPr/>
          <p:nvPr/>
        </p:nvSpPr>
        <p:spPr>
          <a:xfrm>
            <a:off x="2678500" y="422170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TCCECH.06.035</a:t>
            </a:r>
            <a:endParaRPr lang="en-US" sz="500" dirty="0"/>
          </a:p>
        </p:txBody>
      </p:sp>
      <p:sp>
        <p:nvSpPr>
          <p:cNvPr id="122" name="Text 120"/>
          <p:cNvSpPr/>
          <p:nvPr/>
        </p:nvSpPr>
        <p:spPr>
          <a:xfrm>
            <a:off x="1351632" y="351123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TCCECH.06.036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914997" y="317116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EL.EBASE.13328</a:t>
            </a:r>
            <a:endParaRPr lang="en-US" sz="500" dirty="0"/>
          </a:p>
        </p:txBody>
      </p:sp>
      <p:sp>
        <p:nvSpPr>
          <p:cNvPr id="124" name="Text 122"/>
          <p:cNvSpPr/>
          <p:nvPr/>
        </p:nvSpPr>
        <p:spPr>
          <a:xfrm>
            <a:off x="1591932" y="348303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EL.EBASE.13329</a:t>
            </a:r>
            <a:endParaRPr lang="en-US" sz="500" dirty="0"/>
          </a:p>
        </p:txBody>
      </p:sp>
      <p:sp>
        <p:nvSpPr>
          <p:cNvPr id="125" name="Text 123"/>
          <p:cNvSpPr/>
          <p:nvPr/>
        </p:nvSpPr>
        <p:spPr>
          <a:xfrm>
            <a:off x="2257926" y="38391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EL.EBASE.13330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2892702" y="423926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EL.EBASE.13331</a:t>
            </a:r>
            <a:endParaRPr lang="en-US" sz="500" dirty="0"/>
          </a:p>
        </p:txBody>
      </p:sp>
      <p:sp>
        <p:nvSpPr>
          <p:cNvPr id="127" name="Text 125"/>
          <p:cNvSpPr/>
          <p:nvPr/>
        </p:nvSpPr>
        <p:spPr>
          <a:xfrm>
            <a:off x="4090387" y="527273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TCCECH.03.002</a:t>
            </a:r>
            <a:endParaRPr lang="en-US" sz="500" dirty="0"/>
          </a:p>
        </p:txBody>
      </p:sp>
      <p:sp>
        <p:nvSpPr>
          <p:cNvPr id="128" name="Text 126"/>
          <p:cNvSpPr/>
          <p:nvPr/>
        </p:nvSpPr>
        <p:spPr>
          <a:xfrm>
            <a:off x="3959698" y="535966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SBC102.01.040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3769887" y="559434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SBC102.02.037</a:t>
            </a:r>
            <a:endParaRPr lang="en-US" sz="500" dirty="0"/>
          </a:p>
        </p:txBody>
      </p:sp>
      <p:sp>
        <p:nvSpPr>
          <p:cNvPr id="130" name="Text 128"/>
          <p:cNvSpPr/>
          <p:nvPr/>
        </p:nvSpPr>
        <p:spPr>
          <a:xfrm>
            <a:off x="3581482" y="58296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SBC102.01.041</a:t>
            </a:r>
            <a:endParaRPr lang="en-US" sz="500" dirty="0"/>
          </a:p>
        </p:txBody>
      </p:sp>
      <p:sp>
        <p:nvSpPr>
          <p:cNvPr id="131" name="Text 129"/>
          <p:cNvSpPr/>
          <p:nvPr/>
        </p:nvSpPr>
        <p:spPr>
          <a:xfrm>
            <a:off x="3393879" y="606470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SBC102.02.038</a:t>
            </a:r>
            <a:endParaRPr lang="en-US" sz="500" dirty="0"/>
          </a:p>
        </p:txBody>
      </p:sp>
      <p:sp>
        <p:nvSpPr>
          <p:cNvPr id="132" name="Text 130"/>
          <p:cNvSpPr/>
          <p:nvPr/>
        </p:nvSpPr>
        <p:spPr>
          <a:xfrm>
            <a:off x="1153390" y="291601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TCC102.01.052</a:t>
            </a:r>
            <a:endParaRPr lang="en-US" sz="500" dirty="0"/>
          </a:p>
        </p:txBody>
      </p:sp>
      <p:sp>
        <p:nvSpPr>
          <p:cNvPr id="133" name="Text 131"/>
          <p:cNvSpPr/>
          <p:nvPr/>
        </p:nvSpPr>
        <p:spPr>
          <a:xfrm>
            <a:off x="2330096" y="386345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TCC102.02.050</a:t>
            </a:r>
            <a:endParaRPr lang="en-US" sz="500" dirty="0"/>
          </a:p>
        </p:txBody>
      </p:sp>
      <p:sp>
        <p:nvSpPr>
          <p:cNvPr id="134" name="Text 132"/>
          <p:cNvSpPr/>
          <p:nvPr/>
        </p:nvSpPr>
        <p:spPr>
          <a:xfrm>
            <a:off x="3302738" y="464177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TCCECH.03.001</a:t>
            </a:r>
            <a:endParaRPr lang="en-US" sz="500" dirty="0"/>
          </a:p>
        </p:txBody>
      </p:sp>
      <p:sp>
        <p:nvSpPr>
          <p:cNvPr id="135" name="Text 133"/>
          <p:cNvSpPr/>
          <p:nvPr/>
        </p:nvSpPr>
        <p:spPr>
          <a:xfrm>
            <a:off x="624108" y="136480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TCCECH.05.016</a:t>
            </a:r>
            <a:endParaRPr lang="en-US" sz="500" dirty="0"/>
          </a:p>
        </p:txBody>
      </p:sp>
      <p:sp>
        <p:nvSpPr>
          <p:cNvPr id="136" name="Text 134"/>
          <p:cNvSpPr/>
          <p:nvPr/>
        </p:nvSpPr>
        <p:spPr>
          <a:xfrm>
            <a:off x="1409950" y="264690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TCCECH.05.017</a:t>
            </a:r>
            <a:endParaRPr lang="en-US" sz="500" dirty="0"/>
          </a:p>
        </p:txBody>
      </p:sp>
      <p:sp>
        <p:nvSpPr>
          <p:cNvPr id="137" name="Text 135"/>
          <p:cNvSpPr/>
          <p:nvPr/>
        </p:nvSpPr>
        <p:spPr>
          <a:xfrm>
            <a:off x="2918098" y="433171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TCCECH.06.019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992487" y="20192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TCCECH.06.017</a:t>
            </a:r>
            <a:endParaRPr lang="en-US" sz="500" dirty="0"/>
          </a:p>
        </p:txBody>
      </p:sp>
      <p:sp>
        <p:nvSpPr>
          <p:cNvPr id="139" name="Text 137"/>
          <p:cNvSpPr/>
          <p:nvPr/>
        </p:nvSpPr>
        <p:spPr>
          <a:xfrm>
            <a:off x="1870977" y="324142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TCCECH.06.018</a:t>
            </a:r>
            <a:endParaRPr lang="en-US" sz="500" dirty="0"/>
          </a:p>
        </p:txBody>
      </p:sp>
      <p:sp>
        <p:nvSpPr>
          <p:cNvPr id="140" name="Text 138"/>
          <p:cNvSpPr/>
          <p:nvPr/>
        </p:nvSpPr>
        <p:spPr>
          <a:xfrm>
            <a:off x="3506902" y="480458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TCCECH.04.001</a:t>
            </a:r>
            <a:endParaRPr lang="en-US" sz="500" dirty="0"/>
          </a:p>
        </p:txBody>
      </p:sp>
      <p:sp>
        <p:nvSpPr>
          <p:cNvPr id="141" name="Text 139"/>
          <p:cNvSpPr/>
          <p:nvPr/>
        </p:nvSpPr>
        <p:spPr>
          <a:xfrm>
            <a:off x="2375968" y="379911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TCCECH.05.018</a:t>
            </a:r>
            <a:endParaRPr lang="en-US" sz="500" dirty="0"/>
          </a:p>
        </p:txBody>
      </p:sp>
      <p:sp>
        <p:nvSpPr>
          <p:cNvPr id="142" name="Text 140"/>
          <p:cNvSpPr/>
          <p:nvPr/>
        </p:nvSpPr>
        <p:spPr>
          <a:xfrm>
            <a:off x="5549049" y="37284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500" dirty="0"/>
          </a:p>
        </p:txBody>
      </p:sp>
      <p:sp>
        <p:nvSpPr>
          <p:cNvPr id="143" name="Text 141"/>
          <p:cNvSpPr/>
          <p:nvPr/>
        </p:nvSpPr>
        <p:spPr>
          <a:xfrm>
            <a:off x="8781754" y="644191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P4.039</a:t>
            </a:r>
            <a:endParaRPr lang="en-US" sz="500" dirty="0"/>
          </a:p>
        </p:txBody>
      </p:sp>
      <p:sp>
        <p:nvSpPr>
          <p:cNvPr id="144" name="Text 142"/>
          <p:cNvSpPr/>
          <p:nvPr/>
        </p:nvSpPr>
        <p:spPr>
          <a:xfrm>
            <a:off x="9207347" y="597084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HH.E.057</a:t>
            </a:r>
            <a:endParaRPr lang="en-US" sz="500" dirty="0"/>
          </a:p>
        </p:txBody>
      </p:sp>
      <p:sp>
        <p:nvSpPr>
          <p:cNvPr id="145" name="Text 143"/>
          <p:cNvSpPr/>
          <p:nvPr/>
        </p:nvSpPr>
        <p:spPr>
          <a:xfrm>
            <a:off x="5834919" y="308815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HH.E.061</a:t>
            </a:r>
            <a:endParaRPr lang="en-US" sz="500" dirty="0"/>
          </a:p>
        </p:txBody>
      </p:sp>
      <p:sp>
        <p:nvSpPr>
          <p:cNvPr id="146" name="Text 144"/>
          <p:cNvSpPr/>
          <p:nvPr/>
        </p:nvSpPr>
        <p:spPr>
          <a:xfrm>
            <a:off x="6045809" y="32585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HH.E.060</a:t>
            </a:r>
            <a:endParaRPr lang="en-US" sz="500" dirty="0"/>
          </a:p>
        </p:txBody>
      </p:sp>
      <p:sp>
        <p:nvSpPr>
          <p:cNvPr id="147" name="Text 145"/>
          <p:cNvSpPr/>
          <p:nvPr/>
        </p:nvSpPr>
        <p:spPr>
          <a:xfrm>
            <a:off x="4372443" y="166171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HH.E4.010</a:t>
            </a:r>
            <a:endParaRPr lang="en-US" sz="500" dirty="0"/>
          </a:p>
        </p:txBody>
      </p:sp>
      <p:sp>
        <p:nvSpPr>
          <p:cNvPr id="148" name="Text 146"/>
          <p:cNvSpPr/>
          <p:nvPr/>
        </p:nvSpPr>
        <p:spPr>
          <a:xfrm>
            <a:off x="8102109" y="509557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500" dirty="0"/>
          </a:p>
        </p:txBody>
      </p:sp>
      <p:sp>
        <p:nvSpPr>
          <p:cNvPr id="149" name="Text 147"/>
          <p:cNvSpPr/>
          <p:nvPr/>
        </p:nvSpPr>
        <p:spPr>
          <a:xfrm>
            <a:off x="7141211" y="411148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HH.E.059</a:t>
            </a:r>
            <a:endParaRPr lang="en-US" sz="500" dirty="0"/>
          </a:p>
        </p:txBody>
      </p:sp>
      <p:sp>
        <p:nvSpPr>
          <p:cNvPr id="150" name="Text 148"/>
          <p:cNvSpPr/>
          <p:nvPr/>
        </p:nvSpPr>
        <p:spPr>
          <a:xfrm>
            <a:off x="1739284" y="618846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P4.041</a:t>
            </a:r>
            <a:endParaRPr lang="en-US" sz="500" dirty="0"/>
          </a:p>
        </p:txBody>
      </p:sp>
      <p:sp>
        <p:nvSpPr>
          <p:cNvPr id="151" name="Text 149"/>
          <p:cNvSpPr/>
          <p:nvPr/>
        </p:nvSpPr>
        <p:spPr>
          <a:xfrm>
            <a:off x="4723859" y="195691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MH.E.015</a:t>
            </a:r>
            <a:endParaRPr lang="en-US" sz="500" dirty="0"/>
          </a:p>
        </p:txBody>
      </p:sp>
      <p:sp>
        <p:nvSpPr>
          <p:cNvPr id="152" name="Text 150"/>
          <p:cNvSpPr/>
          <p:nvPr/>
        </p:nvSpPr>
        <p:spPr>
          <a:xfrm>
            <a:off x="1082123" y="651087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MH.E.023</a:t>
            </a:r>
            <a:endParaRPr lang="en-US" sz="500" dirty="0"/>
          </a:p>
        </p:txBody>
      </p:sp>
      <p:sp>
        <p:nvSpPr>
          <p:cNvPr id="153" name="Text 151"/>
          <p:cNvSpPr/>
          <p:nvPr/>
        </p:nvSpPr>
        <p:spPr>
          <a:xfrm>
            <a:off x="1730149" y="826383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SGC102.02.015</a:t>
            </a:r>
            <a:endParaRPr lang="en-US" sz="500" dirty="0"/>
          </a:p>
        </p:txBody>
      </p:sp>
      <p:sp>
        <p:nvSpPr>
          <p:cNvPr id="154" name="Text 152"/>
          <p:cNvSpPr/>
          <p:nvPr/>
        </p:nvSpPr>
        <p:spPr>
          <a:xfrm>
            <a:off x="5847466" y="22595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SGC102.02.014</a:t>
            </a:r>
            <a:endParaRPr lang="en-US" sz="500" dirty="0"/>
          </a:p>
        </p:txBody>
      </p:sp>
      <p:sp>
        <p:nvSpPr>
          <p:cNvPr id="155" name="Shape 153"/>
          <p:cNvSpPr/>
          <p:nvPr/>
        </p:nvSpPr>
        <p:spPr>
          <a:xfrm>
            <a:off x="4545701" y="4425288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595993" y="4475580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769729" y="431098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SBC102-01/038</a:t>
            </a:r>
            <a:endParaRPr lang="en-US" sz="650" dirty="0"/>
          </a:p>
        </p:txBody>
      </p:sp>
      <p:sp>
        <p:nvSpPr>
          <p:cNvPr id="158" name="Shape 156"/>
          <p:cNvSpPr/>
          <p:nvPr/>
        </p:nvSpPr>
        <p:spPr>
          <a:xfrm>
            <a:off x="4167886" y="48982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218178" y="49485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391914" y="47839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SBC102-01/039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356592" y="4661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406884" y="4711864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580620" y="45472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SBC102-02/035</a:t>
            </a:r>
            <a:endParaRPr lang="en-US" sz="650" dirty="0"/>
          </a:p>
        </p:txBody>
      </p:sp>
      <p:sp>
        <p:nvSpPr>
          <p:cNvPr id="164" name="Shape 162"/>
          <p:cNvSpPr/>
          <p:nvPr/>
        </p:nvSpPr>
        <p:spPr>
          <a:xfrm>
            <a:off x="3980785" y="513354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4031077" y="518383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204813" y="5019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SBC102-02/036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3791978" y="536691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3842270" y="541720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016006" y="525261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SBC102-01/040</a:t>
            </a:r>
            <a:endParaRPr lang="en-US" sz="650" dirty="0"/>
          </a:p>
        </p:txBody>
      </p:sp>
      <p:sp>
        <p:nvSpPr>
          <p:cNvPr id="170" name="Shape 168"/>
          <p:cNvSpPr/>
          <p:nvPr/>
        </p:nvSpPr>
        <p:spPr>
          <a:xfrm>
            <a:off x="3413762" y="583687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3464054" y="588716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3637790" y="5722573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SBC102-01/041</a:t>
            </a:r>
            <a:endParaRPr lang="en-US" sz="650" dirty="0"/>
          </a:p>
        </p:txBody>
      </p:sp>
      <p:sp>
        <p:nvSpPr>
          <p:cNvPr id="173" name="Shape 171"/>
          <p:cNvSpPr/>
          <p:nvPr/>
        </p:nvSpPr>
        <p:spPr>
          <a:xfrm>
            <a:off x="3602168" y="560159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3652460" y="565188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26196" y="54872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SBC102-02/037</a:t>
            </a:r>
            <a:endParaRPr lang="en-US" sz="650" dirty="0"/>
          </a:p>
        </p:txBody>
      </p:sp>
      <p:sp>
        <p:nvSpPr>
          <p:cNvPr id="176" name="Shape 174"/>
          <p:cNvSpPr/>
          <p:nvPr/>
        </p:nvSpPr>
        <p:spPr>
          <a:xfrm>
            <a:off x="3226160" y="607195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3276452" y="612224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3450188" y="595765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SBC102-02/038</a:t>
            </a:r>
            <a:endParaRPr lang="en-US" sz="650" dirty="0"/>
          </a:p>
        </p:txBody>
      </p:sp>
      <p:sp>
        <p:nvSpPr>
          <p:cNvPr id="179" name="Shape 177"/>
          <p:cNvSpPr/>
          <p:nvPr/>
        </p:nvSpPr>
        <p:spPr>
          <a:xfrm>
            <a:off x="3922668" y="527998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972960" y="53302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4146696" y="516568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TCCECH-03/002</a:t>
            </a:r>
            <a:endParaRPr lang="en-US" sz="650" dirty="0"/>
          </a:p>
        </p:txBody>
      </p:sp>
      <p:sp>
        <p:nvSpPr>
          <p:cNvPr id="182" name="Shape 180"/>
          <p:cNvSpPr/>
          <p:nvPr/>
        </p:nvSpPr>
        <p:spPr>
          <a:xfrm>
            <a:off x="4510268" y="574874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560560" y="579903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4734296" y="5634443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TCCECH-04/002</a:t>
            </a:r>
            <a:endParaRPr lang="en-US" sz="650" dirty="0"/>
          </a:p>
        </p:txBody>
      </p:sp>
      <p:sp>
        <p:nvSpPr>
          <p:cNvPr id="185" name="Shape 183"/>
          <p:cNvSpPr/>
          <p:nvPr/>
        </p:nvSpPr>
        <p:spPr>
          <a:xfrm>
            <a:off x="5098671" y="622261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148963" y="627291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322699" y="610831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TCCECH-03/003</a:t>
            </a:r>
            <a:endParaRPr lang="en-US" sz="650" dirty="0"/>
          </a:p>
        </p:txBody>
      </p:sp>
      <p:sp>
        <p:nvSpPr>
          <p:cNvPr id="188" name="Shape 186"/>
          <p:cNvSpPr/>
          <p:nvPr/>
        </p:nvSpPr>
        <p:spPr>
          <a:xfrm>
            <a:off x="5683260" y="669508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33552" y="674537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5907288" y="658078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TCCECH-04/003</a:t>
            </a:r>
            <a:endParaRPr lang="en-US" sz="650" dirty="0"/>
          </a:p>
        </p:txBody>
      </p:sp>
      <p:sp>
        <p:nvSpPr>
          <p:cNvPr id="191" name="Shape 189"/>
          <p:cNvSpPr/>
          <p:nvPr/>
        </p:nvSpPr>
        <p:spPr>
          <a:xfrm>
            <a:off x="6510959" y="5567966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561251" y="5618258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734987" y="545366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</a:t>
            </a:r>
            <a:endParaRPr lang="en-US" sz="650" dirty="0"/>
          </a:p>
        </p:txBody>
      </p:sp>
      <p:sp>
        <p:nvSpPr>
          <p:cNvPr id="194" name="Shape 192"/>
          <p:cNvSpPr/>
          <p:nvPr/>
        </p:nvSpPr>
        <p:spPr>
          <a:xfrm>
            <a:off x="5387252" y="4581071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437544" y="4631363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5611280" y="446677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RRM.670</a:t>
            </a:r>
            <a:endParaRPr lang="en-US" sz="650" dirty="0"/>
          </a:p>
        </p:txBody>
      </p:sp>
      <p:sp>
        <p:nvSpPr>
          <p:cNvPr id="197" name="Shape 195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3 — 1003  ·  REV P04 (EDITABLE)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— FIELD CONDITION GOVERNS (rev _1 supersedes earlier all-NO rev)</a:t>
            </a:r>
            <a:endParaRPr lang="en-US" sz="800" dirty="0"/>
          </a:p>
        </p:txBody>
      </p:sp>
      <p:sp>
        <p:nvSpPr>
          <p:cNvPr id="200" name="Text 198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201" name="Shape 199"/>
          <p:cNvSpPr/>
          <p:nvPr/>
        </p:nvSpPr>
        <p:spPr>
          <a:xfrm>
            <a:off x="10104120" y="2057400"/>
            <a:ext cx="4709160" cy="1808683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203" name="Text 201"/>
          <p:cNvSpPr/>
          <p:nvPr/>
        </p:nvSpPr>
        <p:spPr>
          <a:xfrm>
            <a:off x="10241280" y="2386584"/>
            <a:ext cx="4434840" cy="1424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 BASE AFFECTED + NEW CABLE (VIA SAWCUT): 4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SBC102-01/038, 01/039, 02/035, 02/036 (EP7 STOP BAR)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8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SBC102-01/040, 01/041, 02/037, 02/038, TCCECH-03/002, 04/002, 03/003, 04/003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 (0.07 m — treat as within works) &amp; RRM.670: REMOVE / PROTECT / RE-FIX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SBC102.01/.02, TCCECH.03/.04</a:t>
            </a:r>
            <a:endParaRPr lang="en-US" sz="760" dirty="0"/>
          </a:p>
        </p:txBody>
      </p:sp>
      <p:sp>
        <p:nvSpPr>
          <p:cNvPr id="204" name="Shape 202"/>
          <p:cNvSpPr/>
          <p:nvPr/>
        </p:nvSpPr>
        <p:spPr>
          <a:xfrm>
            <a:off x="10104120" y="3975811"/>
            <a:ext cx="4709160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10241280" y="4048963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10241280" y="4304995"/>
            <a:ext cx="44348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demarcation (red) drawn around field-verified affected assets (+2.0 m) — field condition governs.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</p:txBody>
      </p:sp>
      <p:sp>
        <p:nvSpPr>
          <p:cNvPr id="207" name="Shape 205"/>
          <p:cNvSpPr/>
          <p:nvPr/>
        </p:nvSpPr>
        <p:spPr>
          <a:xfrm>
            <a:off x="10104120" y="6042355"/>
            <a:ext cx="4709160" cy="204825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241280" y="6115507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10305288" y="6440119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351008" y="6485839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616184" y="642640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(SAWCUT) — outer red / inner orange</a:t>
            </a:r>
            <a:endParaRPr lang="en-US" sz="740" dirty="0"/>
          </a:p>
        </p:txBody>
      </p:sp>
      <p:sp>
        <p:nvSpPr>
          <p:cNvPr id="212" name="Shape 210"/>
          <p:cNvSpPr/>
          <p:nvPr/>
        </p:nvSpPr>
        <p:spPr>
          <a:xfrm>
            <a:off x="10305288" y="6714439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0351008" y="6760159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10616184" y="670072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215" name="Shape 213"/>
          <p:cNvSpPr/>
          <p:nvPr/>
        </p:nvSpPr>
        <p:spPr>
          <a:xfrm>
            <a:off x="10305288" y="6988759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0351008" y="7034479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10616184" y="697504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218" name="Shape 216"/>
          <p:cNvSpPr/>
          <p:nvPr/>
        </p:nvSpPr>
        <p:spPr>
          <a:xfrm>
            <a:off x="10351008" y="7313371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10616184" y="724936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220" name="Shape 218"/>
          <p:cNvSpPr/>
          <p:nvPr/>
        </p:nvSpPr>
        <p:spPr>
          <a:xfrm>
            <a:off x="10268712" y="7633411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221" name="Text 219"/>
          <p:cNvSpPr/>
          <p:nvPr/>
        </p:nvSpPr>
        <p:spPr>
          <a:xfrm>
            <a:off x="10616184" y="752368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222" name="Shape 220"/>
          <p:cNvSpPr/>
          <p:nvPr/>
        </p:nvSpPr>
        <p:spPr>
          <a:xfrm>
            <a:off x="10268712" y="7907731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10616184" y="7798003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417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FIELD-GOVERNED SCOPE — TWY E (E4–E6) · REV P04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4173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3108960"/>
                <a:gridCol w="1097280"/>
                <a:gridCol w="68580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Remarks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AFFECTED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verified — no works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10104120"/>
            <a:ext cx="1417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Totals: 15 core-outs / base works · 31 secondary cable runs · 3 RRMs · 1 field-verified not affected. Edit rows as required, then align the drawing sheets to match.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2026-07-28T12:57:47Z</dcterms:created>
  <dcterms:modified xsi:type="dcterms:W3CDTF">2026-07-28T12:57:47Z</dcterms:modified>
</cp:coreProperties>
</file>