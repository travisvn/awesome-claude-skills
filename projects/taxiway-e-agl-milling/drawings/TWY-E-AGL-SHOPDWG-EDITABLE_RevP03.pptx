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5124176" cy="10689336"/>
  <p:notesSz cx="10689336" cy="1512417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920240"/>
            <a:ext cx="1325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 DRAWINGS — ELECTRICAL / AGL SCOPE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2926080"/>
            <a:ext cx="1325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RECTIFICATION OF TWY E BETWEEN E4 &amp; E6 (ADIA)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CIVIL MILLING OF DEPRESSED ASPHALT AT 3 LOCATIONS — FIELD-GOVERNED SCOPE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49377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No.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023360" y="493776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[XXX-ELE-SHD-1001 / 1002 / 1003]  ·  Revision P03 (EDITABLE ISSUE)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541324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Basis of scope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023360" y="5413248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verification sheets: Document_3 (LOC-01) · Second_milling_area rev _1 (LOC-02/03)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588873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layer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023360" y="5888736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As-built AGL asset survey assets_20260726120533.xlsx — UTM 40N (EPSG:32640)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636422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Civil reference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023360" y="6364224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IZ-ADAC-056-2024-TO9-RT-02 (demarcation reference only — superseded where it differs)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683971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023360" y="683971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Mohammed — AGL Team Leader, ADB SAFEGATE AGL Team  ·  Issued 28.07.2026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7863840"/>
            <a:ext cx="1325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EDITABLE VERSION — every symbol, polygon, label, note and legend entry on the drawing sheets is a native PowerPoint shape. Click any element to move, restyle or retype it, then export to PDF for issue.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1449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 DRAWING — ELECTRICAL / AGL SCOPE (FIELD-GOVERNED)   ·   TAXIWAY E (E4–E6) — LOCATION 1   ·   DWG NO [XXX-ELE-SHD-1001] REV P03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320040" y="777240"/>
            <a:ext cx="9555480" cy="9555480"/>
          </a:xfrm>
          <a:prstGeom prst="rect">
            <a:avLst/>
          </a:prstGeom>
          <a:solidFill>
            <a:srgbClr val="FFFFFF"/>
          </a:solidFill>
          <a:ln w="12700">
            <a:solidFill>
              <a:srgbClr val="5F63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93192" y="100584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UTM 40N (EPSG:32640) — AS-BUILT POSITIONS · NOT TO SCALE WHEN EDITED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 flipV="1">
            <a:off x="7918314" y="5683099"/>
            <a:ext cx="584349" cy="2063753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 flipV="1">
            <a:off x="3582486" y="2467867"/>
            <a:ext cx="635915" cy="1801058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 flipV="1">
            <a:off x="6857613" y="5683099"/>
            <a:ext cx="1645050" cy="1221388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 flipV="1">
            <a:off x="7952847" y="5683099"/>
            <a:ext cx="549816" cy="2101936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 flipV="1">
            <a:off x="9047614" y="6944825"/>
            <a:ext cx="655100" cy="1722162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 flipV="1">
            <a:off x="7409208" y="5683099"/>
            <a:ext cx="1093456" cy="1656655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 flipV="1">
            <a:off x="6454914" y="3958688"/>
            <a:ext cx="1270052" cy="767871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7621086" y="5506315"/>
            <a:ext cx="881578" cy="176783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 flipV="1">
            <a:off x="8453906" y="5683099"/>
            <a:ext cx="48758" cy="254179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 flipV="1">
            <a:off x="3059529" y="2467867"/>
            <a:ext cx="1158872" cy="1381326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 flipV="1">
            <a:off x="2535449" y="2467867"/>
            <a:ext cx="1682953" cy="960658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 flipV="1">
            <a:off x="2013240" y="1612586"/>
            <a:ext cx="1308235" cy="1396674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 flipV="1">
            <a:off x="1489722" y="796519"/>
            <a:ext cx="801281" cy="1792074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 flipV="1">
            <a:off x="968075" y="796519"/>
            <a:ext cx="1322928" cy="1373184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 flipV="1">
            <a:off x="492846" y="796519"/>
            <a:ext cx="1798157" cy="928451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 flipV="1">
            <a:off x="492846" y="796519"/>
            <a:ext cx="1798157" cy="46071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 flipV="1">
            <a:off x="1935751" y="5328315"/>
            <a:ext cx="1399201" cy="160032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 flipV="1">
            <a:off x="1935751" y="5110728"/>
            <a:ext cx="1569714" cy="377619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 flipV="1">
            <a:off x="9112469" y="6996736"/>
            <a:ext cx="590245" cy="1634221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 flipV="1">
            <a:off x="492846" y="796519"/>
            <a:ext cx="1798157" cy="386414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 flipV="1">
            <a:off x="4133238" y="7525147"/>
            <a:ext cx="2070491" cy="499935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4133238" y="8025082"/>
            <a:ext cx="2360233" cy="137290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 flipV="1">
            <a:off x="4965966" y="8793515"/>
            <a:ext cx="1751924" cy="1539205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 flipV="1">
            <a:off x="5068702" y="9474164"/>
            <a:ext cx="1857229" cy="858556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 flipV="1">
            <a:off x="6530809" y="10153410"/>
            <a:ext cx="535968" cy="179310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 flipV="1">
            <a:off x="9117616" y="6879600"/>
            <a:ext cx="585098" cy="1435317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 flipV="1">
            <a:off x="8466914" y="5683099"/>
            <a:ext cx="35750" cy="2373148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 flipV="1">
            <a:off x="9316205" y="6128775"/>
            <a:ext cx="386509" cy="166281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 flipV="1">
            <a:off x="4133238" y="6025342"/>
            <a:ext cx="1637189" cy="1999740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 flipV="1">
            <a:off x="6315284" y="5683099"/>
            <a:ext cx="2187380" cy="785840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 flipV="1">
            <a:off x="4677908" y="3169760"/>
            <a:ext cx="563386" cy="1972601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 flipV="1">
            <a:off x="5222857" y="3169760"/>
            <a:ext cx="18436" cy="2416197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 flipV="1">
            <a:off x="4106473" y="3169760"/>
            <a:ext cx="1134821" cy="1562601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 flipV="1">
            <a:off x="1935751" y="4891738"/>
            <a:ext cx="1745562" cy="596609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 flipV="1">
            <a:off x="3857067" y="3169760"/>
            <a:ext cx="1384227" cy="1502987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 flipV="1">
            <a:off x="4032914" y="3169760"/>
            <a:ext cx="1208379" cy="1283997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 flipV="1">
            <a:off x="4208762" y="3169760"/>
            <a:ext cx="1032532" cy="1065006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 flipV="1">
            <a:off x="4384516" y="3169760"/>
            <a:ext cx="856778" cy="845922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 flipV="1">
            <a:off x="4560364" y="3169760"/>
            <a:ext cx="680930" cy="626931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 flipV="1">
            <a:off x="4151675" y="3169760"/>
            <a:ext cx="1089619" cy="1556518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</p:sp>
      <p:sp>
        <p:nvSpPr>
          <p:cNvPr id="45" name="Shape 43"/>
          <p:cNvSpPr/>
          <p:nvPr/>
        </p:nvSpPr>
        <p:spPr>
          <a:xfrm flipV="1">
            <a:off x="4604349" y="3169760"/>
            <a:ext cx="636945" cy="2058325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</p:sp>
      <p:sp>
        <p:nvSpPr>
          <p:cNvPr id="46" name="Shape 44"/>
          <p:cNvSpPr/>
          <p:nvPr/>
        </p:nvSpPr>
        <p:spPr>
          <a:xfrm flipV="1">
            <a:off x="4133238" y="5758716"/>
            <a:ext cx="930149" cy="2266366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</p:sp>
      <p:sp>
        <p:nvSpPr>
          <p:cNvPr id="47" name="Shape 45"/>
          <p:cNvSpPr/>
          <p:nvPr/>
        </p:nvSpPr>
        <p:spPr>
          <a:xfrm flipV="1">
            <a:off x="4133238" y="6320605"/>
            <a:ext cx="1351378" cy="1704477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</p:sp>
      <p:sp>
        <p:nvSpPr>
          <p:cNvPr id="48" name="Shape 46"/>
          <p:cNvSpPr/>
          <p:nvPr/>
        </p:nvSpPr>
        <p:spPr>
          <a:xfrm flipV="1">
            <a:off x="4133238" y="6909915"/>
            <a:ext cx="1731617" cy="1115168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</p:sp>
      <p:sp>
        <p:nvSpPr>
          <p:cNvPr id="49" name="Shape 47"/>
          <p:cNvSpPr/>
          <p:nvPr/>
        </p:nvSpPr>
        <p:spPr>
          <a:xfrm>
            <a:off x="1870241" y="5422837"/>
            <a:ext cx="131020" cy="131020"/>
          </a:xfrm>
          <a:prstGeom prst="rect">
            <a:avLst/>
          </a:prstGeom>
          <a:ln w="19050">
            <a:solidFill>
              <a:srgbClr val="BB00B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175784" y="3104250"/>
            <a:ext cx="131020" cy="131020"/>
          </a:xfrm>
          <a:prstGeom prst="rect">
            <a:avLst/>
          </a:prstGeom>
          <a:ln w="19050">
            <a:solidFill>
              <a:srgbClr val="BB00B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067728" y="7959572"/>
            <a:ext cx="131020" cy="131020"/>
          </a:xfrm>
          <a:prstGeom prst="rect">
            <a:avLst/>
          </a:prstGeom>
          <a:ln w="19050">
            <a:solidFill>
              <a:srgbClr val="BB00B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437154" y="5617589"/>
            <a:ext cx="131020" cy="131020"/>
          </a:xfrm>
          <a:prstGeom prst="rect">
            <a:avLst/>
          </a:prstGeom>
          <a:ln w="19050">
            <a:solidFill>
              <a:srgbClr val="BB00B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019978" y="5313109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BB00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X_CV_STH_PITS &amp;.27153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5325521" y="299452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BB00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X_CV_STH_PITS &amp;.27152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4217466" y="784984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BB00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X_CV_STH_PITS &amp;.27154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8586891" y="5507861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BB00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X_CV_STH_PITS &amp;.27162</a:t>
            </a:r>
            <a:endParaRPr lang="en-US" sz="650" dirty="0"/>
          </a:p>
        </p:txBody>
      </p:sp>
      <p:sp>
        <p:nvSpPr>
          <p:cNvPr id="57" name="Shape 55"/>
          <p:cNvSpPr/>
          <p:nvPr/>
        </p:nvSpPr>
        <p:spPr>
          <a:xfrm>
            <a:off x="3829365" y="4234579"/>
            <a:ext cx="6083" cy="4866"/>
          </a:xfrm>
          <a:prstGeom prst="line">
            <a:avLst/>
          </a:prstGeom>
          <a:noFill/>
          <a:ln w="15875">
            <a:solidFill>
              <a:srgbClr val="9AA0A6"/>
            </a:solidFill>
            <a:prstDash val="dash"/>
          </a:ln>
        </p:spPr>
      </p:sp>
      <p:sp>
        <p:nvSpPr>
          <p:cNvPr id="58" name="Shape 56"/>
          <p:cNvSpPr/>
          <p:nvPr/>
        </p:nvSpPr>
        <p:spPr>
          <a:xfrm flipV="1">
            <a:off x="3835449" y="4095136"/>
            <a:ext cx="115672" cy="144309"/>
          </a:xfrm>
          <a:prstGeom prst="line">
            <a:avLst/>
          </a:prstGeom>
          <a:noFill/>
          <a:ln w="15875">
            <a:solidFill>
              <a:srgbClr val="9AA0A6"/>
            </a:solidFill>
            <a:prstDash val="dash"/>
          </a:ln>
        </p:spPr>
      </p:sp>
      <p:sp>
        <p:nvSpPr>
          <p:cNvPr id="59" name="Shape 57"/>
          <p:cNvSpPr/>
          <p:nvPr/>
        </p:nvSpPr>
        <p:spPr>
          <a:xfrm flipV="1">
            <a:off x="3951121" y="3584813"/>
            <a:ext cx="410654" cy="510323"/>
          </a:xfrm>
          <a:prstGeom prst="line">
            <a:avLst/>
          </a:prstGeom>
          <a:noFill/>
          <a:ln w="15875">
            <a:solidFill>
              <a:srgbClr val="9AA0A6"/>
            </a:solidFill>
            <a:prstDash val="dash"/>
          </a:ln>
        </p:spPr>
      </p:sp>
      <p:sp>
        <p:nvSpPr>
          <p:cNvPr id="60" name="Shape 58"/>
          <p:cNvSpPr/>
          <p:nvPr/>
        </p:nvSpPr>
        <p:spPr>
          <a:xfrm>
            <a:off x="4361775" y="3584813"/>
            <a:ext cx="313512" cy="252962"/>
          </a:xfrm>
          <a:prstGeom prst="line">
            <a:avLst/>
          </a:prstGeom>
          <a:noFill/>
          <a:ln w="15875">
            <a:solidFill>
              <a:srgbClr val="9AA0A6"/>
            </a:solidFill>
            <a:prstDash val="dash"/>
          </a:ln>
        </p:spPr>
      </p:sp>
      <p:sp>
        <p:nvSpPr>
          <p:cNvPr id="61" name="Shape 59"/>
          <p:cNvSpPr/>
          <p:nvPr/>
        </p:nvSpPr>
        <p:spPr>
          <a:xfrm flipV="1">
            <a:off x="4263884" y="3837775"/>
            <a:ext cx="411403" cy="509855"/>
          </a:xfrm>
          <a:prstGeom prst="line">
            <a:avLst/>
          </a:prstGeom>
          <a:noFill/>
          <a:ln w="15875">
            <a:solidFill>
              <a:srgbClr val="9AA0A6"/>
            </a:solidFill>
            <a:prstDash val="dash"/>
          </a:ln>
        </p:spPr>
      </p:sp>
      <p:sp>
        <p:nvSpPr>
          <p:cNvPr id="62" name="Shape 60"/>
          <p:cNvSpPr/>
          <p:nvPr/>
        </p:nvSpPr>
        <p:spPr>
          <a:xfrm flipV="1">
            <a:off x="4149148" y="4347630"/>
            <a:ext cx="114736" cy="143186"/>
          </a:xfrm>
          <a:prstGeom prst="line">
            <a:avLst/>
          </a:prstGeom>
          <a:noFill/>
          <a:ln w="15875">
            <a:solidFill>
              <a:srgbClr val="9AA0A6"/>
            </a:solidFill>
            <a:prstDash val="dash"/>
          </a:ln>
        </p:spPr>
      </p:sp>
      <p:sp>
        <p:nvSpPr>
          <p:cNvPr id="63" name="Shape 61"/>
          <p:cNvSpPr/>
          <p:nvPr/>
        </p:nvSpPr>
        <p:spPr>
          <a:xfrm>
            <a:off x="4149148" y="4490816"/>
            <a:ext cx="2745993" cy="2200856"/>
          </a:xfrm>
          <a:prstGeom prst="line">
            <a:avLst/>
          </a:prstGeom>
          <a:noFill/>
          <a:ln w="15875">
            <a:solidFill>
              <a:srgbClr val="9AA0A6"/>
            </a:solidFill>
            <a:prstDash val="dash"/>
          </a:ln>
        </p:spPr>
      </p:sp>
      <p:sp>
        <p:nvSpPr>
          <p:cNvPr id="64" name="Shape 62"/>
          <p:cNvSpPr/>
          <p:nvPr/>
        </p:nvSpPr>
        <p:spPr>
          <a:xfrm flipV="1">
            <a:off x="6223851" y="6691673"/>
            <a:ext cx="671291" cy="786027"/>
          </a:xfrm>
          <a:prstGeom prst="line">
            <a:avLst/>
          </a:prstGeom>
          <a:noFill/>
          <a:ln w="15875">
            <a:solidFill>
              <a:srgbClr val="9AA0A6"/>
            </a:solidFill>
            <a:prstDash val="dash"/>
          </a:ln>
        </p:spPr>
      </p:sp>
      <p:sp>
        <p:nvSpPr>
          <p:cNvPr id="65" name="Shape 63"/>
          <p:cNvSpPr/>
          <p:nvPr/>
        </p:nvSpPr>
        <p:spPr>
          <a:xfrm>
            <a:off x="3300419" y="4893048"/>
            <a:ext cx="2923432" cy="2584651"/>
          </a:xfrm>
          <a:prstGeom prst="line">
            <a:avLst/>
          </a:prstGeom>
          <a:noFill/>
          <a:ln w="15875">
            <a:solidFill>
              <a:srgbClr val="9AA0A6"/>
            </a:solidFill>
            <a:prstDash val="dash"/>
          </a:ln>
        </p:spPr>
      </p:sp>
      <p:sp>
        <p:nvSpPr>
          <p:cNvPr id="66" name="Shape 64"/>
          <p:cNvSpPr/>
          <p:nvPr/>
        </p:nvSpPr>
        <p:spPr>
          <a:xfrm flipV="1">
            <a:off x="3300419" y="4234579"/>
            <a:ext cx="528947" cy="658469"/>
          </a:xfrm>
          <a:prstGeom prst="line">
            <a:avLst/>
          </a:prstGeom>
          <a:noFill/>
          <a:ln w="15875">
            <a:solidFill>
              <a:srgbClr val="9AA0A6"/>
            </a:solidFill>
            <a:prstDash val="dash"/>
          </a:ln>
        </p:spPr>
      </p:sp>
      <p:sp>
        <p:nvSpPr>
          <p:cNvPr id="67" name="Text 65"/>
          <p:cNvSpPr/>
          <p:nvPr/>
        </p:nvSpPr>
        <p:spPr>
          <a:xfrm>
            <a:off x="2732085" y="3941971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CIVIL MILLING DEMARCATION (REFERENCE ONLY)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3070853" y="5361819"/>
            <a:ext cx="3685126" cy="2821985"/>
          </a:xfrm>
          <a:prstGeom prst="line">
            <a:avLst/>
          </a:prstGeom>
          <a:noFill/>
          <a:ln w="31750">
            <a:solidFill>
              <a:srgbClr val="CC000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 flipV="1">
            <a:off x="3070853" y="4994401"/>
            <a:ext cx="287963" cy="367418"/>
          </a:xfrm>
          <a:prstGeom prst="line">
            <a:avLst/>
          </a:prstGeom>
          <a:noFill/>
          <a:ln w="31750">
            <a:solidFill>
              <a:srgbClr val="CC000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 flipV="1">
            <a:off x="3358816" y="3674468"/>
            <a:ext cx="1059672" cy="1319933"/>
          </a:xfrm>
          <a:prstGeom prst="line">
            <a:avLst/>
          </a:prstGeom>
          <a:noFill/>
          <a:ln w="31750">
            <a:solidFill>
              <a:srgbClr val="CC000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418488" y="3674468"/>
            <a:ext cx="2337491" cy="4509336"/>
          </a:xfrm>
          <a:prstGeom prst="line">
            <a:avLst/>
          </a:prstGeom>
          <a:noFill/>
          <a:ln w="31750">
            <a:solidFill>
              <a:srgbClr val="CC000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755979" y="8183804"/>
            <a:ext cx="914" cy="914"/>
          </a:xfrm>
          <a:prstGeom prst="line">
            <a:avLst/>
          </a:prstGeom>
          <a:noFill/>
          <a:ln w="31750">
            <a:solidFill>
              <a:srgbClr val="CC000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041048" y="340014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AGL WORKS DEMARCATION — PER FIELD-VERIFIED AFFECTED ASSETS (572.6 m²)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5389846" y="9428152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207951" y="6908636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889053" y="7717591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305410" y="5825100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277371" y="4863881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83785" y="3626771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899363" y="8123473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923587" y="7755774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9018353" y="8637726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379947" y="7310493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425653" y="4697298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591825" y="5477055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8424645" y="5908017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8468724" y="4253702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030268" y="3819932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2506188" y="3399264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983979" y="2979999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460461" y="2559332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938814" y="2140442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305691" y="5299054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9083208" y="8601696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464210" y="8133112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688629" y="8764254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896670" y="9444903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037517" y="10124149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9088355" y="8285657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437653" y="8026986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5212033" y="3140499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906490" y="5459086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4103978" y="7995822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2261742" y="767258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8473403" y="5653838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5491761" y="2325929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5716928" y="2485305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6729807" y="3218175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7695705" y="3929427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2798737" y="7143911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3537971" y="8338813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166961" y="9873994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8164570" y="4269237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9001975" y="4719104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1670561" y="5932162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3292215" y="1583326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857581" y="4611574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762592" y="5170000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3963693" y="1179877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189141" y="2438606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1556667" y="6777616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5873591" y="2270526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9286944" y="6265795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5479294" y="9347041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RRM.76</a:t>
            </a:r>
            <a:endParaRPr lang="en-US" sz="500" dirty="0"/>
          </a:p>
        </p:txBody>
      </p:sp>
      <p:sp>
        <p:nvSpPr>
          <p:cNvPr id="125" name="Text 123"/>
          <p:cNvSpPr/>
          <p:nvPr/>
        </p:nvSpPr>
        <p:spPr>
          <a:xfrm>
            <a:off x="4297399" y="6827525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RRM.282</a:t>
            </a:r>
            <a:endParaRPr lang="en-US" sz="500" dirty="0"/>
          </a:p>
        </p:txBody>
      </p:sp>
      <p:sp>
        <p:nvSpPr>
          <p:cNvPr id="126" name="Text 124"/>
          <p:cNvSpPr/>
          <p:nvPr/>
        </p:nvSpPr>
        <p:spPr>
          <a:xfrm>
            <a:off x="7978501" y="7636480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TCCECH.04.018</a:t>
            </a:r>
            <a:endParaRPr lang="en-US" sz="500" dirty="0"/>
          </a:p>
        </p:txBody>
      </p:sp>
      <p:sp>
        <p:nvSpPr>
          <p:cNvPr id="127" name="Text 125"/>
          <p:cNvSpPr/>
          <p:nvPr/>
        </p:nvSpPr>
        <p:spPr>
          <a:xfrm>
            <a:off x="3394858" y="5743989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RRM.539</a:t>
            </a:r>
            <a:endParaRPr lang="en-US" sz="500" dirty="0"/>
          </a:p>
        </p:txBody>
      </p:sp>
      <p:sp>
        <p:nvSpPr>
          <p:cNvPr id="128" name="Text 126"/>
          <p:cNvSpPr/>
          <p:nvPr/>
        </p:nvSpPr>
        <p:spPr>
          <a:xfrm>
            <a:off x="2366819" y="4782770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RRM.540</a:t>
            </a:r>
            <a:endParaRPr lang="en-US" sz="500" dirty="0"/>
          </a:p>
        </p:txBody>
      </p:sp>
      <p:sp>
        <p:nvSpPr>
          <p:cNvPr id="129" name="Text 127"/>
          <p:cNvSpPr/>
          <p:nvPr/>
        </p:nvSpPr>
        <p:spPr>
          <a:xfrm>
            <a:off x="973233" y="3545660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RRM.541</a:t>
            </a:r>
            <a:endParaRPr lang="en-US" sz="500" dirty="0"/>
          </a:p>
        </p:txBody>
      </p:sp>
      <p:sp>
        <p:nvSpPr>
          <p:cNvPr id="130" name="Text 128"/>
          <p:cNvSpPr/>
          <p:nvPr/>
        </p:nvSpPr>
        <p:spPr>
          <a:xfrm>
            <a:off x="4988811" y="8042362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RRM.636</a:t>
            </a:r>
            <a:endParaRPr lang="en-US" sz="500" dirty="0"/>
          </a:p>
        </p:txBody>
      </p:sp>
      <p:sp>
        <p:nvSpPr>
          <p:cNvPr id="131" name="Text 129"/>
          <p:cNvSpPr/>
          <p:nvPr/>
        </p:nvSpPr>
        <p:spPr>
          <a:xfrm>
            <a:off x="8013034" y="7674663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TCC103.12.019</a:t>
            </a:r>
            <a:endParaRPr lang="en-US" sz="500" dirty="0"/>
          </a:p>
        </p:txBody>
      </p:sp>
      <p:sp>
        <p:nvSpPr>
          <p:cNvPr id="132" name="Text 130"/>
          <p:cNvSpPr/>
          <p:nvPr/>
        </p:nvSpPr>
        <p:spPr>
          <a:xfrm>
            <a:off x="9107801" y="8556615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TCC103.11.019</a:t>
            </a:r>
            <a:endParaRPr lang="en-US" sz="500" dirty="0"/>
          </a:p>
        </p:txBody>
      </p:sp>
      <p:sp>
        <p:nvSpPr>
          <p:cNvPr id="133" name="Text 131"/>
          <p:cNvSpPr/>
          <p:nvPr/>
        </p:nvSpPr>
        <p:spPr>
          <a:xfrm>
            <a:off x="7469395" y="7229382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TCC103.11.020</a:t>
            </a:r>
            <a:endParaRPr lang="en-US" sz="500" dirty="0"/>
          </a:p>
        </p:txBody>
      </p:sp>
      <p:sp>
        <p:nvSpPr>
          <p:cNvPr id="134" name="Text 132"/>
          <p:cNvSpPr/>
          <p:nvPr/>
        </p:nvSpPr>
        <p:spPr>
          <a:xfrm>
            <a:off x="6515101" y="4616187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TEC102.02.047</a:t>
            </a:r>
            <a:endParaRPr lang="en-US" sz="500" dirty="0"/>
          </a:p>
        </p:txBody>
      </p:sp>
      <p:sp>
        <p:nvSpPr>
          <p:cNvPr id="135" name="Text 133"/>
          <p:cNvSpPr/>
          <p:nvPr/>
        </p:nvSpPr>
        <p:spPr>
          <a:xfrm>
            <a:off x="7681273" y="5395944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TEC102.02.048</a:t>
            </a:r>
            <a:endParaRPr lang="en-US" sz="500" dirty="0"/>
          </a:p>
        </p:txBody>
      </p:sp>
      <p:sp>
        <p:nvSpPr>
          <p:cNvPr id="136" name="Text 134"/>
          <p:cNvSpPr/>
          <p:nvPr/>
        </p:nvSpPr>
        <p:spPr>
          <a:xfrm>
            <a:off x="8514093" y="5826906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TEC102.02.049</a:t>
            </a:r>
            <a:endParaRPr lang="en-US" sz="500" dirty="0"/>
          </a:p>
        </p:txBody>
      </p:sp>
      <p:sp>
        <p:nvSpPr>
          <p:cNvPr id="137" name="Text 135"/>
          <p:cNvSpPr/>
          <p:nvPr/>
        </p:nvSpPr>
        <p:spPr>
          <a:xfrm>
            <a:off x="8558171" y="4172591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HH.E6.033</a:t>
            </a:r>
            <a:endParaRPr lang="en-US" sz="500" dirty="0"/>
          </a:p>
        </p:txBody>
      </p:sp>
      <p:sp>
        <p:nvSpPr>
          <p:cNvPr id="138" name="Text 136"/>
          <p:cNvSpPr/>
          <p:nvPr/>
        </p:nvSpPr>
        <p:spPr>
          <a:xfrm>
            <a:off x="3119716" y="3738821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TCCECH.03.017</a:t>
            </a:r>
            <a:endParaRPr lang="en-US" sz="500" dirty="0"/>
          </a:p>
        </p:txBody>
      </p:sp>
      <p:sp>
        <p:nvSpPr>
          <p:cNvPr id="139" name="Text 137"/>
          <p:cNvSpPr/>
          <p:nvPr/>
        </p:nvSpPr>
        <p:spPr>
          <a:xfrm>
            <a:off x="2595636" y="3318153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TCCECH.04.016</a:t>
            </a:r>
            <a:endParaRPr lang="en-US" sz="500" dirty="0"/>
          </a:p>
        </p:txBody>
      </p:sp>
      <p:sp>
        <p:nvSpPr>
          <p:cNvPr id="140" name="Text 138"/>
          <p:cNvSpPr/>
          <p:nvPr/>
        </p:nvSpPr>
        <p:spPr>
          <a:xfrm>
            <a:off x="2073427" y="2898889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TCCECH.03.016</a:t>
            </a:r>
            <a:endParaRPr lang="en-US" sz="500" dirty="0"/>
          </a:p>
        </p:txBody>
      </p:sp>
      <p:sp>
        <p:nvSpPr>
          <p:cNvPr id="141" name="Text 139"/>
          <p:cNvSpPr/>
          <p:nvPr/>
        </p:nvSpPr>
        <p:spPr>
          <a:xfrm>
            <a:off x="1549909" y="2478221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TCCECH.04.015</a:t>
            </a:r>
            <a:endParaRPr lang="en-US" sz="500" dirty="0"/>
          </a:p>
        </p:txBody>
      </p:sp>
      <p:sp>
        <p:nvSpPr>
          <p:cNvPr id="142" name="Text 140"/>
          <p:cNvSpPr/>
          <p:nvPr/>
        </p:nvSpPr>
        <p:spPr>
          <a:xfrm>
            <a:off x="1028262" y="2059331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TCCECH.03.015</a:t>
            </a:r>
            <a:endParaRPr lang="en-US" sz="500" dirty="0"/>
          </a:p>
        </p:txBody>
      </p:sp>
      <p:sp>
        <p:nvSpPr>
          <p:cNvPr id="143" name="Text 141"/>
          <p:cNvSpPr/>
          <p:nvPr/>
        </p:nvSpPr>
        <p:spPr>
          <a:xfrm>
            <a:off x="3395139" y="5217944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SBC102.02.027</a:t>
            </a:r>
            <a:endParaRPr lang="en-US" sz="500" dirty="0"/>
          </a:p>
        </p:txBody>
      </p:sp>
      <p:sp>
        <p:nvSpPr>
          <p:cNvPr id="144" name="Text 142"/>
          <p:cNvSpPr/>
          <p:nvPr/>
        </p:nvSpPr>
        <p:spPr>
          <a:xfrm>
            <a:off x="9172656" y="8520585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TCC103.11.027</a:t>
            </a:r>
            <a:endParaRPr lang="en-US" sz="500" dirty="0"/>
          </a:p>
        </p:txBody>
      </p:sp>
      <p:sp>
        <p:nvSpPr>
          <p:cNvPr id="145" name="Text 143"/>
          <p:cNvSpPr/>
          <p:nvPr/>
        </p:nvSpPr>
        <p:spPr>
          <a:xfrm>
            <a:off x="6553658" y="8052001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TCCECH.03.038</a:t>
            </a:r>
            <a:endParaRPr lang="en-US" sz="500" dirty="0"/>
          </a:p>
        </p:txBody>
      </p:sp>
      <p:sp>
        <p:nvSpPr>
          <p:cNvPr id="146" name="Text 144"/>
          <p:cNvSpPr/>
          <p:nvPr/>
        </p:nvSpPr>
        <p:spPr>
          <a:xfrm>
            <a:off x="6778077" y="8683143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TCCECH.04.037</a:t>
            </a:r>
            <a:endParaRPr lang="en-US" sz="500" dirty="0"/>
          </a:p>
        </p:txBody>
      </p:sp>
      <p:sp>
        <p:nvSpPr>
          <p:cNvPr id="147" name="Text 145"/>
          <p:cNvSpPr/>
          <p:nvPr/>
        </p:nvSpPr>
        <p:spPr>
          <a:xfrm>
            <a:off x="6986118" y="9363793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TCCECH.03.039</a:t>
            </a:r>
            <a:endParaRPr lang="en-US" sz="500" dirty="0"/>
          </a:p>
        </p:txBody>
      </p:sp>
      <p:sp>
        <p:nvSpPr>
          <p:cNvPr id="148" name="Text 146"/>
          <p:cNvSpPr/>
          <p:nvPr/>
        </p:nvSpPr>
        <p:spPr>
          <a:xfrm>
            <a:off x="7126965" y="10043038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TCCECH.04.038</a:t>
            </a:r>
            <a:endParaRPr lang="en-US" sz="500" dirty="0"/>
          </a:p>
        </p:txBody>
      </p:sp>
      <p:sp>
        <p:nvSpPr>
          <p:cNvPr id="149" name="Text 147"/>
          <p:cNvSpPr/>
          <p:nvPr/>
        </p:nvSpPr>
        <p:spPr>
          <a:xfrm>
            <a:off x="9177803" y="8204546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TCCECH.04.019</a:t>
            </a:r>
            <a:endParaRPr lang="en-US" sz="500" dirty="0"/>
          </a:p>
        </p:txBody>
      </p:sp>
      <p:sp>
        <p:nvSpPr>
          <p:cNvPr id="150" name="Text 148"/>
          <p:cNvSpPr/>
          <p:nvPr/>
        </p:nvSpPr>
        <p:spPr>
          <a:xfrm>
            <a:off x="8527101" y="7945875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TCCECH.03.020</a:t>
            </a:r>
            <a:endParaRPr lang="en-US" sz="500" dirty="0"/>
          </a:p>
        </p:txBody>
      </p:sp>
      <p:sp>
        <p:nvSpPr>
          <p:cNvPr id="151" name="Text 149"/>
          <p:cNvSpPr/>
          <p:nvPr/>
        </p:nvSpPr>
        <p:spPr>
          <a:xfrm>
            <a:off x="5301481" y="3059388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X_CV_STH_PITS &amp;.27152</a:t>
            </a:r>
            <a:endParaRPr lang="en-US" sz="500" dirty="0"/>
          </a:p>
        </p:txBody>
      </p:sp>
      <p:sp>
        <p:nvSpPr>
          <p:cNvPr id="152" name="Text 150"/>
          <p:cNvSpPr/>
          <p:nvPr/>
        </p:nvSpPr>
        <p:spPr>
          <a:xfrm>
            <a:off x="1995938" y="5377975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X_CV_STH_PITS &amp;.27153</a:t>
            </a:r>
            <a:endParaRPr lang="en-US" sz="500" dirty="0"/>
          </a:p>
        </p:txBody>
      </p:sp>
      <p:sp>
        <p:nvSpPr>
          <p:cNvPr id="153" name="Text 151"/>
          <p:cNvSpPr/>
          <p:nvPr/>
        </p:nvSpPr>
        <p:spPr>
          <a:xfrm>
            <a:off x="4193425" y="7914711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X_CV_STH_PITS &amp;.27154</a:t>
            </a:r>
            <a:endParaRPr lang="en-US" sz="500" dirty="0"/>
          </a:p>
        </p:txBody>
      </p:sp>
      <p:sp>
        <p:nvSpPr>
          <p:cNvPr id="154" name="Text 152"/>
          <p:cNvSpPr/>
          <p:nvPr/>
        </p:nvSpPr>
        <p:spPr>
          <a:xfrm>
            <a:off x="8562851" y="5572727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X_CV_STH_PITS &amp;.27162</a:t>
            </a:r>
            <a:endParaRPr lang="en-US" sz="500" dirty="0"/>
          </a:p>
        </p:txBody>
      </p:sp>
      <p:sp>
        <p:nvSpPr>
          <p:cNvPr id="155" name="Text 153"/>
          <p:cNvSpPr/>
          <p:nvPr/>
        </p:nvSpPr>
        <p:spPr>
          <a:xfrm>
            <a:off x="5581209" y="2244818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HH.E6.038</a:t>
            </a:r>
            <a:endParaRPr lang="en-US" sz="500" dirty="0"/>
          </a:p>
        </p:txBody>
      </p:sp>
      <p:sp>
        <p:nvSpPr>
          <p:cNvPr id="156" name="Text 154"/>
          <p:cNvSpPr/>
          <p:nvPr/>
        </p:nvSpPr>
        <p:spPr>
          <a:xfrm>
            <a:off x="5806376" y="2404194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HH.E6.037</a:t>
            </a:r>
            <a:endParaRPr lang="en-US" sz="500" dirty="0"/>
          </a:p>
        </p:txBody>
      </p:sp>
      <p:sp>
        <p:nvSpPr>
          <p:cNvPr id="157" name="Text 155"/>
          <p:cNvSpPr/>
          <p:nvPr/>
        </p:nvSpPr>
        <p:spPr>
          <a:xfrm>
            <a:off x="6819255" y="3137064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HH.E6.036</a:t>
            </a:r>
            <a:endParaRPr lang="en-US" sz="500" dirty="0"/>
          </a:p>
        </p:txBody>
      </p:sp>
      <p:sp>
        <p:nvSpPr>
          <p:cNvPr id="158" name="Text 156"/>
          <p:cNvSpPr/>
          <p:nvPr/>
        </p:nvSpPr>
        <p:spPr>
          <a:xfrm>
            <a:off x="7785153" y="3848316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HH.E6.035</a:t>
            </a:r>
            <a:endParaRPr lang="en-US" sz="500" dirty="0"/>
          </a:p>
        </p:txBody>
      </p:sp>
      <p:sp>
        <p:nvSpPr>
          <p:cNvPr id="159" name="Text 157"/>
          <p:cNvSpPr/>
          <p:nvPr/>
        </p:nvSpPr>
        <p:spPr>
          <a:xfrm>
            <a:off x="2888185" y="7062800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HH.E6.040</a:t>
            </a:r>
            <a:endParaRPr lang="en-US" sz="500" dirty="0"/>
          </a:p>
        </p:txBody>
      </p:sp>
      <p:sp>
        <p:nvSpPr>
          <p:cNvPr id="160" name="Text 158"/>
          <p:cNvSpPr/>
          <p:nvPr/>
        </p:nvSpPr>
        <p:spPr>
          <a:xfrm>
            <a:off x="3627419" y="8257703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HH.E6.041</a:t>
            </a:r>
            <a:endParaRPr lang="en-US" sz="500" dirty="0"/>
          </a:p>
        </p:txBody>
      </p:sp>
      <p:sp>
        <p:nvSpPr>
          <p:cNvPr id="161" name="Text 159"/>
          <p:cNvSpPr/>
          <p:nvPr/>
        </p:nvSpPr>
        <p:spPr>
          <a:xfrm>
            <a:off x="4256409" y="9792883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HH.E6.042</a:t>
            </a:r>
            <a:endParaRPr lang="en-US" sz="500" dirty="0"/>
          </a:p>
        </p:txBody>
      </p:sp>
      <p:sp>
        <p:nvSpPr>
          <p:cNvPr id="162" name="Text 160"/>
          <p:cNvSpPr/>
          <p:nvPr/>
        </p:nvSpPr>
        <p:spPr>
          <a:xfrm>
            <a:off x="8254018" y="4188126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HH.E6.034</a:t>
            </a:r>
            <a:endParaRPr lang="en-US" sz="500" dirty="0"/>
          </a:p>
        </p:txBody>
      </p:sp>
      <p:sp>
        <p:nvSpPr>
          <p:cNvPr id="163" name="Text 161"/>
          <p:cNvSpPr/>
          <p:nvPr/>
        </p:nvSpPr>
        <p:spPr>
          <a:xfrm>
            <a:off x="9091423" y="4637993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HH.E6.032</a:t>
            </a:r>
            <a:endParaRPr lang="en-US" sz="500" dirty="0"/>
          </a:p>
        </p:txBody>
      </p:sp>
      <p:sp>
        <p:nvSpPr>
          <p:cNvPr id="164" name="Text 162"/>
          <p:cNvSpPr/>
          <p:nvPr/>
        </p:nvSpPr>
        <p:spPr>
          <a:xfrm>
            <a:off x="1760009" y="5851051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HH.E6.039</a:t>
            </a:r>
            <a:endParaRPr lang="en-US" sz="500" dirty="0"/>
          </a:p>
        </p:txBody>
      </p:sp>
      <p:sp>
        <p:nvSpPr>
          <p:cNvPr id="165" name="Text 163"/>
          <p:cNvSpPr/>
          <p:nvPr/>
        </p:nvSpPr>
        <p:spPr>
          <a:xfrm>
            <a:off x="3381663" y="1502215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P6.009</a:t>
            </a:r>
            <a:endParaRPr lang="en-US" sz="500" dirty="0"/>
          </a:p>
        </p:txBody>
      </p:sp>
      <p:sp>
        <p:nvSpPr>
          <p:cNvPr id="166" name="Text 164"/>
          <p:cNvSpPr/>
          <p:nvPr/>
        </p:nvSpPr>
        <p:spPr>
          <a:xfrm>
            <a:off x="947029" y="4530463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P6.038</a:t>
            </a:r>
            <a:endParaRPr lang="en-US" sz="500" dirty="0"/>
          </a:p>
        </p:txBody>
      </p:sp>
      <p:sp>
        <p:nvSpPr>
          <p:cNvPr id="167" name="Text 165"/>
          <p:cNvSpPr/>
          <p:nvPr/>
        </p:nvSpPr>
        <p:spPr>
          <a:xfrm>
            <a:off x="852040" y="5088889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MH.E.024</a:t>
            </a:r>
            <a:endParaRPr lang="en-US" sz="500" dirty="0"/>
          </a:p>
        </p:txBody>
      </p:sp>
      <p:sp>
        <p:nvSpPr>
          <p:cNvPr id="168" name="Text 166"/>
          <p:cNvSpPr/>
          <p:nvPr/>
        </p:nvSpPr>
        <p:spPr>
          <a:xfrm>
            <a:off x="4053140" y="1098767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MH.E.014</a:t>
            </a:r>
            <a:endParaRPr lang="en-US" sz="500" dirty="0"/>
          </a:p>
        </p:txBody>
      </p:sp>
      <p:sp>
        <p:nvSpPr>
          <p:cNvPr id="169" name="Text 167"/>
          <p:cNvSpPr/>
          <p:nvPr/>
        </p:nvSpPr>
        <p:spPr>
          <a:xfrm>
            <a:off x="4278588" y="2357495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X_CV_STH_PITS &amp;.23918</a:t>
            </a:r>
            <a:endParaRPr lang="en-US" sz="500" dirty="0"/>
          </a:p>
        </p:txBody>
      </p:sp>
      <p:sp>
        <p:nvSpPr>
          <p:cNvPr id="170" name="Text 168"/>
          <p:cNvSpPr/>
          <p:nvPr/>
        </p:nvSpPr>
        <p:spPr>
          <a:xfrm>
            <a:off x="1646115" y="6696505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SGC102.02.017</a:t>
            </a:r>
            <a:endParaRPr lang="en-US" sz="500" dirty="0"/>
          </a:p>
        </p:txBody>
      </p:sp>
      <p:sp>
        <p:nvSpPr>
          <p:cNvPr id="171" name="Text 169"/>
          <p:cNvSpPr/>
          <p:nvPr/>
        </p:nvSpPr>
        <p:spPr>
          <a:xfrm>
            <a:off x="5963038" y="2189415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SGC102.02.016</a:t>
            </a:r>
            <a:endParaRPr lang="en-US" sz="500" dirty="0"/>
          </a:p>
        </p:txBody>
      </p:sp>
      <p:sp>
        <p:nvSpPr>
          <p:cNvPr id="172" name="Text 170"/>
          <p:cNvSpPr/>
          <p:nvPr/>
        </p:nvSpPr>
        <p:spPr>
          <a:xfrm>
            <a:off x="9376392" y="6184684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TEC102.02.050</a:t>
            </a:r>
            <a:endParaRPr lang="en-US" sz="500" dirty="0"/>
          </a:p>
        </p:txBody>
      </p:sp>
      <p:sp>
        <p:nvSpPr>
          <p:cNvPr id="173" name="Shape 171"/>
          <p:cNvSpPr/>
          <p:nvPr/>
        </p:nvSpPr>
        <p:spPr>
          <a:xfrm>
            <a:off x="4279360" y="3910525"/>
            <a:ext cx="210312" cy="210312"/>
          </a:xfrm>
          <a:prstGeom prst="ellipse">
            <a:avLst/>
          </a:prstGeom>
          <a:ln w="28575">
            <a:solidFill>
              <a:srgbClr val="CC0000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4329652" y="3960817"/>
            <a:ext cx="109728" cy="109728"/>
          </a:xfrm>
          <a:prstGeom prst="ellipse">
            <a:avLst/>
          </a:prstGeom>
          <a:solidFill>
            <a:srgbClr val="0055CC"/>
          </a:solidFill>
          <a:ln w="6350">
            <a:solidFill>
              <a:srgbClr val="0055CC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4503388" y="3796225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SBC102-02/024</a:t>
            </a:r>
            <a:endParaRPr lang="en-US" sz="650" dirty="0"/>
          </a:p>
        </p:txBody>
      </p:sp>
      <p:sp>
        <p:nvSpPr>
          <p:cNvPr id="176" name="Shape 174"/>
          <p:cNvSpPr/>
          <p:nvPr/>
        </p:nvSpPr>
        <p:spPr>
          <a:xfrm>
            <a:off x="4103606" y="4129610"/>
            <a:ext cx="210312" cy="210312"/>
          </a:xfrm>
          <a:prstGeom prst="ellipse">
            <a:avLst/>
          </a:prstGeom>
          <a:ln w="28575">
            <a:solidFill>
              <a:srgbClr val="CC0000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4153898" y="4179902"/>
            <a:ext cx="109728" cy="109728"/>
          </a:xfrm>
          <a:prstGeom prst="ellipse">
            <a:avLst/>
          </a:prstGeom>
          <a:solidFill>
            <a:srgbClr val="0055CC"/>
          </a:solidFill>
          <a:ln w="6350">
            <a:solidFill>
              <a:srgbClr val="0055CC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4327634" y="401531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SBC102-01/027</a:t>
            </a:r>
            <a:endParaRPr lang="en-US" sz="650" dirty="0"/>
          </a:p>
        </p:txBody>
      </p:sp>
      <p:sp>
        <p:nvSpPr>
          <p:cNvPr id="179" name="Shape 177"/>
          <p:cNvSpPr/>
          <p:nvPr/>
        </p:nvSpPr>
        <p:spPr>
          <a:xfrm>
            <a:off x="3927758" y="4348600"/>
            <a:ext cx="210312" cy="210312"/>
          </a:xfrm>
          <a:prstGeom prst="ellipse">
            <a:avLst/>
          </a:prstGeom>
          <a:ln w="28575">
            <a:solidFill>
              <a:srgbClr val="CC0000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3978050" y="4398892"/>
            <a:ext cx="109728" cy="109728"/>
          </a:xfrm>
          <a:prstGeom prst="ellipse">
            <a:avLst/>
          </a:prstGeom>
          <a:solidFill>
            <a:srgbClr val="0055CC"/>
          </a:solidFill>
          <a:ln w="6350">
            <a:solidFill>
              <a:srgbClr val="0055CC"/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4151786" y="423430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SBC102-02/025</a:t>
            </a:r>
            <a:endParaRPr lang="en-US" sz="650" dirty="0"/>
          </a:p>
        </p:txBody>
      </p:sp>
      <p:sp>
        <p:nvSpPr>
          <p:cNvPr id="182" name="Shape 180"/>
          <p:cNvSpPr/>
          <p:nvPr/>
        </p:nvSpPr>
        <p:spPr>
          <a:xfrm>
            <a:off x="3751911" y="4567591"/>
            <a:ext cx="210312" cy="210312"/>
          </a:xfrm>
          <a:prstGeom prst="ellipse">
            <a:avLst/>
          </a:prstGeom>
          <a:ln w="28575">
            <a:solidFill>
              <a:srgbClr val="CC0000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3802203" y="4617883"/>
            <a:ext cx="109728" cy="109728"/>
          </a:xfrm>
          <a:prstGeom prst="ellipse">
            <a:avLst/>
          </a:prstGeom>
          <a:solidFill>
            <a:srgbClr val="0055CC"/>
          </a:solidFill>
          <a:ln w="6350">
            <a:solidFill>
              <a:srgbClr val="0055CC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3975939" y="4453291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SBC102-01/028</a:t>
            </a:r>
            <a:endParaRPr lang="en-US" sz="650" dirty="0"/>
          </a:p>
        </p:txBody>
      </p:sp>
      <p:sp>
        <p:nvSpPr>
          <p:cNvPr id="185" name="Shape 183"/>
          <p:cNvSpPr/>
          <p:nvPr/>
        </p:nvSpPr>
        <p:spPr>
          <a:xfrm>
            <a:off x="3576157" y="4786582"/>
            <a:ext cx="210312" cy="210312"/>
          </a:xfrm>
          <a:prstGeom prst="ellipse">
            <a:avLst/>
          </a:prstGeom>
          <a:ln w="28575">
            <a:solidFill>
              <a:srgbClr val="CC0000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3626449" y="4836874"/>
            <a:ext cx="109728" cy="109728"/>
          </a:xfrm>
          <a:prstGeom prst="ellipse">
            <a:avLst/>
          </a:prstGeom>
          <a:solidFill>
            <a:srgbClr val="0055CC"/>
          </a:solidFill>
          <a:ln w="6350">
            <a:solidFill>
              <a:srgbClr val="0055CC"/>
            </a:solidFill>
            <a:prstDash val="solid"/>
          </a:ln>
        </p:spPr>
      </p:sp>
      <p:sp>
        <p:nvSpPr>
          <p:cNvPr id="187" name="Text 185"/>
          <p:cNvSpPr/>
          <p:nvPr/>
        </p:nvSpPr>
        <p:spPr>
          <a:xfrm>
            <a:off x="3800185" y="467228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SBC102-02/026</a:t>
            </a:r>
            <a:endParaRPr lang="en-US" sz="650" dirty="0"/>
          </a:p>
        </p:txBody>
      </p:sp>
      <p:sp>
        <p:nvSpPr>
          <p:cNvPr id="188" name="Shape 186"/>
          <p:cNvSpPr/>
          <p:nvPr/>
        </p:nvSpPr>
        <p:spPr>
          <a:xfrm>
            <a:off x="3400309" y="5005572"/>
            <a:ext cx="210312" cy="210312"/>
          </a:xfrm>
          <a:prstGeom prst="ellipse">
            <a:avLst/>
          </a:prstGeom>
          <a:ln w="28575">
            <a:solidFill>
              <a:srgbClr val="CC0000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3450601" y="5055864"/>
            <a:ext cx="109728" cy="109728"/>
          </a:xfrm>
          <a:prstGeom prst="ellipse">
            <a:avLst/>
          </a:prstGeom>
          <a:solidFill>
            <a:srgbClr val="0055CC"/>
          </a:solidFill>
          <a:ln w="6350">
            <a:solidFill>
              <a:srgbClr val="0055CC"/>
            </a:solidFill>
            <a:prstDash val="solid"/>
          </a:ln>
        </p:spPr>
      </p:sp>
      <p:sp>
        <p:nvSpPr>
          <p:cNvPr id="190" name="Text 188"/>
          <p:cNvSpPr/>
          <p:nvPr/>
        </p:nvSpPr>
        <p:spPr>
          <a:xfrm>
            <a:off x="3624337" y="489127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SBC102-01/029</a:t>
            </a:r>
            <a:endParaRPr lang="en-US" sz="650" dirty="0"/>
          </a:p>
        </p:txBody>
      </p:sp>
      <p:sp>
        <p:nvSpPr>
          <p:cNvPr id="191" name="Shape 189"/>
          <p:cNvSpPr/>
          <p:nvPr/>
        </p:nvSpPr>
        <p:spPr>
          <a:xfrm>
            <a:off x="4499193" y="5122929"/>
            <a:ext cx="210312" cy="210312"/>
          </a:xfrm>
          <a:prstGeom prst="ellipse">
            <a:avLst/>
          </a:prstGeom>
          <a:ln w="28575">
            <a:solidFill>
              <a:srgbClr val="CC0000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4549485" y="5173221"/>
            <a:ext cx="109728" cy="109728"/>
          </a:xfrm>
          <a:prstGeom prst="ellipse">
            <a:avLst/>
          </a:prstGeom>
          <a:solidFill>
            <a:srgbClr val="E8710A"/>
          </a:solidFill>
          <a:ln w="6350">
            <a:solidFill>
              <a:srgbClr val="E8710A"/>
            </a:solidFill>
            <a:prstDash val="solid"/>
          </a:ln>
        </p:spPr>
      </p:sp>
      <p:sp>
        <p:nvSpPr>
          <p:cNvPr id="193" name="Text 191"/>
          <p:cNvSpPr/>
          <p:nvPr/>
        </p:nvSpPr>
        <p:spPr>
          <a:xfrm>
            <a:off x="4723221" y="5008629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TCCECH-04/034</a:t>
            </a:r>
            <a:endParaRPr lang="en-US" sz="650" dirty="0"/>
          </a:p>
        </p:txBody>
      </p:sp>
      <p:sp>
        <p:nvSpPr>
          <p:cNvPr id="194" name="Shape 192"/>
          <p:cNvSpPr/>
          <p:nvPr/>
        </p:nvSpPr>
        <p:spPr>
          <a:xfrm>
            <a:off x="4958231" y="5653560"/>
            <a:ext cx="210312" cy="210312"/>
          </a:xfrm>
          <a:prstGeom prst="ellipse">
            <a:avLst/>
          </a:prstGeom>
          <a:ln w="28575">
            <a:solidFill>
              <a:srgbClr val="CC0000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5008523" y="5703852"/>
            <a:ext cx="109728" cy="109728"/>
          </a:xfrm>
          <a:prstGeom prst="ellipse">
            <a:avLst/>
          </a:prstGeom>
          <a:solidFill>
            <a:srgbClr val="E8710A"/>
          </a:solidFill>
          <a:ln w="6350">
            <a:solidFill>
              <a:srgbClr val="E8710A"/>
            </a:solidFill>
            <a:prstDash val="solid"/>
          </a:ln>
        </p:spPr>
      </p:sp>
      <p:sp>
        <p:nvSpPr>
          <p:cNvPr id="196" name="Text 194"/>
          <p:cNvSpPr/>
          <p:nvPr/>
        </p:nvSpPr>
        <p:spPr>
          <a:xfrm>
            <a:off x="5182259" y="553926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TCCECH-03/036</a:t>
            </a:r>
            <a:endParaRPr lang="en-US" sz="650" dirty="0"/>
          </a:p>
        </p:txBody>
      </p:sp>
      <p:sp>
        <p:nvSpPr>
          <p:cNvPr id="197" name="Shape 195"/>
          <p:cNvSpPr/>
          <p:nvPr/>
        </p:nvSpPr>
        <p:spPr>
          <a:xfrm>
            <a:off x="5379461" y="6215449"/>
            <a:ext cx="210312" cy="210312"/>
          </a:xfrm>
          <a:prstGeom prst="ellipse">
            <a:avLst/>
          </a:prstGeom>
          <a:ln w="28575">
            <a:solidFill>
              <a:srgbClr val="CC0000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5429753" y="6265741"/>
            <a:ext cx="109728" cy="109728"/>
          </a:xfrm>
          <a:prstGeom prst="ellipse">
            <a:avLst/>
          </a:prstGeom>
          <a:solidFill>
            <a:srgbClr val="E8710A"/>
          </a:solidFill>
          <a:ln w="6350">
            <a:solidFill>
              <a:srgbClr val="E8710A"/>
            </a:solidFill>
            <a:prstDash val="solid"/>
          </a:ln>
        </p:spPr>
      </p:sp>
      <p:sp>
        <p:nvSpPr>
          <p:cNvPr id="199" name="Text 197"/>
          <p:cNvSpPr/>
          <p:nvPr/>
        </p:nvSpPr>
        <p:spPr>
          <a:xfrm>
            <a:off x="5603489" y="6101149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TCCECH-04/035</a:t>
            </a:r>
            <a:endParaRPr lang="en-US" sz="650" dirty="0"/>
          </a:p>
        </p:txBody>
      </p:sp>
      <p:sp>
        <p:nvSpPr>
          <p:cNvPr id="200" name="Shape 198"/>
          <p:cNvSpPr/>
          <p:nvPr/>
        </p:nvSpPr>
        <p:spPr>
          <a:xfrm>
            <a:off x="5759700" y="6804759"/>
            <a:ext cx="210312" cy="210312"/>
          </a:xfrm>
          <a:prstGeom prst="ellipse">
            <a:avLst/>
          </a:prstGeom>
          <a:ln w="28575">
            <a:solidFill>
              <a:srgbClr val="CC0000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5809992" y="6855051"/>
            <a:ext cx="109728" cy="109728"/>
          </a:xfrm>
          <a:prstGeom prst="ellipse">
            <a:avLst/>
          </a:prstGeom>
          <a:solidFill>
            <a:srgbClr val="E8710A"/>
          </a:solidFill>
          <a:ln w="6350">
            <a:solidFill>
              <a:srgbClr val="E8710A"/>
            </a:solidFill>
            <a:prstDash val="solid"/>
          </a:ln>
        </p:spPr>
      </p:sp>
      <p:sp>
        <p:nvSpPr>
          <p:cNvPr id="202" name="Text 200"/>
          <p:cNvSpPr/>
          <p:nvPr/>
        </p:nvSpPr>
        <p:spPr>
          <a:xfrm>
            <a:off x="5983728" y="6690459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TCCECH-03/037</a:t>
            </a:r>
            <a:endParaRPr lang="en-US" sz="650" dirty="0"/>
          </a:p>
        </p:txBody>
      </p:sp>
      <p:sp>
        <p:nvSpPr>
          <p:cNvPr id="203" name="Shape 201"/>
          <p:cNvSpPr/>
          <p:nvPr/>
        </p:nvSpPr>
        <p:spPr>
          <a:xfrm>
            <a:off x="6098574" y="7419991"/>
            <a:ext cx="210312" cy="210312"/>
          </a:xfrm>
          <a:prstGeom prst="ellipse">
            <a:avLst/>
          </a:prstGeom>
          <a:ln w="28575">
            <a:solidFill>
              <a:srgbClr val="CC0000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6148866" y="7470283"/>
            <a:ext cx="109728" cy="109728"/>
          </a:xfrm>
          <a:prstGeom prst="ellipse">
            <a:avLst/>
          </a:prstGeom>
          <a:solidFill>
            <a:srgbClr val="E8710A"/>
          </a:solidFill>
          <a:ln w="6350">
            <a:solidFill>
              <a:srgbClr val="E8710A"/>
            </a:solidFill>
            <a:prstDash val="solid"/>
          </a:ln>
        </p:spPr>
      </p:sp>
      <p:sp>
        <p:nvSpPr>
          <p:cNvPr id="205" name="Text 203"/>
          <p:cNvSpPr/>
          <p:nvPr/>
        </p:nvSpPr>
        <p:spPr>
          <a:xfrm>
            <a:off x="6322602" y="7305691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TCCECH-04/036</a:t>
            </a:r>
            <a:endParaRPr lang="en-US" sz="650" dirty="0"/>
          </a:p>
        </p:txBody>
      </p:sp>
      <p:sp>
        <p:nvSpPr>
          <p:cNvPr id="206" name="Shape 204"/>
          <p:cNvSpPr/>
          <p:nvPr/>
        </p:nvSpPr>
        <p:spPr>
          <a:xfrm>
            <a:off x="3229796" y="5223159"/>
            <a:ext cx="210312" cy="210312"/>
          </a:xfrm>
          <a:prstGeom prst="ellipse">
            <a:avLst/>
          </a:prstGeom>
          <a:ln w="28575">
            <a:solidFill>
              <a:srgbClr val="0055CC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3280088" y="5273451"/>
            <a:ext cx="109728" cy="109728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</p:sp>
      <p:sp>
        <p:nvSpPr>
          <p:cNvPr id="208" name="Text 206"/>
          <p:cNvSpPr/>
          <p:nvPr/>
        </p:nvSpPr>
        <p:spPr>
          <a:xfrm>
            <a:off x="3453824" y="5108859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SBC102-02/027</a:t>
            </a:r>
            <a:endParaRPr lang="en-US" sz="650" dirty="0"/>
          </a:p>
        </p:txBody>
      </p:sp>
      <p:sp>
        <p:nvSpPr>
          <p:cNvPr id="209" name="Shape 207"/>
          <p:cNvSpPr/>
          <p:nvPr/>
        </p:nvSpPr>
        <p:spPr>
          <a:xfrm>
            <a:off x="4001317" y="4627205"/>
            <a:ext cx="210312" cy="210312"/>
          </a:xfrm>
          <a:prstGeom prst="ellipse">
            <a:avLst/>
          </a:prstGeom>
          <a:ln w="28575">
            <a:solidFill>
              <a:srgbClr val="E8710A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4051609" y="4677497"/>
            <a:ext cx="109728" cy="109728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</p:sp>
      <p:sp>
        <p:nvSpPr>
          <p:cNvPr id="211" name="Text 209"/>
          <p:cNvSpPr/>
          <p:nvPr/>
        </p:nvSpPr>
        <p:spPr>
          <a:xfrm>
            <a:off x="4225345" y="4512905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TCCECH-03/035</a:t>
            </a:r>
            <a:endParaRPr lang="en-US" sz="650" dirty="0"/>
          </a:p>
        </p:txBody>
      </p:sp>
      <p:sp>
        <p:nvSpPr>
          <p:cNvPr id="212" name="Shape 210"/>
          <p:cNvSpPr/>
          <p:nvPr/>
        </p:nvSpPr>
        <p:spPr>
          <a:xfrm>
            <a:off x="4046519" y="4621122"/>
            <a:ext cx="210312" cy="210312"/>
          </a:xfrm>
          <a:prstGeom prst="ellipse">
            <a:avLst/>
          </a:prstGeom>
          <a:ln w="28575">
            <a:solidFill>
              <a:srgbClr val="E8710A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4096811" y="4671414"/>
            <a:ext cx="109728" cy="109728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</p:sp>
      <p:sp>
        <p:nvSpPr>
          <p:cNvPr id="214" name="Text 212"/>
          <p:cNvSpPr/>
          <p:nvPr/>
        </p:nvSpPr>
        <p:spPr>
          <a:xfrm>
            <a:off x="4270547" y="450682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TCCECH-03/018</a:t>
            </a:r>
            <a:endParaRPr lang="en-US" sz="650" dirty="0"/>
          </a:p>
        </p:txBody>
      </p:sp>
      <p:sp>
        <p:nvSpPr>
          <p:cNvPr id="215" name="Shape 213"/>
          <p:cNvSpPr/>
          <p:nvPr/>
        </p:nvSpPr>
        <p:spPr>
          <a:xfrm>
            <a:off x="4455208" y="3691535"/>
            <a:ext cx="210312" cy="210312"/>
          </a:xfrm>
          <a:prstGeom prst="ellipse">
            <a:avLst/>
          </a:prstGeom>
          <a:ln w="28575">
            <a:solidFill>
              <a:srgbClr val="9AA0A6"/>
            </a:solidFill>
            <a:prstDash val="solid"/>
          </a:ln>
        </p:spPr>
      </p:sp>
      <p:sp>
        <p:nvSpPr>
          <p:cNvPr id="216" name="Text 214"/>
          <p:cNvSpPr/>
          <p:nvPr/>
        </p:nvSpPr>
        <p:spPr>
          <a:xfrm>
            <a:off x="4679236" y="3577235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SBC102-01/026</a:t>
            </a:r>
            <a:endParaRPr lang="en-US" sz="650" dirty="0"/>
          </a:p>
        </p:txBody>
      </p:sp>
      <p:sp>
        <p:nvSpPr>
          <p:cNvPr id="217" name="Shape 215"/>
          <p:cNvSpPr/>
          <p:nvPr/>
        </p:nvSpPr>
        <p:spPr>
          <a:xfrm>
            <a:off x="10104120" y="777240"/>
            <a:ext cx="4709160" cy="1170432"/>
          </a:xfrm>
          <a:prstGeom prst="rect">
            <a:avLst/>
          </a:prstGeom>
          <a:solidFill>
            <a:srgbClr val="1E2761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218" name="Text 216"/>
          <p:cNvSpPr/>
          <p:nvPr/>
        </p:nvSpPr>
        <p:spPr>
          <a:xfrm>
            <a:off x="10241280" y="86868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1 — 1001  ·  REV P03 (EDITABLE)</a:t>
            </a:r>
            <a:endParaRPr lang="en-US" sz="1250" dirty="0"/>
          </a:p>
        </p:txBody>
      </p:sp>
      <p:sp>
        <p:nvSpPr>
          <p:cNvPr id="219" name="Text 217"/>
          <p:cNvSpPr/>
          <p:nvPr/>
        </p:nvSpPr>
        <p:spPr>
          <a:xfrm>
            <a:off x="10241280" y="1179576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PER FIELD SHEET Document_3 — FIELD DATA GOVERNS</a:t>
            </a:r>
            <a:endParaRPr lang="en-US" sz="800" dirty="0"/>
          </a:p>
        </p:txBody>
      </p:sp>
      <p:sp>
        <p:nvSpPr>
          <p:cNvPr id="220" name="Text 218"/>
          <p:cNvSpPr/>
          <p:nvPr/>
        </p:nvSpPr>
        <p:spPr>
          <a:xfrm>
            <a:off x="10241280" y="160020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1:250 @ A1 equivalent · UTM 40N · Issued 28.07.2026 · Prepared: Mohammed, AGL Team Leader — ADB SAFEGATE</a:t>
            </a:r>
            <a:endParaRPr lang="en-US" sz="700" dirty="0"/>
          </a:p>
        </p:txBody>
      </p:sp>
      <p:sp>
        <p:nvSpPr>
          <p:cNvPr id="221" name="Shape 219"/>
          <p:cNvSpPr/>
          <p:nvPr/>
        </p:nvSpPr>
        <p:spPr>
          <a:xfrm>
            <a:off x="10104120" y="2057400"/>
            <a:ext cx="4709160" cy="2502713"/>
          </a:xfrm>
          <a:prstGeom prst="rect">
            <a:avLst/>
          </a:prstGeom>
          <a:solidFill>
            <a:srgbClr val="F4F6F8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222" name="Text 220"/>
          <p:cNvSpPr/>
          <p:nvPr/>
        </p:nvSpPr>
        <p:spPr>
          <a:xfrm>
            <a:off x="10241280" y="2130552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/ QUANTITIES (PER FIELD VERIFICATION)</a:t>
            </a:r>
            <a:endParaRPr lang="en-US" sz="950" dirty="0"/>
          </a:p>
        </p:txBody>
      </p:sp>
      <p:sp>
        <p:nvSpPr>
          <p:cNvPr id="223" name="Text 221"/>
          <p:cNvSpPr/>
          <p:nvPr/>
        </p:nvSpPr>
        <p:spPr>
          <a:xfrm>
            <a:off x="10241280" y="2386584"/>
            <a:ext cx="4434840" cy="2118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OUT SHALLOW BASE + NEW CABLE: 11 No.</a:t>
            </a:r>
            <a:endParaRPr lang="en-US" sz="76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VIA DUCT (6): SBC102-02/024, 01/027, 02/025, 01/028, 02/026, 01/029</a:t>
            </a:r>
            <a:endParaRPr lang="en-US" sz="76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VIA SAWCUT (5): TCCECH-04/034, 03/036, 04/035, 03/037, 04/036</a:t>
            </a:r>
            <a:endParaRPr lang="en-US" sz="76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SECONDARY CABLE ONLY: 3 No.</a:t>
            </a:r>
            <a:endParaRPr lang="en-US" sz="76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SBC102-02/027 (DUCT) · TCCECH-03/035, 03/018 (SAWCUT — bases OK, verify at cut line)</a:t>
            </a:r>
            <a:endParaRPr lang="en-US" sz="76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VERIFIED NOT AFFECTED: SBC102-01/026 (no works)</a:t>
            </a:r>
            <a:endParaRPr lang="en-US" sz="76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TCC103 FITTINGS NOT IN FIELD SCOPE — SHOWN AS EXISTING ONLY</a:t>
            </a:r>
            <a:endParaRPr lang="en-US" sz="76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 CIRCUITS: SBC102.01/.02, TCCECH.03/.04</a:t>
            </a:r>
            <a:endParaRPr lang="en-US" sz="76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RECORD 23.07.2026: 9 cored + 2 reinstatement already worked</a:t>
            </a:r>
            <a:endParaRPr lang="en-US" sz="760" dirty="0"/>
          </a:p>
        </p:txBody>
      </p:sp>
      <p:sp>
        <p:nvSpPr>
          <p:cNvPr id="224" name="Shape 222"/>
          <p:cNvSpPr/>
          <p:nvPr/>
        </p:nvSpPr>
        <p:spPr>
          <a:xfrm>
            <a:off x="10104120" y="4669841"/>
            <a:ext cx="4709160" cy="2267712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225" name="Text 223"/>
          <p:cNvSpPr/>
          <p:nvPr/>
        </p:nvSpPr>
        <p:spPr>
          <a:xfrm>
            <a:off x="10241280" y="4742993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NOTES</a:t>
            </a:r>
            <a:endParaRPr lang="en-US" sz="950" dirty="0"/>
          </a:p>
        </p:txBody>
      </p:sp>
      <p:sp>
        <p:nvSpPr>
          <p:cNvPr id="226" name="Text 224"/>
          <p:cNvSpPr/>
          <p:nvPr/>
        </p:nvSpPr>
        <p:spPr>
          <a:xfrm>
            <a:off x="10241280" y="4999025"/>
            <a:ext cx="443484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68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All asset positions as-built (asset survey assets_20260726120533.xlsx, UTM 40N / EPSG:32640). Do not scale from civil drawing.</a:t>
            </a:r>
            <a:endParaRPr lang="en-US" sz="68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68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AGL works demarcation (red) drawn around field-verified affected assets (+2.0 m). Civil milling polygon (grey dashed) reference only.</a:t>
            </a:r>
            <a:endParaRPr lang="en-US" sz="68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68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Secondary cables: no joints — full manhole-to-light replacement. Confirm routes vs AGL duct-layout CAD (Rev B) before works.</a:t>
            </a:r>
            <a:endParaRPr lang="en-US" sz="68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68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Isolate, lock out &amp; prove dead all listed circuits at CCR under permit before any cutting, coring or excavation.</a:t>
            </a:r>
            <a:endParaRPr lang="en-US" sz="68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68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Reinstatement setting-out by civil survey from as-built E/N, checked against adjacent undisturbed fittings before coring.</a:t>
            </a:r>
            <a:endParaRPr lang="en-US" sz="68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68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Civil works per IZ-ADAC-056-2024-TO9-RT-02: sawcut, mill 120 mm, geogrid + 60 binder + 60 PMB wearing course.</a:t>
            </a:r>
            <a:endParaRPr lang="en-US" sz="680" dirty="0"/>
          </a:p>
        </p:txBody>
      </p:sp>
      <p:sp>
        <p:nvSpPr>
          <p:cNvPr id="227" name="Shape 225"/>
          <p:cNvSpPr/>
          <p:nvPr/>
        </p:nvSpPr>
        <p:spPr>
          <a:xfrm>
            <a:off x="10104120" y="7047281"/>
            <a:ext cx="4709160" cy="2871216"/>
          </a:xfrm>
          <a:prstGeom prst="rect">
            <a:avLst/>
          </a:prstGeom>
          <a:solidFill>
            <a:srgbClr val="F4F6F8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228" name="Text 226"/>
          <p:cNvSpPr/>
          <p:nvPr/>
        </p:nvSpPr>
        <p:spPr>
          <a:xfrm>
            <a:off x="10241280" y="7120433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 — WORKS ACTIONS (THIS SHEET)</a:t>
            </a:r>
            <a:endParaRPr lang="en-US" sz="950" dirty="0"/>
          </a:p>
        </p:txBody>
      </p:sp>
      <p:sp>
        <p:nvSpPr>
          <p:cNvPr id="229" name="Shape 227"/>
          <p:cNvSpPr/>
          <p:nvPr/>
        </p:nvSpPr>
        <p:spPr>
          <a:xfrm>
            <a:off x="10305288" y="7445045"/>
            <a:ext cx="192024" cy="192024"/>
          </a:xfrm>
          <a:prstGeom prst="ellipse">
            <a:avLst/>
          </a:prstGeom>
          <a:ln w="28575">
            <a:solidFill>
              <a:srgbClr val="CC0000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10351008" y="7490765"/>
            <a:ext cx="100584" cy="100584"/>
          </a:xfrm>
          <a:prstGeom prst="ellipse">
            <a:avLst/>
          </a:prstGeom>
          <a:solidFill>
            <a:srgbClr val="0055CC"/>
          </a:solidFill>
          <a:ln w="6350">
            <a:solidFill>
              <a:srgbClr val="0055CC"/>
            </a:solidFill>
            <a:prstDash val="solid"/>
          </a:ln>
        </p:spPr>
      </p:sp>
      <p:sp>
        <p:nvSpPr>
          <p:cNvPr id="231" name="Text 229"/>
          <p:cNvSpPr/>
          <p:nvPr/>
        </p:nvSpPr>
        <p:spPr>
          <a:xfrm>
            <a:off x="10616184" y="7431329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OUT + NEW CABLE (DUCT) — outer red / inner blue</a:t>
            </a:r>
            <a:endParaRPr lang="en-US" sz="740" dirty="0"/>
          </a:p>
        </p:txBody>
      </p:sp>
      <p:sp>
        <p:nvSpPr>
          <p:cNvPr id="232" name="Shape 230"/>
          <p:cNvSpPr/>
          <p:nvPr/>
        </p:nvSpPr>
        <p:spPr>
          <a:xfrm>
            <a:off x="10305288" y="7719365"/>
            <a:ext cx="192024" cy="192024"/>
          </a:xfrm>
          <a:prstGeom prst="ellipse">
            <a:avLst/>
          </a:prstGeom>
          <a:ln w="28575">
            <a:solidFill>
              <a:srgbClr val="CC0000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10351008" y="7765085"/>
            <a:ext cx="100584" cy="100584"/>
          </a:xfrm>
          <a:prstGeom prst="ellipse">
            <a:avLst/>
          </a:prstGeom>
          <a:solidFill>
            <a:srgbClr val="E8710A"/>
          </a:solidFill>
          <a:ln w="6350">
            <a:solidFill>
              <a:srgbClr val="E8710A"/>
            </a:solidFill>
            <a:prstDash val="solid"/>
          </a:ln>
        </p:spPr>
      </p:sp>
      <p:sp>
        <p:nvSpPr>
          <p:cNvPr id="234" name="Text 232"/>
          <p:cNvSpPr/>
          <p:nvPr/>
        </p:nvSpPr>
        <p:spPr>
          <a:xfrm>
            <a:off x="10616184" y="7705649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OUT + NEW CABLE (SAWCUT) — outer red / inner orange</a:t>
            </a:r>
            <a:endParaRPr lang="en-US" sz="740" dirty="0"/>
          </a:p>
        </p:txBody>
      </p:sp>
      <p:sp>
        <p:nvSpPr>
          <p:cNvPr id="235" name="Shape 233"/>
          <p:cNvSpPr/>
          <p:nvPr/>
        </p:nvSpPr>
        <p:spPr>
          <a:xfrm>
            <a:off x="10305288" y="7993685"/>
            <a:ext cx="192024" cy="192024"/>
          </a:xfrm>
          <a:prstGeom prst="ellipse">
            <a:avLst/>
          </a:prstGeom>
          <a:ln w="28575">
            <a:solidFill>
              <a:srgbClr val="0055CC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10351008" y="8039405"/>
            <a:ext cx="100584" cy="100584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</p:sp>
      <p:sp>
        <p:nvSpPr>
          <p:cNvPr id="237" name="Text 235"/>
          <p:cNvSpPr/>
          <p:nvPr/>
        </p:nvSpPr>
        <p:spPr>
          <a:xfrm>
            <a:off x="10616184" y="7979969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SEC. CABLE ONLY (DUCT) — outer blue / inner green</a:t>
            </a:r>
            <a:endParaRPr lang="en-US" sz="740" dirty="0"/>
          </a:p>
        </p:txBody>
      </p:sp>
      <p:sp>
        <p:nvSpPr>
          <p:cNvPr id="238" name="Shape 236"/>
          <p:cNvSpPr/>
          <p:nvPr/>
        </p:nvSpPr>
        <p:spPr>
          <a:xfrm>
            <a:off x="10305288" y="8268005"/>
            <a:ext cx="192024" cy="192024"/>
          </a:xfrm>
          <a:prstGeom prst="ellipse">
            <a:avLst/>
          </a:prstGeom>
          <a:ln w="28575">
            <a:solidFill>
              <a:srgbClr val="E8710A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10351008" y="8313725"/>
            <a:ext cx="100584" cy="100584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</p:sp>
      <p:sp>
        <p:nvSpPr>
          <p:cNvPr id="240" name="Text 238"/>
          <p:cNvSpPr/>
          <p:nvPr/>
        </p:nvSpPr>
        <p:spPr>
          <a:xfrm>
            <a:off x="10616184" y="8254289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SEC. CABLE ONLY (SAWCUT) — outer orange / inner green</a:t>
            </a:r>
            <a:endParaRPr lang="en-US" sz="740" dirty="0"/>
          </a:p>
        </p:txBody>
      </p:sp>
      <p:sp>
        <p:nvSpPr>
          <p:cNvPr id="241" name="Shape 239"/>
          <p:cNvSpPr/>
          <p:nvPr/>
        </p:nvSpPr>
        <p:spPr>
          <a:xfrm>
            <a:off x="10305288" y="8542325"/>
            <a:ext cx="192024" cy="192024"/>
          </a:xfrm>
          <a:prstGeom prst="ellipse">
            <a:avLst/>
          </a:prstGeom>
          <a:ln w="28575">
            <a:solidFill>
              <a:srgbClr val="9AA0A6"/>
            </a:solidFill>
            <a:prstDash val="solid"/>
          </a:ln>
        </p:spPr>
      </p:sp>
      <p:sp>
        <p:nvSpPr>
          <p:cNvPr id="242" name="Text 240"/>
          <p:cNvSpPr/>
          <p:nvPr/>
        </p:nvSpPr>
        <p:spPr>
          <a:xfrm>
            <a:off x="10616184" y="8528609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VERIFIED — NOT AFFECTED (grey)</a:t>
            </a:r>
            <a:endParaRPr lang="en-US" sz="740" dirty="0"/>
          </a:p>
        </p:txBody>
      </p:sp>
      <p:sp>
        <p:nvSpPr>
          <p:cNvPr id="243" name="Shape 241"/>
          <p:cNvSpPr/>
          <p:nvPr/>
        </p:nvSpPr>
        <p:spPr>
          <a:xfrm>
            <a:off x="10351008" y="8866937"/>
            <a:ext cx="91440" cy="91440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244" name="Text 242"/>
          <p:cNvSpPr/>
          <p:nvPr/>
        </p:nvSpPr>
        <p:spPr>
          <a:xfrm>
            <a:off x="10616184" y="8802929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AGL ASSET (AS-BUILT)</a:t>
            </a:r>
            <a:endParaRPr lang="en-US" sz="740" dirty="0"/>
          </a:p>
        </p:txBody>
      </p:sp>
      <p:sp>
        <p:nvSpPr>
          <p:cNvPr id="245" name="Shape 243"/>
          <p:cNvSpPr/>
          <p:nvPr/>
        </p:nvSpPr>
        <p:spPr>
          <a:xfrm>
            <a:off x="10268712" y="9186977"/>
            <a:ext cx="274320" cy="914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</p:sp>
      <p:sp>
        <p:nvSpPr>
          <p:cNvPr id="246" name="Text 244"/>
          <p:cNvSpPr/>
          <p:nvPr/>
        </p:nvSpPr>
        <p:spPr>
          <a:xfrm>
            <a:off x="10616184" y="9077249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DUCT RUN CROSSING CUT (INDICATIVE)</a:t>
            </a:r>
            <a:endParaRPr lang="en-US" sz="740" dirty="0"/>
          </a:p>
        </p:txBody>
      </p:sp>
      <p:sp>
        <p:nvSpPr>
          <p:cNvPr id="247" name="Shape 245"/>
          <p:cNvSpPr/>
          <p:nvPr/>
        </p:nvSpPr>
        <p:spPr>
          <a:xfrm>
            <a:off x="10268712" y="9461297"/>
            <a:ext cx="274320" cy="914"/>
          </a:xfrm>
          <a:prstGeom prst="line">
            <a:avLst/>
          </a:prstGeom>
          <a:noFill/>
          <a:ln w="31750">
            <a:solidFill>
              <a:srgbClr val="CC0000"/>
            </a:solidFill>
            <a:prstDash val="solid"/>
          </a:ln>
        </p:spPr>
      </p:sp>
      <p:sp>
        <p:nvSpPr>
          <p:cNvPr id="248" name="Text 246"/>
          <p:cNvSpPr/>
          <p:nvPr/>
        </p:nvSpPr>
        <p:spPr>
          <a:xfrm>
            <a:off x="10616184" y="9351569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AGL WORKS DEMARCATION (GOVERNING)</a:t>
            </a:r>
            <a:endParaRPr lang="en-US" sz="740" dirty="0"/>
          </a:p>
        </p:txBody>
      </p:sp>
      <p:sp>
        <p:nvSpPr>
          <p:cNvPr id="249" name="Shape 247"/>
          <p:cNvSpPr/>
          <p:nvPr/>
        </p:nvSpPr>
        <p:spPr>
          <a:xfrm>
            <a:off x="10268712" y="9735617"/>
            <a:ext cx="274320" cy="914"/>
          </a:xfrm>
          <a:prstGeom prst="line">
            <a:avLst/>
          </a:prstGeom>
          <a:noFill/>
          <a:ln w="15875">
            <a:solidFill>
              <a:srgbClr val="9AA0A6"/>
            </a:solidFill>
            <a:prstDash val="dash"/>
          </a:ln>
        </p:spPr>
      </p:sp>
      <p:sp>
        <p:nvSpPr>
          <p:cNvPr id="250" name="Text 248"/>
          <p:cNvSpPr/>
          <p:nvPr/>
        </p:nvSpPr>
        <p:spPr>
          <a:xfrm>
            <a:off x="10616184" y="9625889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CIVIL MILLING DEMARCATION (REFERENCE ONLY)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1449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 DRAWING — ELECTRICAL / AGL SCOPE (FIELD-GOVERNED)   ·   TAXIWAY E (E4–E6) — LOCATION 2   ·   DWG NO [XXX-ELE-SHD-1002] REV P03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320040" y="777240"/>
            <a:ext cx="9555480" cy="9555480"/>
          </a:xfrm>
          <a:prstGeom prst="rect">
            <a:avLst/>
          </a:prstGeom>
          <a:solidFill>
            <a:srgbClr val="FFFFFF"/>
          </a:solidFill>
          <a:ln w="12700">
            <a:solidFill>
              <a:srgbClr val="5F63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93192" y="100584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UTM 40N (EPSG:32640) — AS-BUILT POSITIONS · NOT TO SCALE WHEN EDITED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 flipV="1">
            <a:off x="9202989" y="8952823"/>
            <a:ext cx="576994" cy="398218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 flipV="1">
            <a:off x="8176149" y="8387952"/>
            <a:ext cx="1603833" cy="138987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2505033" y="2025670"/>
            <a:ext cx="541217" cy="2381548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 flipV="1">
            <a:off x="2019761" y="2025670"/>
            <a:ext cx="485271" cy="1559200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 flipV="1">
            <a:off x="993361" y="2025670"/>
            <a:ext cx="1511672" cy="735624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7149310" y="7702047"/>
            <a:ext cx="2630673" cy="446077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 flipV="1">
            <a:off x="4070722" y="4187030"/>
            <a:ext cx="1528947" cy="1043763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 flipV="1">
            <a:off x="5097561" y="4187030"/>
            <a:ext cx="502108" cy="1868830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5599668" y="4187030"/>
            <a:ext cx="524907" cy="2692143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5538286" y="4125648"/>
            <a:ext cx="122765" cy="122765"/>
          </a:xfrm>
          <a:prstGeom prst="rect">
            <a:avLst/>
          </a:prstGeom>
          <a:ln w="19050">
            <a:solidFill>
              <a:srgbClr val="BB00B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78589" y="40159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BB00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P2.002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 flipV="1">
            <a:off x="5301789" y="4985089"/>
            <a:ext cx="659773" cy="830065"/>
          </a:xfrm>
          <a:prstGeom prst="line">
            <a:avLst/>
          </a:prstGeom>
          <a:noFill/>
          <a:ln w="15875">
            <a:solidFill>
              <a:srgbClr val="9AA0A6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4135699" y="4890034"/>
            <a:ext cx="1166090" cy="925120"/>
          </a:xfrm>
          <a:prstGeom prst="line">
            <a:avLst/>
          </a:prstGeom>
          <a:noFill/>
          <a:ln w="15875">
            <a:solidFill>
              <a:srgbClr val="9AA0A6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 flipV="1">
            <a:off x="4135699" y="4057864"/>
            <a:ext cx="659597" cy="832169"/>
          </a:xfrm>
          <a:prstGeom prst="line">
            <a:avLst/>
          </a:prstGeom>
          <a:noFill/>
          <a:ln w="15875">
            <a:solidFill>
              <a:srgbClr val="9AA0A6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4795296" y="4057864"/>
            <a:ext cx="1166265" cy="927224"/>
          </a:xfrm>
          <a:prstGeom prst="line">
            <a:avLst/>
          </a:prstGeom>
          <a:noFill/>
          <a:ln w="15875">
            <a:solidFill>
              <a:srgbClr val="9AA0A6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3629207" y="3407913"/>
            <a:ext cx="67521" cy="55244"/>
          </a:xfrm>
          <a:prstGeom prst="line">
            <a:avLst/>
          </a:prstGeom>
          <a:noFill/>
          <a:ln w="15875">
            <a:solidFill>
              <a:srgbClr val="9AA0A6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 flipV="1">
            <a:off x="3573875" y="3407913"/>
            <a:ext cx="55332" cy="68836"/>
          </a:xfrm>
          <a:prstGeom prst="line">
            <a:avLst/>
          </a:prstGeom>
          <a:noFill/>
          <a:ln w="15875">
            <a:solidFill>
              <a:srgbClr val="9AA0A6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3573875" y="3476749"/>
            <a:ext cx="68134" cy="54981"/>
          </a:xfrm>
          <a:prstGeom prst="line">
            <a:avLst/>
          </a:prstGeom>
          <a:noFill/>
          <a:ln w="15875">
            <a:solidFill>
              <a:srgbClr val="9AA0A6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 flipV="1">
            <a:off x="3642010" y="3463157"/>
            <a:ext cx="54718" cy="68573"/>
          </a:xfrm>
          <a:prstGeom prst="line">
            <a:avLst/>
          </a:prstGeom>
          <a:noFill/>
          <a:ln w="15875">
            <a:solidFill>
              <a:srgbClr val="9AA0A6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4864281" y="4692481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CIVIL MILLING DEMARCATION (REFERENCE ONLY)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 flipV="1">
            <a:off x="7712800" y="8261679"/>
            <a:ext cx="116714" cy="117328"/>
          </a:xfrm>
          <a:prstGeom prst="line">
            <a:avLst/>
          </a:prstGeom>
          <a:noFill/>
          <a:ln w="31750">
            <a:solidFill>
              <a:srgbClr val="CC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87774" y="6192655"/>
            <a:ext cx="2725026" cy="2186352"/>
          </a:xfrm>
          <a:prstGeom prst="line">
            <a:avLst/>
          </a:prstGeom>
          <a:noFill/>
          <a:ln w="31750">
            <a:solidFill>
              <a:srgbClr val="CC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960847" y="5367501"/>
            <a:ext cx="1026927" cy="825154"/>
          </a:xfrm>
          <a:prstGeom prst="line">
            <a:avLst/>
          </a:prstGeom>
          <a:noFill/>
          <a:ln w="31750">
            <a:solidFill>
              <a:srgbClr val="CC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805368" y="4438610"/>
            <a:ext cx="1155479" cy="928891"/>
          </a:xfrm>
          <a:prstGeom prst="line">
            <a:avLst/>
          </a:prstGeom>
          <a:noFill/>
          <a:ln w="31750">
            <a:solidFill>
              <a:srgbClr val="CC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2805368" y="3198073"/>
            <a:ext cx="913545" cy="1240538"/>
          </a:xfrm>
          <a:prstGeom prst="line">
            <a:avLst/>
          </a:prstGeom>
          <a:noFill/>
          <a:ln w="31750">
            <a:solidFill>
              <a:srgbClr val="CC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718913" y="3198073"/>
            <a:ext cx="4110601" cy="5063606"/>
          </a:xfrm>
          <a:prstGeom prst="line">
            <a:avLst/>
          </a:prstGeom>
          <a:noFill/>
          <a:ln w="31750">
            <a:solidFill>
              <a:srgbClr val="CC00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829514" y="8261679"/>
            <a:ext cx="914" cy="914"/>
          </a:xfrm>
          <a:prstGeom prst="line">
            <a:avLst/>
          </a:prstGeom>
          <a:noFill/>
          <a:ln w="31750">
            <a:solidFill>
              <a:srgbClr val="CC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341473" y="2923753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AGL WORKS DEMARCATION — PER FIELD-VERIFIED AFFECTED ASSETS (700.3 m²)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773846" y="7882890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360110" y="5133135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119085" y="6205310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642726" y="1807351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475772" y="1996409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173728" y="9321780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146889" y="8497678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041461" y="5201533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016989" y="4377957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90501" y="3555608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64100" y="2732033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068300" y="6026599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95315" y="6849912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120049" y="7672787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570408" y="4157769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915815" y="3726339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768491" y="2667055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861230" y="7803548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RRM.545</a:t>
            </a:r>
            <a:endParaRPr lang="en-US" sz="500" dirty="0"/>
          </a:p>
        </p:txBody>
      </p:sp>
      <p:sp>
        <p:nvSpPr>
          <p:cNvPr id="51" name="Text 49"/>
          <p:cNvSpPr/>
          <p:nvPr/>
        </p:nvSpPr>
        <p:spPr>
          <a:xfrm>
            <a:off x="2447494" y="5053793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RRM.546</a:t>
            </a:r>
            <a:endParaRPr lang="en-US" sz="500" dirty="0"/>
          </a:p>
        </p:txBody>
      </p:sp>
      <p:sp>
        <p:nvSpPr>
          <p:cNvPr id="52" name="Text 50"/>
          <p:cNvSpPr/>
          <p:nvPr/>
        </p:nvSpPr>
        <p:spPr>
          <a:xfrm>
            <a:off x="7206469" y="6125968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RRM.554</a:t>
            </a:r>
            <a:endParaRPr lang="en-US" sz="500" dirty="0"/>
          </a:p>
        </p:txBody>
      </p:sp>
      <p:sp>
        <p:nvSpPr>
          <p:cNvPr id="53" name="Text 51"/>
          <p:cNvSpPr/>
          <p:nvPr/>
        </p:nvSpPr>
        <p:spPr>
          <a:xfrm>
            <a:off x="1730110" y="1728009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RRM.556</a:t>
            </a:r>
            <a:endParaRPr lang="en-US" sz="500" dirty="0"/>
          </a:p>
        </p:txBody>
      </p:sp>
      <p:sp>
        <p:nvSpPr>
          <p:cNvPr id="54" name="Text 52"/>
          <p:cNvSpPr/>
          <p:nvPr/>
        </p:nvSpPr>
        <p:spPr>
          <a:xfrm>
            <a:off x="2563156" y="1917067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X_CV_STH_PITS &amp;.24043</a:t>
            </a:r>
            <a:endParaRPr lang="en-US" sz="500" dirty="0"/>
          </a:p>
        </p:txBody>
      </p:sp>
      <p:sp>
        <p:nvSpPr>
          <p:cNvPr id="55" name="Text 53"/>
          <p:cNvSpPr/>
          <p:nvPr/>
        </p:nvSpPr>
        <p:spPr>
          <a:xfrm>
            <a:off x="9261112" y="9242438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TCCECH.03.010</a:t>
            </a:r>
            <a:endParaRPr lang="en-US" sz="500" dirty="0"/>
          </a:p>
        </p:txBody>
      </p:sp>
      <p:sp>
        <p:nvSpPr>
          <p:cNvPr id="56" name="Text 54"/>
          <p:cNvSpPr/>
          <p:nvPr/>
        </p:nvSpPr>
        <p:spPr>
          <a:xfrm>
            <a:off x="8234272" y="8418336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TCCECH.04.009</a:t>
            </a:r>
            <a:endParaRPr lang="en-US" sz="500" dirty="0"/>
          </a:p>
        </p:txBody>
      </p:sp>
      <p:sp>
        <p:nvSpPr>
          <p:cNvPr id="57" name="Text 55"/>
          <p:cNvSpPr/>
          <p:nvPr/>
        </p:nvSpPr>
        <p:spPr>
          <a:xfrm>
            <a:off x="4128845" y="5122191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TCCECH.04.007</a:t>
            </a:r>
            <a:endParaRPr lang="en-US" sz="500" dirty="0"/>
          </a:p>
        </p:txBody>
      </p:sp>
      <p:sp>
        <p:nvSpPr>
          <p:cNvPr id="58" name="Text 56"/>
          <p:cNvSpPr/>
          <p:nvPr/>
        </p:nvSpPr>
        <p:spPr>
          <a:xfrm>
            <a:off x="3104373" y="4298615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TCCECH.03.007</a:t>
            </a:r>
            <a:endParaRPr lang="en-US" sz="500" dirty="0"/>
          </a:p>
        </p:txBody>
      </p:sp>
      <p:sp>
        <p:nvSpPr>
          <p:cNvPr id="59" name="Text 57"/>
          <p:cNvSpPr/>
          <p:nvPr/>
        </p:nvSpPr>
        <p:spPr>
          <a:xfrm>
            <a:off x="2077885" y="3476267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TCCECH.04.006</a:t>
            </a:r>
            <a:endParaRPr lang="en-US" sz="500" dirty="0"/>
          </a:p>
        </p:txBody>
      </p:sp>
      <p:sp>
        <p:nvSpPr>
          <p:cNvPr id="60" name="Text 58"/>
          <p:cNvSpPr/>
          <p:nvPr/>
        </p:nvSpPr>
        <p:spPr>
          <a:xfrm>
            <a:off x="1051484" y="2652691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TCCECH.03.006</a:t>
            </a:r>
            <a:endParaRPr lang="en-US" sz="500" dirty="0"/>
          </a:p>
        </p:txBody>
      </p:sp>
      <p:sp>
        <p:nvSpPr>
          <p:cNvPr id="61" name="Text 59"/>
          <p:cNvSpPr/>
          <p:nvPr/>
        </p:nvSpPr>
        <p:spPr>
          <a:xfrm>
            <a:off x="5155684" y="5947257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TCCECH.03.008</a:t>
            </a:r>
            <a:endParaRPr lang="en-US" sz="500" dirty="0"/>
          </a:p>
        </p:txBody>
      </p:sp>
      <p:sp>
        <p:nvSpPr>
          <p:cNvPr id="62" name="Text 60"/>
          <p:cNvSpPr/>
          <p:nvPr/>
        </p:nvSpPr>
        <p:spPr>
          <a:xfrm>
            <a:off x="6182699" y="6770570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TCCECH.04.008</a:t>
            </a:r>
            <a:endParaRPr lang="en-US" sz="500" dirty="0"/>
          </a:p>
        </p:txBody>
      </p:sp>
      <p:sp>
        <p:nvSpPr>
          <p:cNvPr id="63" name="Text 61"/>
          <p:cNvSpPr/>
          <p:nvPr/>
        </p:nvSpPr>
        <p:spPr>
          <a:xfrm>
            <a:off x="7207433" y="7593445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TCCECH.03.009</a:t>
            </a:r>
            <a:endParaRPr lang="en-US" sz="500" dirty="0"/>
          </a:p>
        </p:txBody>
      </p:sp>
      <p:sp>
        <p:nvSpPr>
          <p:cNvPr id="64" name="Text 62"/>
          <p:cNvSpPr/>
          <p:nvPr/>
        </p:nvSpPr>
        <p:spPr>
          <a:xfrm>
            <a:off x="5657792" y="4078427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P2.002</a:t>
            </a:r>
            <a:endParaRPr lang="en-US" sz="500" dirty="0"/>
          </a:p>
        </p:txBody>
      </p:sp>
      <p:sp>
        <p:nvSpPr>
          <p:cNvPr id="65" name="Text 63"/>
          <p:cNvSpPr/>
          <p:nvPr/>
        </p:nvSpPr>
        <p:spPr>
          <a:xfrm>
            <a:off x="6003199" y="3646997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HH.E.055</a:t>
            </a:r>
            <a:endParaRPr lang="en-US" sz="500" dirty="0"/>
          </a:p>
        </p:txBody>
      </p:sp>
      <p:sp>
        <p:nvSpPr>
          <p:cNvPr id="66" name="Text 64"/>
          <p:cNvSpPr/>
          <p:nvPr/>
        </p:nvSpPr>
        <p:spPr>
          <a:xfrm>
            <a:off x="4855875" y="2587713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HH.E.056</a:t>
            </a:r>
            <a:endParaRPr lang="en-US" sz="500" dirty="0"/>
          </a:p>
        </p:txBody>
      </p:sp>
      <p:sp>
        <p:nvSpPr>
          <p:cNvPr id="67" name="Shape 65"/>
          <p:cNvSpPr/>
          <p:nvPr/>
        </p:nvSpPr>
        <p:spPr>
          <a:xfrm>
            <a:off x="2941094" y="4302062"/>
            <a:ext cx="210312" cy="210312"/>
          </a:xfrm>
          <a:prstGeom prst="ellipse">
            <a:avLst/>
          </a:prstGeom>
          <a:ln w="28575">
            <a:solidFill>
              <a:srgbClr val="0055CC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991386" y="4352354"/>
            <a:ext cx="109728" cy="109728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165122" y="418776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TCCECH-03/007</a:t>
            </a:r>
            <a:endParaRPr lang="en-US" sz="650" dirty="0"/>
          </a:p>
        </p:txBody>
      </p:sp>
      <p:sp>
        <p:nvSpPr>
          <p:cNvPr id="70" name="Shape 68"/>
          <p:cNvSpPr/>
          <p:nvPr/>
        </p:nvSpPr>
        <p:spPr>
          <a:xfrm>
            <a:off x="3965566" y="5125637"/>
            <a:ext cx="210312" cy="210312"/>
          </a:xfrm>
          <a:prstGeom prst="ellipse">
            <a:avLst/>
          </a:prstGeom>
          <a:ln w="28575">
            <a:solidFill>
              <a:srgbClr val="0055CC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015858" y="5175929"/>
            <a:ext cx="109728" cy="109728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189594" y="5011337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TCCECH-04/007</a:t>
            </a:r>
            <a:endParaRPr lang="en-US" sz="650" dirty="0"/>
          </a:p>
        </p:txBody>
      </p:sp>
      <p:sp>
        <p:nvSpPr>
          <p:cNvPr id="73" name="Shape 71"/>
          <p:cNvSpPr/>
          <p:nvPr/>
        </p:nvSpPr>
        <p:spPr>
          <a:xfrm>
            <a:off x="4992405" y="5950704"/>
            <a:ext cx="210312" cy="210312"/>
          </a:xfrm>
          <a:prstGeom prst="ellipse">
            <a:avLst/>
          </a:prstGeom>
          <a:ln w="28575">
            <a:solidFill>
              <a:srgbClr val="0055CC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5042697" y="6000996"/>
            <a:ext cx="109728" cy="109728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216433" y="5836404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TCCECH-03/008</a:t>
            </a:r>
            <a:endParaRPr lang="en-US" sz="650" dirty="0"/>
          </a:p>
        </p:txBody>
      </p:sp>
      <p:sp>
        <p:nvSpPr>
          <p:cNvPr id="76" name="Shape 74"/>
          <p:cNvSpPr/>
          <p:nvPr/>
        </p:nvSpPr>
        <p:spPr>
          <a:xfrm>
            <a:off x="6019419" y="6774017"/>
            <a:ext cx="210312" cy="210312"/>
          </a:xfrm>
          <a:prstGeom prst="ellipse">
            <a:avLst/>
          </a:prstGeom>
          <a:ln w="28575">
            <a:solidFill>
              <a:srgbClr val="0055CC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069711" y="6824309"/>
            <a:ext cx="109728" cy="109728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243447" y="6659717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TCCECH-04/008</a:t>
            </a:r>
            <a:endParaRPr lang="en-US" sz="650" dirty="0"/>
          </a:p>
        </p:txBody>
      </p:sp>
      <p:sp>
        <p:nvSpPr>
          <p:cNvPr id="79" name="Shape 77"/>
          <p:cNvSpPr/>
          <p:nvPr/>
        </p:nvSpPr>
        <p:spPr>
          <a:xfrm>
            <a:off x="7044154" y="7596891"/>
            <a:ext cx="210312" cy="210312"/>
          </a:xfrm>
          <a:prstGeom prst="ellipse">
            <a:avLst/>
          </a:prstGeom>
          <a:ln w="28575">
            <a:solidFill>
              <a:srgbClr val="0055CC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094446" y="7647183"/>
            <a:ext cx="109728" cy="109728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268182" y="7482591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TCCECH-03/009</a:t>
            </a:r>
            <a:endParaRPr lang="en-US" sz="650" dirty="0"/>
          </a:p>
        </p:txBody>
      </p:sp>
      <p:sp>
        <p:nvSpPr>
          <p:cNvPr id="82" name="Shape 80"/>
          <p:cNvSpPr/>
          <p:nvPr/>
        </p:nvSpPr>
        <p:spPr>
          <a:xfrm>
            <a:off x="3620509" y="3379485"/>
            <a:ext cx="210312" cy="210312"/>
          </a:xfrm>
          <a:prstGeom prst="ellipse">
            <a:avLst/>
          </a:prstGeom>
          <a:ln w="28575">
            <a:solidFill>
              <a:srgbClr val="BB00BB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670801" y="3429777"/>
            <a:ext cx="109728" cy="109728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844537" y="3265185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RRM.555</a:t>
            </a:r>
            <a:endParaRPr lang="en-US" sz="650" dirty="0"/>
          </a:p>
        </p:txBody>
      </p:sp>
      <p:sp>
        <p:nvSpPr>
          <p:cNvPr id="85" name="Shape 83"/>
          <p:cNvSpPr/>
          <p:nvPr/>
        </p:nvSpPr>
        <p:spPr>
          <a:xfrm>
            <a:off x="10104120" y="777240"/>
            <a:ext cx="4709160" cy="1170432"/>
          </a:xfrm>
          <a:prstGeom prst="rect">
            <a:avLst/>
          </a:prstGeom>
          <a:solidFill>
            <a:srgbClr val="1E2761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0241280" y="86868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2 — 1002  ·  REV P03 (EDITABLE)</a:t>
            </a:r>
            <a:endParaRPr lang="en-US" sz="1250" dirty="0"/>
          </a:p>
        </p:txBody>
      </p:sp>
      <p:sp>
        <p:nvSpPr>
          <p:cNvPr id="87" name="Text 85"/>
          <p:cNvSpPr/>
          <p:nvPr/>
        </p:nvSpPr>
        <p:spPr>
          <a:xfrm>
            <a:off x="10241280" y="1179576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PER FIELD SHEET Second_milling_area rev _1 — FIELD DATA GOVERNS</a:t>
            </a: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10241280" y="160020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1:250 @ A1 equivalent · UTM 40N · Issued 28.07.2026 · Prepared: Mohammed, AGL Team Leader — ADB SAFEGATE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10104120" y="2057400"/>
            <a:ext cx="4709160" cy="1577340"/>
          </a:xfrm>
          <a:prstGeom prst="rect">
            <a:avLst/>
          </a:prstGeom>
          <a:solidFill>
            <a:srgbClr val="F4F6F8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10241280" y="2130552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/ QUANTITIES (PER FIELD VERIFICATION)</a:t>
            </a:r>
            <a:endParaRPr lang="en-US" sz="950" dirty="0"/>
          </a:p>
        </p:txBody>
      </p:sp>
      <p:sp>
        <p:nvSpPr>
          <p:cNvPr id="91" name="Text 89"/>
          <p:cNvSpPr/>
          <p:nvPr/>
        </p:nvSpPr>
        <p:spPr>
          <a:xfrm>
            <a:off x="10241280" y="2386584"/>
            <a:ext cx="4434840" cy="11932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SECONDARY CABLE ONLY (VIA DUCT): 5 No.</a:t>
            </a:r>
            <a:endParaRPr lang="en-US" sz="76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TCCECH-03/007, 04/007, 03/008, 04/008, 03/009</a:t>
            </a:r>
            <a:endParaRPr lang="en-US" sz="76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SHALLOW BASES AFFECTED AT THIS LOCATION</a:t>
            </a:r>
            <a:endParaRPr lang="en-US" sz="76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RRM.555 (0.41 m from cut): REMOVE / PROTECT BEFORE SAWCUT, RE-FIX AFTER PAVING</a:t>
            </a:r>
            <a:endParaRPr lang="en-US" sz="76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 CIRCUITS: TCCECH.03, TCCECH.04</a:t>
            </a:r>
            <a:endParaRPr lang="en-US" sz="760" dirty="0"/>
          </a:p>
        </p:txBody>
      </p:sp>
      <p:sp>
        <p:nvSpPr>
          <p:cNvPr id="92" name="Shape 90"/>
          <p:cNvSpPr/>
          <p:nvPr/>
        </p:nvSpPr>
        <p:spPr>
          <a:xfrm>
            <a:off x="10104120" y="3744468"/>
            <a:ext cx="4709160" cy="2267712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0241280" y="3817620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NOTES</a:t>
            </a:r>
            <a:endParaRPr lang="en-US" sz="950" dirty="0"/>
          </a:p>
        </p:txBody>
      </p:sp>
      <p:sp>
        <p:nvSpPr>
          <p:cNvPr id="94" name="Text 92"/>
          <p:cNvSpPr/>
          <p:nvPr/>
        </p:nvSpPr>
        <p:spPr>
          <a:xfrm>
            <a:off x="10241280" y="4073652"/>
            <a:ext cx="443484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68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All asset positions as-built (asset survey assets_20260726120533.xlsx, UTM 40N / EPSG:32640). Do not scale from civil drawing.</a:t>
            </a:r>
            <a:endParaRPr lang="en-US" sz="68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68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AGL works demarcation (red) drawn around field-verified affected assets (+2.0 m). Civil milling polygon (grey dashed) reference only.</a:t>
            </a:r>
            <a:endParaRPr lang="en-US" sz="68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68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Secondary cables: no joints — full manhole-to-light replacement. Confirm routes vs AGL duct-layout CAD (Rev B) before works.</a:t>
            </a:r>
            <a:endParaRPr lang="en-US" sz="68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68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Isolate, lock out &amp; prove dead all listed circuits at CCR under permit before any cutting, coring or excavation.</a:t>
            </a:r>
            <a:endParaRPr lang="en-US" sz="68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68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Reinstatement setting-out by civil survey from as-built E/N, checked against adjacent undisturbed fittings before coring.</a:t>
            </a:r>
            <a:endParaRPr lang="en-US" sz="68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68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Civil works per IZ-ADAC-056-2024-TO9-RT-02: sawcut, mill 120 mm, geogrid + 60 binder + 60 PMB wearing course.</a:t>
            </a:r>
            <a:endParaRPr lang="en-US" sz="680" dirty="0"/>
          </a:p>
        </p:txBody>
      </p:sp>
      <p:sp>
        <p:nvSpPr>
          <p:cNvPr id="95" name="Shape 93"/>
          <p:cNvSpPr/>
          <p:nvPr/>
        </p:nvSpPr>
        <p:spPr>
          <a:xfrm>
            <a:off x="10104120" y="6121908"/>
            <a:ext cx="4709160" cy="2048256"/>
          </a:xfrm>
          <a:prstGeom prst="rect">
            <a:avLst/>
          </a:prstGeom>
          <a:solidFill>
            <a:srgbClr val="F4F6F8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10241280" y="6195060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 — WORKS ACTIONS (THIS SHEET)</a:t>
            </a:r>
            <a:endParaRPr lang="en-US" sz="950" dirty="0"/>
          </a:p>
        </p:txBody>
      </p:sp>
      <p:sp>
        <p:nvSpPr>
          <p:cNvPr id="97" name="Shape 95"/>
          <p:cNvSpPr/>
          <p:nvPr/>
        </p:nvSpPr>
        <p:spPr>
          <a:xfrm>
            <a:off x="10305288" y="6519672"/>
            <a:ext cx="192024" cy="192024"/>
          </a:xfrm>
          <a:prstGeom prst="ellipse">
            <a:avLst/>
          </a:prstGeom>
          <a:ln w="28575">
            <a:solidFill>
              <a:srgbClr val="0055CC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10351008" y="6565392"/>
            <a:ext cx="100584" cy="100584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10616184" y="6505956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SEC. CABLE ONLY (DUCT) — outer blue / inner green</a:t>
            </a:r>
            <a:endParaRPr lang="en-US" sz="740" dirty="0"/>
          </a:p>
        </p:txBody>
      </p:sp>
      <p:sp>
        <p:nvSpPr>
          <p:cNvPr id="100" name="Shape 98"/>
          <p:cNvSpPr/>
          <p:nvPr/>
        </p:nvSpPr>
        <p:spPr>
          <a:xfrm>
            <a:off x="10305288" y="6793992"/>
            <a:ext cx="192024" cy="192024"/>
          </a:xfrm>
          <a:prstGeom prst="ellipse">
            <a:avLst/>
          </a:prstGeom>
          <a:ln w="28575">
            <a:solidFill>
              <a:srgbClr val="BB00BB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0351008" y="6839712"/>
            <a:ext cx="100584" cy="100584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10616184" y="6780276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 — REMOVE / PROTECT / RE-FIX (magenta / white)</a:t>
            </a:r>
            <a:endParaRPr lang="en-US" sz="740" dirty="0"/>
          </a:p>
        </p:txBody>
      </p:sp>
      <p:sp>
        <p:nvSpPr>
          <p:cNvPr id="103" name="Shape 101"/>
          <p:cNvSpPr/>
          <p:nvPr/>
        </p:nvSpPr>
        <p:spPr>
          <a:xfrm>
            <a:off x="10351008" y="7118604"/>
            <a:ext cx="91440" cy="91440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10616184" y="7054596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AGL ASSET (AS-BUILT)</a:t>
            </a:r>
            <a:endParaRPr lang="en-US" sz="740" dirty="0"/>
          </a:p>
        </p:txBody>
      </p:sp>
      <p:sp>
        <p:nvSpPr>
          <p:cNvPr id="105" name="Shape 103"/>
          <p:cNvSpPr/>
          <p:nvPr/>
        </p:nvSpPr>
        <p:spPr>
          <a:xfrm>
            <a:off x="10268712" y="7438644"/>
            <a:ext cx="274320" cy="914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</p:sp>
      <p:sp>
        <p:nvSpPr>
          <p:cNvPr id="106" name="Text 104"/>
          <p:cNvSpPr/>
          <p:nvPr/>
        </p:nvSpPr>
        <p:spPr>
          <a:xfrm>
            <a:off x="10616184" y="7328916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DUCT RUN CROSSING CUT (INDICATIVE)</a:t>
            </a:r>
            <a:endParaRPr lang="en-US" sz="740" dirty="0"/>
          </a:p>
        </p:txBody>
      </p:sp>
      <p:sp>
        <p:nvSpPr>
          <p:cNvPr id="107" name="Shape 105"/>
          <p:cNvSpPr/>
          <p:nvPr/>
        </p:nvSpPr>
        <p:spPr>
          <a:xfrm>
            <a:off x="10268712" y="7712964"/>
            <a:ext cx="274320" cy="914"/>
          </a:xfrm>
          <a:prstGeom prst="line">
            <a:avLst/>
          </a:prstGeom>
          <a:noFill/>
          <a:ln w="31750">
            <a:solidFill>
              <a:srgbClr val="CC000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10616184" y="7603236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AGL WORKS DEMARCATION (GOVERNING)</a:t>
            </a:r>
            <a:endParaRPr lang="en-US" sz="740" dirty="0"/>
          </a:p>
        </p:txBody>
      </p:sp>
      <p:sp>
        <p:nvSpPr>
          <p:cNvPr id="109" name="Shape 107"/>
          <p:cNvSpPr/>
          <p:nvPr/>
        </p:nvSpPr>
        <p:spPr>
          <a:xfrm>
            <a:off x="10268712" y="7987284"/>
            <a:ext cx="274320" cy="914"/>
          </a:xfrm>
          <a:prstGeom prst="line">
            <a:avLst/>
          </a:prstGeom>
          <a:noFill/>
          <a:ln w="15875">
            <a:solidFill>
              <a:srgbClr val="9AA0A6"/>
            </a:solidFill>
            <a:prstDash val="dash"/>
          </a:ln>
        </p:spPr>
      </p:sp>
      <p:sp>
        <p:nvSpPr>
          <p:cNvPr id="110" name="Text 108"/>
          <p:cNvSpPr/>
          <p:nvPr/>
        </p:nvSpPr>
        <p:spPr>
          <a:xfrm>
            <a:off x="10616184" y="7877556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CIVIL MILLING DEMARCATION (REFERENCE ONLY)</a:t>
            </a:r>
            <a:endParaRPr lang="en-US" sz="7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1449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 DRAWING — ELECTRICAL / AGL SCOPE (FIELD-GOVERNED)   ·   TAXIWAY E (E4–E6) — LOCATION 3   ·   DWG NO [XXX-ELE-SHD-1003] REV P03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320040" y="777240"/>
            <a:ext cx="9555480" cy="9555480"/>
          </a:xfrm>
          <a:prstGeom prst="rect">
            <a:avLst/>
          </a:prstGeom>
          <a:solidFill>
            <a:srgbClr val="FFFFFF"/>
          </a:solidFill>
          <a:ln w="12700">
            <a:solidFill>
              <a:srgbClr val="5F63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93192" y="100584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UTM 40N (EPSG:32640) — AS-BUILT POSITIONS · NOT TO SCALE WHEN EDITED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 flipV="1">
            <a:off x="8138616" y="6554322"/>
            <a:ext cx="580574" cy="2129273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 flipV="1">
            <a:off x="6965925" y="6554322"/>
            <a:ext cx="1753265" cy="1188049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 flipV="1">
            <a:off x="9313315" y="9353643"/>
            <a:ext cx="562205" cy="273585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 flipV="1">
            <a:off x="6377923" y="6554322"/>
            <a:ext cx="2341267" cy="715680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 flipV="1">
            <a:off x="7552823" y="6554322"/>
            <a:ext cx="1166367" cy="1657506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 flipV="1">
            <a:off x="320040" y="3344302"/>
            <a:ext cx="270413" cy="192111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 flipV="1">
            <a:off x="1676720" y="3953885"/>
            <a:ext cx="287778" cy="2346988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 flipV="1">
            <a:off x="1676720" y="4334109"/>
            <a:ext cx="939217" cy="1966764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1289068" y="3623648"/>
            <a:ext cx="387652" cy="2677225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 flipV="1">
            <a:off x="1676720" y="5706748"/>
            <a:ext cx="2030603" cy="594125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 flipV="1">
            <a:off x="1676720" y="5942029"/>
            <a:ext cx="1842198" cy="358844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 flipV="1">
            <a:off x="1676720" y="6177110"/>
            <a:ext cx="1654596" cy="123763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 flipV="1">
            <a:off x="1090826" y="1298442"/>
            <a:ext cx="800030" cy="1729978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 flipV="1">
            <a:off x="1676720" y="3975867"/>
            <a:ext cx="590812" cy="2325006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 flipV="1">
            <a:off x="1676720" y="4754181"/>
            <a:ext cx="1563454" cy="1546692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 flipV="1">
            <a:off x="561544" y="1298442"/>
            <a:ext cx="266014" cy="178769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 flipV="1">
            <a:off x="1347387" y="1298442"/>
            <a:ext cx="598309" cy="1460870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 flipV="1">
            <a:off x="1676720" y="4444120"/>
            <a:ext cx="1178814" cy="1856753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 flipV="1">
            <a:off x="929924" y="1298442"/>
            <a:ext cx="641799" cy="833220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 flipV="1">
            <a:off x="1808413" y="2767442"/>
            <a:ext cx="2698404" cy="586396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 flipV="1">
            <a:off x="1676720" y="4916991"/>
            <a:ext cx="1767619" cy="1383882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 flipV="1">
            <a:off x="1676720" y="3911526"/>
            <a:ext cx="636684" cy="2389347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 flipV="1">
            <a:off x="5788416" y="5207981"/>
            <a:ext cx="2251129" cy="1592262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 flipV="1">
            <a:off x="5203827" y="3840862"/>
            <a:ext cx="282658" cy="2486912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 flipV="1">
            <a:off x="4615424" y="3840862"/>
            <a:ext cx="871062" cy="2013038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 flipV="1">
            <a:off x="4027824" y="3840862"/>
            <a:ext cx="1458662" cy="1544282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 flipV="1">
            <a:off x="4650857" y="3840862"/>
            <a:ext cx="835629" cy="689582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 flipV="1">
            <a:off x="4461748" y="3840862"/>
            <a:ext cx="1024737" cy="925867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 flipV="1">
            <a:off x="4273042" y="3840862"/>
            <a:ext cx="1213444" cy="1162553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 flipV="1">
            <a:off x="4085941" y="3840862"/>
            <a:ext cx="1400544" cy="1397834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 flipV="1">
            <a:off x="3897134" y="3840862"/>
            <a:ext cx="1589351" cy="1631208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5416222" y="3770598"/>
            <a:ext cx="140526" cy="140526"/>
          </a:xfrm>
          <a:prstGeom prst="rect">
            <a:avLst/>
          </a:prstGeom>
          <a:ln w="19050">
            <a:solidFill>
              <a:srgbClr val="BB00B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969282" y="5137718"/>
            <a:ext cx="140526" cy="140526"/>
          </a:xfrm>
          <a:prstGeom prst="rect">
            <a:avLst/>
          </a:prstGeom>
          <a:ln w="19050">
            <a:solidFill>
              <a:srgbClr val="BB00B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76824" y="366087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BB00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P4.037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8129884" y="502799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BB00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HH.E.058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4905811" y="4309717"/>
            <a:ext cx="1958433" cy="1571886"/>
          </a:xfrm>
          <a:prstGeom prst="line">
            <a:avLst/>
          </a:prstGeom>
          <a:noFill/>
          <a:ln w="15875">
            <a:solidFill>
              <a:srgbClr val="9AA0A6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 flipV="1">
            <a:off x="4265313" y="4309717"/>
            <a:ext cx="640498" cy="798791"/>
          </a:xfrm>
          <a:prstGeom prst="line">
            <a:avLst/>
          </a:prstGeom>
          <a:noFill/>
          <a:ln w="15875">
            <a:solidFill>
              <a:srgbClr val="9AA0A6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4265313" y="5108508"/>
            <a:ext cx="1958233" cy="1572488"/>
          </a:xfrm>
          <a:prstGeom prst="line">
            <a:avLst/>
          </a:prstGeom>
          <a:noFill/>
          <a:ln w="15875">
            <a:solidFill>
              <a:srgbClr val="9AA0A6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 flipV="1">
            <a:off x="6223545" y="5881603"/>
            <a:ext cx="640699" cy="799393"/>
          </a:xfrm>
          <a:prstGeom prst="line">
            <a:avLst/>
          </a:prstGeom>
          <a:noFill/>
          <a:ln w="15875">
            <a:solidFill>
              <a:srgbClr val="9AA0A6"/>
            </a:solidFill>
            <a:prstDash val="dash"/>
          </a:ln>
        </p:spPr>
      </p:sp>
      <p:sp>
        <p:nvSpPr>
          <p:cNvPr id="44" name="Text 42"/>
          <p:cNvSpPr/>
          <p:nvPr/>
        </p:nvSpPr>
        <p:spPr>
          <a:xfrm>
            <a:off x="5766964" y="5588995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CIVIL MILLING DEMARCATION (REFERENCE ONLY)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2980201" y="6295152"/>
            <a:ext cx="2889921" cy="732944"/>
          </a:xfrm>
          <a:prstGeom prst="line">
            <a:avLst/>
          </a:prstGeom>
          <a:noFill/>
          <a:ln w="31750">
            <a:solidFill>
              <a:srgbClr val="CC00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V="1">
            <a:off x="2980201" y="5816660"/>
            <a:ext cx="381930" cy="478492"/>
          </a:xfrm>
          <a:prstGeom prst="line">
            <a:avLst/>
          </a:prstGeom>
          <a:noFill/>
          <a:ln w="31750">
            <a:solidFill>
              <a:srgbClr val="CC000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V="1">
            <a:off x="3362131" y="5581278"/>
            <a:ext cx="188506" cy="235381"/>
          </a:xfrm>
          <a:prstGeom prst="line">
            <a:avLst/>
          </a:prstGeom>
          <a:noFill/>
          <a:ln w="31750">
            <a:solidFill>
              <a:srgbClr val="CC00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flipV="1">
            <a:off x="3550637" y="4311223"/>
            <a:ext cx="1018715" cy="1270056"/>
          </a:xfrm>
          <a:prstGeom prst="line">
            <a:avLst/>
          </a:prstGeom>
          <a:noFill/>
          <a:ln w="31750">
            <a:solidFill>
              <a:srgbClr val="CC00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569351" y="4311223"/>
            <a:ext cx="1013997" cy="187703"/>
          </a:xfrm>
          <a:prstGeom prst="line">
            <a:avLst/>
          </a:prstGeom>
          <a:noFill/>
          <a:ln w="31750">
            <a:solidFill>
              <a:srgbClr val="CC000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583348" y="4498926"/>
            <a:ext cx="1303481" cy="1144787"/>
          </a:xfrm>
          <a:prstGeom prst="line">
            <a:avLst/>
          </a:prstGeom>
          <a:noFill/>
          <a:ln w="31750">
            <a:solidFill>
              <a:srgbClr val="CC000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flipV="1">
            <a:off x="5870122" y="5643712"/>
            <a:ext cx="1016707" cy="1384384"/>
          </a:xfrm>
          <a:prstGeom prst="line">
            <a:avLst/>
          </a:prstGeom>
          <a:noFill/>
          <a:ln w="31750">
            <a:solidFill>
              <a:srgbClr val="CC000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870122" y="7028096"/>
            <a:ext cx="914" cy="914"/>
          </a:xfrm>
          <a:prstGeom prst="line">
            <a:avLst/>
          </a:prstGeom>
          <a:noFill/>
          <a:ln w="31750">
            <a:solidFill>
              <a:srgbClr val="CC00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191911" y="4036903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AGL WORKS DEMARCATION — PER FIELD-VERIFIED AFFECTED ASSETS (614.4 m²)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8102128" y="6959990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477556" y="2738181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109355" y="8654334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936664" y="7713110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251911" y="7016702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550942" y="5842004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247651" y="2605986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300003" y="1444136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249569" y="5119097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329502" y="3658829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731117" y="7813887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284054" y="9597968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348663" y="7240741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759155" y="6770982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174566" y="6298513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586163" y="5824638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523562" y="8182568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61192" y="3315041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935237" y="3924624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586676" y="4304848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259808" y="3594387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23173" y="3254314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500107" y="3566182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166101" y="3922315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800878" y="4322413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998563" y="5355883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867873" y="5442809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678063" y="5677487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489657" y="5912768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302055" y="6147849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061565" y="2999159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238271" y="3946606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210913" y="4724921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32284" y="1447950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318126" y="2730051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2826273" y="4414860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900663" y="2102401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779152" y="3324577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415078" y="4887730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2284143" y="3882265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5457225" y="3811601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8689929" y="6525061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9115523" y="6053997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743095" y="3171303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5953985" y="3341741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4280619" y="1744862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010284" y="5178720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049386" y="4194635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647459" y="6271612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4632035" y="2040067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990299" y="6594019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1638325" y="8346983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5755642" y="2342701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8193953" y="6876842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RRM.283</a:t>
            </a:r>
            <a:endParaRPr lang="en-US" sz="500" dirty="0"/>
          </a:p>
        </p:txBody>
      </p:sp>
      <p:sp>
        <p:nvSpPr>
          <p:cNvPr id="108" name="Text 106"/>
          <p:cNvSpPr/>
          <p:nvPr/>
        </p:nvSpPr>
        <p:spPr>
          <a:xfrm>
            <a:off x="4569381" y="2655033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P4.036.399</a:t>
            </a:r>
            <a:endParaRPr lang="en-US" sz="500" dirty="0"/>
          </a:p>
        </p:txBody>
      </p:sp>
      <p:sp>
        <p:nvSpPr>
          <p:cNvPr id="109" name="Text 107"/>
          <p:cNvSpPr/>
          <p:nvPr/>
        </p:nvSpPr>
        <p:spPr>
          <a:xfrm>
            <a:off x="8201180" y="8571186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TCCECH.04.005</a:t>
            </a:r>
            <a:endParaRPr lang="en-US" sz="500" dirty="0"/>
          </a:p>
        </p:txBody>
      </p:sp>
      <p:sp>
        <p:nvSpPr>
          <p:cNvPr id="110" name="Text 108"/>
          <p:cNvSpPr/>
          <p:nvPr/>
        </p:nvSpPr>
        <p:spPr>
          <a:xfrm>
            <a:off x="7028489" y="7629962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TCCECH.04.004</a:t>
            </a:r>
            <a:endParaRPr lang="en-US" sz="500" dirty="0"/>
          </a:p>
        </p:txBody>
      </p:sp>
      <p:sp>
        <p:nvSpPr>
          <p:cNvPr id="111" name="Text 109"/>
          <p:cNvSpPr/>
          <p:nvPr/>
        </p:nvSpPr>
        <p:spPr>
          <a:xfrm>
            <a:off x="4343736" y="6933554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RRM.547</a:t>
            </a:r>
            <a:endParaRPr lang="en-US" sz="500" dirty="0"/>
          </a:p>
        </p:txBody>
      </p:sp>
      <p:sp>
        <p:nvSpPr>
          <p:cNvPr id="112" name="Text 110"/>
          <p:cNvSpPr/>
          <p:nvPr/>
        </p:nvSpPr>
        <p:spPr>
          <a:xfrm>
            <a:off x="2642767" y="5758856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RRM.548</a:t>
            </a:r>
            <a:endParaRPr lang="en-US" sz="500" dirty="0"/>
          </a:p>
        </p:txBody>
      </p:sp>
      <p:sp>
        <p:nvSpPr>
          <p:cNvPr id="113" name="Text 111"/>
          <p:cNvSpPr/>
          <p:nvPr/>
        </p:nvSpPr>
        <p:spPr>
          <a:xfrm>
            <a:off x="3339475" y="2522838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RRM.558</a:t>
            </a:r>
            <a:endParaRPr lang="en-US" sz="500" dirty="0"/>
          </a:p>
        </p:txBody>
      </p:sp>
      <p:sp>
        <p:nvSpPr>
          <p:cNvPr id="114" name="Text 112"/>
          <p:cNvSpPr/>
          <p:nvPr/>
        </p:nvSpPr>
        <p:spPr>
          <a:xfrm>
            <a:off x="2391827" y="1360988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RRM.559</a:t>
            </a:r>
            <a:endParaRPr lang="en-US" sz="500" dirty="0"/>
          </a:p>
        </p:txBody>
      </p:sp>
      <p:sp>
        <p:nvSpPr>
          <p:cNvPr id="115" name="Text 113"/>
          <p:cNvSpPr/>
          <p:nvPr/>
        </p:nvSpPr>
        <p:spPr>
          <a:xfrm>
            <a:off x="1341394" y="5035949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RRM.655</a:t>
            </a:r>
            <a:endParaRPr lang="en-US" sz="500" dirty="0"/>
          </a:p>
        </p:txBody>
      </p:sp>
      <p:sp>
        <p:nvSpPr>
          <p:cNvPr id="116" name="Text 114"/>
          <p:cNvSpPr/>
          <p:nvPr/>
        </p:nvSpPr>
        <p:spPr>
          <a:xfrm>
            <a:off x="4421326" y="3575681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RRM.669</a:t>
            </a:r>
            <a:endParaRPr lang="en-US" sz="500" dirty="0"/>
          </a:p>
        </p:txBody>
      </p:sp>
      <p:sp>
        <p:nvSpPr>
          <p:cNvPr id="117" name="Text 115"/>
          <p:cNvSpPr/>
          <p:nvPr/>
        </p:nvSpPr>
        <p:spPr>
          <a:xfrm>
            <a:off x="2822941" y="7730739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HH.E.144</a:t>
            </a:r>
            <a:endParaRPr lang="en-US" sz="500" dirty="0"/>
          </a:p>
        </p:txBody>
      </p:sp>
      <p:sp>
        <p:nvSpPr>
          <p:cNvPr id="118" name="Text 116"/>
          <p:cNvSpPr/>
          <p:nvPr/>
        </p:nvSpPr>
        <p:spPr>
          <a:xfrm>
            <a:off x="9375878" y="9514820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TCCECH.03.006</a:t>
            </a:r>
            <a:endParaRPr lang="en-US" sz="500" dirty="0"/>
          </a:p>
        </p:txBody>
      </p:sp>
      <p:sp>
        <p:nvSpPr>
          <p:cNvPr id="119" name="Text 117"/>
          <p:cNvSpPr/>
          <p:nvPr/>
        </p:nvSpPr>
        <p:spPr>
          <a:xfrm>
            <a:off x="6440487" y="7157593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TCCECH.03.004</a:t>
            </a:r>
            <a:endParaRPr lang="en-US" sz="500" dirty="0"/>
          </a:p>
        </p:txBody>
      </p:sp>
      <p:sp>
        <p:nvSpPr>
          <p:cNvPr id="120" name="Text 118"/>
          <p:cNvSpPr/>
          <p:nvPr/>
        </p:nvSpPr>
        <p:spPr>
          <a:xfrm>
            <a:off x="5850980" y="6687834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TCCECH.04.003</a:t>
            </a:r>
            <a:endParaRPr lang="en-US" sz="500" dirty="0"/>
          </a:p>
        </p:txBody>
      </p:sp>
      <p:sp>
        <p:nvSpPr>
          <p:cNvPr id="121" name="Text 119"/>
          <p:cNvSpPr/>
          <p:nvPr/>
        </p:nvSpPr>
        <p:spPr>
          <a:xfrm>
            <a:off x="5266391" y="6215365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TCCECH.03.003</a:t>
            </a:r>
            <a:endParaRPr lang="en-US" sz="500" dirty="0"/>
          </a:p>
        </p:txBody>
      </p:sp>
      <p:sp>
        <p:nvSpPr>
          <p:cNvPr id="122" name="Text 120"/>
          <p:cNvSpPr/>
          <p:nvPr/>
        </p:nvSpPr>
        <p:spPr>
          <a:xfrm>
            <a:off x="4677987" y="5741491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TCCECH.04.002</a:t>
            </a:r>
            <a:endParaRPr lang="en-US" sz="500" dirty="0"/>
          </a:p>
        </p:txBody>
      </p:sp>
      <p:sp>
        <p:nvSpPr>
          <p:cNvPr id="123" name="Text 121"/>
          <p:cNvSpPr/>
          <p:nvPr/>
        </p:nvSpPr>
        <p:spPr>
          <a:xfrm>
            <a:off x="7615386" y="8099420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TCCECH.03.005</a:t>
            </a:r>
            <a:endParaRPr lang="en-US" sz="500" dirty="0"/>
          </a:p>
        </p:txBody>
      </p:sp>
      <p:sp>
        <p:nvSpPr>
          <p:cNvPr id="124" name="Text 122"/>
          <p:cNvSpPr/>
          <p:nvPr/>
        </p:nvSpPr>
        <p:spPr>
          <a:xfrm>
            <a:off x="653016" y="3231893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TCCECH.05.034</a:t>
            </a:r>
            <a:endParaRPr lang="en-US" sz="500" dirty="0"/>
          </a:p>
        </p:txBody>
      </p:sp>
      <p:sp>
        <p:nvSpPr>
          <p:cNvPr id="125" name="Text 123"/>
          <p:cNvSpPr/>
          <p:nvPr/>
        </p:nvSpPr>
        <p:spPr>
          <a:xfrm>
            <a:off x="2027061" y="3841476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TCCECH.05.033</a:t>
            </a:r>
            <a:endParaRPr lang="en-US" sz="500" dirty="0"/>
          </a:p>
        </p:txBody>
      </p:sp>
      <p:sp>
        <p:nvSpPr>
          <p:cNvPr id="126" name="Text 124"/>
          <p:cNvSpPr/>
          <p:nvPr/>
        </p:nvSpPr>
        <p:spPr>
          <a:xfrm>
            <a:off x="2678500" y="4221700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TCCECH.06.035</a:t>
            </a:r>
            <a:endParaRPr lang="en-US" sz="500" dirty="0"/>
          </a:p>
        </p:txBody>
      </p:sp>
      <p:sp>
        <p:nvSpPr>
          <p:cNvPr id="127" name="Text 125"/>
          <p:cNvSpPr/>
          <p:nvPr/>
        </p:nvSpPr>
        <p:spPr>
          <a:xfrm>
            <a:off x="1351632" y="3511239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TCCECH.06.036</a:t>
            </a:r>
            <a:endParaRPr lang="en-US" sz="500" dirty="0"/>
          </a:p>
        </p:txBody>
      </p:sp>
      <p:sp>
        <p:nvSpPr>
          <p:cNvPr id="128" name="Text 126"/>
          <p:cNvSpPr/>
          <p:nvPr/>
        </p:nvSpPr>
        <p:spPr>
          <a:xfrm>
            <a:off x="914997" y="3171166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EL.EBASE.13328</a:t>
            </a:r>
            <a:endParaRPr lang="en-US" sz="500" dirty="0"/>
          </a:p>
        </p:txBody>
      </p:sp>
      <p:sp>
        <p:nvSpPr>
          <p:cNvPr id="129" name="Text 127"/>
          <p:cNvSpPr/>
          <p:nvPr/>
        </p:nvSpPr>
        <p:spPr>
          <a:xfrm>
            <a:off x="1591932" y="3483034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EL.EBASE.13329</a:t>
            </a:r>
            <a:endParaRPr lang="en-US" sz="500" dirty="0"/>
          </a:p>
        </p:txBody>
      </p:sp>
      <p:sp>
        <p:nvSpPr>
          <p:cNvPr id="130" name="Text 128"/>
          <p:cNvSpPr/>
          <p:nvPr/>
        </p:nvSpPr>
        <p:spPr>
          <a:xfrm>
            <a:off x="2257926" y="3839167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EL.EBASE.13330</a:t>
            </a:r>
            <a:endParaRPr lang="en-US" sz="500" dirty="0"/>
          </a:p>
        </p:txBody>
      </p:sp>
      <p:sp>
        <p:nvSpPr>
          <p:cNvPr id="131" name="Text 129"/>
          <p:cNvSpPr/>
          <p:nvPr/>
        </p:nvSpPr>
        <p:spPr>
          <a:xfrm>
            <a:off x="2892702" y="4239266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EL.EBASE.13331</a:t>
            </a:r>
            <a:endParaRPr lang="en-US" sz="500" dirty="0"/>
          </a:p>
        </p:txBody>
      </p:sp>
      <p:sp>
        <p:nvSpPr>
          <p:cNvPr id="132" name="Text 130"/>
          <p:cNvSpPr/>
          <p:nvPr/>
        </p:nvSpPr>
        <p:spPr>
          <a:xfrm>
            <a:off x="4090387" y="5272735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TCCECH.03.002</a:t>
            </a:r>
            <a:endParaRPr lang="en-US" sz="500" dirty="0"/>
          </a:p>
        </p:txBody>
      </p:sp>
      <p:sp>
        <p:nvSpPr>
          <p:cNvPr id="133" name="Text 131"/>
          <p:cNvSpPr/>
          <p:nvPr/>
        </p:nvSpPr>
        <p:spPr>
          <a:xfrm>
            <a:off x="3959698" y="5359661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SBC102.01.040</a:t>
            </a:r>
            <a:endParaRPr lang="en-US" sz="500" dirty="0"/>
          </a:p>
        </p:txBody>
      </p:sp>
      <p:sp>
        <p:nvSpPr>
          <p:cNvPr id="134" name="Text 132"/>
          <p:cNvSpPr/>
          <p:nvPr/>
        </p:nvSpPr>
        <p:spPr>
          <a:xfrm>
            <a:off x="3769887" y="5594340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SBC102.02.037</a:t>
            </a:r>
            <a:endParaRPr lang="en-US" sz="500" dirty="0"/>
          </a:p>
        </p:txBody>
      </p:sp>
      <p:sp>
        <p:nvSpPr>
          <p:cNvPr id="135" name="Text 133"/>
          <p:cNvSpPr/>
          <p:nvPr/>
        </p:nvSpPr>
        <p:spPr>
          <a:xfrm>
            <a:off x="3581482" y="5829621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SBC102.01.041</a:t>
            </a:r>
            <a:endParaRPr lang="en-US" sz="500" dirty="0"/>
          </a:p>
        </p:txBody>
      </p:sp>
      <p:sp>
        <p:nvSpPr>
          <p:cNvPr id="136" name="Text 134"/>
          <p:cNvSpPr/>
          <p:nvPr/>
        </p:nvSpPr>
        <p:spPr>
          <a:xfrm>
            <a:off x="3393879" y="6064701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SBC102.02.038</a:t>
            </a:r>
            <a:endParaRPr lang="en-US" sz="500" dirty="0"/>
          </a:p>
        </p:txBody>
      </p:sp>
      <p:sp>
        <p:nvSpPr>
          <p:cNvPr id="137" name="Text 135"/>
          <p:cNvSpPr/>
          <p:nvPr/>
        </p:nvSpPr>
        <p:spPr>
          <a:xfrm>
            <a:off x="1153390" y="2916011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TCC102.01.052</a:t>
            </a:r>
            <a:endParaRPr lang="en-US" sz="500" dirty="0"/>
          </a:p>
        </p:txBody>
      </p:sp>
      <p:sp>
        <p:nvSpPr>
          <p:cNvPr id="138" name="Text 136"/>
          <p:cNvSpPr/>
          <p:nvPr/>
        </p:nvSpPr>
        <p:spPr>
          <a:xfrm>
            <a:off x="2330096" y="3863458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TCC102.02.050</a:t>
            </a:r>
            <a:endParaRPr lang="en-US" sz="500" dirty="0"/>
          </a:p>
        </p:txBody>
      </p:sp>
      <p:sp>
        <p:nvSpPr>
          <p:cNvPr id="139" name="Text 137"/>
          <p:cNvSpPr/>
          <p:nvPr/>
        </p:nvSpPr>
        <p:spPr>
          <a:xfrm>
            <a:off x="3302738" y="4641773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TCCECH.03.001</a:t>
            </a:r>
            <a:endParaRPr lang="en-US" sz="500" dirty="0"/>
          </a:p>
        </p:txBody>
      </p:sp>
      <p:sp>
        <p:nvSpPr>
          <p:cNvPr id="140" name="Text 138"/>
          <p:cNvSpPr/>
          <p:nvPr/>
        </p:nvSpPr>
        <p:spPr>
          <a:xfrm>
            <a:off x="624108" y="1364802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TCCECH.05.016</a:t>
            </a:r>
            <a:endParaRPr lang="en-US" sz="500" dirty="0"/>
          </a:p>
        </p:txBody>
      </p:sp>
      <p:sp>
        <p:nvSpPr>
          <p:cNvPr id="141" name="Text 139"/>
          <p:cNvSpPr/>
          <p:nvPr/>
        </p:nvSpPr>
        <p:spPr>
          <a:xfrm>
            <a:off x="1409950" y="2646903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TCCECH.05.017</a:t>
            </a:r>
            <a:endParaRPr lang="en-US" sz="500" dirty="0"/>
          </a:p>
        </p:txBody>
      </p:sp>
      <p:sp>
        <p:nvSpPr>
          <p:cNvPr id="142" name="Text 140"/>
          <p:cNvSpPr/>
          <p:nvPr/>
        </p:nvSpPr>
        <p:spPr>
          <a:xfrm>
            <a:off x="2918098" y="4331712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TCCECH.06.019</a:t>
            </a:r>
            <a:endParaRPr lang="en-US" sz="500" dirty="0"/>
          </a:p>
        </p:txBody>
      </p:sp>
      <p:sp>
        <p:nvSpPr>
          <p:cNvPr id="143" name="Text 141"/>
          <p:cNvSpPr/>
          <p:nvPr/>
        </p:nvSpPr>
        <p:spPr>
          <a:xfrm>
            <a:off x="992487" y="2019253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TCCECH.06.017</a:t>
            </a:r>
            <a:endParaRPr lang="en-US" sz="500" dirty="0"/>
          </a:p>
        </p:txBody>
      </p:sp>
      <p:sp>
        <p:nvSpPr>
          <p:cNvPr id="144" name="Text 142"/>
          <p:cNvSpPr/>
          <p:nvPr/>
        </p:nvSpPr>
        <p:spPr>
          <a:xfrm>
            <a:off x="1870977" y="3241429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TCCECH.06.018</a:t>
            </a:r>
            <a:endParaRPr lang="en-US" sz="500" dirty="0"/>
          </a:p>
        </p:txBody>
      </p:sp>
      <p:sp>
        <p:nvSpPr>
          <p:cNvPr id="145" name="Text 143"/>
          <p:cNvSpPr/>
          <p:nvPr/>
        </p:nvSpPr>
        <p:spPr>
          <a:xfrm>
            <a:off x="3506902" y="4804582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TCCECH.04.001</a:t>
            </a:r>
            <a:endParaRPr lang="en-US" sz="500" dirty="0"/>
          </a:p>
        </p:txBody>
      </p:sp>
      <p:sp>
        <p:nvSpPr>
          <p:cNvPr id="146" name="Text 144"/>
          <p:cNvSpPr/>
          <p:nvPr/>
        </p:nvSpPr>
        <p:spPr>
          <a:xfrm>
            <a:off x="2375968" y="3799117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TCCECH.05.018</a:t>
            </a:r>
            <a:endParaRPr lang="en-US" sz="500" dirty="0"/>
          </a:p>
        </p:txBody>
      </p:sp>
      <p:sp>
        <p:nvSpPr>
          <p:cNvPr id="147" name="Text 145"/>
          <p:cNvSpPr/>
          <p:nvPr/>
        </p:nvSpPr>
        <p:spPr>
          <a:xfrm>
            <a:off x="5549049" y="3728453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P4.037</a:t>
            </a:r>
            <a:endParaRPr lang="en-US" sz="500" dirty="0"/>
          </a:p>
        </p:txBody>
      </p:sp>
      <p:sp>
        <p:nvSpPr>
          <p:cNvPr id="148" name="Text 146"/>
          <p:cNvSpPr/>
          <p:nvPr/>
        </p:nvSpPr>
        <p:spPr>
          <a:xfrm>
            <a:off x="8781754" y="6441913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P4.039</a:t>
            </a:r>
            <a:endParaRPr lang="en-US" sz="500" dirty="0"/>
          </a:p>
        </p:txBody>
      </p:sp>
      <p:sp>
        <p:nvSpPr>
          <p:cNvPr id="149" name="Text 147"/>
          <p:cNvSpPr/>
          <p:nvPr/>
        </p:nvSpPr>
        <p:spPr>
          <a:xfrm>
            <a:off x="9207347" y="5970849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HH.E.057</a:t>
            </a:r>
            <a:endParaRPr lang="en-US" sz="500" dirty="0"/>
          </a:p>
        </p:txBody>
      </p:sp>
      <p:sp>
        <p:nvSpPr>
          <p:cNvPr id="150" name="Text 148"/>
          <p:cNvSpPr/>
          <p:nvPr/>
        </p:nvSpPr>
        <p:spPr>
          <a:xfrm>
            <a:off x="5834919" y="3088155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HH.E.061</a:t>
            </a:r>
            <a:endParaRPr lang="en-US" sz="500" dirty="0"/>
          </a:p>
        </p:txBody>
      </p:sp>
      <p:sp>
        <p:nvSpPr>
          <p:cNvPr id="151" name="Text 149"/>
          <p:cNvSpPr/>
          <p:nvPr/>
        </p:nvSpPr>
        <p:spPr>
          <a:xfrm>
            <a:off x="6045809" y="3258593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HH.E.060</a:t>
            </a:r>
            <a:endParaRPr lang="en-US" sz="500" dirty="0"/>
          </a:p>
        </p:txBody>
      </p:sp>
      <p:sp>
        <p:nvSpPr>
          <p:cNvPr id="152" name="Text 150"/>
          <p:cNvSpPr/>
          <p:nvPr/>
        </p:nvSpPr>
        <p:spPr>
          <a:xfrm>
            <a:off x="4372443" y="1661714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HH.E4.010</a:t>
            </a:r>
            <a:endParaRPr lang="en-US" sz="500" dirty="0"/>
          </a:p>
        </p:txBody>
      </p:sp>
      <p:sp>
        <p:nvSpPr>
          <p:cNvPr id="153" name="Text 151"/>
          <p:cNvSpPr/>
          <p:nvPr/>
        </p:nvSpPr>
        <p:spPr>
          <a:xfrm>
            <a:off x="8102109" y="5095572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HH.E.058</a:t>
            </a:r>
            <a:endParaRPr lang="en-US" sz="500" dirty="0"/>
          </a:p>
        </p:txBody>
      </p:sp>
      <p:sp>
        <p:nvSpPr>
          <p:cNvPr id="154" name="Text 152"/>
          <p:cNvSpPr/>
          <p:nvPr/>
        </p:nvSpPr>
        <p:spPr>
          <a:xfrm>
            <a:off x="7141211" y="4111487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HH.E.059</a:t>
            </a:r>
            <a:endParaRPr lang="en-US" sz="500" dirty="0"/>
          </a:p>
        </p:txBody>
      </p:sp>
      <p:sp>
        <p:nvSpPr>
          <p:cNvPr id="155" name="Text 153"/>
          <p:cNvSpPr/>
          <p:nvPr/>
        </p:nvSpPr>
        <p:spPr>
          <a:xfrm>
            <a:off x="1739284" y="6188464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P4.041</a:t>
            </a:r>
            <a:endParaRPr lang="en-US" sz="500" dirty="0"/>
          </a:p>
        </p:txBody>
      </p:sp>
      <p:sp>
        <p:nvSpPr>
          <p:cNvPr id="156" name="Text 154"/>
          <p:cNvSpPr/>
          <p:nvPr/>
        </p:nvSpPr>
        <p:spPr>
          <a:xfrm>
            <a:off x="4723859" y="1956919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MH.E.015</a:t>
            </a:r>
            <a:endParaRPr lang="en-US" sz="500" dirty="0"/>
          </a:p>
        </p:txBody>
      </p:sp>
      <p:sp>
        <p:nvSpPr>
          <p:cNvPr id="157" name="Text 155"/>
          <p:cNvSpPr/>
          <p:nvPr/>
        </p:nvSpPr>
        <p:spPr>
          <a:xfrm>
            <a:off x="1082123" y="6510871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MH.E.023</a:t>
            </a:r>
            <a:endParaRPr lang="en-US" sz="500" dirty="0"/>
          </a:p>
        </p:txBody>
      </p:sp>
      <p:sp>
        <p:nvSpPr>
          <p:cNvPr id="158" name="Text 156"/>
          <p:cNvSpPr/>
          <p:nvPr/>
        </p:nvSpPr>
        <p:spPr>
          <a:xfrm>
            <a:off x="1730149" y="8263835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SGC102.02.015</a:t>
            </a:r>
            <a:endParaRPr lang="en-US" sz="500" dirty="0"/>
          </a:p>
        </p:txBody>
      </p:sp>
      <p:sp>
        <p:nvSpPr>
          <p:cNvPr id="159" name="Text 157"/>
          <p:cNvSpPr/>
          <p:nvPr/>
        </p:nvSpPr>
        <p:spPr>
          <a:xfrm>
            <a:off x="5847466" y="2259553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SGC102.02.014</a:t>
            </a:r>
            <a:endParaRPr lang="en-US" sz="500" dirty="0"/>
          </a:p>
        </p:txBody>
      </p:sp>
      <p:sp>
        <p:nvSpPr>
          <p:cNvPr id="160" name="Shape 158"/>
          <p:cNvSpPr/>
          <p:nvPr/>
        </p:nvSpPr>
        <p:spPr>
          <a:xfrm>
            <a:off x="4545701" y="4425288"/>
            <a:ext cx="210312" cy="210312"/>
          </a:xfrm>
          <a:prstGeom prst="ellipse">
            <a:avLst/>
          </a:prstGeom>
          <a:ln w="28575">
            <a:solidFill>
              <a:srgbClr val="CC0000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4595993" y="4475580"/>
            <a:ext cx="109728" cy="109728"/>
          </a:xfrm>
          <a:prstGeom prst="ellipse">
            <a:avLst/>
          </a:prstGeom>
          <a:solidFill>
            <a:srgbClr val="E8710A"/>
          </a:solidFill>
          <a:ln w="6350">
            <a:solidFill>
              <a:srgbClr val="E8710A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4769729" y="4310988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SBC102-01/038</a:t>
            </a:r>
            <a:endParaRPr lang="en-US" sz="650" dirty="0"/>
          </a:p>
        </p:txBody>
      </p:sp>
      <p:sp>
        <p:nvSpPr>
          <p:cNvPr id="163" name="Shape 161"/>
          <p:cNvSpPr/>
          <p:nvPr/>
        </p:nvSpPr>
        <p:spPr>
          <a:xfrm>
            <a:off x="4167886" y="4898259"/>
            <a:ext cx="210312" cy="210312"/>
          </a:xfrm>
          <a:prstGeom prst="ellipse">
            <a:avLst/>
          </a:prstGeom>
          <a:ln w="28575">
            <a:solidFill>
              <a:srgbClr val="CC0000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4218178" y="4948551"/>
            <a:ext cx="109728" cy="109728"/>
          </a:xfrm>
          <a:prstGeom prst="ellipse">
            <a:avLst/>
          </a:prstGeom>
          <a:solidFill>
            <a:srgbClr val="E8710A"/>
          </a:solidFill>
          <a:ln w="6350">
            <a:solidFill>
              <a:srgbClr val="E8710A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4391914" y="4783959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SBC102-01/039</a:t>
            </a:r>
            <a:endParaRPr lang="en-US" sz="650" dirty="0"/>
          </a:p>
        </p:txBody>
      </p:sp>
      <p:sp>
        <p:nvSpPr>
          <p:cNvPr id="166" name="Shape 164"/>
          <p:cNvSpPr/>
          <p:nvPr/>
        </p:nvSpPr>
        <p:spPr>
          <a:xfrm>
            <a:off x="4356592" y="4661572"/>
            <a:ext cx="210312" cy="210312"/>
          </a:xfrm>
          <a:prstGeom prst="ellipse">
            <a:avLst/>
          </a:prstGeom>
          <a:ln w="28575">
            <a:solidFill>
              <a:srgbClr val="CC0000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4406884" y="4711864"/>
            <a:ext cx="109728" cy="109728"/>
          </a:xfrm>
          <a:prstGeom prst="ellipse">
            <a:avLst/>
          </a:prstGeom>
          <a:solidFill>
            <a:srgbClr val="E8710A"/>
          </a:solidFill>
          <a:ln w="6350">
            <a:solidFill>
              <a:srgbClr val="E8710A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4580620" y="454727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SBC102-02/035</a:t>
            </a:r>
            <a:endParaRPr lang="en-US" sz="650" dirty="0"/>
          </a:p>
        </p:txBody>
      </p:sp>
      <p:sp>
        <p:nvSpPr>
          <p:cNvPr id="169" name="Shape 167"/>
          <p:cNvSpPr/>
          <p:nvPr/>
        </p:nvSpPr>
        <p:spPr>
          <a:xfrm>
            <a:off x="3980785" y="5133540"/>
            <a:ext cx="210312" cy="210312"/>
          </a:xfrm>
          <a:prstGeom prst="ellipse">
            <a:avLst/>
          </a:prstGeom>
          <a:ln w="28575">
            <a:solidFill>
              <a:srgbClr val="CC0000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4031077" y="5183832"/>
            <a:ext cx="109728" cy="109728"/>
          </a:xfrm>
          <a:prstGeom prst="ellipse">
            <a:avLst/>
          </a:prstGeom>
          <a:solidFill>
            <a:srgbClr val="E8710A"/>
          </a:solidFill>
          <a:ln w="6350">
            <a:solidFill>
              <a:srgbClr val="E8710A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4204813" y="501924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SBC102-02/036</a:t>
            </a:r>
            <a:endParaRPr lang="en-US" sz="650" dirty="0"/>
          </a:p>
        </p:txBody>
      </p:sp>
      <p:sp>
        <p:nvSpPr>
          <p:cNvPr id="172" name="Shape 170"/>
          <p:cNvSpPr/>
          <p:nvPr/>
        </p:nvSpPr>
        <p:spPr>
          <a:xfrm>
            <a:off x="3791978" y="5366914"/>
            <a:ext cx="210312" cy="210312"/>
          </a:xfrm>
          <a:prstGeom prst="ellipse">
            <a:avLst/>
          </a:prstGeom>
          <a:ln w="28575">
            <a:solidFill>
              <a:srgbClr val="0055CC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3842270" y="5417206"/>
            <a:ext cx="109728" cy="109728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4016006" y="5252614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SBC102-01/040</a:t>
            </a:r>
            <a:endParaRPr lang="en-US" sz="650" dirty="0"/>
          </a:p>
        </p:txBody>
      </p:sp>
      <p:sp>
        <p:nvSpPr>
          <p:cNvPr id="175" name="Shape 173"/>
          <p:cNvSpPr/>
          <p:nvPr/>
        </p:nvSpPr>
        <p:spPr>
          <a:xfrm>
            <a:off x="3413762" y="5836873"/>
            <a:ext cx="210312" cy="210312"/>
          </a:xfrm>
          <a:prstGeom prst="ellipse">
            <a:avLst/>
          </a:prstGeom>
          <a:ln w="28575">
            <a:solidFill>
              <a:srgbClr val="0055CC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3464054" y="5887165"/>
            <a:ext cx="109728" cy="109728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3637790" y="5722573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SBC102-01/041</a:t>
            </a:r>
            <a:endParaRPr lang="en-US" sz="650" dirty="0"/>
          </a:p>
        </p:txBody>
      </p:sp>
      <p:sp>
        <p:nvSpPr>
          <p:cNvPr id="178" name="Shape 176"/>
          <p:cNvSpPr/>
          <p:nvPr/>
        </p:nvSpPr>
        <p:spPr>
          <a:xfrm>
            <a:off x="3602168" y="5601592"/>
            <a:ext cx="210312" cy="210312"/>
          </a:xfrm>
          <a:prstGeom prst="ellipse">
            <a:avLst/>
          </a:prstGeom>
          <a:ln w="28575">
            <a:solidFill>
              <a:srgbClr val="0055CC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3652460" y="5651884"/>
            <a:ext cx="109728" cy="109728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3826196" y="548729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SBC102-02/037</a:t>
            </a:r>
            <a:endParaRPr lang="en-US" sz="650" dirty="0"/>
          </a:p>
        </p:txBody>
      </p:sp>
      <p:sp>
        <p:nvSpPr>
          <p:cNvPr id="181" name="Shape 179"/>
          <p:cNvSpPr/>
          <p:nvPr/>
        </p:nvSpPr>
        <p:spPr>
          <a:xfrm>
            <a:off x="3226160" y="6071954"/>
            <a:ext cx="210312" cy="210312"/>
          </a:xfrm>
          <a:prstGeom prst="ellipse">
            <a:avLst/>
          </a:prstGeom>
          <a:ln w="28575">
            <a:solidFill>
              <a:srgbClr val="0055CC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3276452" y="6122246"/>
            <a:ext cx="109728" cy="109728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3450188" y="5957654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SBC102-02/038</a:t>
            </a:r>
            <a:endParaRPr lang="en-US" sz="650" dirty="0"/>
          </a:p>
        </p:txBody>
      </p:sp>
      <p:sp>
        <p:nvSpPr>
          <p:cNvPr id="184" name="Shape 182"/>
          <p:cNvSpPr/>
          <p:nvPr/>
        </p:nvSpPr>
        <p:spPr>
          <a:xfrm>
            <a:off x="3922668" y="5279988"/>
            <a:ext cx="210312" cy="210312"/>
          </a:xfrm>
          <a:prstGeom prst="ellipse">
            <a:avLst/>
          </a:prstGeom>
          <a:ln w="28575">
            <a:solidFill>
              <a:srgbClr val="0055CC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3972960" y="5330280"/>
            <a:ext cx="109728" cy="109728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4146696" y="5165688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TCCECH-03/002</a:t>
            </a:r>
            <a:endParaRPr lang="en-US" sz="650" dirty="0"/>
          </a:p>
        </p:txBody>
      </p:sp>
      <p:sp>
        <p:nvSpPr>
          <p:cNvPr id="187" name="Shape 185"/>
          <p:cNvSpPr/>
          <p:nvPr/>
        </p:nvSpPr>
        <p:spPr>
          <a:xfrm>
            <a:off x="4510268" y="5748743"/>
            <a:ext cx="210312" cy="210312"/>
          </a:xfrm>
          <a:prstGeom prst="ellipse">
            <a:avLst/>
          </a:prstGeom>
          <a:ln w="28575">
            <a:solidFill>
              <a:srgbClr val="0055CC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4560560" y="5799035"/>
            <a:ext cx="109728" cy="109728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</p:sp>
      <p:sp>
        <p:nvSpPr>
          <p:cNvPr id="189" name="Text 187"/>
          <p:cNvSpPr/>
          <p:nvPr/>
        </p:nvSpPr>
        <p:spPr>
          <a:xfrm>
            <a:off x="4734296" y="5634443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TCCECH-04/002</a:t>
            </a:r>
            <a:endParaRPr lang="en-US" sz="650" dirty="0"/>
          </a:p>
        </p:txBody>
      </p:sp>
      <p:sp>
        <p:nvSpPr>
          <p:cNvPr id="190" name="Shape 188"/>
          <p:cNvSpPr/>
          <p:nvPr/>
        </p:nvSpPr>
        <p:spPr>
          <a:xfrm>
            <a:off x="5098671" y="6222618"/>
            <a:ext cx="210312" cy="210312"/>
          </a:xfrm>
          <a:prstGeom prst="ellipse">
            <a:avLst/>
          </a:prstGeom>
          <a:ln w="28575">
            <a:solidFill>
              <a:srgbClr val="0055CC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5148963" y="6272910"/>
            <a:ext cx="109728" cy="109728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</p:sp>
      <p:sp>
        <p:nvSpPr>
          <p:cNvPr id="192" name="Text 190"/>
          <p:cNvSpPr/>
          <p:nvPr/>
        </p:nvSpPr>
        <p:spPr>
          <a:xfrm>
            <a:off x="5322699" y="6108318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TCCECH-03/003</a:t>
            </a:r>
            <a:endParaRPr lang="en-US" sz="650" dirty="0"/>
          </a:p>
        </p:txBody>
      </p:sp>
      <p:sp>
        <p:nvSpPr>
          <p:cNvPr id="193" name="Shape 191"/>
          <p:cNvSpPr/>
          <p:nvPr/>
        </p:nvSpPr>
        <p:spPr>
          <a:xfrm>
            <a:off x="5683260" y="6695087"/>
            <a:ext cx="210312" cy="210312"/>
          </a:xfrm>
          <a:prstGeom prst="ellipse">
            <a:avLst/>
          </a:prstGeom>
          <a:ln w="28575">
            <a:solidFill>
              <a:srgbClr val="0055CC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5733552" y="6745379"/>
            <a:ext cx="109728" cy="109728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>
            <a:off x="5907288" y="6580787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TCCECH-04/003</a:t>
            </a:r>
            <a:endParaRPr lang="en-US" sz="650" dirty="0"/>
          </a:p>
        </p:txBody>
      </p:sp>
      <p:sp>
        <p:nvSpPr>
          <p:cNvPr id="196" name="Shape 194"/>
          <p:cNvSpPr/>
          <p:nvPr/>
        </p:nvSpPr>
        <p:spPr>
          <a:xfrm>
            <a:off x="6510959" y="5567966"/>
            <a:ext cx="210312" cy="210312"/>
          </a:xfrm>
          <a:prstGeom prst="ellipse">
            <a:avLst/>
          </a:prstGeom>
          <a:ln w="28575">
            <a:solidFill>
              <a:srgbClr val="BB00BB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6561251" y="5618258"/>
            <a:ext cx="109728" cy="109728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8" name="Text 196"/>
          <p:cNvSpPr/>
          <p:nvPr/>
        </p:nvSpPr>
        <p:spPr>
          <a:xfrm>
            <a:off x="6734987" y="545366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RRM.557</a:t>
            </a:r>
            <a:endParaRPr lang="en-US" sz="650" dirty="0"/>
          </a:p>
        </p:txBody>
      </p:sp>
      <p:sp>
        <p:nvSpPr>
          <p:cNvPr id="199" name="Shape 197"/>
          <p:cNvSpPr/>
          <p:nvPr/>
        </p:nvSpPr>
        <p:spPr>
          <a:xfrm>
            <a:off x="5387252" y="4581071"/>
            <a:ext cx="210312" cy="210312"/>
          </a:xfrm>
          <a:prstGeom prst="ellipse">
            <a:avLst/>
          </a:prstGeom>
          <a:ln w="28575">
            <a:solidFill>
              <a:srgbClr val="BB00BB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5437544" y="4631363"/>
            <a:ext cx="109728" cy="109728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1" name="Text 199"/>
          <p:cNvSpPr/>
          <p:nvPr/>
        </p:nvSpPr>
        <p:spPr>
          <a:xfrm>
            <a:off x="5611280" y="4466771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RRM.670</a:t>
            </a:r>
            <a:endParaRPr lang="en-US" sz="650" dirty="0"/>
          </a:p>
        </p:txBody>
      </p:sp>
      <p:sp>
        <p:nvSpPr>
          <p:cNvPr id="202" name="Shape 200"/>
          <p:cNvSpPr/>
          <p:nvPr/>
        </p:nvSpPr>
        <p:spPr>
          <a:xfrm>
            <a:off x="10104120" y="777240"/>
            <a:ext cx="4709160" cy="1170432"/>
          </a:xfrm>
          <a:prstGeom prst="rect">
            <a:avLst/>
          </a:prstGeom>
          <a:solidFill>
            <a:srgbClr val="1E2761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203" name="Text 201"/>
          <p:cNvSpPr/>
          <p:nvPr/>
        </p:nvSpPr>
        <p:spPr>
          <a:xfrm>
            <a:off x="10241280" y="86868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3 — 1003  ·  REV P03 (EDITABLE)</a:t>
            </a:r>
            <a:endParaRPr lang="en-US" sz="1250" dirty="0"/>
          </a:p>
        </p:txBody>
      </p:sp>
      <p:sp>
        <p:nvSpPr>
          <p:cNvPr id="204" name="Text 202"/>
          <p:cNvSpPr/>
          <p:nvPr/>
        </p:nvSpPr>
        <p:spPr>
          <a:xfrm>
            <a:off x="10241280" y="1179576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PER FIELD SHEET Second_milling_area rev _1 — FIELD DATA GOVERNS (rev _1 supersedes earlier all-NO rev)</a:t>
            </a:r>
            <a:endParaRPr lang="en-US" sz="800" dirty="0"/>
          </a:p>
        </p:txBody>
      </p:sp>
      <p:sp>
        <p:nvSpPr>
          <p:cNvPr id="205" name="Text 203"/>
          <p:cNvSpPr/>
          <p:nvPr/>
        </p:nvSpPr>
        <p:spPr>
          <a:xfrm>
            <a:off x="10241280" y="160020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1:250 @ A1 equivalent · UTM 40N · Issued 28.07.2026 · Prepared: Mohammed, AGL Team Leader — ADB SAFEGATE</a:t>
            </a:r>
            <a:endParaRPr lang="en-US" sz="700" dirty="0"/>
          </a:p>
        </p:txBody>
      </p:sp>
      <p:sp>
        <p:nvSpPr>
          <p:cNvPr id="206" name="Shape 204"/>
          <p:cNvSpPr/>
          <p:nvPr/>
        </p:nvSpPr>
        <p:spPr>
          <a:xfrm>
            <a:off x="10104120" y="2057400"/>
            <a:ext cx="4709160" cy="1808683"/>
          </a:xfrm>
          <a:prstGeom prst="rect">
            <a:avLst/>
          </a:prstGeom>
          <a:solidFill>
            <a:srgbClr val="F4F6F8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207" name="Text 205"/>
          <p:cNvSpPr/>
          <p:nvPr/>
        </p:nvSpPr>
        <p:spPr>
          <a:xfrm>
            <a:off x="10241280" y="2130552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/ QUANTITIES (PER FIELD VERIFICATION)</a:t>
            </a:r>
            <a:endParaRPr lang="en-US" sz="950" dirty="0"/>
          </a:p>
        </p:txBody>
      </p:sp>
      <p:sp>
        <p:nvSpPr>
          <p:cNvPr id="208" name="Text 206"/>
          <p:cNvSpPr/>
          <p:nvPr/>
        </p:nvSpPr>
        <p:spPr>
          <a:xfrm>
            <a:off x="10241280" y="2386584"/>
            <a:ext cx="4434840" cy="1424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SHALLOW BASE AFFECTED + NEW CABLE (VIA SAWCUT): 4 No.</a:t>
            </a:r>
            <a:endParaRPr lang="en-US" sz="76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SBC102-01/038, 01/039, 02/035, 02/036 (EP7 STOP BAR)</a:t>
            </a:r>
            <a:endParaRPr lang="en-US" sz="76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SECONDARY CABLE ONLY (VIA DUCT): 8 No.</a:t>
            </a:r>
            <a:endParaRPr lang="en-US" sz="76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SBC102-01/040, 01/041, 02/037, 02/038, TCCECH-03/002, 04/002, 03/003, 04/003</a:t>
            </a:r>
            <a:endParaRPr lang="en-US" sz="76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RRM.557 (0.07 m — treat as within works) &amp; RRM.670: REMOVE / PROTECT / RE-FIX</a:t>
            </a:r>
            <a:endParaRPr lang="en-US" sz="76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 CIRCUITS: SBC102.01/.02, TCCECH.03/.04</a:t>
            </a:r>
            <a:endParaRPr lang="en-US" sz="760" dirty="0"/>
          </a:p>
        </p:txBody>
      </p:sp>
      <p:sp>
        <p:nvSpPr>
          <p:cNvPr id="209" name="Shape 207"/>
          <p:cNvSpPr/>
          <p:nvPr/>
        </p:nvSpPr>
        <p:spPr>
          <a:xfrm>
            <a:off x="10104120" y="3975811"/>
            <a:ext cx="4709160" cy="2267712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210" name="Text 208"/>
          <p:cNvSpPr/>
          <p:nvPr/>
        </p:nvSpPr>
        <p:spPr>
          <a:xfrm>
            <a:off x="10241280" y="4048963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NOTES</a:t>
            </a:r>
            <a:endParaRPr lang="en-US" sz="950" dirty="0"/>
          </a:p>
        </p:txBody>
      </p:sp>
      <p:sp>
        <p:nvSpPr>
          <p:cNvPr id="211" name="Text 209"/>
          <p:cNvSpPr/>
          <p:nvPr/>
        </p:nvSpPr>
        <p:spPr>
          <a:xfrm>
            <a:off x="10241280" y="4304995"/>
            <a:ext cx="443484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68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All asset positions as-built (asset survey assets_20260726120533.xlsx, UTM 40N / EPSG:32640). Do not scale from civil drawing.</a:t>
            </a:r>
            <a:endParaRPr lang="en-US" sz="68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68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AGL works demarcation (red) drawn around field-verified affected assets (+2.0 m). Civil milling polygon (grey dashed) reference only.</a:t>
            </a:r>
            <a:endParaRPr lang="en-US" sz="68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68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Secondary cables: no joints — full manhole-to-light replacement. Confirm routes vs AGL duct-layout CAD (Rev B) before works.</a:t>
            </a:r>
            <a:endParaRPr lang="en-US" sz="68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68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Isolate, lock out &amp; prove dead all listed circuits at CCR under permit before any cutting, coring or excavation.</a:t>
            </a:r>
            <a:endParaRPr lang="en-US" sz="68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68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Reinstatement setting-out by civil survey from as-built E/N, checked against adjacent undisturbed fittings before coring.</a:t>
            </a:r>
            <a:endParaRPr lang="en-US" sz="68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68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Civil works per IZ-ADAC-056-2024-TO9-RT-02: sawcut, mill 120 mm, geogrid + 60 binder + 60 PMB wearing course.</a:t>
            </a:r>
            <a:endParaRPr lang="en-US" sz="680" dirty="0"/>
          </a:p>
        </p:txBody>
      </p:sp>
      <p:sp>
        <p:nvSpPr>
          <p:cNvPr id="212" name="Shape 210"/>
          <p:cNvSpPr/>
          <p:nvPr/>
        </p:nvSpPr>
        <p:spPr>
          <a:xfrm>
            <a:off x="10104120" y="6353251"/>
            <a:ext cx="4709160" cy="2322576"/>
          </a:xfrm>
          <a:prstGeom prst="rect">
            <a:avLst/>
          </a:prstGeom>
          <a:solidFill>
            <a:srgbClr val="F4F6F8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213" name="Text 211"/>
          <p:cNvSpPr/>
          <p:nvPr/>
        </p:nvSpPr>
        <p:spPr>
          <a:xfrm>
            <a:off x="10241280" y="6426403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 — WORKS ACTIONS (THIS SHEET)</a:t>
            </a:r>
            <a:endParaRPr lang="en-US" sz="950" dirty="0"/>
          </a:p>
        </p:txBody>
      </p:sp>
      <p:sp>
        <p:nvSpPr>
          <p:cNvPr id="214" name="Shape 212"/>
          <p:cNvSpPr/>
          <p:nvPr/>
        </p:nvSpPr>
        <p:spPr>
          <a:xfrm>
            <a:off x="10305288" y="6751015"/>
            <a:ext cx="192024" cy="192024"/>
          </a:xfrm>
          <a:prstGeom prst="ellipse">
            <a:avLst/>
          </a:prstGeom>
          <a:ln w="28575">
            <a:solidFill>
              <a:srgbClr val="CC0000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10351008" y="6796735"/>
            <a:ext cx="100584" cy="100584"/>
          </a:xfrm>
          <a:prstGeom prst="ellipse">
            <a:avLst/>
          </a:prstGeom>
          <a:solidFill>
            <a:srgbClr val="E8710A"/>
          </a:solidFill>
          <a:ln w="6350">
            <a:solidFill>
              <a:srgbClr val="E8710A"/>
            </a:solidFill>
            <a:prstDash val="solid"/>
          </a:ln>
        </p:spPr>
      </p:sp>
      <p:sp>
        <p:nvSpPr>
          <p:cNvPr id="216" name="Text 214"/>
          <p:cNvSpPr/>
          <p:nvPr/>
        </p:nvSpPr>
        <p:spPr>
          <a:xfrm>
            <a:off x="10616184" y="6737299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OUT + NEW CABLE (SAWCUT) — outer red / inner orange</a:t>
            </a:r>
            <a:endParaRPr lang="en-US" sz="740" dirty="0"/>
          </a:p>
        </p:txBody>
      </p:sp>
      <p:sp>
        <p:nvSpPr>
          <p:cNvPr id="217" name="Shape 215"/>
          <p:cNvSpPr/>
          <p:nvPr/>
        </p:nvSpPr>
        <p:spPr>
          <a:xfrm>
            <a:off x="10305288" y="7025335"/>
            <a:ext cx="192024" cy="192024"/>
          </a:xfrm>
          <a:prstGeom prst="ellipse">
            <a:avLst/>
          </a:prstGeom>
          <a:ln w="28575">
            <a:solidFill>
              <a:srgbClr val="0055CC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10351008" y="7071055"/>
            <a:ext cx="100584" cy="100584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</p:sp>
      <p:sp>
        <p:nvSpPr>
          <p:cNvPr id="219" name="Text 217"/>
          <p:cNvSpPr/>
          <p:nvPr/>
        </p:nvSpPr>
        <p:spPr>
          <a:xfrm>
            <a:off x="10616184" y="7011619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SEC. CABLE ONLY (DUCT) — outer blue / inner green</a:t>
            </a:r>
            <a:endParaRPr lang="en-US" sz="740" dirty="0"/>
          </a:p>
        </p:txBody>
      </p:sp>
      <p:sp>
        <p:nvSpPr>
          <p:cNvPr id="220" name="Shape 218"/>
          <p:cNvSpPr/>
          <p:nvPr/>
        </p:nvSpPr>
        <p:spPr>
          <a:xfrm>
            <a:off x="10305288" y="7299655"/>
            <a:ext cx="192024" cy="192024"/>
          </a:xfrm>
          <a:prstGeom prst="ellipse">
            <a:avLst/>
          </a:prstGeom>
          <a:ln w="28575">
            <a:solidFill>
              <a:srgbClr val="BB00BB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10351008" y="7345375"/>
            <a:ext cx="100584" cy="100584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2" name="Text 220"/>
          <p:cNvSpPr/>
          <p:nvPr/>
        </p:nvSpPr>
        <p:spPr>
          <a:xfrm>
            <a:off x="10616184" y="7285939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 — REMOVE / PROTECT / RE-FIX (magenta / white)</a:t>
            </a:r>
            <a:endParaRPr lang="en-US" sz="740" dirty="0"/>
          </a:p>
        </p:txBody>
      </p:sp>
      <p:sp>
        <p:nvSpPr>
          <p:cNvPr id="223" name="Shape 221"/>
          <p:cNvSpPr/>
          <p:nvPr/>
        </p:nvSpPr>
        <p:spPr>
          <a:xfrm>
            <a:off x="10351008" y="7624267"/>
            <a:ext cx="91440" cy="91440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224" name="Text 222"/>
          <p:cNvSpPr/>
          <p:nvPr/>
        </p:nvSpPr>
        <p:spPr>
          <a:xfrm>
            <a:off x="10616184" y="7560259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AGL ASSET (AS-BUILT)</a:t>
            </a:r>
            <a:endParaRPr lang="en-US" sz="740" dirty="0"/>
          </a:p>
        </p:txBody>
      </p:sp>
      <p:sp>
        <p:nvSpPr>
          <p:cNvPr id="225" name="Shape 223"/>
          <p:cNvSpPr/>
          <p:nvPr/>
        </p:nvSpPr>
        <p:spPr>
          <a:xfrm>
            <a:off x="10268712" y="7944307"/>
            <a:ext cx="274320" cy="914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</p:sp>
      <p:sp>
        <p:nvSpPr>
          <p:cNvPr id="226" name="Text 224"/>
          <p:cNvSpPr/>
          <p:nvPr/>
        </p:nvSpPr>
        <p:spPr>
          <a:xfrm>
            <a:off x="10616184" y="7834579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DUCT RUN CROSSING CUT (INDICATIVE)</a:t>
            </a:r>
            <a:endParaRPr lang="en-US" sz="740" dirty="0"/>
          </a:p>
        </p:txBody>
      </p:sp>
      <p:sp>
        <p:nvSpPr>
          <p:cNvPr id="227" name="Shape 225"/>
          <p:cNvSpPr/>
          <p:nvPr/>
        </p:nvSpPr>
        <p:spPr>
          <a:xfrm>
            <a:off x="10268712" y="8218627"/>
            <a:ext cx="274320" cy="914"/>
          </a:xfrm>
          <a:prstGeom prst="line">
            <a:avLst/>
          </a:prstGeom>
          <a:noFill/>
          <a:ln w="31750">
            <a:solidFill>
              <a:srgbClr val="CC0000"/>
            </a:solidFill>
            <a:prstDash val="solid"/>
          </a:ln>
        </p:spPr>
      </p:sp>
      <p:sp>
        <p:nvSpPr>
          <p:cNvPr id="228" name="Text 226"/>
          <p:cNvSpPr/>
          <p:nvPr/>
        </p:nvSpPr>
        <p:spPr>
          <a:xfrm>
            <a:off x="10616184" y="8108899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AGL WORKS DEMARCATION (GOVERNING)</a:t>
            </a:r>
            <a:endParaRPr lang="en-US" sz="740" dirty="0"/>
          </a:p>
        </p:txBody>
      </p:sp>
      <p:sp>
        <p:nvSpPr>
          <p:cNvPr id="229" name="Shape 227"/>
          <p:cNvSpPr/>
          <p:nvPr/>
        </p:nvSpPr>
        <p:spPr>
          <a:xfrm>
            <a:off x="10268712" y="8492947"/>
            <a:ext cx="274320" cy="914"/>
          </a:xfrm>
          <a:prstGeom prst="line">
            <a:avLst/>
          </a:prstGeom>
          <a:noFill/>
          <a:ln w="15875">
            <a:solidFill>
              <a:srgbClr val="9AA0A6"/>
            </a:solidFill>
            <a:prstDash val="dash"/>
          </a:ln>
        </p:spPr>
      </p:sp>
      <p:sp>
        <p:nvSpPr>
          <p:cNvPr id="230" name="Text 228"/>
          <p:cNvSpPr/>
          <p:nvPr/>
        </p:nvSpPr>
        <p:spPr>
          <a:xfrm>
            <a:off x="10616184" y="8383219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CIVIL MILLING DEMARCATION (REFERENCE ONLY)</a:t>
            </a:r>
            <a:endParaRPr lang="en-US" sz="7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417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CONSOLIDATED FIELD-GOVERNED SCOPE — TWY E (E4–E6) · REV P03</a:t>
            </a:r>
            <a:endParaRPr lang="en-US" sz="2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41732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2103120"/>
                <a:gridCol w="3108960"/>
                <a:gridCol w="1097280"/>
                <a:gridCol w="6858000"/>
              </a:tblGrid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Asset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Works Action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Route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Remarks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SBC102-02/024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+ NEW CABLE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shallow base + full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SBC102-01/027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+ NEW CABLE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shallow base + full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SBC102-02/025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+ NEW CABLE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shallow base + full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SBC102-01/028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+ NEW CABLE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shallow base + full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SBC102-02/026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+ NEW CABLE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shallow base + full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SBC102-01/029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+ NEW CABLE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shallow base + full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TCCECH-04/034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+ NEW CABLE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Sawcut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shallow base + full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TCCECH-03/036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+ NEW CABLE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Sawcut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shallow base + full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TCCECH-04/035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+ NEW CABLE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Sawcut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shallow base + full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TCCECH-03/037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+ NEW CABLE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Sawcut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shallow base + full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TCCECH-04/036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+ NEW CABLE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Sawcut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shallow base + full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SBC102-02/027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CABLE ONLY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manhole-to-light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TCCECH-03/035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CABLE ONLY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Sawcut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manhole-to-light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TCCECH-03/018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CABLE ONLY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Sawcut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manhole-to-light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SBC102-01/026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AFFECTED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Field verified — no works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TCCECH-03/007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CABLE ONLY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manhole-to-light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TCCECH-04/007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CABLE ONLY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manhole-to-light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TCCECH-03/008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CABLE ONLY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manhole-to-light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TCCECH-04/008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CABLE ONLY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manhole-to-light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TCCECH-03/009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CABLE ONLY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manhole-to-light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RRM.555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RRM REMOVE / PROTECT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Remove / protect before sawcut, re-fix after paving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SBC102-01/038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+ NEW CABLE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Sawcut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shallow base + full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SBC102-01/039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+ NEW CABLE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Sawcut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shallow base + full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SBC102-02/035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+ NEW CABLE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Sawcut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shallow base + full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SBC102-02/036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+ NEW CABLE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Sawcut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shallow base + full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SBC102-01/040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CABLE ONLY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manhole-to-light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SBC102-01/041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CABLE ONLY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manhole-to-light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SBC102-02/037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CABLE ONLY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manhole-to-light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SBC102-02/038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CABLE ONLY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manhole-to-light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TCCECH-03/002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CABLE ONLY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manhole-to-light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TCCECH-04/002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CABLE ONLY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manhole-to-light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TCCECH-03/003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CABLE ONLY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manhole-to-light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TCCECH-04/003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CABLE ONLY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manhole-to-light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RRM.557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RRM REMOVE / PROTECT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Remove / protect before sawcut, re-fix after paving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RRM.670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RRM REMOVE / PROTECT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Remove / protect before sawcut, re-fix after paving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10104120"/>
            <a:ext cx="1417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Totals: 15 core-outs / base works · 31 secondary cable runs · 3 RRMs · 1 field-verified not affected. Edit rows as required, then align the drawing sheets to match.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2026-07-28T12:46:57Z</dcterms:created>
  <dcterms:modified xsi:type="dcterms:W3CDTF">2026-07-28T12:46:57Z</dcterms:modified>
</cp:coreProperties>
</file>