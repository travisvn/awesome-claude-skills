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7"/>
  </p:notesMasterIdLst>
  <p:sldIdLst>
    <p:sldId id="256" r:id="rId2"/>
    <p:sldId id="257" r:id="rId3"/>
    <p:sldId id="258" r:id="rId4"/>
    <p:sldId id="259" r:id="rId5"/>
    <p:sldId id="260" r:id="rId6"/>
    <p:sldId id="261" r:id="rId13"/>
    <p:sldId id="262" r:id="rId14"/>
  </p:sldIdLst>
  <p:sldSz cx="15124113" cy="10688638"/>
  <p:notesSz cx="10688638" cy="15124113"/>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p:scale>
          <a:sx n="75" d="100"/>
          <a:sy n="75" d="100"/>
        </p:scale>
        <p:origin x="-240" y="-112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notesMaster" Target="notesMasters/notes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 Id="rId12" Type="http://schemas.microsoft.com/office/2016/11/relationships/changesInfo" Target="changesInfos/changesInfo1.xml"/><Relationship Id="rId13" Type="http://schemas.openxmlformats.org/officeDocument/2006/relationships/slide" Target="slides/slide6.xml"/><Relationship Id="rId14" Type="http://schemas.openxmlformats.org/officeDocument/2006/relationships/slide" Target="slides/slide7.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ohammed Faheem" userId="bdd5d8db-2222-40c8-ac8e-420fafcb27ef" providerId="ADAL" clId="{FEE85444-1722-4772-98C8-F184961D1B3F}"/>
    <pc:docChg chg="modSld">
      <pc:chgData name="Mohammed Faheem" userId="bdd5d8db-2222-40c8-ac8e-420fafcb27ef" providerId="ADAL" clId="{FEE85444-1722-4772-98C8-F184961D1B3F}" dt="2026-07-28T13:47:31.513" v="0" actId="1076"/>
      <pc:docMkLst>
        <pc:docMk/>
      </pc:docMkLst>
      <pc:sldChg chg="modSp mod">
        <pc:chgData name="Mohammed Faheem" userId="bdd5d8db-2222-40c8-ac8e-420fafcb27ef" providerId="ADAL" clId="{FEE85444-1722-4772-98C8-F184961D1B3F}" dt="2026-07-28T13:47:31.513" v="0" actId="1076"/>
        <pc:sldMkLst>
          <pc:docMk/>
          <pc:sldMk cId="0" sldId="259"/>
        </pc:sldMkLst>
        <pc:spChg chg="mod">
          <ac:chgData name="Mohammed Faheem" userId="bdd5d8db-2222-40c8-ac8e-420fafcb27ef" providerId="ADAL" clId="{FEE85444-1722-4772-98C8-F184961D1B3F}" dt="2026-07-28T13:47:31.513" v="0" actId="1076"/>
          <ac:spMkLst>
            <pc:docMk/>
            <pc:sldMk cId="0" sldId="259"/>
            <ac:spMk id="150"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77497518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a:effectLst/>
      </p:bgPr>
    </p:bg>
    <p:spTree>
      <p:nvGrpSpPr>
        <p:cNvPr id="1" name=""/>
        <p:cNvGrpSpPr/>
        <p:nvPr/>
      </p:nvGrpSpPr>
      <p:grpSpPr>
        <a:xfrm>
          <a:off x="0" y="0"/>
          <a:ext cx="0" cy="0"/>
          <a:chOff x="0" y="0"/>
          <a:chExt cx="0" cy="0"/>
        </a:xfrm>
      </p:grpSpPr>
      <p:sp>
        <p:nvSpPr>
          <p:cNvPr id="2" name="Text 0"/>
          <p:cNvSpPr/>
          <p:nvPr/>
        </p:nvSpPr>
        <p:spPr>
          <a:xfrm>
            <a:off x="914400" y="1920240"/>
            <a:ext cx="13258800" cy="914400"/>
          </a:xfrm>
          <a:prstGeom prst="rect">
            <a:avLst/>
          </a:prstGeom>
          <a:noFill/>
          <a:ln/>
        </p:spPr>
        <p:txBody>
          <a:bodyPr wrap="square" lIns="0" tIns="0" rIns="0" bIns="0" rtlCol="0" anchor="ctr"/>
          <a:lstStyle/>
          <a:p>
            <a:pPr marL="0" indent="0">
              <a:buNone/>
            </a:pPr>
            <a:r>
              <a:rPr lang="en-US" sz="4000" b="1" dirty="0">
                <a:solidFill>
                  <a:srgbClr val="FFFFFF"/>
                </a:solidFill>
                <a:latin typeface="Arial" pitchFamily="34" charset="0"/>
                <a:ea typeface="Arial" pitchFamily="34" charset="-122"/>
                <a:cs typeface="Arial" pitchFamily="34" charset="-120"/>
              </a:rPr>
              <a:t>SHOP DRAWINGS — ELECTRICAL / AGL SCOPE</a:t>
            </a:r>
            <a:endParaRPr lang="en-US" sz="4000" dirty="0"/>
          </a:p>
        </p:txBody>
      </p:sp>
      <p:sp>
        <p:nvSpPr>
          <p:cNvPr id="3" name="Text 1"/>
          <p:cNvSpPr/>
          <p:nvPr/>
        </p:nvSpPr>
        <p:spPr>
          <a:xfrm>
            <a:off x="914400" y="2926080"/>
            <a:ext cx="13258800" cy="1097280"/>
          </a:xfrm>
          <a:prstGeom prst="rect">
            <a:avLst/>
          </a:prstGeom>
          <a:noFill/>
          <a:ln/>
        </p:spPr>
        <p:txBody>
          <a:bodyPr wrap="square" lIns="0" tIns="0" rIns="0" bIns="0" rtlCol="0" anchor="ctr"/>
          <a:lstStyle/>
          <a:p>
            <a:pPr marL="0" indent="0">
              <a:buNone/>
            </a:pPr>
            <a:r>
              <a:rPr lang="en-US" sz="2000" dirty="0">
                <a:solidFill>
                  <a:srgbClr val="CADCFC"/>
                </a:solidFill>
                <a:latin typeface="Arial" pitchFamily="34" charset="0"/>
                <a:ea typeface="Arial" pitchFamily="34" charset="-122"/>
                <a:cs typeface="Arial" pitchFamily="34" charset="-120"/>
              </a:rPr>
              <a:t>RECTIFICATION OF TWY E BETWEEN E4 &amp; E6 (ADIA)</a:t>
            </a:r>
            <a:endParaRPr lang="en-US" sz="2000" dirty="0"/>
          </a:p>
          <a:p>
            <a:pPr marL="0" indent="0">
              <a:buNone/>
            </a:pPr>
            <a:r>
              <a:rPr lang="en-US" sz="2000" dirty="0">
                <a:solidFill>
                  <a:srgbClr val="CADCFC"/>
                </a:solidFill>
                <a:latin typeface="Arial" pitchFamily="34" charset="0"/>
                <a:ea typeface="Arial" pitchFamily="34" charset="-122"/>
                <a:cs typeface="Arial" pitchFamily="34" charset="-120"/>
              </a:rPr>
              <a:t>AGL WORKS AT THREE (3) MILLING LOCATIONS — FIELD CONDITION SCOPE</a:t>
            </a:r>
            <a:endParaRPr lang="en-US" sz="2000" dirty="0"/>
          </a:p>
        </p:txBody>
      </p:sp>
      <p:sp>
        <p:nvSpPr>
          <p:cNvPr id="4" name="Text 2"/>
          <p:cNvSpPr/>
          <p:nvPr/>
        </p:nvSpPr>
        <p:spPr>
          <a:xfrm>
            <a:off x="914400" y="4937760"/>
            <a:ext cx="2926080" cy="384048"/>
          </a:xfrm>
          <a:prstGeom prst="rect">
            <a:avLst/>
          </a:prstGeom>
          <a:noFill/>
          <a:ln/>
        </p:spPr>
        <p:txBody>
          <a:bodyPr wrap="square" lIns="0" tIns="0" rIns="0" bIns="0" rtlCol="0" anchor="ctr"/>
          <a:lstStyle/>
          <a:p>
            <a:pPr marL="0" indent="0">
              <a:buNone/>
            </a:pPr>
            <a:r>
              <a:rPr lang="en-US" sz="1300" b="1" dirty="0">
                <a:solidFill>
                  <a:srgbClr val="C9A227"/>
                </a:solidFill>
                <a:latin typeface="Arial" pitchFamily="34" charset="0"/>
                <a:ea typeface="Arial" pitchFamily="34" charset="-122"/>
                <a:cs typeface="Arial" pitchFamily="34" charset="-120"/>
              </a:rPr>
              <a:t>Document No.</a:t>
            </a:r>
            <a:endParaRPr lang="en-US" sz="1300" dirty="0"/>
          </a:p>
        </p:txBody>
      </p:sp>
      <p:sp>
        <p:nvSpPr>
          <p:cNvPr id="5" name="Text 3"/>
          <p:cNvSpPr/>
          <p:nvPr/>
        </p:nvSpPr>
        <p:spPr>
          <a:xfrm>
            <a:off x="4023360" y="4937760"/>
            <a:ext cx="10241280" cy="384048"/>
          </a:xfrm>
          <a:prstGeom prst="rect">
            <a:avLst/>
          </a:prstGeom>
          <a:noFill/>
          <a:ln/>
        </p:spPr>
        <p:txBody>
          <a:bodyPr wrap="square" lIns="0" tIns="0" rIns="0" bIns="0" rtlCol="0" anchor="ctr"/>
          <a:lstStyle/>
          <a:p>
            <a:pPr marL="0" indent="0">
              <a:buNone/>
            </a:pPr>
            <a:r>
              <a:rPr lang="en-US" sz="1300" dirty="0">
                <a:solidFill>
                  <a:srgbClr val="FFFFFF"/>
                </a:solidFill>
                <a:latin typeface="Arial" pitchFamily="34" charset="0"/>
                <a:ea typeface="Arial" pitchFamily="34" charset="-122"/>
                <a:cs typeface="Arial" pitchFamily="34" charset="-120"/>
              </a:rPr>
              <a:t>[XXX-ELE-SHD-1001 / 1002 / 1003]  ·  Revision P06 (EDITABLE ISSUE)</a:t>
            </a:r>
            <a:endParaRPr lang="en-US" sz="1300" dirty="0"/>
          </a:p>
        </p:txBody>
      </p:sp>
      <p:sp>
        <p:nvSpPr>
          <p:cNvPr id="6" name="Text 4"/>
          <p:cNvSpPr/>
          <p:nvPr/>
        </p:nvSpPr>
        <p:spPr>
          <a:xfrm>
            <a:off x="914400" y="5413248"/>
            <a:ext cx="2926080" cy="384048"/>
          </a:xfrm>
          <a:prstGeom prst="rect">
            <a:avLst/>
          </a:prstGeom>
          <a:noFill/>
          <a:ln/>
        </p:spPr>
        <p:txBody>
          <a:bodyPr wrap="square" lIns="0" tIns="0" rIns="0" bIns="0" rtlCol="0" anchor="ctr"/>
          <a:lstStyle/>
          <a:p>
            <a:pPr marL="0" indent="0">
              <a:buNone/>
            </a:pPr>
            <a:r>
              <a:rPr lang="en-US" sz="1300" b="1" dirty="0">
                <a:solidFill>
                  <a:srgbClr val="C9A227"/>
                </a:solidFill>
                <a:latin typeface="Arial" pitchFamily="34" charset="0"/>
                <a:ea typeface="Arial" pitchFamily="34" charset="-122"/>
                <a:cs typeface="Arial" pitchFamily="34" charset="-120"/>
              </a:rPr>
              <a:t>Basis of scope</a:t>
            </a:r>
            <a:endParaRPr lang="en-US" sz="1300" dirty="0"/>
          </a:p>
        </p:txBody>
      </p:sp>
      <p:sp>
        <p:nvSpPr>
          <p:cNvPr id="7" name="Text 5"/>
          <p:cNvSpPr/>
          <p:nvPr/>
        </p:nvSpPr>
        <p:spPr>
          <a:xfrm>
            <a:off x="4023360" y="5413248"/>
            <a:ext cx="10241280" cy="384048"/>
          </a:xfrm>
          <a:prstGeom prst="rect">
            <a:avLst/>
          </a:prstGeom>
          <a:noFill/>
          <a:ln/>
        </p:spPr>
        <p:txBody>
          <a:bodyPr wrap="square" lIns="0" tIns="0" rIns="0" bIns="0" rtlCol="0" anchor="ctr"/>
          <a:lstStyle/>
          <a:p>
            <a:pPr marL="0" indent="0">
              <a:buNone/>
            </a:pPr>
            <a:endParaRPr lang="en-US" sz="1300" dirty="0"/>
            <a:r>
              <a:rPr lang="en-US" sz="1300" dirty="0">
                <a:solidFill>
                  <a:srgbClr val="FFFFFF"/>
                </a:solidFill>
                <a:latin typeface="Arial" pitchFamily="34" charset="0"/>
                <a:ea typeface="Arial" pitchFamily="34" charset="-122"/>
                <a:cs typeface="Arial" pitchFamily="34" charset="-120"/>
              </a:rPr>
              <a:t>Field verification sheets: Document_3 (LOC-01) · Second_milling_area rev _1 (LOC-02/03)  ·  Duct geometry: ADA drawing Z1-Z2-Z3-MTA_SEGMENTATION.dxf</a:t>
            </a:r>
          </a:p>
        </p:txBody>
      </p:sp>
      <p:sp>
        <p:nvSpPr>
          <p:cNvPr id="8" name="Text 6"/>
          <p:cNvSpPr/>
          <p:nvPr/>
        </p:nvSpPr>
        <p:spPr>
          <a:xfrm>
            <a:off x="914400" y="5888736"/>
            <a:ext cx="2926080" cy="384048"/>
          </a:xfrm>
          <a:prstGeom prst="rect">
            <a:avLst/>
          </a:prstGeom>
          <a:noFill/>
          <a:ln/>
        </p:spPr>
        <p:txBody>
          <a:bodyPr wrap="square" lIns="0" tIns="0" rIns="0" bIns="0" rtlCol="0" anchor="ctr"/>
          <a:lstStyle/>
          <a:p>
            <a:pPr marL="0" indent="0">
              <a:buNone/>
            </a:pPr>
            <a:r>
              <a:rPr lang="en-US" sz="1300" b="1" dirty="0">
                <a:solidFill>
                  <a:srgbClr val="C9A227"/>
                </a:solidFill>
                <a:latin typeface="Arial" pitchFamily="34" charset="0"/>
                <a:ea typeface="Arial" pitchFamily="34" charset="-122"/>
                <a:cs typeface="Arial" pitchFamily="34" charset="-120"/>
              </a:rPr>
              <a:t>Base layer</a:t>
            </a:r>
            <a:endParaRPr lang="en-US" sz="1300" dirty="0"/>
          </a:p>
        </p:txBody>
      </p:sp>
      <p:sp>
        <p:nvSpPr>
          <p:cNvPr id="9" name="Text 7"/>
          <p:cNvSpPr/>
          <p:nvPr/>
        </p:nvSpPr>
        <p:spPr>
          <a:xfrm>
            <a:off x="4023360" y="5888736"/>
            <a:ext cx="10241280" cy="384048"/>
          </a:xfrm>
          <a:prstGeom prst="rect">
            <a:avLst/>
          </a:prstGeom>
          <a:noFill/>
          <a:ln/>
        </p:spPr>
        <p:txBody>
          <a:bodyPr wrap="square" lIns="0" tIns="0" rIns="0" bIns="0" rtlCol="0" anchor="ctr"/>
          <a:lstStyle/>
          <a:p>
            <a:pPr marL="0" indent="0">
              <a:buNone/>
            </a:pPr>
            <a:endParaRPr lang="en-US" sz="1300" dirty="0"/>
            <a:r>
              <a:rPr lang="en-US" sz="1300" dirty="0">
                <a:solidFill>
                  <a:srgbClr val="FFFFFF"/>
                </a:solidFill>
                <a:latin typeface="Arial" pitchFamily="34" charset="0"/>
                <a:ea typeface="Arial" pitchFamily="34" charset="-122"/>
                <a:cs typeface="Arial" pitchFamily="34" charset="-120"/>
              </a:rPr>
              <a:t>As-built AGL fitting positions (per assets_20260726120533.xlsx). AS PLOTTED they are ZIA LOCAL PROJECT GRID (m), matching the ADA source drawing to sub-millimetre — NOT UTM 40N. The Rev P05 EPSG:32640 label was incorrect — see sheet 6.</a:t>
            </a:r>
          </a:p>
        </p:txBody>
      </p:sp>
      <p:sp>
        <p:nvSpPr>
          <p:cNvPr id="10" name="Text 8"/>
          <p:cNvSpPr/>
          <p:nvPr/>
        </p:nvSpPr>
        <p:spPr>
          <a:xfrm>
            <a:off x="914400" y="6364224"/>
            <a:ext cx="2926080" cy="384048"/>
          </a:xfrm>
          <a:prstGeom prst="rect">
            <a:avLst/>
          </a:prstGeom>
          <a:noFill/>
          <a:ln/>
        </p:spPr>
        <p:txBody>
          <a:bodyPr wrap="square" lIns="0" tIns="0" rIns="0" bIns="0" rtlCol="0" anchor="ctr"/>
          <a:lstStyle/>
          <a:p>
            <a:pPr marL="0" indent="0">
              <a:buNone/>
            </a:pPr>
            <a:r>
              <a:rPr lang="en-US" sz="1300" b="1" dirty="0">
                <a:solidFill>
                  <a:srgbClr val="C9A227"/>
                </a:solidFill>
                <a:latin typeface="Arial" pitchFamily="34" charset="0"/>
                <a:ea typeface="Arial" pitchFamily="34" charset="-122"/>
                <a:cs typeface="Arial" pitchFamily="34" charset="-120"/>
              </a:rPr>
              <a:t>Prepared by</a:t>
            </a:r>
            <a:endParaRPr lang="en-US" sz="1300" dirty="0"/>
          </a:p>
        </p:txBody>
      </p:sp>
      <p:sp>
        <p:nvSpPr>
          <p:cNvPr id="11" name="Text 9"/>
          <p:cNvSpPr/>
          <p:nvPr/>
        </p:nvSpPr>
        <p:spPr>
          <a:xfrm>
            <a:off x="4023360" y="6364224"/>
            <a:ext cx="10241280" cy="384048"/>
          </a:xfrm>
          <a:prstGeom prst="rect">
            <a:avLst/>
          </a:prstGeom>
          <a:noFill/>
          <a:ln/>
        </p:spPr>
        <p:txBody>
          <a:bodyPr wrap="square" lIns="0" tIns="0" rIns="0" bIns="0" rtlCol="0" anchor="ctr"/>
          <a:lstStyle/>
          <a:p>
            <a:pPr marL="0" indent="0">
              <a:buNone/>
            </a:pPr>
            <a:r>
              <a:rPr lang="en-US" sz="1300" dirty="0">
                <a:solidFill>
                  <a:srgbClr val="FFFFFF"/>
                </a:solidFill>
                <a:latin typeface="Arial" pitchFamily="34" charset="0"/>
                <a:ea typeface="Arial" pitchFamily="34" charset="-122"/>
                <a:cs typeface="Arial" pitchFamily="34" charset="-120"/>
              </a:rPr>
              <a:t>Mohammed — AGL Team Leader, ADB SAFEGATE AGL Team  ·  Issued 28.07.2026</a:t>
            </a:r>
            <a:endParaRPr lang="en-US" sz="1300" dirty="0"/>
          </a:p>
        </p:txBody>
      </p:sp>
      <p:sp>
        <p:nvSpPr>
          <p:cNvPr id="12" name="Text 10"/>
          <p:cNvSpPr/>
          <p:nvPr/>
        </p:nvSpPr>
        <p:spPr>
          <a:xfrm>
            <a:off x="914400" y="7863840"/>
            <a:ext cx="13258800" cy="822960"/>
          </a:xfrm>
          <a:prstGeom prst="rect">
            <a:avLst/>
          </a:prstGeom>
          <a:noFill/>
          <a:ln/>
        </p:spPr>
        <p:txBody>
          <a:bodyPr wrap="square" lIns="0" tIns="0" rIns="0" bIns="0" rtlCol="0" anchor="ctr"/>
          <a:lstStyle/>
          <a:p>
            <a:pPr marL="0" indent="0">
              <a:buNone/>
            </a:pPr>
            <a:endParaRPr lang="en-US" sz="1200" dirty="0"/>
            <a:r>
              <a:rPr lang="en-US" sz="1200" i="1" dirty="0">
                <a:solidFill>
                  <a:srgbClr val="CADCFC"/>
                </a:solidFill>
                <a:latin typeface="Arial" pitchFamily="34" charset="0"/>
                <a:ea typeface="Arial" pitchFamily="34" charset="-122"/>
                <a:cs typeface="Arial" pitchFamily="34" charset="-120"/>
              </a:rPr>
              <a:t>REV P06 — the "indicative duct" construction lines of Rev P05 (straight lines from each light to its nearest pit) are removed and replaced with the real as-built duct, ductbank, conduit and sawcut geometry from the ADA source drawing, registered onto each sheet to sub-millimetre. Every element remains a native editable PowerPoint shape. Provenance, registration residuals and limits: sheet 6.</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320040" y="164592"/>
            <a:ext cx="14493240" cy="457200"/>
          </a:xfrm>
          <a:prstGeom prst="rect">
            <a:avLst/>
          </a:prstGeom>
          <a:noFill/>
          <a:ln/>
        </p:spPr>
        <p:txBody>
          <a:bodyPr wrap="square" lIns="0" tIns="0" rIns="0" bIns="0" rtlCol="0" anchor="ctr"/>
          <a:lstStyle/>
          <a:p>
            <a:pPr marL="0" indent="0">
              <a:buNone/>
            </a:pPr>
            <a:r>
              <a:rPr lang="en-US" sz="1500" b="1" dirty="0">
                <a:solidFill>
                  <a:srgbClr val="1E2761"/>
                </a:solidFill>
                <a:latin typeface="Arial" pitchFamily="34" charset="0"/>
                <a:ea typeface="Arial" pitchFamily="34" charset="-122"/>
                <a:cs typeface="Arial" pitchFamily="34" charset="-120"/>
              </a:rPr>
              <a:t>SHOP DRAWING — ELECTRICAL / AGL SCOPE (FIELD-GOVERNED)   ·   TAXIWAY E (E4–E6) — LOCATION 1   ·   DWG NO [XXX-ELE-SHD-1001] REV P06</a:t>
            </a:r>
            <a:endParaRPr lang="en-US" sz="1500" dirty="0"/>
          </a:p>
        </p:txBody>
      </p:sp>
      <p:sp>
        <p:nvSpPr>
          <p:cNvPr id="3" name="Shape 1"/>
          <p:cNvSpPr/>
          <p:nvPr/>
        </p:nvSpPr>
        <p:spPr>
          <a:xfrm>
            <a:off x="320040" y="777240"/>
            <a:ext cx="9555480" cy="9555480"/>
          </a:xfrm>
          <a:prstGeom prst="rect">
            <a:avLst/>
          </a:prstGeom>
          <a:solidFill>
            <a:srgbClr val="FFFFFF"/>
          </a:solidFill>
          <a:ln w="12700">
            <a:solidFill>
              <a:srgbClr val="5F6368"/>
            </a:solidFill>
            <a:prstDash val="solid"/>
          </a:ln>
        </p:spPr>
        <p:txBody>
          <a:bodyPr/>
          <a:lstStyle/>
          <a:p>
            <a:endParaRPr lang="en-US"/>
          </a:p>
        </p:txBody>
      </p:sp>
      <p:sp>
        <p:nvSpPr>
          <p:cNvPr id="105" name="ASBUILT DUCT · CV-NEW SEC SAWCUT · 29.7 m"/>
          <p:cNvSpPr/>
          <p:nvPr/>
        </p:nvSpPr>
        <p:spPr>
          <a:xfrm>
            <a:off x="4675694" y="3440146"/>
            <a:ext cx="2200193" cy="1699483"/>
          </a:xfrm>
          <a:custGeom>
            <a:avLst/>
            <a:gdLst/>
            <a:ahLst/>
            <a:cxnLst/>
            <a:rect l="l" t="t" r="r" b="b"/>
            <a:pathLst>
              <a:path w="2200193" h="1699483">
                <a:moveTo>
                  <a:pt x="0" y="1699483"/>
                </a:moveTo>
                <a:lnTo>
                  <a:pt x="2200193" y="0"/>
                </a:lnTo>
              </a:path>
            </a:pathLst>
          </a:custGeom>
          <a:noFill/>
          <a:ln w="15875">
            <a:solidFill>
              <a:srgbClr val="E8710A"/>
            </a:solidFill>
            <a:prstDash val="sysDash"/>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ASBUILT DUCT · CV-NEW SEC SAWCUT · 28.9 m"/>
          <p:cNvSpPr/>
          <p:nvPr/>
        </p:nvSpPr>
        <p:spPr>
          <a:xfrm>
            <a:off x="5222602" y="3440146"/>
            <a:ext cx="1653285" cy="2139824"/>
          </a:xfrm>
          <a:custGeom>
            <a:avLst/>
            <a:gdLst/>
            <a:ahLst/>
            <a:cxnLst/>
            <a:rect l="l" t="t" r="r" b="b"/>
            <a:pathLst>
              <a:path w="1653285" h="2139824">
                <a:moveTo>
                  <a:pt x="0" y="2139824"/>
                </a:moveTo>
                <a:lnTo>
                  <a:pt x="1653285" y="0"/>
                </a:lnTo>
              </a:path>
            </a:pathLst>
          </a:custGeom>
          <a:noFill/>
          <a:ln w="15875">
            <a:solidFill>
              <a:srgbClr val="E8710A"/>
            </a:solidFill>
            <a:prstDash val="sysDash"/>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ASBUILT DUCT · CV-NEW SEC SAWCUT · 30.0 m"/>
          <p:cNvSpPr/>
          <p:nvPr/>
        </p:nvSpPr>
        <p:spPr>
          <a:xfrm>
            <a:off x="5770408" y="3440146"/>
            <a:ext cx="1105479" cy="2585163"/>
          </a:xfrm>
          <a:custGeom>
            <a:avLst/>
            <a:gdLst/>
            <a:ahLst/>
            <a:cxnLst/>
            <a:rect l="l" t="t" r="r" b="b"/>
            <a:pathLst>
              <a:path w="1105479" h="2585163">
                <a:moveTo>
                  <a:pt x="0" y="2585163"/>
                </a:moveTo>
                <a:lnTo>
                  <a:pt x="1105479" y="0"/>
                </a:lnTo>
              </a:path>
            </a:pathLst>
          </a:custGeom>
          <a:noFill/>
          <a:ln w="15875">
            <a:solidFill>
              <a:srgbClr val="E8710A"/>
            </a:solidFill>
            <a:prstDash val="sysDash"/>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ASBUILT DUCT · CV-NEW SEC SAWCUT · 32.9 m"/>
          <p:cNvSpPr/>
          <p:nvPr/>
        </p:nvSpPr>
        <p:spPr>
          <a:xfrm>
            <a:off x="6315294" y="3440146"/>
            <a:ext cx="560593" cy="3028761"/>
          </a:xfrm>
          <a:custGeom>
            <a:avLst/>
            <a:gdLst/>
            <a:ahLst/>
            <a:cxnLst/>
            <a:rect l="l" t="t" r="r" b="b"/>
            <a:pathLst>
              <a:path w="560593" h="3028761">
                <a:moveTo>
                  <a:pt x="560593" y="0"/>
                </a:moveTo>
                <a:lnTo>
                  <a:pt x="0" y="3028761"/>
                </a:lnTo>
              </a:path>
            </a:pathLst>
          </a:custGeom>
          <a:noFill/>
          <a:ln w="15875">
            <a:solidFill>
              <a:srgbClr val="E8710A"/>
            </a:solidFill>
            <a:prstDash val="sysDash"/>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ASBUILT DUCT · CV-NEW SEC SAWCUT · 31.3 m"/>
          <p:cNvSpPr/>
          <p:nvPr/>
        </p:nvSpPr>
        <p:spPr>
          <a:xfrm>
            <a:off x="6857615" y="4147005"/>
            <a:ext cx="987563" cy="2757449"/>
          </a:xfrm>
          <a:custGeom>
            <a:avLst/>
            <a:gdLst/>
            <a:ahLst/>
            <a:cxnLst/>
            <a:rect l="l" t="t" r="r" b="b"/>
            <a:pathLst>
              <a:path w="987563" h="2757449">
                <a:moveTo>
                  <a:pt x="0" y="2757449"/>
                </a:moveTo>
                <a:lnTo>
                  <a:pt x="987563" y="0"/>
                </a:lnTo>
              </a:path>
            </a:pathLst>
          </a:custGeom>
          <a:noFill/>
          <a:ln w="15875">
            <a:solidFill>
              <a:srgbClr val="E8710A"/>
            </a:solidFill>
            <a:prstDash val="sysDash"/>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ASBUILT DUCT · CV-NEW SEC SAWCUT · 34.5 m"/>
          <p:cNvSpPr/>
          <p:nvPr/>
        </p:nvSpPr>
        <p:spPr>
          <a:xfrm>
            <a:off x="7405234" y="4147005"/>
            <a:ext cx="439944" cy="3197734"/>
          </a:xfrm>
          <a:custGeom>
            <a:avLst/>
            <a:gdLst/>
            <a:ahLst/>
            <a:cxnLst/>
            <a:rect l="l" t="t" r="r" b="b"/>
            <a:pathLst>
              <a:path w="439944" h="3197734">
                <a:moveTo>
                  <a:pt x="439944" y="0"/>
                </a:moveTo>
                <a:lnTo>
                  <a:pt x="0" y="3197734"/>
                </a:lnTo>
              </a:path>
            </a:pathLst>
          </a:custGeom>
          <a:noFill/>
          <a:ln w="15875">
            <a:solidFill>
              <a:srgbClr val="E8710A"/>
            </a:solidFill>
            <a:prstDash val="sysDash"/>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ASBUILT DUCT · CV-NEW SEC SAWCUT · 35.1 m"/>
          <p:cNvSpPr/>
          <p:nvPr/>
        </p:nvSpPr>
        <p:spPr>
          <a:xfrm>
            <a:off x="7918320" y="4487928"/>
            <a:ext cx="394363" cy="3258901"/>
          </a:xfrm>
          <a:custGeom>
            <a:avLst/>
            <a:gdLst/>
            <a:ahLst/>
            <a:cxnLst/>
            <a:rect l="l" t="t" r="r" b="b"/>
            <a:pathLst>
              <a:path w="394363" h="3258901">
                <a:moveTo>
                  <a:pt x="0" y="3258901"/>
                </a:moveTo>
                <a:lnTo>
                  <a:pt x="394363" y="0"/>
                </a:lnTo>
              </a:path>
            </a:pathLst>
          </a:custGeom>
          <a:noFill/>
          <a:ln w="15875">
            <a:solidFill>
              <a:srgbClr val="E8710A"/>
            </a:solidFill>
            <a:prstDash val="sysDash"/>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ASBUILT DUCT · CV-NEW SEC CONDUIT · 11.5 m"/>
          <p:cNvSpPr/>
          <p:nvPr/>
        </p:nvSpPr>
        <p:spPr>
          <a:xfrm>
            <a:off x="8623140" y="4945559"/>
            <a:ext cx="527252" cy="937061"/>
          </a:xfrm>
          <a:custGeom>
            <a:avLst/>
            <a:gdLst/>
            <a:ahLst/>
            <a:cxnLst/>
            <a:rect l="l" t="t" r="r" b="b"/>
            <a:pathLst>
              <a:path w="527252" h="937061">
                <a:moveTo>
                  <a:pt x="527252" y="0"/>
                </a:moveTo>
                <a:lnTo>
                  <a:pt x="0" y="937061"/>
                </a:lnTo>
              </a:path>
            </a:pathLst>
          </a:custGeom>
          <a:noFill/>
          <a:ln w="15875">
            <a:solidFill>
              <a:srgbClr val="1E8E3E"/>
            </a:solidFill>
            <a:prstDash val="sysDash"/>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ASBUILT DUCT · CV-EX SEC CONDUIT · 30.1 m"/>
          <p:cNvSpPr/>
          <p:nvPr/>
        </p:nvSpPr>
        <p:spPr>
          <a:xfrm>
            <a:off x="8623140" y="5882620"/>
            <a:ext cx="419186" cy="2784666"/>
          </a:xfrm>
          <a:custGeom>
            <a:avLst/>
            <a:gdLst/>
            <a:ahLst/>
            <a:cxnLst/>
            <a:rect l="l" t="t" r="r" b="b"/>
            <a:pathLst>
              <a:path w="419186" h="2784666">
                <a:moveTo>
                  <a:pt x="419186" y="2784666"/>
                </a:moveTo>
                <a:lnTo>
                  <a:pt x="0" y="0"/>
                </a:lnTo>
              </a:path>
            </a:pathLst>
          </a:custGeom>
          <a:noFill/>
          <a:ln w="15875">
            <a:solidFill>
              <a:srgbClr val="0083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ASBUILT DUCT · CV-NEW SEC SAWCUT · 15.6 m"/>
          <p:cNvSpPr/>
          <p:nvPr/>
        </p:nvSpPr>
        <p:spPr>
          <a:xfrm>
            <a:off x="8311092" y="4488817"/>
            <a:ext cx="142467" cy="1454034"/>
          </a:xfrm>
          <a:custGeom>
            <a:avLst/>
            <a:gdLst/>
            <a:ahLst/>
            <a:cxnLst/>
            <a:rect l="l" t="t" r="r" b="b"/>
            <a:pathLst>
              <a:path w="142467" h="1454034">
                <a:moveTo>
                  <a:pt x="142467" y="1454034"/>
                </a:moveTo>
                <a:lnTo>
                  <a:pt x="0" y="0"/>
                </a:lnTo>
              </a:path>
            </a:pathLst>
          </a:custGeom>
          <a:noFill/>
          <a:ln w="15875">
            <a:solidFill>
              <a:srgbClr val="E8710A"/>
            </a:solidFill>
            <a:prstDash val="sysDash"/>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ASBUILT DUCT · CV-NEW SEC SAWCUT · 14.8 m"/>
          <p:cNvSpPr/>
          <p:nvPr/>
        </p:nvSpPr>
        <p:spPr>
          <a:xfrm>
            <a:off x="7623489" y="4147005"/>
            <a:ext cx="221689" cy="1363621"/>
          </a:xfrm>
          <a:custGeom>
            <a:avLst/>
            <a:gdLst/>
            <a:ahLst/>
            <a:cxnLst/>
            <a:rect l="l" t="t" r="r" b="b"/>
            <a:pathLst>
              <a:path w="221689" h="1363621">
                <a:moveTo>
                  <a:pt x="0" y="1363621"/>
                </a:moveTo>
                <a:lnTo>
                  <a:pt x="221689" y="0"/>
                </a:lnTo>
              </a:path>
            </a:pathLst>
          </a:custGeom>
          <a:noFill/>
          <a:ln w="15875">
            <a:solidFill>
              <a:srgbClr val="E8710A"/>
            </a:solidFill>
            <a:prstDash val="sysDash"/>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ASBUILT DUCT · CV-EX SEC CONDUIT · 26.2 m"/>
          <p:cNvSpPr/>
          <p:nvPr/>
        </p:nvSpPr>
        <p:spPr>
          <a:xfrm>
            <a:off x="6455728" y="4732573"/>
            <a:ext cx="2167412" cy="1150047"/>
          </a:xfrm>
          <a:custGeom>
            <a:avLst/>
            <a:gdLst/>
            <a:ahLst/>
            <a:cxnLst/>
            <a:rect l="l" t="t" r="r" b="b"/>
            <a:pathLst>
              <a:path w="2167412" h="1150047">
                <a:moveTo>
                  <a:pt x="0" y="0"/>
                </a:moveTo>
                <a:lnTo>
                  <a:pt x="2167412" y="1150047"/>
                </a:lnTo>
              </a:path>
            </a:pathLst>
          </a:custGeom>
          <a:noFill/>
          <a:ln w="15875">
            <a:solidFill>
              <a:srgbClr val="0083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ASBUILT DUCT · CV-NEW SEC SAWCUT · 14.5 m"/>
          <p:cNvSpPr/>
          <p:nvPr/>
        </p:nvSpPr>
        <p:spPr>
          <a:xfrm>
            <a:off x="9149559" y="4945063"/>
            <a:ext cx="166648" cy="1350048"/>
          </a:xfrm>
          <a:custGeom>
            <a:avLst/>
            <a:gdLst/>
            <a:ahLst/>
            <a:cxnLst/>
            <a:rect l="l" t="t" r="r" b="b"/>
            <a:pathLst>
              <a:path w="166648" h="1350048">
                <a:moveTo>
                  <a:pt x="166648" y="1350048"/>
                </a:moveTo>
                <a:lnTo>
                  <a:pt x="0" y="0"/>
                </a:lnTo>
              </a:path>
            </a:pathLst>
          </a:custGeom>
          <a:noFill/>
          <a:ln w="15875">
            <a:solidFill>
              <a:srgbClr val="E8710A"/>
            </a:solidFill>
            <a:prstDash val="sysDash"/>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ASBUILT DUCT · CV-NEW SEC SAWCUT · 61.4 m"/>
          <p:cNvSpPr/>
          <p:nvPr/>
        </p:nvSpPr>
        <p:spPr>
          <a:xfrm>
            <a:off x="1811240" y="4726249"/>
            <a:ext cx="2340462" cy="1433125"/>
          </a:xfrm>
          <a:custGeom>
            <a:avLst/>
            <a:gdLst/>
            <a:ahLst/>
            <a:cxnLst/>
            <a:rect l="l" t="t" r="r" b="b"/>
            <a:pathLst>
              <a:path w="2340462" h="1433125">
                <a:moveTo>
                  <a:pt x="2295191" y="6151"/>
                </a:moveTo>
                <a:lnTo>
                  <a:pt x="1096392" y="1234882"/>
                </a:lnTo>
                <a:lnTo>
                  <a:pt x="0" y="1433125"/>
                </a:lnTo>
                <a:lnTo>
                  <a:pt x="1185325" y="1280181"/>
                </a:lnTo>
                <a:lnTo>
                  <a:pt x="2340462" y="0"/>
                </a:lnTo>
              </a:path>
            </a:pathLst>
          </a:custGeom>
          <a:noFill/>
          <a:ln w="15875">
            <a:solidFill>
              <a:srgbClr val="E8710A"/>
            </a:solidFill>
            <a:prstDash val="sysDash"/>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ASBUILT DUCT · CV-NEW SEC SAWCUT · 8.9 m"/>
          <p:cNvSpPr/>
          <p:nvPr/>
        </p:nvSpPr>
        <p:spPr>
          <a:xfrm>
            <a:off x="4419153" y="5758687"/>
            <a:ext cx="644193" cy="521622"/>
          </a:xfrm>
          <a:custGeom>
            <a:avLst/>
            <a:gdLst/>
            <a:ahLst/>
            <a:cxnLst/>
            <a:rect l="l" t="t" r="r" b="b"/>
            <a:pathLst>
              <a:path w="644193" h="521622">
                <a:moveTo>
                  <a:pt x="644193" y="0"/>
                </a:moveTo>
                <a:lnTo>
                  <a:pt x="0" y="521622"/>
                </a:lnTo>
              </a:path>
            </a:pathLst>
          </a:custGeom>
          <a:noFill/>
          <a:ln w="15875">
            <a:solidFill>
              <a:srgbClr val="E8710A"/>
            </a:solidFill>
            <a:prstDash val="sysDash"/>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ASBUILT DUCT · CV-NEW SEC SAWCUT · 37.0 m"/>
          <p:cNvSpPr/>
          <p:nvPr/>
        </p:nvSpPr>
        <p:spPr>
          <a:xfrm>
            <a:off x="3683964" y="5251825"/>
            <a:ext cx="906064" cy="3307316"/>
          </a:xfrm>
          <a:custGeom>
            <a:avLst/>
            <a:gdLst/>
            <a:ahLst/>
            <a:cxnLst/>
            <a:rect l="l" t="t" r="r" b="b"/>
            <a:pathLst>
              <a:path w="906064" h="3307316">
                <a:moveTo>
                  <a:pt x="906064" y="0"/>
                </a:moveTo>
                <a:lnTo>
                  <a:pt x="537755" y="2216917"/>
                </a:lnTo>
                <a:lnTo>
                  <a:pt x="0" y="3307316"/>
                </a:lnTo>
              </a:path>
            </a:pathLst>
          </a:custGeom>
          <a:noFill/>
          <a:ln w="15875">
            <a:solidFill>
              <a:srgbClr val="E8710A"/>
            </a:solidFill>
            <a:prstDash val="sysDash"/>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ASBUILT DUCT · CV-NEW SEC SAWCUT · 30.7 m"/>
          <p:cNvSpPr/>
          <p:nvPr/>
        </p:nvSpPr>
        <p:spPr>
          <a:xfrm>
            <a:off x="3683964" y="6320650"/>
            <a:ext cx="1800642" cy="2238491"/>
          </a:xfrm>
          <a:custGeom>
            <a:avLst/>
            <a:gdLst/>
            <a:ahLst/>
            <a:cxnLst/>
            <a:rect l="l" t="t" r="r" b="b"/>
            <a:pathLst>
              <a:path w="1800642" h="2238491">
                <a:moveTo>
                  <a:pt x="1800642" y="0"/>
                </a:moveTo>
                <a:lnTo>
                  <a:pt x="0" y="2238491"/>
                </a:lnTo>
              </a:path>
            </a:pathLst>
          </a:custGeom>
          <a:noFill/>
          <a:ln w="15875">
            <a:solidFill>
              <a:srgbClr val="E8710A"/>
            </a:solidFill>
            <a:prstDash val="sysDash"/>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ASBUILT DUCT · CV-NEW SEC SAWCUT · 9.7 m"/>
          <p:cNvSpPr/>
          <p:nvPr/>
        </p:nvSpPr>
        <p:spPr>
          <a:xfrm>
            <a:off x="4957897" y="6909947"/>
            <a:ext cx="906965" cy="65491"/>
          </a:xfrm>
          <a:custGeom>
            <a:avLst/>
            <a:gdLst/>
            <a:ahLst/>
            <a:cxnLst/>
            <a:rect l="l" t="t" r="r" b="b"/>
            <a:pathLst>
              <a:path w="906965" h="65491">
                <a:moveTo>
                  <a:pt x="906965" y="0"/>
                </a:moveTo>
                <a:lnTo>
                  <a:pt x="0" y="65491"/>
                </a:lnTo>
              </a:path>
            </a:pathLst>
          </a:custGeom>
          <a:noFill/>
          <a:ln w="15875">
            <a:solidFill>
              <a:srgbClr val="E8710A"/>
            </a:solidFill>
            <a:prstDash val="sysDash"/>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ASBUILT DUCT · CV-NEW SEC SAWCUT · 30.3 m"/>
          <p:cNvSpPr/>
          <p:nvPr/>
        </p:nvSpPr>
        <p:spPr>
          <a:xfrm>
            <a:off x="3683964" y="8162385"/>
            <a:ext cx="2809473" cy="396756"/>
          </a:xfrm>
          <a:custGeom>
            <a:avLst/>
            <a:gdLst/>
            <a:ahLst/>
            <a:cxnLst/>
            <a:rect l="l" t="t" r="r" b="b"/>
            <a:pathLst>
              <a:path w="2809473" h="396756">
                <a:moveTo>
                  <a:pt x="2809473" y="0"/>
                </a:moveTo>
                <a:lnTo>
                  <a:pt x="0" y="396756"/>
                </a:lnTo>
              </a:path>
            </a:pathLst>
          </a:custGeom>
          <a:noFill/>
          <a:ln w="15875">
            <a:solidFill>
              <a:srgbClr val="E8710A"/>
            </a:solidFill>
            <a:prstDash val="sysDash"/>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ASBUILT DUCT · CV-NEW SEC SAWCUT · 10.8 m"/>
          <p:cNvSpPr/>
          <p:nvPr/>
        </p:nvSpPr>
        <p:spPr>
          <a:xfrm>
            <a:off x="5553482" y="7525176"/>
            <a:ext cx="650260" cy="769951"/>
          </a:xfrm>
          <a:custGeom>
            <a:avLst/>
            <a:gdLst/>
            <a:ahLst/>
            <a:cxnLst/>
            <a:rect l="l" t="t" r="r" b="b"/>
            <a:pathLst>
              <a:path w="650260" h="769951">
                <a:moveTo>
                  <a:pt x="650260" y="0"/>
                </a:moveTo>
                <a:lnTo>
                  <a:pt x="0" y="769951"/>
                </a:lnTo>
              </a:path>
            </a:pathLst>
          </a:custGeom>
          <a:noFill/>
          <a:ln w="15875">
            <a:solidFill>
              <a:srgbClr val="E8710A"/>
            </a:solidFill>
            <a:prstDash val="sysDash"/>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ASBUILT DUCT · CV-NEW SEC SAWCUT · 29.2 m"/>
          <p:cNvSpPr/>
          <p:nvPr/>
        </p:nvSpPr>
        <p:spPr>
          <a:xfrm>
            <a:off x="4314550" y="8793547"/>
            <a:ext cx="2403343" cy="1308936"/>
          </a:xfrm>
          <a:custGeom>
            <a:avLst/>
            <a:gdLst/>
            <a:ahLst/>
            <a:cxnLst/>
            <a:rect l="l" t="t" r="r" b="b"/>
            <a:pathLst>
              <a:path w="2403343" h="1308936">
                <a:moveTo>
                  <a:pt x="2403343" y="0"/>
                </a:moveTo>
                <a:lnTo>
                  <a:pt x="0" y="1308936"/>
                </a:lnTo>
              </a:path>
            </a:pathLst>
          </a:custGeom>
          <a:noFill/>
          <a:ln w="15875">
            <a:solidFill>
              <a:srgbClr val="E8710A"/>
            </a:solidFill>
            <a:prstDash val="sysDash"/>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ASBUILT DUCT · CV-NEW SEC SAWCUT · 10.7 m"/>
          <p:cNvSpPr/>
          <p:nvPr/>
        </p:nvSpPr>
        <p:spPr>
          <a:xfrm>
            <a:off x="5958742" y="9207008"/>
            <a:ext cx="967205" cy="267128"/>
          </a:xfrm>
          <a:custGeom>
            <a:avLst/>
            <a:gdLst/>
            <a:ahLst/>
            <a:cxnLst/>
            <a:rect l="l" t="t" r="r" b="b"/>
            <a:pathLst>
              <a:path w="967205" h="267128">
                <a:moveTo>
                  <a:pt x="967205" y="267128"/>
                </a:moveTo>
                <a:lnTo>
                  <a:pt x="0" y="0"/>
                </a:lnTo>
              </a:path>
            </a:pathLst>
          </a:custGeom>
          <a:noFill/>
          <a:ln w="15875">
            <a:solidFill>
              <a:srgbClr val="E8710A"/>
            </a:solidFill>
            <a:prstDash val="sysDash"/>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ASBUILT DUCT · CV-NEW SEC SAWCUT · 29.4 m"/>
          <p:cNvSpPr/>
          <p:nvPr/>
        </p:nvSpPr>
        <p:spPr>
          <a:xfrm>
            <a:off x="4314550" y="10102483"/>
            <a:ext cx="2752219" cy="50951"/>
          </a:xfrm>
          <a:custGeom>
            <a:avLst/>
            <a:gdLst/>
            <a:ahLst/>
            <a:cxnLst/>
            <a:rect l="l" t="t" r="r" b="b"/>
            <a:pathLst>
              <a:path w="2752219" h="50951">
                <a:moveTo>
                  <a:pt x="2752219" y="50951"/>
                </a:moveTo>
                <a:lnTo>
                  <a:pt x="0" y="0"/>
                </a:lnTo>
              </a:path>
            </a:pathLst>
          </a:custGeom>
          <a:noFill/>
          <a:ln w="15875">
            <a:solidFill>
              <a:srgbClr val="E8710A"/>
            </a:solidFill>
            <a:prstDash val="sysDash"/>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ASBUILT DUCT · CV-EX SEC CONDUIT · 23.3 m"/>
          <p:cNvSpPr/>
          <p:nvPr/>
        </p:nvSpPr>
        <p:spPr>
          <a:xfrm>
            <a:off x="8466913" y="5882620"/>
            <a:ext cx="156227" cy="2173602"/>
          </a:xfrm>
          <a:custGeom>
            <a:avLst/>
            <a:gdLst/>
            <a:ahLst/>
            <a:cxnLst/>
            <a:rect l="l" t="t" r="r" b="b"/>
            <a:pathLst>
              <a:path w="156227" h="2173602">
                <a:moveTo>
                  <a:pt x="0" y="2173602"/>
                </a:moveTo>
                <a:lnTo>
                  <a:pt x="156227" y="0"/>
                </a:lnTo>
              </a:path>
            </a:pathLst>
          </a:custGeom>
          <a:noFill/>
          <a:ln w="15875">
            <a:solidFill>
              <a:srgbClr val="0083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ASBUILT DUCT · CV-EX SEC CONDUIT · 19.9 m"/>
          <p:cNvSpPr/>
          <p:nvPr/>
        </p:nvSpPr>
        <p:spPr>
          <a:xfrm>
            <a:off x="968053" y="987696"/>
            <a:ext cx="1434873" cy="1182018"/>
          </a:xfrm>
          <a:custGeom>
            <a:avLst/>
            <a:gdLst/>
            <a:ahLst/>
            <a:cxnLst/>
            <a:rect l="l" t="t" r="r" b="b"/>
            <a:pathLst>
              <a:path w="1434873" h="1182018">
                <a:moveTo>
                  <a:pt x="1434873" y="0"/>
                </a:moveTo>
                <a:lnTo>
                  <a:pt x="0" y="1182018"/>
                </a:lnTo>
              </a:path>
            </a:pathLst>
          </a:custGeom>
          <a:noFill/>
          <a:ln w="15875">
            <a:solidFill>
              <a:srgbClr val="0083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ASBUILT DUCT · CV-EX SEC CONDUIT · 19.7 m"/>
          <p:cNvSpPr/>
          <p:nvPr/>
        </p:nvSpPr>
        <p:spPr>
          <a:xfrm>
            <a:off x="1489769" y="987696"/>
            <a:ext cx="913157" cy="1600836"/>
          </a:xfrm>
          <a:custGeom>
            <a:avLst/>
            <a:gdLst/>
            <a:ahLst/>
            <a:cxnLst/>
            <a:rect l="l" t="t" r="r" b="b"/>
            <a:pathLst>
              <a:path w="913157" h="1600836">
                <a:moveTo>
                  <a:pt x="0" y="1600836"/>
                </a:moveTo>
                <a:lnTo>
                  <a:pt x="913157" y="0"/>
                </a:lnTo>
              </a:path>
            </a:pathLst>
          </a:custGeom>
          <a:noFill/>
          <a:ln w="15875">
            <a:solidFill>
              <a:srgbClr val="0083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ASBUILT DUCT · CV-EX SEC CONDUIT · 22.5 m"/>
          <p:cNvSpPr/>
          <p:nvPr/>
        </p:nvSpPr>
        <p:spPr>
          <a:xfrm>
            <a:off x="440607" y="987696"/>
            <a:ext cx="1962319" cy="763882"/>
          </a:xfrm>
          <a:custGeom>
            <a:avLst/>
            <a:gdLst/>
            <a:ahLst/>
            <a:cxnLst/>
            <a:rect l="l" t="t" r="r" b="b"/>
            <a:pathLst>
              <a:path w="1962319" h="763882">
                <a:moveTo>
                  <a:pt x="0" y="763882"/>
                </a:moveTo>
                <a:lnTo>
                  <a:pt x="1962319" y="0"/>
                </a:lnTo>
              </a:path>
            </a:pathLst>
          </a:custGeom>
          <a:noFill/>
          <a:ln w="15875">
            <a:solidFill>
              <a:srgbClr val="0083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ASBUILT DUCT · CV-EX SEC CONDUIT · 22.0 m"/>
          <p:cNvSpPr/>
          <p:nvPr/>
        </p:nvSpPr>
        <p:spPr>
          <a:xfrm>
            <a:off x="2013190" y="987696"/>
            <a:ext cx="389736" cy="2021621"/>
          </a:xfrm>
          <a:custGeom>
            <a:avLst/>
            <a:gdLst/>
            <a:ahLst/>
            <a:cxnLst/>
            <a:rect l="l" t="t" r="r" b="b"/>
            <a:pathLst>
              <a:path w="389736" h="2021621">
                <a:moveTo>
                  <a:pt x="0" y="2021621"/>
                </a:moveTo>
                <a:lnTo>
                  <a:pt x="389736" y="0"/>
                </a:lnTo>
              </a:path>
            </a:pathLst>
          </a:custGeom>
          <a:noFill/>
          <a:ln w="15875">
            <a:solidFill>
              <a:srgbClr val="0083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ASBUILT DUCT · CV-NEW SEC SAWCUT · 28.4 m"/>
          <p:cNvSpPr/>
          <p:nvPr/>
        </p:nvSpPr>
        <p:spPr>
          <a:xfrm>
            <a:off x="2535459" y="777225"/>
            <a:ext cx="200786" cy="2651276"/>
          </a:xfrm>
          <a:custGeom>
            <a:avLst/>
            <a:gdLst/>
            <a:ahLst/>
            <a:cxnLst/>
            <a:rect l="l" t="t" r="r" b="b"/>
            <a:pathLst>
              <a:path w="200786" h="2651276">
                <a:moveTo>
                  <a:pt x="0" y="2651276"/>
                </a:moveTo>
                <a:lnTo>
                  <a:pt x="200786" y="0"/>
                </a:lnTo>
              </a:path>
            </a:pathLst>
          </a:custGeom>
          <a:noFill/>
          <a:ln w="15875">
            <a:solidFill>
              <a:srgbClr val="E8710A"/>
            </a:solidFill>
            <a:prstDash val="sysDash"/>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ASBUILT DUCT · CV-NEW SEC SAWCUT · 16.9 m"/>
          <p:cNvSpPr/>
          <p:nvPr/>
        </p:nvSpPr>
        <p:spPr>
          <a:xfrm>
            <a:off x="320039" y="777223"/>
            <a:ext cx="1528168" cy="418310"/>
          </a:xfrm>
          <a:custGeom>
            <a:avLst/>
            <a:gdLst/>
            <a:ahLst/>
            <a:cxnLst/>
            <a:rect l="l" t="t" r="r" b="b"/>
            <a:pathLst>
              <a:path w="1528168" h="418310">
                <a:moveTo>
                  <a:pt x="0" y="418310"/>
                </a:moveTo>
                <a:lnTo>
                  <a:pt x="1528168" y="0"/>
                </a:lnTo>
              </a:path>
            </a:pathLst>
          </a:custGeom>
          <a:noFill/>
          <a:ln w="15875">
            <a:solidFill>
              <a:srgbClr val="E8710A"/>
            </a:solidFill>
            <a:prstDash val="sysDash"/>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ASBUILT DUCT · CV-NEW SEC CONDUIT · 2.8 m"/>
          <p:cNvSpPr/>
          <p:nvPr/>
        </p:nvSpPr>
        <p:spPr>
          <a:xfrm>
            <a:off x="2402832" y="777224"/>
            <a:ext cx="161582" cy="210407"/>
          </a:xfrm>
          <a:custGeom>
            <a:avLst/>
            <a:gdLst/>
            <a:ahLst/>
            <a:cxnLst/>
            <a:rect l="l" t="t" r="r" b="b"/>
            <a:pathLst>
              <a:path w="161582" h="210407">
                <a:moveTo>
                  <a:pt x="161582" y="0"/>
                </a:moveTo>
                <a:lnTo>
                  <a:pt x="0" y="210407"/>
                </a:lnTo>
              </a:path>
            </a:pathLst>
          </a:custGeom>
          <a:noFill/>
          <a:ln w="15875">
            <a:solidFill>
              <a:srgbClr val="1E8E3E"/>
            </a:solidFill>
            <a:prstDash val="sysDash"/>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ASBUILT DUCT · CV-EX SEC CONDUIT · 22.4 m"/>
          <p:cNvSpPr/>
          <p:nvPr/>
        </p:nvSpPr>
        <p:spPr>
          <a:xfrm>
            <a:off x="2046024" y="3849163"/>
            <a:ext cx="1013529" cy="1837744"/>
          </a:xfrm>
          <a:custGeom>
            <a:avLst/>
            <a:gdLst/>
            <a:ahLst/>
            <a:cxnLst/>
            <a:rect l="l" t="t" r="r" b="b"/>
            <a:pathLst>
              <a:path w="1013529" h="1837744">
                <a:moveTo>
                  <a:pt x="1013529" y="0"/>
                </a:moveTo>
                <a:lnTo>
                  <a:pt x="0" y="1837744"/>
                </a:lnTo>
              </a:path>
            </a:pathLst>
          </a:custGeom>
          <a:noFill/>
          <a:ln w="15875">
            <a:solidFill>
              <a:srgbClr val="0083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ASBUILT DUCT · CV-EX SEC CONDUIT · 22.3 m"/>
          <p:cNvSpPr/>
          <p:nvPr/>
        </p:nvSpPr>
        <p:spPr>
          <a:xfrm>
            <a:off x="2046024" y="4269133"/>
            <a:ext cx="1536285" cy="1417774"/>
          </a:xfrm>
          <a:custGeom>
            <a:avLst/>
            <a:gdLst/>
            <a:ahLst/>
            <a:cxnLst/>
            <a:rect l="l" t="t" r="r" b="b"/>
            <a:pathLst>
              <a:path w="1536285" h="1417774">
                <a:moveTo>
                  <a:pt x="0" y="1417774"/>
                </a:moveTo>
                <a:lnTo>
                  <a:pt x="1536285" y="0"/>
                </a:lnTo>
              </a:path>
            </a:pathLst>
          </a:custGeom>
          <a:noFill/>
          <a:ln w="15875">
            <a:solidFill>
              <a:srgbClr val="0083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ASBUILT DUCT · CV-NEW SEC CONDUIT · 5.6 m"/>
          <p:cNvSpPr/>
          <p:nvPr/>
        </p:nvSpPr>
        <p:spPr>
          <a:xfrm>
            <a:off x="1811455" y="5686907"/>
            <a:ext cx="234569" cy="472223"/>
          </a:xfrm>
          <a:custGeom>
            <a:avLst/>
            <a:gdLst/>
            <a:ahLst/>
            <a:cxnLst/>
            <a:rect l="l" t="t" r="r" b="b"/>
            <a:pathLst>
              <a:path w="234569" h="472223">
                <a:moveTo>
                  <a:pt x="234569" y="0"/>
                </a:moveTo>
                <a:lnTo>
                  <a:pt x="0" y="472223"/>
                </a:lnTo>
              </a:path>
            </a:pathLst>
          </a:custGeom>
          <a:noFill/>
          <a:ln w="15875">
            <a:solidFill>
              <a:srgbClr val="1E8E3E"/>
            </a:solidFill>
            <a:prstDash val="sysDash"/>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ASBUILT DUCT · CV-EX SEC CONDUIT · 9.7 m"/>
          <p:cNvSpPr/>
          <p:nvPr/>
        </p:nvSpPr>
        <p:spPr>
          <a:xfrm>
            <a:off x="4560299" y="3363941"/>
            <a:ext cx="793544" cy="432736"/>
          </a:xfrm>
          <a:custGeom>
            <a:avLst/>
            <a:gdLst/>
            <a:ahLst/>
            <a:cxnLst/>
            <a:rect l="l" t="t" r="r" b="b"/>
            <a:pathLst>
              <a:path w="793544" h="432736">
                <a:moveTo>
                  <a:pt x="0" y="432736"/>
                </a:moveTo>
                <a:lnTo>
                  <a:pt x="793544" y="0"/>
                </a:lnTo>
              </a:path>
            </a:pathLst>
          </a:custGeom>
          <a:noFill/>
          <a:ln w="15875">
            <a:solidFill>
              <a:srgbClr val="0083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ASBUILT DUCT · CV-EX SEC CONDUIT · 30.1 m"/>
          <p:cNvSpPr/>
          <p:nvPr/>
        </p:nvSpPr>
        <p:spPr>
          <a:xfrm>
            <a:off x="3333425" y="3363941"/>
            <a:ext cx="2020418" cy="1960918"/>
          </a:xfrm>
          <a:custGeom>
            <a:avLst/>
            <a:gdLst/>
            <a:ahLst/>
            <a:cxnLst/>
            <a:rect l="l" t="t" r="r" b="b"/>
            <a:pathLst>
              <a:path w="2020418" h="1960918">
                <a:moveTo>
                  <a:pt x="2020418" y="0"/>
                </a:moveTo>
                <a:lnTo>
                  <a:pt x="0" y="1960918"/>
                </a:lnTo>
              </a:path>
            </a:pathLst>
          </a:custGeom>
          <a:noFill/>
          <a:ln w="15875">
            <a:solidFill>
              <a:srgbClr val="0083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ASBUILT DUCT · CV-EX SEC CONDUIT · 12.5 m"/>
          <p:cNvSpPr/>
          <p:nvPr/>
        </p:nvSpPr>
        <p:spPr>
          <a:xfrm>
            <a:off x="4384483" y="3363941"/>
            <a:ext cx="969360" cy="651736"/>
          </a:xfrm>
          <a:custGeom>
            <a:avLst/>
            <a:gdLst/>
            <a:ahLst/>
            <a:cxnLst/>
            <a:rect l="l" t="t" r="r" b="b"/>
            <a:pathLst>
              <a:path w="969360" h="651736">
                <a:moveTo>
                  <a:pt x="0" y="651736"/>
                </a:moveTo>
                <a:lnTo>
                  <a:pt x="969360" y="0"/>
                </a:lnTo>
              </a:path>
            </a:pathLst>
          </a:custGeom>
          <a:noFill/>
          <a:ln w="15875">
            <a:solidFill>
              <a:srgbClr val="0083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ASBUILT DUCT · CV-EX SEC CONDUIT · 15.4 m"/>
          <p:cNvSpPr/>
          <p:nvPr/>
        </p:nvSpPr>
        <p:spPr>
          <a:xfrm>
            <a:off x="4208742" y="3363941"/>
            <a:ext cx="1145101" cy="870791"/>
          </a:xfrm>
          <a:custGeom>
            <a:avLst/>
            <a:gdLst/>
            <a:ahLst/>
            <a:cxnLst/>
            <a:rect l="l" t="t" r="r" b="b"/>
            <a:pathLst>
              <a:path w="1145101" h="870791">
                <a:moveTo>
                  <a:pt x="0" y="870791"/>
                </a:moveTo>
                <a:lnTo>
                  <a:pt x="1145101" y="0"/>
                </a:lnTo>
              </a:path>
            </a:pathLst>
          </a:custGeom>
          <a:noFill/>
          <a:ln w="15875">
            <a:solidFill>
              <a:srgbClr val="0083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ASBUILT DUCT · CV-NEW SEC CONDUIT · 8.9 m"/>
          <p:cNvSpPr/>
          <p:nvPr/>
        </p:nvSpPr>
        <p:spPr>
          <a:xfrm>
            <a:off x="5354040" y="2712486"/>
            <a:ext cx="512517" cy="651474"/>
          </a:xfrm>
          <a:custGeom>
            <a:avLst/>
            <a:gdLst/>
            <a:ahLst/>
            <a:cxnLst/>
            <a:rect l="l" t="t" r="r" b="b"/>
            <a:pathLst>
              <a:path w="512517" h="651474">
                <a:moveTo>
                  <a:pt x="512517" y="0"/>
                </a:moveTo>
                <a:lnTo>
                  <a:pt x="0" y="651474"/>
                </a:lnTo>
              </a:path>
            </a:pathLst>
          </a:custGeom>
          <a:noFill/>
          <a:ln w="15875">
            <a:solidFill>
              <a:srgbClr val="1E8E3E"/>
            </a:solidFill>
            <a:prstDash val="sysDash"/>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ASBUILT DUCT · CV-NEW SEC CONDUIT · 9.2 m"/>
          <p:cNvSpPr/>
          <p:nvPr/>
        </p:nvSpPr>
        <p:spPr>
          <a:xfrm>
            <a:off x="5354040" y="2547426"/>
            <a:ext cx="285298" cy="816534"/>
          </a:xfrm>
          <a:custGeom>
            <a:avLst/>
            <a:gdLst/>
            <a:ahLst/>
            <a:cxnLst/>
            <a:rect l="l" t="t" r="r" b="b"/>
            <a:pathLst>
              <a:path w="285298" h="816534">
                <a:moveTo>
                  <a:pt x="285298" y="0"/>
                </a:moveTo>
                <a:lnTo>
                  <a:pt x="0" y="816534"/>
                </a:lnTo>
              </a:path>
            </a:pathLst>
          </a:custGeom>
          <a:noFill/>
          <a:ln w="15875">
            <a:solidFill>
              <a:srgbClr val="1E8E3E"/>
            </a:solidFill>
            <a:prstDash val="sysDash"/>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ASBUILT DUCT · CV-EX SEC CONDUIT · 27.2 m"/>
          <p:cNvSpPr/>
          <p:nvPr/>
        </p:nvSpPr>
        <p:spPr>
          <a:xfrm>
            <a:off x="3505469" y="3363960"/>
            <a:ext cx="1848571" cy="1746759"/>
          </a:xfrm>
          <a:custGeom>
            <a:avLst/>
            <a:gdLst/>
            <a:ahLst/>
            <a:cxnLst/>
            <a:rect l="l" t="t" r="r" b="b"/>
            <a:pathLst>
              <a:path w="1848571" h="1746759">
                <a:moveTo>
                  <a:pt x="0" y="1746759"/>
                </a:moveTo>
                <a:lnTo>
                  <a:pt x="1848571" y="0"/>
                </a:lnTo>
              </a:path>
            </a:pathLst>
          </a:custGeom>
          <a:noFill/>
          <a:ln w="15875">
            <a:solidFill>
              <a:srgbClr val="0083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ASBUILT DUCT · CV-EX SEC CONDUIT · 24.2 m"/>
          <p:cNvSpPr/>
          <p:nvPr/>
        </p:nvSpPr>
        <p:spPr>
          <a:xfrm>
            <a:off x="3681285" y="3363960"/>
            <a:ext cx="1672755" cy="1527760"/>
          </a:xfrm>
          <a:custGeom>
            <a:avLst/>
            <a:gdLst/>
            <a:ahLst/>
            <a:cxnLst/>
            <a:rect l="l" t="t" r="r" b="b"/>
            <a:pathLst>
              <a:path w="1672755" h="1527760">
                <a:moveTo>
                  <a:pt x="1672755" y="0"/>
                </a:moveTo>
                <a:lnTo>
                  <a:pt x="0" y="1527760"/>
                </a:lnTo>
              </a:path>
            </a:pathLst>
          </a:custGeom>
          <a:noFill/>
          <a:ln w="15875">
            <a:solidFill>
              <a:srgbClr val="0083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ASBUILT DUCT · CV-NEW SEC CONDUIT · 3.6 m"/>
          <p:cNvSpPr/>
          <p:nvPr/>
        </p:nvSpPr>
        <p:spPr>
          <a:xfrm>
            <a:off x="5639338" y="2309705"/>
            <a:ext cx="239174" cy="237721"/>
          </a:xfrm>
          <a:custGeom>
            <a:avLst/>
            <a:gdLst/>
            <a:ahLst/>
            <a:cxnLst/>
            <a:rect l="l" t="t" r="r" b="b"/>
            <a:pathLst>
              <a:path w="239174" h="237721">
                <a:moveTo>
                  <a:pt x="239174" y="0"/>
                </a:moveTo>
                <a:lnTo>
                  <a:pt x="0" y="237721"/>
                </a:lnTo>
              </a:path>
            </a:pathLst>
          </a:custGeom>
          <a:noFill/>
          <a:ln w="15875">
            <a:solidFill>
              <a:srgbClr val="1E8E3E"/>
            </a:solidFill>
            <a:prstDash val="sysDash"/>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ASBUILT DUCT · CV-NEW SEC CONDUIT · 7.3 m"/>
          <p:cNvSpPr/>
          <p:nvPr/>
        </p:nvSpPr>
        <p:spPr>
          <a:xfrm>
            <a:off x="1585948" y="6159130"/>
            <a:ext cx="225507" cy="647712"/>
          </a:xfrm>
          <a:custGeom>
            <a:avLst/>
            <a:gdLst/>
            <a:ahLst/>
            <a:cxnLst/>
            <a:rect l="l" t="t" r="r" b="b"/>
            <a:pathLst>
              <a:path w="225507" h="647712">
                <a:moveTo>
                  <a:pt x="0" y="647712"/>
                </a:moveTo>
                <a:lnTo>
                  <a:pt x="225507" y="0"/>
                </a:lnTo>
              </a:path>
            </a:pathLst>
          </a:custGeom>
          <a:noFill/>
          <a:ln w="15875">
            <a:solidFill>
              <a:srgbClr val="1E8E3E"/>
            </a:solidFill>
            <a:prstDash val="sysDash"/>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1" name="ASBUILT DUCT · CV-EX SEC CONDUIT · 35.4 m"/>
          <p:cNvSpPr/>
          <p:nvPr/>
        </p:nvSpPr>
        <p:spPr>
          <a:xfrm>
            <a:off x="8623140" y="5882620"/>
            <a:ext cx="1252383" cy="3066156"/>
          </a:xfrm>
          <a:custGeom>
            <a:avLst/>
            <a:gdLst/>
            <a:ahLst/>
            <a:cxnLst/>
            <a:rect l="l" t="t" r="r" b="b"/>
            <a:pathLst>
              <a:path w="1252383" h="3066156">
                <a:moveTo>
                  <a:pt x="1252383" y="3066156"/>
                </a:moveTo>
                <a:lnTo>
                  <a:pt x="1145935" y="2921690"/>
                </a:lnTo>
                <a:lnTo>
                  <a:pt x="0" y="0"/>
                </a:lnTo>
              </a:path>
            </a:pathLst>
          </a:custGeom>
          <a:noFill/>
          <a:ln w="15875">
            <a:solidFill>
              <a:srgbClr val="0083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2" name="ASBUILT DUCT · CV-EX SEC CONDUIT · 30.4 m"/>
          <p:cNvSpPr/>
          <p:nvPr/>
        </p:nvSpPr>
        <p:spPr>
          <a:xfrm>
            <a:off x="8623140" y="5882620"/>
            <a:ext cx="1174938" cy="2592123"/>
          </a:xfrm>
          <a:custGeom>
            <a:avLst/>
            <a:gdLst/>
            <a:ahLst/>
            <a:cxnLst/>
            <a:rect l="l" t="t" r="r" b="b"/>
            <a:pathLst>
              <a:path w="1174938" h="2592123">
                <a:moveTo>
                  <a:pt x="1174938" y="2592123"/>
                </a:moveTo>
                <a:lnTo>
                  <a:pt x="0" y="0"/>
                </a:lnTo>
              </a:path>
            </a:pathLst>
          </a:custGeom>
          <a:noFill/>
          <a:ln w="15875">
            <a:solidFill>
              <a:srgbClr val="0083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3" name="ASBUILT DUCT · CV-NEW SEC SAWCUT · 36.0 m"/>
          <p:cNvSpPr/>
          <p:nvPr/>
        </p:nvSpPr>
        <p:spPr>
          <a:xfrm>
            <a:off x="7952854" y="4488602"/>
            <a:ext cx="358509" cy="3296412"/>
          </a:xfrm>
          <a:custGeom>
            <a:avLst/>
            <a:gdLst/>
            <a:ahLst/>
            <a:cxnLst/>
            <a:rect l="l" t="t" r="r" b="b"/>
            <a:pathLst>
              <a:path w="358509" h="3296412">
                <a:moveTo>
                  <a:pt x="0" y="3296412"/>
                </a:moveTo>
                <a:lnTo>
                  <a:pt x="207747" y="3037646"/>
                </a:lnTo>
                <a:lnTo>
                  <a:pt x="358509" y="0"/>
                </a:lnTo>
              </a:path>
            </a:pathLst>
          </a:custGeom>
          <a:noFill/>
          <a:ln w="15875">
            <a:solidFill>
              <a:srgbClr val="E8710A"/>
            </a:solidFill>
            <a:prstDash val="sysDash"/>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4" name="ASBUILT DUCT · CV-EX SEC CONDUIT · 21.2 m"/>
          <p:cNvSpPr/>
          <p:nvPr/>
        </p:nvSpPr>
        <p:spPr>
          <a:xfrm>
            <a:off x="3857101" y="3363960"/>
            <a:ext cx="1496939" cy="1308761"/>
          </a:xfrm>
          <a:custGeom>
            <a:avLst/>
            <a:gdLst/>
            <a:ahLst/>
            <a:cxnLst/>
            <a:rect l="l" t="t" r="r" b="b"/>
            <a:pathLst>
              <a:path w="1496939" h="1308761">
                <a:moveTo>
                  <a:pt x="0" y="1308761"/>
                </a:moveTo>
                <a:lnTo>
                  <a:pt x="1496939" y="0"/>
                </a:lnTo>
              </a:path>
            </a:pathLst>
          </a:custGeom>
          <a:noFill/>
          <a:ln w="15875">
            <a:solidFill>
              <a:srgbClr val="0083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5" name="ASBUILT DUCT · CV-EX SEC CONDUIT · 18.3 m"/>
          <p:cNvSpPr/>
          <p:nvPr/>
        </p:nvSpPr>
        <p:spPr>
          <a:xfrm>
            <a:off x="4032917" y="3363960"/>
            <a:ext cx="1321123" cy="1089771"/>
          </a:xfrm>
          <a:custGeom>
            <a:avLst/>
            <a:gdLst/>
            <a:ahLst/>
            <a:cxnLst/>
            <a:rect l="l" t="t" r="r" b="b"/>
            <a:pathLst>
              <a:path w="1321123" h="1089771">
                <a:moveTo>
                  <a:pt x="0" y="1089771"/>
                </a:moveTo>
                <a:lnTo>
                  <a:pt x="1321123" y="0"/>
                </a:lnTo>
              </a:path>
            </a:pathLst>
          </a:custGeom>
          <a:noFill/>
          <a:ln w="15875">
            <a:solidFill>
              <a:srgbClr val="0083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6" name="ASBUILT DUCT · CV-EX SEC CONDUIT · 31.4 m"/>
          <p:cNvSpPr/>
          <p:nvPr/>
        </p:nvSpPr>
        <p:spPr>
          <a:xfrm>
            <a:off x="8623140" y="5882620"/>
            <a:ext cx="746085" cy="2748316"/>
          </a:xfrm>
          <a:custGeom>
            <a:avLst/>
            <a:gdLst/>
            <a:ahLst/>
            <a:cxnLst/>
            <a:rect l="l" t="t" r="r" b="b"/>
            <a:pathLst>
              <a:path w="746085" h="2748316">
                <a:moveTo>
                  <a:pt x="489331" y="2748316"/>
                </a:moveTo>
                <a:lnTo>
                  <a:pt x="746085" y="2315691"/>
                </a:lnTo>
                <a:lnTo>
                  <a:pt x="0" y="0"/>
                </a:lnTo>
              </a:path>
            </a:pathLst>
          </a:custGeom>
          <a:noFill/>
          <a:ln w="15875">
            <a:solidFill>
              <a:srgbClr val="0083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7" name="ASBUILT DUCT · CV-EX SEC CONDUIT · 26.8 m"/>
          <p:cNvSpPr/>
          <p:nvPr/>
        </p:nvSpPr>
        <p:spPr>
          <a:xfrm>
            <a:off x="8623140" y="5882620"/>
            <a:ext cx="562500" cy="2432277"/>
          </a:xfrm>
          <a:custGeom>
            <a:avLst/>
            <a:gdLst/>
            <a:ahLst/>
            <a:cxnLst/>
            <a:rect l="l" t="t" r="r" b="b"/>
            <a:pathLst>
              <a:path w="562500" h="2432277">
                <a:moveTo>
                  <a:pt x="494480" y="2432277"/>
                </a:moveTo>
                <a:lnTo>
                  <a:pt x="562500" y="2151361"/>
                </a:lnTo>
                <a:lnTo>
                  <a:pt x="0" y="0"/>
                </a:lnTo>
              </a:path>
            </a:pathLst>
          </a:custGeom>
          <a:noFill/>
          <a:ln w="15875">
            <a:solidFill>
              <a:srgbClr val="0083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8" name="ASBUILT DUCT · CV_DUCT CROSSING 6x110mm dia · 53.3 m"/>
          <p:cNvSpPr/>
          <p:nvPr/>
        </p:nvSpPr>
        <p:spPr>
          <a:xfrm>
            <a:off x="910679" y="1500196"/>
            <a:ext cx="3125287" cy="3892621"/>
          </a:xfrm>
          <a:custGeom>
            <a:avLst/>
            <a:gdLst/>
            <a:ahLst/>
            <a:cxnLst/>
            <a:rect l="l" t="t" r="r" b="b"/>
            <a:pathLst>
              <a:path w="3125287" h="3892621">
                <a:moveTo>
                  <a:pt x="3125287" y="0"/>
                </a:moveTo>
                <a:lnTo>
                  <a:pt x="0" y="3892621"/>
                </a:lnTo>
              </a:path>
            </a:pathLst>
          </a:custGeom>
          <a:noFill/>
          <a:ln w="22225">
            <a:solidFill>
              <a:srgbClr val="C218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9" name="ASBUILT DUCT · CV_OUTER DUCT 4x110mm dia · 72.2 m"/>
          <p:cNvSpPr/>
          <p:nvPr/>
        </p:nvSpPr>
        <p:spPr>
          <a:xfrm>
            <a:off x="4243488" y="1436446"/>
            <a:ext cx="5632043" cy="3708898"/>
          </a:xfrm>
          <a:custGeom>
            <a:avLst/>
            <a:gdLst/>
            <a:ahLst/>
            <a:cxnLst/>
            <a:rect l="l" t="t" r="r" b="b"/>
            <a:pathLst>
              <a:path w="5632043" h="3708898">
                <a:moveTo>
                  <a:pt x="0" y="0"/>
                </a:moveTo>
                <a:lnTo>
                  <a:pt x="4186952" y="2928502"/>
                </a:lnTo>
                <a:lnTo>
                  <a:pt x="4552709" y="3145808"/>
                </a:lnTo>
                <a:lnTo>
                  <a:pt x="5284756" y="3598646"/>
                </a:lnTo>
                <a:lnTo>
                  <a:pt x="5617823" y="3707089"/>
                </a:lnTo>
                <a:lnTo>
                  <a:pt x="5632043" y="3708898"/>
                </a:lnTo>
              </a:path>
            </a:pathLst>
          </a:custGeom>
          <a:noFill/>
          <a:ln w="22225">
            <a:solidFill>
              <a:srgbClr val="0B3D9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0" name="ASBUILT DUCT · CV_INNER DUCT 4x110mm dia · 54.4 m"/>
          <p:cNvSpPr/>
          <p:nvPr/>
        </p:nvSpPr>
        <p:spPr>
          <a:xfrm>
            <a:off x="4169056" y="1529226"/>
            <a:ext cx="4142036" cy="2959591"/>
          </a:xfrm>
          <a:custGeom>
            <a:avLst/>
            <a:gdLst/>
            <a:ahLst/>
            <a:cxnLst/>
            <a:rect l="l" t="t" r="r" b="b"/>
            <a:pathLst>
              <a:path w="4142036" h="2959591">
                <a:moveTo>
                  <a:pt x="0" y="0"/>
                </a:moveTo>
                <a:lnTo>
                  <a:pt x="4142036" y="2959591"/>
                </a:lnTo>
              </a:path>
            </a:pathLst>
          </a:custGeom>
          <a:noFill/>
          <a:ln w="12700">
            <a:solidFill>
              <a:srgbClr val="0B3D9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1" name="ASBUILT DUCT · CV_GRND DUCT · 1.5 m"/>
          <p:cNvSpPr/>
          <p:nvPr/>
        </p:nvSpPr>
        <p:spPr>
          <a:xfrm>
            <a:off x="7447864" y="3593711"/>
            <a:ext cx="85264" cy="117326"/>
          </a:xfrm>
          <a:custGeom>
            <a:avLst/>
            <a:gdLst/>
            <a:ahLst/>
            <a:cxnLst/>
            <a:rect l="l" t="t" r="r" b="b"/>
            <a:pathLst>
              <a:path w="85264" h="117326">
                <a:moveTo>
                  <a:pt x="85264" y="0"/>
                </a:moveTo>
                <a:lnTo>
                  <a:pt x="0" y="117326"/>
                </a:lnTo>
              </a:path>
            </a:pathLst>
          </a:custGeom>
          <a:noFill/>
          <a:ln w="9525">
            <a:solidFill>
              <a:srgbClr val="795548"/>
            </a:solidFill>
            <a:prstDash val="sysDot"/>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2" name="ASBUILT DUCT · CV_STH DUCT 6x110mm dia · 65.6 m"/>
          <p:cNvSpPr/>
          <p:nvPr/>
        </p:nvSpPr>
        <p:spPr>
          <a:xfrm>
            <a:off x="910679" y="5392817"/>
            <a:ext cx="3448108" cy="4939912"/>
          </a:xfrm>
          <a:custGeom>
            <a:avLst/>
            <a:gdLst/>
            <a:ahLst/>
            <a:cxnLst/>
            <a:rect l="l" t="t" r="r" b="b"/>
            <a:pathLst>
              <a:path w="3448108" h="4939912">
                <a:moveTo>
                  <a:pt x="0" y="0"/>
                </a:moveTo>
                <a:lnTo>
                  <a:pt x="900561" y="766557"/>
                </a:lnTo>
                <a:lnTo>
                  <a:pt x="2034124" y="1977328"/>
                </a:lnTo>
                <a:lnTo>
                  <a:pt x="2773069" y="3166577"/>
                </a:lnTo>
                <a:lnTo>
                  <a:pt x="3328541" y="4462030"/>
                </a:lnTo>
                <a:lnTo>
                  <a:pt x="3448108" y="4939912"/>
                </a:lnTo>
              </a:path>
            </a:pathLst>
          </a:custGeom>
          <a:noFill/>
          <a:ln w="22225">
            <a:solidFill>
              <a:srgbClr val="6A1B9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3" name="ASBUILT DUCT · CV_INNER DUCT 4x110mm dia · 11.5 m"/>
          <p:cNvSpPr/>
          <p:nvPr/>
        </p:nvSpPr>
        <p:spPr>
          <a:xfrm>
            <a:off x="3078664" y="777225"/>
            <a:ext cx="897314" cy="602968"/>
          </a:xfrm>
          <a:custGeom>
            <a:avLst/>
            <a:gdLst/>
            <a:ahLst/>
            <a:cxnLst/>
            <a:rect l="l" t="t" r="r" b="b"/>
            <a:pathLst>
              <a:path w="897314" h="602968">
                <a:moveTo>
                  <a:pt x="897314" y="602968"/>
                </a:moveTo>
                <a:lnTo>
                  <a:pt x="0" y="0"/>
                </a:lnTo>
              </a:path>
            </a:pathLst>
          </a:custGeom>
          <a:noFill/>
          <a:ln w="12700">
            <a:solidFill>
              <a:srgbClr val="0B3D9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4" name="ASBUILT DUCT · CV_OUTER DUCT 4x110mm dia · 9.3 m"/>
          <p:cNvSpPr/>
          <p:nvPr/>
        </p:nvSpPr>
        <p:spPr>
          <a:xfrm>
            <a:off x="3343370" y="777226"/>
            <a:ext cx="705580" cy="512003"/>
          </a:xfrm>
          <a:custGeom>
            <a:avLst/>
            <a:gdLst/>
            <a:ahLst/>
            <a:cxnLst/>
            <a:rect l="l" t="t" r="r" b="b"/>
            <a:pathLst>
              <a:path w="705580" h="512003">
                <a:moveTo>
                  <a:pt x="705580" y="512003"/>
                </a:moveTo>
                <a:lnTo>
                  <a:pt x="0" y="0"/>
                </a:lnTo>
              </a:path>
            </a:pathLst>
          </a:custGeom>
          <a:noFill/>
          <a:ln w="22225">
            <a:solidFill>
              <a:srgbClr val="0B3D9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5" name="ASBUILT DUCT · CV_INNER DUCT 4x110mm dia · 18.7 m"/>
          <p:cNvSpPr/>
          <p:nvPr/>
        </p:nvSpPr>
        <p:spPr>
          <a:xfrm>
            <a:off x="8311148" y="4488845"/>
            <a:ext cx="1564383" cy="768399"/>
          </a:xfrm>
          <a:custGeom>
            <a:avLst/>
            <a:gdLst/>
            <a:ahLst/>
            <a:cxnLst/>
            <a:rect l="l" t="t" r="r" b="b"/>
            <a:pathLst>
              <a:path w="1564383" h="768399">
                <a:moveTo>
                  <a:pt x="0" y="0"/>
                </a:moveTo>
                <a:lnTo>
                  <a:pt x="349814" y="195747"/>
                </a:lnTo>
                <a:lnTo>
                  <a:pt x="1182347" y="653753"/>
                </a:lnTo>
                <a:lnTo>
                  <a:pt x="1515723" y="762223"/>
                </a:lnTo>
                <a:lnTo>
                  <a:pt x="1564383" y="768399"/>
                </a:lnTo>
              </a:path>
            </a:pathLst>
          </a:custGeom>
          <a:noFill/>
          <a:ln w="12700">
            <a:solidFill>
              <a:srgbClr val="0B3D9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 2"/>
          <p:cNvSpPr/>
          <p:nvPr/>
        </p:nvSpPr>
        <p:spPr>
          <a:xfrm>
            <a:off x="393192" y="10058400"/>
            <a:ext cx="6858000" cy="228600"/>
          </a:xfrm>
          <a:prstGeom prst="rect">
            <a:avLst/>
          </a:prstGeom>
          <a:noFill/>
          <a:ln/>
        </p:spPr>
        <p:txBody>
          <a:bodyPr wrap="square" lIns="0" tIns="0" rIns="0" bIns="0" rtlCol="0" anchor="ctr"/>
          <a:lstStyle/>
          <a:p>
            <a:pPr marL="0" indent="0">
              <a:buNone/>
            </a:pPr>
            <a:endParaRPr lang="en-US" sz="700" dirty="0"/>
            <a:r>
              <a:rPr lang="en-US" sz="700" i="1" dirty="0">
                <a:solidFill>
                  <a:srgbClr val="9AA0A6"/>
                </a:solidFill>
                <a:latin typeface="Arial" pitchFamily="34" charset="0"/>
                <a:ea typeface="Arial" pitchFamily="34" charset="-122"/>
                <a:cs typeface="Arial" pitchFamily="34" charset="-120"/>
              </a:rPr>
              <a:t>ZIA LOCAL PROJECT GRID (m) — NOT UTM, NOT SURVEYED  ·  FRAME = 102.1 m ACROSS  ·  NOT TO SCALE WHEN EDITED</a:t>
            </a:r>
          </a:p>
        </p:txBody>
      </p:sp>
      <p:sp>
        <p:nvSpPr>
          <p:cNvPr id="5" name="Shape 3"/>
          <p:cNvSpPr/>
          <p:nvPr/>
        </p:nvSpPr>
        <p:spPr>
          <a:xfrm>
            <a:off x="951025" y="777240"/>
            <a:ext cx="166132" cy="134108"/>
          </a:xfrm>
          <a:prstGeom prst="line">
            <a:avLst/>
          </a:prstGeom>
          <a:noFill/>
          <a:ln w="12700">
            <a:solidFill>
              <a:srgbClr val="7A8288"/>
            </a:solidFill>
            <a:prstDash val="solid"/>
          </a:ln>
        </p:spPr>
        <p:txBody>
          <a:bodyPr/>
          <a:lstStyle/>
          <a:p>
            <a:endParaRPr lang="en-US"/>
          </a:p>
        </p:txBody>
      </p:sp>
      <p:sp>
        <p:nvSpPr>
          <p:cNvPr id="6" name="Shape 4"/>
          <p:cNvSpPr/>
          <p:nvPr/>
        </p:nvSpPr>
        <p:spPr>
          <a:xfrm>
            <a:off x="1117157" y="911348"/>
            <a:ext cx="522676" cy="417486"/>
          </a:xfrm>
          <a:prstGeom prst="line">
            <a:avLst/>
          </a:prstGeom>
          <a:noFill/>
          <a:ln w="12700">
            <a:solidFill>
              <a:srgbClr val="7A8288"/>
            </a:solidFill>
            <a:prstDash val="solid"/>
          </a:ln>
        </p:spPr>
        <p:txBody>
          <a:bodyPr/>
          <a:lstStyle/>
          <a:p>
            <a:endParaRPr lang="en-US"/>
          </a:p>
        </p:txBody>
      </p:sp>
      <p:sp>
        <p:nvSpPr>
          <p:cNvPr id="7" name="Shape 5"/>
          <p:cNvSpPr/>
          <p:nvPr/>
        </p:nvSpPr>
        <p:spPr>
          <a:xfrm>
            <a:off x="1639833" y="1328834"/>
            <a:ext cx="2059" cy="1685"/>
          </a:xfrm>
          <a:prstGeom prst="line">
            <a:avLst/>
          </a:prstGeom>
          <a:noFill/>
          <a:ln w="12700">
            <a:solidFill>
              <a:srgbClr val="7A8288"/>
            </a:solidFill>
            <a:prstDash val="solid"/>
          </a:ln>
        </p:spPr>
        <p:txBody>
          <a:bodyPr/>
          <a:lstStyle/>
          <a:p>
            <a:endParaRPr lang="en-US"/>
          </a:p>
        </p:txBody>
      </p:sp>
      <p:sp>
        <p:nvSpPr>
          <p:cNvPr id="8" name="Shape 6"/>
          <p:cNvSpPr/>
          <p:nvPr/>
        </p:nvSpPr>
        <p:spPr>
          <a:xfrm>
            <a:off x="1641892" y="1330519"/>
            <a:ext cx="521647" cy="418890"/>
          </a:xfrm>
          <a:prstGeom prst="line">
            <a:avLst/>
          </a:prstGeom>
          <a:noFill/>
          <a:ln w="12700">
            <a:solidFill>
              <a:srgbClr val="7A8288"/>
            </a:solidFill>
            <a:prstDash val="solid"/>
          </a:ln>
        </p:spPr>
        <p:txBody>
          <a:bodyPr/>
          <a:lstStyle/>
          <a:p>
            <a:endParaRPr lang="en-US"/>
          </a:p>
        </p:txBody>
      </p:sp>
      <p:sp>
        <p:nvSpPr>
          <p:cNvPr id="9" name="Shape 7"/>
          <p:cNvSpPr/>
          <p:nvPr/>
        </p:nvSpPr>
        <p:spPr>
          <a:xfrm>
            <a:off x="2163539" y="1749409"/>
            <a:ext cx="523612" cy="420762"/>
          </a:xfrm>
          <a:prstGeom prst="line">
            <a:avLst/>
          </a:prstGeom>
          <a:noFill/>
          <a:ln w="12700">
            <a:solidFill>
              <a:srgbClr val="7A8288"/>
            </a:solidFill>
            <a:prstDash val="solid"/>
          </a:ln>
        </p:spPr>
        <p:txBody>
          <a:bodyPr/>
          <a:lstStyle/>
          <a:p>
            <a:endParaRPr lang="en-US"/>
          </a:p>
        </p:txBody>
      </p:sp>
      <p:sp>
        <p:nvSpPr>
          <p:cNvPr id="10" name="Shape 8"/>
          <p:cNvSpPr/>
          <p:nvPr/>
        </p:nvSpPr>
        <p:spPr>
          <a:xfrm>
            <a:off x="2687151" y="2170170"/>
            <a:ext cx="522021" cy="419077"/>
          </a:xfrm>
          <a:prstGeom prst="line">
            <a:avLst/>
          </a:prstGeom>
          <a:noFill/>
          <a:ln w="12700">
            <a:solidFill>
              <a:srgbClr val="7A8288"/>
            </a:solidFill>
            <a:prstDash val="solid"/>
          </a:ln>
        </p:spPr>
        <p:txBody>
          <a:bodyPr/>
          <a:lstStyle/>
          <a:p>
            <a:endParaRPr lang="en-US"/>
          </a:p>
        </p:txBody>
      </p:sp>
      <p:sp>
        <p:nvSpPr>
          <p:cNvPr id="11" name="Shape 9"/>
          <p:cNvSpPr/>
          <p:nvPr/>
        </p:nvSpPr>
        <p:spPr>
          <a:xfrm>
            <a:off x="3209173" y="2589247"/>
            <a:ext cx="523987" cy="420668"/>
          </a:xfrm>
          <a:prstGeom prst="line">
            <a:avLst/>
          </a:prstGeom>
          <a:noFill/>
          <a:ln w="12700">
            <a:solidFill>
              <a:srgbClr val="7A8288"/>
            </a:solidFill>
            <a:prstDash val="solid"/>
          </a:ln>
        </p:spPr>
        <p:txBody>
          <a:bodyPr/>
          <a:lstStyle/>
          <a:p>
            <a:endParaRPr lang="en-US"/>
          </a:p>
        </p:txBody>
      </p:sp>
      <p:sp>
        <p:nvSpPr>
          <p:cNvPr id="12" name="Shape 10"/>
          <p:cNvSpPr/>
          <p:nvPr/>
        </p:nvSpPr>
        <p:spPr>
          <a:xfrm>
            <a:off x="3733159" y="3009915"/>
            <a:ext cx="522957" cy="419639"/>
          </a:xfrm>
          <a:prstGeom prst="line">
            <a:avLst/>
          </a:prstGeom>
          <a:noFill/>
          <a:ln w="12700">
            <a:solidFill>
              <a:srgbClr val="7A8288"/>
            </a:solidFill>
            <a:prstDash val="solid"/>
          </a:ln>
        </p:spPr>
        <p:txBody>
          <a:bodyPr/>
          <a:lstStyle/>
          <a:p>
            <a:endParaRPr lang="en-US"/>
          </a:p>
        </p:txBody>
      </p:sp>
      <p:sp>
        <p:nvSpPr>
          <p:cNvPr id="13" name="Shape 11"/>
          <p:cNvSpPr/>
          <p:nvPr/>
        </p:nvSpPr>
        <p:spPr>
          <a:xfrm>
            <a:off x="4256117" y="3429554"/>
            <a:ext cx="566381" cy="455108"/>
          </a:xfrm>
          <a:prstGeom prst="line">
            <a:avLst/>
          </a:prstGeom>
          <a:noFill/>
          <a:ln w="12700">
            <a:solidFill>
              <a:srgbClr val="7A8288"/>
            </a:solidFill>
            <a:prstDash val="solid"/>
          </a:ln>
        </p:spPr>
        <p:txBody>
          <a:bodyPr/>
          <a:lstStyle/>
          <a:p>
            <a:endParaRPr lang="en-US"/>
          </a:p>
        </p:txBody>
      </p:sp>
      <p:sp>
        <p:nvSpPr>
          <p:cNvPr id="14" name="Shape 12"/>
          <p:cNvSpPr/>
          <p:nvPr/>
        </p:nvSpPr>
        <p:spPr>
          <a:xfrm>
            <a:off x="4822497" y="3884661"/>
            <a:ext cx="522957" cy="413462"/>
          </a:xfrm>
          <a:prstGeom prst="line">
            <a:avLst/>
          </a:prstGeom>
          <a:noFill/>
          <a:ln w="12700">
            <a:solidFill>
              <a:srgbClr val="7A8288"/>
            </a:solidFill>
            <a:prstDash val="solid"/>
          </a:ln>
        </p:spPr>
        <p:txBody>
          <a:bodyPr/>
          <a:lstStyle/>
          <a:p>
            <a:endParaRPr lang="en-US"/>
          </a:p>
        </p:txBody>
      </p:sp>
      <p:sp>
        <p:nvSpPr>
          <p:cNvPr id="15" name="Shape 13"/>
          <p:cNvSpPr/>
          <p:nvPr/>
        </p:nvSpPr>
        <p:spPr>
          <a:xfrm>
            <a:off x="5345455" y="4298123"/>
            <a:ext cx="11885" cy="9546"/>
          </a:xfrm>
          <a:prstGeom prst="line">
            <a:avLst/>
          </a:prstGeom>
          <a:noFill/>
          <a:ln w="12700">
            <a:solidFill>
              <a:srgbClr val="7A8288"/>
            </a:solidFill>
            <a:prstDash val="solid"/>
          </a:ln>
        </p:spPr>
        <p:txBody>
          <a:bodyPr/>
          <a:lstStyle/>
          <a:p>
            <a:endParaRPr lang="en-US"/>
          </a:p>
        </p:txBody>
      </p:sp>
      <p:sp>
        <p:nvSpPr>
          <p:cNvPr id="16" name="Shape 14"/>
          <p:cNvSpPr/>
          <p:nvPr/>
        </p:nvSpPr>
        <p:spPr>
          <a:xfrm>
            <a:off x="5357340" y="4307669"/>
            <a:ext cx="544950" cy="443596"/>
          </a:xfrm>
          <a:prstGeom prst="line">
            <a:avLst/>
          </a:prstGeom>
          <a:noFill/>
          <a:ln w="12700">
            <a:solidFill>
              <a:srgbClr val="7A8288"/>
            </a:solidFill>
            <a:prstDash val="solid"/>
          </a:ln>
        </p:spPr>
        <p:txBody>
          <a:bodyPr/>
          <a:lstStyle/>
          <a:p>
            <a:endParaRPr lang="en-US"/>
          </a:p>
        </p:txBody>
      </p:sp>
      <p:sp>
        <p:nvSpPr>
          <p:cNvPr id="17" name="Shape 15"/>
          <p:cNvSpPr/>
          <p:nvPr/>
        </p:nvSpPr>
        <p:spPr>
          <a:xfrm>
            <a:off x="5902290" y="4751266"/>
            <a:ext cx="76927" cy="69066"/>
          </a:xfrm>
          <a:prstGeom prst="line">
            <a:avLst/>
          </a:prstGeom>
          <a:noFill/>
          <a:ln w="12700">
            <a:solidFill>
              <a:srgbClr val="7A8288"/>
            </a:solidFill>
            <a:prstDash val="solid"/>
          </a:ln>
        </p:spPr>
        <p:txBody>
          <a:bodyPr/>
          <a:lstStyle/>
          <a:p>
            <a:endParaRPr lang="en-US"/>
          </a:p>
        </p:txBody>
      </p:sp>
      <p:sp>
        <p:nvSpPr>
          <p:cNvPr id="18" name="Shape 16"/>
          <p:cNvSpPr/>
          <p:nvPr/>
        </p:nvSpPr>
        <p:spPr>
          <a:xfrm>
            <a:off x="5979217" y="4820332"/>
            <a:ext cx="69909" cy="76085"/>
          </a:xfrm>
          <a:prstGeom prst="line">
            <a:avLst/>
          </a:prstGeom>
          <a:noFill/>
          <a:ln w="12700">
            <a:solidFill>
              <a:srgbClr val="7A8288"/>
            </a:solidFill>
            <a:prstDash val="solid"/>
          </a:ln>
        </p:spPr>
        <p:txBody>
          <a:bodyPr/>
          <a:lstStyle/>
          <a:p>
            <a:endParaRPr lang="en-US"/>
          </a:p>
        </p:txBody>
      </p:sp>
      <p:sp>
        <p:nvSpPr>
          <p:cNvPr id="19" name="Shape 17"/>
          <p:cNvSpPr/>
          <p:nvPr/>
        </p:nvSpPr>
        <p:spPr>
          <a:xfrm>
            <a:off x="6049126" y="4896417"/>
            <a:ext cx="62328" cy="82355"/>
          </a:xfrm>
          <a:prstGeom prst="line">
            <a:avLst/>
          </a:prstGeom>
          <a:noFill/>
          <a:ln w="12700">
            <a:solidFill>
              <a:srgbClr val="7A8288"/>
            </a:solidFill>
            <a:prstDash val="solid"/>
          </a:ln>
        </p:spPr>
        <p:txBody>
          <a:bodyPr/>
          <a:lstStyle/>
          <a:p>
            <a:endParaRPr lang="en-US"/>
          </a:p>
        </p:txBody>
      </p:sp>
      <p:sp>
        <p:nvSpPr>
          <p:cNvPr id="20" name="Shape 18"/>
          <p:cNvSpPr/>
          <p:nvPr/>
        </p:nvSpPr>
        <p:spPr>
          <a:xfrm>
            <a:off x="6111454" y="4978773"/>
            <a:ext cx="21244" cy="34533"/>
          </a:xfrm>
          <a:prstGeom prst="line">
            <a:avLst/>
          </a:prstGeom>
          <a:noFill/>
          <a:ln w="12700">
            <a:solidFill>
              <a:srgbClr val="7A8288"/>
            </a:solidFill>
            <a:prstDash val="solid"/>
          </a:ln>
        </p:spPr>
        <p:txBody>
          <a:bodyPr/>
          <a:lstStyle/>
          <a:p>
            <a:endParaRPr lang="en-US"/>
          </a:p>
        </p:txBody>
      </p:sp>
      <p:sp>
        <p:nvSpPr>
          <p:cNvPr id="21" name="Shape 19"/>
          <p:cNvSpPr/>
          <p:nvPr/>
        </p:nvSpPr>
        <p:spPr>
          <a:xfrm>
            <a:off x="6132698" y="5013306"/>
            <a:ext cx="43237" cy="15161"/>
          </a:xfrm>
          <a:prstGeom prst="line">
            <a:avLst/>
          </a:prstGeom>
          <a:noFill/>
          <a:ln w="12700">
            <a:solidFill>
              <a:srgbClr val="7A8288"/>
            </a:solidFill>
            <a:prstDash val="solid"/>
          </a:ln>
        </p:spPr>
        <p:txBody>
          <a:bodyPr/>
          <a:lstStyle/>
          <a:p>
            <a:endParaRPr lang="en-US"/>
          </a:p>
        </p:txBody>
      </p:sp>
      <p:sp>
        <p:nvSpPr>
          <p:cNvPr id="22" name="Shape 20"/>
          <p:cNvSpPr/>
          <p:nvPr/>
        </p:nvSpPr>
        <p:spPr>
          <a:xfrm>
            <a:off x="6175935" y="5028467"/>
            <a:ext cx="96580" cy="44921"/>
          </a:xfrm>
          <a:prstGeom prst="line">
            <a:avLst/>
          </a:prstGeom>
          <a:noFill/>
          <a:ln w="12700">
            <a:solidFill>
              <a:srgbClr val="7A8288"/>
            </a:solidFill>
            <a:prstDash val="solid"/>
          </a:ln>
        </p:spPr>
        <p:txBody>
          <a:bodyPr/>
          <a:lstStyle/>
          <a:p>
            <a:endParaRPr lang="en-US"/>
          </a:p>
        </p:txBody>
      </p:sp>
      <p:sp>
        <p:nvSpPr>
          <p:cNvPr id="23" name="Shape 21"/>
          <p:cNvSpPr/>
          <p:nvPr/>
        </p:nvSpPr>
        <p:spPr>
          <a:xfrm>
            <a:off x="6272515" y="5073388"/>
            <a:ext cx="91620" cy="54280"/>
          </a:xfrm>
          <a:prstGeom prst="line">
            <a:avLst/>
          </a:prstGeom>
          <a:noFill/>
          <a:ln w="12700">
            <a:solidFill>
              <a:srgbClr val="7A8288"/>
            </a:solidFill>
            <a:prstDash val="solid"/>
          </a:ln>
        </p:spPr>
        <p:txBody>
          <a:bodyPr/>
          <a:lstStyle/>
          <a:p>
            <a:endParaRPr lang="en-US"/>
          </a:p>
        </p:txBody>
      </p:sp>
      <p:sp>
        <p:nvSpPr>
          <p:cNvPr id="24" name="Shape 22"/>
          <p:cNvSpPr/>
          <p:nvPr/>
        </p:nvSpPr>
        <p:spPr>
          <a:xfrm>
            <a:off x="6364136" y="5127667"/>
            <a:ext cx="85818" cy="63077"/>
          </a:xfrm>
          <a:prstGeom prst="line">
            <a:avLst/>
          </a:prstGeom>
          <a:noFill/>
          <a:ln w="12700">
            <a:solidFill>
              <a:srgbClr val="7A8288"/>
            </a:solidFill>
            <a:prstDash val="solid"/>
          </a:ln>
        </p:spPr>
        <p:txBody>
          <a:bodyPr/>
          <a:lstStyle/>
          <a:p>
            <a:endParaRPr lang="en-US"/>
          </a:p>
        </p:txBody>
      </p:sp>
      <p:sp>
        <p:nvSpPr>
          <p:cNvPr id="25" name="Shape 23"/>
          <p:cNvSpPr/>
          <p:nvPr/>
        </p:nvSpPr>
        <p:spPr>
          <a:xfrm>
            <a:off x="6449954" y="5190744"/>
            <a:ext cx="544856" cy="443596"/>
          </a:xfrm>
          <a:prstGeom prst="line">
            <a:avLst/>
          </a:prstGeom>
          <a:noFill/>
          <a:ln w="12700">
            <a:solidFill>
              <a:srgbClr val="7A8288"/>
            </a:solidFill>
            <a:prstDash val="solid"/>
          </a:ln>
        </p:spPr>
        <p:txBody>
          <a:bodyPr/>
          <a:lstStyle/>
          <a:p>
            <a:endParaRPr lang="en-US"/>
          </a:p>
        </p:txBody>
      </p:sp>
      <p:sp>
        <p:nvSpPr>
          <p:cNvPr id="26" name="Shape 24"/>
          <p:cNvSpPr/>
          <p:nvPr/>
        </p:nvSpPr>
        <p:spPr>
          <a:xfrm>
            <a:off x="6994810" y="5634341"/>
            <a:ext cx="79174" cy="71219"/>
          </a:xfrm>
          <a:prstGeom prst="line">
            <a:avLst/>
          </a:prstGeom>
          <a:noFill/>
          <a:ln w="12700">
            <a:solidFill>
              <a:srgbClr val="7A8288"/>
            </a:solidFill>
            <a:prstDash val="solid"/>
          </a:ln>
        </p:spPr>
        <p:txBody>
          <a:bodyPr/>
          <a:lstStyle/>
          <a:p>
            <a:endParaRPr lang="en-US"/>
          </a:p>
        </p:txBody>
      </p:sp>
      <p:sp>
        <p:nvSpPr>
          <p:cNvPr id="27" name="Shape 25"/>
          <p:cNvSpPr/>
          <p:nvPr/>
        </p:nvSpPr>
        <p:spPr>
          <a:xfrm>
            <a:off x="7073984" y="5705559"/>
            <a:ext cx="71780" cy="78799"/>
          </a:xfrm>
          <a:prstGeom prst="line">
            <a:avLst/>
          </a:prstGeom>
          <a:noFill/>
          <a:ln w="12700">
            <a:solidFill>
              <a:srgbClr val="7A8288"/>
            </a:solidFill>
            <a:prstDash val="solid"/>
          </a:ln>
        </p:spPr>
        <p:txBody>
          <a:bodyPr/>
          <a:lstStyle/>
          <a:p>
            <a:endParaRPr lang="en-US"/>
          </a:p>
        </p:txBody>
      </p:sp>
      <p:sp>
        <p:nvSpPr>
          <p:cNvPr id="28" name="Shape 26"/>
          <p:cNvSpPr/>
          <p:nvPr/>
        </p:nvSpPr>
        <p:spPr>
          <a:xfrm>
            <a:off x="7145764" y="5784359"/>
            <a:ext cx="63545" cy="85444"/>
          </a:xfrm>
          <a:prstGeom prst="line">
            <a:avLst/>
          </a:prstGeom>
          <a:noFill/>
          <a:ln w="12700">
            <a:solidFill>
              <a:srgbClr val="7A8288"/>
            </a:solidFill>
            <a:prstDash val="solid"/>
          </a:ln>
        </p:spPr>
        <p:txBody>
          <a:bodyPr/>
          <a:lstStyle/>
          <a:p>
            <a:endParaRPr lang="en-US"/>
          </a:p>
        </p:txBody>
      </p:sp>
      <p:sp>
        <p:nvSpPr>
          <p:cNvPr id="29" name="Shape 27"/>
          <p:cNvSpPr/>
          <p:nvPr/>
        </p:nvSpPr>
        <p:spPr>
          <a:xfrm>
            <a:off x="7209309" y="5869802"/>
            <a:ext cx="14225" cy="23677"/>
          </a:xfrm>
          <a:prstGeom prst="line">
            <a:avLst/>
          </a:prstGeom>
          <a:noFill/>
          <a:ln w="12700">
            <a:solidFill>
              <a:srgbClr val="7A8288"/>
            </a:solidFill>
            <a:prstDash val="solid"/>
          </a:ln>
        </p:spPr>
        <p:txBody>
          <a:bodyPr/>
          <a:lstStyle/>
          <a:p>
            <a:endParaRPr lang="en-US"/>
          </a:p>
        </p:txBody>
      </p:sp>
      <p:sp>
        <p:nvSpPr>
          <p:cNvPr id="30" name="Shape 28"/>
          <p:cNvSpPr/>
          <p:nvPr/>
        </p:nvSpPr>
        <p:spPr>
          <a:xfrm>
            <a:off x="9167403" y="7240459"/>
            <a:ext cx="91340" cy="7487"/>
          </a:xfrm>
          <a:prstGeom prst="line">
            <a:avLst/>
          </a:prstGeom>
          <a:noFill/>
          <a:ln w="12700">
            <a:solidFill>
              <a:srgbClr val="7A8288"/>
            </a:solidFill>
            <a:prstDash val="solid"/>
          </a:ln>
        </p:spPr>
        <p:txBody>
          <a:bodyPr/>
          <a:lstStyle/>
          <a:p>
            <a:endParaRPr lang="en-US"/>
          </a:p>
        </p:txBody>
      </p:sp>
      <p:sp>
        <p:nvSpPr>
          <p:cNvPr id="31" name="Shape 29"/>
          <p:cNvSpPr/>
          <p:nvPr/>
        </p:nvSpPr>
        <p:spPr>
          <a:xfrm>
            <a:off x="9258743" y="7247946"/>
            <a:ext cx="105003" cy="19279"/>
          </a:xfrm>
          <a:prstGeom prst="line">
            <a:avLst/>
          </a:prstGeom>
          <a:noFill/>
          <a:ln w="12700">
            <a:solidFill>
              <a:srgbClr val="7A8288"/>
            </a:solidFill>
            <a:prstDash val="solid"/>
          </a:ln>
        </p:spPr>
        <p:txBody>
          <a:bodyPr/>
          <a:lstStyle/>
          <a:p>
            <a:endParaRPr lang="en-US"/>
          </a:p>
        </p:txBody>
      </p:sp>
      <p:sp>
        <p:nvSpPr>
          <p:cNvPr id="32" name="Shape 30"/>
          <p:cNvSpPr/>
          <p:nvPr/>
        </p:nvSpPr>
        <p:spPr>
          <a:xfrm>
            <a:off x="9363746" y="7267225"/>
            <a:ext cx="338968" cy="79596"/>
          </a:xfrm>
          <a:prstGeom prst="line">
            <a:avLst/>
          </a:prstGeom>
          <a:noFill/>
          <a:ln w="12700">
            <a:solidFill>
              <a:srgbClr val="7A8288"/>
            </a:solidFill>
            <a:prstDash val="solid"/>
          </a:ln>
        </p:spPr>
        <p:txBody>
          <a:bodyPr/>
          <a:lstStyle/>
          <a:p>
            <a:endParaRPr lang="en-US"/>
          </a:p>
        </p:txBody>
      </p:sp>
      <p:sp>
        <p:nvSpPr>
          <p:cNvPr id="33" name="Shape 31"/>
          <p:cNvSpPr/>
          <p:nvPr/>
        </p:nvSpPr>
        <p:spPr>
          <a:xfrm>
            <a:off x="9206522" y="10155469"/>
            <a:ext cx="199079" cy="177251"/>
          </a:xfrm>
          <a:prstGeom prst="line">
            <a:avLst/>
          </a:prstGeom>
          <a:noFill/>
          <a:ln w="12700">
            <a:solidFill>
              <a:srgbClr val="7A8288"/>
            </a:solidFill>
            <a:prstDash val="solid"/>
          </a:ln>
        </p:spPr>
        <p:txBody>
          <a:bodyPr/>
          <a:lstStyle/>
          <a:p>
            <a:endParaRPr lang="en-US"/>
          </a:p>
        </p:txBody>
      </p:sp>
      <p:sp>
        <p:nvSpPr>
          <p:cNvPr id="34" name="Shape 32"/>
          <p:cNvSpPr/>
          <p:nvPr/>
        </p:nvSpPr>
        <p:spPr>
          <a:xfrm>
            <a:off x="492846" y="3168387"/>
            <a:ext cx="322871" cy="259295"/>
          </a:xfrm>
          <a:prstGeom prst="line">
            <a:avLst/>
          </a:prstGeom>
          <a:noFill/>
          <a:ln w="12700">
            <a:solidFill>
              <a:srgbClr val="7A8288"/>
            </a:solidFill>
            <a:prstDash val="solid"/>
          </a:ln>
        </p:spPr>
        <p:txBody>
          <a:bodyPr/>
          <a:lstStyle/>
          <a:p>
            <a:endParaRPr lang="en-US"/>
          </a:p>
        </p:txBody>
      </p:sp>
      <p:sp>
        <p:nvSpPr>
          <p:cNvPr id="35" name="Shape 33"/>
          <p:cNvSpPr/>
          <p:nvPr/>
        </p:nvSpPr>
        <p:spPr>
          <a:xfrm>
            <a:off x="815717" y="3427682"/>
            <a:ext cx="523706" cy="420762"/>
          </a:xfrm>
          <a:prstGeom prst="line">
            <a:avLst/>
          </a:prstGeom>
          <a:noFill/>
          <a:ln w="12700">
            <a:solidFill>
              <a:srgbClr val="7A8288"/>
            </a:solidFill>
            <a:prstDash val="solid"/>
          </a:ln>
        </p:spPr>
        <p:txBody>
          <a:bodyPr/>
          <a:lstStyle/>
          <a:p>
            <a:endParaRPr lang="en-US"/>
          </a:p>
        </p:txBody>
      </p:sp>
      <p:sp>
        <p:nvSpPr>
          <p:cNvPr id="36" name="Shape 34"/>
          <p:cNvSpPr/>
          <p:nvPr/>
        </p:nvSpPr>
        <p:spPr>
          <a:xfrm>
            <a:off x="1339423" y="3848444"/>
            <a:ext cx="522302" cy="419358"/>
          </a:xfrm>
          <a:prstGeom prst="line">
            <a:avLst/>
          </a:prstGeom>
          <a:noFill/>
          <a:ln w="12700">
            <a:solidFill>
              <a:srgbClr val="7A8288"/>
            </a:solidFill>
            <a:prstDash val="solid"/>
          </a:ln>
        </p:spPr>
        <p:txBody>
          <a:bodyPr/>
          <a:lstStyle/>
          <a:p>
            <a:endParaRPr lang="en-US"/>
          </a:p>
        </p:txBody>
      </p:sp>
      <p:sp>
        <p:nvSpPr>
          <p:cNvPr id="37" name="Shape 35"/>
          <p:cNvSpPr/>
          <p:nvPr/>
        </p:nvSpPr>
        <p:spPr>
          <a:xfrm>
            <a:off x="1861725" y="4267802"/>
            <a:ext cx="524174" cy="420762"/>
          </a:xfrm>
          <a:prstGeom prst="line">
            <a:avLst/>
          </a:prstGeom>
          <a:noFill/>
          <a:ln w="12700">
            <a:solidFill>
              <a:srgbClr val="7A8288"/>
            </a:solidFill>
            <a:prstDash val="solid"/>
          </a:ln>
        </p:spPr>
        <p:txBody>
          <a:bodyPr/>
          <a:lstStyle/>
          <a:p>
            <a:endParaRPr lang="en-US"/>
          </a:p>
        </p:txBody>
      </p:sp>
      <p:sp>
        <p:nvSpPr>
          <p:cNvPr id="38" name="Shape 36"/>
          <p:cNvSpPr/>
          <p:nvPr/>
        </p:nvSpPr>
        <p:spPr>
          <a:xfrm>
            <a:off x="2385899" y="4688563"/>
            <a:ext cx="522676" cy="419545"/>
          </a:xfrm>
          <a:prstGeom prst="line">
            <a:avLst/>
          </a:prstGeom>
          <a:noFill/>
          <a:ln w="12700">
            <a:solidFill>
              <a:srgbClr val="7A8288"/>
            </a:solidFill>
            <a:prstDash val="solid"/>
          </a:ln>
        </p:spPr>
        <p:txBody>
          <a:bodyPr/>
          <a:lstStyle/>
          <a:p>
            <a:endParaRPr lang="en-US"/>
          </a:p>
        </p:txBody>
      </p:sp>
      <p:sp>
        <p:nvSpPr>
          <p:cNvPr id="39" name="Shape 37"/>
          <p:cNvSpPr/>
          <p:nvPr/>
        </p:nvSpPr>
        <p:spPr>
          <a:xfrm>
            <a:off x="2908575" y="5108108"/>
            <a:ext cx="569001" cy="457166"/>
          </a:xfrm>
          <a:prstGeom prst="line">
            <a:avLst/>
          </a:prstGeom>
          <a:noFill/>
          <a:ln w="12700">
            <a:solidFill>
              <a:srgbClr val="7A8288"/>
            </a:solidFill>
            <a:prstDash val="solid"/>
          </a:ln>
        </p:spPr>
        <p:txBody>
          <a:bodyPr/>
          <a:lstStyle/>
          <a:p>
            <a:endParaRPr lang="en-US"/>
          </a:p>
        </p:txBody>
      </p:sp>
      <p:sp>
        <p:nvSpPr>
          <p:cNvPr id="40" name="Shape 38"/>
          <p:cNvSpPr/>
          <p:nvPr/>
        </p:nvSpPr>
        <p:spPr>
          <a:xfrm>
            <a:off x="3477577" y="5565274"/>
            <a:ext cx="6551" cy="5241"/>
          </a:xfrm>
          <a:prstGeom prst="line">
            <a:avLst/>
          </a:prstGeom>
          <a:noFill/>
          <a:ln w="12700">
            <a:solidFill>
              <a:srgbClr val="7A8288"/>
            </a:solidFill>
            <a:prstDash val="solid"/>
          </a:ln>
        </p:spPr>
        <p:txBody>
          <a:bodyPr/>
          <a:lstStyle/>
          <a:p>
            <a:endParaRPr lang="en-US"/>
          </a:p>
        </p:txBody>
      </p:sp>
      <p:sp>
        <p:nvSpPr>
          <p:cNvPr id="41" name="Shape 39"/>
          <p:cNvSpPr/>
          <p:nvPr/>
        </p:nvSpPr>
        <p:spPr>
          <a:xfrm>
            <a:off x="3484128" y="5570515"/>
            <a:ext cx="520243" cy="411309"/>
          </a:xfrm>
          <a:prstGeom prst="line">
            <a:avLst/>
          </a:prstGeom>
          <a:noFill/>
          <a:ln w="12700">
            <a:solidFill>
              <a:srgbClr val="7A8288"/>
            </a:solidFill>
            <a:prstDash val="solid"/>
          </a:ln>
        </p:spPr>
        <p:txBody>
          <a:bodyPr/>
          <a:lstStyle/>
          <a:p>
            <a:endParaRPr lang="en-US"/>
          </a:p>
        </p:txBody>
      </p:sp>
      <p:sp>
        <p:nvSpPr>
          <p:cNvPr id="42" name="Shape 40"/>
          <p:cNvSpPr/>
          <p:nvPr/>
        </p:nvSpPr>
        <p:spPr>
          <a:xfrm>
            <a:off x="4004371" y="5981825"/>
            <a:ext cx="8891" cy="7206"/>
          </a:xfrm>
          <a:prstGeom prst="line">
            <a:avLst/>
          </a:prstGeom>
          <a:noFill/>
          <a:ln w="12700">
            <a:solidFill>
              <a:srgbClr val="7A8288"/>
            </a:solidFill>
            <a:prstDash val="solid"/>
          </a:ln>
        </p:spPr>
        <p:txBody>
          <a:bodyPr/>
          <a:lstStyle/>
          <a:p>
            <a:endParaRPr lang="en-US"/>
          </a:p>
        </p:txBody>
      </p:sp>
      <p:sp>
        <p:nvSpPr>
          <p:cNvPr id="43" name="Shape 41"/>
          <p:cNvSpPr/>
          <p:nvPr/>
        </p:nvSpPr>
        <p:spPr>
          <a:xfrm>
            <a:off x="4013261" y="5989031"/>
            <a:ext cx="6457" cy="32287"/>
          </a:xfrm>
          <a:prstGeom prst="line">
            <a:avLst/>
          </a:prstGeom>
          <a:noFill/>
          <a:ln w="12700">
            <a:solidFill>
              <a:srgbClr val="7A8288"/>
            </a:solidFill>
            <a:prstDash val="solid"/>
          </a:ln>
        </p:spPr>
        <p:txBody>
          <a:bodyPr/>
          <a:lstStyle/>
          <a:p>
            <a:endParaRPr lang="en-US"/>
          </a:p>
        </p:txBody>
      </p:sp>
      <p:sp>
        <p:nvSpPr>
          <p:cNvPr id="44" name="Shape 42"/>
          <p:cNvSpPr/>
          <p:nvPr/>
        </p:nvSpPr>
        <p:spPr>
          <a:xfrm>
            <a:off x="4019719" y="6021318"/>
            <a:ext cx="31070" cy="102102"/>
          </a:xfrm>
          <a:prstGeom prst="line">
            <a:avLst/>
          </a:prstGeom>
          <a:noFill/>
          <a:ln w="12700">
            <a:solidFill>
              <a:srgbClr val="7A8288"/>
            </a:solidFill>
            <a:prstDash val="solid"/>
          </a:ln>
        </p:spPr>
        <p:txBody>
          <a:bodyPr/>
          <a:lstStyle/>
          <a:p>
            <a:endParaRPr lang="en-US"/>
          </a:p>
        </p:txBody>
      </p:sp>
      <p:sp>
        <p:nvSpPr>
          <p:cNvPr id="45" name="Shape 43"/>
          <p:cNvSpPr/>
          <p:nvPr/>
        </p:nvSpPr>
        <p:spPr>
          <a:xfrm>
            <a:off x="4050789" y="6123420"/>
            <a:ext cx="41084" cy="98452"/>
          </a:xfrm>
          <a:prstGeom prst="line">
            <a:avLst/>
          </a:prstGeom>
          <a:noFill/>
          <a:ln w="12700">
            <a:solidFill>
              <a:srgbClr val="7A8288"/>
            </a:solidFill>
            <a:prstDash val="solid"/>
          </a:ln>
        </p:spPr>
        <p:txBody>
          <a:bodyPr/>
          <a:lstStyle/>
          <a:p>
            <a:endParaRPr lang="en-US"/>
          </a:p>
        </p:txBody>
      </p:sp>
      <p:sp>
        <p:nvSpPr>
          <p:cNvPr id="46" name="Shape 44"/>
          <p:cNvSpPr/>
          <p:nvPr/>
        </p:nvSpPr>
        <p:spPr>
          <a:xfrm>
            <a:off x="4091874" y="6221872"/>
            <a:ext cx="50723" cy="93960"/>
          </a:xfrm>
          <a:prstGeom prst="line">
            <a:avLst/>
          </a:prstGeom>
          <a:noFill/>
          <a:ln w="12700">
            <a:solidFill>
              <a:srgbClr val="7A8288"/>
            </a:solidFill>
            <a:prstDash val="solid"/>
          </a:ln>
        </p:spPr>
        <p:txBody>
          <a:bodyPr/>
          <a:lstStyle/>
          <a:p>
            <a:endParaRPr lang="en-US"/>
          </a:p>
        </p:txBody>
      </p:sp>
      <p:sp>
        <p:nvSpPr>
          <p:cNvPr id="47" name="Shape 45"/>
          <p:cNvSpPr/>
          <p:nvPr/>
        </p:nvSpPr>
        <p:spPr>
          <a:xfrm>
            <a:off x="4142597" y="6315832"/>
            <a:ext cx="59708" cy="88439"/>
          </a:xfrm>
          <a:prstGeom prst="line">
            <a:avLst/>
          </a:prstGeom>
          <a:noFill/>
          <a:ln w="12700">
            <a:solidFill>
              <a:srgbClr val="7A8288"/>
            </a:solidFill>
            <a:prstDash val="solid"/>
          </a:ln>
        </p:spPr>
        <p:txBody>
          <a:bodyPr/>
          <a:lstStyle/>
          <a:p>
            <a:endParaRPr lang="en-US"/>
          </a:p>
        </p:txBody>
      </p:sp>
      <p:sp>
        <p:nvSpPr>
          <p:cNvPr id="48" name="Shape 46"/>
          <p:cNvSpPr/>
          <p:nvPr/>
        </p:nvSpPr>
        <p:spPr>
          <a:xfrm>
            <a:off x="4202305" y="6404271"/>
            <a:ext cx="421229" cy="561889"/>
          </a:xfrm>
          <a:prstGeom prst="line">
            <a:avLst/>
          </a:prstGeom>
          <a:noFill/>
          <a:ln w="12700">
            <a:solidFill>
              <a:srgbClr val="7A8288"/>
            </a:solidFill>
            <a:prstDash val="solid"/>
          </a:ln>
        </p:spPr>
        <p:txBody>
          <a:bodyPr/>
          <a:lstStyle/>
          <a:p>
            <a:endParaRPr lang="en-US"/>
          </a:p>
        </p:txBody>
      </p:sp>
      <p:sp>
        <p:nvSpPr>
          <p:cNvPr id="49" name="Shape 47"/>
          <p:cNvSpPr/>
          <p:nvPr/>
        </p:nvSpPr>
        <p:spPr>
          <a:xfrm>
            <a:off x="4623534" y="6966160"/>
            <a:ext cx="65884" cy="79641"/>
          </a:xfrm>
          <a:prstGeom prst="line">
            <a:avLst/>
          </a:prstGeom>
          <a:noFill/>
          <a:ln w="12700">
            <a:solidFill>
              <a:srgbClr val="7A8288"/>
            </a:solidFill>
            <a:prstDash val="solid"/>
          </a:ln>
        </p:spPr>
        <p:txBody>
          <a:bodyPr/>
          <a:lstStyle/>
          <a:p>
            <a:endParaRPr lang="en-US"/>
          </a:p>
        </p:txBody>
      </p:sp>
      <p:sp>
        <p:nvSpPr>
          <p:cNvPr id="50" name="Shape 48"/>
          <p:cNvSpPr/>
          <p:nvPr/>
        </p:nvSpPr>
        <p:spPr>
          <a:xfrm>
            <a:off x="4689419" y="7045801"/>
            <a:ext cx="73184" cy="72903"/>
          </a:xfrm>
          <a:prstGeom prst="line">
            <a:avLst/>
          </a:prstGeom>
          <a:noFill/>
          <a:ln w="12700">
            <a:solidFill>
              <a:srgbClr val="7A8288"/>
            </a:solidFill>
            <a:prstDash val="solid"/>
          </a:ln>
        </p:spPr>
        <p:txBody>
          <a:bodyPr/>
          <a:lstStyle/>
          <a:p>
            <a:endParaRPr lang="en-US"/>
          </a:p>
        </p:txBody>
      </p:sp>
      <p:sp>
        <p:nvSpPr>
          <p:cNvPr id="51" name="Shape 49"/>
          <p:cNvSpPr/>
          <p:nvPr/>
        </p:nvSpPr>
        <p:spPr>
          <a:xfrm>
            <a:off x="4762603" y="7118704"/>
            <a:ext cx="58398" cy="47916"/>
          </a:xfrm>
          <a:prstGeom prst="line">
            <a:avLst/>
          </a:prstGeom>
          <a:noFill/>
          <a:ln w="12700">
            <a:solidFill>
              <a:srgbClr val="7A8288"/>
            </a:solidFill>
            <a:prstDash val="solid"/>
          </a:ln>
        </p:spPr>
        <p:txBody>
          <a:bodyPr/>
          <a:lstStyle/>
          <a:p>
            <a:endParaRPr lang="en-US"/>
          </a:p>
        </p:txBody>
      </p:sp>
      <p:sp>
        <p:nvSpPr>
          <p:cNvPr id="52" name="Shape 50"/>
          <p:cNvSpPr/>
          <p:nvPr/>
        </p:nvSpPr>
        <p:spPr>
          <a:xfrm>
            <a:off x="4821000" y="7166620"/>
            <a:ext cx="16845" cy="64949"/>
          </a:xfrm>
          <a:prstGeom prst="line">
            <a:avLst/>
          </a:prstGeom>
          <a:noFill/>
          <a:ln w="12700">
            <a:solidFill>
              <a:srgbClr val="7A8288"/>
            </a:solidFill>
            <a:prstDash val="solid"/>
          </a:ln>
        </p:spPr>
        <p:txBody>
          <a:bodyPr/>
          <a:lstStyle/>
          <a:p>
            <a:endParaRPr lang="en-US"/>
          </a:p>
        </p:txBody>
      </p:sp>
      <p:sp>
        <p:nvSpPr>
          <p:cNvPr id="53" name="Shape 51"/>
          <p:cNvSpPr/>
          <p:nvPr/>
        </p:nvSpPr>
        <p:spPr>
          <a:xfrm>
            <a:off x="4837846" y="7231569"/>
            <a:ext cx="37247" cy="100885"/>
          </a:xfrm>
          <a:prstGeom prst="line">
            <a:avLst/>
          </a:prstGeom>
          <a:noFill/>
          <a:ln w="12700">
            <a:solidFill>
              <a:srgbClr val="7A8288"/>
            </a:solidFill>
            <a:prstDash val="solid"/>
          </a:ln>
        </p:spPr>
        <p:txBody>
          <a:bodyPr/>
          <a:lstStyle/>
          <a:p>
            <a:endParaRPr lang="en-US"/>
          </a:p>
        </p:txBody>
      </p:sp>
      <p:sp>
        <p:nvSpPr>
          <p:cNvPr id="54" name="Shape 52"/>
          <p:cNvSpPr/>
          <p:nvPr/>
        </p:nvSpPr>
        <p:spPr>
          <a:xfrm>
            <a:off x="4875093" y="7332454"/>
            <a:ext cx="47074" cy="96674"/>
          </a:xfrm>
          <a:prstGeom prst="line">
            <a:avLst/>
          </a:prstGeom>
          <a:noFill/>
          <a:ln w="12700">
            <a:solidFill>
              <a:srgbClr val="7A8288"/>
            </a:solidFill>
            <a:prstDash val="solid"/>
          </a:ln>
        </p:spPr>
        <p:txBody>
          <a:bodyPr/>
          <a:lstStyle/>
          <a:p>
            <a:endParaRPr lang="en-US"/>
          </a:p>
        </p:txBody>
      </p:sp>
      <p:sp>
        <p:nvSpPr>
          <p:cNvPr id="55" name="Shape 53"/>
          <p:cNvSpPr/>
          <p:nvPr/>
        </p:nvSpPr>
        <p:spPr>
          <a:xfrm>
            <a:off x="4922166" y="7429128"/>
            <a:ext cx="318940" cy="579109"/>
          </a:xfrm>
          <a:prstGeom prst="line">
            <a:avLst/>
          </a:prstGeom>
          <a:noFill/>
          <a:ln w="12700">
            <a:solidFill>
              <a:srgbClr val="7A8288"/>
            </a:solidFill>
            <a:prstDash val="solid"/>
          </a:ln>
        </p:spPr>
        <p:txBody>
          <a:bodyPr/>
          <a:lstStyle/>
          <a:p>
            <a:endParaRPr lang="en-US"/>
          </a:p>
        </p:txBody>
      </p:sp>
      <p:sp>
        <p:nvSpPr>
          <p:cNvPr id="56" name="Shape 54"/>
          <p:cNvSpPr/>
          <p:nvPr/>
        </p:nvSpPr>
        <p:spPr>
          <a:xfrm>
            <a:off x="5241107" y="8008237"/>
            <a:ext cx="253711" cy="557865"/>
          </a:xfrm>
          <a:prstGeom prst="line">
            <a:avLst/>
          </a:prstGeom>
          <a:noFill/>
          <a:ln w="12700">
            <a:solidFill>
              <a:srgbClr val="7A8288"/>
            </a:solidFill>
            <a:prstDash val="solid"/>
          </a:ln>
        </p:spPr>
        <p:txBody>
          <a:bodyPr/>
          <a:lstStyle/>
          <a:p>
            <a:endParaRPr lang="en-US"/>
          </a:p>
        </p:txBody>
      </p:sp>
      <p:sp>
        <p:nvSpPr>
          <p:cNvPr id="57" name="Shape 55"/>
          <p:cNvSpPr/>
          <p:nvPr/>
        </p:nvSpPr>
        <p:spPr>
          <a:xfrm>
            <a:off x="5494818" y="8566102"/>
            <a:ext cx="200929" cy="565164"/>
          </a:xfrm>
          <a:prstGeom prst="line">
            <a:avLst/>
          </a:prstGeom>
          <a:noFill/>
          <a:ln w="12700">
            <a:solidFill>
              <a:srgbClr val="7A8288"/>
            </a:solidFill>
            <a:prstDash val="solid"/>
          </a:ln>
        </p:spPr>
        <p:txBody>
          <a:bodyPr/>
          <a:lstStyle/>
          <a:p>
            <a:endParaRPr lang="en-US"/>
          </a:p>
        </p:txBody>
      </p:sp>
      <p:sp>
        <p:nvSpPr>
          <p:cNvPr id="58" name="Shape 56"/>
          <p:cNvSpPr/>
          <p:nvPr/>
        </p:nvSpPr>
        <p:spPr>
          <a:xfrm>
            <a:off x="5695746" y="9131266"/>
            <a:ext cx="186423" cy="609992"/>
          </a:xfrm>
          <a:prstGeom prst="line">
            <a:avLst/>
          </a:prstGeom>
          <a:noFill/>
          <a:ln w="12700">
            <a:solidFill>
              <a:srgbClr val="7A8288"/>
            </a:solidFill>
            <a:prstDash val="solid"/>
          </a:ln>
        </p:spPr>
        <p:txBody>
          <a:bodyPr/>
          <a:lstStyle/>
          <a:p>
            <a:endParaRPr lang="en-US"/>
          </a:p>
        </p:txBody>
      </p:sp>
      <p:sp>
        <p:nvSpPr>
          <p:cNvPr id="59" name="Shape 57"/>
          <p:cNvSpPr/>
          <p:nvPr/>
        </p:nvSpPr>
        <p:spPr>
          <a:xfrm>
            <a:off x="5882169" y="9741258"/>
            <a:ext cx="122674" cy="591462"/>
          </a:xfrm>
          <a:prstGeom prst="line">
            <a:avLst/>
          </a:prstGeom>
          <a:noFill/>
          <a:ln w="12700">
            <a:solidFill>
              <a:srgbClr val="7A8288"/>
            </a:solidFill>
            <a:prstDash val="solid"/>
          </a:ln>
        </p:spPr>
        <p:txBody>
          <a:bodyPr/>
          <a:lstStyle/>
          <a:p>
            <a:endParaRPr lang="en-US"/>
          </a:p>
        </p:txBody>
      </p:sp>
      <p:sp>
        <p:nvSpPr>
          <p:cNvPr id="60" name="Shape 58"/>
          <p:cNvSpPr/>
          <p:nvPr/>
        </p:nvSpPr>
        <p:spPr>
          <a:xfrm flipV="1">
            <a:off x="9050973" y="10155469"/>
            <a:ext cx="155549" cy="177251"/>
          </a:xfrm>
          <a:prstGeom prst="line">
            <a:avLst/>
          </a:prstGeom>
          <a:noFill/>
          <a:ln w="12700">
            <a:solidFill>
              <a:srgbClr val="7A8288"/>
            </a:solidFill>
            <a:prstDash val="solid"/>
          </a:ln>
        </p:spPr>
        <p:txBody>
          <a:bodyPr/>
          <a:lstStyle/>
          <a:p>
            <a:endParaRPr lang="en-US"/>
          </a:p>
        </p:txBody>
      </p:sp>
      <p:sp>
        <p:nvSpPr>
          <p:cNvPr id="61" name="Shape 59"/>
          <p:cNvSpPr/>
          <p:nvPr/>
        </p:nvSpPr>
        <p:spPr>
          <a:xfrm>
            <a:off x="9080275" y="7171861"/>
            <a:ext cx="87128" cy="68598"/>
          </a:xfrm>
          <a:prstGeom prst="line">
            <a:avLst/>
          </a:prstGeom>
          <a:noFill/>
          <a:ln w="12700">
            <a:solidFill>
              <a:srgbClr val="7A8288"/>
            </a:solidFill>
            <a:prstDash val="solid"/>
          </a:ln>
        </p:spPr>
        <p:txBody>
          <a:bodyPr/>
          <a:lstStyle/>
          <a:p>
            <a:endParaRPr lang="en-US"/>
          </a:p>
        </p:txBody>
      </p:sp>
      <p:sp>
        <p:nvSpPr>
          <p:cNvPr id="62" name="Shape 60"/>
          <p:cNvSpPr/>
          <p:nvPr/>
        </p:nvSpPr>
        <p:spPr>
          <a:xfrm>
            <a:off x="8969095" y="7104386"/>
            <a:ext cx="111180" cy="67475"/>
          </a:xfrm>
          <a:prstGeom prst="line">
            <a:avLst/>
          </a:prstGeom>
          <a:noFill/>
          <a:ln w="12700">
            <a:solidFill>
              <a:srgbClr val="7A8288"/>
            </a:solidFill>
            <a:prstDash val="solid"/>
          </a:ln>
        </p:spPr>
        <p:txBody>
          <a:bodyPr/>
          <a:lstStyle/>
          <a:p>
            <a:endParaRPr lang="en-US"/>
          </a:p>
        </p:txBody>
      </p:sp>
      <p:sp>
        <p:nvSpPr>
          <p:cNvPr id="63" name="Shape 61"/>
          <p:cNvSpPr/>
          <p:nvPr/>
        </p:nvSpPr>
        <p:spPr>
          <a:xfrm>
            <a:off x="8584177" y="6901305"/>
            <a:ext cx="384918" cy="203081"/>
          </a:xfrm>
          <a:prstGeom prst="line">
            <a:avLst/>
          </a:prstGeom>
          <a:noFill/>
          <a:ln w="12700">
            <a:solidFill>
              <a:srgbClr val="7A8288"/>
            </a:solidFill>
            <a:prstDash val="solid"/>
          </a:ln>
        </p:spPr>
        <p:txBody>
          <a:bodyPr/>
          <a:lstStyle/>
          <a:p>
            <a:endParaRPr lang="en-US"/>
          </a:p>
        </p:txBody>
      </p:sp>
      <p:sp>
        <p:nvSpPr>
          <p:cNvPr id="64" name="Shape 62"/>
          <p:cNvSpPr/>
          <p:nvPr/>
        </p:nvSpPr>
        <p:spPr>
          <a:xfrm>
            <a:off x="8081341" y="6499167"/>
            <a:ext cx="502836" cy="402138"/>
          </a:xfrm>
          <a:prstGeom prst="line">
            <a:avLst/>
          </a:prstGeom>
          <a:noFill/>
          <a:ln w="12700">
            <a:solidFill>
              <a:srgbClr val="7A8288"/>
            </a:solidFill>
            <a:prstDash val="solid"/>
          </a:ln>
        </p:spPr>
        <p:txBody>
          <a:bodyPr/>
          <a:lstStyle/>
          <a:p>
            <a:endParaRPr lang="en-US"/>
          </a:p>
        </p:txBody>
      </p:sp>
      <p:sp>
        <p:nvSpPr>
          <p:cNvPr id="65" name="Shape 63"/>
          <p:cNvSpPr/>
          <p:nvPr/>
        </p:nvSpPr>
        <p:spPr>
          <a:xfrm>
            <a:off x="8075913" y="6494862"/>
            <a:ext cx="5428" cy="4305"/>
          </a:xfrm>
          <a:prstGeom prst="line">
            <a:avLst/>
          </a:prstGeom>
          <a:noFill/>
          <a:ln w="12700">
            <a:solidFill>
              <a:srgbClr val="7A8288"/>
            </a:solidFill>
            <a:prstDash val="solid"/>
          </a:ln>
        </p:spPr>
        <p:txBody>
          <a:bodyPr/>
          <a:lstStyle/>
          <a:p>
            <a:endParaRPr lang="en-US"/>
          </a:p>
        </p:txBody>
      </p:sp>
      <p:sp>
        <p:nvSpPr>
          <p:cNvPr id="66" name="Shape 64"/>
          <p:cNvSpPr/>
          <p:nvPr/>
        </p:nvSpPr>
        <p:spPr>
          <a:xfrm>
            <a:off x="7524318" y="6059594"/>
            <a:ext cx="551594" cy="435267"/>
          </a:xfrm>
          <a:prstGeom prst="line">
            <a:avLst/>
          </a:prstGeom>
          <a:noFill/>
          <a:ln w="12700">
            <a:solidFill>
              <a:srgbClr val="7A8288"/>
            </a:solidFill>
            <a:prstDash val="solid"/>
          </a:ln>
        </p:spPr>
        <p:txBody>
          <a:bodyPr/>
          <a:lstStyle/>
          <a:p>
            <a:endParaRPr lang="en-US"/>
          </a:p>
        </p:txBody>
      </p:sp>
      <p:sp>
        <p:nvSpPr>
          <p:cNvPr id="67" name="Shape 65"/>
          <p:cNvSpPr/>
          <p:nvPr/>
        </p:nvSpPr>
        <p:spPr>
          <a:xfrm>
            <a:off x="492846" y="1790079"/>
            <a:ext cx="475228" cy="379623"/>
          </a:xfrm>
          <a:prstGeom prst="line">
            <a:avLst/>
          </a:prstGeom>
          <a:noFill/>
          <a:ln w="19050">
            <a:solidFill>
              <a:srgbClr val="C7A400"/>
            </a:solidFill>
            <a:prstDash val="dashDot"/>
          </a:ln>
        </p:spPr>
        <p:txBody>
          <a:bodyPr/>
          <a:lstStyle/>
          <a:p>
            <a:endParaRPr lang="en-US"/>
          </a:p>
        </p:txBody>
      </p:sp>
      <p:sp>
        <p:nvSpPr>
          <p:cNvPr id="68" name="Shape 66"/>
          <p:cNvSpPr/>
          <p:nvPr/>
        </p:nvSpPr>
        <p:spPr>
          <a:xfrm>
            <a:off x="968075" y="2169702"/>
            <a:ext cx="521647" cy="418890"/>
          </a:xfrm>
          <a:prstGeom prst="line">
            <a:avLst/>
          </a:prstGeom>
          <a:noFill/>
          <a:ln w="19050">
            <a:solidFill>
              <a:srgbClr val="C7A400"/>
            </a:solidFill>
            <a:prstDash val="dashDot"/>
          </a:ln>
        </p:spPr>
        <p:txBody>
          <a:bodyPr/>
          <a:lstStyle/>
          <a:p>
            <a:endParaRPr lang="en-US"/>
          </a:p>
        </p:txBody>
      </p:sp>
      <p:sp>
        <p:nvSpPr>
          <p:cNvPr id="69" name="Shape 67"/>
          <p:cNvSpPr/>
          <p:nvPr/>
        </p:nvSpPr>
        <p:spPr>
          <a:xfrm>
            <a:off x="1489722" y="2588592"/>
            <a:ext cx="523519" cy="420668"/>
          </a:xfrm>
          <a:prstGeom prst="line">
            <a:avLst/>
          </a:prstGeom>
          <a:noFill/>
          <a:ln w="19050">
            <a:solidFill>
              <a:srgbClr val="C7A400"/>
            </a:solidFill>
            <a:prstDash val="dashDot"/>
          </a:ln>
        </p:spPr>
        <p:txBody>
          <a:bodyPr/>
          <a:lstStyle/>
          <a:p>
            <a:endParaRPr lang="en-US"/>
          </a:p>
        </p:txBody>
      </p:sp>
      <p:sp>
        <p:nvSpPr>
          <p:cNvPr id="70" name="Shape 68"/>
          <p:cNvSpPr/>
          <p:nvPr/>
        </p:nvSpPr>
        <p:spPr>
          <a:xfrm>
            <a:off x="2013240" y="3009260"/>
            <a:ext cx="522209" cy="419264"/>
          </a:xfrm>
          <a:prstGeom prst="line">
            <a:avLst/>
          </a:prstGeom>
          <a:noFill/>
          <a:ln w="19050">
            <a:solidFill>
              <a:srgbClr val="C7A400"/>
            </a:solidFill>
            <a:prstDash val="dashDot"/>
          </a:ln>
        </p:spPr>
        <p:txBody>
          <a:bodyPr/>
          <a:lstStyle/>
          <a:p>
            <a:endParaRPr lang="en-US"/>
          </a:p>
        </p:txBody>
      </p:sp>
      <p:sp>
        <p:nvSpPr>
          <p:cNvPr id="71" name="Shape 69"/>
          <p:cNvSpPr/>
          <p:nvPr/>
        </p:nvSpPr>
        <p:spPr>
          <a:xfrm>
            <a:off x="2535449" y="3428524"/>
            <a:ext cx="524080" cy="420668"/>
          </a:xfrm>
          <a:prstGeom prst="line">
            <a:avLst/>
          </a:prstGeom>
          <a:noFill/>
          <a:ln w="19050">
            <a:solidFill>
              <a:srgbClr val="C7A400"/>
            </a:solidFill>
            <a:prstDash val="dashDot"/>
          </a:ln>
        </p:spPr>
        <p:txBody>
          <a:bodyPr/>
          <a:lstStyle/>
          <a:p>
            <a:endParaRPr lang="en-US"/>
          </a:p>
        </p:txBody>
      </p:sp>
      <p:sp>
        <p:nvSpPr>
          <p:cNvPr id="72" name="Shape 70"/>
          <p:cNvSpPr/>
          <p:nvPr/>
        </p:nvSpPr>
        <p:spPr>
          <a:xfrm>
            <a:off x="3059529" y="3849192"/>
            <a:ext cx="522957" cy="419732"/>
          </a:xfrm>
          <a:prstGeom prst="line">
            <a:avLst/>
          </a:prstGeom>
          <a:noFill/>
          <a:ln w="19050">
            <a:solidFill>
              <a:srgbClr val="C7A400"/>
            </a:solidFill>
            <a:prstDash val="dashDot"/>
          </a:ln>
        </p:spPr>
        <p:txBody>
          <a:bodyPr/>
          <a:lstStyle/>
          <a:p>
            <a:endParaRPr lang="en-US"/>
          </a:p>
        </p:txBody>
      </p:sp>
      <p:sp>
        <p:nvSpPr>
          <p:cNvPr id="73" name="Shape 71"/>
          <p:cNvSpPr/>
          <p:nvPr/>
        </p:nvSpPr>
        <p:spPr>
          <a:xfrm>
            <a:off x="3582486" y="4268925"/>
            <a:ext cx="569189" cy="457354"/>
          </a:xfrm>
          <a:prstGeom prst="line">
            <a:avLst/>
          </a:prstGeom>
          <a:noFill/>
          <a:ln w="19050">
            <a:solidFill>
              <a:srgbClr val="C7A400"/>
            </a:solidFill>
            <a:prstDash val="dashDot"/>
          </a:ln>
        </p:spPr>
        <p:txBody>
          <a:bodyPr/>
          <a:lstStyle/>
          <a:p>
            <a:endParaRPr lang="en-US"/>
          </a:p>
        </p:txBody>
      </p:sp>
      <p:sp>
        <p:nvSpPr>
          <p:cNvPr id="74" name="Shape 72"/>
          <p:cNvSpPr/>
          <p:nvPr/>
        </p:nvSpPr>
        <p:spPr>
          <a:xfrm>
            <a:off x="4151675" y="4726278"/>
            <a:ext cx="914" cy="914"/>
          </a:xfrm>
          <a:prstGeom prst="line">
            <a:avLst/>
          </a:prstGeom>
          <a:noFill/>
          <a:ln w="19050">
            <a:solidFill>
              <a:srgbClr val="C7A400"/>
            </a:solidFill>
            <a:prstDash val="dashDot"/>
          </a:ln>
        </p:spPr>
        <p:txBody>
          <a:bodyPr/>
          <a:lstStyle/>
          <a:p>
            <a:endParaRPr lang="en-US"/>
          </a:p>
        </p:txBody>
      </p:sp>
      <p:sp>
        <p:nvSpPr>
          <p:cNvPr id="75" name="Shape 73"/>
          <p:cNvSpPr/>
          <p:nvPr/>
        </p:nvSpPr>
        <p:spPr>
          <a:xfrm>
            <a:off x="4151675" y="4726278"/>
            <a:ext cx="526233" cy="416082"/>
          </a:xfrm>
          <a:prstGeom prst="line">
            <a:avLst/>
          </a:prstGeom>
          <a:noFill/>
          <a:ln w="19050">
            <a:solidFill>
              <a:srgbClr val="C7A400"/>
            </a:solidFill>
            <a:prstDash val="dashDot"/>
          </a:ln>
        </p:spPr>
        <p:txBody>
          <a:bodyPr/>
          <a:lstStyle/>
          <a:p>
            <a:endParaRPr lang="en-US"/>
          </a:p>
        </p:txBody>
      </p:sp>
      <p:sp>
        <p:nvSpPr>
          <p:cNvPr id="76" name="Shape 74"/>
          <p:cNvSpPr/>
          <p:nvPr/>
        </p:nvSpPr>
        <p:spPr>
          <a:xfrm>
            <a:off x="4677908" y="5142360"/>
            <a:ext cx="914" cy="914"/>
          </a:xfrm>
          <a:prstGeom prst="line">
            <a:avLst/>
          </a:prstGeom>
          <a:noFill/>
          <a:ln w="19050">
            <a:solidFill>
              <a:srgbClr val="C7A400"/>
            </a:solidFill>
            <a:prstDash val="dashDot"/>
          </a:ln>
        </p:spPr>
        <p:txBody>
          <a:bodyPr/>
          <a:lstStyle/>
          <a:p>
            <a:endParaRPr lang="en-US"/>
          </a:p>
        </p:txBody>
      </p:sp>
      <p:sp>
        <p:nvSpPr>
          <p:cNvPr id="77" name="Shape 75"/>
          <p:cNvSpPr/>
          <p:nvPr/>
        </p:nvSpPr>
        <p:spPr>
          <a:xfrm>
            <a:off x="4677908" y="5142360"/>
            <a:ext cx="544950" cy="443596"/>
          </a:xfrm>
          <a:prstGeom prst="line">
            <a:avLst/>
          </a:prstGeom>
          <a:noFill/>
          <a:ln w="19050">
            <a:solidFill>
              <a:srgbClr val="C7A400"/>
            </a:solidFill>
            <a:prstDash val="dashDot"/>
          </a:ln>
        </p:spPr>
        <p:txBody>
          <a:bodyPr/>
          <a:lstStyle/>
          <a:p>
            <a:endParaRPr lang="en-US"/>
          </a:p>
        </p:txBody>
      </p:sp>
      <p:sp>
        <p:nvSpPr>
          <p:cNvPr id="78" name="Shape 76"/>
          <p:cNvSpPr/>
          <p:nvPr/>
        </p:nvSpPr>
        <p:spPr>
          <a:xfrm flipV="1">
            <a:off x="5063387" y="5585957"/>
            <a:ext cx="159470" cy="172759"/>
          </a:xfrm>
          <a:prstGeom prst="line">
            <a:avLst/>
          </a:prstGeom>
          <a:noFill/>
          <a:ln w="19050">
            <a:solidFill>
              <a:srgbClr val="C7A400"/>
            </a:solidFill>
            <a:prstDash val="dashDot"/>
          </a:ln>
        </p:spPr>
        <p:txBody>
          <a:bodyPr/>
          <a:lstStyle/>
          <a:p>
            <a:endParaRPr lang="en-US"/>
          </a:p>
        </p:txBody>
      </p:sp>
      <p:sp>
        <p:nvSpPr>
          <p:cNvPr id="79" name="Shape 77"/>
          <p:cNvSpPr/>
          <p:nvPr/>
        </p:nvSpPr>
        <p:spPr>
          <a:xfrm>
            <a:off x="5063387" y="5758716"/>
            <a:ext cx="421229" cy="561889"/>
          </a:xfrm>
          <a:prstGeom prst="line">
            <a:avLst/>
          </a:prstGeom>
          <a:noFill/>
          <a:ln w="19050">
            <a:solidFill>
              <a:srgbClr val="C7A400"/>
            </a:solidFill>
            <a:prstDash val="dashDot"/>
          </a:ln>
        </p:spPr>
        <p:txBody>
          <a:bodyPr/>
          <a:lstStyle/>
          <a:p>
            <a:endParaRPr lang="en-US"/>
          </a:p>
        </p:txBody>
      </p:sp>
      <p:sp>
        <p:nvSpPr>
          <p:cNvPr id="80" name="Shape 78"/>
          <p:cNvSpPr/>
          <p:nvPr/>
        </p:nvSpPr>
        <p:spPr>
          <a:xfrm flipV="1">
            <a:off x="5484617" y="6025342"/>
            <a:ext cx="285811" cy="295263"/>
          </a:xfrm>
          <a:prstGeom prst="line">
            <a:avLst/>
          </a:prstGeom>
          <a:noFill/>
          <a:ln w="19050">
            <a:solidFill>
              <a:srgbClr val="C7A400"/>
            </a:solidFill>
            <a:prstDash val="dashDot"/>
          </a:ln>
        </p:spPr>
        <p:txBody>
          <a:bodyPr/>
          <a:lstStyle/>
          <a:p>
            <a:endParaRPr lang="en-US"/>
          </a:p>
        </p:txBody>
      </p:sp>
      <p:sp>
        <p:nvSpPr>
          <p:cNvPr id="81" name="Shape 79"/>
          <p:cNvSpPr/>
          <p:nvPr/>
        </p:nvSpPr>
        <p:spPr>
          <a:xfrm>
            <a:off x="5770428" y="6025342"/>
            <a:ext cx="544856" cy="443596"/>
          </a:xfrm>
          <a:prstGeom prst="line">
            <a:avLst/>
          </a:prstGeom>
          <a:noFill/>
          <a:ln w="19050">
            <a:solidFill>
              <a:srgbClr val="C7A400"/>
            </a:solidFill>
            <a:prstDash val="dashDot"/>
          </a:ln>
        </p:spPr>
        <p:txBody>
          <a:bodyPr/>
          <a:lstStyle/>
          <a:p>
            <a:endParaRPr lang="en-US"/>
          </a:p>
        </p:txBody>
      </p:sp>
      <p:sp>
        <p:nvSpPr>
          <p:cNvPr id="82" name="Shape 80"/>
          <p:cNvSpPr/>
          <p:nvPr/>
        </p:nvSpPr>
        <p:spPr>
          <a:xfrm flipV="1">
            <a:off x="5864856" y="6468938"/>
            <a:ext cx="450428" cy="440976"/>
          </a:xfrm>
          <a:prstGeom prst="line">
            <a:avLst/>
          </a:prstGeom>
          <a:noFill/>
          <a:ln w="19050">
            <a:solidFill>
              <a:srgbClr val="C7A400"/>
            </a:solidFill>
            <a:prstDash val="dashDot"/>
          </a:ln>
        </p:spPr>
        <p:txBody>
          <a:bodyPr/>
          <a:lstStyle/>
          <a:p>
            <a:endParaRPr lang="en-US"/>
          </a:p>
        </p:txBody>
      </p:sp>
      <p:sp>
        <p:nvSpPr>
          <p:cNvPr id="83" name="Shape 81"/>
          <p:cNvSpPr/>
          <p:nvPr/>
        </p:nvSpPr>
        <p:spPr>
          <a:xfrm>
            <a:off x="5864856" y="6909915"/>
            <a:ext cx="338874" cy="615233"/>
          </a:xfrm>
          <a:prstGeom prst="line">
            <a:avLst/>
          </a:prstGeom>
          <a:noFill/>
          <a:ln w="19050">
            <a:solidFill>
              <a:srgbClr val="C7A400"/>
            </a:solidFill>
            <a:prstDash val="dashDot"/>
          </a:ln>
        </p:spPr>
        <p:txBody>
          <a:bodyPr/>
          <a:lstStyle/>
          <a:p>
            <a:endParaRPr lang="en-US"/>
          </a:p>
        </p:txBody>
      </p:sp>
      <p:sp>
        <p:nvSpPr>
          <p:cNvPr id="84" name="Shape 82"/>
          <p:cNvSpPr/>
          <p:nvPr/>
        </p:nvSpPr>
        <p:spPr>
          <a:xfrm>
            <a:off x="6203730" y="7525147"/>
            <a:ext cx="289741" cy="637225"/>
          </a:xfrm>
          <a:prstGeom prst="line">
            <a:avLst/>
          </a:prstGeom>
          <a:noFill/>
          <a:ln w="19050">
            <a:solidFill>
              <a:srgbClr val="C7A400"/>
            </a:solidFill>
            <a:prstDash val="dashDot"/>
          </a:ln>
        </p:spPr>
        <p:txBody>
          <a:bodyPr/>
          <a:lstStyle/>
          <a:p>
            <a:endParaRPr lang="en-US"/>
          </a:p>
        </p:txBody>
      </p:sp>
      <p:sp>
        <p:nvSpPr>
          <p:cNvPr id="85" name="Shape 83"/>
          <p:cNvSpPr/>
          <p:nvPr/>
        </p:nvSpPr>
        <p:spPr>
          <a:xfrm>
            <a:off x="6493471" y="8162373"/>
            <a:ext cx="224419" cy="631142"/>
          </a:xfrm>
          <a:prstGeom prst="line">
            <a:avLst/>
          </a:prstGeom>
          <a:noFill/>
          <a:ln w="19050">
            <a:solidFill>
              <a:srgbClr val="C7A400"/>
            </a:solidFill>
            <a:prstDash val="dashDot"/>
          </a:ln>
        </p:spPr>
        <p:txBody>
          <a:bodyPr/>
          <a:lstStyle/>
          <a:p>
            <a:endParaRPr lang="en-US"/>
          </a:p>
        </p:txBody>
      </p:sp>
      <p:sp>
        <p:nvSpPr>
          <p:cNvPr id="86" name="Shape 84"/>
          <p:cNvSpPr/>
          <p:nvPr/>
        </p:nvSpPr>
        <p:spPr>
          <a:xfrm>
            <a:off x="6717890" y="8793515"/>
            <a:ext cx="208041" cy="680649"/>
          </a:xfrm>
          <a:prstGeom prst="line">
            <a:avLst/>
          </a:prstGeom>
          <a:noFill/>
          <a:ln w="19050">
            <a:solidFill>
              <a:srgbClr val="C7A400"/>
            </a:solidFill>
            <a:prstDash val="dashDot"/>
          </a:ln>
        </p:spPr>
        <p:txBody>
          <a:bodyPr/>
          <a:lstStyle/>
          <a:p>
            <a:endParaRPr lang="en-US"/>
          </a:p>
        </p:txBody>
      </p:sp>
      <p:sp>
        <p:nvSpPr>
          <p:cNvPr id="87" name="Shape 85"/>
          <p:cNvSpPr/>
          <p:nvPr/>
        </p:nvSpPr>
        <p:spPr>
          <a:xfrm>
            <a:off x="6925931" y="9474164"/>
            <a:ext cx="140847" cy="679245"/>
          </a:xfrm>
          <a:prstGeom prst="line">
            <a:avLst/>
          </a:prstGeom>
          <a:noFill/>
          <a:ln w="19050">
            <a:solidFill>
              <a:srgbClr val="C7A400"/>
            </a:solidFill>
            <a:prstDash val="dashDot"/>
          </a:ln>
        </p:spPr>
        <p:txBody>
          <a:bodyPr/>
          <a:lstStyle/>
          <a:p>
            <a:endParaRPr lang="en-US"/>
          </a:p>
        </p:txBody>
      </p:sp>
      <p:sp>
        <p:nvSpPr>
          <p:cNvPr id="88" name="Shape 86"/>
          <p:cNvSpPr/>
          <p:nvPr/>
        </p:nvSpPr>
        <p:spPr>
          <a:xfrm>
            <a:off x="7066778" y="10153410"/>
            <a:ext cx="25992" cy="179310"/>
          </a:xfrm>
          <a:prstGeom prst="line">
            <a:avLst/>
          </a:prstGeom>
          <a:noFill/>
          <a:ln w="19050">
            <a:solidFill>
              <a:srgbClr val="C7A400"/>
            </a:solidFill>
            <a:prstDash val="dashDot"/>
          </a:ln>
        </p:spPr>
        <p:txBody>
          <a:bodyPr/>
          <a:lstStyle/>
          <a:p>
            <a:endParaRPr lang="en-US"/>
          </a:p>
        </p:txBody>
      </p:sp>
      <p:sp>
        <p:nvSpPr>
          <p:cNvPr id="89" name="Shape 87"/>
          <p:cNvSpPr/>
          <p:nvPr/>
        </p:nvSpPr>
        <p:spPr>
          <a:xfrm flipV="1">
            <a:off x="7619078" y="8630957"/>
            <a:ext cx="1493390" cy="1701763"/>
          </a:xfrm>
          <a:prstGeom prst="line">
            <a:avLst/>
          </a:prstGeom>
          <a:noFill/>
          <a:ln w="19050">
            <a:solidFill>
              <a:srgbClr val="C7A400"/>
            </a:solidFill>
            <a:prstDash val="dashDot"/>
          </a:ln>
        </p:spPr>
        <p:txBody>
          <a:bodyPr/>
          <a:lstStyle/>
          <a:p>
            <a:endParaRPr lang="en-US"/>
          </a:p>
        </p:txBody>
      </p:sp>
      <p:sp>
        <p:nvSpPr>
          <p:cNvPr id="90" name="Shape 88"/>
          <p:cNvSpPr/>
          <p:nvPr/>
        </p:nvSpPr>
        <p:spPr>
          <a:xfrm>
            <a:off x="9112469" y="8630957"/>
            <a:ext cx="914" cy="914"/>
          </a:xfrm>
          <a:prstGeom prst="line">
            <a:avLst/>
          </a:prstGeom>
          <a:noFill/>
          <a:ln w="19050">
            <a:solidFill>
              <a:srgbClr val="C7A400"/>
            </a:solidFill>
            <a:prstDash val="dashDot"/>
          </a:ln>
        </p:spPr>
        <p:txBody>
          <a:bodyPr/>
          <a:lstStyle/>
          <a:p>
            <a:endParaRPr lang="en-US"/>
          </a:p>
        </p:txBody>
      </p:sp>
      <p:sp>
        <p:nvSpPr>
          <p:cNvPr id="91" name="Shape 89"/>
          <p:cNvSpPr/>
          <p:nvPr/>
        </p:nvSpPr>
        <p:spPr>
          <a:xfrm flipV="1">
            <a:off x="9112469" y="8314918"/>
            <a:ext cx="5147" cy="316039"/>
          </a:xfrm>
          <a:prstGeom prst="line">
            <a:avLst/>
          </a:prstGeom>
          <a:noFill/>
          <a:ln w="19050">
            <a:solidFill>
              <a:srgbClr val="C7A400"/>
            </a:solidFill>
            <a:prstDash val="dashDot"/>
          </a:ln>
        </p:spPr>
        <p:txBody>
          <a:bodyPr/>
          <a:lstStyle/>
          <a:p>
            <a:endParaRPr lang="en-US"/>
          </a:p>
        </p:txBody>
      </p:sp>
      <p:sp>
        <p:nvSpPr>
          <p:cNvPr id="92" name="Shape 90"/>
          <p:cNvSpPr/>
          <p:nvPr/>
        </p:nvSpPr>
        <p:spPr>
          <a:xfrm>
            <a:off x="9117616" y="8314918"/>
            <a:ext cx="585098" cy="137443"/>
          </a:xfrm>
          <a:prstGeom prst="line">
            <a:avLst/>
          </a:prstGeom>
          <a:noFill/>
          <a:ln w="19050">
            <a:solidFill>
              <a:srgbClr val="C7A400"/>
            </a:solidFill>
            <a:prstDash val="dashDot"/>
          </a:ln>
        </p:spPr>
        <p:txBody>
          <a:bodyPr/>
          <a:lstStyle/>
          <a:p>
            <a:endParaRPr lang="en-US"/>
          </a:p>
        </p:txBody>
      </p:sp>
      <p:sp>
        <p:nvSpPr>
          <p:cNvPr id="93" name="Shape 91"/>
          <p:cNvSpPr/>
          <p:nvPr/>
        </p:nvSpPr>
        <p:spPr>
          <a:xfrm>
            <a:off x="8466914" y="8056246"/>
            <a:ext cx="1235800" cy="1100085"/>
          </a:xfrm>
          <a:prstGeom prst="line">
            <a:avLst/>
          </a:prstGeom>
          <a:noFill/>
          <a:ln w="19050">
            <a:solidFill>
              <a:srgbClr val="C7A400"/>
            </a:solidFill>
            <a:prstDash val="dashDot"/>
          </a:ln>
        </p:spPr>
        <p:txBody>
          <a:bodyPr/>
          <a:lstStyle/>
          <a:p>
            <a:endParaRPr lang="en-US"/>
          </a:p>
        </p:txBody>
      </p:sp>
      <p:sp>
        <p:nvSpPr>
          <p:cNvPr id="94" name="Shape 92"/>
          <p:cNvSpPr/>
          <p:nvPr/>
        </p:nvSpPr>
        <p:spPr>
          <a:xfrm>
            <a:off x="7952847" y="7785035"/>
            <a:ext cx="514067" cy="271212"/>
          </a:xfrm>
          <a:prstGeom prst="line">
            <a:avLst/>
          </a:prstGeom>
          <a:noFill/>
          <a:ln w="19050">
            <a:solidFill>
              <a:srgbClr val="C7A400"/>
            </a:solidFill>
            <a:prstDash val="dashDot"/>
          </a:ln>
        </p:spPr>
        <p:txBody>
          <a:bodyPr/>
          <a:lstStyle/>
          <a:p>
            <a:endParaRPr lang="en-US"/>
          </a:p>
        </p:txBody>
      </p:sp>
      <p:sp>
        <p:nvSpPr>
          <p:cNvPr id="95" name="Shape 93"/>
          <p:cNvSpPr/>
          <p:nvPr/>
        </p:nvSpPr>
        <p:spPr>
          <a:xfrm>
            <a:off x="7918314" y="7746852"/>
            <a:ext cx="34533" cy="38183"/>
          </a:xfrm>
          <a:prstGeom prst="line">
            <a:avLst/>
          </a:prstGeom>
          <a:noFill/>
          <a:ln w="19050">
            <a:solidFill>
              <a:srgbClr val="C7A400"/>
            </a:solidFill>
            <a:prstDash val="dashDot"/>
          </a:ln>
        </p:spPr>
        <p:txBody>
          <a:bodyPr/>
          <a:lstStyle/>
          <a:p>
            <a:endParaRPr lang="en-US"/>
          </a:p>
        </p:txBody>
      </p:sp>
      <p:sp>
        <p:nvSpPr>
          <p:cNvPr id="96" name="Shape 94"/>
          <p:cNvSpPr/>
          <p:nvPr/>
        </p:nvSpPr>
        <p:spPr>
          <a:xfrm>
            <a:off x="7409208" y="7339754"/>
            <a:ext cx="509107" cy="407098"/>
          </a:xfrm>
          <a:prstGeom prst="line">
            <a:avLst/>
          </a:prstGeom>
          <a:noFill/>
          <a:ln w="19050">
            <a:solidFill>
              <a:srgbClr val="C7A400"/>
            </a:solidFill>
            <a:prstDash val="dashDot"/>
          </a:ln>
        </p:spPr>
        <p:txBody>
          <a:bodyPr/>
          <a:lstStyle/>
          <a:p>
            <a:endParaRPr lang="en-US"/>
          </a:p>
        </p:txBody>
      </p:sp>
      <p:sp>
        <p:nvSpPr>
          <p:cNvPr id="97" name="Shape 95"/>
          <p:cNvSpPr/>
          <p:nvPr/>
        </p:nvSpPr>
        <p:spPr>
          <a:xfrm>
            <a:off x="6857613" y="6904487"/>
            <a:ext cx="551594" cy="435267"/>
          </a:xfrm>
          <a:prstGeom prst="line">
            <a:avLst/>
          </a:prstGeom>
          <a:noFill/>
          <a:ln w="19050">
            <a:solidFill>
              <a:srgbClr val="C7A400"/>
            </a:solidFill>
            <a:prstDash val="dashDot"/>
          </a:ln>
        </p:spPr>
        <p:txBody>
          <a:bodyPr/>
          <a:lstStyle/>
          <a:p>
            <a:endParaRPr lang="en-US"/>
          </a:p>
        </p:txBody>
      </p:sp>
      <p:sp>
        <p:nvSpPr>
          <p:cNvPr id="98" name="Shape 96"/>
          <p:cNvSpPr/>
          <p:nvPr/>
        </p:nvSpPr>
        <p:spPr>
          <a:xfrm flipV="1">
            <a:off x="4384516" y="3796691"/>
            <a:ext cx="175848" cy="218991"/>
          </a:xfrm>
          <a:prstGeom prst="line">
            <a:avLst/>
          </a:prstGeom>
          <a:noFill/>
          <a:ln w="28575">
            <a:solidFill>
              <a:srgbClr val="8B0000"/>
            </a:solidFill>
            <a:prstDash val="solid"/>
          </a:ln>
        </p:spPr>
        <p:txBody>
          <a:bodyPr/>
          <a:lstStyle/>
          <a:p>
            <a:endParaRPr lang="en-US"/>
          </a:p>
        </p:txBody>
      </p:sp>
      <p:sp>
        <p:nvSpPr>
          <p:cNvPr id="99" name="Shape 97"/>
          <p:cNvSpPr/>
          <p:nvPr/>
        </p:nvSpPr>
        <p:spPr>
          <a:xfrm flipV="1">
            <a:off x="4208762" y="4015681"/>
            <a:ext cx="175754" cy="219084"/>
          </a:xfrm>
          <a:prstGeom prst="line">
            <a:avLst/>
          </a:prstGeom>
          <a:noFill/>
          <a:ln w="28575">
            <a:solidFill>
              <a:srgbClr val="8B0000"/>
            </a:solidFill>
            <a:prstDash val="solid"/>
          </a:ln>
        </p:spPr>
        <p:txBody>
          <a:bodyPr/>
          <a:lstStyle/>
          <a:p>
            <a:endParaRPr lang="en-US"/>
          </a:p>
        </p:txBody>
      </p:sp>
      <p:sp>
        <p:nvSpPr>
          <p:cNvPr id="100" name="Shape 98"/>
          <p:cNvSpPr/>
          <p:nvPr/>
        </p:nvSpPr>
        <p:spPr>
          <a:xfrm flipV="1">
            <a:off x="4032914" y="4234766"/>
            <a:ext cx="175848" cy="218991"/>
          </a:xfrm>
          <a:prstGeom prst="line">
            <a:avLst/>
          </a:prstGeom>
          <a:noFill/>
          <a:ln w="28575">
            <a:solidFill>
              <a:srgbClr val="8B0000"/>
            </a:solidFill>
            <a:prstDash val="solid"/>
          </a:ln>
        </p:spPr>
        <p:txBody>
          <a:bodyPr/>
          <a:lstStyle/>
          <a:p>
            <a:endParaRPr lang="en-US"/>
          </a:p>
        </p:txBody>
      </p:sp>
      <p:sp>
        <p:nvSpPr>
          <p:cNvPr id="101" name="Shape 99"/>
          <p:cNvSpPr/>
          <p:nvPr/>
        </p:nvSpPr>
        <p:spPr>
          <a:xfrm flipV="1">
            <a:off x="3857067" y="4453756"/>
            <a:ext cx="175848" cy="218991"/>
          </a:xfrm>
          <a:prstGeom prst="line">
            <a:avLst/>
          </a:prstGeom>
          <a:noFill/>
          <a:ln w="28575">
            <a:solidFill>
              <a:srgbClr val="8B0000"/>
            </a:solidFill>
            <a:prstDash val="solid"/>
          </a:ln>
        </p:spPr>
        <p:txBody>
          <a:bodyPr/>
          <a:lstStyle/>
          <a:p>
            <a:endParaRPr lang="en-US"/>
          </a:p>
        </p:txBody>
      </p:sp>
      <p:sp>
        <p:nvSpPr>
          <p:cNvPr id="102" name="Shape 100"/>
          <p:cNvSpPr/>
          <p:nvPr/>
        </p:nvSpPr>
        <p:spPr>
          <a:xfrm flipV="1">
            <a:off x="3681313" y="4672747"/>
            <a:ext cx="175754" cy="218991"/>
          </a:xfrm>
          <a:prstGeom prst="line">
            <a:avLst/>
          </a:prstGeom>
          <a:noFill/>
          <a:ln w="28575">
            <a:solidFill>
              <a:srgbClr val="8B0000"/>
            </a:solidFill>
            <a:prstDash val="solid"/>
          </a:ln>
        </p:spPr>
        <p:txBody>
          <a:bodyPr/>
          <a:lstStyle/>
          <a:p>
            <a:endParaRPr lang="en-US"/>
          </a:p>
        </p:txBody>
      </p:sp>
      <p:sp>
        <p:nvSpPr>
          <p:cNvPr id="103" name="Shape 101"/>
          <p:cNvSpPr/>
          <p:nvPr/>
        </p:nvSpPr>
        <p:spPr>
          <a:xfrm flipV="1">
            <a:off x="3505465" y="4891738"/>
            <a:ext cx="175848" cy="218991"/>
          </a:xfrm>
          <a:prstGeom prst="line">
            <a:avLst/>
          </a:prstGeom>
          <a:noFill/>
          <a:ln w="28575">
            <a:solidFill>
              <a:srgbClr val="8B0000"/>
            </a:solidFill>
            <a:prstDash val="solid"/>
          </a:ln>
        </p:spPr>
        <p:txBody>
          <a:bodyPr/>
          <a:lstStyle/>
          <a:p>
            <a:endParaRPr lang="en-US"/>
          </a:p>
        </p:txBody>
      </p:sp>
      <p:sp>
        <p:nvSpPr>
          <p:cNvPr id="104" name="Shape 102"/>
          <p:cNvSpPr/>
          <p:nvPr/>
        </p:nvSpPr>
        <p:spPr>
          <a:xfrm flipV="1">
            <a:off x="3334952" y="5110728"/>
            <a:ext cx="170513" cy="217587"/>
          </a:xfrm>
          <a:prstGeom prst="line">
            <a:avLst/>
          </a:prstGeom>
          <a:noFill/>
          <a:ln w="28575">
            <a:solidFill>
              <a:srgbClr val="8B0000"/>
            </a:solidFill>
            <a:prstDash val="solid"/>
          </a:ln>
        </p:spPr>
        <p:txBody>
          <a:bodyPr/>
          <a:lstStyle/>
          <a:p>
            <a:endParaRPr lang="en-US"/>
          </a:p>
        </p:txBody>
      </p:sp>
      <p:sp>
        <p:nvSpPr>
          <p:cNvPr id="149" name="Shape 147"/>
          <p:cNvSpPr/>
          <p:nvPr/>
        </p:nvSpPr>
        <p:spPr>
          <a:xfrm>
            <a:off x="1870241" y="5422837"/>
            <a:ext cx="131020" cy="131020"/>
          </a:xfrm>
          <a:prstGeom prst="rect">
            <a:avLst/>
          </a:prstGeom>
          <a:ln w="19050">
            <a:solidFill>
              <a:srgbClr val="BB00BB"/>
            </a:solidFill>
            <a:prstDash val="solid"/>
          </a:ln>
        </p:spPr>
        <p:txBody>
          <a:bodyPr/>
          <a:lstStyle/>
          <a:p>
            <a:endParaRPr lang="en-US"/>
          </a:p>
        </p:txBody>
      </p:sp>
      <p:sp>
        <p:nvSpPr>
          <p:cNvPr id="150" name="Shape 148"/>
          <p:cNvSpPr/>
          <p:nvPr/>
        </p:nvSpPr>
        <p:spPr>
          <a:xfrm>
            <a:off x="5175784" y="3104250"/>
            <a:ext cx="131020" cy="131020"/>
          </a:xfrm>
          <a:prstGeom prst="rect">
            <a:avLst/>
          </a:prstGeom>
          <a:ln w="19050">
            <a:solidFill>
              <a:srgbClr val="BB00BB"/>
            </a:solidFill>
            <a:prstDash val="solid"/>
          </a:ln>
        </p:spPr>
        <p:txBody>
          <a:bodyPr/>
          <a:lstStyle/>
          <a:p>
            <a:endParaRPr lang="en-US"/>
          </a:p>
        </p:txBody>
      </p:sp>
      <p:sp>
        <p:nvSpPr>
          <p:cNvPr id="151" name="Shape 149"/>
          <p:cNvSpPr/>
          <p:nvPr/>
        </p:nvSpPr>
        <p:spPr>
          <a:xfrm>
            <a:off x="4067728" y="7959572"/>
            <a:ext cx="131020" cy="131020"/>
          </a:xfrm>
          <a:prstGeom prst="rect">
            <a:avLst/>
          </a:prstGeom>
          <a:ln w="19050">
            <a:solidFill>
              <a:srgbClr val="BB00BB"/>
            </a:solidFill>
            <a:prstDash val="solid"/>
          </a:ln>
        </p:spPr>
        <p:txBody>
          <a:bodyPr/>
          <a:lstStyle/>
          <a:p>
            <a:endParaRPr lang="en-US"/>
          </a:p>
        </p:txBody>
      </p:sp>
      <p:sp>
        <p:nvSpPr>
          <p:cNvPr id="152" name="Shape 150"/>
          <p:cNvSpPr/>
          <p:nvPr/>
        </p:nvSpPr>
        <p:spPr>
          <a:xfrm>
            <a:off x="8437154" y="5617589"/>
            <a:ext cx="131020" cy="131020"/>
          </a:xfrm>
          <a:prstGeom prst="rect">
            <a:avLst/>
          </a:prstGeom>
          <a:ln w="19050">
            <a:solidFill>
              <a:srgbClr val="BB00BB"/>
            </a:solidFill>
            <a:prstDash val="solid"/>
          </a:ln>
        </p:spPr>
        <p:txBody>
          <a:bodyPr/>
          <a:lstStyle/>
          <a:p>
            <a:endParaRPr lang="en-US"/>
          </a:p>
        </p:txBody>
      </p:sp>
      <p:sp>
        <p:nvSpPr>
          <p:cNvPr id="153" name="Text 151"/>
          <p:cNvSpPr/>
          <p:nvPr/>
        </p:nvSpPr>
        <p:spPr>
          <a:xfrm>
            <a:off x="2019978" y="5313109"/>
            <a:ext cx="1097280" cy="182880"/>
          </a:xfrm>
          <a:prstGeom prst="rect">
            <a:avLst/>
          </a:prstGeom>
          <a:noFill/>
          <a:ln/>
        </p:spPr>
        <p:txBody>
          <a:bodyPr wrap="square" lIns="0" tIns="0" rIns="0" bIns="0" rtlCol="0" anchor="ctr"/>
          <a:lstStyle/>
          <a:p>
            <a:pPr marL="0" indent="0">
              <a:buNone/>
            </a:pPr>
            <a:r>
              <a:rPr lang="en-US" sz="650" b="1" dirty="0">
                <a:solidFill>
                  <a:srgbClr val="BB00BB"/>
                </a:solidFill>
                <a:latin typeface="Arial" pitchFamily="34" charset="0"/>
                <a:ea typeface="Arial" pitchFamily="34" charset="-122"/>
                <a:cs typeface="Arial" pitchFamily="34" charset="-120"/>
              </a:rPr>
              <a:t>X_CV_STH_PITS &amp;.27153</a:t>
            </a:r>
            <a:endParaRPr lang="en-US" sz="650" dirty="0"/>
          </a:p>
        </p:txBody>
      </p:sp>
      <p:sp>
        <p:nvSpPr>
          <p:cNvPr id="154" name="Text 152"/>
          <p:cNvSpPr/>
          <p:nvPr/>
        </p:nvSpPr>
        <p:spPr>
          <a:xfrm>
            <a:off x="5325521" y="2994522"/>
            <a:ext cx="1097280" cy="182880"/>
          </a:xfrm>
          <a:prstGeom prst="rect">
            <a:avLst/>
          </a:prstGeom>
          <a:noFill/>
          <a:ln/>
        </p:spPr>
        <p:txBody>
          <a:bodyPr wrap="square" lIns="0" tIns="0" rIns="0" bIns="0" rtlCol="0" anchor="ctr"/>
          <a:lstStyle/>
          <a:p>
            <a:pPr marL="0" indent="0">
              <a:buNone/>
            </a:pPr>
            <a:r>
              <a:rPr lang="en-US" sz="650" b="1" dirty="0">
                <a:solidFill>
                  <a:srgbClr val="BB00BB"/>
                </a:solidFill>
                <a:latin typeface="Arial" pitchFamily="34" charset="0"/>
                <a:ea typeface="Arial" pitchFamily="34" charset="-122"/>
                <a:cs typeface="Arial" pitchFamily="34" charset="-120"/>
              </a:rPr>
              <a:t>X_CV_STH_PITS &amp;.27152</a:t>
            </a:r>
            <a:endParaRPr lang="en-US" sz="650" dirty="0"/>
          </a:p>
        </p:txBody>
      </p:sp>
      <p:sp>
        <p:nvSpPr>
          <p:cNvPr id="155" name="Text 153"/>
          <p:cNvSpPr/>
          <p:nvPr/>
        </p:nvSpPr>
        <p:spPr>
          <a:xfrm>
            <a:off x="4217466" y="7849844"/>
            <a:ext cx="1097280" cy="182880"/>
          </a:xfrm>
          <a:prstGeom prst="rect">
            <a:avLst/>
          </a:prstGeom>
          <a:noFill/>
          <a:ln/>
        </p:spPr>
        <p:txBody>
          <a:bodyPr wrap="square" lIns="0" tIns="0" rIns="0" bIns="0" rtlCol="0" anchor="ctr"/>
          <a:lstStyle/>
          <a:p>
            <a:pPr marL="0" indent="0">
              <a:buNone/>
            </a:pPr>
            <a:r>
              <a:rPr lang="en-US" sz="650" b="1" dirty="0">
                <a:solidFill>
                  <a:srgbClr val="BB00BB"/>
                </a:solidFill>
                <a:latin typeface="Arial" pitchFamily="34" charset="0"/>
                <a:ea typeface="Arial" pitchFamily="34" charset="-122"/>
                <a:cs typeface="Arial" pitchFamily="34" charset="-120"/>
              </a:rPr>
              <a:t>X_CV_STH_PITS &amp;.27154</a:t>
            </a:r>
            <a:endParaRPr lang="en-US" sz="650" dirty="0"/>
          </a:p>
        </p:txBody>
      </p:sp>
      <p:sp>
        <p:nvSpPr>
          <p:cNvPr id="156" name="Text 154"/>
          <p:cNvSpPr/>
          <p:nvPr/>
        </p:nvSpPr>
        <p:spPr>
          <a:xfrm>
            <a:off x="8586891" y="5507861"/>
            <a:ext cx="1097280" cy="182880"/>
          </a:xfrm>
          <a:prstGeom prst="rect">
            <a:avLst/>
          </a:prstGeom>
          <a:noFill/>
          <a:ln/>
        </p:spPr>
        <p:txBody>
          <a:bodyPr wrap="square" lIns="0" tIns="0" rIns="0" bIns="0" rtlCol="0" anchor="ctr"/>
          <a:lstStyle/>
          <a:p>
            <a:pPr marL="0" indent="0">
              <a:buNone/>
            </a:pPr>
            <a:r>
              <a:rPr lang="en-US" sz="650" b="1" dirty="0">
                <a:solidFill>
                  <a:srgbClr val="BB00BB"/>
                </a:solidFill>
                <a:latin typeface="Arial" pitchFamily="34" charset="0"/>
                <a:ea typeface="Arial" pitchFamily="34" charset="-122"/>
                <a:cs typeface="Arial" pitchFamily="34" charset="-120"/>
              </a:rPr>
              <a:t>X_CV_STH_PITS &amp;.27162</a:t>
            </a:r>
            <a:endParaRPr lang="en-US" sz="650" dirty="0"/>
          </a:p>
        </p:txBody>
      </p:sp>
      <p:sp>
        <p:nvSpPr>
          <p:cNvPr id="157" name="Shape 155"/>
          <p:cNvSpPr/>
          <p:nvPr/>
        </p:nvSpPr>
        <p:spPr>
          <a:xfrm flipV="1">
            <a:off x="3152928" y="3693559"/>
            <a:ext cx="1116291" cy="1243661"/>
          </a:xfrm>
          <a:prstGeom prst="line">
            <a:avLst/>
          </a:prstGeom>
          <a:noFill/>
          <a:ln w="31750">
            <a:solidFill>
              <a:srgbClr val="CC0000"/>
            </a:solidFill>
            <a:prstDash val="solid"/>
          </a:ln>
        </p:spPr>
        <p:txBody>
          <a:bodyPr/>
          <a:lstStyle/>
          <a:p>
            <a:endParaRPr lang="en-US"/>
          </a:p>
        </p:txBody>
      </p:sp>
      <p:sp>
        <p:nvSpPr>
          <p:cNvPr id="158" name="Shape 156"/>
          <p:cNvSpPr/>
          <p:nvPr/>
        </p:nvSpPr>
        <p:spPr>
          <a:xfrm>
            <a:off x="4269219" y="3693559"/>
            <a:ext cx="338406" cy="303779"/>
          </a:xfrm>
          <a:prstGeom prst="line">
            <a:avLst/>
          </a:prstGeom>
          <a:noFill/>
          <a:ln w="31750">
            <a:solidFill>
              <a:srgbClr val="CC0000"/>
            </a:solidFill>
            <a:prstDash val="solid"/>
          </a:ln>
        </p:spPr>
        <p:txBody>
          <a:bodyPr/>
          <a:lstStyle/>
          <a:p>
            <a:endParaRPr lang="en-US"/>
          </a:p>
        </p:txBody>
      </p:sp>
      <p:sp>
        <p:nvSpPr>
          <p:cNvPr id="159" name="Shape 157"/>
          <p:cNvSpPr/>
          <p:nvPr/>
        </p:nvSpPr>
        <p:spPr>
          <a:xfrm flipV="1">
            <a:off x="3491334" y="3997339"/>
            <a:ext cx="1116291" cy="1243568"/>
          </a:xfrm>
          <a:prstGeom prst="line">
            <a:avLst/>
          </a:prstGeom>
          <a:noFill/>
          <a:ln w="31750">
            <a:solidFill>
              <a:srgbClr val="CC0000"/>
            </a:solidFill>
            <a:prstDash val="solid"/>
          </a:ln>
        </p:spPr>
        <p:txBody>
          <a:bodyPr/>
          <a:lstStyle/>
          <a:p>
            <a:endParaRPr lang="en-US"/>
          </a:p>
        </p:txBody>
      </p:sp>
      <p:sp>
        <p:nvSpPr>
          <p:cNvPr id="160" name="Shape 158"/>
          <p:cNvSpPr/>
          <p:nvPr/>
        </p:nvSpPr>
        <p:spPr>
          <a:xfrm>
            <a:off x="3152928" y="4937220"/>
            <a:ext cx="338406" cy="303686"/>
          </a:xfrm>
          <a:prstGeom prst="line">
            <a:avLst/>
          </a:prstGeom>
          <a:noFill/>
          <a:ln w="31750">
            <a:solidFill>
              <a:srgbClr val="CC0000"/>
            </a:solidFill>
            <a:prstDash val="solid"/>
          </a:ln>
        </p:spPr>
        <p:txBody>
          <a:bodyPr/>
          <a:lstStyle/>
          <a:p>
            <a:endParaRPr lang="en-US"/>
          </a:p>
        </p:txBody>
      </p:sp>
      <p:sp>
        <p:nvSpPr>
          <p:cNvPr id="161" name="Shape 159"/>
          <p:cNvSpPr/>
          <p:nvPr/>
        </p:nvSpPr>
        <p:spPr>
          <a:xfrm flipV="1">
            <a:off x="3484128" y="4649912"/>
            <a:ext cx="522115" cy="581729"/>
          </a:xfrm>
          <a:prstGeom prst="line">
            <a:avLst/>
          </a:prstGeom>
          <a:noFill/>
          <a:ln w="31750">
            <a:solidFill>
              <a:srgbClr val="CC0000"/>
            </a:solidFill>
            <a:prstDash val="solid"/>
          </a:ln>
        </p:spPr>
        <p:txBody>
          <a:bodyPr/>
          <a:lstStyle/>
          <a:p>
            <a:endParaRPr lang="en-US"/>
          </a:p>
        </p:txBody>
      </p:sp>
      <p:sp>
        <p:nvSpPr>
          <p:cNvPr id="162" name="Shape 160"/>
          <p:cNvSpPr/>
          <p:nvPr/>
        </p:nvSpPr>
        <p:spPr>
          <a:xfrm>
            <a:off x="4006243" y="4649912"/>
            <a:ext cx="2822921" cy="2533928"/>
          </a:xfrm>
          <a:prstGeom prst="line">
            <a:avLst/>
          </a:prstGeom>
          <a:noFill/>
          <a:ln w="31750">
            <a:solidFill>
              <a:srgbClr val="CC0000"/>
            </a:solidFill>
            <a:prstDash val="solid"/>
          </a:ln>
        </p:spPr>
        <p:txBody>
          <a:bodyPr/>
          <a:lstStyle/>
          <a:p>
            <a:endParaRPr lang="en-US"/>
          </a:p>
        </p:txBody>
      </p:sp>
      <p:sp>
        <p:nvSpPr>
          <p:cNvPr id="163" name="Shape 161"/>
          <p:cNvSpPr/>
          <p:nvPr/>
        </p:nvSpPr>
        <p:spPr>
          <a:xfrm flipV="1">
            <a:off x="6307048" y="7183840"/>
            <a:ext cx="522115" cy="581635"/>
          </a:xfrm>
          <a:prstGeom prst="line">
            <a:avLst/>
          </a:prstGeom>
          <a:noFill/>
          <a:ln w="31750">
            <a:solidFill>
              <a:srgbClr val="CC0000"/>
            </a:solidFill>
            <a:prstDash val="solid"/>
          </a:ln>
        </p:spPr>
        <p:txBody>
          <a:bodyPr/>
          <a:lstStyle/>
          <a:p>
            <a:endParaRPr lang="en-US"/>
          </a:p>
        </p:txBody>
      </p:sp>
      <p:sp>
        <p:nvSpPr>
          <p:cNvPr id="164" name="Shape 162"/>
          <p:cNvSpPr/>
          <p:nvPr/>
        </p:nvSpPr>
        <p:spPr>
          <a:xfrm>
            <a:off x="3484128" y="5231641"/>
            <a:ext cx="2822921" cy="2533834"/>
          </a:xfrm>
          <a:prstGeom prst="line">
            <a:avLst/>
          </a:prstGeom>
          <a:noFill/>
          <a:ln w="31750">
            <a:solidFill>
              <a:srgbClr val="CC0000"/>
            </a:solidFill>
            <a:prstDash val="solid"/>
          </a:ln>
        </p:spPr>
        <p:txBody>
          <a:bodyPr/>
          <a:lstStyle/>
          <a:p>
            <a:endParaRPr lang="en-US"/>
          </a:p>
        </p:txBody>
      </p:sp>
      <p:sp>
        <p:nvSpPr>
          <p:cNvPr id="165" name="Text 163"/>
          <p:cNvSpPr/>
          <p:nvPr/>
        </p:nvSpPr>
        <p:spPr>
          <a:xfrm>
            <a:off x="1891779" y="3419239"/>
            <a:ext cx="4937760" cy="201168"/>
          </a:xfrm>
          <a:prstGeom prst="rect">
            <a:avLst/>
          </a:prstGeom>
          <a:noFill/>
          <a:ln/>
        </p:spPr>
        <p:txBody>
          <a:bodyPr wrap="square" lIns="0" tIns="0" rIns="0" bIns="0" rtlCol="0" anchor="ctr"/>
          <a:lstStyle/>
          <a:p>
            <a:pPr marL="0" indent="0">
              <a:buNone/>
            </a:pPr>
            <a:r>
              <a:rPr lang="en-US" sz="800" b="1" dirty="0">
                <a:solidFill>
                  <a:srgbClr val="CC0000"/>
                </a:solidFill>
                <a:latin typeface="Arial" pitchFamily="34" charset="0"/>
                <a:ea typeface="Arial" pitchFamily="34" charset="-122"/>
                <a:cs typeface="Arial" pitchFamily="34" charset="-120"/>
              </a:rPr>
              <a:t>AGL WORKS AREA — FIELD CONDITION (425.3 m² TOTAL)</a:t>
            </a:r>
            <a:endParaRPr lang="en-US" sz="800" dirty="0"/>
          </a:p>
        </p:txBody>
      </p:sp>
      <p:sp>
        <p:nvSpPr>
          <p:cNvPr id="166" name="Shape 164"/>
          <p:cNvSpPr/>
          <p:nvPr/>
        </p:nvSpPr>
        <p:spPr>
          <a:xfrm>
            <a:off x="5389846" y="9428152"/>
            <a:ext cx="58522" cy="58522"/>
          </a:xfrm>
          <a:prstGeom prst="ellipse">
            <a:avLst/>
          </a:prstGeom>
          <a:solidFill>
            <a:srgbClr val="12A5B8"/>
          </a:solidFill>
          <a:ln w="6350">
            <a:solidFill>
              <a:srgbClr val="12A5B8"/>
            </a:solidFill>
            <a:prstDash val="solid"/>
          </a:ln>
        </p:spPr>
        <p:txBody>
          <a:bodyPr/>
          <a:lstStyle/>
          <a:p>
            <a:endParaRPr lang="en-US"/>
          </a:p>
        </p:txBody>
      </p:sp>
      <p:sp>
        <p:nvSpPr>
          <p:cNvPr id="167" name="Shape 165"/>
          <p:cNvSpPr/>
          <p:nvPr/>
        </p:nvSpPr>
        <p:spPr>
          <a:xfrm>
            <a:off x="4207951" y="6908636"/>
            <a:ext cx="58522" cy="58522"/>
          </a:xfrm>
          <a:prstGeom prst="ellipse">
            <a:avLst/>
          </a:prstGeom>
          <a:solidFill>
            <a:srgbClr val="12A5B8"/>
          </a:solidFill>
          <a:ln w="6350">
            <a:solidFill>
              <a:srgbClr val="12A5B8"/>
            </a:solidFill>
            <a:prstDash val="solid"/>
          </a:ln>
        </p:spPr>
        <p:txBody>
          <a:bodyPr/>
          <a:lstStyle/>
          <a:p>
            <a:endParaRPr lang="en-US"/>
          </a:p>
        </p:txBody>
      </p:sp>
      <p:sp>
        <p:nvSpPr>
          <p:cNvPr id="168" name="Shape 166"/>
          <p:cNvSpPr/>
          <p:nvPr/>
        </p:nvSpPr>
        <p:spPr>
          <a:xfrm>
            <a:off x="7889053" y="7717591"/>
            <a:ext cx="58522" cy="58522"/>
          </a:xfrm>
          <a:prstGeom prst="ellipse">
            <a:avLst/>
          </a:prstGeom>
          <a:solidFill>
            <a:srgbClr val="12A5B8"/>
          </a:solidFill>
          <a:ln w="6350">
            <a:solidFill>
              <a:srgbClr val="12A5B8"/>
            </a:solidFill>
            <a:prstDash val="solid"/>
          </a:ln>
        </p:spPr>
        <p:txBody>
          <a:bodyPr/>
          <a:lstStyle/>
          <a:p>
            <a:endParaRPr lang="en-US"/>
          </a:p>
        </p:txBody>
      </p:sp>
      <p:sp>
        <p:nvSpPr>
          <p:cNvPr id="169" name="Shape 167"/>
          <p:cNvSpPr/>
          <p:nvPr/>
        </p:nvSpPr>
        <p:spPr>
          <a:xfrm>
            <a:off x="3305410" y="5825100"/>
            <a:ext cx="58522" cy="58522"/>
          </a:xfrm>
          <a:prstGeom prst="ellipse">
            <a:avLst/>
          </a:prstGeom>
          <a:solidFill>
            <a:srgbClr val="12A5B8"/>
          </a:solidFill>
          <a:ln w="6350">
            <a:solidFill>
              <a:srgbClr val="12A5B8"/>
            </a:solidFill>
            <a:prstDash val="solid"/>
          </a:ln>
        </p:spPr>
        <p:txBody>
          <a:bodyPr/>
          <a:lstStyle/>
          <a:p>
            <a:endParaRPr lang="en-US"/>
          </a:p>
        </p:txBody>
      </p:sp>
      <p:sp>
        <p:nvSpPr>
          <p:cNvPr id="170" name="Shape 168"/>
          <p:cNvSpPr/>
          <p:nvPr/>
        </p:nvSpPr>
        <p:spPr>
          <a:xfrm>
            <a:off x="2277371" y="4863881"/>
            <a:ext cx="58522" cy="58522"/>
          </a:xfrm>
          <a:prstGeom prst="ellipse">
            <a:avLst/>
          </a:prstGeom>
          <a:solidFill>
            <a:srgbClr val="12A5B8"/>
          </a:solidFill>
          <a:ln w="6350">
            <a:solidFill>
              <a:srgbClr val="12A5B8"/>
            </a:solidFill>
            <a:prstDash val="solid"/>
          </a:ln>
        </p:spPr>
        <p:txBody>
          <a:bodyPr/>
          <a:lstStyle/>
          <a:p>
            <a:endParaRPr lang="en-US"/>
          </a:p>
        </p:txBody>
      </p:sp>
      <p:sp>
        <p:nvSpPr>
          <p:cNvPr id="171" name="Shape 169"/>
          <p:cNvSpPr/>
          <p:nvPr/>
        </p:nvSpPr>
        <p:spPr>
          <a:xfrm>
            <a:off x="883785" y="3626771"/>
            <a:ext cx="58522" cy="58522"/>
          </a:xfrm>
          <a:prstGeom prst="ellipse">
            <a:avLst/>
          </a:prstGeom>
          <a:solidFill>
            <a:srgbClr val="12A5B8"/>
          </a:solidFill>
          <a:ln w="6350">
            <a:solidFill>
              <a:srgbClr val="12A5B8"/>
            </a:solidFill>
            <a:prstDash val="solid"/>
          </a:ln>
        </p:spPr>
        <p:txBody>
          <a:bodyPr/>
          <a:lstStyle/>
          <a:p>
            <a:endParaRPr lang="en-US"/>
          </a:p>
        </p:txBody>
      </p:sp>
      <p:sp>
        <p:nvSpPr>
          <p:cNvPr id="172" name="Shape 170"/>
          <p:cNvSpPr/>
          <p:nvPr/>
        </p:nvSpPr>
        <p:spPr>
          <a:xfrm>
            <a:off x="4899363" y="8123473"/>
            <a:ext cx="58522" cy="58522"/>
          </a:xfrm>
          <a:prstGeom prst="ellipse">
            <a:avLst/>
          </a:prstGeom>
          <a:solidFill>
            <a:srgbClr val="12A5B8"/>
          </a:solidFill>
          <a:ln w="6350">
            <a:solidFill>
              <a:srgbClr val="12A5B8"/>
            </a:solidFill>
            <a:prstDash val="solid"/>
          </a:ln>
        </p:spPr>
        <p:txBody>
          <a:bodyPr/>
          <a:lstStyle/>
          <a:p>
            <a:endParaRPr lang="en-US"/>
          </a:p>
        </p:txBody>
      </p:sp>
      <p:sp>
        <p:nvSpPr>
          <p:cNvPr id="173" name="Shape 171"/>
          <p:cNvSpPr/>
          <p:nvPr/>
        </p:nvSpPr>
        <p:spPr>
          <a:xfrm>
            <a:off x="7923587" y="7755774"/>
            <a:ext cx="58522" cy="58522"/>
          </a:xfrm>
          <a:prstGeom prst="ellipse">
            <a:avLst/>
          </a:prstGeom>
          <a:solidFill>
            <a:srgbClr val="12A5B8"/>
          </a:solidFill>
          <a:ln w="6350">
            <a:solidFill>
              <a:srgbClr val="12A5B8"/>
            </a:solidFill>
            <a:prstDash val="solid"/>
          </a:ln>
        </p:spPr>
        <p:txBody>
          <a:bodyPr/>
          <a:lstStyle/>
          <a:p>
            <a:endParaRPr lang="en-US"/>
          </a:p>
        </p:txBody>
      </p:sp>
      <p:sp>
        <p:nvSpPr>
          <p:cNvPr id="174" name="Shape 172"/>
          <p:cNvSpPr/>
          <p:nvPr/>
        </p:nvSpPr>
        <p:spPr>
          <a:xfrm>
            <a:off x="9018353" y="8637726"/>
            <a:ext cx="58522" cy="58522"/>
          </a:xfrm>
          <a:prstGeom prst="ellipse">
            <a:avLst/>
          </a:prstGeom>
          <a:solidFill>
            <a:srgbClr val="12A5B8"/>
          </a:solidFill>
          <a:ln w="6350">
            <a:solidFill>
              <a:srgbClr val="12A5B8"/>
            </a:solidFill>
            <a:prstDash val="solid"/>
          </a:ln>
        </p:spPr>
        <p:txBody>
          <a:bodyPr/>
          <a:lstStyle/>
          <a:p>
            <a:endParaRPr lang="en-US"/>
          </a:p>
        </p:txBody>
      </p:sp>
      <p:sp>
        <p:nvSpPr>
          <p:cNvPr id="175" name="Shape 173"/>
          <p:cNvSpPr/>
          <p:nvPr/>
        </p:nvSpPr>
        <p:spPr>
          <a:xfrm>
            <a:off x="7379947" y="7310493"/>
            <a:ext cx="58522" cy="58522"/>
          </a:xfrm>
          <a:prstGeom prst="ellipse">
            <a:avLst/>
          </a:prstGeom>
          <a:solidFill>
            <a:srgbClr val="12A5B8"/>
          </a:solidFill>
          <a:ln w="6350">
            <a:solidFill>
              <a:srgbClr val="12A5B8"/>
            </a:solidFill>
            <a:prstDash val="solid"/>
          </a:ln>
        </p:spPr>
        <p:txBody>
          <a:bodyPr/>
          <a:lstStyle/>
          <a:p>
            <a:endParaRPr lang="en-US"/>
          </a:p>
        </p:txBody>
      </p:sp>
      <p:sp>
        <p:nvSpPr>
          <p:cNvPr id="176" name="Shape 174"/>
          <p:cNvSpPr/>
          <p:nvPr/>
        </p:nvSpPr>
        <p:spPr>
          <a:xfrm>
            <a:off x="6425653" y="4697298"/>
            <a:ext cx="58522" cy="58522"/>
          </a:xfrm>
          <a:prstGeom prst="ellipse">
            <a:avLst/>
          </a:prstGeom>
          <a:solidFill>
            <a:srgbClr val="12A5B8"/>
          </a:solidFill>
          <a:ln w="6350">
            <a:solidFill>
              <a:srgbClr val="12A5B8"/>
            </a:solidFill>
            <a:prstDash val="solid"/>
          </a:ln>
        </p:spPr>
        <p:txBody>
          <a:bodyPr/>
          <a:lstStyle/>
          <a:p>
            <a:endParaRPr lang="en-US"/>
          </a:p>
        </p:txBody>
      </p:sp>
      <p:sp>
        <p:nvSpPr>
          <p:cNvPr id="177" name="Shape 175"/>
          <p:cNvSpPr/>
          <p:nvPr/>
        </p:nvSpPr>
        <p:spPr>
          <a:xfrm>
            <a:off x="7591825" y="5477055"/>
            <a:ext cx="58522" cy="58522"/>
          </a:xfrm>
          <a:prstGeom prst="ellipse">
            <a:avLst/>
          </a:prstGeom>
          <a:solidFill>
            <a:srgbClr val="12A5B8"/>
          </a:solidFill>
          <a:ln w="6350">
            <a:solidFill>
              <a:srgbClr val="12A5B8"/>
            </a:solidFill>
            <a:prstDash val="solid"/>
          </a:ln>
        </p:spPr>
        <p:txBody>
          <a:bodyPr/>
          <a:lstStyle/>
          <a:p>
            <a:endParaRPr lang="en-US"/>
          </a:p>
        </p:txBody>
      </p:sp>
      <p:sp>
        <p:nvSpPr>
          <p:cNvPr id="178" name="Shape 176"/>
          <p:cNvSpPr/>
          <p:nvPr/>
        </p:nvSpPr>
        <p:spPr>
          <a:xfrm>
            <a:off x="8424645" y="5908017"/>
            <a:ext cx="58522" cy="58522"/>
          </a:xfrm>
          <a:prstGeom prst="ellipse">
            <a:avLst/>
          </a:prstGeom>
          <a:solidFill>
            <a:srgbClr val="12A5B8"/>
          </a:solidFill>
          <a:ln w="6350">
            <a:solidFill>
              <a:srgbClr val="12A5B8"/>
            </a:solidFill>
            <a:prstDash val="solid"/>
          </a:ln>
        </p:spPr>
        <p:txBody>
          <a:bodyPr/>
          <a:lstStyle/>
          <a:p>
            <a:endParaRPr lang="en-US"/>
          </a:p>
        </p:txBody>
      </p:sp>
      <p:sp>
        <p:nvSpPr>
          <p:cNvPr id="179" name="Shape 177"/>
          <p:cNvSpPr/>
          <p:nvPr/>
        </p:nvSpPr>
        <p:spPr>
          <a:xfrm>
            <a:off x="8468724" y="4253702"/>
            <a:ext cx="58522" cy="58522"/>
          </a:xfrm>
          <a:prstGeom prst="ellipse">
            <a:avLst/>
          </a:prstGeom>
          <a:solidFill>
            <a:srgbClr val="12A5B8"/>
          </a:solidFill>
          <a:ln w="6350">
            <a:solidFill>
              <a:srgbClr val="12A5B8"/>
            </a:solidFill>
            <a:prstDash val="solid"/>
          </a:ln>
        </p:spPr>
        <p:txBody>
          <a:bodyPr/>
          <a:lstStyle/>
          <a:p>
            <a:endParaRPr lang="en-US"/>
          </a:p>
        </p:txBody>
      </p:sp>
      <p:sp>
        <p:nvSpPr>
          <p:cNvPr id="180" name="Shape 178"/>
          <p:cNvSpPr/>
          <p:nvPr/>
        </p:nvSpPr>
        <p:spPr>
          <a:xfrm>
            <a:off x="3030268" y="3819932"/>
            <a:ext cx="58522" cy="58522"/>
          </a:xfrm>
          <a:prstGeom prst="ellipse">
            <a:avLst/>
          </a:prstGeom>
          <a:solidFill>
            <a:srgbClr val="12A5B8"/>
          </a:solidFill>
          <a:ln w="6350">
            <a:solidFill>
              <a:srgbClr val="12A5B8"/>
            </a:solidFill>
            <a:prstDash val="solid"/>
          </a:ln>
        </p:spPr>
        <p:txBody>
          <a:bodyPr/>
          <a:lstStyle/>
          <a:p>
            <a:endParaRPr lang="en-US"/>
          </a:p>
        </p:txBody>
      </p:sp>
      <p:sp>
        <p:nvSpPr>
          <p:cNvPr id="181" name="Shape 179"/>
          <p:cNvSpPr/>
          <p:nvPr/>
        </p:nvSpPr>
        <p:spPr>
          <a:xfrm>
            <a:off x="2506188" y="3399264"/>
            <a:ext cx="58522" cy="58522"/>
          </a:xfrm>
          <a:prstGeom prst="ellipse">
            <a:avLst/>
          </a:prstGeom>
          <a:solidFill>
            <a:srgbClr val="12A5B8"/>
          </a:solidFill>
          <a:ln w="6350">
            <a:solidFill>
              <a:srgbClr val="12A5B8"/>
            </a:solidFill>
            <a:prstDash val="solid"/>
          </a:ln>
        </p:spPr>
        <p:txBody>
          <a:bodyPr/>
          <a:lstStyle/>
          <a:p>
            <a:endParaRPr lang="en-US"/>
          </a:p>
        </p:txBody>
      </p:sp>
      <p:sp>
        <p:nvSpPr>
          <p:cNvPr id="182" name="Shape 180"/>
          <p:cNvSpPr/>
          <p:nvPr/>
        </p:nvSpPr>
        <p:spPr>
          <a:xfrm>
            <a:off x="1983979" y="2979999"/>
            <a:ext cx="58522" cy="58522"/>
          </a:xfrm>
          <a:prstGeom prst="ellipse">
            <a:avLst/>
          </a:prstGeom>
          <a:solidFill>
            <a:srgbClr val="12A5B8"/>
          </a:solidFill>
          <a:ln w="6350">
            <a:solidFill>
              <a:srgbClr val="12A5B8"/>
            </a:solidFill>
            <a:prstDash val="solid"/>
          </a:ln>
        </p:spPr>
        <p:txBody>
          <a:bodyPr/>
          <a:lstStyle/>
          <a:p>
            <a:endParaRPr lang="en-US"/>
          </a:p>
        </p:txBody>
      </p:sp>
      <p:sp>
        <p:nvSpPr>
          <p:cNvPr id="183" name="Shape 181"/>
          <p:cNvSpPr/>
          <p:nvPr/>
        </p:nvSpPr>
        <p:spPr>
          <a:xfrm>
            <a:off x="1460461" y="2559332"/>
            <a:ext cx="58522" cy="58522"/>
          </a:xfrm>
          <a:prstGeom prst="ellipse">
            <a:avLst/>
          </a:prstGeom>
          <a:solidFill>
            <a:srgbClr val="12A5B8"/>
          </a:solidFill>
          <a:ln w="6350">
            <a:solidFill>
              <a:srgbClr val="12A5B8"/>
            </a:solidFill>
            <a:prstDash val="solid"/>
          </a:ln>
        </p:spPr>
        <p:txBody>
          <a:bodyPr/>
          <a:lstStyle/>
          <a:p>
            <a:endParaRPr lang="en-US"/>
          </a:p>
        </p:txBody>
      </p:sp>
      <p:sp>
        <p:nvSpPr>
          <p:cNvPr id="184" name="Shape 182"/>
          <p:cNvSpPr/>
          <p:nvPr/>
        </p:nvSpPr>
        <p:spPr>
          <a:xfrm>
            <a:off x="938814" y="2140442"/>
            <a:ext cx="58522" cy="58522"/>
          </a:xfrm>
          <a:prstGeom prst="ellipse">
            <a:avLst/>
          </a:prstGeom>
          <a:solidFill>
            <a:srgbClr val="12A5B8"/>
          </a:solidFill>
          <a:ln w="6350">
            <a:solidFill>
              <a:srgbClr val="12A5B8"/>
            </a:solidFill>
            <a:prstDash val="solid"/>
          </a:ln>
        </p:spPr>
        <p:txBody>
          <a:bodyPr/>
          <a:lstStyle/>
          <a:p>
            <a:endParaRPr lang="en-US"/>
          </a:p>
        </p:txBody>
      </p:sp>
      <p:sp>
        <p:nvSpPr>
          <p:cNvPr id="185" name="Shape 183"/>
          <p:cNvSpPr/>
          <p:nvPr/>
        </p:nvSpPr>
        <p:spPr>
          <a:xfrm>
            <a:off x="3305691" y="5299054"/>
            <a:ext cx="58522" cy="58522"/>
          </a:xfrm>
          <a:prstGeom prst="ellipse">
            <a:avLst/>
          </a:prstGeom>
          <a:solidFill>
            <a:srgbClr val="12A5B8"/>
          </a:solidFill>
          <a:ln w="6350">
            <a:solidFill>
              <a:srgbClr val="12A5B8"/>
            </a:solidFill>
            <a:prstDash val="solid"/>
          </a:ln>
        </p:spPr>
        <p:txBody>
          <a:bodyPr/>
          <a:lstStyle/>
          <a:p>
            <a:endParaRPr lang="en-US"/>
          </a:p>
        </p:txBody>
      </p:sp>
      <p:sp>
        <p:nvSpPr>
          <p:cNvPr id="186" name="Shape 184"/>
          <p:cNvSpPr/>
          <p:nvPr/>
        </p:nvSpPr>
        <p:spPr>
          <a:xfrm>
            <a:off x="9083208" y="8601696"/>
            <a:ext cx="58522" cy="58522"/>
          </a:xfrm>
          <a:prstGeom prst="ellipse">
            <a:avLst/>
          </a:prstGeom>
          <a:solidFill>
            <a:srgbClr val="12A5B8"/>
          </a:solidFill>
          <a:ln w="6350">
            <a:solidFill>
              <a:srgbClr val="12A5B8"/>
            </a:solidFill>
            <a:prstDash val="solid"/>
          </a:ln>
        </p:spPr>
        <p:txBody>
          <a:bodyPr/>
          <a:lstStyle/>
          <a:p>
            <a:endParaRPr lang="en-US"/>
          </a:p>
        </p:txBody>
      </p:sp>
      <p:sp>
        <p:nvSpPr>
          <p:cNvPr id="187" name="Shape 185"/>
          <p:cNvSpPr/>
          <p:nvPr/>
        </p:nvSpPr>
        <p:spPr>
          <a:xfrm>
            <a:off x="6464210" y="8133112"/>
            <a:ext cx="58522" cy="58522"/>
          </a:xfrm>
          <a:prstGeom prst="ellipse">
            <a:avLst/>
          </a:prstGeom>
          <a:solidFill>
            <a:srgbClr val="12A5B8"/>
          </a:solidFill>
          <a:ln w="6350">
            <a:solidFill>
              <a:srgbClr val="12A5B8"/>
            </a:solidFill>
            <a:prstDash val="solid"/>
          </a:ln>
        </p:spPr>
        <p:txBody>
          <a:bodyPr/>
          <a:lstStyle/>
          <a:p>
            <a:endParaRPr lang="en-US"/>
          </a:p>
        </p:txBody>
      </p:sp>
      <p:sp>
        <p:nvSpPr>
          <p:cNvPr id="188" name="Shape 186"/>
          <p:cNvSpPr/>
          <p:nvPr/>
        </p:nvSpPr>
        <p:spPr>
          <a:xfrm>
            <a:off x="6688629" y="8764254"/>
            <a:ext cx="58522" cy="58522"/>
          </a:xfrm>
          <a:prstGeom prst="ellipse">
            <a:avLst/>
          </a:prstGeom>
          <a:solidFill>
            <a:srgbClr val="12A5B8"/>
          </a:solidFill>
          <a:ln w="6350">
            <a:solidFill>
              <a:srgbClr val="12A5B8"/>
            </a:solidFill>
            <a:prstDash val="solid"/>
          </a:ln>
        </p:spPr>
        <p:txBody>
          <a:bodyPr/>
          <a:lstStyle/>
          <a:p>
            <a:endParaRPr lang="en-US"/>
          </a:p>
        </p:txBody>
      </p:sp>
      <p:sp>
        <p:nvSpPr>
          <p:cNvPr id="189" name="Shape 187"/>
          <p:cNvSpPr/>
          <p:nvPr/>
        </p:nvSpPr>
        <p:spPr>
          <a:xfrm>
            <a:off x="6896670" y="9444903"/>
            <a:ext cx="58522" cy="58522"/>
          </a:xfrm>
          <a:prstGeom prst="ellipse">
            <a:avLst/>
          </a:prstGeom>
          <a:solidFill>
            <a:srgbClr val="12A5B8"/>
          </a:solidFill>
          <a:ln w="6350">
            <a:solidFill>
              <a:srgbClr val="12A5B8"/>
            </a:solidFill>
            <a:prstDash val="solid"/>
          </a:ln>
        </p:spPr>
        <p:txBody>
          <a:bodyPr/>
          <a:lstStyle/>
          <a:p>
            <a:endParaRPr lang="en-US"/>
          </a:p>
        </p:txBody>
      </p:sp>
      <p:sp>
        <p:nvSpPr>
          <p:cNvPr id="190" name="Shape 188"/>
          <p:cNvSpPr/>
          <p:nvPr/>
        </p:nvSpPr>
        <p:spPr>
          <a:xfrm>
            <a:off x="7037517" y="10124149"/>
            <a:ext cx="58522" cy="58522"/>
          </a:xfrm>
          <a:prstGeom prst="ellipse">
            <a:avLst/>
          </a:prstGeom>
          <a:solidFill>
            <a:srgbClr val="12A5B8"/>
          </a:solidFill>
          <a:ln w="6350">
            <a:solidFill>
              <a:srgbClr val="12A5B8"/>
            </a:solidFill>
            <a:prstDash val="solid"/>
          </a:ln>
        </p:spPr>
        <p:txBody>
          <a:bodyPr/>
          <a:lstStyle/>
          <a:p>
            <a:endParaRPr lang="en-US"/>
          </a:p>
        </p:txBody>
      </p:sp>
      <p:sp>
        <p:nvSpPr>
          <p:cNvPr id="191" name="Shape 189"/>
          <p:cNvSpPr/>
          <p:nvPr/>
        </p:nvSpPr>
        <p:spPr>
          <a:xfrm>
            <a:off x="9088355" y="8285657"/>
            <a:ext cx="58522" cy="58522"/>
          </a:xfrm>
          <a:prstGeom prst="ellipse">
            <a:avLst/>
          </a:prstGeom>
          <a:solidFill>
            <a:srgbClr val="12A5B8"/>
          </a:solidFill>
          <a:ln w="6350">
            <a:solidFill>
              <a:srgbClr val="12A5B8"/>
            </a:solidFill>
            <a:prstDash val="solid"/>
          </a:ln>
        </p:spPr>
        <p:txBody>
          <a:bodyPr/>
          <a:lstStyle/>
          <a:p>
            <a:endParaRPr lang="en-US"/>
          </a:p>
        </p:txBody>
      </p:sp>
      <p:sp>
        <p:nvSpPr>
          <p:cNvPr id="192" name="Shape 190"/>
          <p:cNvSpPr/>
          <p:nvPr/>
        </p:nvSpPr>
        <p:spPr>
          <a:xfrm>
            <a:off x="8437653" y="8026986"/>
            <a:ext cx="58522" cy="58522"/>
          </a:xfrm>
          <a:prstGeom prst="ellipse">
            <a:avLst/>
          </a:prstGeom>
          <a:solidFill>
            <a:srgbClr val="12A5B8"/>
          </a:solidFill>
          <a:ln w="6350">
            <a:solidFill>
              <a:srgbClr val="12A5B8"/>
            </a:solidFill>
            <a:prstDash val="solid"/>
          </a:ln>
        </p:spPr>
        <p:txBody>
          <a:bodyPr/>
          <a:lstStyle/>
          <a:p>
            <a:endParaRPr lang="en-US"/>
          </a:p>
        </p:txBody>
      </p:sp>
      <p:sp>
        <p:nvSpPr>
          <p:cNvPr id="193" name="Shape 191"/>
          <p:cNvSpPr/>
          <p:nvPr/>
        </p:nvSpPr>
        <p:spPr>
          <a:xfrm>
            <a:off x="5212033" y="3140499"/>
            <a:ext cx="58522" cy="58522"/>
          </a:xfrm>
          <a:prstGeom prst="ellipse">
            <a:avLst/>
          </a:prstGeom>
          <a:solidFill>
            <a:srgbClr val="12A5B8"/>
          </a:solidFill>
          <a:ln w="6350">
            <a:solidFill>
              <a:srgbClr val="12A5B8"/>
            </a:solidFill>
            <a:prstDash val="solid"/>
          </a:ln>
        </p:spPr>
        <p:txBody>
          <a:bodyPr/>
          <a:lstStyle/>
          <a:p>
            <a:endParaRPr lang="en-US"/>
          </a:p>
        </p:txBody>
      </p:sp>
      <p:sp>
        <p:nvSpPr>
          <p:cNvPr id="194" name="Shape 192"/>
          <p:cNvSpPr/>
          <p:nvPr/>
        </p:nvSpPr>
        <p:spPr>
          <a:xfrm>
            <a:off x="1906490" y="5459086"/>
            <a:ext cx="58522" cy="58522"/>
          </a:xfrm>
          <a:prstGeom prst="ellipse">
            <a:avLst/>
          </a:prstGeom>
          <a:solidFill>
            <a:srgbClr val="12A5B8"/>
          </a:solidFill>
          <a:ln w="6350">
            <a:solidFill>
              <a:srgbClr val="12A5B8"/>
            </a:solidFill>
            <a:prstDash val="solid"/>
          </a:ln>
        </p:spPr>
        <p:txBody>
          <a:bodyPr/>
          <a:lstStyle/>
          <a:p>
            <a:endParaRPr lang="en-US"/>
          </a:p>
        </p:txBody>
      </p:sp>
      <p:sp>
        <p:nvSpPr>
          <p:cNvPr id="195" name="Shape 193"/>
          <p:cNvSpPr/>
          <p:nvPr/>
        </p:nvSpPr>
        <p:spPr>
          <a:xfrm>
            <a:off x="4103978" y="7995822"/>
            <a:ext cx="58522" cy="58522"/>
          </a:xfrm>
          <a:prstGeom prst="ellipse">
            <a:avLst/>
          </a:prstGeom>
          <a:solidFill>
            <a:srgbClr val="12A5B8"/>
          </a:solidFill>
          <a:ln w="6350">
            <a:solidFill>
              <a:srgbClr val="12A5B8"/>
            </a:solidFill>
            <a:prstDash val="solid"/>
          </a:ln>
        </p:spPr>
        <p:txBody>
          <a:bodyPr/>
          <a:lstStyle/>
          <a:p>
            <a:endParaRPr lang="en-US"/>
          </a:p>
        </p:txBody>
      </p:sp>
      <p:sp>
        <p:nvSpPr>
          <p:cNvPr id="196" name="Shape 194"/>
          <p:cNvSpPr/>
          <p:nvPr/>
        </p:nvSpPr>
        <p:spPr>
          <a:xfrm>
            <a:off x="2261742" y="767258"/>
            <a:ext cx="58522" cy="58522"/>
          </a:xfrm>
          <a:prstGeom prst="ellipse">
            <a:avLst/>
          </a:prstGeom>
          <a:solidFill>
            <a:srgbClr val="12A5B8"/>
          </a:solidFill>
          <a:ln w="6350">
            <a:solidFill>
              <a:srgbClr val="12A5B8"/>
            </a:solidFill>
            <a:prstDash val="solid"/>
          </a:ln>
        </p:spPr>
        <p:txBody>
          <a:bodyPr/>
          <a:lstStyle/>
          <a:p>
            <a:endParaRPr lang="en-US"/>
          </a:p>
        </p:txBody>
      </p:sp>
      <p:sp>
        <p:nvSpPr>
          <p:cNvPr id="197" name="Shape 195"/>
          <p:cNvSpPr/>
          <p:nvPr/>
        </p:nvSpPr>
        <p:spPr>
          <a:xfrm>
            <a:off x="8473403" y="5653838"/>
            <a:ext cx="58522" cy="58522"/>
          </a:xfrm>
          <a:prstGeom prst="ellipse">
            <a:avLst/>
          </a:prstGeom>
          <a:solidFill>
            <a:srgbClr val="12A5B8"/>
          </a:solidFill>
          <a:ln w="6350">
            <a:solidFill>
              <a:srgbClr val="12A5B8"/>
            </a:solidFill>
            <a:prstDash val="solid"/>
          </a:ln>
        </p:spPr>
        <p:txBody>
          <a:bodyPr/>
          <a:lstStyle/>
          <a:p>
            <a:endParaRPr lang="en-US"/>
          </a:p>
        </p:txBody>
      </p:sp>
      <p:sp>
        <p:nvSpPr>
          <p:cNvPr id="198" name="Shape 196"/>
          <p:cNvSpPr/>
          <p:nvPr/>
        </p:nvSpPr>
        <p:spPr>
          <a:xfrm>
            <a:off x="5491761" y="2325929"/>
            <a:ext cx="58522" cy="58522"/>
          </a:xfrm>
          <a:prstGeom prst="ellipse">
            <a:avLst/>
          </a:prstGeom>
          <a:solidFill>
            <a:srgbClr val="12A5B8"/>
          </a:solidFill>
          <a:ln w="6350">
            <a:solidFill>
              <a:srgbClr val="12A5B8"/>
            </a:solidFill>
            <a:prstDash val="solid"/>
          </a:ln>
        </p:spPr>
        <p:txBody>
          <a:bodyPr/>
          <a:lstStyle/>
          <a:p>
            <a:endParaRPr lang="en-US"/>
          </a:p>
        </p:txBody>
      </p:sp>
      <p:sp>
        <p:nvSpPr>
          <p:cNvPr id="199" name="Shape 197"/>
          <p:cNvSpPr/>
          <p:nvPr/>
        </p:nvSpPr>
        <p:spPr>
          <a:xfrm>
            <a:off x="5716928" y="2485305"/>
            <a:ext cx="58522" cy="58522"/>
          </a:xfrm>
          <a:prstGeom prst="ellipse">
            <a:avLst/>
          </a:prstGeom>
          <a:solidFill>
            <a:srgbClr val="12A5B8"/>
          </a:solidFill>
          <a:ln w="6350">
            <a:solidFill>
              <a:srgbClr val="12A5B8"/>
            </a:solidFill>
            <a:prstDash val="solid"/>
          </a:ln>
        </p:spPr>
        <p:txBody>
          <a:bodyPr/>
          <a:lstStyle/>
          <a:p>
            <a:endParaRPr lang="en-US"/>
          </a:p>
        </p:txBody>
      </p:sp>
      <p:sp>
        <p:nvSpPr>
          <p:cNvPr id="200" name="Shape 198"/>
          <p:cNvSpPr/>
          <p:nvPr/>
        </p:nvSpPr>
        <p:spPr>
          <a:xfrm>
            <a:off x="6729807" y="3218175"/>
            <a:ext cx="58522" cy="58522"/>
          </a:xfrm>
          <a:prstGeom prst="ellipse">
            <a:avLst/>
          </a:prstGeom>
          <a:solidFill>
            <a:srgbClr val="12A5B8"/>
          </a:solidFill>
          <a:ln w="6350">
            <a:solidFill>
              <a:srgbClr val="12A5B8"/>
            </a:solidFill>
            <a:prstDash val="solid"/>
          </a:ln>
        </p:spPr>
        <p:txBody>
          <a:bodyPr/>
          <a:lstStyle/>
          <a:p>
            <a:endParaRPr lang="en-US"/>
          </a:p>
        </p:txBody>
      </p:sp>
      <p:sp>
        <p:nvSpPr>
          <p:cNvPr id="201" name="Shape 199"/>
          <p:cNvSpPr/>
          <p:nvPr/>
        </p:nvSpPr>
        <p:spPr>
          <a:xfrm>
            <a:off x="7695705" y="3929427"/>
            <a:ext cx="58522" cy="58522"/>
          </a:xfrm>
          <a:prstGeom prst="ellipse">
            <a:avLst/>
          </a:prstGeom>
          <a:solidFill>
            <a:srgbClr val="12A5B8"/>
          </a:solidFill>
          <a:ln w="6350">
            <a:solidFill>
              <a:srgbClr val="12A5B8"/>
            </a:solidFill>
            <a:prstDash val="solid"/>
          </a:ln>
        </p:spPr>
        <p:txBody>
          <a:bodyPr/>
          <a:lstStyle/>
          <a:p>
            <a:endParaRPr lang="en-US"/>
          </a:p>
        </p:txBody>
      </p:sp>
      <p:sp>
        <p:nvSpPr>
          <p:cNvPr id="202" name="Shape 200"/>
          <p:cNvSpPr/>
          <p:nvPr/>
        </p:nvSpPr>
        <p:spPr>
          <a:xfrm>
            <a:off x="2798737" y="7143911"/>
            <a:ext cx="58522" cy="58522"/>
          </a:xfrm>
          <a:prstGeom prst="ellipse">
            <a:avLst/>
          </a:prstGeom>
          <a:solidFill>
            <a:srgbClr val="12A5B8"/>
          </a:solidFill>
          <a:ln w="6350">
            <a:solidFill>
              <a:srgbClr val="12A5B8"/>
            </a:solidFill>
            <a:prstDash val="solid"/>
          </a:ln>
        </p:spPr>
        <p:txBody>
          <a:bodyPr/>
          <a:lstStyle/>
          <a:p>
            <a:endParaRPr lang="en-US"/>
          </a:p>
        </p:txBody>
      </p:sp>
      <p:sp>
        <p:nvSpPr>
          <p:cNvPr id="203" name="Shape 201"/>
          <p:cNvSpPr/>
          <p:nvPr/>
        </p:nvSpPr>
        <p:spPr>
          <a:xfrm>
            <a:off x="3537971" y="8338813"/>
            <a:ext cx="58522" cy="58522"/>
          </a:xfrm>
          <a:prstGeom prst="ellipse">
            <a:avLst/>
          </a:prstGeom>
          <a:solidFill>
            <a:srgbClr val="12A5B8"/>
          </a:solidFill>
          <a:ln w="6350">
            <a:solidFill>
              <a:srgbClr val="12A5B8"/>
            </a:solidFill>
            <a:prstDash val="solid"/>
          </a:ln>
        </p:spPr>
        <p:txBody>
          <a:bodyPr/>
          <a:lstStyle/>
          <a:p>
            <a:endParaRPr lang="en-US"/>
          </a:p>
        </p:txBody>
      </p:sp>
      <p:sp>
        <p:nvSpPr>
          <p:cNvPr id="204" name="Shape 202"/>
          <p:cNvSpPr/>
          <p:nvPr/>
        </p:nvSpPr>
        <p:spPr>
          <a:xfrm>
            <a:off x="4166961" y="9873994"/>
            <a:ext cx="58522" cy="58522"/>
          </a:xfrm>
          <a:prstGeom prst="ellipse">
            <a:avLst/>
          </a:prstGeom>
          <a:solidFill>
            <a:srgbClr val="12A5B8"/>
          </a:solidFill>
          <a:ln w="6350">
            <a:solidFill>
              <a:srgbClr val="12A5B8"/>
            </a:solidFill>
            <a:prstDash val="solid"/>
          </a:ln>
        </p:spPr>
        <p:txBody>
          <a:bodyPr/>
          <a:lstStyle/>
          <a:p>
            <a:endParaRPr lang="en-US"/>
          </a:p>
        </p:txBody>
      </p:sp>
      <p:sp>
        <p:nvSpPr>
          <p:cNvPr id="205" name="Shape 203"/>
          <p:cNvSpPr/>
          <p:nvPr/>
        </p:nvSpPr>
        <p:spPr>
          <a:xfrm>
            <a:off x="8164570" y="4269237"/>
            <a:ext cx="58522" cy="58522"/>
          </a:xfrm>
          <a:prstGeom prst="ellipse">
            <a:avLst/>
          </a:prstGeom>
          <a:solidFill>
            <a:srgbClr val="12A5B8"/>
          </a:solidFill>
          <a:ln w="6350">
            <a:solidFill>
              <a:srgbClr val="12A5B8"/>
            </a:solidFill>
            <a:prstDash val="solid"/>
          </a:ln>
        </p:spPr>
        <p:txBody>
          <a:bodyPr/>
          <a:lstStyle/>
          <a:p>
            <a:endParaRPr lang="en-US"/>
          </a:p>
        </p:txBody>
      </p:sp>
      <p:sp>
        <p:nvSpPr>
          <p:cNvPr id="206" name="Shape 204"/>
          <p:cNvSpPr/>
          <p:nvPr/>
        </p:nvSpPr>
        <p:spPr>
          <a:xfrm>
            <a:off x="9001975" y="4719104"/>
            <a:ext cx="58522" cy="58522"/>
          </a:xfrm>
          <a:prstGeom prst="ellipse">
            <a:avLst/>
          </a:prstGeom>
          <a:solidFill>
            <a:srgbClr val="12A5B8"/>
          </a:solidFill>
          <a:ln w="6350">
            <a:solidFill>
              <a:srgbClr val="12A5B8"/>
            </a:solidFill>
            <a:prstDash val="solid"/>
          </a:ln>
        </p:spPr>
        <p:txBody>
          <a:bodyPr/>
          <a:lstStyle/>
          <a:p>
            <a:endParaRPr lang="en-US"/>
          </a:p>
        </p:txBody>
      </p:sp>
      <p:sp>
        <p:nvSpPr>
          <p:cNvPr id="207" name="Shape 205"/>
          <p:cNvSpPr/>
          <p:nvPr/>
        </p:nvSpPr>
        <p:spPr>
          <a:xfrm>
            <a:off x="1670561" y="5932162"/>
            <a:ext cx="58522" cy="58522"/>
          </a:xfrm>
          <a:prstGeom prst="ellipse">
            <a:avLst/>
          </a:prstGeom>
          <a:solidFill>
            <a:srgbClr val="12A5B8"/>
          </a:solidFill>
          <a:ln w="6350">
            <a:solidFill>
              <a:srgbClr val="12A5B8"/>
            </a:solidFill>
            <a:prstDash val="solid"/>
          </a:ln>
        </p:spPr>
        <p:txBody>
          <a:bodyPr/>
          <a:lstStyle/>
          <a:p>
            <a:endParaRPr lang="en-US"/>
          </a:p>
        </p:txBody>
      </p:sp>
      <p:sp>
        <p:nvSpPr>
          <p:cNvPr id="208" name="Shape 206"/>
          <p:cNvSpPr/>
          <p:nvPr/>
        </p:nvSpPr>
        <p:spPr>
          <a:xfrm>
            <a:off x="3292215" y="1583326"/>
            <a:ext cx="58522" cy="58522"/>
          </a:xfrm>
          <a:prstGeom prst="ellipse">
            <a:avLst/>
          </a:prstGeom>
          <a:solidFill>
            <a:srgbClr val="12A5B8"/>
          </a:solidFill>
          <a:ln w="6350">
            <a:solidFill>
              <a:srgbClr val="12A5B8"/>
            </a:solidFill>
            <a:prstDash val="solid"/>
          </a:ln>
        </p:spPr>
        <p:txBody>
          <a:bodyPr/>
          <a:lstStyle/>
          <a:p>
            <a:endParaRPr lang="en-US"/>
          </a:p>
        </p:txBody>
      </p:sp>
      <p:sp>
        <p:nvSpPr>
          <p:cNvPr id="209" name="Shape 207"/>
          <p:cNvSpPr/>
          <p:nvPr/>
        </p:nvSpPr>
        <p:spPr>
          <a:xfrm>
            <a:off x="857581" y="4611574"/>
            <a:ext cx="58522" cy="58522"/>
          </a:xfrm>
          <a:prstGeom prst="ellipse">
            <a:avLst/>
          </a:prstGeom>
          <a:solidFill>
            <a:srgbClr val="12A5B8"/>
          </a:solidFill>
          <a:ln w="6350">
            <a:solidFill>
              <a:srgbClr val="12A5B8"/>
            </a:solidFill>
            <a:prstDash val="solid"/>
          </a:ln>
        </p:spPr>
        <p:txBody>
          <a:bodyPr/>
          <a:lstStyle/>
          <a:p>
            <a:endParaRPr lang="en-US"/>
          </a:p>
        </p:txBody>
      </p:sp>
      <p:sp>
        <p:nvSpPr>
          <p:cNvPr id="210" name="Shape 208"/>
          <p:cNvSpPr/>
          <p:nvPr/>
        </p:nvSpPr>
        <p:spPr>
          <a:xfrm>
            <a:off x="762592" y="5170000"/>
            <a:ext cx="58522" cy="58522"/>
          </a:xfrm>
          <a:prstGeom prst="ellipse">
            <a:avLst/>
          </a:prstGeom>
          <a:solidFill>
            <a:srgbClr val="12A5B8"/>
          </a:solidFill>
          <a:ln w="6350">
            <a:solidFill>
              <a:srgbClr val="12A5B8"/>
            </a:solidFill>
            <a:prstDash val="solid"/>
          </a:ln>
        </p:spPr>
        <p:txBody>
          <a:bodyPr/>
          <a:lstStyle/>
          <a:p>
            <a:endParaRPr lang="en-US"/>
          </a:p>
        </p:txBody>
      </p:sp>
      <p:sp>
        <p:nvSpPr>
          <p:cNvPr id="211" name="Shape 209"/>
          <p:cNvSpPr/>
          <p:nvPr/>
        </p:nvSpPr>
        <p:spPr>
          <a:xfrm>
            <a:off x="3963693" y="1179877"/>
            <a:ext cx="58522" cy="58522"/>
          </a:xfrm>
          <a:prstGeom prst="ellipse">
            <a:avLst/>
          </a:prstGeom>
          <a:solidFill>
            <a:srgbClr val="12A5B8"/>
          </a:solidFill>
          <a:ln w="6350">
            <a:solidFill>
              <a:srgbClr val="12A5B8"/>
            </a:solidFill>
            <a:prstDash val="solid"/>
          </a:ln>
        </p:spPr>
        <p:txBody>
          <a:bodyPr/>
          <a:lstStyle/>
          <a:p>
            <a:endParaRPr lang="en-US"/>
          </a:p>
        </p:txBody>
      </p:sp>
      <p:sp>
        <p:nvSpPr>
          <p:cNvPr id="212" name="Shape 210"/>
          <p:cNvSpPr/>
          <p:nvPr/>
        </p:nvSpPr>
        <p:spPr>
          <a:xfrm>
            <a:off x="4189141" y="2438606"/>
            <a:ext cx="58522" cy="58522"/>
          </a:xfrm>
          <a:prstGeom prst="ellipse">
            <a:avLst/>
          </a:prstGeom>
          <a:solidFill>
            <a:srgbClr val="12A5B8"/>
          </a:solidFill>
          <a:ln w="6350">
            <a:solidFill>
              <a:srgbClr val="12A5B8"/>
            </a:solidFill>
            <a:prstDash val="solid"/>
          </a:ln>
        </p:spPr>
        <p:txBody>
          <a:bodyPr/>
          <a:lstStyle/>
          <a:p>
            <a:endParaRPr lang="en-US"/>
          </a:p>
        </p:txBody>
      </p:sp>
      <p:sp>
        <p:nvSpPr>
          <p:cNvPr id="213" name="Shape 211"/>
          <p:cNvSpPr/>
          <p:nvPr/>
        </p:nvSpPr>
        <p:spPr>
          <a:xfrm>
            <a:off x="1556667" y="6777616"/>
            <a:ext cx="58522" cy="58522"/>
          </a:xfrm>
          <a:prstGeom prst="ellipse">
            <a:avLst/>
          </a:prstGeom>
          <a:solidFill>
            <a:srgbClr val="12A5B8"/>
          </a:solidFill>
          <a:ln w="6350">
            <a:solidFill>
              <a:srgbClr val="12A5B8"/>
            </a:solidFill>
            <a:prstDash val="solid"/>
          </a:ln>
        </p:spPr>
        <p:txBody>
          <a:bodyPr/>
          <a:lstStyle/>
          <a:p>
            <a:endParaRPr lang="en-US"/>
          </a:p>
        </p:txBody>
      </p:sp>
      <p:sp>
        <p:nvSpPr>
          <p:cNvPr id="214" name="Shape 212"/>
          <p:cNvSpPr/>
          <p:nvPr/>
        </p:nvSpPr>
        <p:spPr>
          <a:xfrm>
            <a:off x="5873591" y="2270526"/>
            <a:ext cx="58522" cy="58522"/>
          </a:xfrm>
          <a:prstGeom prst="ellipse">
            <a:avLst/>
          </a:prstGeom>
          <a:solidFill>
            <a:srgbClr val="12A5B8"/>
          </a:solidFill>
          <a:ln w="6350">
            <a:solidFill>
              <a:srgbClr val="12A5B8"/>
            </a:solidFill>
            <a:prstDash val="solid"/>
          </a:ln>
        </p:spPr>
        <p:txBody>
          <a:bodyPr/>
          <a:lstStyle/>
          <a:p>
            <a:endParaRPr lang="en-US"/>
          </a:p>
        </p:txBody>
      </p:sp>
      <p:sp>
        <p:nvSpPr>
          <p:cNvPr id="215" name="Shape 213"/>
          <p:cNvSpPr/>
          <p:nvPr/>
        </p:nvSpPr>
        <p:spPr>
          <a:xfrm>
            <a:off x="9286944" y="6265795"/>
            <a:ext cx="58522" cy="58522"/>
          </a:xfrm>
          <a:prstGeom prst="ellipse">
            <a:avLst/>
          </a:prstGeom>
          <a:solidFill>
            <a:srgbClr val="12A5B8"/>
          </a:solidFill>
          <a:ln w="6350">
            <a:solidFill>
              <a:srgbClr val="12A5B8"/>
            </a:solidFill>
            <a:prstDash val="solid"/>
          </a:ln>
        </p:spPr>
        <p:txBody>
          <a:bodyPr/>
          <a:lstStyle/>
          <a:p>
            <a:endParaRPr lang="en-US"/>
          </a:p>
        </p:txBody>
      </p:sp>
      <p:sp>
        <p:nvSpPr>
          <p:cNvPr id="216" name="Text 214"/>
          <p:cNvSpPr/>
          <p:nvPr/>
        </p:nvSpPr>
        <p:spPr>
          <a:xfrm>
            <a:off x="5479294" y="9347041"/>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RRM.76</a:t>
            </a:r>
            <a:endParaRPr lang="en-US" sz="500" dirty="0"/>
          </a:p>
        </p:txBody>
      </p:sp>
      <p:sp>
        <p:nvSpPr>
          <p:cNvPr id="217" name="Text 215"/>
          <p:cNvSpPr/>
          <p:nvPr/>
        </p:nvSpPr>
        <p:spPr>
          <a:xfrm>
            <a:off x="4297399" y="6827525"/>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RRM.282</a:t>
            </a:r>
            <a:endParaRPr lang="en-US" sz="500" dirty="0"/>
          </a:p>
        </p:txBody>
      </p:sp>
      <p:sp>
        <p:nvSpPr>
          <p:cNvPr id="218" name="Text 216"/>
          <p:cNvSpPr/>
          <p:nvPr/>
        </p:nvSpPr>
        <p:spPr>
          <a:xfrm>
            <a:off x="7978501" y="7636480"/>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TCCECH.04.018</a:t>
            </a:r>
            <a:endParaRPr lang="en-US" sz="500" dirty="0"/>
          </a:p>
        </p:txBody>
      </p:sp>
      <p:sp>
        <p:nvSpPr>
          <p:cNvPr id="219" name="Text 217"/>
          <p:cNvSpPr/>
          <p:nvPr/>
        </p:nvSpPr>
        <p:spPr>
          <a:xfrm>
            <a:off x="3394858" y="5743989"/>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RRM.539</a:t>
            </a:r>
            <a:endParaRPr lang="en-US" sz="500" dirty="0"/>
          </a:p>
        </p:txBody>
      </p:sp>
      <p:sp>
        <p:nvSpPr>
          <p:cNvPr id="220" name="Text 218"/>
          <p:cNvSpPr/>
          <p:nvPr/>
        </p:nvSpPr>
        <p:spPr>
          <a:xfrm>
            <a:off x="2366819" y="4782770"/>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RRM.540</a:t>
            </a:r>
            <a:endParaRPr lang="en-US" sz="500" dirty="0"/>
          </a:p>
        </p:txBody>
      </p:sp>
      <p:sp>
        <p:nvSpPr>
          <p:cNvPr id="221" name="Text 219"/>
          <p:cNvSpPr/>
          <p:nvPr/>
        </p:nvSpPr>
        <p:spPr>
          <a:xfrm>
            <a:off x="973233" y="3545660"/>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RRM.541</a:t>
            </a:r>
            <a:endParaRPr lang="en-US" sz="500" dirty="0"/>
          </a:p>
        </p:txBody>
      </p:sp>
      <p:sp>
        <p:nvSpPr>
          <p:cNvPr id="222" name="Text 220"/>
          <p:cNvSpPr/>
          <p:nvPr/>
        </p:nvSpPr>
        <p:spPr>
          <a:xfrm>
            <a:off x="4988811" y="8042362"/>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RRM.636</a:t>
            </a:r>
            <a:endParaRPr lang="en-US" sz="500" dirty="0"/>
          </a:p>
        </p:txBody>
      </p:sp>
      <p:sp>
        <p:nvSpPr>
          <p:cNvPr id="223" name="Text 221"/>
          <p:cNvSpPr/>
          <p:nvPr/>
        </p:nvSpPr>
        <p:spPr>
          <a:xfrm>
            <a:off x="8013034" y="7674663"/>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TCC103.12.019</a:t>
            </a:r>
            <a:endParaRPr lang="en-US" sz="500" dirty="0"/>
          </a:p>
        </p:txBody>
      </p:sp>
      <p:sp>
        <p:nvSpPr>
          <p:cNvPr id="224" name="Text 222"/>
          <p:cNvSpPr/>
          <p:nvPr/>
        </p:nvSpPr>
        <p:spPr>
          <a:xfrm>
            <a:off x="9107801" y="8556615"/>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TCC103.11.019</a:t>
            </a:r>
            <a:endParaRPr lang="en-US" sz="500" dirty="0"/>
          </a:p>
        </p:txBody>
      </p:sp>
      <p:sp>
        <p:nvSpPr>
          <p:cNvPr id="225" name="Text 223"/>
          <p:cNvSpPr/>
          <p:nvPr/>
        </p:nvSpPr>
        <p:spPr>
          <a:xfrm>
            <a:off x="7469395" y="7229382"/>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TCC103.11.020</a:t>
            </a:r>
            <a:endParaRPr lang="en-US" sz="500" dirty="0"/>
          </a:p>
        </p:txBody>
      </p:sp>
      <p:sp>
        <p:nvSpPr>
          <p:cNvPr id="226" name="Text 224"/>
          <p:cNvSpPr/>
          <p:nvPr/>
        </p:nvSpPr>
        <p:spPr>
          <a:xfrm>
            <a:off x="6515101" y="4616187"/>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TEC102.02.047</a:t>
            </a:r>
            <a:endParaRPr lang="en-US" sz="500" dirty="0"/>
          </a:p>
        </p:txBody>
      </p:sp>
      <p:sp>
        <p:nvSpPr>
          <p:cNvPr id="227" name="Text 225"/>
          <p:cNvSpPr/>
          <p:nvPr/>
        </p:nvSpPr>
        <p:spPr>
          <a:xfrm>
            <a:off x="7681273" y="5395944"/>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TEC102.02.048</a:t>
            </a:r>
            <a:endParaRPr lang="en-US" sz="500" dirty="0"/>
          </a:p>
        </p:txBody>
      </p:sp>
      <p:sp>
        <p:nvSpPr>
          <p:cNvPr id="228" name="Text 226"/>
          <p:cNvSpPr/>
          <p:nvPr/>
        </p:nvSpPr>
        <p:spPr>
          <a:xfrm>
            <a:off x="8514093" y="5826906"/>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TEC102.02.049</a:t>
            </a:r>
            <a:endParaRPr lang="en-US" sz="500" dirty="0"/>
          </a:p>
        </p:txBody>
      </p:sp>
      <p:sp>
        <p:nvSpPr>
          <p:cNvPr id="229" name="Text 227"/>
          <p:cNvSpPr/>
          <p:nvPr/>
        </p:nvSpPr>
        <p:spPr>
          <a:xfrm>
            <a:off x="8558171" y="4172591"/>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HH.E6.033</a:t>
            </a:r>
            <a:endParaRPr lang="en-US" sz="500" dirty="0"/>
          </a:p>
        </p:txBody>
      </p:sp>
      <p:sp>
        <p:nvSpPr>
          <p:cNvPr id="230" name="Text 228"/>
          <p:cNvSpPr/>
          <p:nvPr/>
        </p:nvSpPr>
        <p:spPr>
          <a:xfrm>
            <a:off x="3119716" y="3738821"/>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TCCECH.03.017</a:t>
            </a:r>
            <a:endParaRPr lang="en-US" sz="500" dirty="0"/>
          </a:p>
        </p:txBody>
      </p:sp>
      <p:sp>
        <p:nvSpPr>
          <p:cNvPr id="231" name="Text 229"/>
          <p:cNvSpPr/>
          <p:nvPr/>
        </p:nvSpPr>
        <p:spPr>
          <a:xfrm>
            <a:off x="2595636" y="3318153"/>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TCCECH.04.016</a:t>
            </a:r>
            <a:endParaRPr lang="en-US" sz="500" dirty="0"/>
          </a:p>
        </p:txBody>
      </p:sp>
      <p:sp>
        <p:nvSpPr>
          <p:cNvPr id="232" name="Text 230"/>
          <p:cNvSpPr/>
          <p:nvPr/>
        </p:nvSpPr>
        <p:spPr>
          <a:xfrm>
            <a:off x="2073427" y="2898889"/>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TCCECH.03.016</a:t>
            </a:r>
            <a:endParaRPr lang="en-US" sz="500" dirty="0"/>
          </a:p>
        </p:txBody>
      </p:sp>
      <p:sp>
        <p:nvSpPr>
          <p:cNvPr id="233" name="Text 231"/>
          <p:cNvSpPr/>
          <p:nvPr/>
        </p:nvSpPr>
        <p:spPr>
          <a:xfrm>
            <a:off x="1549909" y="2478221"/>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TCCECH.04.015</a:t>
            </a:r>
            <a:endParaRPr lang="en-US" sz="500" dirty="0"/>
          </a:p>
        </p:txBody>
      </p:sp>
      <p:sp>
        <p:nvSpPr>
          <p:cNvPr id="234" name="Text 232"/>
          <p:cNvSpPr/>
          <p:nvPr/>
        </p:nvSpPr>
        <p:spPr>
          <a:xfrm>
            <a:off x="1028262" y="2059331"/>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TCCECH.03.015</a:t>
            </a:r>
            <a:endParaRPr lang="en-US" sz="500" dirty="0"/>
          </a:p>
        </p:txBody>
      </p:sp>
      <p:sp>
        <p:nvSpPr>
          <p:cNvPr id="235" name="Text 233"/>
          <p:cNvSpPr/>
          <p:nvPr/>
        </p:nvSpPr>
        <p:spPr>
          <a:xfrm>
            <a:off x="3395139" y="5217944"/>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SBC102.02.027</a:t>
            </a:r>
            <a:endParaRPr lang="en-US" sz="500" dirty="0"/>
          </a:p>
        </p:txBody>
      </p:sp>
      <p:sp>
        <p:nvSpPr>
          <p:cNvPr id="236" name="Text 234"/>
          <p:cNvSpPr/>
          <p:nvPr/>
        </p:nvSpPr>
        <p:spPr>
          <a:xfrm>
            <a:off x="9172656" y="8520585"/>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TCC103.11.027</a:t>
            </a:r>
            <a:endParaRPr lang="en-US" sz="500" dirty="0"/>
          </a:p>
        </p:txBody>
      </p:sp>
      <p:sp>
        <p:nvSpPr>
          <p:cNvPr id="237" name="Text 235"/>
          <p:cNvSpPr/>
          <p:nvPr/>
        </p:nvSpPr>
        <p:spPr>
          <a:xfrm>
            <a:off x="6553658" y="8052001"/>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TCCECH.03.038</a:t>
            </a:r>
            <a:endParaRPr lang="en-US" sz="500" dirty="0"/>
          </a:p>
        </p:txBody>
      </p:sp>
      <p:sp>
        <p:nvSpPr>
          <p:cNvPr id="238" name="Text 236"/>
          <p:cNvSpPr/>
          <p:nvPr/>
        </p:nvSpPr>
        <p:spPr>
          <a:xfrm>
            <a:off x="6778077" y="8683143"/>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TCCECH.04.037</a:t>
            </a:r>
            <a:endParaRPr lang="en-US" sz="500" dirty="0"/>
          </a:p>
        </p:txBody>
      </p:sp>
      <p:sp>
        <p:nvSpPr>
          <p:cNvPr id="239" name="Text 237"/>
          <p:cNvSpPr/>
          <p:nvPr/>
        </p:nvSpPr>
        <p:spPr>
          <a:xfrm>
            <a:off x="6986118" y="9363793"/>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TCCECH.03.039</a:t>
            </a:r>
            <a:endParaRPr lang="en-US" sz="500" dirty="0"/>
          </a:p>
        </p:txBody>
      </p:sp>
      <p:sp>
        <p:nvSpPr>
          <p:cNvPr id="240" name="Text 238"/>
          <p:cNvSpPr/>
          <p:nvPr/>
        </p:nvSpPr>
        <p:spPr>
          <a:xfrm>
            <a:off x="7126965" y="10043038"/>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TCCECH.04.038</a:t>
            </a:r>
            <a:endParaRPr lang="en-US" sz="500" dirty="0"/>
          </a:p>
        </p:txBody>
      </p:sp>
      <p:sp>
        <p:nvSpPr>
          <p:cNvPr id="241" name="Text 239"/>
          <p:cNvSpPr/>
          <p:nvPr/>
        </p:nvSpPr>
        <p:spPr>
          <a:xfrm>
            <a:off x="9177803" y="8204546"/>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TCCECH.04.019</a:t>
            </a:r>
            <a:endParaRPr lang="en-US" sz="500" dirty="0"/>
          </a:p>
        </p:txBody>
      </p:sp>
      <p:sp>
        <p:nvSpPr>
          <p:cNvPr id="242" name="Text 240"/>
          <p:cNvSpPr/>
          <p:nvPr/>
        </p:nvSpPr>
        <p:spPr>
          <a:xfrm>
            <a:off x="8527101" y="7945875"/>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TCCECH.03.020</a:t>
            </a:r>
            <a:endParaRPr lang="en-US" sz="500" dirty="0"/>
          </a:p>
        </p:txBody>
      </p:sp>
      <p:sp>
        <p:nvSpPr>
          <p:cNvPr id="243" name="Text 241"/>
          <p:cNvSpPr/>
          <p:nvPr/>
        </p:nvSpPr>
        <p:spPr>
          <a:xfrm>
            <a:off x="5301481" y="3059388"/>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X_CV_STH_PITS &amp;.27152</a:t>
            </a:r>
            <a:endParaRPr lang="en-US" sz="500" dirty="0"/>
          </a:p>
        </p:txBody>
      </p:sp>
      <p:sp>
        <p:nvSpPr>
          <p:cNvPr id="244" name="Text 242"/>
          <p:cNvSpPr/>
          <p:nvPr/>
        </p:nvSpPr>
        <p:spPr>
          <a:xfrm>
            <a:off x="1995938" y="5377975"/>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X_CV_STH_PITS &amp;.27153</a:t>
            </a:r>
            <a:endParaRPr lang="en-US" sz="500" dirty="0"/>
          </a:p>
        </p:txBody>
      </p:sp>
      <p:sp>
        <p:nvSpPr>
          <p:cNvPr id="245" name="Text 243"/>
          <p:cNvSpPr/>
          <p:nvPr/>
        </p:nvSpPr>
        <p:spPr>
          <a:xfrm>
            <a:off x="4193425" y="7914711"/>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X_CV_STH_PITS &amp;.27154</a:t>
            </a:r>
            <a:endParaRPr lang="en-US" sz="500" dirty="0"/>
          </a:p>
        </p:txBody>
      </p:sp>
      <p:sp>
        <p:nvSpPr>
          <p:cNvPr id="246" name="Text 244"/>
          <p:cNvSpPr/>
          <p:nvPr/>
        </p:nvSpPr>
        <p:spPr>
          <a:xfrm>
            <a:off x="8562851" y="5572727"/>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X_CV_STH_PITS &amp;.27162</a:t>
            </a:r>
            <a:endParaRPr lang="en-US" sz="500" dirty="0"/>
          </a:p>
        </p:txBody>
      </p:sp>
      <p:sp>
        <p:nvSpPr>
          <p:cNvPr id="247" name="Text 245"/>
          <p:cNvSpPr/>
          <p:nvPr/>
        </p:nvSpPr>
        <p:spPr>
          <a:xfrm>
            <a:off x="5581209" y="2244818"/>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HH.E6.038</a:t>
            </a:r>
            <a:endParaRPr lang="en-US" sz="500" dirty="0"/>
          </a:p>
        </p:txBody>
      </p:sp>
      <p:sp>
        <p:nvSpPr>
          <p:cNvPr id="248" name="Text 246"/>
          <p:cNvSpPr/>
          <p:nvPr/>
        </p:nvSpPr>
        <p:spPr>
          <a:xfrm>
            <a:off x="5806376" y="2404194"/>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HH.E6.037</a:t>
            </a:r>
            <a:endParaRPr lang="en-US" sz="500" dirty="0"/>
          </a:p>
        </p:txBody>
      </p:sp>
      <p:sp>
        <p:nvSpPr>
          <p:cNvPr id="249" name="Text 247"/>
          <p:cNvSpPr/>
          <p:nvPr/>
        </p:nvSpPr>
        <p:spPr>
          <a:xfrm>
            <a:off x="6819255" y="3137064"/>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HH.E6.036</a:t>
            </a:r>
            <a:endParaRPr lang="en-US" sz="500" dirty="0"/>
          </a:p>
        </p:txBody>
      </p:sp>
      <p:sp>
        <p:nvSpPr>
          <p:cNvPr id="250" name="Text 248"/>
          <p:cNvSpPr/>
          <p:nvPr/>
        </p:nvSpPr>
        <p:spPr>
          <a:xfrm>
            <a:off x="7785153" y="3848316"/>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HH.E6.035</a:t>
            </a:r>
            <a:endParaRPr lang="en-US" sz="500" dirty="0"/>
          </a:p>
        </p:txBody>
      </p:sp>
      <p:sp>
        <p:nvSpPr>
          <p:cNvPr id="251" name="Text 249"/>
          <p:cNvSpPr/>
          <p:nvPr/>
        </p:nvSpPr>
        <p:spPr>
          <a:xfrm>
            <a:off x="2888185" y="7062800"/>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HH.E6.040</a:t>
            </a:r>
            <a:endParaRPr lang="en-US" sz="500" dirty="0"/>
          </a:p>
        </p:txBody>
      </p:sp>
      <p:sp>
        <p:nvSpPr>
          <p:cNvPr id="252" name="Text 250"/>
          <p:cNvSpPr/>
          <p:nvPr/>
        </p:nvSpPr>
        <p:spPr>
          <a:xfrm>
            <a:off x="3627419" y="8257703"/>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HH.E6.041</a:t>
            </a:r>
            <a:endParaRPr lang="en-US" sz="500" dirty="0"/>
          </a:p>
        </p:txBody>
      </p:sp>
      <p:sp>
        <p:nvSpPr>
          <p:cNvPr id="253" name="Text 251"/>
          <p:cNvSpPr/>
          <p:nvPr/>
        </p:nvSpPr>
        <p:spPr>
          <a:xfrm>
            <a:off x="4256409" y="9792883"/>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HH.E6.042</a:t>
            </a:r>
            <a:endParaRPr lang="en-US" sz="500" dirty="0"/>
          </a:p>
        </p:txBody>
      </p:sp>
      <p:sp>
        <p:nvSpPr>
          <p:cNvPr id="254" name="Text 252"/>
          <p:cNvSpPr/>
          <p:nvPr/>
        </p:nvSpPr>
        <p:spPr>
          <a:xfrm>
            <a:off x="8254018" y="4188126"/>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HH.E6.034</a:t>
            </a:r>
            <a:endParaRPr lang="en-US" sz="500" dirty="0"/>
          </a:p>
        </p:txBody>
      </p:sp>
      <p:sp>
        <p:nvSpPr>
          <p:cNvPr id="255" name="Text 253"/>
          <p:cNvSpPr/>
          <p:nvPr/>
        </p:nvSpPr>
        <p:spPr>
          <a:xfrm>
            <a:off x="9091423" y="4637993"/>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HH.E6.032</a:t>
            </a:r>
            <a:endParaRPr lang="en-US" sz="500" dirty="0"/>
          </a:p>
        </p:txBody>
      </p:sp>
      <p:sp>
        <p:nvSpPr>
          <p:cNvPr id="256" name="Text 254"/>
          <p:cNvSpPr/>
          <p:nvPr/>
        </p:nvSpPr>
        <p:spPr>
          <a:xfrm>
            <a:off x="1760009" y="5851051"/>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HH.E6.039</a:t>
            </a:r>
            <a:endParaRPr lang="en-US" sz="500" dirty="0"/>
          </a:p>
        </p:txBody>
      </p:sp>
      <p:sp>
        <p:nvSpPr>
          <p:cNvPr id="257" name="Text 255"/>
          <p:cNvSpPr/>
          <p:nvPr/>
        </p:nvSpPr>
        <p:spPr>
          <a:xfrm>
            <a:off x="3381663" y="1502215"/>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P6.009</a:t>
            </a:r>
            <a:endParaRPr lang="en-US" sz="500" dirty="0"/>
          </a:p>
        </p:txBody>
      </p:sp>
      <p:sp>
        <p:nvSpPr>
          <p:cNvPr id="258" name="Text 256"/>
          <p:cNvSpPr/>
          <p:nvPr/>
        </p:nvSpPr>
        <p:spPr>
          <a:xfrm>
            <a:off x="947029" y="4530463"/>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P6.038</a:t>
            </a:r>
            <a:endParaRPr lang="en-US" sz="500" dirty="0"/>
          </a:p>
        </p:txBody>
      </p:sp>
      <p:sp>
        <p:nvSpPr>
          <p:cNvPr id="259" name="Text 257"/>
          <p:cNvSpPr/>
          <p:nvPr/>
        </p:nvSpPr>
        <p:spPr>
          <a:xfrm>
            <a:off x="852040" y="5088889"/>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MH.E.024</a:t>
            </a:r>
            <a:endParaRPr lang="en-US" sz="500" dirty="0"/>
          </a:p>
        </p:txBody>
      </p:sp>
      <p:sp>
        <p:nvSpPr>
          <p:cNvPr id="260" name="Text 258"/>
          <p:cNvSpPr/>
          <p:nvPr/>
        </p:nvSpPr>
        <p:spPr>
          <a:xfrm>
            <a:off x="4053140" y="1098767"/>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MH.E.014</a:t>
            </a:r>
            <a:endParaRPr lang="en-US" sz="500" dirty="0"/>
          </a:p>
        </p:txBody>
      </p:sp>
      <p:sp>
        <p:nvSpPr>
          <p:cNvPr id="261" name="Text 259"/>
          <p:cNvSpPr/>
          <p:nvPr/>
        </p:nvSpPr>
        <p:spPr>
          <a:xfrm>
            <a:off x="4278588" y="2357495"/>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X_CV_STH_PITS &amp;.23918</a:t>
            </a:r>
            <a:endParaRPr lang="en-US" sz="500" dirty="0"/>
          </a:p>
        </p:txBody>
      </p:sp>
      <p:sp>
        <p:nvSpPr>
          <p:cNvPr id="262" name="Text 260"/>
          <p:cNvSpPr/>
          <p:nvPr/>
        </p:nvSpPr>
        <p:spPr>
          <a:xfrm>
            <a:off x="1646115" y="6696505"/>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SGC102.02.017</a:t>
            </a:r>
            <a:endParaRPr lang="en-US" sz="500" dirty="0"/>
          </a:p>
        </p:txBody>
      </p:sp>
      <p:sp>
        <p:nvSpPr>
          <p:cNvPr id="263" name="Text 261"/>
          <p:cNvSpPr/>
          <p:nvPr/>
        </p:nvSpPr>
        <p:spPr>
          <a:xfrm>
            <a:off x="5963038" y="2189415"/>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SGC102.02.016</a:t>
            </a:r>
            <a:endParaRPr lang="en-US" sz="500" dirty="0"/>
          </a:p>
        </p:txBody>
      </p:sp>
      <p:sp>
        <p:nvSpPr>
          <p:cNvPr id="264" name="Text 262"/>
          <p:cNvSpPr/>
          <p:nvPr/>
        </p:nvSpPr>
        <p:spPr>
          <a:xfrm>
            <a:off x="9376392" y="6184684"/>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TEC102.02.050</a:t>
            </a:r>
            <a:endParaRPr lang="en-US" sz="500" dirty="0"/>
          </a:p>
        </p:txBody>
      </p:sp>
      <p:sp>
        <p:nvSpPr>
          <p:cNvPr id="265" name="Shape 263"/>
          <p:cNvSpPr/>
          <p:nvPr/>
        </p:nvSpPr>
        <p:spPr>
          <a:xfrm>
            <a:off x="4279360" y="3910525"/>
            <a:ext cx="210312" cy="210312"/>
          </a:xfrm>
          <a:prstGeom prst="ellipse">
            <a:avLst/>
          </a:prstGeom>
          <a:ln w="28575">
            <a:solidFill>
              <a:srgbClr val="CC0000"/>
            </a:solidFill>
            <a:prstDash val="solid"/>
          </a:ln>
        </p:spPr>
        <p:txBody>
          <a:bodyPr/>
          <a:lstStyle/>
          <a:p>
            <a:endParaRPr lang="en-US"/>
          </a:p>
        </p:txBody>
      </p:sp>
      <p:sp>
        <p:nvSpPr>
          <p:cNvPr id="266" name="Shape 264"/>
          <p:cNvSpPr/>
          <p:nvPr/>
        </p:nvSpPr>
        <p:spPr>
          <a:xfrm>
            <a:off x="4329652" y="3960817"/>
            <a:ext cx="109728" cy="109728"/>
          </a:xfrm>
          <a:prstGeom prst="ellipse">
            <a:avLst/>
          </a:prstGeom>
          <a:solidFill>
            <a:srgbClr val="0055CC"/>
          </a:solidFill>
          <a:ln w="6350">
            <a:solidFill>
              <a:srgbClr val="0055CC"/>
            </a:solidFill>
            <a:prstDash val="solid"/>
          </a:ln>
        </p:spPr>
        <p:txBody>
          <a:bodyPr/>
          <a:lstStyle/>
          <a:p>
            <a:endParaRPr lang="en-US"/>
          </a:p>
        </p:txBody>
      </p:sp>
      <p:sp>
        <p:nvSpPr>
          <p:cNvPr id="267" name="Text 265"/>
          <p:cNvSpPr/>
          <p:nvPr/>
        </p:nvSpPr>
        <p:spPr>
          <a:xfrm>
            <a:off x="4503388" y="3796225"/>
            <a:ext cx="1143000" cy="164592"/>
          </a:xfrm>
          <a:prstGeom prst="rect">
            <a:avLst/>
          </a:prstGeom>
          <a:noFill/>
          <a:ln/>
        </p:spPr>
        <p:txBody>
          <a:bodyPr wrap="square" lIns="0" tIns="0" rIns="0" bIns="0" rtlCol="0" anchor="ctr"/>
          <a:lstStyle/>
          <a:p>
            <a:pPr marL="0" indent="0">
              <a:buNone/>
            </a:pPr>
            <a:r>
              <a:rPr lang="en-US" sz="650" b="1" dirty="0">
                <a:solidFill>
                  <a:srgbClr val="1F2937"/>
                </a:solidFill>
                <a:latin typeface="Arial" pitchFamily="34" charset="0"/>
                <a:ea typeface="Arial" pitchFamily="34" charset="-122"/>
                <a:cs typeface="Arial" pitchFamily="34" charset="-120"/>
              </a:rPr>
              <a:t>SBC102-02/024</a:t>
            </a:r>
            <a:endParaRPr lang="en-US" sz="650" dirty="0"/>
          </a:p>
        </p:txBody>
      </p:sp>
      <p:sp>
        <p:nvSpPr>
          <p:cNvPr id="268" name="Shape 266"/>
          <p:cNvSpPr/>
          <p:nvPr/>
        </p:nvSpPr>
        <p:spPr>
          <a:xfrm>
            <a:off x="4103606" y="4129610"/>
            <a:ext cx="210312" cy="210312"/>
          </a:xfrm>
          <a:prstGeom prst="ellipse">
            <a:avLst/>
          </a:prstGeom>
          <a:ln w="28575">
            <a:solidFill>
              <a:srgbClr val="CC0000"/>
            </a:solidFill>
            <a:prstDash val="solid"/>
          </a:ln>
        </p:spPr>
        <p:txBody>
          <a:bodyPr/>
          <a:lstStyle/>
          <a:p>
            <a:endParaRPr lang="en-US"/>
          </a:p>
        </p:txBody>
      </p:sp>
      <p:sp>
        <p:nvSpPr>
          <p:cNvPr id="269" name="Shape 267"/>
          <p:cNvSpPr/>
          <p:nvPr/>
        </p:nvSpPr>
        <p:spPr>
          <a:xfrm>
            <a:off x="4153898" y="4179902"/>
            <a:ext cx="109728" cy="109728"/>
          </a:xfrm>
          <a:prstGeom prst="ellipse">
            <a:avLst/>
          </a:prstGeom>
          <a:solidFill>
            <a:srgbClr val="0055CC"/>
          </a:solidFill>
          <a:ln w="6350">
            <a:solidFill>
              <a:srgbClr val="0055CC"/>
            </a:solidFill>
            <a:prstDash val="solid"/>
          </a:ln>
        </p:spPr>
        <p:txBody>
          <a:bodyPr/>
          <a:lstStyle/>
          <a:p>
            <a:endParaRPr lang="en-US"/>
          </a:p>
        </p:txBody>
      </p:sp>
      <p:sp>
        <p:nvSpPr>
          <p:cNvPr id="270" name="Text 268"/>
          <p:cNvSpPr/>
          <p:nvPr/>
        </p:nvSpPr>
        <p:spPr>
          <a:xfrm>
            <a:off x="4327634" y="4015310"/>
            <a:ext cx="1143000" cy="164592"/>
          </a:xfrm>
          <a:prstGeom prst="rect">
            <a:avLst/>
          </a:prstGeom>
          <a:noFill/>
          <a:ln/>
        </p:spPr>
        <p:txBody>
          <a:bodyPr wrap="square" lIns="0" tIns="0" rIns="0" bIns="0" rtlCol="0" anchor="ctr"/>
          <a:lstStyle/>
          <a:p>
            <a:pPr marL="0" indent="0">
              <a:buNone/>
            </a:pPr>
            <a:r>
              <a:rPr lang="en-US" sz="650" b="1" dirty="0">
                <a:solidFill>
                  <a:srgbClr val="1F2937"/>
                </a:solidFill>
                <a:latin typeface="Arial" pitchFamily="34" charset="0"/>
                <a:ea typeface="Arial" pitchFamily="34" charset="-122"/>
                <a:cs typeface="Arial" pitchFamily="34" charset="-120"/>
              </a:rPr>
              <a:t>SBC102-01/027</a:t>
            </a:r>
            <a:endParaRPr lang="en-US" sz="650" dirty="0"/>
          </a:p>
        </p:txBody>
      </p:sp>
      <p:sp>
        <p:nvSpPr>
          <p:cNvPr id="271" name="Shape 269"/>
          <p:cNvSpPr/>
          <p:nvPr/>
        </p:nvSpPr>
        <p:spPr>
          <a:xfrm>
            <a:off x="3927758" y="4348600"/>
            <a:ext cx="210312" cy="210312"/>
          </a:xfrm>
          <a:prstGeom prst="ellipse">
            <a:avLst/>
          </a:prstGeom>
          <a:ln w="28575">
            <a:solidFill>
              <a:srgbClr val="CC0000"/>
            </a:solidFill>
            <a:prstDash val="solid"/>
          </a:ln>
        </p:spPr>
        <p:txBody>
          <a:bodyPr/>
          <a:lstStyle/>
          <a:p>
            <a:endParaRPr lang="en-US"/>
          </a:p>
        </p:txBody>
      </p:sp>
      <p:sp>
        <p:nvSpPr>
          <p:cNvPr id="272" name="Shape 270"/>
          <p:cNvSpPr/>
          <p:nvPr/>
        </p:nvSpPr>
        <p:spPr>
          <a:xfrm>
            <a:off x="3978050" y="4398892"/>
            <a:ext cx="109728" cy="109728"/>
          </a:xfrm>
          <a:prstGeom prst="ellipse">
            <a:avLst/>
          </a:prstGeom>
          <a:solidFill>
            <a:srgbClr val="0055CC"/>
          </a:solidFill>
          <a:ln w="6350">
            <a:solidFill>
              <a:srgbClr val="0055CC"/>
            </a:solidFill>
            <a:prstDash val="solid"/>
          </a:ln>
        </p:spPr>
        <p:txBody>
          <a:bodyPr/>
          <a:lstStyle/>
          <a:p>
            <a:endParaRPr lang="en-US"/>
          </a:p>
        </p:txBody>
      </p:sp>
      <p:sp>
        <p:nvSpPr>
          <p:cNvPr id="273" name="Text 271"/>
          <p:cNvSpPr/>
          <p:nvPr/>
        </p:nvSpPr>
        <p:spPr>
          <a:xfrm>
            <a:off x="4151786" y="4234300"/>
            <a:ext cx="1143000" cy="164592"/>
          </a:xfrm>
          <a:prstGeom prst="rect">
            <a:avLst/>
          </a:prstGeom>
          <a:noFill/>
          <a:ln/>
        </p:spPr>
        <p:txBody>
          <a:bodyPr wrap="square" lIns="0" tIns="0" rIns="0" bIns="0" rtlCol="0" anchor="ctr"/>
          <a:lstStyle/>
          <a:p>
            <a:pPr marL="0" indent="0">
              <a:buNone/>
            </a:pPr>
            <a:r>
              <a:rPr lang="en-US" sz="650" b="1" dirty="0">
                <a:solidFill>
                  <a:srgbClr val="1F2937"/>
                </a:solidFill>
                <a:latin typeface="Arial" pitchFamily="34" charset="0"/>
                <a:ea typeface="Arial" pitchFamily="34" charset="-122"/>
                <a:cs typeface="Arial" pitchFamily="34" charset="-120"/>
              </a:rPr>
              <a:t>SBC102-02/025</a:t>
            </a:r>
            <a:endParaRPr lang="en-US" sz="650" dirty="0"/>
          </a:p>
        </p:txBody>
      </p:sp>
      <p:sp>
        <p:nvSpPr>
          <p:cNvPr id="274" name="Shape 272"/>
          <p:cNvSpPr/>
          <p:nvPr/>
        </p:nvSpPr>
        <p:spPr>
          <a:xfrm>
            <a:off x="3751911" y="4567591"/>
            <a:ext cx="210312" cy="210312"/>
          </a:xfrm>
          <a:prstGeom prst="ellipse">
            <a:avLst/>
          </a:prstGeom>
          <a:ln w="28575">
            <a:solidFill>
              <a:srgbClr val="CC0000"/>
            </a:solidFill>
            <a:prstDash val="solid"/>
          </a:ln>
        </p:spPr>
        <p:txBody>
          <a:bodyPr/>
          <a:lstStyle/>
          <a:p>
            <a:endParaRPr lang="en-US"/>
          </a:p>
        </p:txBody>
      </p:sp>
      <p:sp>
        <p:nvSpPr>
          <p:cNvPr id="275" name="Shape 273"/>
          <p:cNvSpPr/>
          <p:nvPr/>
        </p:nvSpPr>
        <p:spPr>
          <a:xfrm>
            <a:off x="3802203" y="4617883"/>
            <a:ext cx="109728" cy="109728"/>
          </a:xfrm>
          <a:prstGeom prst="ellipse">
            <a:avLst/>
          </a:prstGeom>
          <a:solidFill>
            <a:srgbClr val="0055CC"/>
          </a:solidFill>
          <a:ln w="6350">
            <a:solidFill>
              <a:srgbClr val="0055CC"/>
            </a:solidFill>
            <a:prstDash val="solid"/>
          </a:ln>
        </p:spPr>
        <p:txBody>
          <a:bodyPr/>
          <a:lstStyle/>
          <a:p>
            <a:endParaRPr lang="en-US"/>
          </a:p>
        </p:txBody>
      </p:sp>
      <p:sp>
        <p:nvSpPr>
          <p:cNvPr id="276" name="Text 274"/>
          <p:cNvSpPr/>
          <p:nvPr/>
        </p:nvSpPr>
        <p:spPr>
          <a:xfrm>
            <a:off x="3975939" y="4453291"/>
            <a:ext cx="1143000" cy="164592"/>
          </a:xfrm>
          <a:prstGeom prst="rect">
            <a:avLst/>
          </a:prstGeom>
          <a:noFill/>
          <a:ln/>
        </p:spPr>
        <p:txBody>
          <a:bodyPr wrap="square" lIns="0" tIns="0" rIns="0" bIns="0" rtlCol="0" anchor="ctr"/>
          <a:lstStyle/>
          <a:p>
            <a:pPr marL="0" indent="0">
              <a:buNone/>
            </a:pPr>
            <a:r>
              <a:rPr lang="en-US" sz="650" b="1" dirty="0">
                <a:solidFill>
                  <a:srgbClr val="1F2937"/>
                </a:solidFill>
                <a:latin typeface="Arial" pitchFamily="34" charset="0"/>
                <a:ea typeface="Arial" pitchFamily="34" charset="-122"/>
                <a:cs typeface="Arial" pitchFamily="34" charset="-120"/>
              </a:rPr>
              <a:t>SBC102-01/028</a:t>
            </a:r>
            <a:endParaRPr lang="en-US" sz="650" dirty="0"/>
          </a:p>
        </p:txBody>
      </p:sp>
      <p:sp>
        <p:nvSpPr>
          <p:cNvPr id="277" name="Shape 275"/>
          <p:cNvSpPr/>
          <p:nvPr/>
        </p:nvSpPr>
        <p:spPr>
          <a:xfrm>
            <a:off x="3576157" y="4786582"/>
            <a:ext cx="210312" cy="210312"/>
          </a:xfrm>
          <a:prstGeom prst="ellipse">
            <a:avLst/>
          </a:prstGeom>
          <a:ln w="28575">
            <a:solidFill>
              <a:srgbClr val="CC0000"/>
            </a:solidFill>
            <a:prstDash val="solid"/>
          </a:ln>
        </p:spPr>
        <p:txBody>
          <a:bodyPr/>
          <a:lstStyle/>
          <a:p>
            <a:endParaRPr lang="en-US"/>
          </a:p>
        </p:txBody>
      </p:sp>
      <p:sp>
        <p:nvSpPr>
          <p:cNvPr id="278" name="Shape 276"/>
          <p:cNvSpPr/>
          <p:nvPr/>
        </p:nvSpPr>
        <p:spPr>
          <a:xfrm>
            <a:off x="3626449" y="4836874"/>
            <a:ext cx="109728" cy="109728"/>
          </a:xfrm>
          <a:prstGeom prst="ellipse">
            <a:avLst/>
          </a:prstGeom>
          <a:solidFill>
            <a:srgbClr val="0055CC"/>
          </a:solidFill>
          <a:ln w="6350">
            <a:solidFill>
              <a:srgbClr val="0055CC"/>
            </a:solidFill>
            <a:prstDash val="solid"/>
          </a:ln>
        </p:spPr>
        <p:txBody>
          <a:bodyPr/>
          <a:lstStyle/>
          <a:p>
            <a:endParaRPr lang="en-US"/>
          </a:p>
        </p:txBody>
      </p:sp>
      <p:sp>
        <p:nvSpPr>
          <p:cNvPr id="279" name="Text 277"/>
          <p:cNvSpPr/>
          <p:nvPr/>
        </p:nvSpPr>
        <p:spPr>
          <a:xfrm>
            <a:off x="3800185" y="4672282"/>
            <a:ext cx="1143000" cy="164592"/>
          </a:xfrm>
          <a:prstGeom prst="rect">
            <a:avLst/>
          </a:prstGeom>
          <a:noFill/>
          <a:ln/>
        </p:spPr>
        <p:txBody>
          <a:bodyPr wrap="square" lIns="0" tIns="0" rIns="0" bIns="0" rtlCol="0" anchor="ctr"/>
          <a:lstStyle/>
          <a:p>
            <a:pPr marL="0" indent="0">
              <a:buNone/>
            </a:pPr>
            <a:r>
              <a:rPr lang="en-US" sz="650" b="1" dirty="0">
                <a:solidFill>
                  <a:srgbClr val="1F2937"/>
                </a:solidFill>
                <a:latin typeface="Arial" pitchFamily="34" charset="0"/>
                <a:ea typeface="Arial" pitchFamily="34" charset="-122"/>
                <a:cs typeface="Arial" pitchFamily="34" charset="-120"/>
              </a:rPr>
              <a:t>SBC102-02/026</a:t>
            </a:r>
            <a:endParaRPr lang="en-US" sz="650" dirty="0"/>
          </a:p>
        </p:txBody>
      </p:sp>
      <p:sp>
        <p:nvSpPr>
          <p:cNvPr id="280" name="Shape 278"/>
          <p:cNvSpPr/>
          <p:nvPr/>
        </p:nvSpPr>
        <p:spPr>
          <a:xfrm>
            <a:off x="3400309" y="5005572"/>
            <a:ext cx="210312" cy="210312"/>
          </a:xfrm>
          <a:prstGeom prst="ellipse">
            <a:avLst/>
          </a:prstGeom>
          <a:ln w="28575">
            <a:solidFill>
              <a:srgbClr val="CC0000"/>
            </a:solidFill>
            <a:prstDash val="solid"/>
          </a:ln>
        </p:spPr>
        <p:txBody>
          <a:bodyPr/>
          <a:lstStyle/>
          <a:p>
            <a:endParaRPr lang="en-US"/>
          </a:p>
        </p:txBody>
      </p:sp>
      <p:sp>
        <p:nvSpPr>
          <p:cNvPr id="281" name="Shape 279"/>
          <p:cNvSpPr/>
          <p:nvPr/>
        </p:nvSpPr>
        <p:spPr>
          <a:xfrm>
            <a:off x="3450601" y="5055864"/>
            <a:ext cx="109728" cy="109728"/>
          </a:xfrm>
          <a:prstGeom prst="ellipse">
            <a:avLst/>
          </a:prstGeom>
          <a:solidFill>
            <a:srgbClr val="0055CC"/>
          </a:solidFill>
          <a:ln w="6350">
            <a:solidFill>
              <a:srgbClr val="0055CC"/>
            </a:solidFill>
            <a:prstDash val="solid"/>
          </a:ln>
        </p:spPr>
        <p:txBody>
          <a:bodyPr/>
          <a:lstStyle/>
          <a:p>
            <a:endParaRPr lang="en-US"/>
          </a:p>
        </p:txBody>
      </p:sp>
      <p:sp>
        <p:nvSpPr>
          <p:cNvPr id="282" name="Text 280"/>
          <p:cNvSpPr/>
          <p:nvPr/>
        </p:nvSpPr>
        <p:spPr>
          <a:xfrm>
            <a:off x="3624337" y="4891272"/>
            <a:ext cx="1143000" cy="164592"/>
          </a:xfrm>
          <a:prstGeom prst="rect">
            <a:avLst/>
          </a:prstGeom>
          <a:noFill/>
          <a:ln/>
        </p:spPr>
        <p:txBody>
          <a:bodyPr wrap="square" lIns="0" tIns="0" rIns="0" bIns="0" rtlCol="0" anchor="ctr"/>
          <a:lstStyle/>
          <a:p>
            <a:pPr marL="0" indent="0">
              <a:buNone/>
            </a:pPr>
            <a:r>
              <a:rPr lang="en-US" sz="650" b="1" dirty="0">
                <a:solidFill>
                  <a:srgbClr val="1F2937"/>
                </a:solidFill>
                <a:latin typeface="Arial" pitchFamily="34" charset="0"/>
                <a:ea typeface="Arial" pitchFamily="34" charset="-122"/>
                <a:cs typeface="Arial" pitchFamily="34" charset="-120"/>
              </a:rPr>
              <a:t>SBC102-01/029</a:t>
            </a:r>
            <a:endParaRPr lang="en-US" sz="650" dirty="0"/>
          </a:p>
        </p:txBody>
      </p:sp>
      <p:sp>
        <p:nvSpPr>
          <p:cNvPr id="283" name="Shape 281"/>
          <p:cNvSpPr/>
          <p:nvPr/>
        </p:nvSpPr>
        <p:spPr>
          <a:xfrm>
            <a:off x="4499193" y="5122929"/>
            <a:ext cx="210312" cy="210312"/>
          </a:xfrm>
          <a:prstGeom prst="ellipse">
            <a:avLst/>
          </a:prstGeom>
          <a:ln w="28575">
            <a:solidFill>
              <a:srgbClr val="CC0000"/>
            </a:solidFill>
            <a:prstDash val="solid"/>
          </a:ln>
        </p:spPr>
        <p:txBody>
          <a:bodyPr/>
          <a:lstStyle/>
          <a:p>
            <a:endParaRPr lang="en-US"/>
          </a:p>
        </p:txBody>
      </p:sp>
      <p:sp>
        <p:nvSpPr>
          <p:cNvPr id="284" name="Shape 282"/>
          <p:cNvSpPr/>
          <p:nvPr/>
        </p:nvSpPr>
        <p:spPr>
          <a:xfrm>
            <a:off x="4549485" y="5173221"/>
            <a:ext cx="109728" cy="109728"/>
          </a:xfrm>
          <a:prstGeom prst="ellipse">
            <a:avLst/>
          </a:prstGeom>
          <a:solidFill>
            <a:srgbClr val="E8710A"/>
          </a:solidFill>
          <a:ln w="6350">
            <a:solidFill>
              <a:srgbClr val="E8710A"/>
            </a:solidFill>
            <a:prstDash val="solid"/>
          </a:ln>
        </p:spPr>
        <p:txBody>
          <a:bodyPr/>
          <a:lstStyle/>
          <a:p>
            <a:endParaRPr lang="en-US"/>
          </a:p>
        </p:txBody>
      </p:sp>
      <p:sp>
        <p:nvSpPr>
          <p:cNvPr id="285" name="Text 283"/>
          <p:cNvSpPr/>
          <p:nvPr/>
        </p:nvSpPr>
        <p:spPr>
          <a:xfrm>
            <a:off x="4723221" y="5008629"/>
            <a:ext cx="1143000" cy="164592"/>
          </a:xfrm>
          <a:prstGeom prst="rect">
            <a:avLst/>
          </a:prstGeom>
          <a:noFill/>
          <a:ln/>
        </p:spPr>
        <p:txBody>
          <a:bodyPr wrap="square" lIns="0" tIns="0" rIns="0" bIns="0" rtlCol="0" anchor="ctr"/>
          <a:lstStyle/>
          <a:p>
            <a:pPr marL="0" indent="0">
              <a:buNone/>
            </a:pPr>
            <a:r>
              <a:rPr lang="en-US" sz="650" b="1" dirty="0">
                <a:solidFill>
                  <a:srgbClr val="1F2937"/>
                </a:solidFill>
                <a:latin typeface="Arial" pitchFamily="34" charset="0"/>
                <a:ea typeface="Arial" pitchFamily="34" charset="-122"/>
                <a:cs typeface="Arial" pitchFamily="34" charset="-120"/>
              </a:rPr>
              <a:t>TCCECH-04/034</a:t>
            </a:r>
            <a:endParaRPr lang="en-US" sz="650" dirty="0"/>
          </a:p>
        </p:txBody>
      </p:sp>
      <p:sp>
        <p:nvSpPr>
          <p:cNvPr id="286" name="Shape 284"/>
          <p:cNvSpPr/>
          <p:nvPr/>
        </p:nvSpPr>
        <p:spPr>
          <a:xfrm>
            <a:off x="4958231" y="5653560"/>
            <a:ext cx="210312" cy="210312"/>
          </a:xfrm>
          <a:prstGeom prst="ellipse">
            <a:avLst/>
          </a:prstGeom>
          <a:ln w="28575">
            <a:solidFill>
              <a:srgbClr val="CC0000"/>
            </a:solidFill>
            <a:prstDash val="solid"/>
          </a:ln>
        </p:spPr>
        <p:txBody>
          <a:bodyPr/>
          <a:lstStyle/>
          <a:p>
            <a:endParaRPr lang="en-US"/>
          </a:p>
        </p:txBody>
      </p:sp>
      <p:sp>
        <p:nvSpPr>
          <p:cNvPr id="287" name="Shape 285"/>
          <p:cNvSpPr/>
          <p:nvPr/>
        </p:nvSpPr>
        <p:spPr>
          <a:xfrm>
            <a:off x="5008523" y="5703852"/>
            <a:ext cx="109728" cy="109728"/>
          </a:xfrm>
          <a:prstGeom prst="ellipse">
            <a:avLst/>
          </a:prstGeom>
          <a:solidFill>
            <a:srgbClr val="E8710A"/>
          </a:solidFill>
          <a:ln w="6350">
            <a:solidFill>
              <a:srgbClr val="E8710A"/>
            </a:solidFill>
            <a:prstDash val="solid"/>
          </a:ln>
        </p:spPr>
        <p:txBody>
          <a:bodyPr/>
          <a:lstStyle/>
          <a:p>
            <a:endParaRPr lang="en-US"/>
          </a:p>
        </p:txBody>
      </p:sp>
      <p:sp>
        <p:nvSpPr>
          <p:cNvPr id="288" name="Text 286"/>
          <p:cNvSpPr/>
          <p:nvPr/>
        </p:nvSpPr>
        <p:spPr>
          <a:xfrm>
            <a:off x="5182259" y="5539260"/>
            <a:ext cx="1143000" cy="164592"/>
          </a:xfrm>
          <a:prstGeom prst="rect">
            <a:avLst/>
          </a:prstGeom>
          <a:noFill/>
          <a:ln/>
        </p:spPr>
        <p:txBody>
          <a:bodyPr wrap="square" lIns="0" tIns="0" rIns="0" bIns="0" rtlCol="0" anchor="ctr"/>
          <a:lstStyle/>
          <a:p>
            <a:pPr marL="0" indent="0">
              <a:buNone/>
            </a:pPr>
            <a:r>
              <a:rPr lang="en-US" sz="650" b="1" dirty="0">
                <a:solidFill>
                  <a:srgbClr val="1F2937"/>
                </a:solidFill>
                <a:latin typeface="Arial" pitchFamily="34" charset="0"/>
                <a:ea typeface="Arial" pitchFamily="34" charset="-122"/>
                <a:cs typeface="Arial" pitchFamily="34" charset="-120"/>
              </a:rPr>
              <a:t>TCCECH-03/036</a:t>
            </a:r>
            <a:endParaRPr lang="en-US" sz="650" dirty="0"/>
          </a:p>
        </p:txBody>
      </p:sp>
      <p:sp>
        <p:nvSpPr>
          <p:cNvPr id="289" name="Shape 287"/>
          <p:cNvSpPr/>
          <p:nvPr/>
        </p:nvSpPr>
        <p:spPr>
          <a:xfrm>
            <a:off x="5379461" y="6215449"/>
            <a:ext cx="210312" cy="210312"/>
          </a:xfrm>
          <a:prstGeom prst="ellipse">
            <a:avLst/>
          </a:prstGeom>
          <a:ln w="28575">
            <a:solidFill>
              <a:srgbClr val="CC0000"/>
            </a:solidFill>
            <a:prstDash val="solid"/>
          </a:ln>
        </p:spPr>
        <p:txBody>
          <a:bodyPr/>
          <a:lstStyle/>
          <a:p>
            <a:endParaRPr lang="en-US"/>
          </a:p>
        </p:txBody>
      </p:sp>
      <p:sp>
        <p:nvSpPr>
          <p:cNvPr id="290" name="Shape 288"/>
          <p:cNvSpPr/>
          <p:nvPr/>
        </p:nvSpPr>
        <p:spPr>
          <a:xfrm>
            <a:off x="5429753" y="6265741"/>
            <a:ext cx="109728" cy="109728"/>
          </a:xfrm>
          <a:prstGeom prst="ellipse">
            <a:avLst/>
          </a:prstGeom>
          <a:solidFill>
            <a:srgbClr val="E8710A"/>
          </a:solidFill>
          <a:ln w="6350">
            <a:solidFill>
              <a:srgbClr val="E8710A"/>
            </a:solidFill>
            <a:prstDash val="solid"/>
          </a:ln>
        </p:spPr>
        <p:txBody>
          <a:bodyPr/>
          <a:lstStyle/>
          <a:p>
            <a:endParaRPr lang="en-US"/>
          </a:p>
        </p:txBody>
      </p:sp>
      <p:sp>
        <p:nvSpPr>
          <p:cNvPr id="291" name="Text 289"/>
          <p:cNvSpPr/>
          <p:nvPr/>
        </p:nvSpPr>
        <p:spPr>
          <a:xfrm>
            <a:off x="5603489" y="6101149"/>
            <a:ext cx="1143000" cy="164592"/>
          </a:xfrm>
          <a:prstGeom prst="rect">
            <a:avLst/>
          </a:prstGeom>
          <a:noFill/>
          <a:ln/>
        </p:spPr>
        <p:txBody>
          <a:bodyPr wrap="square" lIns="0" tIns="0" rIns="0" bIns="0" rtlCol="0" anchor="ctr"/>
          <a:lstStyle/>
          <a:p>
            <a:pPr marL="0" indent="0">
              <a:buNone/>
            </a:pPr>
            <a:r>
              <a:rPr lang="en-US" sz="650" b="1" dirty="0">
                <a:solidFill>
                  <a:srgbClr val="1F2937"/>
                </a:solidFill>
                <a:latin typeface="Arial" pitchFamily="34" charset="0"/>
                <a:ea typeface="Arial" pitchFamily="34" charset="-122"/>
                <a:cs typeface="Arial" pitchFamily="34" charset="-120"/>
              </a:rPr>
              <a:t>TCCECH-04/035</a:t>
            </a:r>
            <a:endParaRPr lang="en-US" sz="650" dirty="0"/>
          </a:p>
        </p:txBody>
      </p:sp>
      <p:sp>
        <p:nvSpPr>
          <p:cNvPr id="292" name="Shape 290"/>
          <p:cNvSpPr/>
          <p:nvPr/>
        </p:nvSpPr>
        <p:spPr>
          <a:xfrm>
            <a:off x="5759700" y="6804759"/>
            <a:ext cx="210312" cy="210312"/>
          </a:xfrm>
          <a:prstGeom prst="ellipse">
            <a:avLst/>
          </a:prstGeom>
          <a:ln w="28575">
            <a:solidFill>
              <a:srgbClr val="CC0000"/>
            </a:solidFill>
            <a:prstDash val="solid"/>
          </a:ln>
        </p:spPr>
        <p:txBody>
          <a:bodyPr/>
          <a:lstStyle/>
          <a:p>
            <a:endParaRPr lang="en-US"/>
          </a:p>
        </p:txBody>
      </p:sp>
      <p:sp>
        <p:nvSpPr>
          <p:cNvPr id="293" name="Shape 291"/>
          <p:cNvSpPr/>
          <p:nvPr/>
        </p:nvSpPr>
        <p:spPr>
          <a:xfrm>
            <a:off x="5809992" y="6855051"/>
            <a:ext cx="109728" cy="109728"/>
          </a:xfrm>
          <a:prstGeom prst="ellipse">
            <a:avLst/>
          </a:prstGeom>
          <a:solidFill>
            <a:srgbClr val="E8710A"/>
          </a:solidFill>
          <a:ln w="6350">
            <a:solidFill>
              <a:srgbClr val="E8710A"/>
            </a:solidFill>
            <a:prstDash val="solid"/>
          </a:ln>
        </p:spPr>
        <p:txBody>
          <a:bodyPr/>
          <a:lstStyle/>
          <a:p>
            <a:endParaRPr lang="en-US"/>
          </a:p>
        </p:txBody>
      </p:sp>
      <p:sp>
        <p:nvSpPr>
          <p:cNvPr id="294" name="Text 292"/>
          <p:cNvSpPr/>
          <p:nvPr/>
        </p:nvSpPr>
        <p:spPr>
          <a:xfrm>
            <a:off x="5983728" y="6690459"/>
            <a:ext cx="1143000" cy="164592"/>
          </a:xfrm>
          <a:prstGeom prst="rect">
            <a:avLst/>
          </a:prstGeom>
          <a:noFill/>
          <a:ln/>
        </p:spPr>
        <p:txBody>
          <a:bodyPr wrap="square" lIns="0" tIns="0" rIns="0" bIns="0" rtlCol="0" anchor="ctr"/>
          <a:lstStyle/>
          <a:p>
            <a:pPr marL="0" indent="0">
              <a:buNone/>
            </a:pPr>
            <a:r>
              <a:rPr lang="en-US" sz="650" b="1" dirty="0">
                <a:solidFill>
                  <a:srgbClr val="1F2937"/>
                </a:solidFill>
                <a:latin typeface="Arial" pitchFamily="34" charset="0"/>
                <a:ea typeface="Arial" pitchFamily="34" charset="-122"/>
                <a:cs typeface="Arial" pitchFamily="34" charset="-120"/>
              </a:rPr>
              <a:t>TCCECH-03/037</a:t>
            </a:r>
            <a:endParaRPr lang="en-US" sz="650" dirty="0"/>
          </a:p>
        </p:txBody>
      </p:sp>
      <p:sp>
        <p:nvSpPr>
          <p:cNvPr id="295" name="Shape 293"/>
          <p:cNvSpPr/>
          <p:nvPr/>
        </p:nvSpPr>
        <p:spPr>
          <a:xfrm>
            <a:off x="6098574" y="7419991"/>
            <a:ext cx="210312" cy="210312"/>
          </a:xfrm>
          <a:prstGeom prst="ellipse">
            <a:avLst/>
          </a:prstGeom>
          <a:ln w="28575">
            <a:solidFill>
              <a:srgbClr val="CC0000"/>
            </a:solidFill>
            <a:prstDash val="solid"/>
          </a:ln>
        </p:spPr>
        <p:txBody>
          <a:bodyPr/>
          <a:lstStyle/>
          <a:p>
            <a:endParaRPr lang="en-US"/>
          </a:p>
        </p:txBody>
      </p:sp>
      <p:sp>
        <p:nvSpPr>
          <p:cNvPr id="296" name="Shape 294"/>
          <p:cNvSpPr/>
          <p:nvPr/>
        </p:nvSpPr>
        <p:spPr>
          <a:xfrm>
            <a:off x="6148866" y="7470283"/>
            <a:ext cx="109728" cy="109728"/>
          </a:xfrm>
          <a:prstGeom prst="ellipse">
            <a:avLst/>
          </a:prstGeom>
          <a:solidFill>
            <a:srgbClr val="E8710A"/>
          </a:solidFill>
          <a:ln w="6350">
            <a:solidFill>
              <a:srgbClr val="E8710A"/>
            </a:solidFill>
            <a:prstDash val="solid"/>
          </a:ln>
        </p:spPr>
        <p:txBody>
          <a:bodyPr/>
          <a:lstStyle/>
          <a:p>
            <a:endParaRPr lang="en-US"/>
          </a:p>
        </p:txBody>
      </p:sp>
      <p:sp>
        <p:nvSpPr>
          <p:cNvPr id="297" name="Text 295"/>
          <p:cNvSpPr/>
          <p:nvPr/>
        </p:nvSpPr>
        <p:spPr>
          <a:xfrm>
            <a:off x="6322602" y="7305691"/>
            <a:ext cx="1143000" cy="164592"/>
          </a:xfrm>
          <a:prstGeom prst="rect">
            <a:avLst/>
          </a:prstGeom>
          <a:noFill/>
          <a:ln/>
        </p:spPr>
        <p:txBody>
          <a:bodyPr wrap="square" lIns="0" tIns="0" rIns="0" bIns="0" rtlCol="0" anchor="ctr"/>
          <a:lstStyle/>
          <a:p>
            <a:pPr marL="0" indent="0">
              <a:buNone/>
            </a:pPr>
            <a:r>
              <a:rPr lang="en-US" sz="650" b="1" dirty="0">
                <a:solidFill>
                  <a:srgbClr val="1F2937"/>
                </a:solidFill>
                <a:latin typeface="Arial" pitchFamily="34" charset="0"/>
                <a:ea typeface="Arial" pitchFamily="34" charset="-122"/>
                <a:cs typeface="Arial" pitchFamily="34" charset="-120"/>
              </a:rPr>
              <a:t>TCCECH-04/036</a:t>
            </a:r>
            <a:endParaRPr lang="en-US" sz="650" dirty="0"/>
          </a:p>
        </p:txBody>
      </p:sp>
      <p:sp>
        <p:nvSpPr>
          <p:cNvPr id="298" name="Shape 296"/>
          <p:cNvSpPr/>
          <p:nvPr/>
        </p:nvSpPr>
        <p:spPr>
          <a:xfrm>
            <a:off x="3229796" y="5223159"/>
            <a:ext cx="210312" cy="210312"/>
          </a:xfrm>
          <a:prstGeom prst="ellipse">
            <a:avLst/>
          </a:prstGeom>
          <a:ln w="28575">
            <a:solidFill>
              <a:srgbClr val="0055CC"/>
            </a:solidFill>
            <a:prstDash val="solid"/>
          </a:ln>
        </p:spPr>
        <p:txBody>
          <a:bodyPr/>
          <a:lstStyle/>
          <a:p>
            <a:endParaRPr lang="en-US"/>
          </a:p>
        </p:txBody>
      </p:sp>
      <p:sp>
        <p:nvSpPr>
          <p:cNvPr id="299" name="Shape 297"/>
          <p:cNvSpPr/>
          <p:nvPr/>
        </p:nvSpPr>
        <p:spPr>
          <a:xfrm>
            <a:off x="3280088" y="5273451"/>
            <a:ext cx="109728" cy="109728"/>
          </a:xfrm>
          <a:prstGeom prst="ellipse">
            <a:avLst/>
          </a:prstGeom>
          <a:solidFill>
            <a:srgbClr val="1E8E3E"/>
          </a:solidFill>
          <a:ln w="6350">
            <a:solidFill>
              <a:srgbClr val="1E8E3E"/>
            </a:solidFill>
            <a:prstDash val="solid"/>
          </a:ln>
        </p:spPr>
        <p:txBody>
          <a:bodyPr/>
          <a:lstStyle/>
          <a:p>
            <a:endParaRPr lang="en-US"/>
          </a:p>
        </p:txBody>
      </p:sp>
      <p:sp>
        <p:nvSpPr>
          <p:cNvPr id="300" name="Text 298"/>
          <p:cNvSpPr/>
          <p:nvPr/>
        </p:nvSpPr>
        <p:spPr>
          <a:xfrm>
            <a:off x="3453824" y="5108859"/>
            <a:ext cx="1143000" cy="164592"/>
          </a:xfrm>
          <a:prstGeom prst="rect">
            <a:avLst/>
          </a:prstGeom>
          <a:noFill/>
          <a:ln/>
        </p:spPr>
        <p:txBody>
          <a:bodyPr wrap="square" lIns="0" tIns="0" rIns="0" bIns="0" rtlCol="0" anchor="ctr"/>
          <a:lstStyle/>
          <a:p>
            <a:pPr marL="0" indent="0">
              <a:buNone/>
            </a:pPr>
            <a:r>
              <a:rPr lang="en-US" sz="650" b="1" dirty="0">
                <a:solidFill>
                  <a:srgbClr val="1F2937"/>
                </a:solidFill>
                <a:latin typeface="Arial" pitchFamily="34" charset="0"/>
                <a:ea typeface="Arial" pitchFamily="34" charset="-122"/>
                <a:cs typeface="Arial" pitchFamily="34" charset="-120"/>
              </a:rPr>
              <a:t>SBC102-02/027</a:t>
            </a:r>
            <a:endParaRPr lang="en-US" sz="650" dirty="0"/>
          </a:p>
        </p:txBody>
      </p:sp>
      <p:sp>
        <p:nvSpPr>
          <p:cNvPr id="301" name="Shape 299"/>
          <p:cNvSpPr/>
          <p:nvPr/>
        </p:nvSpPr>
        <p:spPr>
          <a:xfrm>
            <a:off x="4001317" y="4627205"/>
            <a:ext cx="210312" cy="210312"/>
          </a:xfrm>
          <a:prstGeom prst="ellipse">
            <a:avLst/>
          </a:prstGeom>
          <a:ln w="28575">
            <a:solidFill>
              <a:srgbClr val="E8710A"/>
            </a:solidFill>
            <a:prstDash val="solid"/>
          </a:ln>
        </p:spPr>
        <p:txBody>
          <a:bodyPr/>
          <a:lstStyle/>
          <a:p>
            <a:endParaRPr lang="en-US"/>
          </a:p>
        </p:txBody>
      </p:sp>
      <p:sp>
        <p:nvSpPr>
          <p:cNvPr id="302" name="Shape 300"/>
          <p:cNvSpPr/>
          <p:nvPr/>
        </p:nvSpPr>
        <p:spPr>
          <a:xfrm>
            <a:off x="4051609" y="4677497"/>
            <a:ext cx="109728" cy="109728"/>
          </a:xfrm>
          <a:prstGeom prst="ellipse">
            <a:avLst/>
          </a:prstGeom>
          <a:solidFill>
            <a:srgbClr val="1E8E3E"/>
          </a:solidFill>
          <a:ln w="6350">
            <a:solidFill>
              <a:srgbClr val="1E8E3E"/>
            </a:solidFill>
            <a:prstDash val="solid"/>
          </a:ln>
        </p:spPr>
        <p:txBody>
          <a:bodyPr/>
          <a:lstStyle/>
          <a:p>
            <a:endParaRPr lang="en-US"/>
          </a:p>
        </p:txBody>
      </p:sp>
      <p:sp>
        <p:nvSpPr>
          <p:cNvPr id="303" name="Text 301"/>
          <p:cNvSpPr/>
          <p:nvPr/>
        </p:nvSpPr>
        <p:spPr>
          <a:xfrm>
            <a:off x="4225345" y="4512905"/>
            <a:ext cx="1143000" cy="164592"/>
          </a:xfrm>
          <a:prstGeom prst="rect">
            <a:avLst/>
          </a:prstGeom>
          <a:noFill/>
          <a:ln/>
        </p:spPr>
        <p:txBody>
          <a:bodyPr wrap="square" lIns="0" tIns="0" rIns="0" bIns="0" rtlCol="0" anchor="ctr"/>
          <a:lstStyle/>
          <a:p>
            <a:pPr marL="0" indent="0">
              <a:buNone/>
            </a:pPr>
            <a:r>
              <a:rPr lang="en-US" sz="650" b="1" dirty="0">
                <a:solidFill>
                  <a:srgbClr val="1F2937"/>
                </a:solidFill>
                <a:latin typeface="Arial" pitchFamily="34" charset="0"/>
                <a:ea typeface="Arial" pitchFamily="34" charset="-122"/>
                <a:cs typeface="Arial" pitchFamily="34" charset="-120"/>
              </a:rPr>
              <a:t>TCCECH-03/035</a:t>
            </a:r>
            <a:endParaRPr lang="en-US" sz="650" dirty="0"/>
          </a:p>
        </p:txBody>
      </p:sp>
      <p:sp>
        <p:nvSpPr>
          <p:cNvPr id="304" name="Shape 302"/>
          <p:cNvSpPr/>
          <p:nvPr/>
        </p:nvSpPr>
        <p:spPr>
          <a:xfrm>
            <a:off x="4046519" y="4621122"/>
            <a:ext cx="210312" cy="210312"/>
          </a:xfrm>
          <a:prstGeom prst="ellipse">
            <a:avLst/>
          </a:prstGeom>
          <a:ln w="28575">
            <a:solidFill>
              <a:srgbClr val="E8710A"/>
            </a:solidFill>
            <a:prstDash val="solid"/>
          </a:ln>
        </p:spPr>
        <p:txBody>
          <a:bodyPr/>
          <a:lstStyle/>
          <a:p>
            <a:endParaRPr lang="en-US"/>
          </a:p>
        </p:txBody>
      </p:sp>
      <p:sp>
        <p:nvSpPr>
          <p:cNvPr id="305" name="Shape 303"/>
          <p:cNvSpPr/>
          <p:nvPr/>
        </p:nvSpPr>
        <p:spPr>
          <a:xfrm>
            <a:off x="4096811" y="4671414"/>
            <a:ext cx="109728" cy="109728"/>
          </a:xfrm>
          <a:prstGeom prst="ellipse">
            <a:avLst/>
          </a:prstGeom>
          <a:solidFill>
            <a:srgbClr val="1E8E3E"/>
          </a:solidFill>
          <a:ln w="6350">
            <a:solidFill>
              <a:srgbClr val="1E8E3E"/>
            </a:solidFill>
            <a:prstDash val="solid"/>
          </a:ln>
        </p:spPr>
        <p:txBody>
          <a:bodyPr/>
          <a:lstStyle/>
          <a:p>
            <a:endParaRPr lang="en-US"/>
          </a:p>
        </p:txBody>
      </p:sp>
      <p:sp>
        <p:nvSpPr>
          <p:cNvPr id="306" name="Text 304"/>
          <p:cNvSpPr/>
          <p:nvPr/>
        </p:nvSpPr>
        <p:spPr>
          <a:xfrm>
            <a:off x="4270547" y="4506822"/>
            <a:ext cx="1143000" cy="164592"/>
          </a:xfrm>
          <a:prstGeom prst="rect">
            <a:avLst/>
          </a:prstGeom>
          <a:noFill/>
          <a:ln/>
        </p:spPr>
        <p:txBody>
          <a:bodyPr wrap="square" lIns="0" tIns="0" rIns="0" bIns="0" rtlCol="0" anchor="ctr"/>
          <a:lstStyle/>
          <a:p>
            <a:pPr marL="0" indent="0">
              <a:buNone/>
            </a:pPr>
            <a:r>
              <a:rPr lang="en-US" sz="650" b="1" dirty="0">
                <a:solidFill>
                  <a:srgbClr val="1F2937"/>
                </a:solidFill>
                <a:latin typeface="Arial" pitchFamily="34" charset="0"/>
                <a:ea typeface="Arial" pitchFamily="34" charset="-122"/>
                <a:cs typeface="Arial" pitchFamily="34" charset="-120"/>
              </a:rPr>
              <a:t>TCCECH-03/018</a:t>
            </a:r>
            <a:endParaRPr lang="en-US" sz="650" dirty="0"/>
          </a:p>
        </p:txBody>
      </p:sp>
      <p:sp>
        <p:nvSpPr>
          <p:cNvPr id="307" name="Shape 305"/>
          <p:cNvSpPr/>
          <p:nvPr/>
        </p:nvSpPr>
        <p:spPr>
          <a:xfrm>
            <a:off x="4455208" y="3691535"/>
            <a:ext cx="210312" cy="210312"/>
          </a:xfrm>
          <a:prstGeom prst="ellipse">
            <a:avLst/>
          </a:prstGeom>
          <a:ln w="28575">
            <a:solidFill>
              <a:srgbClr val="9AA0A6"/>
            </a:solidFill>
            <a:prstDash val="solid"/>
          </a:ln>
        </p:spPr>
        <p:txBody>
          <a:bodyPr/>
          <a:lstStyle/>
          <a:p>
            <a:endParaRPr lang="en-US"/>
          </a:p>
        </p:txBody>
      </p:sp>
      <p:sp>
        <p:nvSpPr>
          <p:cNvPr id="308" name="Text 306"/>
          <p:cNvSpPr/>
          <p:nvPr/>
        </p:nvSpPr>
        <p:spPr>
          <a:xfrm>
            <a:off x="4679236" y="3577235"/>
            <a:ext cx="1143000" cy="164592"/>
          </a:xfrm>
          <a:prstGeom prst="rect">
            <a:avLst/>
          </a:prstGeom>
          <a:noFill/>
          <a:ln/>
        </p:spPr>
        <p:txBody>
          <a:bodyPr wrap="square" lIns="0" tIns="0" rIns="0" bIns="0" rtlCol="0" anchor="ctr"/>
          <a:lstStyle/>
          <a:p>
            <a:pPr marL="0" indent="0">
              <a:buNone/>
            </a:pPr>
            <a:r>
              <a:rPr lang="en-US" sz="650" b="1" dirty="0">
                <a:solidFill>
                  <a:srgbClr val="1F2937"/>
                </a:solidFill>
                <a:latin typeface="Arial" pitchFamily="34" charset="0"/>
                <a:ea typeface="Arial" pitchFamily="34" charset="-122"/>
                <a:cs typeface="Arial" pitchFamily="34" charset="-120"/>
              </a:rPr>
              <a:t>SBC102-01/026</a:t>
            </a:r>
            <a:endParaRPr lang="en-US" sz="650" dirty="0"/>
          </a:p>
        </p:txBody>
      </p:sp>
      <p:sp>
        <p:nvSpPr>
          <p:cNvPr id="309" name="Shape 307"/>
          <p:cNvSpPr/>
          <p:nvPr/>
        </p:nvSpPr>
        <p:spPr>
          <a:xfrm>
            <a:off x="10104120" y="777240"/>
            <a:ext cx="4709160" cy="1170432"/>
          </a:xfrm>
          <a:prstGeom prst="rect">
            <a:avLst/>
          </a:prstGeom>
          <a:solidFill>
            <a:srgbClr val="1E2761"/>
          </a:solidFill>
          <a:ln w="9525">
            <a:solidFill>
              <a:srgbClr val="D5DAE0"/>
            </a:solidFill>
            <a:prstDash val="solid"/>
          </a:ln>
        </p:spPr>
        <p:txBody>
          <a:bodyPr/>
          <a:lstStyle/>
          <a:p>
            <a:endParaRPr lang="en-US"/>
          </a:p>
        </p:txBody>
      </p:sp>
      <p:sp>
        <p:nvSpPr>
          <p:cNvPr id="310" name="Text 308"/>
          <p:cNvSpPr/>
          <p:nvPr/>
        </p:nvSpPr>
        <p:spPr>
          <a:xfrm>
            <a:off x="10241280" y="868680"/>
            <a:ext cx="4434840" cy="274320"/>
          </a:xfrm>
          <a:prstGeom prst="rect">
            <a:avLst/>
          </a:prstGeom>
          <a:noFill/>
          <a:ln/>
        </p:spPr>
        <p:txBody>
          <a:bodyPr wrap="square" lIns="0" tIns="0" rIns="0" bIns="0" rtlCol="0" anchor="ctr"/>
          <a:lstStyle/>
          <a:p>
            <a:pPr marL="0" indent="0">
              <a:buNone/>
            </a:pPr>
            <a:r>
              <a:rPr lang="en-US" sz="1250" b="1" dirty="0">
                <a:solidFill>
                  <a:srgbClr val="FFFFFF"/>
                </a:solidFill>
                <a:latin typeface="Arial" pitchFamily="34" charset="0"/>
                <a:ea typeface="Arial" pitchFamily="34" charset="-122"/>
                <a:cs typeface="Arial" pitchFamily="34" charset="-120"/>
              </a:rPr>
              <a:t>LOCATION 1 — 1001  ·  REV P06 (EDITABLE)</a:t>
            </a:r>
            <a:endParaRPr lang="en-US" sz="1250" dirty="0"/>
          </a:p>
        </p:txBody>
      </p:sp>
      <p:sp>
        <p:nvSpPr>
          <p:cNvPr id="311" name="Text 309"/>
          <p:cNvSpPr/>
          <p:nvPr/>
        </p:nvSpPr>
        <p:spPr>
          <a:xfrm>
            <a:off x="10241280" y="1179576"/>
            <a:ext cx="4434840" cy="384048"/>
          </a:xfrm>
          <a:prstGeom prst="rect">
            <a:avLst/>
          </a:prstGeom>
          <a:noFill/>
          <a:ln/>
        </p:spPr>
        <p:txBody>
          <a:bodyPr wrap="square" lIns="0" tIns="0" rIns="0" bIns="0" rtlCol="0" anchor="ctr"/>
          <a:lstStyle/>
          <a:p>
            <a:pPr marL="0" indent="0">
              <a:buNone/>
            </a:pPr>
            <a:r>
              <a:rPr lang="en-US" sz="800" dirty="0">
                <a:solidFill>
                  <a:srgbClr val="CADCFC"/>
                </a:solidFill>
                <a:latin typeface="Arial" pitchFamily="34" charset="0"/>
                <a:ea typeface="Arial" pitchFamily="34" charset="-122"/>
                <a:cs typeface="Arial" pitchFamily="34" charset="-120"/>
              </a:rPr>
              <a:t>SCOPE PER FIELD SHEET Document_3 — FIELD CONDITION GOVERNS</a:t>
            </a:r>
            <a:endParaRPr lang="en-US" sz="800" dirty="0"/>
          </a:p>
        </p:txBody>
      </p:sp>
      <p:sp>
        <p:nvSpPr>
          <p:cNvPr id="312" name="Text 310"/>
          <p:cNvSpPr/>
          <p:nvPr/>
        </p:nvSpPr>
        <p:spPr>
          <a:xfrm>
            <a:off x="10241280" y="1600200"/>
            <a:ext cx="4434840" cy="310896"/>
          </a:xfrm>
          <a:prstGeom prst="rect">
            <a:avLst/>
          </a:prstGeom>
          <a:noFill/>
          <a:ln/>
        </p:spPr>
        <p:txBody>
          <a:bodyPr wrap="square" lIns="0" tIns="0" rIns="0" bIns="0" rtlCol="0" anchor="ctr"/>
          <a:lstStyle/>
          <a:p>
            <a:pPr marL="0" indent="0">
              <a:buNone/>
            </a:pPr>
            <a:endParaRPr lang="en-US" sz="700" dirty="0"/>
            <a:r>
              <a:rPr lang="en-US" sz="700" dirty="0">
                <a:solidFill>
                  <a:srgbClr val="CADCFC"/>
                </a:solidFill>
                <a:latin typeface="Arial" pitchFamily="34" charset="0"/>
                <a:ea typeface="Arial" pitchFamily="34" charset="-122"/>
                <a:cs typeface="Arial" pitchFamily="34" charset="-120"/>
              </a:rPr>
              <a:t>Frame 102.1 m across · ZIA local grid (m) · duct geometry from Z1-Z2-Z3-MTA_SEGMENTATION source dwg · Rev P06 · Prepared: Mohammed, AGL Team Leader — ADB SAFEGATE</a:t>
            </a:r>
          </a:p>
        </p:txBody>
      </p:sp>
      <p:sp>
        <p:nvSpPr>
          <p:cNvPr id="313" name="Shape 311"/>
          <p:cNvSpPr/>
          <p:nvPr/>
        </p:nvSpPr>
        <p:spPr>
          <a:xfrm>
            <a:off x="10104120" y="2057400"/>
            <a:ext cx="4709160" cy="2502713"/>
          </a:xfrm>
          <a:prstGeom prst="rect">
            <a:avLst/>
          </a:prstGeom>
          <a:solidFill>
            <a:srgbClr val="F4F6F8"/>
          </a:solidFill>
          <a:ln w="9525">
            <a:solidFill>
              <a:srgbClr val="D5DAE0"/>
            </a:solidFill>
            <a:prstDash val="solid"/>
          </a:ln>
        </p:spPr>
        <p:txBody>
          <a:bodyPr/>
          <a:lstStyle/>
          <a:p>
            <a:endParaRPr lang="en-US"/>
          </a:p>
        </p:txBody>
      </p:sp>
      <p:sp>
        <p:nvSpPr>
          <p:cNvPr id="314" name="Text 312"/>
          <p:cNvSpPr/>
          <p:nvPr/>
        </p:nvSpPr>
        <p:spPr>
          <a:xfrm>
            <a:off x="10241280" y="2130552"/>
            <a:ext cx="4434840" cy="219456"/>
          </a:xfrm>
          <a:prstGeom prst="rect">
            <a:avLst/>
          </a:prstGeom>
          <a:noFill/>
          <a:ln/>
        </p:spPr>
        <p:txBody>
          <a:bodyPr wrap="square" lIns="0" tIns="0" rIns="0" bIns="0" rtlCol="0" anchor="ctr"/>
          <a:lstStyle/>
          <a:p>
            <a:pPr marL="0" indent="0">
              <a:buNone/>
            </a:pPr>
            <a:r>
              <a:rPr lang="en-US" sz="950" b="1" dirty="0">
                <a:solidFill>
                  <a:srgbClr val="1E2761"/>
                </a:solidFill>
                <a:latin typeface="Arial" pitchFamily="34" charset="0"/>
                <a:ea typeface="Arial" pitchFamily="34" charset="-122"/>
                <a:cs typeface="Arial" pitchFamily="34" charset="-120"/>
              </a:rPr>
              <a:t>SCOPE / QUANTITIES (PER FIELD VERIFICATION)</a:t>
            </a:r>
            <a:endParaRPr lang="en-US" sz="950" dirty="0"/>
          </a:p>
        </p:txBody>
      </p:sp>
      <p:sp>
        <p:nvSpPr>
          <p:cNvPr id="315" name="Text 313"/>
          <p:cNvSpPr/>
          <p:nvPr/>
        </p:nvSpPr>
        <p:spPr>
          <a:xfrm>
            <a:off x="10241280" y="2386584"/>
            <a:ext cx="4434840" cy="2118665"/>
          </a:xfrm>
          <a:prstGeom prst="rect">
            <a:avLst/>
          </a:prstGeom>
          <a:noFill/>
          <a:ln/>
        </p:spPr>
        <p:txBody>
          <a:bodyPr wrap="square" lIns="0" tIns="0" rIns="0" bIns="0" rtlCol="0" anchor="ctr"/>
          <a:lstStyle/>
          <a:p>
            <a:pPr marL="0" indent="0">
              <a:lnSpc>
                <a:spcPct val="112000"/>
              </a:lnSpc>
              <a:buNone/>
            </a:pPr>
            <a:r>
              <a:rPr lang="en-US" sz="760" dirty="0">
                <a:solidFill>
                  <a:srgbClr val="1F2937"/>
                </a:solidFill>
                <a:latin typeface="Arial" pitchFamily="34" charset="0"/>
                <a:ea typeface="Arial" pitchFamily="34" charset="-122"/>
                <a:cs typeface="Arial" pitchFamily="34" charset="-120"/>
              </a:rPr>
              <a:t>CORE OUT SHALLOW BASE + NEW CABLE: 11 No.</a:t>
            </a:r>
            <a:endParaRPr lang="en-US" sz="760" dirty="0"/>
          </a:p>
          <a:p>
            <a:pPr marL="0" indent="0">
              <a:lnSpc>
                <a:spcPct val="112000"/>
              </a:lnSpc>
              <a:buNone/>
            </a:pPr>
            <a:r>
              <a:rPr lang="en-US" sz="760" dirty="0">
                <a:solidFill>
                  <a:srgbClr val="1F2937"/>
                </a:solidFill>
                <a:latin typeface="Arial" pitchFamily="34" charset="0"/>
                <a:ea typeface="Arial" pitchFamily="34" charset="-122"/>
                <a:cs typeface="Arial" pitchFamily="34" charset="-120"/>
              </a:rPr>
              <a:t>   • VIA DUCT (6): SBC102-02/024, 01/027, 02/025, 01/028, 02/026, 01/029</a:t>
            </a:r>
            <a:endParaRPr lang="en-US" sz="760" dirty="0"/>
          </a:p>
          <a:p>
            <a:pPr marL="0" indent="0">
              <a:lnSpc>
                <a:spcPct val="112000"/>
              </a:lnSpc>
              <a:buNone/>
            </a:pPr>
            <a:r>
              <a:rPr lang="en-US" sz="760" dirty="0">
                <a:solidFill>
                  <a:srgbClr val="1F2937"/>
                </a:solidFill>
                <a:latin typeface="Arial" pitchFamily="34" charset="0"/>
                <a:ea typeface="Arial" pitchFamily="34" charset="-122"/>
                <a:cs typeface="Arial" pitchFamily="34" charset="-120"/>
              </a:rPr>
              <a:t>   • VIA SAWCUT (5): TCCECH-04/034, 03/036, 04/035, 03/037, 04/036</a:t>
            </a:r>
            <a:endParaRPr lang="en-US" sz="760" dirty="0"/>
          </a:p>
          <a:p>
            <a:pPr marL="0" indent="0">
              <a:lnSpc>
                <a:spcPct val="112000"/>
              </a:lnSpc>
              <a:buNone/>
            </a:pPr>
            <a:r>
              <a:rPr lang="en-US" sz="760" dirty="0">
                <a:solidFill>
                  <a:srgbClr val="1F2937"/>
                </a:solidFill>
                <a:latin typeface="Arial" pitchFamily="34" charset="0"/>
                <a:ea typeface="Arial" pitchFamily="34" charset="-122"/>
                <a:cs typeface="Arial" pitchFamily="34" charset="-120"/>
              </a:rPr>
              <a:t>NEW SECONDARY CABLE ONLY: 3 No.</a:t>
            </a:r>
            <a:endParaRPr lang="en-US" sz="760" dirty="0"/>
          </a:p>
          <a:p>
            <a:pPr marL="0" indent="0">
              <a:lnSpc>
                <a:spcPct val="112000"/>
              </a:lnSpc>
              <a:buNone/>
            </a:pPr>
            <a:r>
              <a:rPr lang="en-US" sz="760" dirty="0">
                <a:solidFill>
                  <a:srgbClr val="1F2937"/>
                </a:solidFill>
                <a:latin typeface="Arial" pitchFamily="34" charset="0"/>
                <a:ea typeface="Arial" pitchFamily="34" charset="-122"/>
                <a:cs typeface="Arial" pitchFamily="34" charset="-120"/>
              </a:rPr>
              <a:t>   • SBC102-02/027 (DUCT) · TCCECH-03/035, 03/018 (SAWCUT — bases OK, verify at cut line)</a:t>
            </a:r>
            <a:endParaRPr lang="en-US" sz="760" dirty="0"/>
          </a:p>
          <a:p>
            <a:pPr marL="0" indent="0">
              <a:lnSpc>
                <a:spcPct val="112000"/>
              </a:lnSpc>
              <a:buNone/>
            </a:pPr>
            <a:r>
              <a:rPr lang="en-US" sz="760" dirty="0">
                <a:solidFill>
                  <a:srgbClr val="1F2937"/>
                </a:solidFill>
                <a:latin typeface="Arial" pitchFamily="34" charset="0"/>
                <a:ea typeface="Arial" pitchFamily="34" charset="-122"/>
                <a:cs typeface="Arial" pitchFamily="34" charset="-120"/>
              </a:rPr>
              <a:t>FIELD VERIFIED NOT AFFECTED: SBC102-01/026 (no works)</a:t>
            </a:r>
            <a:endParaRPr lang="en-US" sz="760" dirty="0"/>
          </a:p>
          <a:p>
            <a:pPr marL="0" indent="0">
              <a:lnSpc>
                <a:spcPct val="112000"/>
              </a:lnSpc>
              <a:buNone/>
            </a:pPr>
            <a:r>
              <a:rPr lang="en-US" sz="760" dirty="0">
                <a:solidFill>
                  <a:srgbClr val="1F2937"/>
                </a:solidFill>
                <a:latin typeface="Arial" pitchFamily="34" charset="0"/>
                <a:ea typeface="Arial" pitchFamily="34" charset="-122"/>
                <a:cs typeface="Arial" pitchFamily="34" charset="-120"/>
              </a:rPr>
              <a:t>TCC103 FITTINGS NOT IN FIELD SCOPE — SHOWN AS EXISTING ONLY</a:t>
            </a:r>
            <a:endParaRPr lang="en-US" sz="760" dirty="0"/>
          </a:p>
          <a:p>
            <a:pPr marL="0" indent="0">
              <a:lnSpc>
                <a:spcPct val="112000"/>
              </a:lnSpc>
              <a:buNone/>
            </a:pPr>
            <a:r>
              <a:rPr lang="en-US" sz="760" dirty="0">
                <a:solidFill>
                  <a:srgbClr val="1F2937"/>
                </a:solidFill>
                <a:latin typeface="Arial" pitchFamily="34" charset="0"/>
                <a:ea typeface="Arial" pitchFamily="34" charset="-122"/>
                <a:cs typeface="Arial" pitchFamily="34" charset="-120"/>
              </a:rPr>
              <a:t>ISOLATE CIRCUITS: SBC102.01/.02, TCCECH.03/.04</a:t>
            </a:r>
            <a:endParaRPr lang="en-US" sz="760" dirty="0"/>
          </a:p>
          <a:p>
            <a:pPr marL="0" indent="0">
              <a:lnSpc>
                <a:spcPct val="112000"/>
              </a:lnSpc>
              <a:buNone/>
            </a:pPr>
            <a:r>
              <a:rPr lang="en-US" sz="760" dirty="0">
                <a:solidFill>
                  <a:srgbClr val="1F2937"/>
                </a:solidFill>
                <a:latin typeface="Arial" pitchFamily="34" charset="0"/>
                <a:ea typeface="Arial" pitchFamily="34" charset="-122"/>
                <a:cs typeface="Arial" pitchFamily="34" charset="-120"/>
              </a:rPr>
              <a:t>SITE RECORD 23.07.2026: 9 cored + 2 reinstatement already worked</a:t>
            </a:r>
            <a:endParaRPr lang="en-US" sz="760" dirty="0"/>
          </a:p>
        </p:txBody>
      </p:sp>
      <p:sp>
        <p:nvSpPr>
          <p:cNvPr id="316" name="Shape 314"/>
          <p:cNvSpPr/>
          <p:nvPr/>
        </p:nvSpPr>
        <p:spPr>
          <a:xfrm>
            <a:off x="10104120" y="4669841"/>
            <a:ext cx="4709160" cy="2267712"/>
          </a:xfrm>
          <a:prstGeom prst="rect">
            <a:avLst/>
          </a:prstGeom>
          <a:solidFill>
            <a:srgbClr val="FFFFFF"/>
          </a:solidFill>
          <a:ln w="9525">
            <a:solidFill>
              <a:srgbClr val="D5DAE0"/>
            </a:solidFill>
            <a:prstDash val="solid"/>
          </a:ln>
        </p:spPr>
        <p:txBody>
          <a:bodyPr/>
          <a:lstStyle/>
          <a:p>
            <a:endParaRPr lang="en-US"/>
          </a:p>
        </p:txBody>
      </p:sp>
      <p:sp>
        <p:nvSpPr>
          <p:cNvPr id="317" name="Text 315"/>
          <p:cNvSpPr/>
          <p:nvPr/>
        </p:nvSpPr>
        <p:spPr>
          <a:xfrm>
            <a:off x="10241280" y="4742993"/>
            <a:ext cx="4434840" cy="219456"/>
          </a:xfrm>
          <a:prstGeom prst="rect">
            <a:avLst/>
          </a:prstGeom>
          <a:noFill/>
          <a:ln/>
        </p:spPr>
        <p:txBody>
          <a:bodyPr wrap="square" lIns="0" tIns="0" rIns="0" bIns="0" rtlCol="0" anchor="ctr"/>
          <a:lstStyle/>
          <a:p>
            <a:pPr marL="0" indent="0">
              <a:buNone/>
            </a:pPr>
            <a:r>
              <a:rPr lang="en-US" sz="950" b="1" dirty="0">
                <a:solidFill>
                  <a:srgbClr val="1E2761"/>
                </a:solidFill>
                <a:latin typeface="Arial" pitchFamily="34" charset="0"/>
                <a:ea typeface="Arial" pitchFamily="34" charset="-122"/>
                <a:cs typeface="Arial" pitchFamily="34" charset="-120"/>
              </a:rPr>
              <a:t>GENERAL NOTES</a:t>
            </a:r>
            <a:endParaRPr lang="en-US" sz="950" dirty="0"/>
          </a:p>
        </p:txBody>
      </p:sp>
      <p:sp>
        <p:nvSpPr>
          <p:cNvPr id="318" name="Text 316"/>
          <p:cNvSpPr/>
          <p:nvPr/>
        </p:nvSpPr>
        <p:spPr>
          <a:xfrm>
            <a:off x="10241280" y="4999025"/>
            <a:ext cx="4434840" cy="1883664"/>
          </a:xfrm>
          <a:prstGeom prst="rect">
            <a:avLst/>
          </a:prstGeom>
          <a:noFill/>
          <a:ln/>
        </p:spPr>
        <p:txBody>
          <a:bodyPr wrap="square" lIns="0" tIns="0" rIns="0" bIns="0" rtlCol="0" anchor="t"/>
          <a:lstStyle/>
          <a:p>
            <a:pPr marL="0" indent="0">
              <a:lnSpc>
                <a:spcPct val="110000"/>
              </a:lnSpc>
              <a:buNone/>
            </a:pPr>
            <a:endParaRPr lang="en-US" sz="680" dirty="0"/>
            <a:r>
              <a:rPr lang="en-US" sz="800" dirty="0">
                <a:solidFill>
                  <a:srgbClr val="5F6368"/>
                </a:solidFill>
                <a:latin typeface="Arial" pitchFamily="34" charset="0"/>
                <a:ea typeface="Arial" pitchFamily="34" charset="-122"/>
                <a:cs typeface="Arial" pitchFamily="34" charset="-120"/>
              </a:rPr>
              <a:t>1. Positions plotted are ZIA LOCAL PROJECT GRID metres — NOT UTM 40N. The Rev P06 "EPSG:32640" label was wrong; no surveyed local-to-UTM transform exists. Do not issue a UTM coordinate from this sheet.</a:t>
            </a:r>
          </a:p>
          <a:p>
            <a:pPr marL="0" indent="0">
              <a:lnSpc>
                <a:spcPct val="110000"/>
              </a:lnSpc>
              <a:buNone/>
            </a:pPr>
            <a:r>
              <a:rPr lang="en-US" sz="800" dirty="0">
                <a:solidFill>
                  <a:srgbClr val="5F6368"/>
                </a:solidFill>
                <a:latin typeface="Arial" pitchFamily="34" charset="0"/>
                <a:ea typeface="Arial" pitchFamily="34" charset="-122"/>
                <a:cs typeface="Arial" pitchFamily="34" charset="-120"/>
              </a:rPr>
              <a:t>2. AGL works area (red) per field condition. Coring at Location 1 only.</a:t>
            </a:r>
          </a:p>
          <a:p>
            <a:pPr marL="0" indent="0">
              <a:lnSpc>
                <a:spcPct val="110000"/>
              </a:lnSpc>
              <a:buNone/>
            </a:pPr>
            <a:r>
              <a:rPr lang="en-US" sz="800" dirty="0">
                <a:solidFill>
                  <a:srgbClr val="5F6368"/>
                </a:solidFill>
                <a:latin typeface="Arial" pitchFamily="34" charset="0"/>
                <a:ea typeface="Arial" pitchFamily="34" charset="-122"/>
                <a:cs typeface="Arial" pitchFamily="34" charset="-120"/>
              </a:rPr>
              <a:t>3. Duct / ductbank / conduit / sawcut lines are REAL as-built geometry from ADA drawing Z1-Z2-Z3-MTA_SEGMENTATION.dxf — not light-to-nearest-pit construction lines. Layer name carries size and way-count; see sheet 6.</a:t>
            </a:r>
          </a:p>
          <a:p>
            <a:pPr marL="0" indent="0">
              <a:lnSpc>
                <a:spcPct val="110000"/>
              </a:lnSpc>
              <a:buNone/>
            </a:pPr>
            <a:r>
              <a:rPr lang="en-US" sz="800" dirty="0">
                <a:solidFill>
                  <a:srgbClr val="5F6368"/>
                </a:solidFill>
                <a:latin typeface="Arial" pitchFamily="34" charset="0"/>
                <a:ea typeface="Arial" pitchFamily="34" charset="-122"/>
                <a:cs typeface="Arial" pitchFamily="34" charset="-120"/>
              </a:rPr>
              <a:t>4. Ducts are drawn as the separate segments they are in the source. Continuity NOT proven — do not take a continuous pull length off this sheet.</a:t>
            </a:r>
          </a:p>
          <a:p>
            <a:pPr marL="0" indent="0">
              <a:lnSpc>
                <a:spcPct val="110000"/>
              </a:lnSpc>
              <a:buNone/>
            </a:pPr>
            <a:r>
              <a:rPr lang="en-US" sz="800" dirty="0">
                <a:solidFill>
                  <a:srgbClr val="5F6368"/>
                </a:solidFill>
                <a:latin typeface="Arial" pitchFamily="34" charset="0"/>
                <a:ea typeface="Arial" pitchFamily="34" charset="-122"/>
                <a:cs typeface="Arial" pitchFamily="34" charset="-120"/>
              </a:rPr>
              <a:t>5. Isolate, lock out &amp; prove dead all listed circuits at CCR under permit before cutting, coring or excavation.</a:t>
            </a:r>
          </a:p>
          <a:p>
            <a:pPr marL="0" indent="0">
              <a:lnSpc>
                <a:spcPct val="110000"/>
              </a:lnSpc>
              <a:buNone/>
            </a:pPr>
            <a:r>
              <a:rPr lang="en-US" sz="800" dirty="0">
                <a:solidFill>
                  <a:srgbClr val="5F6368"/>
                </a:solidFill>
                <a:latin typeface="Arial" pitchFamily="34" charset="0"/>
                <a:ea typeface="Arial" pitchFamily="34" charset="-122"/>
                <a:cs typeface="Arial" pitchFamily="34" charset="-120"/>
              </a:rPr>
              <a:t>6. HH / MH / transformer-pit / RRM symbols sit ~2.1-2.3 m off the source insertion point (sheet 6) — set out civil features from survey.</a:t>
            </a:r>
          </a:p>
          <a:p>
            <a:pPr marL="0" indent="0">
              <a:lnSpc>
                <a:spcPct val="110000"/>
              </a:lnSpc>
              <a:buNone/>
            </a:pPr>
            <a:r>
              <a:rPr lang="en-US" sz="800" dirty="0">
                <a:solidFill>
                  <a:srgbClr val="5F6368"/>
                </a:solidFill>
                <a:latin typeface="Arial" pitchFamily="34" charset="0"/>
                <a:ea typeface="Arial" pitchFamily="34" charset="-122"/>
                <a:cs typeface="Arial" pitchFamily="34" charset="-120"/>
              </a:rPr>
              <a:t>7. Centerline &amp; stop bar from as-built TCC / SBC fittings. Edge indicative 23 m — confirm on site.</a:t>
            </a:r>
          </a:p>
        </p:txBody>
      </p:sp>
      <p:sp>
        <p:nvSpPr>
          <p:cNvPr id="319" name="Shape 317"/>
          <p:cNvSpPr/>
          <p:nvPr/>
        </p:nvSpPr>
        <p:spPr>
          <a:xfrm>
            <a:off x="10104120" y="7047281"/>
            <a:ext cx="4709160" cy="3551357"/>
          </a:xfrm>
          <a:prstGeom prst="rect">
            <a:avLst/>
          </a:prstGeom>
          <a:solidFill>
            <a:srgbClr val="F4F6F8"/>
          </a:solidFill>
          <a:ln w="9525">
            <a:solidFill>
              <a:srgbClr val="D5DAE0"/>
            </a:solidFill>
            <a:prstDash val="solid"/>
          </a:ln>
        </p:spPr>
        <p:txBody>
          <a:bodyPr/>
          <a:lstStyle/>
          <a:p>
            <a:endParaRPr lang="en-US"/>
          </a:p>
        </p:txBody>
      </p:sp>
      <p:sp>
        <p:nvSpPr>
          <p:cNvPr id="320" name="Text 318"/>
          <p:cNvSpPr/>
          <p:nvPr/>
        </p:nvSpPr>
        <p:spPr>
          <a:xfrm>
            <a:off x="10241280" y="7120433"/>
            <a:ext cx="4434840" cy="219456"/>
          </a:xfrm>
          <a:prstGeom prst="rect">
            <a:avLst/>
          </a:prstGeom>
          <a:noFill/>
          <a:ln/>
        </p:spPr>
        <p:txBody>
          <a:bodyPr wrap="square" lIns="0" tIns="0" rIns="0" bIns="0" rtlCol="0" anchor="ctr"/>
          <a:lstStyle/>
          <a:p>
            <a:pPr marL="0" indent="0">
              <a:buNone/>
            </a:pPr>
            <a:r>
              <a:rPr lang="en-US" sz="950" b="1" dirty="0">
                <a:solidFill>
                  <a:srgbClr val="1E2761"/>
                </a:solidFill>
                <a:latin typeface="Arial" pitchFamily="34" charset="0"/>
                <a:ea typeface="Arial" pitchFamily="34" charset="-122"/>
                <a:cs typeface="Arial" pitchFamily="34" charset="-120"/>
              </a:rPr>
              <a:t>LEGEND — WORKS ACTIONS (THIS SHEET)</a:t>
            </a:r>
            <a:endParaRPr lang="en-US" sz="950" dirty="0"/>
          </a:p>
        </p:txBody>
      </p:sp>
      <p:sp>
        <p:nvSpPr>
          <p:cNvPr id="321" name="Shape 319"/>
          <p:cNvSpPr/>
          <p:nvPr/>
        </p:nvSpPr>
        <p:spPr>
          <a:xfrm>
            <a:off x="10305288" y="7445045"/>
            <a:ext cx="192024" cy="192024"/>
          </a:xfrm>
          <a:prstGeom prst="ellipse">
            <a:avLst/>
          </a:prstGeom>
          <a:ln w="28575">
            <a:solidFill>
              <a:srgbClr val="CC0000"/>
            </a:solidFill>
            <a:prstDash val="solid"/>
          </a:ln>
        </p:spPr>
        <p:txBody>
          <a:bodyPr/>
          <a:lstStyle/>
          <a:p>
            <a:endParaRPr lang="en-US"/>
          </a:p>
        </p:txBody>
      </p:sp>
      <p:sp>
        <p:nvSpPr>
          <p:cNvPr id="322" name="Shape 320"/>
          <p:cNvSpPr/>
          <p:nvPr/>
        </p:nvSpPr>
        <p:spPr>
          <a:xfrm>
            <a:off x="10351008" y="7490765"/>
            <a:ext cx="100584" cy="100584"/>
          </a:xfrm>
          <a:prstGeom prst="ellipse">
            <a:avLst/>
          </a:prstGeom>
          <a:solidFill>
            <a:srgbClr val="0055CC"/>
          </a:solidFill>
          <a:ln w="6350">
            <a:solidFill>
              <a:srgbClr val="0055CC"/>
            </a:solidFill>
            <a:prstDash val="solid"/>
          </a:ln>
        </p:spPr>
        <p:txBody>
          <a:bodyPr/>
          <a:lstStyle/>
          <a:p>
            <a:endParaRPr lang="en-US"/>
          </a:p>
        </p:txBody>
      </p:sp>
      <p:sp>
        <p:nvSpPr>
          <p:cNvPr id="323" name="Text 321"/>
          <p:cNvSpPr/>
          <p:nvPr/>
        </p:nvSpPr>
        <p:spPr>
          <a:xfrm>
            <a:off x="10616184" y="7431329"/>
            <a:ext cx="4050792" cy="237744"/>
          </a:xfrm>
          <a:prstGeom prst="rect">
            <a:avLst/>
          </a:prstGeom>
          <a:noFill/>
          <a:ln/>
        </p:spPr>
        <p:txBody>
          <a:bodyPr wrap="square" lIns="0" tIns="0" rIns="0" bIns="0" rtlCol="0" anchor="ctr"/>
          <a:lstStyle/>
          <a:p>
            <a:pPr marL="0" indent="0">
              <a:buNone/>
            </a:pPr>
            <a:r>
              <a:rPr lang="en-US" sz="740" dirty="0">
                <a:solidFill>
                  <a:srgbClr val="1F2937"/>
                </a:solidFill>
                <a:latin typeface="Arial" pitchFamily="34" charset="0"/>
                <a:ea typeface="Arial" pitchFamily="34" charset="-122"/>
                <a:cs typeface="Arial" pitchFamily="34" charset="-120"/>
              </a:rPr>
              <a:t>CORE OUT + NEW CABLE (DUCT) — outer red / inner blue</a:t>
            </a:r>
            <a:endParaRPr lang="en-US" sz="740" dirty="0"/>
          </a:p>
        </p:txBody>
      </p:sp>
      <p:sp>
        <p:nvSpPr>
          <p:cNvPr id="324" name="Shape 322"/>
          <p:cNvSpPr/>
          <p:nvPr/>
        </p:nvSpPr>
        <p:spPr>
          <a:xfrm>
            <a:off x="10305288" y="7688987"/>
            <a:ext cx="192024" cy="192024"/>
          </a:xfrm>
          <a:prstGeom prst="ellipse">
            <a:avLst/>
          </a:prstGeom>
          <a:ln w="28575">
            <a:solidFill>
              <a:srgbClr val="CC0000"/>
            </a:solidFill>
            <a:prstDash val="solid"/>
          </a:ln>
        </p:spPr>
        <p:txBody>
          <a:bodyPr/>
          <a:lstStyle/>
          <a:p>
            <a:endParaRPr lang="en-US"/>
          </a:p>
        </p:txBody>
      </p:sp>
      <p:sp>
        <p:nvSpPr>
          <p:cNvPr id="325" name="Shape 323"/>
          <p:cNvSpPr/>
          <p:nvPr/>
        </p:nvSpPr>
        <p:spPr>
          <a:xfrm>
            <a:off x="10351008" y="7734707"/>
            <a:ext cx="100584" cy="100584"/>
          </a:xfrm>
          <a:prstGeom prst="ellipse">
            <a:avLst/>
          </a:prstGeom>
          <a:solidFill>
            <a:srgbClr val="E8710A"/>
          </a:solidFill>
          <a:ln w="6350">
            <a:solidFill>
              <a:srgbClr val="E8710A"/>
            </a:solidFill>
            <a:prstDash val="solid"/>
          </a:ln>
        </p:spPr>
        <p:txBody>
          <a:bodyPr/>
          <a:lstStyle/>
          <a:p>
            <a:endParaRPr lang="en-US"/>
          </a:p>
        </p:txBody>
      </p:sp>
      <p:sp>
        <p:nvSpPr>
          <p:cNvPr id="326" name="Text 324"/>
          <p:cNvSpPr/>
          <p:nvPr/>
        </p:nvSpPr>
        <p:spPr>
          <a:xfrm>
            <a:off x="10616184" y="7675271"/>
            <a:ext cx="4050792" cy="237744"/>
          </a:xfrm>
          <a:prstGeom prst="rect">
            <a:avLst/>
          </a:prstGeom>
          <a:noFill/>
          <a:ln/>
        </p:spPr>
        <p:txBody>
          <a:bodyPr wrap="square" lIns="0" tIns="0" rIns="0" bIns="0" rtlCol="0" anchor="ctr"/>
          <a:lstStyle/>
          <a:p>
            <a:pPr marL="0" indent="0">
              <a:buNone/>
            </a:pPr>
            <a:r>
              <a:rPr lang="en-US" sz="740" dirty="0">
                <a:solidFill>
                  <a:srgbClr val="1F2937"/>
                </a:solidFill>
                <a:latin typeface="Arial" pitchFamily="34" charset="0"/>
                <a:ea typeface="Arial" pitchFamily="34" charset="-122"/>
                <a:cs typeface="Arial" pitchFamily="34" charset="-120"/>
              </a:rPr>
              <a:t>CORE OUT + NEW CABLE (SAWCUT) — outer red / inner orange</a:t>
            </a:r>
            <a:endParaRPr lang="en-US" sz="740" dirty="0"/>
          </a:p>
        </p:txBody>
      </p:sp>
      <p:sp>
        <p:nvSpPr>
          <p:cNvPr id="327" name="Shape 325"/>
          <p:cNvSpPr/>
          <p:nvPr/>
        </p:nvSpPr>
        <p:spPr>
          <a:xfrm>
            <a:off x="10305288" y="7932929"/>
            <a:ext cx="192024" cy="192024"/>
          </a:xfrm>
          <a:prstGeom prst="ellipse">
            <a:avLst/>
          </a:prstGeom>
          <a:ln w="28575">
            <a:solidFill>
              <a:srgbClr val="0055CC"/>
            </a:solidFill>
            <a:prstDash val="solid"/>
          </a:ln>
        </p:spPr>
        <p:txBody>
          <a:bodyPr/>
          <a:lstStyle/>
          <a:p>
            <a:endParaRPr lang="en-US"/>
          </a:p>
        </p:txBody>
      </p:sp>
      <p:sp>
        <p:nvSpPr>
          <p:cNvPr id="328" name="Shape 326"/>
          <p:cNvSpPr/>
          <p:nvPr/>
        </p:nvSpPr>
        <p:spPr>
          <a:xfrm>
            <a:off x="10351008" y="7978649"/>
            <a:ext cx="100584" cy="100584"/>
          </a:xfrm>
          <a:prstGeom prst="ellipse">
            <a:avLst/>
          </a:prstGeom>
          <a:solidFill>
            <a:srgbClr val="1E8E3E"/>
          </a:solidFill>
          <a:ln w="6350">
            <a:solidFill>
              <a:srgbClr val="1E8E3E"/>
            </a:solidFill>
            <a:prstDash val="solid"/>
          </a:ln>
        </p:spPr>
        <p:txBody>
          <a:bodyPr/>
          <a:lstStyle/>
          <a:p>
            <a:endParaRPr lang="en-US"/>
          </a:p>
        </p:txBody>
      </p:sp>
      <p:sp>
        <p:nvSpPr>
          <p:cNvPr id="329" name="Text 327"/>
          <p:cNvSpPr/>
          <p:nvPr/>
        </p:nvSpPr>
        <p:spPr>
          <a:xfrm>
            <a:off x="10616184" y="7919213"/>
            <a:ext cx="4050792" cy="237744"/>
          </a:xfrm>
          <a:prstGeom prst="rect">
            <a:avLst/>
          </a:prstGeom>
          <a:noFill/>
          <a:ln/>
        </p:spPr>
        <p:txBody>
          <a:bodyPr wrap="square" lIns="0" tIns="0" rIns="0" bIns="0" rtlCol="0" anchor="ctr"/>
          <a:lstStyle/>
          <a:p>
            <a:pPr marL="0" indent="0">
              <a:buNone/>
            </a:pPr>
            <a:r>
              <a:rPr lang="en-US" sz="740" dirty="0">
                <a:solidFill>
                  <a:srgbClr val="1F2937"/>
                </a:solidFill>
                <a:latin typeface="Arial" pitchFamily="34" charset="0"/>
                <a:ea typeface="Arial" pitchFamily="34" charset="-122"/>
                <a:cs typeface="Arial" pitchFamily="34" charset="-120"/>
              </a:rPr>
              <a:t>NEW SEC. CABLE ONLY (DUCT) — outer blue / inner green</a:t>
            </a:r>
            <a:endParaRPr lang="en-US" sz="740" dirty="0"/>
          </a:p>
        </p:txBody>
      </p:sp>
      <p:sp>
        <p:nvSpPr>
          <p:cNvPr id="330" name="Shape 328"/>
          <p:cNvSpPr/>
          <p:nvPr/>
        </p:nvSpPr>
        <p:spPr>
          <a:xfrm>
            <a:off x="10305288" y="8176871"/>
            <a:ext cx="192024" cy="192024"/>
          </a:xfrm>
          <a:prstGeom prst="ellipse">
            <a:avLst/>
          </a:prstGeom>
          <a:ln w="28575">
            <a:solidFill>
              <a:srgbClr val="E8710A"/>
            </a:solidFill>
            <a:prstDash val="solid"/>
          </a:ln>
        </p:spPr>
        <p:txBody>
          <a:bodyPr/>
          <a:lstStyle/>
          <a:p>
            <a:endParaRPr lang="en-US"/>
          </a:p>
        </p:txBody>
      </p:sp>
      <p:sp>
        <p:nvSpPr>
          <p:cNvPr id="331" name="Shape 329"/>
          <p:cNvSpPr/>
          <p:nvPr/>
        </p:nvSpPr>
        <p:spPr>
          <a:xfrm>
            <a:off x="10351008" y="8222591"/>
            <a:ext cx="100584" cy="100584"/>
          </a:xfrm>
          <a:prstGeom prst="ellipse">
            <a:avLst/>
          </a:prstGeom>
          <a:solidFill>
            <a:srgbClr val="1E8E3E"/>
          </a:solidFill>
          <a:ln w="6350">
            <a:solidFill>
              <a:srgbClr val="1E8E3E"/>
            </a:solidFill>
            <a:prstDash val="solid"/>
          </a:ln>
        </p:spPr>
        <p:txBody>
          <a:bodyPr/>
          <a:lstStyle/>
          <a:p>
            <a:endParaRPr lang="en-US"/>
          </a:p>
        </p:txBody>
      </p:sp>
      <p:sp>
        <p:nvSpPr>
          <p:cNvPr id="332" name="Text 330"/>
          <p:cNvSpPr/>
          <p:nvPr/>
        </p:nvSpPr>
        <p:spPr>
          <a:xfrm>
            <a:off x="10616184" y="8163155"/>
            <a:ext cx="4050792" cy="237744"/>
          </a:xfrm>
          <a:prstGeom prst="rect">
            <a:avLst/>
          </a:prstGeom>
          <a:noFill/>
          <a:ln/>
        </p:spPr>
        <p:txBody>
          <a:bodyPr wrap="square" lIns="0" tIns="0" rIns="0" bIns="0" rtlCol="0" anchor="ctr"/>
          <a:lstStyle/>
          <a:p>
            <a:pPr marL="0" indent="0">
              <a:buNone/>
            </a:pPr>
            <a:r>
              <a:rPr lang="en-US" sz="740" dirty="0">
                <a:solidFill>
                  <a:srgbClr val="1F2937"/>
                </a:solidFill>
                <a:latin typeface="Arial" pitchFamily="34" charset="0"/>
                <a:ea typeface="Arial" pitchFamily="34" charset="-122"/>
                <a:cs typeface="Arial" pitchFamily="34" charset="-120"/>
              </a:rPr>
              <a:t>NEW SEC. CABLE ONLY (SAWCUT) — outer orange / inner green</a:t>
            </a:r>
            <a:endParaRPr lang="en-US" sz="740" dirty="0"/>
          </a:p>
        </p:txBody>
      </p:sp>
      <p:sp>
        <p:nvSpPr>
          <p:cNvPr id="333" name="Shape 331"/>
          <p:cNvSpPr/>
          <p:nvPr/>
        </p:nvSpPr>
        <p:spPr>
          <a:xfrm>
            <a:off x="10305288" y="8420813"/>
            <a:ext cx="192024" cy="192024"/>
          </a:xfrm>
          <a:prstGeom prst="ellipse">
            <a:avLst/>
          </a:prstGeom>
          <a:ln w="28575">
            <a:solidFill>
              <a:srgbClr val="9AA0A6"/>
            </a:solidFill>
            <a:prstDash val="solid"/>
          </a:ln>
        </p:spPr>
        <p:txBody>
          <a:bodyPr/>
          <a:lstStyle/>
          <a:p>
            <a:endParaRPr lang="en-US"/>
          </a:p>
        </p:txBody>
      </p:sp>
      <p:sp>
        <p:nvSpPr>
          <p:cNvPr id="334" name="Text 332"/>
          <p:cNvSpPr/>
          <p:nvPr/>
        </p:nvSpPr>
        <p:spPr>
          <a:xfrm>
            <a:off x="10616184" y="8407097"/>
            <a:ext cx="4050792" cy="237744"/>
          </a:xfrm>
          <a:prstGeom prst="rect">
            <a:avLst/>
          </a:prstGeom>
          <a:noFill/>
          <a:ln/>
        </p:spPr>
        <p:txBody>
          <a:bodyPr wrap="square" lIns="0" tIns="0" rIns="0" bIns="0" rtlCol="0" anchor="ctr"/>
          <a:lstStyle/>
          <a:p>
            <a:pPr marL="0" indent="0">
              <a:buNone/>
            </a:pPr>
            <a:r>
              <a:rPr lang="en-US" sz="740" dirty="0">
                <a:solidFill>
                  <a:srgbClr val="1F2937"/>
                </a:solidFill>
                <a:latin typeface="Arial" pitchFamily="34" charset="0"/>
                <a:ea typeface="Arial" pitchFamily="34" charset="-122"/>
                <a:cs typeface="Arial" pitchFamily="34" charset="-120"/>
              </a:rPr>
              <a:t>FIELD VERIFIED — NOT AFFECTED (grey)</a:t>
            </a:r>
            <a:endParaRPr lang="en-US" sz="740" dirty="0"/>
          </a:p>
        </p:txBody>
      </p:sp>
      <p:sp>
        <p:nvSpPr>
          <p:cNvPr id="335" name="Shape 333"/>
          <p:cNvSpPr/>
          <p:nvPr/>
        </p:nvSpPr>
        <p:spPr>
          <a:xfrm>
            <a:off x="10351008" y="8715047"/>
            <a:ext cx="91440" cy="91440"/>
          </a:xfrm>
          <a:prstGeom prst="ellipse">
            <a:avLst/>
          </a:prstGeom>
          <a:solidFill>
            <a:srgbClr val="12A5B8"/>
          </a:solidFill>
          <a:ln w="6350">
            <a:solidFill>
              <a:srgbClr val="12A5B8"/>
            </a:solidFill>
            <a:prstDash val="solid"/>
          </a:ln>
        </p:spPr>
        <p:txBody>
          <a:bodyPr/>
          <a:lstStyle/>
          <a:p>
            <a:endParaRPr lang="en-US"/>
          </a:p>
        </p:txBody>
      </p:sp>
      <p:sp>
        <p:nvSpPr>
          <p:cNvPr id="336" name="Text 334"/>
          <p:cNvSpPr/>
          <p:nvPr/>
        </p:nvSpPr>
        <p:spPr>
          <a:xfrm>
            <a:off x="10616184" y="8651039"/>
            <a:ext cx="4050792" cy="237744"/>
          </a:xfrm>
          <a:prstGeom prst="rect">
            <a:avLst/>
          </a:prstGeom>
          <a:noFill/>
          <a:ln/>
        </p:spPr>
        <p:txBody>
          <a:bodyPr wrap="square" lIns="0" tIns="0" rIns="0" bIns="0" rtlCol="0" anchor="ctr"/>
          <a:lstStyle/>
          <a:p>
            <a:pPr marL="0" indent="0">
              <a:buNone/>
            </a:pPr>
            <a:r>
              <a:rPr lang="en-US" sz="740" dirty="0">
                <a:solidFill>
                  <a:srgbClr val="1F2937"/>
                </a:solidFill>
                <a:latin typeface="Arial" pitchFamily="34" charset="0"/>
                <a:ea typeface="Arial" pitchFamily="34" charset="-122"/>
                <a:cs typeface="Arial" pitchFamily="34" charset="-120"/>
              </a:rPr>
              <a:t>EXISTING AGL ASSET (AS-BUILT)</a:t>
            </a:r>
            <a:endParaRPr lang="en-US" sz="740" dirty="0"/>
          </a:p>
        </p:txBody>
      </p:sp>
      <p:sp>
        <p:nvSpPr>
          <p:cNvPr id="337" name="Shape 335"/>
          <p:cNvSpPr/>
          <p:nvPr/>
        </p:nvSpPr>
        <p:spPr>
          <a:xfrm>
            <a:off x="10268712" y="9004709"/>
            <a:ext cx="274320" cy="914"/>
          </a:xfrm>
          <a:prstGeom prst="line">
            <a:avLst/>
          </a:prstGeom>
          <a:noFill/>
          <a:ln w="22225">
            <a:solidFill>
              <a:srgbClr val="0B3D91"/>
            </a:solidFill>
            <a:prstDash val="solid"/>
          </a:ln>
        </p:spPr>
        <p:txBody>
          <a:bodyPr/>
          <a:lstStyle/>
          <a:p>
            <a:endParaRPr lang="en-US"/>
          </a:p>
        </p:txBody>
      </p:sp>
      <p:sp>
        <p:nvSpPr>
          <p:cNvPr id="338" name="Text 336"/>
          <p:cNvSpPr/>
          <p:nvPr/>
        </p:nvSpPr>
        <p:spPr>
          <a:xfrm>
            <a:off x="10616184" y="8894981"/>
            <a:ext cx="4050792" cy="237744"/>
          </a:xfrm>
          <a:prstGeom prst="rect">
            <a:avLst/>
          </a:prstGeom>
          <a:noFill/>
          <a:ln/>
        </p:spPr>
        <p:txBody>
          <a:bodyPr wrap="square" lIns="0" tIns="0" rIns="0" bIns="0" rtlCol="0" anchor="ctr"/>
          <a:lstStyle/>
          <a:p>
            <a:pPr marL="0" indent="0">
              <a:buNone/>
            </a:pPr>
            <a:endParaRPr lang="en-US" sz="740" dirty="0"/>
            <a:r>
              <a:rPr lang="en-US" sz="740" dirty="0">
                <a:solidFill>
                  <a:srgbClr val="1F2937"/>
                </a:solidFill>
                <a:latin typeface="Arial" pitchFamily="34" charset="0"/>
                <a:ea typeface="Arial" pitchFamily="34" charset="-122"/>
                <a:cs typeface="Arial" pitchFamily="34" charset="-120"/>
              </a:rPr>
              <a:t>AS-BUILT DUCT / DUCTBANK (navy 4×110, purple 6×110, pink crossing)</a:t>
            </a:r>
          </a:p>
        </p:txBody>
      </p:sp>
      <p:sp>
        <p:nvSpPr>
          <p:cNvPr id="339" name="Shape 337"/>
          <p:cNvSpPr/>
          <p:nvPr/>
        </p:nvSpPr>
        <p:spPr>
          <a:xfrm>
            <a:off x="10268712" y="9248651"/>
            <a:ext cx="274320" cy="914"/>
          </a:xfrm>
          <a:prstGeom prst="line">
            <a:avLst/>
          </a:prstGeom>
          <a:noFill/>
          <a:ln w="15875">
            <a:solidFill>
              <a:srgbClr val="00838F"/>
            </a:solidFill>
            <a:prstDash val="dash"/>
          </a:ln>
        </p:spPr>
        <p:txBody>
          <a:bodyPr/>
          <a:lstStyle/>
          <a:p>
            <a:endParaRPr lang="en-US"/>
          </a:p>
        </p:txBody>
      </p:sp>
      <p:sp>
        <p:nvSpPr>
          <p:cNvPr id="340" name="Text 338"/>
          <p:cNvSpPr/>
          <p:nvPr/>
        </p:nvSpPr>
        <p:spPr>
          <a:xfrm>
            <a:off x="10616184" y="9138923"/>
            <a:ext cx="4050792" cy="237744"/>
          </a:xfrm>
          <a:prstGeom prst="rect">
            <a:avLst/>
          </a:prstGeom>
          <a:noFill/>
          <a:ln/>
        </p:spPr>
        <p:txBody>
          <a:bodyPr wrap="square" lIns="0" tIns="0" rIns="0" bIns="0" rtlCol="0" anchor="ctr"/>
          <a:lstStyle/>
          <a:p>
            <a:pPr marL="0" indent="0">
              <a:buNone/>
            </a:pPr>
            <a:endParaRPr lang="en-US" sz="740" dirty="0"/>
            <a:r>
              <a:rPr lang="en-US" sz="740" dirty="0">
                <a:solidFill>
                  <a:srgbClr val="1F2937"/>
                </a:solidFill>
                <a:latin typeface="Arial" pitchFamily="34" charset="0"/>
                <a:ea typeface="Arial" pitchFamily="34" charset="-122"/>
                <a:cs typeface="Arial" pitchFamily="34" charset="-120"/>
              </a:rPr>
              <a:t>AS-BUILT SECONDARY CONDUIT (teal ex · green new · orange sawcut)</a:t>
            </a:r>
          </a:p>
        </p:txBody>
      </p:sp>
      <p:sp>
        <p:nvSpPr>
          <p:cNvPr id="341" name="Shape 339"/>
          <p:cNvSpPr/>
          <p:nvPr/>
        </p:nvSpPr>
        <p:spPr>
          <a:xfrm>
            <a:off x="10268712" y="9492593"/>
            <a:ext cx="274320" cy="914"/>
          </a:xfrm>
          <a:prstGeom prst="line">
            <a:avLst/>
          </a:prstGeom>
          <a:noFill/>
          <a:ln w="31750">
            <a:solidFill>
              <a:srgbClr val="CC0000"/>
            </a:solidFill>
            <a:prstDash val="solid"/>
          </a:ln>
        </p:spPr>
        <p:txBody>
          <a:bodyPr/>
          <a:lstStyle/>
          <a:p>
            <a:endParaRPr lang="en-US"/>
          </a:p>
        </p:txBody>
      </p:sp>
      <p:sp>
        <p:nvSpPr>
          <p:cNvPr id="342" name="Text 340"/>
          <p:cNvSpPr/>
          <p:nvPr/>
        </p:nvSpPr>
        <p:spPr>
          <a:xfrm>
            <a:off x="10616184" y="9382865"/>
            <a:ext cx="4050792" cy="237744"/>
          </a:xfrm>
          <a:prstGeom prst="rect">
            <a:avLst/>
          </a:prstGeom>
          <a:noFill/>
          <a:ln/>
        </p:spPr>
        <p:txBody>
          <a:bodyPr wrap="square" lIns="0" tIns="0" rIns="0" bIns="0" rtlCol="0" anchor="ctr"/>
          <a:lstStyle/>
          <a:p>
            <a:pPr marL="0" indent="0">
              <a:buNone/>
            </a:pPr>
            <a:r>
              <a:rPr lang="en-US" sz="740" dirty="0">
                <a:solidFill>
                  <a:srgbClr val="1F2937"/>
                </a:solidFill>
                <a:latin typeface="Arial" pitchFamily="34" charset="0"/>
                <a:ea typeface="Arial" pitchFamily="34" charset="-122"/>
                <a:cs typeface="Arial" pitchFamily="34" charset="-120"/>
              </a:rPr>
              <a:t>AGL WORKS AREA — FIELD CONDITION (GOVERNING)</a:t>
            </a:r>
            <a:endParaRPr lang="en-US" sz="740" dirty="0"/>
          </a:p>
        </p:txBody>
      </p:sp>
      <p:sp>
        <p:nvSpPr>
          <p:cNvPr id="343" name="Shape 341"/>
          <p:cNvSpPr/>
          <p:nvPr/>
        </p:nvSpPr>
        <p:spPr>
          <a:xfrm>
            <a:off x="10268712" y="9736535"/>
            <a:ext cx="274320" cy="914"/>
          </a:xfrm>
          <a:prstGeom prst="line">
            <a:avLst/>
          </a:prstGeom>
          <a:noFill/>
          <a:ln w="19050">
            <a:solidFill>
              <a:srgbClr val="C7A400"/>
            </a:solidFill>
            <a:prstDash val="dashDot"/>
          </a:ln>
        </p:spPr>
        <p:txBody>
          <a:bodyPr/>
          <a:lstStyle/>
          <a:p>
            <a:endParaRPr lang="en-US"/>
          </a:p>
        </p:txBody>
      </p:sp>
      <p:sp>
        <p:nvSpPr>
          <p:cNvPr id="344" name="Text 342"/>
          <p:cNvSpPr/>
          <p:nvPr/>
        </p:nvSpPr>
        <p:spPr>
          <a:xfrm>
            <a:off x="10616184" y="9626807"/>
            <a:ext cx="4050792" cy="237744"/>
          </a:xfrm>
          <a:prstGeom prst="rect">
            <a:avLst/>
          </a:prstGeom>
          <a:noFill/>
          <a:ln/>
        </p:spPr>
        <p:txBody>
          <a:bodyPr wrap="square" lIns="0" tIns="0" rIns="0" bIns="0" rtlCol="0" anchor="ctr"/>
          <a:lstStyle/>
          <a:p>
            <a:pPr marL="0" indent="0">
              <a:buNone/>
            </a:pPr>
            <a:r>
              <a:rPr lang="en-US" sz="740" dirty="0">
                <a:solidFill>
                  <a:srgbClr val="1F2937"/>
                </a:solidFill>
                <a:latin typeface="Arial" pitchFamily="34" charset="0"/>
                <a:ea typeface="Arial" pitchFamily="34" charset="-122"/>
                <a:cs typeface="Arial" pitchFamily="34" charset="-120"/>
              </a:rPr>
              <a:t>TAXIWAY CENTERLINE (AS-BUILT, THROUGH TCC FITTINGS)</a:t>
            </a:r>
            <a:endParaRPr lang="en-US" sz="740" dirty="0"/>
          </a:p>
        </p:txBody>
      </p:sp>
      <p:sp>
        <p:nvSpPr>
          <p:cNvPr id="345" name="Shape 343"/>
          <p:cNvSpPr/>
          <p:nvPr/>
        </p:nvSpPr>
        <p:spPr>
          <a:xfrm>
            <a:off x="10268712" y="9980477"/>
            <a:ext cx="274320" cy="914"/>
          </a:xfrm>
          <a:prstGeom prst="line">
            <a:avLst/>
          </a:prstGeom>
          <a:noFill/>
          <a:ln w="28575">
            <a:solidFill>
              <a:srgbClr val="8B0000"/>
            </a:solidFill>
            <a:prstDash val="solid"/>
          </a:ln>
        </p:spPr>
        <p:txBody>
          <a:bodyPr/>
          <a:lstStyle/>
          <a:p>
            <a:endParaRPr lang="en-US"/>
          </a:p>
        </p:txBody>
      </p:sp>
      <p:sp>
        <p:nvSpPr>
          <p:cNvPr id="346" name="Text 344"/>
          <p:cNvSpPr/>
          <p:nvPr/>
        </p:nvSpPr>
        <p:spPr>
          <a:xfrm>
            <a:off x="10616184" y="9870749"/>
            <a:ext cx="4050792" cy="237744"/>
          </a:xfrm>
          <a:prstGeom prst="rect">
            <a:avLst/>
          </a:prstGeom>
          <a:noFill/>
          <a:ln/>
        </p:spPr>
        <p:txBody>
          <a:bodyPr wrap="square" lIns="0" tIns="0" rIns="0" bIns="0" rtlCol="0" anchor="ctr"/>
          <a:lstStyle/>
          <a:p>
            <a:pPr marL="0" indent="0">
              <a:buNone/>
            </a:pPr>
            <a:r>
              <a:rPr lang="en-US" sz="740" dirty="0">
                <a:solidFill>
                  <a:srgbClr val="1F2937"/>
                </a:solidFill>
                <a:latin typeface="Arial" pitchFamily="34" charset="0"/>
                <a:ea typeface="Arial" pitchFamily="34" charset="-122"/>
                <a:cs typeface="Arial" pitchFamily="34" charset="-120"/>
              </a:rPr>
              <a:t>STOP BAR (AS-BUILT, THROUGH SBC FITTINGS)</a:t>
            </a:r>
            <a:endParaRPr lang="en-US" sz="740" dirty="0"/>
          </a:p>
        </p:txBody>
      </p:sp>
      <p:sp>
        <p:nvSpPr>
          <p:cNvPr id="347" name="Shape 345"/>
          <p:cNvSpPr/>
          <p:nvPr/>
        </p:nvSpPr>
        <p:spPr>
          <a:xfrm>
            <a:off x="10268712" y="10224419"/>
            <a:ext cx="274320" cy="914"/>
          </a:xfrm>
          <a:prstGeom prst="line">
            <a:avLst/>
          </a:prstGeom>
          <a:noFill/>
          <a:ln w="12700">
            <a:solidFill>
              <a:srgbClr val="7A8288"/>
            </a:solidFill>
            <a:prstDash val="solid"/>
          </a:ln>
        </p:spPr>
        <p:txBody>
          <a:bodyPr/>
          <a:lstStyle/>
          <a:p>
            <a:endParaRPr lang="en-US"/>
          </a:p>
        </p:txBody>
      </p:sp>
      <p:sp>
        <p:nvSpPr>
          <p:cNvPr id="348" name="Text 346"/>
          <p:cNvSpPr/>
          <p:nvPr/>
        </p:nvSpPr>
        <p:spPr>
          <a:xfrm>
            <a:off x="10616184" y="10114691"/>
            <a:ext cx="4050792" cy="237744"/>
          </a:xfrm>
          <a:prstGeom prst="rect">
            <a:avLst/>
          </a:prstGeom>
          <a:noFill/>
          <a:ln/>
        </p:spPr>
        <p:txBody>
          <a:bodyPr wrap="square" lIns="0" tIns="0" rIns="0" bIns="0" rtlCol="0" anchor="ctr"/>
          <a:lstStyle/>
          <a:p>
            <a:pPr marL="0" indent="0">
              <a:buNone/>
            </a:pPr>
            <a:r>
              <a:rPr lang="en-US" sz="740" dirty="0">
                <a:solidFill>
                  <a:srgbClr val="1F2937"/>
                </a:solidFill>
                <a:latin typeface="Arial" pitchFamily="34" charset="0"/>
                <a:ea typeface="Arial" pitchFamily="34" charset="-122"/>
                <a:cs typeface="Arial" pitchFamily="34" charset="-120"/>
              </a:rPr>
              <a:t>TWY EDGE / PAVEMENT BOUNDARY (INDICATIVE 23 m — CONFIRM ON SITE)</a:t>
            </a:r>
            <a:endParaRPr lang="en-US" sz="740" dirty="0"/>
          </a:p>
        </p:txBody>
      </p:sp>
      <p:sp>
        <p:nvSpPr>
          <p:cNvPr id="349" name="Shape 347"/>
          <p:cNvSpPr/>
          <p:nvPr/>
        </p:nvSpPr>
        <p:spPr>
          <a:xfrm>
            <a:off x="10287000" y="10386065"/>
            <a:ext cx="219456" cy="146304"/>
          </a:xfrm>
          <a:prstGeom prst="rect">
            <a:avLst/>
          </a:prstGeom>
          <a:ln w="19050">
            <a:solidFill>
              <a:srgbClr val="BB00BB"/>
            </a:solidFill>
            <a:prstDash val="solid"/>
          </a:ln>
        </p:spPr>
        <p:txBody>
          <a:bodyPr/>
          <a:lstStyle/>
          <a:p>
            <a:endParaRPr lang="en-US"/>
          </a:p>
        </p:txBody>
      </p:sp>
      <p:sp>
        <p:nvSpPr>
          <p:cNvPr id="350" name="Text 348"/>
          <p:cNvSpPr/>
          <p:nvPr/>
        </p:nvSpPr>
        <p:spPr>
          <a:xfrm>
            <a:off x="10616184" y="10358633"/>
            <a:ext cx="4050792" cy="237744"/>
          </a:xfrm>
          <a:prstGeom prst="rect">
            <a:avLst/>
          </a:prstGeom>
          <a:noFill/>
          <a:ln/>
        </p:spPr>
        <p:txBody>
          <a:bodyPr wrap="square" lIns="0" tIns="0" rIns="0" bIns="0" rtlCol="0" anchor="ctr"/>
          <a:lstStyle/>
          <a:p>
            <a:pPr marL="0" indent="0">
              <a:buNone/>
            </a:pPr>
            <a:r>
              <a:rPr lang="en-US" sz="740" dirty="0">
                <a:solidFill>
                  <a:srgbClr val="1F2937"/>
                </a:solidFill>
                <a:latin typeface="Arial" pitchFamily="34" charset="0"/>
                <a:ea typeface="Arial" pitchFamily="34" charset="-122"/>
                <a:cs typeface="Arial" pitchFamily="34" charset="-120"/>
              </a:rPr>
              <a:t>AGL FEED MANHOLE / HANDHOLE</a:t>
            </a:r>
            <a:endParaRPr lang="en-US" sz="74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320040" y="164592"/>
            <a:ext cx="14493240" cy="457200"/>
          </a:xfrm>
          <a:prstGeom prst="rect">
            <a:avLst/>
          </a:prstGeom>
          <a:noFill/>
          <a:ln/>
        </p:spPr>
        <p:txBody>
          <a:bodyPr wrap="square" lIns="0" tIns="0" rIns="0" bIns="0" rtlCol="0" anchor="ctr"/>
          <a:lstStyle/>
          <a:p>
            <a:pPr marL="0" indent="0">
              <a:buNone/>
            </a:pPr>
            <a:r>
              <a:rPr lang="en-US" sz="1500" b="1" dirty="0">
                <a:solidFill>
                  <a:srgbClr val="1E2761"/>
                </a:solidFill>
                <a:latin typeface="Arial" pitchFamily="34" charset="0"/>
                <a:ea typeface="Arial" pitchFamily="34" charset="-122"/>
                <a:cs typeface="Arial" pitchFamily="34" charset="-120"/>
              </a:rPr>
              <a:t>SHOP DRAWING — ELECTRICAL / AGL SCOPE (FIELD-GOVERNED)   ·   TAXIWAY E (E4–E6) — LOCATION 2   ·   DWG NO [XXX-ELE-SHD-1002] REV P06</a:t>
            </a:r>
            <a:endParaRPr lang="en-US" sz="1500" dirty="0"/>
          </a:p>
        </p:txBody>
      </p:sp>
      <p:sp>
        <p:nvSpPr>
          <p:cNvPr id="3" name="Shape 1"/>
          <p:cNvSpPr/>
          <p:nvPr/>
        </p:nvSpPr>
        <p:spPr>
          <a:xfrm>
            <a:off x="320040" y="777240"/>
            <a:ext cx="9555480" cy="9555480"/>
          </a:xfrm>
          <a:prstGeom prst="rect">
            <a:avLst/>
          </a:prstGeom>
          <a:solidFill>
            <a:srgbClr val="FFFFFF"/>
          </a:solidFill>
          <a:ln w="12700">
            <a:solidFill>
              <a:srgbClr val="5F6368"/>
            </a:solidFill>
            <a:prstDash val="solid"/>
          </a:ln>
        </p:spPr>
        <p:txBody>
          <a:bodyPr/>
          <a:lstStyle/>
          <a:p>
            <a:endParaRPr lang="en-US"/>
          </a:p>
        </p:txBody>
      </p:sp>
      <p:sp>
        <p:nvSpPr>
          <p:cNvPr id="36" name="ASBUILT DUCT · CV-EX SEC CONDUIT · 34.9 m"/>
          <p:cNvSpPr/>
          <p:nvPr/>
        </p:nvSpPr>
        <p:spPr>
          <a:xfrm>
            <a:off x="808260" y="777240"/>
            <a:ext cx="1211595" cy="2807538"/>
          </a:xfrm>
          <a:custGeom>
            <a:avLst/>
            <a:gdLst/>
            <a:ahLst/>
            <a:cxnLst/>
            <a:rect l="l" t="t" r="r" b="b"/>
            <a:pathLst>
              <a:path w="1211595" h="2807538">
                <a:moveTo>
                  <a:pt x="1211595" y="2807538"/>
                </a:moveTo>
                <a:lnTo>
                  <a:pt x="0" y="0"/>
                </a:lnTo>
              </a:path>
            </a:pathLst>
          </a:custGeom>
          <a:noFill/>
          <a:ln w="15875">
            <a:solidFill>
              <a:srgbClr val="0083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ASBUILT DUCT · CV-EX SEC CONDUIT · 2.3 m"/>
          <p:cNvSpPr/>
          <p:nvPr/>
        </p:nvSpPr>
        <p:spPr>
          <a:xfrm>
            <a:off x="320040" y="777240"/>
            <a:ext cx="68644" cy="188847"/>
          </a:xfrm>
          <a:custGeom>
            <a:avLst/>
            <a:gdLst/>
            <a:ahLst/>
            <a:cxnLst/>
            <a:rect l="l" t="t" r="r" b="b"/>
            <a:pathLst>
              <a:path w="68644" h="188847">
                <a:moveTo>
                  <a:pt x="0" y="188847"/>
                </a:moveTo>
                <a:lnTo>
                  <a:pt x="68644" y="0"/>
                </a:lnTo>
              </a:path>
            </a:pathLst>
          </a:custGeom>
          <a:noFill/>
          <a:ln w="15875">
            <a:solidFill>
              <a:srgbClr val="0083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ASBUILT DUCT · CV-EX SEC CONDUIT · 22.9 m"/>
          <p:cNvSpPr/>
          <p:nvPr/>
        </p:nvSpPr>
        <p:spPr>
          <a:xfrm>
            <a:off x="667270" y="777240"/>
            <a:ext cx="326156" cy="1984003"/>
          </a:xfrm>
          <a:custGeom>
            <a:avLst/>
            <a:gdLst/>
            <a:ahLst/>
            <a:cxnLst/>
            <a:rect l="l" t="t" r="r" b="b"/>
            <a:pathLst>
              <a:path w="326156" h="1984003">
                <a:moveTo>
                  <a:pt x="0" y="0"/>
                </a:moveTo>
                <a:lnTo>
                  <a:pt x="326156" y="1984003"/>
                </a:lnTo>
              </a:path>
            </a:pathLst>
          </a:custGeom>
          <a:noFill/>
          <a:ln w="15875">
            <a:solidFill>
              <a:srgbClr val="0083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ASBUILT DUCT · CV-EX SEC CONDUIT · 20.5 m"/>
          <p:cNvSpPr/>
          <p:nvPr/>
        </p:nvSpPr>
        <p:spPr>
          <a:xfrm>
            <a:off x="5097724" y="4360955"/>
            <a:ext cx="606439" cy="1694682"/>
          </a:xfrm>
          <a:custGeom>
            <a:avLst/>
            <a:gdLst/>
            <a:ahLst/>
            <a:cxnLst/>
            <a:rect l="l" t="t" r="r" b="b"/>
            <a:pathLst>
              <a:path w="606439" h="1694682">
                <a:moveTo>
                  <a:pt x="0" y="1694682"/>
                </a:moveTo>
                <a:lnTo>
                  <a:pt x="606439" y="0"/>
                </a:lnTo>
              </a:path>
            </a:pathLst>
          </a:custGeom>
          <a:noFill/>
          <a:ln w="15875">
            <a:solidFill>
              <a:srgbClr val="0083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ASBUILT DUCT · CV-EX SEC CONDUIT · 21.1 m"/>
          <p:cNvSpPr/>
          <p:nvPr/>
        </p:nvSpPr>
        <p:spPr>
          <a:xfrm>
            <a:off x="4070812" y="4360955"/>
            <a:ext cx="1633351" cy="869656"/>
          </a:xfrm>
          <a:custGeom>
            <a:avLst/>
            <a:gdLst/>
            <a:ahLst/>
            <a:cxnLst/>
            <a:rect l="l" t="t" r="r" b="b"/>
            <a:pathLst>
              <a:path w="1633351" h="869656">
                <a:moveTo>
                  <a:pt x="1633351" y="0"/>
                </a:moveTo>
                <a:lnTo>
                  <a:pt x="0" y="869656"/>
                </a:lnTo>
              </a:path>
            </a:pathLst>
          </a:custGeom>
          <a:noFill/>
          <a:ln w="15875">
            <a:solidFill>
              <a:srgbClr val="0083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ASBUILT DUCT · CV-EX SEC CONDUIT · 29.1 m"/>
          <p:cNvSpPr/>
          <p:nvPr/>
        </p:nvSpPr>
        <p:spPr>
          <a:xfrm>
            <a:off x="5704163" y="4360955"/>
            <a:ext cx="420561" cy="2518042"/>
          </a:xfrm>
          <a:custGeom>
            <a:avLst/>
            <a:gdLst/>
            <a:ahLst/>
            <a:cxnLst/>
            <a:rect l="l" t="t" r="r" b="b"/>
            <a:pathLst>
              <a:path w="420561" h="2518042">
                <a:moveTo>
                  <a:pt x="0" y="0"/>
                </a:moveTo>
                <a:lnTo>
                  <a:pt x="420561" y="2518042"/>
                </a:lnTo>
              </a:path>
            </a:pathLst>
          </a:custGeom>
          <a:noFill/>
          <a:ln w="15875">
            <a:solidFill>
              <a:srgbClr val="0083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ASBUILT DUCT · CV-EX SEC CONDUIT · 30.3 m"/>
          <p:cNvSpPr/>
          <p:nvPr/>
        </p:nvSpPr>
        <p:spPr>
          <a:xfrm>
            <a:off x="3046364" y="4360955"/>
            <a:ext cx="2657799" cy="46121"/>
          </a:xfrm>
          <a:custGeom>
            <a:avLst/>
            <a:gdLst/>
            <a:ahLst/>
            <a:cxnLst/>
            <a:rect l="l" t="t" r="r" b="b"/>
            <a:pathLst>
              <a:path w="2657799" h="46121">
                <a:moveTo>
                  <a:pt x="0" y="46121"/>
                </a:moveTo>
                <a:lnTo>
                  <a:pt x="2657799" y="0"/>
                </a:lnTo>
              </a:path>
            </a:pathLst>
          </a:custGeom>
          <a:noFill/>
          <a:ln w="15875">
            <a:solidFill>
              <a:srgbClr val="0083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ASBUILT DUCT · CV-EX SEC CONDUIT · 41.5 m"/>
          <p:cNvSpPr/>
          <p:nvPr/>
        </p:nvSpPr>
        <p:spPr>
          <a:xfrm>
            <a:off x="5704163" y="4360955"/>
            <a:ext cx="1445359" cy="3340866"/>
          </a:xfrm>
          <a:custGeom>
            <a:avLst/>
            <a:gdLst/>
            <a:ahLst/>
            <a:cxnLst/>
            <a:rect l="l" t="t" r="r" b="b"/>
            <a:pathLst>
              <a:path w="1445359" h="3340866">
                <a:moveTo>
                  <a:pt x="0" y="0"/>
                </a:moveTo>
                <a:lnTo>
                  <a:pt x="1445359" y="3340866"/>
                </a:lnTo>
              </a:path>
            </a:pathLst>
          </a:custGeom>
          <a:noFill/>
          <a:ln w="15875">
            <a:solidFill>
              <a:srgbClr val="0083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ASBUILT DUCT · CV-EX SEC CONDUIT · 8.7 m"/>
          <p:cNvSpPr/>
          <p:nvPr/>
        </p:nvSpPr>
        <p:spPr>
          <a:xfrm>
            <a:off x="9203040" y="8993029"/>
            <a:ext cx="672480" cy="357976"/>
          </a:xfrm>
          <a:custGeom>
            <a:avLst/>
            <a:gdLst/>
            <a:ahLst/>
            <a:cxnLst/>
            <a:rect l="l" t="t" r="r" b="b"/>
            <a:pathLst>
              <a:path w="672480" h="357976">
                <a:moveTo>
                  <a:pt x="672480" y="0"/>
                </a:moveTo>
                <a:lnTo>
                  <a:pt x="0" y="357976"/>
                </a:lnTo>
              </a:path>
            </a:pathLst>
          </a:custGeom>
          <a:noFill/>
          <a:ln w="15875">
            <a:solidFill>
              <a:srgbClr val="0083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ASBUILT DUCT · CV-EX SEC CONDUIT · 19.4 m"/>
          <p:cNvSpPr/>
          <p:nvPr/>
        </p:nvSpPr>
        <p:spPr>
          <a:xfrm>
            <a:off x="8176127" y="8503662"/>
            <a:ext cx="1699393" cy="23282"/>
          </a:xfrm>
          <a:custGeom>
            <a:avLst/>
            <a:gdLst/>
            <a:ahLst/>
            <a:cxnLst/>
            <a:rect l="l" t="t" r="r" b="b"/>
            <a:pathLst>
              <a:path w="1699393" h="23282">
                <a:moveTo>
                  <a:pt x="0" y="23282"/>
                </a:moveTo>
                <a:lnTo>
                  <a:pt x="1699393" y="0"/>
                </a:lnTo>
              </a:path>
            </a:pathLst>
          </a:custGeom>
          <a:noFill/>
          <a:ln w="15875">
            <a:solidFill>
              <a:srgbClr val="0083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ASBUILT DUCT · CV-NEW SEC CONDUIT · 6.2 m"/>
          <p:cNvSpPr/>
          <p:nvPr/>
        </p:nvSpPr>
        <p:spPr>
          <a:xfrm>
            <a:off x="5704058" y="3935114"/>
            <a:ext cx="342064" cy="426043"/>
          </a:xfrm>
          <a:custGeom>
            <a:avLst/>
            <a:gdLst/>
            <a:ahLst/>
            <a:cxnLst/>
            <a:rect l="l" t="t" r="r" b="b"/>
            <a:pathLst>
              <a:path w="342064" h="426043">
                <a:moveTo>
                  <a:pt x="342064" y="0"/>
                </a:moveTo>
                <a:lnTo>
                  <a:pt x="0" y="426043"/>
                </a:lnTo>
              </a:path>
            </a:pathLst>
          </a:custGeom>
          <a:noFill/>
          <a:ln w="15875">
            <a:solidFill>
              <a:srgbClr val="1E8E3E"/>
            </a:solidFill>
            <a:prstDash val="sysDash"/>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ASBUILT DUCT · CV_OUTER DUCT 4x110mm dia · 110.8 m"/>
          <p:cNvSpPr/>
          <p:nvPr/>
        </p:nvSpPr>
        <p:spPr>
          <a:xfrm>
            <a:off x="2306059" y="777240"/>
            <a:ext cx="7569461" cy="6098335"/>
          </a:xfrm>
          <a:custGeom>
            <a:avLst/>
            <a:gdLst/>
            <a:ahLst/>
            <a:cxnLst/>
            <a:rect l="l" t="t" r="r" b="b"/>
            <a:pathLst>
              <a:path w="7569461" h="6098335">
                <a:moveTo>
                  <a:pt x="7569461" y="6098335"/>
                </a:moveTo>
                <a:lnTo>
                  <a:pt x="2595392" y="2099489"/>
                </a:lnTo>
                <a:lnTo>
                  <a:pt x="0" y="0"/>
                </a:lnTo>
              </a:path>
            </a:pathLst>
          </a:custGeom>
          <a:noFill/>
          <a:ln w="22225">
            <a:solidFill>
              <a:srgbClr val="0B3D9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ASBUILT DUCT · CV_GRND DUCT · 1.6 m"/>
          <p:cNvSpPr/>
          <p:nvPr/>
        </p:nvSpPr>
        <p:spPr>
          <a:xfrm>
            <a:off x="5467164" y="3219750"/>
            <a:ext cx="90102" cy="112241"/>
          </a:xfrm>
          <a:custGeom>
            <a:avLst/>
            <a:gdLst/>
            <a:ahLst/>
            <a:cxnLst/>
            <a:rect l="l" t="t" r="r" b="b"/>
            <a:pathLst>
              <a:path w="90102" h="112241">
                <a:moveTo>
                  <a:pt x="90102" y="0"/>
                </a:moveTo>
                <a:lnTo>
                  <a:pt x="0" y="112241"/>
                </a:lnTo>
              </a:path>
            </a:pathLst>
          </a:custGeom>
          <a:noFill/>
          <a:ln w="9525">
            <a:solidFill>
              <a:srgbClr val="795548"/>
            </a:solidFill>
            <a:prstDash val="sysDot"/>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 2"/>
          <p:cNvSpPr/>
          <p:nvPr/>
        </p:nvSpPr>
        <p:spPr>
          <a:xfrm>
            <a:off x="393192" y="10058400"/>
            <a:ext cx="6858000" cy="228600"/>
          </a:xfrm>
          <a:prstGeom prst="rect">
            <a:avLst/>
          </a:prstGeom>
          <a:noFill/>
          <a:ln/>
        </p:spPr>
        <p:txBody>
          <a:bodyPr wrap="square" lIns="0" tIns="0" rIns="0" bIns="0" rtlCol="0" anchor="ctr"/>
          <a:lstStyle/>
          <a:p>
            <a:pPr marL="0" indent="0">
              <a:buNone/>
            </a:pPr>
            <a:endParaRPr lang="en-US" sz="700" dirty="0"/>
            <a:r>
              <a:rPr lang="en-US" sz="700" i="1" dirty="0">
                <a:solidFill>
                  <a:srgbClr val="9AA0A6"/>
                </a:solidFill>
                <a:latin typeface="Arial" pitchFamily="34" charset="0"/>
                <a:ea typeface="Arial" pitchFamily="34" charset="-122"/>
                <a:cs typeface="Arial" pitchFamily="34" charset="-120"/>
              </a:rPr>
              <a:t>ZIA LOCAL PROJECT GRID (m) — NOT UTM, NOT SURVEYED  ·  FRAME = 108.9 m ACROSS  ·  NOT TO SCALE WHEN EDITED</a:t>
            </a:r>
          </a:p>
        </p:txBody>
      </p:sp>
      <p:sp>
        <p:nvSpPr>
          <p:cNvPr id="5" name="Shape 3"/>
          <p:cNvSpPr/>
          <p:nvPr/>
        </p:nvSpPr>
        <p:spPr>
          <a:xfrm>
            <a:off x="8571627" y="10137349"/>
            <a:ext cx="243215" cy="195371"/>
          </a:xfrm>
          <a:prstGeom prst="line">
            <a:avLst/>
          </a:prstGeom>
          <a:noFill/>
          <a:ln w="12700">
            <a:solidFill>
              <a:srgbClr val="7A8288"/>
            </a:solidFill>
            <a:prstDash val="solid"/>
          </a:ln>
        </p:spPr>
        <p:txBody>
          <a:bodyPr/>
          <a:lstStyle/>
          <a:p>
            <a:endParaRPr lang="en-US"/>
          </a:p>
        </p:txBody>
      </p:sp>
      <p:sp>
        <p:nvSpPr>
          <p:cNvPr id="6" name="Shape 4"/>
          <p:cNvSpPr/>
          <p:nvPr/>
        </p:nvSpPr>
        <p:spPr>
          <a:xfrm>
            <a:off x="7544963" y="9313422"/>
            <a:ext cx="1026664" cy="823927"/>
          </a:xfrm>
          <a:prstGeom prst="line">
            <a:avLst/>
          </a:prstGeom>
          <a:noFill/>
          <a:ln w="12700">
            <a:solidFill>
              <a:srgbClr val="7A8288"/>
            </a:solidFill>
            <a:prstDash val="solid"/>
          </a:ln>
        </p:spPr>
        <p:txBody>
          <a:bodyPr/>
          <a:lstStyle/>
          <a:p>
            <a:endParaRPr lang="en-US"/>
          </a:p>
        </p:txBody>
      </p:sp>
      <p:sp>
        <p:nvSpPr>
          <p:cNvPr id="7" name="Shape 5"/>
          <p:cNvSpPr/>
          <p:nvPr/>
        </p:nvSpPr>
        <p:spPr>
          <a:xfrm>
            <a:off x="6517861" y="8488268"/>
            <a:ext cx="1027102" cy="825154"/>
          </a:xfrm>
          <a:prstGeom prst="line">
            <a:avLst/>
          </a:prstGeom>
          <a:noFill/>
          <a:ln w="12700">
            <a:solidFill>
              <a:srgbClr val="7A8288"/>
            </a:solidFill>
            <a:prstDash val="solid"/>
          </a:ln>
        </p:spPr>
        <p:txBody>
          <a:bodyPr/>
          <a:lstStyle/>
          <a:p>
            <a:endParaRPr lang="en-US"/>
          </a:p>
        </p:txBody>
      </p:sp>
      <p:sp>
        <p:nvSpPr>
          <p:cNvPr id="8" name="Shape 6"/>
          <p:cNvSpPr/>
          <p:nvPr/>
        </p:nvSpPr>
        <p:spPr>
          <a:xfrm>
            <a:off x="5493477" y="7665744"/>
            <a:ext cx="1024384" cy="822524"/>
          </a:xfrm>
          <a:prstGeom prst="line">
            <a:avLst/>
          </a:prstGeom>
          <a:noFill/>
          <a:ln w="12700">
            <a:solidFill>
              <a:srgbClr val="7A8288"/>
            </a:solidFill>
            <a:prstDash val="solid"/>
          </a:ln>
        </p:spPr>
        <p:txBody>
          <a:bodyPr/>
          <a:lstStyle/>
          <a:p>
            <a:endParaRPr lang="en-US"/>
          </a:p>
        </p:txBody>
      </p:sp>
      <p:sp>
        <p:nvSpPr>
          <p:cNvPr id="9" name="Shape 7"/>
          <p:cNvSpPr/>
          <p:nvPr/>
        </p:nvSpPr>
        <p:spPr>
          <a:xfrm>
            <a:off x="4466813" y="6842694"/>
            <a:ext cx="1026664" cy="823050"/>
          </a:xfrm>
          <a:prstGeom prst="line">
            <a:avLst/>
          </a:prstGeom>
          <a:noFill/>
          <a:ln w="12700">
            <a:solidFill>
              <a:srgbClr val="7A8288"/>
            </a:solidFill>
            <a:prstDash val="solid"/>
          </a:ln>
        </p:spPr>
        <p:txBody>
          <a:bodyPr/>
          <a:lstStyle/>
          <a:p>
            <a:endParaRPr lang="en-US"/>
          </a:p>
        </p:txBody>
      </p:sp>
      <p:sp>
        <p:nvSpPr>
          <p:cNvPr id="10" name="Shape 8"/>
          <p:cNvSpPr/>
          <p:nvPr/>
        </p:nvSpPr>
        <p:spPr>
          <a:xfrm>
            <a:off x="4465936" y="6841993"/>
            <a:ext cx="914" cy="914"/>
          </a:xfrm>
          <a:prstGeom prst="line">
            <a:avLst/>
          </a:prstGeom>
          <a:noFill/>
          <a:ln w="12700">
            <a:solidFill>
              <a:srgbClr val="7A8288"/>
            </a:solidFill>
            <a:prstDash val="solid"/>
          </a:ln>
        </p:spPr>
        <p:txBody>
          <a:bodyPr/>
          <a:lstStyle/>
          <a:p>
            <a:endParaRPr lang="en-US"/>
          </a:p>
        </p:txBody>
      </p:sp>
      <p:sp>
        <p:nvSpPr>
          <p:cNvPr id="11" name="Shape 9"/>
          <p:cNvSpPr/>
          <p:nvPr/>
        </p:nvSpPr>
        <p:spPr>
          <a:xfrm>
            <a:off x="3439097" y="6016926"/>
            <a:ext cx="1026839" cy="825067"/>
          </a:xfrm>
          <a:prstGeom prst="line">
            <a:avLst/>
          </a:prstGeom>
          <a:noFill/>
          <a:ln w="12700">
            <a:solidFill>
              <a:srgbClr val="7A8288"/>
            </a:solidFill>
            <a:prstDash val="solid"/>
          </a:ln>
        </p:spPr>
        <p:txBody>
          <a:bodyPr/>
          <a:lstStyle/>
          <a:p>
            <a:endParaRPr lang="en-US"/>
          </a:p>
        </p:txBody>
      </p:sp>
      <p:sp>
        <p:nvSpPr>
          <p:cNvPr id="12" name="Shape 10"/>
          <p:cNvSpPr/>
          <p:nvPr/>
        </p:nvSpPr>
        <p:spPr>
          <a:xfrm>
            <a:off x="2415064" y="5193701"/>
            <a:ext cx="1024033" cy="823225"/>
          </a:xfrm>
          <a:prstGeom prst="line">
            <a:avLst/>
          </a:prstGeom>
          <a:noFill/>
          <a:ln w="12700">
            <a:solidFill>
              <a:srgbClr val="7A8288"/>
            </a:solidFill>
            <a:prstDash val="solid"/>
          </a:ln>
        </p:spPr>
        <p:txBody>
          <a:bodyPr/>
          <a:lstStyle/>
          <a:p>
            <a:endParaRPr lang="en-US"/>
          </a:p>
        </p:txBody>
      </p:sp>
      <p:sp>
        <p:nvSpPr>
          <p:cNvPr id="13" name="Shape 11"/>
          <p:cNvSpPr/>
          <p:nvPr/>
        </p:nvSpPr>
        <p:spPr>
          <a:xfrm>
            <a:off x="1389277" y="4371879"/>
            <a:ext cx="1025787" cy="821822"/>
          </a:xfrm>
          <a:prstGeom prst="line">
            <a:avLst/>
          </a:prstGeom>
          <a:noFill/>
          <a:ln w="12700">
            <a:solidFill>
              <a:srgbClr val="7A8288"/>
            </a:solidFill>
            <a:prstDash val="solid"/>
          </a:ln>
        </p:spPr>
        <p:txBody>
          <a:bodyPr/>
          <a:lstStyle/>
          <a:p>
            <a:endParaRPr lang="en-US"/>
          </a:p>
        </p:txBody>
      </p:sp>
      <p:sp>
        <p:nvSpPr>
          <p:cNvPr id="14" name="Shape 12"/>
          <p:cNvSpPr/>
          <p:nvPr/>
        </p:nvSpPr>
        <p:spPr>
          <a:xfrm>
            <a:off x="415577" y="3590641"/>
            <a:ext cx="973700" cy="781238"/>
          </a:xfrm>
          <a:prstGeom prst="line">
            <a:avLst/>
          </a:prstGeom>
          <a:noFill/>
          <a:ln w="12700">
            <a:solidFill>
              <a:srgbClr val="7A8288"/>
            </a:solidFill>
            <a:prstDash val="solid"/>
          </a:ln>
        </p:spPr>
        <p:txBody>
          <a:bodyPr/>
          <a:lstStyle/>
          <a:p>
            <a:endParaRPr lang="en-US"/>
          </a:p>
        </p:txBody>
      </p:sp>
      <p:sp>
        <p:nvSpPr>
          <p:cNvPr id="15" name="Shape 13"/>
          <p:cNvSpPr/>
          <p:nvPr/>
        </p:nvSpPr>
        <p:spPr>
          <a:xfrm>
            <a:off x="8807511" y="7740631"/>
            <a:ext cx="972472" cy="780436"/>
          </a:xfrm>
          <a:prstGeom prst="line">
            <a:avLst/>
          </a:prstGeom>
          <a:noFill/>
          <a:ln w="12700">
            <a:solidFill>
              <a:srgbClr val="7A8288"/>
            </a:solidFill>
            <a:prstDash val="solid"/>
          </a:ln>
        </p:spPr>
        <p:txBody>
          <a:bodyPr/>
          <a:lstStyle/>
          <a:p>
            <a:endParaRPr lang="en-US"/>
          </a:p>
        </p:txBody>
      </p:sp>
      <p:sp>
        <p:nvSpPr>
          <p:cNvPr id="16" name="Shape 14"/>
          <p:cNvSpPr/>
          <p:nvPr/>
        </p:nvSpPr>
        <p:spPr>
          <a:xfrm>
            <a:off x="7780672" y="6915739"/>
            <a:ext cx="1026839" cy="824891"/>
          </a:xfrm>
          <a:prstGeom prst="line">
            <a:avLst/>
          </a:prstGeom>
          <a:noFill/>
          <a:ln w="12700">
            <a:solidFill>
              <a:srgbClr val="7A8288"/>
            </a:solidFill>
            <a:prstDash val="solid"/>
          </a:ln>
        </p:spPr>
        <p:txBody>
          <a:bodyPr/>
          <a:lstStyle/>
          <a:p>
            <a:endParaRPr lang="en-US"/>
          </a:p>
        </p:txBody>
      </p:sp>
      <p:sp>
        <p:nvSpPr>
          <p:cNvPr id="17" name="Shape 15"/>
          <p:cNvSpPr/>
          <p:nvPr/>
        </p:nvSpPr>
        <p:spPr>
          <a:xfrm>
            <a:off x="6755323" y="6092339"/>
            <a:ext cx="1025349" cy="823401"/>
          </a:xfrm>
          <a:prstGeom prst="line">
            <a:avLst/>
          </a:prstGeom>
          <a:noFill/>
          <a:ln w="12700">
            <a:solidFill>
              <a:srgbClr val="7A8288"/>
            </a:solidFill>
            <a:prstDash val="solid"/>
          </a:ln>
        </p:spPr>
        <p:txBody>
          <a:bodyPr/>
          <a:lstStyle/>
          <a:p>
            <a:endParaRPr lang="en-US"/>
          </a:p>
        </p:txBody>
      </p:sp>
      <p:sp>
        <p:nvSpPr>
          <p:cNvPr id="18" name="Shape 16"/>
          <p:cNvSpPr/>
          <p:nvPr/>
        </p:nvSpPr>
        <p:spPr>
          <a:xfrm>
            <a:off x="5728747" y="5269377"/>
            <a:ext cx="1026576" cy="822962"/>
          </a:xfrm>
          <a:prstGeom prst="line">
            <a:avLst/>
          </a:prstGeom>
          <a:noFill/>
          <a:ln w="12700">
            <a:solidFill>
              <a:srgbClr val="7A8288"/>
            </a:solidFill>
            <a:prstDash val="solid"/>
          </a:ln>
        </p:spPr>
        <p:txBody>
          <a:bodyPr/>
          <a:lstStyle/>
          <a:p>
            <a:endParaRPr lang="en-US"/>
          </a:p>
        </p:txBody>
      </p:sp>
      <p:sp>
        <p:nvSpPr>
          <p:cNvPr id="19" name="Shape 17"/>
          <p:cNvSpPr/>
          <p:nvPr/>
        </p:nvSpPr>
        <p:spPr>
          <a:xfrm>
            <a:off x="4702434" y="4444748"/>
            <a:ext cx="1026313" cy="824628"/>
          </a:xfrm>
          <a:prstGeom prst="line">
            <a:avLst/>
          </a:prstGeom>
          <a:noFill/>
          <a:ln w="12700">
            <a:solidFill>
              <a:srgbClr val="7A8288"/>
            </a:solidFill>
            <a:prstDash val="solid"/>
          </a:ln>
        </p:spPr>
        <p:txBody>
          <a:bodyPr/>
          <a:lstStyle/>
          <a:p>
            <a:endParaRPr lang="en-US"/>
          </a:p>
        </p:txBody>
      </p:sp>
      <p:sp>
        <p:nvSpPr>
          <p:cNvPr id="20" name="Shape 18"/>
          <p:cNvSpPr/>
          <p:nvPr/>
        </p:nvSpPr>
        <p:spPr>
          <a:xfrm>
            <a:off x="3678050" y="3621260"/>
            <a:ext cx="1024384" cy="823488"/>
          </a:xfrm>
          <a:prstGeom prst="line">
            <a:avLst/>
          </a:prstGeom>
          <a:noFill/>
          <a:ln w="12700">
            <a:solidFill>
              <a:srgbClr val="7A8288"/>
            </a:solidFill>
            <a:prstDash val="solid"/>
          </a:ln>
        </p:spPr>
        <p:txBody>
          <a:bodyPr/>
          <a:lstStyle/>
          <a:p>
            <a:endParaRPr lang="en-US"/>
          </a:p>
        </p:txBody>
      </p:sp>
      <p:sp>
        <p:nvSpPr>
          <p:cNvPr id="21" name="Shape 19"/>
          <p:cNvSpPr/>
          <p:nvPr/>
        </p:nvSpPr>
        <p:spPr>
          <a:xfrm>
            <a:off x="3676734" y="3620208"/>
            <a:ext cx="1315" cy="1052"/>
          </a:xfrm>
          <a:prstGeom prst="line">
            <a:avLst/>
          </a:prstGeom>
          <a:noFill/>
          <a:ln w="12700">
            <a:solidFill>
              <a:srgbClr val="7A8288"/>
            </a:solidFill>
            <a:prstDash val="solid"/>
          </a:ln>
        </p:spPr>
        <p:txBody>
          <a:bodyPr/>
          <a:lstStyle/>
          <a:p>
            <a:endParaRPr lang="en-US"/>
          </a:p>
        </p:txBody>
      </p:sp>
      <p:sp>
        <p:nvSpPr>
          <p:cNvPr id="22" name="Shape 20"/>
          <p:cNvSpPr/>
          <p:nvPr/>
        </p:nvSpPr>
        <p:spPr>
          <a:xfrm>
            <a:off x="2650597" y="2798123"/>
            <a:ext cx="1026138" cy="822085"/>
          </a:xfrm>
          <a:prstGeom prst="line">
            <a:avLst/>
          </a:prstGeom>
          <a:noFill/>
          <a:ln w="12700">
            <a:solidFill>
              <a:srgbClr val="7A8288"/>
            </a:solidFill>
            <a:prstDash val="solid"/>
          </a:ln>
        </p:spPr>
        <p:txBody>
          <a:bodyPr/>
          <a:lstStyle/>
          <a:p>
            <a:endParaRPr lang="en-US"/>
          </a:p>
        </p:txBody>
      </p:sp>
      <p:sp>
        <p:nvSpPr>
          <p:cNvPr id="23" name="Shape 21"/>
          <p:cNvSpPr/>
          <p:nvPr/>
        </p:nvSpPr>
        <p:spPr>
          <a:xfrm>
            <a:off x="1624722" y="1974898"/>
            <a:ext cx="1025875" cy="823225"/>
          </a:xfrm>
          <a:prstGeom prst="line">
            <a:avLst/>
          </a:prstGeom>
          <a:noFill/>
          <a:ln w="12700">
            <a:solidFill>
              <a:srgbClr val="7A8288"/>
            </a:solidFill>
            <a:prstDash val="solid"/>
          </a:ln>
        </p:spPr>
        <p:txBody>
          <a:bodyPr/>
          <a:lstStyle/>
          <a:p>
            <a:endParaRPr lang="en-US"/>
          </a:p>
        </p:txBody>
      </p:sp>
      <p:sp>
        <p:nvSpPr>
          <p:cNvPr id="24" name="Shape 22"/>
          <p:cNvSpPr/>
          <p:nvPr/>
        </p:nvSpPr>
        <p:spPr>
          <a:xfrm>
            <a:off x="599198" y="1151146"/>
            <a:ext cx="1025524" cy="823751"/>
          </a:xfrm>
          <a:prstGeom prst="line">
            <a:avLst/>
          </a:prstGeom>
          <a:noFill/>
          <a:ln w="12700">
            <a:solidFill>
              <a:srgbClr val="7A8288"/>
            </a:solidFill>
            <a:prstDash val="solid"/>
          </a:ln>
        </p:spPr>
        <p:txBody>
          <a:bodyPr/>
          <a:lstStyle/>
          <a:p>
            <a:endParaRPr lang="en-US"/>
          </a:p>
        </p:txBody>
      </p:sp>
      <p:sp>
        <p:nvSpPr>
          <p:cNvPr id="25" name="Shape 23"/>
          <p:cNvSpPr/>
          <p:nvPr/>
        </p:nvSpPr>
        <p:spPr>
          <a:xfrm>
            <a:off x="415577" y="1003267"/>
            <a:ext cx="183621" cy="147879"/>
          </a:xfrm>
          <a:prstGeom prst="line">
            <a:avLst/>
          </a:prstGeom>
          <a:noFill/>
          <a:ln w="12700">
            <a:solidFill>
              <a:srgbClr val="7A8288"/>
            </a:solidFill>
            <a:prstDash val="solid"/>
          </a:ln>
        </p:spPr>
        <p:txBody>
          <a:bodyPr/>
          <a:lstStyle/>
          <a:p>
            <a:endParaRPr lang="en-US"/>
          </a:p>
        </p:txBody>
      </p:sp>
      <p:sp>
        <p:nvSpPr>
          <p:cNvPr id="26" name="Shape 24"/>
          <p:cNvSpPr/>
          <p:nvPr/>
        </p:nvSpPr>
        <p:spPr>
          <a:xfrm>
            <a:off x="9202989" y="9351041"/>
            <a:ext cx="576994" cy="463511"/>
          </a:xfrm>
          <a:prstGeom prst="line">
            <a:avLst/>
          </a:prstGeom>
          <a:noFill/>
          <a:ln w="19050">
            <a:solidFill>
              <a:srgbClr val="C7A400"/>
            </a:solidFill>
            <a:prstDash val="dashDot"/>
          </a:ln>
        </p:spPr>
        <p:txBody>
          <a:bodyPr/>
          <a:lstStyle/>
          <a:p>
            <a:endParaRPr lang="en-US"/>
          </a:p>
        </p:txBody>
      </p:sp>
      <p:sp>
        <p:nvSpPr>
          <p:cNvPr id="27" name="Shape 25"/>
          <p:cNvSpPr/>
          <p:nvPr/>
        </p:nvSpPr>
        <p:spPr>
          <a:xfrm>
            <a:off x="8176149" y="8526939"/>
            <a:ext cx="1026839" cy="824102"/>
          </a:xfrm>
          <a:prstGeom prst="line">
            <a:avLst/>
          </a:prstGeom>
          <a:noFill/>
          <a:ln w="19050">
            <a:solidFill>
              <a:srgbClr val="C7A400"/>
            </a:solidFill>
            <a:prstDash val="dashDot"/>
          </a:ln>
        </p:spPr>
        <p:txBody>
          <a:bodyPr/>
          <a:lstStyle/>
          <a:p>
            <a:endParaRPr lang="en-US"/>
          </a:p>
        </p:txBody>
      </p:sp>
      <p:sp>
        <p:nvSpPr>
          <p:cNvPr id="28" name="Shape 26"/>
          <p:cNvSpPr/>
          <p:nvPr/>
        </p:nvSpPr>
        <p:spPr>
          <a:xfrm>
            <a:off x="7149310" y="7702047"/>
            <a:ext cx="1026839" cy="824891"/>
          </a:xfrm>
          <a:prstGeom prst="line">
            <a:avLst/>
          </a:prstGeom>
          <a:noFill/>
          <a:ln w="19050">
            <a:solidFill>
              <a:srgbClr val="C7A400"/>
            </a:solidFill>
            <a:prstDash val="dashDot"/>
          </a:ln>
        </p:spPr>
        <p:txBody>
          <a:bodyPr/>
          <a:lstStyle/>
          <a:p>
            <a:endParaRPr lang="en-US"/>
          </a:p>
        </p:txBody>
      </p:sp>
      <p:sp>
        <p:nvSpPr>
          <p:cNvPr id="29" name="Shape 27"/>
          <p:cNvSpPr/>
          <p:nvPr/>
        </p:nvSpPr>
        <p:spPr>
          <a:xfrm>
            <a:off x="6124575" y="6879173"/>
            <a:ext cx="1024735" cy="822874"/>
          </a:xfrm>
          <a:prstGeom prst="line">
            <a:avLst/>
          </a:prstGeom>
          <a:noFill/>
          <a:ln w="19050">
            <a:solidFill>
              <a:srgbClr val="C7A400"/>
            </a:solidFill>
            <a:prstDash val="dashDot"/>
          </a:ln>
        </p:spPr>
        <p:txBody>
          <a:bodyPr/>
          <a:lstStyle/>
          <a:p>
            <a:endParaRPr lang="en-US"/>
          </a:p>
        </p:txBody>
      </p:sp>
      <p:sp>
        <p:nvSpPr>
          <p:cNvPr id="30" name="Shape 28"/>
          <p:cNvSpPr/>
          <p:nvPr/>
        </p:nvSpPr>
        <p:spPr>
          <a:xfrm>
            <a:off x="5097561" y="6055860"/>
            <a:ext cx="1027015" cy="823313"/>
          </a:xfrm>
          <a:prstGeom prst="line">
            <a:avLst/>
          </a:prstGeom>
          <a:noFill/>
          <a:ln w="19050">
            <a:solidFill>
              <a:srgbClr val="C7A400"/>
            </a:solidFill>
            <a:prstDash val="dashDot"/>
          </a:ln>
        </p:spPr>
        <p:txBody>
          <a:bodyPr/>
          <a:lstStyle/>
          <a:p>
            <a:endParaRPr lang="en-US"/>
          </a:p>
        </p:txBody>
      </p:sp>
      <p:sp>
        <p:nvSpPr>
          <p:cNvPr id="31" name="Shape 29"/>
          <p:cNvSpPr/>
          <p:nvPr/>
        </p:nvSpPr>
        <p:spPr>
          <a:xfrm>
            <a:off x="4070722" y="5230793"/>
            <a:ext cx="1026839" cy="825067"/>
          </a:xfrm>
          <a:prstGeom prst="line">
            <a:avLst/>
          </a:prstGeom>
          <a:noFill/>
          <a:ln w="19050">
            <a:solidFill>
              <a:srgbClr val="C7A400"/>
            </a:solidFill>
            <a:prstDash val="dashDot"/>
          </a:ln>
        </p:spPr>
        <p:txBody>
          <a:bodyPr/>
          <a:lstStyle/>
          <a:p>
            <a:endParaRPr lang="en-US"/>
          </a:p>
        </p:txBody>
      </p:sp>
      <p:sp>
        <p:nvSpPr>
          <p:cNvPr id="32" name="Shape 30"/>
          <p:cNvSpPr/>
          <p:nvPr/>
        </p:nvSpPr>
        <p:spPr>
          <a:xfrm>
            <a:off x="3046250" y="4407218"/>
            <a:ext cx="1024472" cy="823576"/>
          </a:xfrm>
          <a:prstGeom prst="line">
            <a:avLst/>
          </a:prstGeom>
          <a:noFill/>
          <a:ln w="19050">
            <a:solidFill>
              <a:srgbClr val="C7A400"/>
            </a:solidFill>
            <a:prstDash val="dashDot"/>
          </a:ln>
        </p:spPr>
        <p:txBody>
          <a:bodyPr/>
          <a:lstStyle/>
          <a:p>
            <a:endParaRPr lang="en-US"/>
          </a:p>
        </p:txBody>
      </p:sp>
      <p:sp>
        <p:nvSpPr>
          <p:cNvPr id="33" name="Shape 31"/>
          <p:cNvSpPr/>
          <p:nvPr/>
        </p:nvSpPr>
        <p:spPr>
          <a:xfrm>
            <a:off x="2019761" y="3584869"/>
            <a:ext cx="1026488" cy="822348"/>
          </a:xfrm>
          <a:prstGeom prst="line">
            <a:avLst/>
          </a:prstGeom>
          <a:noFill/>
          <a:ln w="19050">
            <a:solidFill>
              <a:srgbClr val="C7A400"/>
            </a:solidFill>
            <a:prstDash val="dashDot"/>
          </a:ln>
        </p:spPr>
        <p:txBody>
          <a:bodyPr/>
          <a:lstStyle/>
          <a:p>
            <a:endParaRPr lang="en-US"/>
          </a:p>
        </p:txBody>
      </p:sp>
      <p:sp>
        <p:nvSpPr>
          <p:cNvPr id="34" name="Shape 32"/>
          <p:cNvSpPr/>
          <p:nvPr/>
        </p:nvSpPr>
        <p:spPr>
          <a:xfrm>
            <a:off x="993361" y="2761293"/>
            <a:ext cx="1026401" cy="823576"/>
          </a:xfrm>
          <a:prstGeom prst="line">
            <a:avLst/>
          </a:prstGeom>
          <a:noFill/>
          <a:ln w="19050">
            <a:solidFill>
              <a:srgbClr val="C7A400"/>
            </a:solidFill>
            <a:prstDash val="dashDot"/>
          </a:ln>
        </p:spPr>
        <p:txBody>
          <a:bodyPr/>
          <a:lstStyle/>
          <a:p>
            <a:endParaRPr lang="en-US"/>
          </a:p>
        </p:txBody>
      </p:sp>
      <p:sp>
        <p:nvSpPr>
          <p:cNvPr id="35" name="Shape 33"/>
          <p:cNvSpPr/>
          <p:nvPr/>
        </p:nvSpPr>
        <p:spPr>
          <a:xfrm>
            <a:off x="415577" y="2297161"/>
            <a:ext cx="577783" cy="464132"/>
          </a:xfrm>
          <a:prstGeom prst="line">
            <a:avLst/>
          </a:prstGeom>
          <a:noFill/>
          <a:ln w="19050">
            <a:solidFill>
              <a:srgbClr val="C7A400"/>
            </a:solidFill>
            <a:prstDash val="dashDot"/>
          </a:ln>
        </p:spPr>
        <p:txBody>
          <a:bodyPr/>
          <a:lstStyle/>
          <a:p>
            <a:endParaRPr lang="en-US"/>
          </a:p>
        </p:txBody>
      </p:sp>
      <p:sp>
        <p:nvSpPr>
          <p:cNvPr id="47" name="Shape 45"/>
          <p:cNvSpPr/>
          <p:nvPr/>
        </p:nvSpPr>
        <p:spPr>
          <a:xfrm>
            <a:off x="5538286" y="4125648"/>
            <a:ext cx="122765" cy="122765"/>
          </a:xfrm>
          <a:prstGeom prst="rect">
            <a:avLst/>
          </a:prstGeom>
          <a:ln w="19050">
            <a:solidFill>
              <a:srgbClr val="BB00BB"/>
            </a:solidFill>
            <a:prstDash val="solid"/>
          </a:ln>
        </p:spPr>
        <p:txBody>
          <a:bodyPr/>
          <a:lstStyle/>
          <a:p>
            <a:endParaRPr lang="en-US"/>
          </a:p>
        </p:txBody>
      </p:sp>
      <p:sp>
        <p:nvSpPr>
          <p:cNvPr id="48" name="Text 46"/>
          <p:cNvSpPr/>
          <p:nvPr/>
        </p:nvSpPr>
        <p:spPr>
          <a:xfrm>
            <a:off x="5678589" y="4015920"/>
            <a:ext cx="1097280" cy="182880"/>
          </a:xfrm>
          <a:prstGeom prst="rect">
            <a:avLst/>
          </a:prstGeom>
          <a:noFill/>
          <a:ln/>
        </p:spPr>
        <p:txBody>
          <a:bodyPr wrap="square" lIns="0" tIns="0" rIns="0" bIns="0" rtlCol="0" anchor="ctr"/>
          <a:lstStyle/>
          <a:p>
            <a:pPr marL="0" indent="0">
              <a:buNone/>
            </a:pPr>
            <a:r>
              <a:rPr lang="en-US" sz="650" b="1" dirty="0">
                <a:solidFill>
                  <a:srgbClr val="BB00BB"/>
                </a:solidFill>
                <a:latin typeface="Arial" pitchFamily="34" charset="0"/>
                <a:ea typeface="Arial" pitchFamily="34" charset="-122"/>
                <a:cs typeface="Arial" pitchFamily="34" charset="-120"/>
              </a:rPr>
              <a:t>P2.002</a:t>
            </a:r>
            <a:endParaRPr lang="en-US" sz="650" dirty="0"/>
          </a:p>
        </p:txBody>
      </p:sp>
      <p:sp>
        <p:nvSpPr>
          <p:cNvPr id="49" name="Shape 47"/>
          <p:cNvSpPr/>
          <p:nvPr/>
        </p:nvSpPr>
        <p:spPr>
          <a:xfrm>
            <a:off x="3017137" y="4158882"/>
            <a:ext cx="4380859" cy="3517999"/>
          </a:xfrm>
          <a:prstGeom prst="line">
            <a:avLst/>
          </a:prstGeom>
          <a:noFill/>
          <a:ln w="31750">
            <a:solidFill>
              <a:srgbClr val="CC0000"/>
            </a:solidFill>
            <a:prstDash val="solid"/>
          </a:ln>
        </p:spPr>
        <p:txBody>
          <a:bodyPr/>
          <a:lstStyle/>
          <a:p>
            <a:endParaRPr lang="en-US"/>
          </a:p>
        </p:txBody>
      </p:sp>
      <p:sp>
        <p:nvSpPr>
          <p:cNvPr id="50" name="Shape 48"/>
          <p:cNvSpPr/>
          <p:nvPr/>
        </p:nvSpPr>
        <p:spPr>
          <a:xfrm flipV="1">
            <a:off x="7177721" y="7676881"/>
            <a:ext cx="220275" cy="274291"/>
          </a:xfrm>
          <a:prstGeom prst="line">
            <a:avLst/>
          </a:prstGeom>
          <a:noFill/>
          <a:ln w="31750">
            <a:solidFill>
              <a:srgbClr val="CC0000"/>
            </a:solidFill>
            <a:prstDash val="solid"/>
          </a:ln>
        </p:spPr>
        <p:txBody>
          <a:bodyPr/>
          <a:lstStyle/>
          <a:p>
            <a:endParaRPr lang="en-US"/>
          </a:p>
        </p:txBody>
      </p:sp>
      <p:sp>
        <p:nvSpPr>
          <p:cNvPr id="51" name="Shape 49"/>
          <p:cNvSpPr/>
          <p:nvPr/>
        </p:nvSpPr>
        <p:spPr>
          <a:xfrm>
            <a:off x="2796862" y="4433261"/>
            <a:ext cx="4380859" cy="3517911"/>
          </a:xfrm>
          <a:prstGeom prst="line">
            <a:avLst/>
          </a:prstGeom>
          <a:noFill/>
          <a:ln w="31750">
            <a:solidFill>
              <a:srgbClr val="CC0000"/>
            </a:solidFill>
            <a:prstDash val="solid"/>
          </a:ln>
        </p:spPr>
        <p:txBody>
          <a:bodyPr/>
          <a:lstStyle/>
          <a:p>
            <a:endParaRPr lang="en-US"/>
          </a:p>
        </p:txBody>
      </p:sp>
      <p:sp>
        <p:nvSpPr>
          <p:cNvPr id="52" name="Shape 50"/>
          <p:cNvSpPr/>
          <p:nvPr/>
        </p:nvSpPr>
        <p:spPr>
          <a:xfrm flipV="1">
            <a:off x="2796862" y="4158882"/>
            <a:ext cx="220275" cy="274379"/>
          </a:xfrm>
          <a:prstGeom prst="line">
            <a:avLst/>
          </a:prstGeom>
          <a:noFill/>
          <a:ln w="31750">
            <a:solidFill>
              <a:srgbClr val="CC0000"/>
            </a:solidFill>
            <a:prstDash val="solid"/>
          </a:ln>
        </p:spPr>
        <p:txBody>
          <a:bodyPr/>
          <a:lstStyle/>
          <a:p>
            <a:endParaRPr lang="en-US"/>
          </a:p>
        </p:txBody>
      </p:sp>
      <p:sp>
        <p:nvSpPr>
          <p:cNvPr id="53" name="Text 51"/>
          <p:cNvSpPr/>
          <p:nvPr/>
        </p:nvSpPr>
        <p:spPr>
          <a:xfrm>
            <a:off x="639697" y="3884562"/>
            <a:ext cx="4937760" cy="201168"/>
          </a:xfrm>
          <a:prstGeom prst="rect">
            <a:avLst/>
          </a:prstGeom>
          <a:noFill/>
          <a:ln/>
        </p:spPr>
        <p:txBody>
          <a:bodyPr wrap="square" lIns="0" tIns="0" rIns="0" bIns="0" rtlCol="0" anchor="ctr"/>
          <a:lstStyle/>
          <a:p>
            <a:pPr marL="0" indent="0">
              <a:buNone/>
            </a:pPr>
            <a:r>
              <a:rPr lang="en-US" sz="800" b="1" dirty="0">
                <a:solidFill>
                  <a:srgbClr val="CC0000"/>
                </a:solidFill>
                <a:latin typeface="Arial" pitchFamily="34" charset="0"/>
                <a:ea typeface="Arial" pitchFamily="34" charset="-122"/>
                <a:cs typeface="Arial" pitchFamily="34" charset="-120"/>
              </a:rPr>
              <a:t>AGL WORKS AREA — FIELD CONDITION (257.1 m² TOTAL)</a:t>
            </a:r>
            <a:endParaRPr lang="en-US" sz="800" dirty="0"/>
          </a:p>
        </p:txBody>
      </p:sp>
      <p:sp>
        <p:nvSpPr>
          <p:cNvPr id="54" name="Shape 52"/>
          <p:cNvSpPr/>
          <p:nvPr/>
        </p:nvSpPr>
        <p:spPr>
          <a:xfrm>
            <a:off x="5773846" y="7882890"/>
            <a:ext cx="58522" cy="58522"/>
          </a:xfrm>
          <a:prstGeom prst="ellipse">
            <a:avLst/>
          </a:prstGeom>
          <a:solidFill>
            <a:srgbClr val="12A5B8"/>
          </a:solidFill>
          <a:ln w="6350">
            <a:solidFill>
              <a:srgbClr val="12A5B8"/>
            </a:solidFill>
            <a:prstDash val="solid"/>
          </a:ln>
        </p:spPr>
        <p:txBody>
          <a:bodyPr/>
          <a:lstStyle/>
          <a:p>
            <a:endParaRPr lang="en-US"/>
          </a:p>
        </p:txBody>
      </p:sp>
      <p:sp>
        <p:nvSpPr>
          <p:cNvPr id="55" name="Shape 53"/>
          <p:cNvSpPr/>
          <p:nvPr/>
        </p:nvSpPr>
        <p:spPr>
          <a:xfrm>
            <a:off x="2360110" y="5133135"/>
            <a:ext cx="58522" cy="58522"/>
          </a:xfrm>
          <a:prstGeom prst="ellipse">
            <a:avLst/>
          </a:prstGeom>
          <a:solidFill>
            <a:srgbClr val="12A5B8"/>
          </a:solidFill>
          <a:ln w="6350">
            <a:solidFill>
              <a:srgbClr val="12A5B8"/>
            </a:solidFill>
            <a:prstDash val="solid"/>
          </a:ln>
        </p:spPr>
        <p:txBody>
          <a:bodyPr/>
          <a:lstStyle/>
          <a:p>
            <a:endParaRPr lang="en-US"/>
          </a:p>
        </p:txBody>
      </p:sp>
      <p:sp>
        <p:nvSpPr>
          <p:cNvPr id="56" name="Shape 54"/>
          <p:cNvSpPr/>
          <p:nvPr/>
        </p:nvSpPr>
        <p:spPr>
          <a:xfrm>
            <a:off x="7119085" y="6205310"/>
            <a:ext cx="58522" cy="58522"/>
          </a:xfrm>
          <a:prstGeom prst="ellipse">
            <a:avLst/>
          </a:prstGeom>
          <a:solidFill>
            <a:srgbClr val="12A5B8"/>
          </a:solidFill>
          <a:ln w="6350">
            <a:solidFill>
              <a:srgbClr val="12A5B8"/>
            </a:solidFill>
            <a:prstDash val="solid"/>
          </a:ln>
        </p:spPr>
        <p:txBody>
          <a:bodyPr/>
          <a:lstStyle/>
          <a:p>
            <a:endParaRPr lang="en-US"/>
          </a:p>
        </p:txBody>
      </p:sp>
      <p:sp>
        <p:nvSpPr>
          <p:cNvPr id="57" name="Shape 55"/>
          <p:cNvSpPr/>
          <p:nvPr/>
        </p:nvSpPr>
        <p:spPr>
          <a:xfrm>
            <a:off x="1642726" y="1807351"/>
            <a:ext cx="58522" cy="58522"/>
          </a:xfrm>
          <a:prstGeom prst="ellipse">
            <a:avLst/>
          </a:prstGeom>
          <a:solidFill>
            <a:srgbClr val="12A5B8"/>
          </a:solidFill>
          <a:ln w="6350">
            <a:solidFill>
              <a:srgbClr val="12A5B8"/>
            </a:solidFill>
            <a:prstDash val="solid"/>
          </a:ln>
        </p:spPr>
        <p:txBody>
          <a:bodyPr/>
          <a:lstStyle/>
          <a:p>
            <a:endParaRPr lang="en-US"/>
          </a:p>
        </p:txBody>
      </p:sp>
      <p:sp>
        <p:nvSpPr>
          <p:cNvPr id="58" name="Shape 56"/>
          <p:cNvSpPr/>
          <p:nvPr/>
        </p:nvSpPr>
        <p:spPr>
          <a:xfrm>
            <a:off x="2475772" y="1996409"/>
            <a:ext cx="58522" cy="58522"/>
          </a:xfrm>
          <a:prstGeom prst="ellipse">
            <a:avLst/>
          </a:prstGeom>
          <a:solidFill>
            <a:srgbClr val="12A5B8"/>
          </a:solidFill>
          <a:ln w="6350">
            <a:solidFill>
              <a:srgbClr val="12A5B8"/>
            </a:solidFill>
            <a:prstDash val="solid"/>
          </a:ln>
        </p:spPr>
        <p:txBody>
          <a:bodyPr/>
          <a:lstStyle/>
          <a:p>
            <a:endParaRPr lang="en-US"/>
          </a:p>
        </p:txBody>
      </p:sp>
      <p:sp>
        <p:nvSpPr>
          <p:cNvPr id="59" name="Shape 57"/>
          <p:cNvSpPr/>
          <p:nvPr/>
        </p:nvSpPr>
        <p:spPr>
          <a:xfrm>
            <a:off x="9173728" y="9321780"/>
            <a:ext cx="58522" cy="58522"/>
          </a:xfrm>
          <a:prstGeom prst="ellipse">
            <a:avLst/>
          </a:prstGeom>
          <a:solidFill>
            <a:srgbClr val="12A5B8"/>
          </a:solidFill>
          <a:ln w="6350">
            <a:solidFill>
              <a:srgbClr val="12A5B8"/>
            </a:solidFill>
            <a:prstDash val="solid"/>
          </a:ln>
        </p:spPr>
        <p:txBody>
          <a:bodyPr/>
          <a:lstStyle/>
          <a:p>
            <a:endParaRPr lang="en-US"/>
          </a:p>
        </p:txBody>
      </p:sp>
      <p:sp>
        <p:nvSpPr>
          <p:cNvPr id="60" name="Shape 58"/>
          <p:cNvSpPr/>
          <p:nvPr/>
        </p:nvSpPr>
        <p:spPr>
          <a:xfrm>
            <a:off x="8146889" y="8497678"/>
            <a:ext cx="58522" cy="58522"/>
          </a:xfrm>
          <a:prstGeom prst="ellipse">
            <a:avLst/>
          </a:prstGeom>
          <a:solidFill>
            <a:srgbClr val="12A5B8"/>
          </a:solidFill>
          <a:ln w="6350">
            <a:solidFill>
              <a:srgbClr val="12A5B8"/>
            </a:solidFill>
            <a:prstDash val="solid"/>
          </a:ln>
        </p:spPr>
        <p:txBody>
          <a:bodyPr/>
          <a:lstStyle/>
          <a:p>
            <a:endParaRPr lang="en-US"/>
          </a:p>
        </p:txBody>
      </p:sp>
      <p:sp>
        <p:nvSpPr>
          <p:cNvPr id="61" name="Shape 59"/>
          <p:cNvSpPr/>
          <p:nvPr/>
        </p:nvSpPr>
        <p:spPr>
          <a:xfrm>
            <a:off x="4041461" y="5201533"/>
            <a:ext cx="58522" cy="58522"/>
          </a:xfrm>
          <a:prstGeom prst="ellipse">
            <a:avLst/>
          </a:prstGeom>
          <a:solidFill>
            <a:srgbClr val="12A5B8"/>
          </a:solidFill>
          <a:ln w="6350">
            <a:solidFill>
              <a:srgbClr val="12A5B8"/>
            </a:solidFill>
            <a:prstDash val="solid"/>
          </a:ln>
        </p:spPr>
        <p:txBody>
          <a:bodyPr/>
          <a:lstStyle/>
          <a:p>
            <a:endParaRPr lang="en-US"/>
          </a:p>
        </p:txBody>
      </p:sp>
      <p:sp>
        <p:nvSpPr>
          <p:cNvPr id="62" name="Shape 60"/>
          <p:cNvSpPr/>
          <p:nvPr/>
        </p:nvSpPr>
        <p:spPr>
          <a:xfrm>
            <a:off x="3016989" y="4377957"/>
            <a:ext cx="58522" cy="58522"/>
          </a:xfrm>
          <a:prstGeom prst="ellipse">
            <a:avLst/>
          </a:prstGeom>
          <a:solidFill>
            <a:srgbClr val="12A5B8"/>
          </a:solidFill>
          <a:ln w="6350">
            <a:solidFill>
              <a:srgbClr val="12A5B8"/>
            </a:solidFill>
            <a:prstDash val="solid"/>
          </a:ln>
        </p:spPr>
        <p:txBody>
          <a:bodyPr/>
          <a:lstStyle/>
          <a:p>
            <a:endParaRPr lang="en-US"/>
          </a:p>
        </p:txBody>
      </p:sp>
      <p:sp>
        <p:nvSpPr>
          <p:cNvPr id="63" name="Shape 61"/>
          <p:cNvSpPr/>
          <p:nvPr/>
        </p:nvSpPr>
        <p:spPr>
          <a:xfrm>
            <a:off x="1990501" y="3555608"/>
            <a:ext cx="58522" cy="58522"/>
          </a:xfrm>
          <a:prstGeom prst="ellipse">
            <a:avLst/>
          </a:prstGeom>
          <a:solidFill>
            <a:srgbClr val="12A5B8"/>
          </a:solidFill>
          <a:ln w="6350">
            <a:solidFill>
              <a:srgbClr val="12A5B8"/>
            </a:solidFill>
            <a:prstDash val="solid"/>
          </a:ln>
        </p:spPr>
        <p:txBody>
          <a:bodyPr/>
          <a:lstStyle/>
          <a:p>
            <a:endParaRPr lang="en-US"/>
          </a:p>
        </p:txBody>
      </p:sp>
      <p:sp>
        <p:nvSpPr>
          <p:cNvPr id="64" name="Shape 62"/>
          <p:cNvSpPr/>
          <p:nvPr/>
        </p:nvSpPr>
        <p:spPr>
          <a:xfrm>
            <a:off x="964100" y="2732033"/>
            <a:ext cx="58522" cy="58522"/>
          </a:xfrm>
          <a:prstGeom prst="ellipse">
            <a:avLst/>
          </a:prstGeom>
          <a:solidFill>
            <a:srgbClr val="12A5B8"/>
          </a:solidFill>
          <a:ln w="6350">
            <a:solidFill>
              <a:srgbClr val="12A5B8"/>
            </a:solidFill>
            <a:prstDash val="solid"/>
          </a:ln>
        </p:spPr>
        <p:txBody>
          <a:bodyPr/>
          <a:lstStyle/>
          <a:p>
            <a:endParaRPr lang="en-US"/>
          </a:p>
        </p:txBody>
      </p:sp>
      <p:sp>
        <p:nvSpPr>
          <p:cNvPr id="65" name="Shape 63"/>
          <p:cNvSpPr/>
          <p:nvPr/>
        </p:nvSpPr>
        <p:spPr>
          <a:xfrm>
            <a:off x="5068300" y="6026599"/>
            <a:ext cx="58522" cy="58522"/>
          </a:xfrm>
          <a:prstGeom prst="ellipse">
            <a:avLst/>
          </a:prstGeom>
          <a:solidFill>
            <a:srgbClr val="12A5B8"/>
          </a:solidFill>
          <a:ln w="6350">
            <a:solidFill>
              <a:srgbClr val="12A5B8"/>
            </a:solidFill>
            <a:prstDash val="solid"/>
          </a:ln>
        </p:spPr>
        <p:txBody>
          <a:bodyPr/>
          <a:lstStyle/>
          <a:p>
            <a:endParaRPr lang="en-US"/>
          </a:p>
        </p:txBody>
      </p:sp>
      <p:sp>
        <p:nvSpPr>
          <p:cNvPr id="66" name="Shape 64"/>
          <p:cNvSpPr/>
          <p:nvPr/>
        </p:nvSpPr>
        <p:spPr>
          <a:xfrm>
            <a:off x="6095315" y="6849912"/>
            <a:ext cx="58522" cy="58522"/>
          </a:xfrm>
          <a:prstGeom prst="ellipse">
            <a:avLst/>
          </a:prstGeom>
          <a:solidFill>
            <a:srgbClr val="12A5B8"/>
          </a:solidFill>
          <a:ln w="6350">
            <a:solidFill>
              <a:srgbClr val="12A5B8"/>
            </a:solidFill>
            <a:prstDash val="solid"/>
          </a:ln>
        </p:spPr>
        <p:txBody>
          <a:bodyPr/>
          <a:lstStyle/>
          <a:p>
            <a:endParaRPr lang="en-US"/>
          </a:p>
        </p:txBody>
      </p:sp>
      <p:sp>
        <p:nvSpPr>
          <p:cNvPr id="67" name="Shape 65"/>
          <p:cNvSpPr/>
          <p:nvPr/>
        </p:nvSpPr>
        <p:spPr>
          <a:xfrm>
            <a:off x="7120049" y="7672787"/>
            <a:ext cx="58522" cy="58522"/>
          </a:xfrm>
          <a:prstGeom prst="ellipse">
            <a:avLst/>
          </a:prstGeom>
          <a:solidFill>
            <a:srgbClr val="12A5B8"/>
          </a:solidFill>
          <a:ln w="6350">
            <a:solidFill>
              <a:srgbClr val="12A5B8"/>
            </a:solidFill>
            <a:prstDash val="solid"/>
          </a:ln>
        </p:spPr>
        <p:txBody>
          <a:bodyPr/>
          <a:lstStyle/>
          <a:p>
            <a:endParaRPr lang="en-US"/>
          </a:p>
        </p:txBody>
      </p:sp>
      <p:sp>
        <p:nvSpPr>
          <p:cNvPr id="68" name="Shape 66"/>
          <p:cNvSpPr/>
          <p:nvPr/>
        </p:nvSpPr>
        <p:spPr>
          <a:xfrm>
            <a:off x="5570408" y="4157769"/>
            <a:ext cx="58522" cy="58522"/>
          </a:xfrm>
          <a:prstGeom prst="ellipse">
            <a:avLst/>
          </a:prstGeom>
          <a:solidFill>
            <a:srgbClr val="12A5B8"/>
          </a:solidFill>
          <a:ln w="6350">
            <a:solidFill>
              <a:srgbClr val="12A5B8"/>
            </a:solidFill>
            <a:prstDash val="solid"/>
          </a:ln>
        </p:spPr>
        <p:txBody>
          <a:bodyPr/>
          <a:lstStyle/>
          <a:p>
            <a:endParaRPr lang="en-US"/>
          </a:p>
        </p:txBody>
      </p:sp>
      <p:sp>
        <p:nvSpPr>
          <p:cNvPr id="69" name="Shape 67"/>
          <p:cNvSpPr/>
          <p:nvPr/>
        </p:nvSpPr>
        <p:spPr>
          <a:xfrm>
            <a:off x="5915815" y="3726339"/>
            <a:ext cx="58522" cy="58522"/>
          </a:xfrm>
          <a:prstGeom prst="ellipse">
            <a:avLst/>
          </a:prstGeom>
          <a:solidFill>
            <a:srgbClr val="12A5B8"/>
          </a:solidFill>
          <a:ln w="6350">
            <a:solidFill>
              <a:srgbClr val="12A5B8"/>
            </a:solidFill>
            <a:prstDash val="solid"/>
          </a:ln>
        </p:spPr>
        <p:txBody>
          <a:bodyPr/>
          <a:lstStyle/>
          <a:p>
            <a:endParaRPr lang="en-US"/>
          </a:p>
        </p:txBody>
      </p:sp>
      <p:sp>
        <p:nvSpPr>
          <p:cNvPr id="70" name="Shape 68"/>
          <p:cNvSpPr/>
          <p:nvPr/>
        </p:nvSpPr>
        <p:spPr>
          <a:xfrm>
            <a:off x="4768491" y="2667055"/>
            <a:ext cx="58522" cy="58522"/>
          </a:xfrm>
          <a:prstGeom prst="ellipse">
            <a:avLst/>
          </a:prstGeom>
          <a:solidFill>
            <a:srgbClr val="12A5B8"/>
          </a:solidFill>
          <a:ln w="6350">
            <a:solidFill>
              <a:srgbClr val="12A5B8"/>
            </a:solidFill>
            <a:prstDash val="solid"/>
          </a:ln>
        </p:spPr>
        <p:txBody>
          <a:bodyPr/>
          <a:lstStyle/>
          <a:p>
            <a:endParaRPr lang="en-US"/>
          </a:p>
        </p:txBody>
      </p:sp>
      <p:sp>
        <p:nvSpPr>
          <p:cNvPr id="71" name="Text 69"/>
          <p:cNvSpPr/>
          <p:nvPr/>
        </p:nvSpPr>
        <p:spPr>
          <a:xfrm>
            <a:off x="5861230" y="7803548"/>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RRM.545</a:t>
            </a:r>
            <a:endParaRPr lang="en-US" sz="500" dirty="0"/>
          </a:p>
        </p:txBody>
      </p:sp>
      <p:sp>
        <p:nvSpPr>
          <p:cNvPr id="72" name="Text 70"/>
          <p:cNvSpPr/>
          <p:nvPr/>
        </p:nvSpPr>
        <p:spPr>
          <a:xfrm>
            <a:off x="2447494" y="5053793"/>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RRM.546</a:t>
            </a:r>
            <a:endParaRPr lang="en-US" sz="500" dirty="0"/>
          </a:p>
        </p:txBody>
      </p:sp>
      <p:sp>
        <p:nvSpPr>
          <p:cNvPr id="73" name="Text 71"/>
          <p:cNvSpPr/>
          <p:nvPr/>
        </p:nvSpPr>
        <p:spPr>
          <a:xfrm>
            <a:off x="7206469" y="6125968"/>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RRM.554</a:t>
            </a:r>
            <a:endParaRPr lang="en-US" sz="500" dirty="0"/>
          </a:p>
        </p:txBody>
      </p:sp>
      <p:sp>
        <p:nvSpPr>
          <p:cNvPr id="74" name="Text 72"/>
          <p:cNvSpPr/>
          <p:nvPr/>
        </p:nvSpPr>
        <p:spPr>
          <a:xfrm>
            <a:off x="1730110" y="1728009"/>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RRM.556</a:t>
            </a:r>
            <a:endParaRPr lang="en-US" sz="500" dirty="0"/>
          </a:p>
        </p:txBody>
      </p:sp>
      <p:sp>
        <p:nvSpPr>
          <p:cNvPr id="75" name="Text 73"/>
          <p:cNvSpPr/>
          <p:nvPr/>
        </p:nvSpPr>
        <p:spPr>
          <a:xfrm>
            <a:off x="2563156" y="1917067"/>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X_CV_STH_PITS &amp;.24043</a:t>
            </a:r>
            <a:endParaRPr lang="en-US" sz="500" dirty="0"/>
          </a:p>
        </p:txBody>
      </p:sp>
      <p:sp>
        <p:nvSpPr>
          <p:cNvPr id="76" name="Text 74"/>
          <p:cNvSpPr/>
          <p:nvPr/>
        </p:nvSpPr>
        <p:spPr>
          <a:xfrm>
            <a:off x="9261112" y="9242438"/>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TCCECH.03.010</a:t>
            </a:r>
            <a:endParaRPr lang="en-US" sz="500" dirty="0"/>
          </a:p>
        </p:txBody>
      </p:sp>
      <p:sp>
        <p:nvSpPr>
          <p:cNvPr id="77" name="Text 75"/>
          <p:cNvSpPr/>
          <p:nvPr/>
        </p:nvSpPr>
        <p:spPr>
          <a:xfrm>
            <a:off x="8234272" y="8418336"/>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TCCECH.04.009</a:t>
            </a:r>
            <a:endParaRPr lang="en-US" sz="500" dirty="0"/>
          </a:p>
        </p:txBody>
      </p:sp>
      <p:sp>
        <p:nvSpPr>
          <p:cNvPr id="78" name="Text 76"/>
          <p:cNvSpPr/>
          <p:nvPr/>
        </p:nvSpPr>
        <p:spPr>
          <a:xfrm>
            <a:off x="4128845" y="5122191"/>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TCCECH.04.007</a:t>
            </a:r>
            <a:endParaRPr lang="en-US" sz="500" dirty="0"/>
          </a:p>
        </p:txBody>
      </p:sp>
      <p:sp>
        <p:nvSpPr>
          <p:cNvPr id="79" name="Text 77"/>
          <p:cNvSpPr/>
          <p:nvPr/>
        </p:nvSpPr>
        <p:spPr>
          <a:xfrm>
            <a:off x="3104373" y="4298615"/>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TCCECH.03.007</a:t>
            </a:r>
            <a:endParaRPr lang="en-US" sz="500" dirty="0"/>
          </a:p>
        </p:txBody>
      </p:sp>
      <p:sp>
        <p:nvSpPr>
          <p:cNvPr id="80" name="Text 78"/>
          <p:cNvSpPr/>
          <p:nvPr/>
        </p:nvSpPr>
        <p:spPr>
          <a:xfrm>
            <a:off x="2077885" y="3476267"/>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TCCECH.04.006</a:t>
            </a:r>
            <a:endParaRPr lang="en-US" sz="500" dirty="0"/>
          </a:p>
        </p:txBody>
      </p:sp>
      <p:sp>
        <p:nvSpPr>
          <p:cNvPr id="81" name="Text 79"/>
          <p:cNvSpPr/>
          <p:nvPr/>
        </p:nvSpPr>
        <p:spPr>
          <a:xfrm>
            <a:off x="1051484" y="2652691"/>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TCCECH.03.006</a:t>
            </a:r>
            <a:endParaRPr lang="en-US" sz="500" dirty="0"/>
          </a:p>
        </p:txBody>
      </p:sp>
      <p:sp>
        <p:nvSpPr>
          <p:cNvPr id="82" name="Text 80"/>
          <p:cNvSpPr/>
          <p:nvPr/>
        </p:nvSpPr>
        <p:spPr>
          <a:xfrm>
            <a:off x="5155684" y="5947257"/>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TCCECH.03.008</a:t>
            </a:r>
            <a:endParaRPr lang="en-US" sz="500" dirty="0"/>
          </a:p>
        </p:txBody>
      </p:sp>
      <p:sp>
        <p:nvSpPr>
          <p:cNvPr id="83" name="Text 81"/>
          <p:cNvSpPr/>
          <p:nvPr/>
        </p:nvSpPr>
        <p:spPr>
          <a:xfrm>
            <a:off x="6182699" y="6770570"/>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TCCECH.04.008</a:t>
            </a:r>
            <a:endParaRPr lang="en-US" sz="500" dirty="0"/>
          </a:p>
        </p:txBody>
      </p:sp>
      <p:sp>
        <p:nvSpPr>
          <p:cNvPr id="84" name="Text 82"/>
          <p:cNvSpPr/>
          <p:nvPr/>
        </p:nvSpPr>
        <p:spPr>
          <a:xfrm>
            <a:off x="7207433" y="7593445"/>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TCCECH.03.009</a:t>
            </a:r>
            <a:endParaRPr lang="en-US" sz="500" dirty="0"/>
          </a:p>
        </p:txBody>
      </p:sp>
      <p:sp>
        <p:nvSpPr>
          <p:cNvPr id="85" name="Text 83"/>
          <p:cNvSpPr/>
          <p:nvPr/>
        </p:nvSpPr>
        <p:spPr>
          <a:xfrm>
            <a:off x="5657792" y="4078427"/>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P2.002</a:t>
            </a:r>
            <a:endParaRPr lang="en-US" sz="500" dirty="0"/>
          </a:p>
        </p:txBody>
      </p:sp>
      <p:sp>
        <p:nvSpPr>
          <p:cNvPr id="86" name="Text 84"/>
          <p:cNvSpPr/>
          <p:nvPr/>
        </p:nvSpPr>
        <p:spPr>
          <a:xfrm>
            <a:off x="6003199" y="3646997"/>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HH.E.055</a:t>
            </a:r>
            <a:endParaRPr lang="en-US" sz="500" dirty="0"/>
          </a:p>
        </p:txBody>
      </p:sp>
      <p:sp>
        <p:nvSpPr>
          <p:cNvPr id="87" name="Text 85"/>
          <p:cNvSpPr/>
          <p:nvPr/>
        </p:nvSpPr>
        <p:spPr>
          <a:xfrm>
            <a:off x="4855875" y="2587713"/>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HH.E.056</a:t>
            </a:r>
            <a:endParaRPr lang="en-US" sz="500" dirty="0"/>
          </a:p>
        </p:txBody>
      </p:sp>
      <p:sp>
        <p:nvSpPr>
          <p:cNvPr id="88" name="Shape 86"/>
          <p:cNvSpPr/>
          <p:nvPr/>
        </p:nvSpPr>
        <p:spPr>
          <a:xfrm>
            <a:off x="2941094" y="4302062"/>
            <a:ext cx="210312" cy="210312"/>
          </a:xfrm>
          <a:prstGeom prst="ellipse">
            <a:avLst/>
          </a:prstGeom>
          <a:ln w="28575">
            <a:solidFill>
              <a:srgbClr val="0055CC"/>
            </a:solidFill>
            <a:prstDash val="solid"/>
          </a:ln>
        </p:spPr>
        <p:txBody>
          <a:bodyPr/>
          <a:lstStyle/>
          <a:p>
            <a:endParaRPr lang="en-US"/>
          </a:p>
        </p:txBody>
      </p:sp>
      <p:sp>
        <p:nvSpPr>
          <p:cNvPr id="89" name="Shape 87"/>
          <p:cNvSpPr/>
          <p:nvPr/>
        </p:nvSpPr>
        <p:spPr>
          <a:xfrm>
            <a:off x="2991386" y="4352354"/>
            <a:ext cx="109728" cy="109728"/>
          </a:xfrm>
          <a:prstGeom prst="ellipse">
            <a:avLst/>
          </a:prstGeom>
          <a:solidFill>
            <a:srgbClr val="1E8E3E"/>
          </a:solidFill>
          <a:ln w="6350">
            <a:solidFill>
              <a:srgbClr val="1E8E3E"/>
            </a:solidFill>
            <a:prstDash val="solid"/>
          </a:ln>
        </p:spPr>
        <p:txBody>
          <a:bodyPr/>
          <a:lstStyle/>
          <a:p>
            <a:endParaRPr lang="en-US"/>
          </a:p>
        </p:txBody>
      </p:sp>
      <p:sp>
        <p:nvSpPr>
          <p:cNvPr id="90" name="Text 88"/>
          <p:cNvSpPr/>
          <p:nvPr/>
        </p:nvSpPr>
        <p:spPr>
          <a:xfrm>
            <a:off x="3165122" y="4187762"/>
            <a:ext cx="1143000" cy="164592"/>
          </a:xfrm>
          <a:prstGeom prst="rect">
            <a:avLst/>
          </a:prstGeom>
          <a:noFill/>
          <a:ln/>
        </p:spPr>
        <p:txBody>
          <a:bodyPr wrap="square" lIns="0" tIns="0" rIns="0" bIns="0" rtlCol="0" anchor="ctr"/>
          <a:lstStyle/>
          <a:p>
            <a:pPr marL="0" indent="0">
              <a:buNone/>
            </a:pPr>
            <a:r>
              <a:rPr lang="en-US" sz="650" b="1" dirty="0">
                <a:solidFill>
                  <a:srgbClr val="1F2937"/>
                </a:solidFill>
                <a:latin typeface="Arial" pitchFamily="34" charset="0"/>
                <a:ea typeface="Arial" pitchFamily="34" charset="-122"/>
                <a:cs typeface="Arial" pitchFamily="34" charset="-120"/>
              </a:rPr>
              <a:t>TCCECH-03/007</a:t>
            </a:r>
            <a:endParaRPr lang="en-US" sz="650" dirty="0"/>
          </a:p>
        </p:txBody>
      </p:sp>
      <p:sp>
        <p:nvSpPr>
          <p:cNvPr id="91" name="Shape 89"/>
          <p:cNvSpPr/>
          <p:nvPr/>
        </p:nvSpPr>
        <p:spPr>
          <a:xfrm>
            <a:off x="3965566" y="5125637"/>
            <a:ext cx="210312" cy="210312"/>
          </a:xfrm>
          <a:prstGeom prst="ellipse">
            <a:avLst/>
          </a:prstGeom>
          <a:ln w="28575">
            <a:solidFill>
              <a:srgbClr val="0055CC"/>
            </a:solidFill>
            <a:prstDash val="solid"/>
          </a:ln>
        </p:spPr>
        <p:txBody>
          <a:bodyPr/>
          <a:lstStyle/>
          <a:p>
            <a:endParaRPr lang="en-US"/>
          </a:p>
        </p:txBody>
      </p:sp>
      <p:sp>
        <p:nvSpPr>
          <p:cNvPr id="92" name="Shape 90"/>
          <p:cNvSpPr/>
          <p:nvPr/>
        </p:nvSpPr>
        <p:spPr>
          <a:xfrm>
            <a:off x="4015858" y="5175929"/>
            <a:ext cx="109728" cy="109728"/>
          </a:xfrm>
          <a:prstGeom prst="ellipse">
            <a:avLst/>
          </a:prstGeom>
          <a:solidFill>
            <a:srgbClr val="1E8E3E"/>
          </a:solidFill>
          <a:ln w="6350">
            <a:solidFill>
              <a:srgbClr val="1E8E3E"/>
            </a:solidFill>
            <a:prstDash val="solid"/>
          </a:ln>
        </p:spPr>
        <p:txBody>
          <a:bodyPr/>
          <a:lstStyle/>
          <a:p>
            <a:endParaRPr lang="en-US"/>
          </a:p>
        </p:txBody>
      </p:sp>
      <p:sp>
        <p:nvSpPr>
          <p:cNvPr id="93" name="Text 91"/>
          <p:cNvSpPr/>
          <p:nvPr/>
        </p:nvSpPr>
        <p:spPr>
          <a:xfrm>
            <a:off x="4189594" y="5011337"/>
            <a:ext cx="1143000" cy="164592"/>
          </a:xfrm>
          <a:prstGeom prst="rect">
            <a:avLst/>
          </a:prstGeom>
          <a:noFill/>
          <a:ln/>
        </p:spPr>
        <p:txBody>
          <a:bodyPr wrap="square" lIns="0" tIns="0" rIns="0" bIns="0" rtlCol="0" anchor="ctr"/>
          <a:lstStyle/>
          <a:p>
            <a:pPr marL="0" indent="0">
              <a:buNone/>
            </a:pPr>
            <a:r>
              <a:rPr lang="en-US" sz="650" b="1" dirty="0">
                <a:solidFill>
                  <a:srgbClr val="1F2937"/>
                </a:solidFill>
                <a:latin typeface="Arial" pitchFamily="34" charset="0"/>
                <a:ea typeface="Arial" pitchFamily="34" charset="-122"/>
                <a:cs typeface="Arial" pitchFamily="34" charset="-120"/>
              </a:rPr>
              <a:t>TCCECH-04/007</a:t>
            </a:r>
            <a:endParaRPr lang="en-US" sz="650" dirty="0"/>
          </a:p>
        </p:txBody>
      </p:sp>
      <p:sp>
        <p:nvSpPr>
          <p:cNvPr id="94" name="Shape 92"/>
          <p:cNvSpPr/>
          <p:nvPr/>
        </p:nvSpPr>
        <p:spPr>
          <a:xfrm>
            <a:off x="4992405" y="5950704"/>
            <a:ext cx="210312" cy="210312"/>
          </a:xfrm>
          <a:prstGeom prst="ellipse">
            <a:avLst/>
          </a:prstGeom>
          <a:ln w="28575">
            <a:solidFill>
              <a:srgbClr val="0055CC"/>
            </a:solidFill>
            <a:prstDash val="solid"/>
          </a:ln>
        </p:spPr>
        <p:txBody>
          <a:bodyPr/>
          <a:lstStyle/>
          <a:p>
            <a:endParaRPr lang="en-US"/>
          </a:p>
        </p:txBody>
      </p:sp>
      <p:sp>
        <p:nvSpPr>
          <p:cNvPr id="95" name="Shape 93"/>
          <p:cNvSpPr/>
          <p:nvPr/>
        </p:nvSpPr>
        <p:spPr>
          <a:xfrm>
            <a:off x="5042697" y="6000996"/>
            <a:ext cx="109728" cy="109728"/>
          </a:xfrm>
          <a:prstGeom prst="ellipse">
            <a:avLst/>
          </a:prstGeom>
          <a:solidFill>
            <a:srgbClr val="1E8E3E"/>
          </a:solidFill>
          <a:ln w="6350">
            <a:solidFill>
              <a:srgbClr val="1E8E3E"/>
            </a:solidFill>
            <a:prstDash val="solid"/>
          </a:ln>
        </p:spPr>
        <p:txBody>
          <a:bodyPr/>
          <a:lstStyle/>
          <a:p>
            <a:endParaRPr lang="en-US"/>
          </a:p>
        </p:txBody>
      </p:sp>
      <p:sp>
        <p:nvSpPr>
          <p:cNvPr id="96" name="Text 94"/>
          <p:cNvSpPr/>
          <p:nvPr/>
        </p:nvSpPr>
        <p:spPr>
          <a:xfrm>
            <a:off x="5216433" y="5836404"/>
            <a:ext cx="1143000" cy="164592"/>
          </a:xfrm>
          <a:prstGeom prst="rect">
            <a:avLst/>
          </a:prstGeom>
          <a:noFill/>
          <a:ln/>
        </p:spPr>
        <p:txBody>
          <a:bodyPr wrap="square" lIns="0" tIns="0" rIns="0" bIns="0" rtlCol="0" anchor="ctr"/>
          <a:lstStyle/>
          <a:p>
            <a:pPr marL="0" indent="0">
              <a:buNone/>
            </a:pPr>
            <a:r>
              <a:rPr lang="en-US" sz="650" b="1" dirty="0">
                <a:solidFill>
                  <a:srgbClr val="1F2937"/>
                </a:solidFill>
                <a:latin typeface="Arial" pitchFamily="34" charset="0"/>
                <a:ea typeface="Arial" pitchFamily="34" charset="-122"/>
                <a:cs typeface="Arial" pitchFamily="34" charset="-120"/>
              </a:rPr>
              <a:t>TCCECH-03/008</a:t>
            </a:r>
            <a:endParaRPr lang="en-US" sz="650" dirty="0"/>
          </a:p>
        </p:txBody>
      </p:sp>
      <p:sp>
        <p:nvSpPr>
          <p:cNvPr id="97" name="Shape 95"/>
          <p:cNvSpPr/>
          <p:nvPr/>
        </p:nvSpPr>
        <p:spPr>
          <a:xfrm>
            <a:off x="6019419" y="6774017"/>
            <a:ext cx="210312" cy="210312"/>
          </a:xfrm>
          <a:prstGeom prst="ellipse">
            <a:avLst/>
          </a:prstGeom>
          <a:ln w="28575">
            <a:solidFill>
              <a:srgbClr val="0055CC"/>
            </a:solidFill>
            <a:prstDash val="solid"/>
          </a:ln>
        </p:spPr>
        <p:txBody>
          <a:bodyPr/>
          <a:lstStyle/>
          <a:p>
            <a:endParaRPr lang="en-US"/>
          </a:p>
        </p:txBody>
      </p:sp>
      <p:sp>
        <p:nvSpPr>
          <p:cNvPr id="98" name="Shape 96"/>
          <p:cNvSpPr/>
          <p:nvPr/>
        </p:nvSpPr>
        <p:spPr>
          <a:xfrm>
            <a:off x="6069711" y="6824309"/>
            <a:ext cx="109728" cy="109728"/>
          </a:xfrm>
          <a:prstGeom prst="ellipse">
            <a:avLst/>
          </a:prstGeom>
          <a:solidFill>
            <a:srgbClr val="1E8E3E"/>
          </a:solidFill>
          <a:ln w="6350">
            <a:solidFill>
              <a:srgbClr val="1E8E3E"/>
            </a:solidFill>
            <a:prstDash val="solid"/>
          </a:ln>
        </p:spPr>
        <p:txBody>
          <a:bodyPr/>
          <a:lstStyle/>
          <a:p>
            <a:endParaRPr lang="en-US"/>
          </a:p>
        </p:txBody>
      </p:sp>
      <p:sp>
        <p:nvSpPr>
          <p:cNvPr id="99" name="Text 97"/>
          <p:cNvSpPr/>
          <p:nvPr/>
        </p:nvSpPr>
        <p:spPr>
          <a:xfrm>
            <a:off x="6243447" y="6659717"/>
            <a:ext cx="1143000" cy="164592"/>
          </a:xfrm>
          <a:prstGeom prst="rect">
            <a:avLst/>
          </a:prstGeom>
          <a:noFill/>
          <a:ln/>
        </p:spPr>
        <p:txBody>
          <a:bodyPr wrap="square" lIns="0" tIns="0" rIns="0" bIns="0" rtlCol="0" anchor="ctr"/>
          <a:lstStyle/>
          <a:p>
            <a:pPr marL="0" indent="0">
              <a:buNone/>
            </a:pPr>
            <a:r>
              <a:rPr lang="en-US" sz="650" b="1" dirty="0">
                <a:solidFill>
                  <a:srgbClr val="1F2937"/>
                </a:solidFill>
                <a:latin typeface="Arial" pitchFamily="34" charset="0"/>
                <a:ea typeface="Arial" pitchFamily="34" charset="-122"/>
                <a:cs typeface="Arial" pitchFamily="34" charset="-120"/>
              </a:rPr>
              <a:t>TCCECH-04/008</a:t>
            </a:r>
            <a:endParaRPr lang="en-US" sz="650" dirty="0"/>
          </a:p>
        </p:txBody>
      </p:sp>
      <p:sp>
        <p:nvSpPr>
          <p:cNvPr id="100" name="Shape 98"/>
          <p:cNvSpPr/>
          <p:nvPr/>
        </p:nvSpPr>
        <p:spPr>
          <a:xfrm>
            <a:off x="7044154" y="7596891"/>
            <a:ext cx="210312" cy="210312"/>
          </a:xfrm>
          <a:prstGeom prst="ellipse">
            <a:avLst/>
          </a:prstGeom>
          <a:ln w="28575">
            <a:solidFill>
              <a:srgbClr val="0055CC"/>
            </a:solidFill>
            <a:prstDash val="solid"/>
          </a:ln>
        </p:spPr>
        <p:txBody>
          <a:bodyPr/>
          <a:lstStyle/>
          <a:p>
            <a:endParaRPr lang="en-US"/>
          </a:p>
        </p:txBody>
      </p:sp>
      <p:sp>
        <p:nvSpPr>
          <p:cNvPr id="101" name="Shape 99"/>
          <p:cNvSpPr/>
          <p:nvPr/>
        </p:nvSpPr>
        <p:spPr>
          <a:xfrm>
            <a:off x="7094446" y="7647183"/>
            <a:ext cx="109728" cy="109728"/>
          </a:xfrm>
          <a:prstGeom prst="ellipse">
            <a:avLst/>
          </a:prstGeom>
          <a:solidFill>
            <a:srgbClr val="1E8E3E"/>
          </a:solidFill>
          <a:ln w="6350">
            <a:solidFill>
              <a:srgbClr val="1E8E3E"/>
            </a:solidFill>
            <a:prstDash val="solid"/>
          </a:ln>
        </p:spPr>
        <p:txBody>
          <a:bodyPr/>
          <a:lstStyle/>
          <a:p>
            <a:endParaRPr lang="en-US"/>
          </a:p>
        </p:txBody>
      </p:sp>
      <p:sp>
        <p:nvSpPr>
          <p:cNvPr id="102" name="Text 100"/>
          <p:cNvSpPr/>
          <p:nvPr/>
        </p:nvSpPr>
        <p:spPr>
          <a:xfrm>
            <a:off x="7268182" y="7482591"/>
            <a:ext cx="1143000" cy="164592"/>
          </a:xfrm>
          <a:prstGeom prst="rect">
            <a:avLst/>
          </a:prstGeom>
          <a:noFill/>
          <a:ln/>
        </p:spPr>
        <p:txBody>
          <a:bodyPr wrap="square" lIns="0" tIns="0" rIns="0" bIns="0" rtlCol="0" anchor="ctr"/>
          <a:lstStyle/>
          <a:p>
            <a:pPr marL="0" indent="0">
              <a:buNone/>
            </a:pPr>
            <a:r>
              <a:rPr lang="en-US" sz="650" b="1" dirty="0">
                <a:solidFill>
                  <a:srgbClr val="1F2937"/>
                </a:solidFill>
                <a:latin typeface="Arial" pitchFamily="34" charset="0"/>
                <a:ea typeface="Arial" pitchFamily="34" charset="-122"/>
                <a:cs typeface="Arial" pitchFamily="34" charset="-120"/>
              </a:rPr>
              <a:t>TCCECH-03/009</a:t>
            </a:r>
            <a:endParaRPr lang="en-US" sz="650" dirty="0"/>
          </a:p>
        </p:txBody>
      </p:sp>
      <p:sp>
        <p:nvSpPr>
          <p:cNvPr id="103" name="Shape 101"/>
          <p:cNvSpPr/>
          <p:nvPr/>
        </p:nvSpPr>
        <p:spPr>
          <a:xfrm>
            <a:off x="3620509" y="3379485"/>
            <a:ext cx="210312" cy="210312"/>
          </a:xfrm>
          <a:prstGeom prst="ellipse">
            <a:avLst/>
          </a:prstGeom>
          <a:ln w="28575">
            <a:solidFill>
              <a:srgbClr val="BB00BB"/>
            </a:solidFill>
            <a:prstDash val="solid"/>
          </a:ln>
        </p:spPr>
        <p:txBody>
          <a:bodyPr/>
          <a:lstStyle/>
          <a:p>
            <a:endParaRPr lang="en-US"/>
          </a:p>
        </p:txBody>
      </p:sp>
      <p:sp>
        <p:nvSpPr>
          <p:cNvPr id="104" name="Shape 102"/>
          <p:cNvSpPr/>
          <p:nvPr/>
        </p:nvSpPr>
        <p:spPr>
          <a:xfrm>
            <a:off x="3670801" y="3429777"/>
            <a:ext cx="109728" cy="109728"/>
          </a:xfrm>
          <a:prstGeom prst="ellipse">
            <a:avLst/>
          </a:prstGeom>
          <a:solidFill>
            <a:srgbClr val="FFFFFF"/>
          </a:solidFill>
          <a:ln w="6350">
            <a:solidFill>
              <a:srgbClr val="FFFFFF"/>
            </a:solidFill>
            <a:prstDash val="solid"/>
          </a:ln>
        </p:spPr>
        <p:txBody>
          <a:bodyPr/>
          <a:lstStyle/>
          <a:p>
            <a:endParaRPr lang="en-US"/>
          </a:p>
        </p:txBody>
      </p:sp>
      <p:sp>
        <p:nvSpPr>
          <p:cNvPr id="105" name="Text 103"/>
          <p:cNvSpPr/>
          <p:nvPr/>
        </p:nvSpPr>
        <p:spPr>
          <a:xfrm>
            <a:off x="3844537" y="3265185"/>
            <a:ext cx="1143000" cy="164592"/>
          </a:xfrm>
          <a:prstGeom prst="rect">
            <a:avLst/>
          </a:prstGeom>
          <a:noFill/>
          <a:ln/>
        </p:spPr>
        <p:txBody>
          <a:bodyPr wrap="square" lIns="0" tIns="0" rIns="0" bIns="0" rtlCol="0" anchor="ctr"/>
          <a:lstStyle/>
          <a:p>
            <a:pPr marL="0" indent="0">
              <a:buNone/>
            </a:pPr>
            <a:r>
              <a:rPr lang="en-US" sz="650" b="1" dirty="0">
                <a:solidFill>
                  <a:srgbClr val="1F2937"/>
                </a:solidFill>
                <a:latin typeface="Arial" pitchFamily="34" charset="0"/>
                <a:ea typeface="Arial" pitchFamily="34" charset="-122"/>
                <a:cs typeface="Arial" pitchFamily="34" charset="-120"/>
              </a:rPr>
              <a:t>RRM.555</a:t>
            </a:r>
            <a:endParaRPr lang="en-US" sz="650" dirty="0"/>
          </a:p>
        </p:txBody>
      </p:sp>
      <p:sp>
        <p:nvSpPr>
          <p:cNvPr id="106" name="Shape 104"/>
          <p:cNvSpPr/>
          <p:nvPr/>
        </p:nvSpPr>
        <p:spPr>
          <a:xfrm>
            <a:off x="10104120" y="777240"/>
            <a:ext cx="4709160" cy="1170432"/>
          </a:xfrm>
          <a:prstGeom prst="rect">
            <a:avLst/>
          </a:prstGeom>
          <a:solidFill>
            <a:srgbClr val="1E2761"/>
          </a:solidFill>
          <a:ln w="9525">
            <a:solidFill>
              <a:srgbClr val="D5DAE0"/>
            </a:solidFill>
            <a:prstDash val="solid"/>
          </a:ln>
        </p:spPr>
        <p:txBody>
          <a:bodyPr/>
          <a:lstStyle/>
          <a:p>
            <a:endParaRPr lang="en-US"/>
          </a:p>
        </p:txBody>
      </p:sp>
      <p:sp>
        <p:nvSpPr>
          <p:cNvPr id="107" name="Text 105"/>
          <p:cNvSpPr/>
          <p:nvPr/>
        </p:nvSpPr>
        <p:spPr>
          <a:xfrm>
            <a:off x="10241280" y="868680"/>
            <a:ext cx="4434840" cy="274320"/>
          </a:xfrm>
          <a:prstGeom prst="rect">
            <a:avLst/>
          </a:prstGeom>
          <a:noFill/>
          <a:ln/>
        </p:spPr>
        <p:txBody>
          <a:bodyPr wrap="square" lIns="0" tIns="0" rIns="0" bIns="0" rtlCol="0" anchor="ctr"/>
          <a:lstStyle/>
          <a:p>
            <a:pPr marL="0" indent="0">
              <a:buNone/>
            </a:pPr>
            <a:r>
              <a:rPr lang="en-US" sz="1250" b="1" dirty="0">
                <a:solidFill>
                  <a:srgbClr val="FFFFFF"/>
                </a:solidFill>
                <a:latin typeface="Arial" pitchFamily="34" charset="0"/>
                <a:ea typeface="Arial" pitchFamily="34" charset="-122"/>
                <a:cs typeface="Arial" pitchFamily="34" charset="-120"/>
              </a:rPr>
              <a:t>LOCATION 2 — 1002  ·  REV P06 (EDITABLE)</a:t>
            </a:r>
            <a:endParaRPr lang="en-US" sz="1250" dirty="0"/>
          </a:p>
        </p:txBody>
      </p:sp>
      <p:sp>
        <p:nvSpPr>
          <p:cNvPr id="108" name="Text 106"/>
          <p:cNvSpPr/>
          <p:nvPr/>
        </p:nvSpPr>
        <p:spPr>
          <a:xfrm>
            <a:off x="10241280" y="1179576"/>
            <a:ext cx="4434840" cy="384048"/>
          </a:xfrm>
          <a:prstGeom prst="rect">
            <a:avLst/>
          </a:prstGeom>
          <a:noFill/>
          <a:ln/>
        </p:spPr>
        <p:txBody>
          <a:bodyPr wrap="square" lIns="0" tIns="0" rIns="0" bIns="0" rtlCol="0" anchor="ctr"/>
          <a:lstStyle/>
          <a:p>
            <a:pPr marL="0" indent="0">
              <a:buNone/>
            </a:pPr>
            <a:r>
              <a:rPr lang="en-US" sz="800" dirty="0">
                <a:solidFill>
                  <a:srgbClr val="CADCFC"/>
                </a:solidFill>
                <a:latin typeface="Arial" pitchFamily="34" charset="0"/>
                <a:ea typeface="Arial" pitchFamily="34" charset="-122"/>
                <a:cs typeface="Arial" pitchFamily="34" charset="-120"/>
              </a:rPr>
              <a:t>SCOPE PER FIELD SHEET Second_milling_area rev _1 — FIELD CONDITION GOVERNS</a:t>
            </a:r>
            <a:endParaRPr lang="en-US" sz="800" dirty="0"/>
          </a:p>
        </p:txBody>
      </p:sp>
      <p:sp>
        <p:nvSpPr>
          <p:cNvPr id="109" name="Text 107"/>
          <p:cNvSpPr/>
          <p:nvPr/>
        </p:nvSpPr>
        <p:spPr>
          <a:xfrm>
            <a:off x="10241280" y="1600200"/>
            <a:ext cx="4434840" cy="310896"/>
          </a:xfrm>
          <a:prstGeom prst="rect">
            <a:avLst/>
          </a:prstGeom>
          <a:noFill/>
          <a:ln/>
        </p:spPr>
        <p:txBody>
          <a:bodyPr wrap="square" lIns="0" tIns="0" rIns="0" bIns="0" rtlCol="0" anchor="ctr"/>
          <a:lstStyle/>
          <a:p>
            <a:pPr marL="0" indent="0">
              <a:buNone/>
            </a:pPr>
            <a:endParaRPr lang="en-US" sz="700" dirty="0"/>
            <a:r>
              <a:rPr lang="en-US" sz="700" dirty="0">
                <a:solidFill>
                  <a:srgbClr val="CADCFC"/>
                </a:solidFill>
                <a:latin typeface="Arial" pitchFamily="34" charset="0"/>
                <a:ea typeface="Arial" pitchFamily="34" charset="-122"/>
                <a:cs typeface="Arial" pitchFamily="34" charset="-120"/>
              </a:rPr>
              <a:t>Frame 108.9 m across · ZIA local grid (m) · duct geometry from Z1-Z2-Z3-MTA_SEGMENTATION source dwg · Rev P06 · Prepared: Mohammed, AGL Team Leader — ADB SAFEGATE</a:t>
            </a:r>
          </a:p>
        </p:txBody>
      </p:sp>
      <p:sp>
        <p:nvSpPr>
          <p:cNvPr id="110" name="Shape 108"/>
          <p:cNvSpPr/>
          <p:nvPr/>
        </p:nvSpPr>
        <p:spPr>
          <a:xfrm>
            <a:off x="10104120" y="2057400"/>
            <a:ext cx="4709160" cy="2040026"/>
          </a:xfrm>
          <a:prstGeom prst="rect">
            <a:avLst/>
          </a:prstGeom>
          <a:solidFill>
            <a:srgbClr val="F4F6F8"/>
          </a:solidFill>
          <a:ln w="9525">
            <a:solidFill>
              <a:srgbClr val="D5DAE0"/>
            </a:solidFill>
            <a:prstDash val="solid"/>
          </a:ln>
        </p:spPr>
        <p:txBody>
          <a:bodyPr/>
          <a:lstStyle/>
          <a:p>
            <a:endParaRPr lang="en-US"/>
          </a:p>
        </p:txBody>
      </p:sp>
      <p:sp>
        <p:nvSpPr>
          <p:cNvPr id="111" name="Text 109"/>
          <p:cNvSpPr/>
          <p:nvPr/>
        </p:nvSpPr>
        <p:spPr>
          <a:xfrm>
            <a:off x="10241280" y="2130552"/>
            <a:ext cx="4434840" cy="219456"/>
          </a:xfrm>
          <a:prstGeom prst="rect">
            <a:avLst/>
          </a:prstGeom>
          <a:noFill/>
          <a:ln/>
        </p:spPr>
        <p:txBody>
          <a:bodyPr wrap="square" lIns="0" tIns="0" rIns="0" bIns="0" rtlCol="0" anchor="ctr"/>
          <a:lstStyle/>
          <a:p>
            <a:pPr marL="0" indent="0">
              <a:buNone/>
            </a:pPr>
            <a:r>
              <a:rPr lang="en-US" sz="950" b="1" dirty="0">
                <a:solidFill>
                  <a:srgbClr val="1E2761"/>
                </a:solidFill>
                <a:latin typeface="Arial" pitchFamily="34" charset="0"/>
                <a:ea typeface="Arial" pitchFamily="34" charset="-122"/>
                <a:cs typeface="Arial" pitchFamily="34" charset="-120"/>
              </a:rPr>
              <a:t>SCOPE / QUANTITIES (PER FIELD VERIFICATION)</a:t>
            </a:r>
            <a:endParaRPr lang="en-US" sz="950" dirty="0"/>
          </a:p>
        </p:txBody>
      </p:sp>
      <p:sp>
        <p:nvSpPr>
          <p:cNvPr id="112" name="Text 110"/>
          <p:cNvSpPr/>
          <p:nvPr/>
        </p:nvSpPr>
        <p:spPr>
          <a:xfrm>
            <a:off x="10241280" y="2386584"/>
            <a:ext cx="4434840" cy="1655978"/>
          </a:xfrm>
          <a:prstGeom prst="rect">
            <a:avLst/>
          </a:prstGeom>
          <a:noFill/>
          <a:ln/>
        </p:spPr>
        <p:txBody>
          <a:bodyPr wrap="square" lIns="0" tIns="0" rIns="0" bIns="0" rtlCol="0" anchor="ctr"/>
          <a:lstStyle/>
          <a:p>
            <a:pPr marL="0" indent="0">
              <a:lnSpc>
                <a:spcPct val="112000"/>
              </a:lnSpc>
              <a:buNone/>
            </a:pPr>
            <a:r>
              <a:rPr lang="en-US" sz="760" dirty="0">
                <a:solidFill>
                  <a:srgbClr val="1F2937"/>
                </a:solidFill>
                <a:latin typeface="Arial" pitchFamily="34" charset="0"/>
                <a:ea typeface="Arial" pitchFamily="34" charset="-122"/>
                <a:cs typeface="Arial" pitchFamily="34" charset="-120"/>
              </a:rPr>
              <a:t>NEW SECONDARY CABLE ONLY (VIA DUCT): 5 No.</a:t>
            </a:r>
            <a:endParaRPr lang="en-US" sz="760" dirty="0"/>
          </a:p>
          <a:p>
            <a:pPr marL="0" indent="0">
              <a:lnSpc>
                <a:spcPct val="112000"/>
              </a:lnSpc>
              <a:buNone/>
            </a:pPr>
            <a:r>
              <a:rPr lang="en-US" sz="760" dirty="0">
                <a:solidFill>
                  <a:srgbClr val="1F2937"/>
                </a:solidFill>
                <a:latin typeface="Arial" pitchFamily="34" charset="0"/>
                <a:ea typeface="Arial" pitchFamily="34" charset="-122"/>
                <a:cs typeface="Arial" pitchFamily="34" charset="-120"/>
              </a:rPr>
              <a:t>   • TCCECH-03/007, 04/007, 03/008, 04/008, 03/009</a:t>
            </a:r>
            <a:endParaRPr lang="en-US" sz="760" dirty="0"/>
          </a:p>
          <a:p>
            <a:pPr marL="0" indent="0">
              <a:lnSpc>
                <a:spcPct val="112000"/>
              </a:lnSpc>
              <a:buNone/>
            </a:pPr>
            <a:r>
              <a:rPr lang="en-US" sz="760" dirty="0">
                <a:solidFill>
                  <a:srgbClr val="1F2937"/>
                </a:solidFill>
                <a:latin typeface="Arial" pitchFamily="34" charset="0"/>
                <a:ea typeface="Arial" pitchFamily="34" charset="-122"/>
                <a:cs typeface="Arial" pitchFamily="34" charset="-120"/>
              </a:rPr>
              <a:t>NO SHALLOW BASES AFFECTED AT THIS LOCATION</a:t>
            </a:r>
            <a:endParaRPr lang="en-US" sz="760" dirty="0"/>
          </a:p>
          <a:p>
            <a:pPr marL="0" indent="0">
              <a:lnSpc>
                <a:spcPct val="112000"/>
              </a:lnSpc>
              <a:buNone/>
            </a:pPr>
            <a:r>
              <a:rPr lang="en-US" sz="760" dirty="0">
                <a:solidFill>
                  <a:srgbClr val="1F2937"/>
                </a:solidFill>
                <a:latin typeface="Arial" pitchFamily="34" charset="0"/>
                <a:ea typeface="Arial" pitchFamily="34" charset="-122"/>
                <a:cs typeface="Arial" pitchFamily="34" charset="-120"/>
              </a:rPr>
              <a:t>SECONDARY DUCT: CHAINED RUN HH.E.056 → 03/007 → 04/007 → 03/008 → 04/008 → 03/009 → HH.E.054</a:t>
            </a:r>
            <a:endParaRPr lang="en-US" sz="760" dirty="0"/>
          </a:p>
          <a:p>
            <a:pPr marL="0" indent="0">
              <a:lnSpc>
                <a:spcPct val="112000"/>
              </a:lnSpc>
              <a:buNone/>
            </a:pPr>
            <a:r>
              <a:rPr lang="en-US" sz="760" dirty="0">
                <a:solidFill>
                  <a:srgbClr val="1F2937"/>
                </a:solidFill>
                <a:latin typeface="Arial" pitchFamily="34" charset="0"/>
                <a:ea typeface="Arial" pitchFamily="34" charset="-122"/>
                <a:cs typeface="Arial" pitchFamily="34" charset="-120"/>
              </a:rPr>
              <a:t>   + SPUR FROM HH.E.055 — INDICATIVE, CONFIRM VS DUCT-LAYOUT CAD (REV B)</a:t>
            </a:r>
            <a:endParaRPr lang="en-US" sz="760" dirty="0"/>
          </a:p>
          <a:p>
            <a:pPr marL="0" indent="0">
              <a:lnSpc>
                <a:spcPct val="112000"/>
              </a:lnSpc>
              <a:buNone/>
            </a:pPr>
            <a:r>
              <a:rPr lang="en-US" sz="760" dirty="0">
                <a:solidFill>
                  <a:srgbClr val="1F2937"/>
                </a:solidFill>
                <a:latin typeface="Arial" pitchFamily="34" charset="0"/>
                <a:ea typeface="Arial" pitchFamily="34" charset="-122"/>
                <a:cs typeface="Arial" pitchFamily="34" charset="-120"/>
              </a:rPr>
              <a:t>RRM.555 (0.41 m from cut): REMOVE / PROTECT BEFORE SAWCUT, RE-FIX AFTER PAVING</a:t>
            </a:r>
            <a:endParaRPr lang="en-US" sz="760" dirty="0"/>
          </a:p>
          <a:p>
            <a:pPr marL="0" indent="0">
              <a:lnSpc>
                <a:spcPct val="112000"/>
              </a:lnSpc>
              <a:buNone/>
            </a:pPr>
            <a:r>
              <a:rPr lang="en-US" sz="760" dirty="0">
                <a:solidFill>
                  <a:srgbClr val="1F2937"/>
                </a:solidFill>
                <a:latin typeface="Arial" pitchFamily="34" charset="0"/>
                <a:ea typeface="Arial" pitchFamily="34" charset="-122"/>
                <a:cs typeface="Arial" pitchFamily="34" charset="-120"/>
              </a:rPr>
              <a:t>ISOLATE CIRCUITS: TCCECH.03, TCCECH.04</a:t>
            </a:r>
            <a:endParaRPr lang="en-US" sz="760" dirty="0"/>
          </a:p>
        </p:txBody>
      </p:sp>
      <p:sp>
        <p:nvSpPr>
          <p:cNvPr id="113" name="Shape 111"/>
          <p:cNvSpPr/>
          <p:nvPr/>
        </p:nvSpPr>
        <p:spPr>
          <a:xfrm>
            <a:off x="10104120" y="4207154"/>
            <a:ext cx="4709160" cy="2267712"/>
          </a:xfrm>
          <a:prstGeom prst="rect">
            <a:avLst/>
          </a:prstGeom>
          <a:solidFill>
            <a:srgbClr val="FFFFFF"/>
          </a:solidFill>
          <a:ln w="9525">
            <a:solidFill>
              <a:srgbClr val="D5DAE0"/>
            </a:solidFill>
            <a:prstDash val="solid"/>
          </a:ln>
        </p:spPr>
        <p:txBody>
          <a:bodyPr/>
          <a:lstStyle/>
          <a:p>
            <a:endParaRPr lang="en-US"/>
          </a:p>
        </p:txBody>
      </p:sp>
      <p:sp>
        <p:nvSpPr>
          <p:cNvPr id="114" name="Text 112"/>
          <p:cNvSpPr/>
          <p:nvPr/>
        </p:nvSpPr>
        <p:spPr>
          <a:xfrm>
            <a:off x="10241280" y="4280306"/>
            <a:ext cx="4434840" cy="219456"/>
          </a:xfrm>
          <a:prstGeom prst="rect">
            <a:avLst/>
          </a:prstGeom>
          <a:noFill/>
          <a:ln/>
        </p:spPr>
        <p:txBody>
          <a:bodyPr wrap="square" lIns="0" tIns="0" rIns="0" bIns="0" rtlCol="0" anchor="ctr"/>
          <a:lstStyle/>
          <a:p>
            <a:pPr marL="0" indent="0">
              <a:buNone/>
            </a:pPr>
            <a:r>
              <a:rPr lang="en-US" sz="950" b="1" dirty="0">
                <a:solidFill>
                  <a:srgbClr val="1E2761"/>
                </a:solidFill>
                <a:latin typeface="Arial" pitchFamily="34" charset="0"/>
                <a:ea typeface="Arial" pitchFamily="34" charset="-122"/>
                <a:cs typeface="Arial" pitchFamily="34" charset="-120"/>
              </a:rPr>
              <a:t>GENERAL NOTES</a:t>
            </a:r>
            <a:endParaRPr lang="en-US" sz="950" dirty="0"/>
          </a:p>
        </p:txBody>
      </p:sp>
      <p:sp>
        <p:nvSpPr>
          <p:cNvPr id="115" name="Text 113"/>
          <p:cNvSpPr/>
          <p:nvPr/>
        </p:nvSpPr>
        <p:spPr>
          <a:xfrm>
            <a:off x="10241280" y="4536338"/>
            <a:ext cx="4434840" cy="1883664"/>
          </a:xfrm>
          <a:prstGeom prst="rect">
            <a:avLst/>
          </a:prstGeom>
          <a:noFill/>
          <a:ln/>
        </p:spPr>
        <p:txBody>
          <a:bodyPr wrap="square" lIns="0" tIns="0" rIns="0" bIns="0" rtlCol="0" anchor="t"/>
          <a:lstStyle/>
          <a:p>
            <a:pPr marL="0" indent="0">
              <a:lnSpc>
                <a:spcPct val="110000"/>
              </a:lnSpc>
              <a:buNone/>
            </a:pPr>
            <a:endParaRPr lang="en-US" sz="680" dirty="0"/>
            <a:r>
              <a:rPr lang="en-US" sz="800" dirty="0">
                <a:solidFill>
                  <a:srgbClr val="5F6368"/>
                </a:solidFill>
                <a:latin typeface="Arial" pitchFamily="34" charset="0"/>
                <a:ea typeface="Arial" pitchFamily="34" charset="-122"/>
                <a:cs typeface="Arial" pitchFamily="34" charset="-120"/>
              </a:rPr>
              <a:t>1. Positions plotted are ZIA LOCAL PROJECT GRID metres — NOT UTM 40N. The Rev P06 "EPSG:32640" label was wrong; no surveyed local-to-UTM transform exists. Do not issue a UTM coordinate from this sheet.</a:t>
            </a:r>
          </a:p>
          <a:p>
            <a:pPr marL="0" indent="0">
              <a:lnSpc>
                <a:spcPct val="110000"/>
              </a:lnSpc>
              <a:buNone/>
            </a:pPr>
            <a:r>
              <a:rPr lang="en-US" sz="800" dirty="0">
                <a:solidFill>
                  <a:srgbClr val="5F6368"/>
                </a:solidFill>
                <a:latin typeface="Arial" pitchFamily="34" charset="0"/>
                <a:ea typeface="Arial" pitchFamily="34" charset="-122"/>
                <a:cs typeface="Arial" pitchFamily="34" charset="-120"/>
              </a:rPr>
              <a:t>2. AGL works area (red) per field condition. Coring at Location 1 only.</a:t>
            </a:r>
          </a:p>
          <a:p>
            <a:pPr marL="0" indent="0">
              <a:lnSpc>
                <a:spcPct val="110000"/>
              </a:lnSpc>
              <a:buNone/>
            </a:pPr>
            <a:r>
              <a:rPr lang="en-US" sz="800" dirty="0">
                <a:solidFill>
                  <a:srgbClr val="5F6368"/>
                </a:solidFill>
                <a:latin typeface="Arial" pitchFamily="34" charset="0"/>
                <a:ea typeface="Arial" pitchFamily="34" charset="-122"/>
                <a:cs typeface="Arial" pitchFamily="34" charset="-120"/>
              </a:rPr>
              <a:t>3. Duct / ductbank / conduit / sawcut lines are REAL as-built geometry from ADA drawing Z1-Z2-Z3-MTA_SEGMENTATION.dxf — not light-to-nearest-pit construction lines. Layer name carries size and way-count; see sheet 6.</a:t>
            </a:r>
          </a:p>
          <a:p>
            <a:pPr marL="0" indent="0">
              <a:lnSpc>
                <a:spcPct val="110000"/>
              </a:lnSpc>
              <a:buNone/>
            </a:pPr>
            <a:r>
              <a:rPr lang="en-US" sz="800" dirty="0">
                <a:solidFill>
                  <a:srgbClr val="5F6368"/>
                </a:solidFill>
                <a:latin typeface="Arial" pitchFamily="34" charset="0"/>
                <a:ea typeface="Arial" pitchFamily="34" charset="-122"/>
                <a:cs typeface="Arial" pitchFamily="34" charset="-120"/>
              </a:rPr>
              <a:t>4. Ducts are drawn as the separate segments they are in the source. Continuity NOT proven — do not take a continuous pull length off this sheet.</a:t>
            </a:r>
          </a:p>
          <a:p>
            <a:pPr marL="0" indent="0">
              <a:lnSpc>
                <a:spcPct val="110000"/>
              </a:lnSpc>
              <a:buNone/>
            </a:pPr>
            <a:r>
              <a:rPr lang="en-US" sz="800" dirty="0">
                <a:solidFill>
                  <a:srgbClr val="5F6368"/>
                </a:solidFill>
                <a:latin typeface="Arial" pitchFamily="34" charset="0"/>
                <a:ea typeface="Arial" pitchFamily="34" charset="-122"/>
                <a:cs typeface="Arial" pitchFamily="34" charset="-120"/>
              </a:rPr>
              <a:t>5. Isolate, lock out &amp; prove dead all listed circuits at CCR under permit before cutting, coring or excavation.</a:t>
            </a:r>
          </a:p>
          <a:p>
            <a:pPr marL="0" indent="0">
              <a:lnSpc>
                <a:spcPct val="110000"/>
              </a:lnSpc>
              <a:buNone/>
            </a:pPr>
            <a:r>
              <a:rPr lang="en-US" sz="800" dirty="0">
                <a:solidFill>
                  <a:srgbClr val="5F6368"/>
                </a:solidFill>
                <a:latin typeface="Arial" pitchFamily="34" charset="0"/>
                <a:ea typeface="Arial" pitchFamily="34" charset="-122"/>
                <a:cs typeface="Arial" pitchFamily="34" charset="-120"/>
              </a:rPr>
              <a:t>6. HH / MH / transformer-pit / RRM symbols sit ~2.1-2.3 m off the source insertion point (sheet 6) — set out civil features from survey.</a:t>
            </a:r>
          </a:p>
          <a:p>
            <a:pPr marL="0" indent="0">
              <a:lnSpc>
                <a:spcPct val="110000"/>
              </a:lnSpc>
              <a:buNone/>
            </a:pPr>
            <a:r>
              <a:rPr lang="en-US" sz="800" dirty="0">
                <a:solidFill>
                  <a:srgbClr val="5F6368"/>
                </a:solidFill>
                <a:latin typeface="Arial" pitchFamily="34" charset="0"/>
                <a:ea typeface="Arial" pitchFamily="34" charset="-122"/>
                <a:cs typeface="Arial" pitchFamily="34" charset="-120"/>
              </a:rPr>
              <a:t>7. Centerline &amp; stop bar from as-built TCC / SBC fittings. Edge indicative 23 m — confirm on site.</a:t>
            </a:r>
          </a:p>
        </p:txBody>
      </p:sp>
      <p:sp>
        <p:nvSpPr>
          <p:cNvPr id="116" name="Shape 114"/>
          <p:cNvSpPr/>
          <p:nvPr/>
        </p:nvSpPr>
        <p:spPr>
          <a:xfrm>
            <a:off x="10104120" y="6584594"/>
            <a:ext cx="4709160" cy="2871216"/>
          </a:xfrm>
          <a:prstGeom prst="rect">
            <a:avLst/>
          </a:prstGeom>
          <a:solidFill>
            <a:srgbClr val="F4F6F8"/>
          </a:solidFill>
          <a:ln w="9525">
            <a:solidFill>
              <a:srgbClr val="D5DAE0"/>
            </a:solidFill>
            <a:prstDash val="solid"/>
          </a:ln>
        </p:spPr>
        <p:txBody>
          <a:bodyPr/>
          <a:lstStyle/>
          <a:p>
            <a:endParaRPr lang="en-US"/>
          </a:p>
        </p:txBody>
      </p:sp>
      <p:sp>
        <p:nvSpPr>
          <p:cNvPr id="117" name="Text 115"/>
          <p:cNvSpPr/>
          <p:nvPr/>
        </p:nvSpPr>
        <p:spPr>
          <a:xfrm>
            <a:off x="10241280" y="6657746"/>
            <a:ext cx="4434840" cy="219456"/>
          </a:xfrm>
          <a:prstGeom prst="rect">
            <a:avLst/>
          </a:prstGeom>
          <a:noFill/>
          <a:ln/>
        </p:spPr>
        <p:txBody>
          <a:bodyPr wrap="square" lIns="0" tIns="0" rIns="0" bIns="0" rtlCol="0" anchor="ctr"/>
          <a:lstStyle/>
          <a:p>
            <a:pPr marL="0" indent="0">
              <a:buNone/>
            </a:pPr>
            <a:r>
              <a:rPr lang="en-US" sz="950" b="1" dirty="0">
                <a:solidFill>
                  <a:srgbClr val="1E2761"/>
                </a:solidFill>
                <a:latin typeface="Arial" pitchFamily="34" charset="0"/>
                <a:ea typeface="Arial" pitchFamily="34" charset="-122"/>
                <a:cs typeface="Arial" pitchFamily="34" charset="-120"/>
              </a:rPr>
              <a:t>LEGEND — WORKS ACTIONS (THIS SHEET)</a:t>
            </a:r>
            <a:endParaRPr lang="en-US" sz="950" dirty="0"/>
          </a:p>
        </p:txBody>
      </p:sp>
      <p:sp>
        <p:nvSpPr>
          <p:cNvPr id="118" name="Shape 116"/>
          <p:cNvSpPr/>
          <p:nvPr/>
        </p:nvSpPr>
        <p:spPr>
          <a:xfrm>
            <a:off x="10305288" y="6982358"/>
            <a:ext cx="192024" cy="192024"/>
          </a:xfrm>
          <a:prstGeom prst="ellipse">
            <a:avLst/>
          </a:prstGeom>
          <a:ln w="28575">
            <a:solidFill>
              <a:srgbClr val="0055CC"/>
            </a:solidFill>
            <a:prstDash val="solid"/>
          </a:ln>
        </p:spPr>
        <p:txBody>
          <a:bodyPr/>
          <a:lstStyle/>
          <a:p>
            <a:endParaRPr lang="en-US"/>
          </a:p>
        </p:txBody>
      </p:sp>
      <p:sp>
        <p:nvSpPr>
          <p:cNvPr id="119" name="Shape 117"/>
          <p:cNvSpPr/>
          <p:nvPr/>
        </p:nvSpPr>
        <p:spPr>
          <a:xfrm>
            <a:off x="10351008" y="7028078"/>
            <a:ext cx="100584" cy="100584"/>
          </a:xfrm>
          <a:prstGeom prst="ellipse">
            <a:avLst/>
          </a:prstGeom>
          <a:solidFill>
            <a:srgbClr val="1E8E3E"/>
          </a:solidFill>
          <a:ln w="6350">
            <a:solidFill>
              <a:srgbClr val="1E8E3E"/>
            </a:solidFill>
            <a:prstDash val="solid"/>
          </a:ln>
        </p:spPr>
        <p:txBody>
          <a:bodyPr/>
          <a:lstStyle/>
          <a:p>
            <a:endParaRPr lang="en-US"/>
          </a:p>
        </p:txBody>
      </p:sp>
      <p:sp>
        <p:nvSpPr>
          <p:cNvPr id="120" name="Text 118"/>
          <p:cNvSpPr/>
          <p:nvPr/>
        </p:nvSpPr>
        <p:spPr>
          <a:xfrm>
            <a:off x="10616184" y="6968642"/>
            <a:ext cx="4050792" cy="237744"/>
          </a:xfrm>
          <a:prstGeom prst="rect">
            <a:avLst/>
          </a:prstGeom>
          <a:noFill/>
          <a:ln/>
        </p:spPr>
        <p:txBody>
          <a:bodyPr wrap="square" lIns="0" tIns="0" rIns="0" bIns="0" rtlCol="0" anchor="ctr"/>
          <a:lstStyle/>
          <a:p>
            <a:pPr marL="0" indent="0">
              <a:buNone/>
            </a:pPr>
            <a:r>
              <a:rPr lang="en-US" sz="740" dirty="0">
                <a:solidFill>
                  <a:srgbClr val="1F2937"/>
                </a:solidFill>
                <a:latin typeface="Arial" pitchFamily="34" charset="0"/>
                <a:ea typeface="Arial" pitchFamily="34" charset="-122"/>
                <a:cs typeface="Arial" pitchFamily="34" charset="-120"/>
              </a:rPr>
              <a:t>NEW SEC. CABLE ONLY (DUCT) — outer blue / inner green</a:t>
            </a:r>
            <a:endParaRPr lang="en-US" sz="740" dirty="0"/>
          </a:p>
        </p:txBody>
      </p:sp>
      <p:sp>
        <p:nvSpPr>
          <p:cNvPr id="121" name="Shape 119"/>
          <p:cNvSpPr/>
          <p:nvPr/>
        </p:nvSpPr>
        <p:spPr>
          <a:xfrm>
            <a:off x="10305288" y="7256678"/>
            <a:ext cx="192024" cy="192024"/>
          </a:xfrm>
          <a:prstGeom prst="ellipse">
            <a:avLst/>
          </a:prstGeom>
          <a:ln w="28575">
            <a:solidFill>
              <a:srgbClr val="BB00BB"/>
            </a:solidFill>
            <a:prstDash val="solid"/>
          </a:ln>
        </p:spPr>
        <p:txBody>
          <a:bodyPr/>
          <a:lstStyle/>
          <a:p>
            <a:endParaRPr lang="en-US"/>
          </a:p>
        </p:txBody>
      </p:sp>
      <p:sp>
        <p:nvSpPr>
          <p:cNvPr id="122" name="Shape 120"/>
          <p:cNvSpPr/>
          <p:nvPr/>
        </p:nvSpPr>
        <p:spPr>
          <a:xfrm>
            <a:off x="10351008" y="7302398"/>
            <a:ext cx="100584" cy="100584"/>
          </a:xfrm>
          <a:prstGeom prst="ellipse">
            <a:avLst/>
          </a:prstGeom>
          <a:solidFill>
            <a:srgbClr val="FFFFFF"/>
          </a:solidFill>
          <a:ln w="6350">
            <a:solidFill>
              <a:srgbClr val="FFFFFF"/>
            </a:solidFill>
            <a:prstDash val="solid"/>
          </a:ln>
        </p:spPr>
        <p:txBody>
          <a:bodyPr/>
          <a:lstStyle/>
          <a:p>
            <a:endParaRPr lang="en-US"/>
          </a:p>
        </p:txBody>
      </p:sp>
      <p:sp>
        <p:nvSpPr>
          <p:cNvPr id="123" name="Text 121"/>
          <p:cNvSpPr/>
          <p:nvPr/>
        </p:nvSpPr>
        <p:spPr>
          <a:xfrm>
            <a:off x="10616184" y="7242962"/>
            <a:ext cx="4050792" cy="237744"/>
          </a:xfrm>
          <a:prstGeom prst="rect">
            <a:avLst/>
          </a:prstGeom>
          <a:noFill/>
          <a:ln/>
        </p:spPr>
        <p:txBody>
          <a:bodyPr wrap="square" lIns="0" tIns="0" rIns="0" bIns="0" rtlCol="0" anchor="ctr"/>
          <a:lstStyle/>
          <a:p>
            <a:pPr marL="0" indent="0">
              <a:buNone/>
            </a:pPr>
            <a:r>
              <a:rPr lang="en-US" sz="740" dirty="0">
                <a:solidFill>
                  <a:srgbClr val="1F2937"/>
                </a:solidFill>
                <a:latin typeface="Arial" pitchFamily="34" charset="0"/>
                <a:ea typeface="Arial" pitchFamily="34" charset="-122"/>
                <a:cs typeface="Arial" pitchFamily="34" charset="-120"/>
              </a:rPr>
              <a:t>RRM — REMOVE / PROTECT / RE-FIX (magenta / white)</a:t>
            </a:r>
            <a:endParaRPr lang="en-US" sz="740" dirty="0"/>
          </a:p>
        </p:txBody>
      </p:sp>
      <p:sp>
        <p:nvSpPr>
          <p:cNvPr id="124" name="Shape 122"/>
          <p:cNvSpPr/>
          <p:nvPr/>
        </p:nvSpPr>
        <p:spPr>
          <a:xfrm>
            <a:off x="10351008" y="7581290"/>
            <a:ext cx="91440" cy="91440"/>
          </a:xfrm>
          <a:prstGeom prst="ellipse">
            <a:avLst/>
          </a:prstGeom>
          <a:solidFill>
            <a:srgbClr val="12A5B8"/>
          </a:solidFill>
          <a:ln w="6350">
            <a:solidFill>
              <a:srgbClr val="12A5B8"/>
            </a:solidFill>
            <a:prstDash val="solid"/>
          </a:ln>
        </p:spPr>
        <p:txBody>
          <a:bodyPr/>
          <a:lstStyle/>
          <a:p>
            <a:endParaRPr lang="en-US"/>
          </a:p>
        </p:txBody>
      </p:sp>
      <p:sp>
        <p:nvSpPr>
          <p:cNvPr id="125" name="Text 123"/>
          <p:cNvSpPr/>
          <p:nvPr/>
        </p:nvSpPr>
        <p:spPr>
          <a:xfrm>
            <a:off x="10616184" y="7517282"/>
            <a:ext cx="4050792" cy="237744"/>
          </a:xfrm>
          <a:prstGeom prst="rect">
            <a:avLst/>
          </a:prstGeom>
          <a:noFill/>
          <a:ln/>
        </p:spPr>
        <p:txBody>
          <a:bodyPr wrap="square" lIns="0" tIns="0" rIns="0" bIns="0" rtlCol="0" anchor="ctr"/>
          <a:lstStyle/>
          <a:p>
            <a:pPr marL="0" indent="0">
              <a:buNone/>
            </a:pPr>
            <a:r>
              <a:rPr lang="en-US" sz="740" dirty="0">
                <a:solidFill>
                  <a:srgbClr val="1F2937"/>
                </a:solidFill>
                <a:latin typeface="Arial" pitchFamily="34" charset="0"/>
                <a:ea typeface="Arial" pitchFamily="34" charset="-122"/>
                <a:cs typeface="Arial" pitchFamily="34" charset="-120"/>
              </a:rPr>
              <a:t>EXISTING AGL ASSET (AS-BUILT)</a:t>
            </a:r>
            <a:endParaRPr lang="en-US" sz="740" dirty="0"/>
          </a:p>
        </p:txBody>
      </p:sp>
      <p:sp>
        <p:nvSpPr>
          <p:cNvPr id="126" name="Shape 124"/>
          <p:cNvSpPr/>
          <p:nvPr/>
        </p:nvSpPr>
        <p:spPr>
          <a:xfrm>
            <a:off x="10268712" y="7901330"/>
            <a:ext cx="274320" cy="914"/>
          </a:xfrm>
          <a:prstGeom prst="line">
            <a:avLst/>
          </a:prstGeom>
          <a:noFill/>
          <a:ln w="22225">
            <a:solidFill>
              <a:srgbClr val="0B3D91"/>
            </a:solidFill>
            <a:prstDash val="solid"/>
          </a:ln>
        </p:spPr>
        <p:txBody>
          <a:bodyPr/>
          <a:lstStyle/>
          <a:p>
            <a:endParaRPr lang="en-US"/>
          </a:p>
        </p:txBody>
      </p:sp>
      <p:sp>
        <p:nvSpPr>
          <p:cNvPr id="127" name="Text 125"/>
          <p:cNvSpPr/>
          <p:nvPr/>
        </p:nvSpPr>
        <p:spPr>
          <a:xfrm>
            <a:off x="10616184" y="7791602"/>
            <a:ext cx="4050792" cy="237744"/>
          </a:xfrm>
          <a:prstGeom prst="rect">
            <a:avLst/>
          </a:prstGeom>
          <a:noFill/>
          <a:ln/>
        </p:spPr>
        <p:txBody>
          <a:bodyPr wrap="square" lIns="0" tIns="0" rIns="0" bIns="0" rtlCol="0" anchor="ctr"/>
          <a:lstStyle/>
          <a:p>
            <a:pPr marL="0" indent="0">
              <a:buNone/>
            </a:pPr>
            <a:endParaRPr lang="en-US" sz="740" dirty="0"/>
            <a:r>
              <a:rPr lang="en-US" sz="740" dirty="0">
                <a:solidFill>
                  <a:srgbClr val="1F2937"/>
                </a:solidFill>
                <a:latin typeface="Arial" pitchFamily="34" charset="0"/>
                <a:ea typeface="Arial" pitchFamily="34" charset="-122"/>
                <a:cs typeface="Arial" pitchFamily="34" charset="-120"/>
              </a:rPr>
              <a:t>AS-BUILT DUCT / DUCTBANK (navy 4×110, purple 6×110, pink crossing)</a:t>
            </a:r>
          </a:p>
        </p:txBody>
      </p:sp>
      <p:sp>
        <p:nvSpPr>
          <p:cNvPr id="128" name="Shape 126"/>
          <p:cNvSpPr/>
          <p:nvPr/>
        </p:nvSpPr>
        <p:spPr>
          <a:xfrm>
            <a:off x="10268712" y="8175650"/>
            <a:ext cx="274320" cy="914"/>
          </a:xfrm>
          <a:prstGeom prst="line">
            <a:avLst/>
          </a:prstGeom>
          <a:noFill/>
          <a:ln w="15875">
            <a:solidFill>
              <a:srgbClr val="00838F"/>
            </a:solidFill>
            <a:prstDash val="dash"/>
          </a:ln>
        </p:spPr>
        <p:txBody>
          <a:bodyPr/>
          <a:lstStyle/>
          <a:p>
            <a:endParaRPr lang="en-US"/>
          </a:p>
        </p:txBody>
      </p:sp>
      <p:sp>
        <p:nvSpPr>
          <p:cNvPr id="129" name="Text 127"/>
          <p:cNvSpPr/>
          <p:nvPr/>
        </p:nvSpPr>
        <p:spPr>
          <a:xfrm>
            <a:off x="10616184" y="8065922"/>
            <a:ext cx="4050792" cy="237744"/>
          </a:xfrm>
          <a:prstGeom prst="rect">
            <a:avLst/>
          </a:prstGeom>
          <a:noFill/>
          <a:ln/>
        </p:spPr>
        <p:txBody>
          <a:bodyPr wrap="square" lIns="0" tIns="0" rIns="0" bIns="0" rtlCol="0" anchor="ctr"/>
          <a:lstStyle/>
          <a:p>
            <a:pPr marL="0" indent="0">
              <a:buNone/>
            </a:pPr>
            <a:endParaRPr lang="en-US" sz="740" dirty="0"/>
            <a:r>
              <a:rPr lang="en-US" sz="740" dirty="0">
                <a:solidFill>
                  <a:srgbClr val="1F2937"/>
                </a:solidFill>
                <a:latin typeface="Arial" pitchFamily="34" charset="0"/>
                <a:ea typeface="Arial" pitchFamily="34" charset="-122"/>
                <a:cs typeface="Arial" pitchFamily="34" charset="-120"/>
              </a:rPr>
              <a:t>AS-BUILT SECONDARY CONDUIT (teal ex · green new · orange sawcut)</a:t>
            </a:r>
          </a:p>
        </p:txBody>
      </p:sp>
      <p:sp>
        <p:nvSpPr>
          <p:cNvPr id="130" name="Shape 128"/>
          <p:cNvSpPr/>
          <p:nvPr/>
        </p:nvSpPr>
        <p:spPr>
          <a:xfrm>
            <a:off x="10268712" y="8449970"/>
            <a:ext cx="274320" cy="914"/>
          </a:xfrm>
          <a:prstGeom prst="line">
            <a:avLst/>
          </a:prstGeom>
          <a:noFill/>
          <a:ln w="31750">
            <a:solidFill>
              <a:srgbClr val="CC0000"/>
            </a:solidFill>
            <a:prstDash val="solid"/>
          </a:ln>
        </p:spPr>
        <p:txBody>
          <a:bodyPr/>
          <a:lstStyle/>
          <a:p>
            <a:endParaRPr lang="en-US"/>
          </a:p>
        </p:txBody>
      </p:sp>
      <p:sp>
        <p:nvSpPr>
          <p:cNvPr id="131" name="Text 129"/>
          <p:cNvSpPr/>
          <p:nvPr/>
        </p:nvSpPr>
        <p:spPr>
          <a:xfrm>
            <a:off x="10616184" y="8340242"/>
            <a:ext cx="4050792" cy="237744"/>
          </a:xfrm>
          <a:prstGeom prst="rect">
            <a:avLst/>
          </a:prstGeom>
          <a:noFill/>
          <a:ln/>
        </p:spPr>
        <p:txBody>
          <a:bodyPr wrap="square" lIns="0" tIns="0" rIns="0" bIns="0" rtlCol="0" anchor="ctr"/>
          <a:lstStyle/>
          <a:p>
            <a:pPr marL="0" indent="0">
              <a:buNone/>
            </a:pPr>
            <a:r>
              <a:rPr lang="en-US" sz="740" dirty="0">
                <a:solidFill>
                  <a:srgbClr val="1F2937"/>
                </a:solidFill>
                <a:latin typeface="Arial" pitchFamily="34" charset="0"/>
                <a:ea typeface="Arial" pitchFamily="34" charset="-122"/>
                <a:cs typeface="Arial" pitchFamily="34" charset="-120"/>
              </a:rPr>
              <a:t>AGL WORKS AREA — FIELD CONDITION (GOVERNING)</a:t>
            </a:r>
            <a:endParaRPr lang="en-US" sz="740" dirty="0"/>
          </a:p>
        </p:txBody>
      </p:sp>
      <p:sp>
        <p:nvSpPr>
          <p:cNvPr id="132" name="Shape 130"/>
          <p:cNvSpPr/>
          <p:nvPr/>
        </p:nvSpPr>
        <p:spPr>
          <a:xfrm>
            <a:off x="10268712" y="8724290"/>
            <a:ext cx="274320" cy="914"/>
          </a:xfrm>
          <a:prstGeom prst="line">
            <a:avLst/>
          </a:prstGeom>
          <a:noFill/>
          <a:ln w="19050">
            <a:solidFill>
              <a:srgbClr val="C7A400"/>
            </a:solidFill>
            <a:prstDash val="dashDot"/>
          </a:ln>
        </p:spPr>
        <p:txBody>
          <a:bodyPr/>
          <a:lstStyle/>
          <a:p>
            <a:endParaRPr lang="en-US"/>
          </a:p>
        </p:txBody>
      </p:sp>
      <p:sp>
        <p:nvSpPr>
          <p:cNvPr id="133" name="Text 131"/>
          <p:cNvSpPr/>
          <p:nvPr/>
        </p:nvSpPr>
        <p:spPr>
          <a:xfrm>
            <a:off x="10616184" y="8614562"/>
            <a:ext cx="4050792" cy="237744"/>
          </a:xfrm>
          <a:prstGeom prst="rect">
            <a:avLst/>
          </a:prstGeom>
          <a:noFill/>
          <a:ln/>
        </p:spPr>
        <p:txBody>
          <a:bodyPr wrap="square" lIns="0" tIns="0" rIns="0" bIns="0" rtlCol="0" anchor="ctr"/>
          <a:lstStyle/>
          <a:p>
            <a:pPr marL="0" indent="0">
              <a:buNone/>
            </a:pPr>
            <a:r>
              <a:rPr lang="en-US" sz="740" dirty="0">
                <a:solidFill>
                  <a:srgbClr val="1F2937"/>
                </a:solidFill>
                <a:latin typeface="Arial" pitchFamily="34" charset="0"/>
                <a:ea typeface="Arial" pitchFamily="34" charset="-122"/>
                <a:cs typeface="Arial" pitchFamily="34" charset="-120"/>
              </a:rPr>
              <a:t>TAXIWAY CENTERLINE (AS-BUILT, THROUGH TCC FITTINGS)</a:t>
            </a:r>
            <a:endParaRPr lang="en-US" sz="740" dirty="0"/>
          </a:p>
        </p:txBody>
      </p:sp>
      <p:sp>
        <p:nvSpPr>
          <p:cNvPr id="134" name="Shape 132"/>
          <p:cNvSpPr/>
          <p:nvPr/>
        </p:nvSpPr>
        <p:spPr>
          <a:xfrm>
            <a:off x="10268712" y="8998610"/>
            <a:ext cx="274320" cy="914"/>
          </a:xfrm>
          <a:prstGeom prst="line">
            <a:avLst/>
          </a:prstGeom>
          <a:noFill/>
          <a:ln w="12700">
            <a:solidFill>
              <a:srgbClr val="7A8288"/>
            </a:solidFill>
            <a:prstDash val="solid"/>
          </a:ln>
        </p:spPr>
        <p:txBody>
          <a:bodyPr/>
          <a:lstStyle/>
          <a:p>
            <a:endParaRPr lang="en-US"/>
          </a:p>
        </p:txBody>
      </p:sp>
      <p:sp>
        <p:nvSpPr>
          <p:cNvPr id="135" name="Text 133"/>
          <p:cNvSpPr/>
          <p:nvPr/>
        </p:nvSpPr>
        <p:spPr>
          <a:xfrm>
            <a:off x="10616184" y="8888882"/>
            <a:ext cx="4050792" cy="237744"/>
          </a:xfrm>
          <a:prstGeom prst="rect">
            <a:avLst/>
          </a:prstGeom>
          <a:noFill/>
          <a:ln/>
        </p:spPr>
        <p:txBody>
          <a:bodyPr wrap="square" lIns="0" tIns="0" rIns="0" bIns="0" rtlCol="0" anchor="ctr"/>
          <a:lstStyle/>
          <a:p>
            <a:pPr marL="0" indent="0">
              <a:buNone/>
            </a:pPr>
            <a:r>
              <a:rPr lang="en-US" sz="740" dirty="0">
                <a:solidFill>
                  <a:srgbClr val="1F2937"/>
                </a:solidFill>
                <a:latin typeface="Arial" pitchFamily="34" charset="0"/>
                <a:ea typeface="Arial" pitchFamily="34" charset="-122"/>
                <a:cs typeface="Arial" pitchFamily="34" charset="-120"/>
              </a:rPr>
              <a:t>TWY EDGE / PAVEMENT BOUNDARY (INDICATIVE 23 m — CONFIRM ON SITE)</a:t>
            </a:r>
            <a:endParaRPr lang="en-US" sz="740" dirty="0"/>
          </a:p>
        </p:txBody>
      </p:sp>
      <p:sp>
        <p:nvSpPr>
          <p:cNvPr id="136" name="Shape 134"/>
          <p:cNvSpPr/>
          <p:nvPr/>
        </p:nvSpPr>
        <p:spPr>
          <a:xfrm>
            <a:off x="10287000" y="9190634"/>
            <a:ext cx="219456" cy="146304"/>
          </a:xfrm>
          <a:prstGeom prst="rect">
            <a:avLst/>
          </a:prstGeom>
          <a:ln w="19050">
            <a:solidFill>
              <a:srgbClr val="BB00BB"/>
            </a:solidFill>
            <a:prstDash val="solid"/>
          </a:ln>
        </p:spPr>
        <p:txBody>
          <a:bodyPr/>
          <a:lstStyle/>
          <a:p>
            <a:endParaRPr lang="en-US"/>
          </a:p>
        </p:txBody>
      </p:sp>
      <p:sp>
        <p:nvSpPr>
          <p:cNvPr id="137" name="Text 135"/>
          <p:cNvSpPr/>
          <p:nvPr/>
        </p:nvSpPr>
        <p:spPr>
          <a:xfrm>
            <a:off x="10616184" y="9163202"/>
            <a:ext cx="4050792" cy="237744"/>
          </a:xfrm>
          <a:prstGeom prst="rect">
            <a:avLst/>
          </a:prstGeom>
          <a:noFill/>
          <a:ln/>
        </p:spPr>
        <p:txBody>
          <a:bodyPr wrap="square" lIns="0" tIns="0" rIns="0" bIns="0" rtlCol="0" anchor="ctr"/>
          <a:lstStyle/>
          <a:p>
            <a:pPr marL="0" indent="0">
              <a:buNone/>
            </a:pPr>
            <a:r>
              <a:rPr lang="en-US" sz="740" dirty="0">
                <a:solidFill>
                  <a:srgbClr val="1F2937"/>
                </a:solidFill>
                <a:latin typeface="Arial" pitchFamily="34" charset="0"/>
                <a:ea typeface="Arial" pitchFamily="34" charset="-122"/>
                <a:cs typeface="Arial" pitchFamily="34" charset="-120"/>
              </a:rPr>
              <a:t>AGL FEED MANHOLE / HANDHOLE</a:t>
            </a:r>
            <a:endParaRPr lang="en-US" sz="74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320040" y="164592"/>
            <a:ext cx="14493240" cy="457200"/>
          </a:xfrm>
          <a:prstGeom prst="rect">
            <a:avLst/>
          </a:prstGeom>
          <a:noFill/>
          <a:ln/>
        </p:spPr>
        <p:txBody>
          <a:bodyPr wrap="square" lIns="0" tIns="0" rIns="0" bIns="0" rtlCol="0" anchor="ctr"/>
          <a:lstStyle/>
          <a:p>
            <a:pPr marL="0" indent="0">
              <a:buNone/>
            </a:pPr>
            <a:r>
              <a:rPr lang="en-US" sz="1500" b="1" dirty="0">
                <a:solidFill>
                  <a:srgbClr val="1E2761"/>
                </a:solidFill>
                <a:latin typeface="Arial" pitchFamily="34" charset="0"/>
                <a:ea typeface="Arial" pitchFamily="34" charset="-122"/>
                <a:cs typeface="Arial" pitchFamily="34" charset="-120"/>
              </a:rPr>
              <a:t>SHOP DRAWING — ELECTRICAL / AGL SCOPE (FIELD-GOVERNED)   ·   TAXIWAY E (E4–E6) — LOCATION 3   ·   DWG NO [XXX-ELE-SHD-1003] REV P06</a:t>
            </a:r>
            <a:endParaRPr lang="en-US" sz="1500" dirty="0"/>
          </a:p>
        </p:txBody>
      </p:sp>
      <p:sp>
        <p:nvSpPr>
          <p:cNvPr id="3" name="Shape 1"/>
          <p:cNvSpPr/>
          <p:nvPr/>
        </p:nvSpPr>
        <p:spPr>
          <a:xfrm>
            <a:off x="320040" y="777240"/>
            <a:ext cx="9555480" cy="9555480"/>
          </a:xfrm>
          <a:prstGeom prst="rect">
            <a:avLst/>
          </a:prstGeom>
          <a:solidFill>
            <a:srgbClr val="FFFFFF"/>
          </a:solidFill>
          <a:ln w="12700">
            <a:solidFill>
              <a:srgbClr val="5F6368"/>
            </a:solidFill>
            <a:prstDash val="solid"/>
          </a:ln>
        </p:spPr>
        <p:txBody>
          <a:bodyPr/>
          <a:lstStyle/>
          <a:p>
            <a:endParaRPr lang="en-US"/>
          </a:p>
        </p:txBody>
      </p:sp>
      <p:sp>
        <p:nvSpPr>
          <p:cNvPr id="113" name="ASBUILT DUCT · CV-EX SEC CONDUIT · 3.8 m"/>
          <p:cNvSpPr/>
          <p:nvPr/>
        </p:nvSpPr>
        <p:spPr>
          <a:xfrm>
            <a:off x="320037" y="776809"/>
            <a:ext cx="378241" cy="68678"/>
          </a:xfrm>
          <a:custGeom>
            <a:avLst/>
            <a:gdLst/>
            <a:ahLst/>
            <a:cxnLst/>
            <a:rect l="l" t="t" r="r" b="b"/>
            <a:pathLst>
              <a:path w="378241" h="68678">
                <a:moveTo>
                  <a:pt x="378241" y="0"/>
                </a:moveTo>
                <a:lnTo>
                  <a:pt x="0" y="68678"/>
                </a:lnTo>
              </a:path>
            </a:pathLst>
          </a:custGeom>
          <a:noFill/>
          <a:ln w="15875">
            <a:solidFill>
              <a:srgbClr val="0083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ASBUILT DUCT · CV-EX SEC CONDUIT · 19.5 m"/>
          <p:cNvSpPr/>
          <p:nvPr/>
        </p:nvSpPr>
        <p:spPr>
          <a:xfrm>
            <a:off x="319991" y="776869"/>
            <a:ext cx="1653130" cy="1046796"/>
          </a:xfrm>
          <a:custGeom>
            <a:avLst/>
            <a:gdLst/>
            <a:ahLst/>
            <a:cxnLst/>
            <a:rect l="l" t="t" r="r" b="b"/>
            <a:pathLst>
              <a:path w="1653130" h="1046796">
                <a:moveTo>
                  <a:pt x="0" y="1046796"/>
                </a:moveTo>
                <a:lnTo>
                  <a:pt x="1653130" y="0"/>
                </a:lnTo>
              </a:path>
            </a:pathLst>
          </a:custGeom>
          <a:noFill/>
          <a:ln w="15875">
            <a:solidFill>
              <a:srgbClr val="0083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ASBUILT DUCT · CV-EX SEC CONDUIT · 18.4 m"/>
          <p:cNvSpPr/>
          <p:nvPr/>
        </p:nvSpPr>
        <p:spPr>
          <a:xfrm>
            <a:off x="924668" y="776879"/>
            <a:ext cx="1258208" cy="1348502"/>
          </a:xfrm>
          <a:custGeom>
            <a:avLst/>
            <a:gdLst/>
            <a:ahLst/>
            <a:cxnLst/>
            <a:rect l="l" t="t" r="r" b="b"/>
            <a:pathLst>
              <a:path w="1258208" h="1348502">
                <a:moveTo>
                  <a:pt x="1258208" y="0"/>
                </a:moveTo>
                <a:lnTo>
                  <a:pt x="0" y="1348502"/>
                </a:lnTo>
              </a:path>
            </a:pathLst>
          </a:custGeom>
          <a:noFill/>
          <a:ln w="15875">
            <a:solidFill>
              <a:srgbClr val="0083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ASBUILT DUCT · CV-EX SEC CONDUIT · 25.5 m"/>
          <p:cNvSpPr/>
          <p:nvPr/>
        </p:nvSpPr>
        <p:spPr>
          <a:xfrm>
            <a:off x="1085699" y="776885"/>
            <a:ext cx="1223250" cy="2245867"/>
          </a:xfrm>
          <a:custGeom>
            <a:avLst/>
            <a:gdLst/>
            <a:ahLst/>
            <a:cxnLst/>
            <a:rect l="l" t="t" r="r" b="b"/>
            <a:pathLst>
              <a:path w="1223250" h="2245867">
                <a:moveTo>
                  <a:pt x="0" y="2245867"/>
                </a:moveTo>
                <a:lnTo>
                  <a:pt x="1223250" y="0"/>
                </a:lnTo>
              </a:path>
            </a:pathLst>
          </a:custGeom>
          <a:noFill/>
          <a:ln w="15875">
            <a:solidFill>
              <a:srgbClr val="0083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ASBUILT DUCT · CV-EX SEC CONDUIT · 22.0 m"/>
          <p:cNvSpPr/>
          <p:nvPr/>
        </p:nvSpPr>
        <p:spPr>
          <a:xfrm>
            <a:off x="1342419" y="776886"/>
            <a:ext cx="982055" cy="1976592"/>
          </a:xfrm>
          <a:custGeom>
            <a:avLst/>
            <a:gdLst/>
            <a:ahLst/>
            <a:cxnLst/>
            <a:rect l="l" t="t" r="r" b="b"/>
            <a:pathLst>
              <a:path w="982055" h="1976592">
                <a:moveTo>
                  <a:pt x="982055" y="0"/>
                </a:moveTo>
                <a:lnTo>
                  <a:pt x="0" y="1976592"/>
                </a:lnTo>
              </a:path>
            </a:pathLst>
          </a:custGeom>
          <a:noFill/>
          <a:ln w="15875">
            <a:solidFill>
              <a:srgbClr val="0083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ASBUILT DUCT · CV-EX SEC CONDUIT · 26.3 m"/>
          <p:cNvSpPr/>
          <p:nvPr/>
        </p:nvSpPr>
        <p:spPr>
          <a:xfrm>
            <a:off x="1803778" y="776890"/>
            <a:ext cx="605543" cy="2571530"/>
          </a:xfrm>
          <a:custGeom>
            <a:avLst/>
            <a:gdLst/>
            <a:ahLst/>
            <a:cxnLst/>
            <a:rect l="l" t="t" r="r" b="b"/>
            <a:pathLst>
              <a:path w="605543" h="2571530">
                <a:moveTo>
                  <a:pt x="0" y="2571530"/>
                </a:moveTo>
                <a:lnTo>
                  <a:pt x="605543" y="0"/>
                </a:lnTo>
              </a:path>
            </a:pathLst>
          </a:custGeom>
          <a:noFill/>
          <a:ln w="15875">
            <a:solidFill>
              <a:srgbClr val="0083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ASBUILT DUCT · CV-EX SEC CONDUIT · 31.2 m"/>
          <p:cNvSpPr/>
          <p:nvPr/>
        </p:nvSpPr>
        <p:spPr>
          <a:xfrm>
            <a:off x="2309047" y="776892"/>
            <a:ext cx="160111" cy="3129697"/>
          </a:xfrm>
          <a:custGeom>
            <a:avLst/>
            <a:gdLst/>
            <a:ahLst/>
            <a:cxnLst/>
            <a:rect l="l" t="t" r="r" b="b"/>
            <a:pathLst>
              <a:path w="160111" h="3129697">
                <a:moveTo>
                  <a:pt x="160111" y="0"/>
                </a:moveTo>
                <a:lnTo>
                  <a:pt x="0" y="3129697"/>
                </a:lnTo>
              </a:path>
            </a:pathLst>
          </a:custGeom>
          <a:noFill/>
          <a:ln w="15875">
            <a:solidFill>
              <a:srgbClr val="0083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ASBUILT DUCT · CV-NEW SEC SAWCUT · 30.1 m"/>
          <p:cNvSpPr/>
          <p:nvPr/>
        </p:nvSpPr>
        <p:spPr>
          <a:xfrm>
            <a:off x="3236505" y="1966772"/>
            <a:ext cx="1181340" cy="2783058"/>
          </a:xfrm>
          <a:custGeom>
            <a:avLst/>
            <a:gdLst/>
            <a:ahLst/>
            <a:cxnLst/>
            <a:rect l="l" t="t" r="r" b="b"/>
            <a:pathLst>
              <a:path w="1181340" h="2783058">
                <a:moveTo>
                  <a:pt x="0" y="2783058"/>
                </a:moveTo>
                <a:lnTo>
                  <a:pt x="1181340" y="0"/>
                </a:lnTo>
              </a:path>
            </a:pathLst>
          </a:custGeom>
          <a:noFill/>
          <a:ln w="15875">
            <a:solidFill>
              <a:srgbClr val="E8710A"/>
            </a:solidFill>
            <a:prstDash val="sysDash"/>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ASBUILT DUCT · CV-NEW SEC SAWCUT · 10.4 m"/>
          <p:cNvSpPr/>
          <p:nvPr/>
        </p:nvSpPr>
        <p:spPr>
          <a:xfrm>
            <a:off x="584900" y="3338817"/>
            <a:ext cx="328742" cy="990742"/>
          </a:xfrm>
          <a:custGeom>
            <a:avLst/>
            <a:gdLst/>
            <a:ahLst/>
            <a:cxnLst/>
            <a:rect l="l" t="t" r="r" b="b"/>
            <a:pathLst>
              <a:path w="328742" h="990742">
                <a:moveTo>
                  <a:pt x="0" y="0"/>
                </a:moveTo>
                <a:lnTo>
                  <a:pt x="328742" y="990742"/>
                </a:lnTo>
              </a:path>
            </a:pathLst>
          </a:custGeom>
          <a:noFill/>
          <a:ln w="15875">
            <a:solidFill>
              <a:srgbClr val="E8710A"/>
            </a:solidFill>
            <a:prstDash val="sysDash"/>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ASBUILT DUCT · CV-NEW SEC SAWCUT · 24.5 m"/>
          <p:cNvSpPr/>
          <p:nvPr/>
        </p:nvSpPr>
        <p:spPr>
          <a:xfrm>
            <a:off x="319805" y="3948874"/>
            <a:ext cx="1640085" cy="1833041"/>
          </a:xfrm>
          <a:custGeom>
            <a:avLst/>
            <a:gdLst/>
            <a:ahLst/>
            <a:cxnLst/>
            <a:rect l="l" t="t" r="r" b="b"/>
            <a:pathLst>
              <a:path w="1640085" h="1833041">
                <a:moveTo>
                  <a:pt x="0" y="1833041"/>
                </a:moveTo>
                <a:lnTo>
                  <a:pt x="1640085" y="0"/>
                </a:lnTo>
              </a:path>
            </a:pathLst>
          </a:custGeom>
          <a:noFill/>
          <a:ln w="15875">
            <a:solidFill>
              <a:srgbClr val="E8710A"/>
            </a:solidFill>
            <a:prstDash val="sysDash"/>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ASBUILT DUCT · CV-NEW SEC SAWCUT · 27.8 m"/>
          <p:cNvSpPr/>
          <p:nvPr/>
        </p:nvSpPr>
        <p:spPr>
          <a:xfrm>
            <a:off x="319798" y="4329408"/>
            <a:ext cx="2291965" cy="1599046"/>
          </a:xfrm>
          <a:custGeom>
            <a:avLst/>
            <a:gdLst/>
            <a:ahLst/>
            <a:cxnLst/>
            <a:rect l="l" t="t" r="r" b="b"/>
            <a:pathLst>
              <a:path w="2291965" h="1599046">
                <a:moveTo>
                  <a:pt x="2291965" y="0"/>
                </a:moveTo>
                <a:lnTo>
                  <a:pt x="0" y="1599046"/>
                </a:lnTo>
              </a:path>
            </a:pathLst>
          </a:custGeom>
          <a:noFill/>
          <a:ln w="15875">
            <a:solidFill>
              <a:srgbClr val="E8710A"/>
            </a:solidFill>
            <a:prstDash val="sysDash"/>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ASBUILT DUCT · CV-NEW SEC SAWCUT · 20.8 m"/>
          <p:cNvSpPr/>
          <p:nvPr/>
        </p:nvSpPr>
        <p:spPr>
          <a:xfrm>
            <a:off x="319820" y="3618375"/>
            <a:ext cx="964181" cy="1851476"/>
          </a:xfrm>
          <a:custGeom>
            <a:avLst/>
            <a:gdLst/>
            <a:ahLst/>
            <a:cxnLst/>
            <a:rect l="l" t="t" r="r" b="b"/>
            <a:pathLst>
              <a:path w="964181" h="1851476">
                <a:moveTo>
                  <a:pt x="964181" y="0"/>
                </a:moveTo>
                <a:lnTo>
                  <a:pt x="0" y="1851476"/>
                </a:lnTo>
              </a:path>
            </a:pathLst>
          </a:custGeom>
          <a:noFill/>
          <a:ln w="15875">
            <a:solidFill>
              <a:srgbClr val="E8710A"/>
            </a:solidFill>
            <a:prstDash val="sysDash"/>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ASBUILT DUCT · CV-EX SEC CONDUIT · 23.1 m"/>
          <p:cNvSpPr/>
          <p:nvPr/>
        </p:nvSpPr>
        <p:spPr>
          <a:xfrm>
            <a:off x="5201446" y="4034168"/>
            <a:ext cx="396447" cy="2290420"/>
          </a:xfrm>
          <a:custGeom>
            <a:avLst/>
            <a:gdLst/>
            <a:ahLst/>
            <a:cxnLst/>
            <a:rect l="l" t="t" r="r" b="b"/>
            <a:pathLst>
              <a:path w="396447" h="2290420">
                <a:moveTo>
                  <a:pt x="0" y="2290420"/>
                </a:moveTo>
                <a:lnTo>
                  <a:pt x="396447" y="0"/>
                </a:lnTo>
              </a:path>
            </a:pathLst>
          </a:custGeom>
          <a:noFill/>
          <a:ln w="15875">
            <a:solidFill>
              <a:srgbClr val="0083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ASBUILT DUCT · CV-EX SEC CONDUIT · 20.6 m"/>
          <p:cNvSpPr/>
          <p:nvPr/>
        </p:nvSpPr>
        <p:spPr>
          <a:xfrm>
            <a:off x="4612577" y="4034168"/>
            <a:ext cx="985316" cy="1816244"/>
          </a:xfrm>
          <a:custGeom>
            <a:avLst/>
            <a:gdLst/>
            <a:ahLst/>
            <a:cxnLst/>
            <a:rect l="l" t="t" r="r" b="b"/>
            <a:pathLst>
              <a:path w="985316" h="1816244">
                <a:moveTo>
                  <a:pt x="985316" y="0"/>
                </a:moveTo>
                <a:lnTo>
                  <a:pt x="0" y="1816244"/>
                </a:lnTo>
              </a:path>
            </a:pathLst>
          </a:custGeom>
          <a:noFill/>
          <a:ln w="15875">
            <a:solidFill>
              <a:srgbClr val="0083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ASBUILT DUCT · CV-EX SEC CONDUIT · 20.7 m"/>
          <p:cNvSpPr/>
          <p:nvPr/>
        </p:nvSpPr>
        <p:spPr>
          <a:xfrm>
            <a:off x="4020452" y="4034168"/>
            <a:ext cx="1577441" cy="1352267"/>
          </a:xfrm>
          <a:custGeom>
            <a:avLst/>
            <a:gdLst/>
            <a:ahLst/>
            <a:cxnLst/>
            <a:rect l="l" t="t" r="r" b="b"/>
            <a:pathLst>
              <a:path w="1577441" h="1352267">
                <a:moveTo>
                  <a:pt x="0" y="1352267"/>
                </a:moveTo>
                <a:lnTo>
                  <a:pt x="1577441" y="0"/>
                </a:lnTo>
              </a:path>
            </a:pathLst>
          </a:custGeom>
          <a:noFill/>
          <a:ln w="15875">
            <a:solidFill>
              <a:srgbClr val="0083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ASBUILT DUCT · CV-EX SEC CONDUIT · 27.6 m"/>
          <p:cNvSpPr/>
          <p:nvPr/>
        </p:nvSpPr>
        <p:spPr>
          <a:xfrm>
            <a:off x="5597893" y="4034168"/>
            <a:ext cx="188525" cy="2763329"/>
          </a:xfrm>
          <a:custGeom>
            <a:avLst/>
            <a:gdLst/>
            <a:ahLst/>
            <a:cxnLst/>
            <a:rect l="l" t="t" r="r" b="b"/>
            <a:pathLst>
              <a:path w="188525" h="2763329">
                <a:moveTo>
                  <a:pt x="0" y="0"/>
                </a:moveTo>
                <a:lnTo>
                  <a:pt x="188525" y="2763329"/>
                </a:lnTo>
              </a:path>
            </a:pathLst>
          </a:custGeom>
          <a:noFill/>
          <a:ln w="15875">
            <a:solidFill>
              <a:srgbClr val="0083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ASBUILT DUCT · CV-EX SEC CONDUIT · 26.0 m"/>
          <p:cNvSpPr/>
          <p:nvPr/>
        </p:nvSpPr>
        <p:spPr>
          <a:xfrm>
            <a:off x="8840910" y="6749381"/>
            <a:ext cx="1034666" cy="2397861"/>
          </a:xfrm>
          <a:custGeom>
            <a:avLst/>
            <a:gdLst/>
            <a:ahLst/>
            <a:cxnLst/>
            <a:rect l="l" t="t" r="r" b="b"/>
            <a:pathLst>
              <a:path w="1034666" h="2397861">
                <a:moveTo>
                  <a:pt x="1034666" y="2397861"/>
                </a:moveTo>
                <a:lnTo>
                  <a:pt x="0" y="0"/>
                </a:lnTo>
              </a:path>
            </a:pathLst>
          </a:custGeom>
          <a:noFill/>
          <a:ln w="15875">
            <a:solidFill>
              <a:srgbClr val="0083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ASBUILT DUCT · CV-EX SEC CONDUIT · 20.5 m"/>
          <p:cNvSpPr/>
          <p:nvPr/>
        </p:nvSpPr>
        <p:spPr>
          <a:xfrm>
            <a:off x="8138229" y="6749381"/>
            <a:ext cx="702681" cy="1932861"/>
          </a:xfrm>
          <a:custGeom>
            <a:avLst/>
            <a:gdLst/>
            <a:ahLst/>
            <a:cxnLst/>
            <a:rect l="l" t="t" r="r" b="b"/>
            <a:pathLst>
              <a:path w="702681" h="1932861">
                <a:moveTo>
                  <a:pt x="0" y="1932861"/>
                </a:moveTo>
                <a:lnTo>
                  <a:pt x="702681" y="0"/>
                </a:lnTo>
              </a:path>
            </a:pathLst>
          </a:custGeom>
          <a:noFill/>
          <a:ln w="15875">
            <a:solidFill>
              <a:srgbClr val="0083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ASBUILT DUCT · CV-EX SEC CONDUIT · 29.0 m"/>
          <p:cNvSpPr/>
          <p:nvPr/>
        </p:nvSpPr>
        <p:spPr>
          <a:xfrm>
            <a:off x="8840910" y="6749381"/>
            <a:ext cx="472848" cy="2877172"/>
          </a:xfrm>
          <a:custGeom>
            <a:avLst/>
            <a:gdLst/>
            <a:ahLst/>
            <a:cxnLst/>
            <a:rect l="l" t="t" r="r" b="b"/>
            <a:pathLst>
              <a:path w="472848" h="2877172">
                <a:moveTo>
                  <a:pt x="0" y="0"/>
                </a:moveTo>
                <a:lnTo>
                  <a:pt x="472848" y="2877172"/>
                </a:lnTo>
              </a:path>
            </a:pathLst>
          </a:custGeom>
          <a:noFill/>
          <a:ln w="15875">
            <a:solidFill>
              <a:srgbClr val="0083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ASBUILT DUCT · CV-EX SEC CONDUIT · 21.1 m"/>
          <p:cNvSpPr/>
          <p:nvPr/>
        </p:nvSpPr>
        <p:spPr>
          <a:xfrm>
            <a:off x="6964740" y="6749452"/>
            <a:ext cx="1876180" cy="990829"/>
          </a:xfrm>
          <a:custGeom>
            <a:avLst/>
            <a:gdLst/>
            <a:ahLst/>
            <a:cxnLst/>
            <a:rect l="l" t="t" r="r" b="b"/>
            <a:pathLst>
              <a:path w="1876180" h="990829">
                <a:moveTo>
                  <a:pt x="1876180" y="0"/>
                </a:moveTo>
                <a:lnTo>
                  <a:pt x="0" y="990829"/>
                </a:lnTo>
              </a:path>
            </a:pathLst>
          </a:custGeom>
          <a:noFill/>
          <a:ln w="15875">
            <a:solidFill>
              <a:srgbClr val="0083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ASBUILT DUCT · CV-EX SEC CONDUIT · 25.1 m"/>
          <p:cNvSpPr/>
          <p:nvPr/>
        </p:nvSpPr>
        <p:spPr>
          <a:xfrm>
            <a:off x="6376272" y="6749452"/>
            <a:ext cx="2464648" cy="518161"/>
          </a:xfrm>
          <a:custGeom>
            <a:avLst/>
            <a:gdLst/>
            <a:ahLst/>
            <a:cxnLst/>
            <a:rect l="l" t="t" r="r" b="b"/>
            <a:pathLst>
              <a:path w="2464648" h="518161">
                <a:moveTo>
                  <a:pt x="0" y="518161"/>
                </a:moveTo>
                <a:lnTo>
                  <a:pt x="2464648" y="0"/>
                </a:lnTo>
              </a:path>
            </a:pathLst>
          </a:custGeom>
          <a:noFill/>
          <a:ln w="15875">
            <a:solidFill>
              <a:srgbClr val="0083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ASBUILT DUCT · CV-NEW SEC SAWCUT · 20.3 m"/>
          <p:cNvSpPr/>
          <p:nvPr/>
        </p:nvSpPr>
        <p:spPr>
          <a:xfrm>
            <a:off x="7552012" y="6735833"/>
            <a:ext cx="1414354" cy="1474333"/>
          </a:xfrm>
          <a:custGeom>
            <a:avLst/>
            <a:gdLst/>
            <a:ahLst/>
            <a:cxnLst/>
            <a:rect l="l" t="t" r="r" b="b"/>
            <a:pathLst>
              <a:path w="1414354" h="1474333">
                <a:moveTo>
                  <a:pt x="0" y="1474333"/>
                </a:moveTo>
                <a:lnTo>
                  <a:pt x="1414354" y="0"/>
                </a:lnTo>
              </a:path>
            </a:pathLst>
          </a:custGeom>
          <a:noFill/>
          <a:ln w="15875">
            <a:solidFill>
              <a:srgbClr val="E8710A"/>
            </a:solidFill>
            <a:prstDash val="sysDash"/>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ASBUILT DUCT · CV-NEW SEC SAWCUT · 5.4 m"/>
          <p:cNvSpPr/>
          <p:nvPr/>
        </p:nvSpPr>
        <p:spPr>
          <a:xfrm>
            <a:off x="8966366" y="6286547"/>
            <a:ext cx="300144" cy="449286"/>
          </a:xfrm>
          <a:custGeom>
            <a:avLst/>
            <a:gdLst/>
            <a:ahLst/>
            <a:cxnLst/>
            <a:rect l="l" t="t" r="r" b="b"/>
            <a:pathLst>
              <a:path w="300144" h="449286">
                <a:moveTo>
                  <a:pt x="0" y="449286"/>
                </a:moveTo>
                <a:lnTo>
                  <a:pt x="300144" y="0"/>
                </a:lnTo>
              </a:path>
            </a:pathLst>
          </a:custGeom>
          <a:noFill/>
          <a:ln w="15875">
            <a:solidFill>
              <a:srgbClr val="E8710A"/>
            </a:solidFill>
            <a:prstDash val="sysDash"/>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ASBUILT DUCT · CV-NEW SEC SAWCUT · 30.1 m"/>
          <p:cNvSpPr/>
          <p:nvPr/>
        </p:nvSpPr>
        <p:spPr>
          <a:xfrm>
            <a:off x="3237057" y="1966772"/>
            <a:ext cx="1180788" cy="2783922"/>
          </a:xfrm>
          <a:custGeom>
            <a:avLst/>
            <a:gdLst/>
            <a:ahLst/>
            <a:cxnLst/>
            <a:rect l="l" t="t" r="r" b="b"/>
            <a:pathLst>
              <a:path w="1180788" h="2783922">
                <a:moveTo>
                  <a:pt x="0" y="2783922"/>
                </a:moveTo>
                <a:lnTo>
                  <a:pt x="1180788" y="0"/>
                </a:lnTo>
              </a:path>
            </a:pathLst>
          </a:custGeom>
          <a:noFill/>
          <a:ln w="15875">
            <a:solidFill>
              <a:srgbClr val="E8710A"/>
            </a:solidFill>
            <a:prstDash val="sysDash"/>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ASBUILT DUCT · CV-NEW SEC CONDUIT · 6.8 m"/>
          <p:cNvSpPr/>
          <p:nvPr/>
        </p:nvSpPr>
        <p:spPr>
          <a:xfrm>
            <a:off x="5597893" y="3567157"/>
            <a:ext cx="498495" cy="467011"/>
          </a:xfrm>
          <a:custGeom>
            <a:avLst/>
            <a:gdLst/>
            <a:ahLst/>
            <a:cxnLst/>
            <a:rect l="l" t="t" r="r" b="b"/>
            <a:pathLst>
              <a:path w="498495" h="467011">
                <a:moveTo>
                  <a:pt x="498495" y="0"/>
                </a:moveTo>
                <a:lnTo>
                  <a:pt x="0" y="467011"/>
                </a:lnTo>
              </a:path>
            </a:pathLst>
          </a:custGeom>
          <a:noFill/>
          <a:ln w="15875">
            <a:solidFill>
              <a:srgbClr val="1E8E3E"/>
            </a:solidFill>
            <a:prstDash val="sysDash"/>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ASBUILT DUCT · CV-NEW SEC CONDUIT · 7.0 m"/>
          <p:cNvSpPr/>
          <p:nvPr/>
        </p:nvSpPr>
        <p:spPr>
          <a:xfrm>
            <a:off x="5597893" y="3392419"/>
            <a:ext cx="288568" cy="641749"/>
          </a:xfrm>
          <a:custGeom>
            <a:avLst/>
            <a:gdLst/>
            <a:ahLst/>
            <a:cxnLst/>
            <a:rect l="l" t="t" r="r" b="b"/>
            <a:pathLst>
              <a:path w="288568" h="641749">
                <a:moveTo>
                  <a:pt x="0" y="641749"/>
                </a:moveTo>
                <a:lnTo>
                  <a:pt x="288568" y="0"/>
                </a:lnTo>
              </a:path>
            </a:pathLst>
          </a:custGeom>
          <a:noFill/>
          <a:ln w="15875">
            <a:solidFill>
              <a:srgbClr val="1E8E3E"/>
            </a:solidFill>
            <a:prstDash val="sysDash"/>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ASBUILT DUCT · CV-NEW SEC CONDUIT · 6.3 m"/>
          <p:cNvSpPr/>
          <p:nvPr/>
        </p:nvSpPr>
        <p:spPr>
          <a:xfrm>
            <a:off x="8840910" y="6286547"/>
            <a:ext cx="425600" cy="462834"/>
          </a:xfrm>
          <a:custGeom>
            <a:avLst/>
            <a:gdLst/>
            <a:ahLst/>
            <a:cxnLst/>
            <a:rect l="l" t="t" r="r" b="b"/>
            <a:pathLst>
              <a:path w="425600" h="462834">
                <a:moveTo>
                  <a:pt x="0" y="462834"/>
                </a:moveTo>
                <a:lnTo>
                  <a:pt x="425600" y="0"/>
                </a:lnTo>
              </a:path>
            </a:pathLst>
          </a:custGeom>
          <a:noFill/>
          <a:ln w="15875">
            <a:solidFill>
              <a:srgbClr val="1E8E3E"/>
            </a:solidFill>
            <a:prstDash val="sysDash"/>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ASBUILT DUCT · CV-NEW SEC SAWCUT · 30.8 m"/>
          <p:cNvSpPr/>
          <p:nvPr/>
        </p:nvSpPr>
        <p:spPr>
          <a:xfrm>
            <a:off x="3435903" y="1966772"/>
            <a:ext cx="981942" cy="2934184"/>
          </a:xfrm>
          <a:custGeom>
            <a:avLst/>
            <a:gdLst/>
            <a:ahLst/>
            <a:cxnLst/>
            <a:rect l="l" t="t" r="r" b="b"/>
            <a:pathLst>
              <a:path w="981942" h="2934184">
                <a:moveTo>
                  <a:pt x="0" y="2934184"/>
                </a:moveTo>
                <a:lnTo>
                  <a:pt x="981942" y="0"/>
                </a:lnTo>
              </a:path>
            </a:pathLst>
          </a:custGeom>
          <a:noFill/>
          <a:ln w="15875">
            <a:solidFill>
              <a:srgbClr val="E8710A"/>
            </a:solidFill>
            <a:prstDash val="sysDash"/>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ASBUILT DUCT · CV-EX SEC CONDUIT · 13.5 m"/>
          <p:cNvSpPr/>
          <p:nvPr/>
        </p:nvSpPr>
        <p:spPr>
          <a:xfrm>
            <a:off x="4458899" y="4034168"/>
            <a:ext cx="1138994" cy="728279"/>
          </a:xfrm>
          <a:custGeom>
            <a:avLst/>
            <a:gdLst/>
            <a:ahLst/>
            <a:cxnLst/>
            <a:rect l="l" t="t" r="r" b="b"/>
            <a:pathLst>
              <a:path w="1138994" h="728279">
                <a:moveTo>
                  <a:pt x="1138994" y="0"/>
                </a:moveTo>
                <a:lnTo>
                  <a:pt x="0" y="728279"/>
                </a:lnTo>
              </a:path>
            </a:pathLst>
          </a:custGeom>
          <a:noFill/>
          <a:ln w="15875">
            <a:solidFill>
              <a:srgbClr val="0083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ASBUILT DUCT · CV-EX SEC CONDUIT · 10.6 m"/>
          <p:cNvSpPr/>
          <p:nvPr/>
        </p:nvSpPr>
        <p:spPr>
          <a:xfrm>
            <a:off x="4648107" y="4034168"/>
            <a:ext cx="949786" cy="491867"/>
          </a:xfrm>
          <a:custGeom>
            <a:avLst/>
            <a:gdLst/>
            <a:ahLst/>
            <a:cxnLst/>
            <a:rect l="l" t="t" r="r" b="b"/>
            <a:pathLst>
              <a:path w="949786" h="491867">
                <a:moveTo>
                  <a:pt x="0" y="491867"/>
                </a:moveTo>
                <a:lnTo>
                  <a:pt x="949786" y="0"/>
                </a:lnTo>
              </a:path>
            </a:pathLst>
          </a:custGeom>
          <a:noFill/>
          <a:ln w="15875">
            <a:solidFill>
              <a:srgbClr val="0083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ASBUILT DUCT · CV-EX SEC CONDUIT · 16.3 m"/>
          <p:cNvSpPr/>
          <p:nvPr/>
        </p:nvSpPr>
        <p:spPr>
          <a:xfrm>
            <a:off x="4269993" y="4034168"/>
            <a:ext cx="1327900" cy="965093"/>
          </a:xfrm>
          <a:custGeom>
            <a:avLst/>
            <a:gdLst/>
            <a:ahLst/>
            <a:cxnLst/>
            <a:rect l="l" t="t" r="r" b="b"/>
            <a:pathLst>
              <a:path w="1327900" h="965093">
                <a:moveTo>
                  <a:pt x="0" y="965093"/>
                </a:moveTo>
                <a:lnTo>
                  <a:pt x="1327900" y="0"/>
                </a:lnTo>
              </a:path>
            </a:pathLst>
          </a:custGeom>
          <a:noFill/>
          <a:ln w="15875">
            <a:solidFill>
              <a:srgbClr val="0083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8" name="ASBUILT DUCT · CV-EX SEC CONDUIT · 19.2 m"/>
          <p:cNvSpPr/>
          <p:nvPr/>
        </p:nvSpPr>
        <p:spPr>
          <a:xfrm>
            <a:off x="4082794" y="4034168"/>
            <a:ext cx="1515099" cy="1200601"/>
          </a:xfrm>
          <a:custGeom>
            <a:avLst/>
            <a:gdLst/>
            <a:ahLst/>
            <a:cxnLst/>
            <a:rect l="l" t="t" r="r" b="b"/>
            <a:pathLst>
              <a:path w="1515099" h="1200601">
                <a:moveTo>
                  <a:pt x="1515099" y="0"/>
                </a:moveTo>
                <a:lnTo>
                  <a:pt x="0" y="1200601"/>
                </a:lnTo>
              </a:path>
            </a:pathLst>
          </a:custGeom>
          <a:noFill/>
          <a:ln w="15875">
            <a:solidFill>
              <a:srgbClr val="0083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9" name="ASBUILT DUCT · CV-EX SEC CONDUIT · 19.2 m"/>
          <p:cNvSpPr/>
          <p:nvPr/>
        </p:nvSpPr>
        <p:spPr>
          <a:xfrm>
            <a:off x="4186450" y="4034168"/>
            <a:ext cx="1411443" cy="1313863"/>
          </a:xfrm>
          <a:custGeom>
            <a:avLst/>
            <a:gdLst/>
            <a:ahLst/>
            <a:cxnLst/>
            <a:rect l="l" t="t" r="r" b="b"/>
            <a:pathLst>
              <a:path w="1411443" h="1313863">
                <a:moveTo>
                  <a:pt x="1411443" y="0"/>
                </a:moveTo>
                <a:lnTo>
                  <a:pt x="0" y="1313863"/>
                </a:lnTo>
              </a:path>
            </a:pathLst>
          </a:custGeom>
          <a:noFill/>
          <a:ln w="15875">
            <a:solidFill>
              <a:srgbClr val="0083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0" name="ASBUILT DUCT · CV-EX SEC CONDUIT · 20.2 m"/>
          <p:cNvSpPr/>
          <p:nvPr/>
        </p:nvSpPr>
        <p:spPr>
          <a:xfrm>
            <a:off x="4137675" y="4034168"/>
            <a:ext cx="1460218" cy="1407997"/>
          </a:xfrm>
          <a:custGeom>
            <a:avLst/>
            <a:gdLst/>
            <a:ahLst/>
            <a:cxnLst/>
            <a:rect l="l" t="t" r="r" b="b"/>
            <a:pathLst>
              <a:path w="1460218" h="1407997">
                <a:moveTo>
                  <a:pt x="0" y="1407997"/>
                </a:moveTo>
                <a:lnTo>
                  <a:pt x="1460218" y="0"/>
                </a:lnTo>
              </a:path>
            </a:pathLst>
          </a:custGeom>
          <a:noFill/>
          <a:ln w="15875">
            <a:solidFill>
              <a:srgbClr val="0083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1" name="ASBUILT DUCT · CV-EX SEC CONDUIT · 20.0 m"/>
          <p:cNvSpPr/>
          <p:nvPr/>
        </p:nvSpPr>
        <p:spPr>
          <a:xfrm>
            <a:off x="4182698" y="4034168"/>
            <a:ext cx="1415195" cy="1420980"/>
          </a:xfrm>
          <a:custGeom>
            <a:avLst/>
            <a:gdLst/>
            <a:ahLst/>
            <a:cxnLst/>
            <a:rect l="l" t="t" r="r" b="b"/>
            <a:pathLst>
              <a:path w="1415195" h="1420980">
                <a:moveTo>
                  <a:pt x="0" y="1420980"/>
                </a:moveTo>
                <a:lnTo>
                  <a:pt x="1415195" y="0"/>
                </a:lnTo>
              </a:path>
            </a:pathLst>
          </a:custGeom>
          <a:noFill/>
          <a:ln w="15875">
            <a:solidFill>
              <a:srgbClr val="0083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2" name="ASBUILT DUCT · CV-EX SEC CONDUIT · 20.0 m"/>
          <p:cNvSpPr/>
          <p:nvPr/>
        </p:nvSpPr>
        <p:spPr>
          <a:xfrm>
            <a:off x="4208749" y="4034168"/>
            <a:ext cx="1389144" cy="1455445"/>
          </a:xfrm>
          <a:custGeom>
            <a:avLst/>
            <a:gdLst/>
            <a:ahLst/>
            <a:cxnLst/>
            <a:rect l="l" t="t" r="r" b="b"/>
            <a:pathLst>
              <a:path w="1389144" h="1455445">
                <a:moveTo>
                  <a:pt x="0" y="1455445"/>
                </a:moveTo>
                <a:lnTo>
                  <a:pt x="1389144" y="0"/>
                </a:lnTo>
              </a:path>
            </a:pathLst>
          </a:custGeom>
          <a:noFill/>
          <a:ln w="15875">
            <a:solidFill>
              <a:srgbClr val="0083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3" name="ASBUILT DUCT · CV-EX SEC CONDUIT · 3.1 m"/>
          <p:cNvSpPr/>
          <p:nvPr/>
        </p:nvSpPr>
        <p:spPr>
          <a:xfrm>
            <a:off x="3893888" y="5348031"/>
            <a:ext cx="292562" cy="120236"/>
          </a:xfrm>
          <a:custGeom>
            <a:avLst/>
            <a:gdLst/>
            <a:ahLst/>
            <a:cxnLst/>
            <a:rect l="l" t="t" r="r" b="b"/>
            <a:pathLst>
              <a:path w="292562" h="120236">
                <a:moveTo>
                  <a:pt x="292562" y="0"/>
                </a:moveTo>
                <a:lnTo>
                  <a:pt x="0" y="120236"/>
                </a:lnTo>
              </a:path>
            </a:pathLst>
          </a:custGeom>
          <a:noFill/>
          <a:ln w="15875">
            <a:solidFill>
              <a:srgbClr val="0083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4" name="ASBUILT DUCT · CV-EX SEC CONDUIT · 5.0 m"/>
          <p:cNvSpPr/>
          <p:nvPr/>
        </p:nvSpPr>
        <p:spPr>
          <a:xfrm>
            <a:off x="3703876" y="5442165"/>
            <a:ext cx="433799" cy="260906"/>
          </a:xfrm>
          <a:custGeom>
            <a:avLst/>
            <a:gdLst/>
            <a:ahLst/>
            <a:cxnLst/>
            <a:rect l="l" t="t" r="r" b="b"/>
            <a:pathLst>
              <a:path w="433799" h="260906">
                <a:moveTo>
                  <a:pt x="0" y="260906"/>
                </a:moveTo>
                <a:lnTo>
                  <a:pt x="433799" y="0"/>
                </a:lnTo>
              </a:path>
            </a:pathLst>
          </a:custGeom>
          <a:noFill/>
          <a:ln w="15875">
            <a:solidFill>
              <a:srgbClr val="0083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5" name="ASBUILT DUCT · CV-EX SEC CONDUIT · 8.2 m"/>
          <p:cNvSpPr/>
          <p:nvPr/>
        </p:nvSpPr>
        <p:spPr>
          <a:xfrm>
            <a:off x="3515371" y="5455148"/>
            <a:ext cx="667327" cy="483431"/>
          </a:xfrm>
          <a:custGeom>
            <a:avLst/>
            <a:gdLst/>
            <a:ahLst/>
            <a:cxnLst/>
            <a:rect l="l" t="t" r="r" b="b"/>
            <a:pathLst>
              <a:path w="667327" h="483431">
                <a:moveTo>
                  <a:pt x="0" y="483431"/>
                </a:moveTo>
                <a:lnTo>
                  <a:pt x="667327" y="0"/>
                </a:lnTo>
              </a:path>
            </a:pathLst>
          </a:custGeom>
          <a:noFill/>
          <a:ln w="15875">
            <a:solidFill>
              <a:srgbClr val="0083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6" name="ASBUILT DUCT · CV-EX SEC CONDUIT · 11.1 m"/>
          <p:cNvSpPr/>
          <p:nvPr/>
        </p:nvSpPr>
        <p:spPr>
          <a:xfrm>
            <a:off x="3327570" y="5489613"/>
            <a:ext cx="881179" cy="684172"/>
          </a:xfrm>
          <a:custGeom>
            <a:avLst/>
            <a:gdLst/>
            <a:ahLst/>
            <a:cxnLst/>
            <a:rect l="l" t="t" r="r" b="b"/>
            <a:pathLst>
              <a:path w="881179" h="684172">
                <a:moveTo>
                  <a:pt x="0" y="684172"/>
                </a:moveTo>
                <a:lnTo>
                  <a:pt x="881179" y="0"/>
                </a:lnTo>
              </a:path>
            </a:pathLst>
          </a:custGeom>
          <a:noFill/>
          <a:ln w="15875">
            <a:solidFill>
              <a:srgbClr val="0083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7" name="ASBUILT DUCT · CV-NEW SEC CONDUIT · 12.7 m"/>
          <p:cNvSpPr/>
          <p:nvPr/>
        </p:nvSpPr>
        <p:spPr>
          <a:xfrm>
            <a:off x="1662554" y="8046874"/>
            <a:ext cx="1208585" cy="327456"/>
          </a:xfrm>
          <a:custGeom>
            <a:avLst/>
            <a:gdLst/>
            <a:ahLst/>
            <a:cxnLst/>
            <a:rect l="l" t="t" r="r" b="b"/>
            <a:pathLst>
              <a:path w="1208585" h="327456">
                <a:moveTo>
                  <a:pt x="0" y="327456"/>
                </a:moveTo>
                <a:lnTo>
                  <a:pt x="1118875" y="103104"/>
                </a:lnTo>
                <a:lnTo>
                  <a:pt x="1208585" y="0"/>
                </a:lnTo>
              </a:path>
            </a:pathLst>
          </a:custGeom>
          <a:noFill/>
          <a:ln w="15875">
            <a:solidFill>
              <a:srgbClr val="1E8E3E"/>
            </a:solidFill>
            <a:prstDash val="sysDash"/>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8" name="ASBUILT DUCT · CV-NEW SEC CONDUIT · 13.8 m"/>
          <p:cNvSpPr/>
          <p:nvPr/>
        </p:nvSpPr>
        <p:spPr>
          <a:xfrm>
            <a:off x="4485378" y="1909815"/>
            <a:ext cx="1297671" cy="456213"/>
          </a:xfrm>
          <a:custGeom>
            <a:avLst/>
            <a:gdLst/>
            <a:ahLst/>
            <a:cxnLst/>
            <a:rect l="l" t="t" r="r" b="b"/>
            <a:pathLst>
              <a:path w="1297671" h="456213">
                <a:moveTo>
                  <a:pt x="0" y="9314"/>
                </a:moveTo>
                <a:lnTo>
                  <a:pt x="224946" y="0"/>
                </a:lnTo>
                <a:lnTo>
                  <a:pt x="1297671" y="456213"/>
                </a:lnTo>
              </a:path>
            </a:pathLst>
          </a:custGeom>
          <a:noFill/>
          <a:ln w="15875">
            <a:solidFill>
              <a:srgbClr val="1E8E3E"/>
            </a:solidFill>
            <a:prstDash val="sysDash"/>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9" name="ASBUILT DUCT · CV-NEW SEC SAWCUT · 29.1 m"/>
          <p:cNvSpPr/>
          <p:nvPr/>
        </p:nvSpPr>
        <p:spPr>
          <a:xfrm>
            <a:off x="2851595" y="1966772"/>
            <a:ext cx="1566250" cy="2472769"/>
          </a:xfrm>
          <a:custGeom>
            <a:avLst/>
            <a:gdLst/>
            <a:ahLst/>
            <a:cxnLst/>
            <a:rect l="l" t="t" r="r" b="b"/>
            <a:pathLst>
              <a:path w="1566250" h="2472769">
                <a:moveTo>
                  <a:pt x="0" y="2472769"/>
                </a:moveTo>
                <a:lnTo>
                  <a:pt x="1566250" y="0"/>
                </a:lnTo>
              </a:path>
            </a:pathLst>
          </a:custGeom>
          <a:noFill/>
          <a:ln w="15875">
            <a:solidFill>
              <a:srgbClr val="E8710A"/>
            </a:solidFill>
            <a:prstDash val="sysDash"/>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0" name="ASBUILT DUCT · CV-NEW SEC SAWCUT · 29.8 m"/>
          <p:cNvSpPr/>
          <p:nvPr/>
        </p:nvSpPr>
        <p:spPr>
          <a:xfrm>
            <a:off x="2263137" y="1966772"/>
            <a:ext cx="2154708" cy="2004130"/>
          </a:xfrm>
          <a:custGeom>
            <a:avLst/>
            <a:gdLst/>
            <a:ahLst/>
            <a:cxnLst/>
            <a:rect l="l" t="t" r="r" b="b"/>
            <a:pathLst>
              <a:path w="2154708" h="2004130">
                <a:moveTo>
                  <a:pt x="0" y="2004130"/>
                </a:moveTo>
                <a:lnTo>
                  <a:pt x="420138" y="1873079"/>
                </a:lnTo>
                <a:lnTo>
                  <a:pt x="2154708" y="0"/>
                </a:lnTo>
              </a:path>
            </a:pathLst>
          </a:custGeom>
          <a:noFill/>
          <a:ln w="15875">
            <a:solidFill>
              <a:srgbClr val="E8710A"/>
            </a:solidFill>
            <a:prstDash val="sysDash"/>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1" name="ASBUILT DUCT · CV-EX SEC CONDUIT · 14.8 m"/>
          <p:cNvSpPr/>
          <p:nvPr/>
        </p:nvSpPr>
        <p:spPr>
          <a:xfrm>
            <a:off x="554795" y="776864"/>
            <a:ext cx="1313363" cy="690299"/>
          </a:xfrm>
          <a:custGeom>
            <a:avLst/>
            <a:gdLst/>
            <a:ahLst/>
            <a:cxnLst/>
            <a:rect l="l" t="t" r="r" b="b"/>
            <a:pathLst>
              <a:path w="1313363" h="690299">
                <a:moveTo>
                  <a:pt x="0" y="690299"/>
                </a:moveTo>
                <a:lnTo>
                  <a:pt x="1313363" y="0"/>
                </a:lnTo>
              </a:path>
            </a:pathLst>
          </a:custGeom>
          <a:noFill/>
          <a:ln w="15875">
            <a:solidFill>
              <a:srgbClr val="0083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2" name="ASBUILT DUCT · CV_DUCT CROSSING 6x110mm dia · 57.8 m"/>
          <p:cNvSpPr/>
          <p:nvPr/>
        </p:nvSpPr>
        <p:spPr>
          <a:xfrm>
            <a:off x="1131007" y="2324144"/>
            <a:ext cx="3673113" cy="4495289"/>
          </a:xfrm>
          <a:custGeom>
            <a:avLst/>
            <a:gdLst/>
            <a:ahLst/>
            <a:cxnLst/>
            <a:rect l="l" t="t" r="r" b="b"/>
            <a:pathLst>
              <a:path w="3673113" h="4495289">
                <a:moveTo>
                  <a:pt x="3673113" y="0"/>
                </a:moveTo>
                <a:lnTo>
                  <a:pt x="0" y="4495289"/>
                </a:lnTo>
              </a:path>
            </a:pathLst>
          </a:custGeom>
          <a:noFill/>
          <a:ln w="22225">
            <a:solidFill>
              <a:srgbClr val="C218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3" name="ASBUILT DUCT · CV_GRND DUCT · 1.4 m"/>
          <p:cNvSpPr/>
          <p:nvPr/>
        </p:nvSpPr>
        <p:spPr>
          <a:xfrm>
            <a:off x="4175233" y="1280764"/>
            <a:ext cx="110659" cy="78456"/>
          </a:xfrm>
          <a:custGeom>
            <a:avLst/>
            <a:gdLst/>
            <a:ahLst/>
            <a:cxnLst/>
            <a:rect l="l" t="t" r="r" b="b"/>
            <a:pathLst>
              <a:path w="110659" h="78456">
                <a:moveTo>
                  <a:pt x="110659" y="0"/>
                </a:moveTo>
                <a:lnTo>
                  <a:pt x="0" y="78456"/>
                </a:lnTo>
              </a:path>
            </a:pathLst>
          </a:custGeom>
          <a:noFill/>
          <a:ln w="9525">
            <a:solidFill>
              <a:srgbClr val="795548"/>
            </a:solidFill>
            <a:prstDash val="sysDot"/>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4" name="ASBUILT DUCT · CV_GRND DUCT · 1.0 m"/>
          <p:cNvSpPr/>
          <p:nvPr/>
        </p:nvSpPr>
        <p:spPr>
          <a:xfrm>
            <a:off x="319771" y="6406902"/>
            <a:ext cx="46851" cy="92772"/>
          </a:xfrm>
          <a:custGeom>
            <a:avLst/>
            <a:gdLst/>
            <a:ahLst/>
            <a:cxnLst/>
            <a:rect l="l" t="t" r="r" b="b"/>
            <a:pathLst>
              <a:path w="46851" h="92772">
                <a:moveTo>
                  <a:pt x="0" y="92772"/>
                </a:moveTo>
                <a:lnTo>
                  <a:pt x="46851" y="0"/>
                </a:lnTo>
              </a:path>
            </a:pathLst>
          </a:custGeom>
          <a:noFill/>
          <a:ln w="9525">
            <a:solidFill>
              <a:srgbClr val="795548"/>
            </a:solidFill>
            <a:prstDash val="sysDot"/>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5" name="ASBUILT DUCT · CV_INNER DUCT 4x110mm dia · 66.6 m"/>
          <p:cNvSpPr/>
          <p:nvPr/>
        </p:nvSpPr>
        <p:spPr>
          <a:xfrm>
            <a:off x="4836208" y="2399704"/>
            <a:ext cx="5039478" cy="4389855"/>
          </a:xfrm>
          <a:custGeom>
            <a:avLst/>
            <a:gdLst/>
            <a:ahLst/>
            <a:cxnLst/>
            <a:rect l="l" t="t" r="r" b="b"/>
            <a:pathLst>
              <a:path w="5039478" h="4389855">
                <a:moveTo>
                  <a:pt x="5039478" y="4389855"/>
                </a:moveTo>
                <a:lnTo>
                  <a:pt x="3319165" y="3007241"/>
                </a:lnTo>
                <a:lnTo>
                  <a:pt x="2258067" y="2096524"/>
                </a:lnTo>
                <a:lnTo>
                  <a:pt x="1050253" y="992715"/>
                </a:lnTo>
                <a:lnTo>
                  <a:pt x="0" y="0"/>
                </a:lnTo>
              </a:path>
            </a:pathLst>
          </a:custGeom>
          <a:noFill/>
          <a:ln w="12700">
            <a:solidFill>
              <a:srgbClr val="0B3D9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6" name="ASBUILT DUCT · CV_OUTER DUCT 4x110mm dia · 65.3 m"/>
          <p:cNvSpPr/>
          <p:nvPr/>
        </p:nvSpPr>
        <p:spPr>
          <a:xfrm>
            <a:off x="4917197" y="2298759"/>
            <a:ext cx="4958499" cy="4293338"/>
          </a:xfrm>
          <a:custGeom>
            <a:avLst/>
            <a:gdLst/>
            <a:ahLst/>
            <a:cxnLst/>
            <a:rect l="l" t="t" r="r" b="b"/>
            <a:pathLst>
              <a:path w="4958499" h="4293338">
                <a:moveTo>
                  <a:pt x="4958499" y="4293338"/>
                </a:moveTo>
                <a:lnTo>
                  <a:pt x="2307006" y="2148262"/>
                </a:lnTo>
                <a:lnTo>
                  <a:pt x="2250400" y="2099277"/>
                </a:lnTo>
                <a:lnTo>
                  <a:pt x="0" y="0"/>
                </a:lnTo>
              </a:path>
            </a:pathLst>
          </a:custGeom>
          <a:noFill/>
          <a:ln w="22225">
            <a:solidFill>
              <a:srgbClr val="0B3D9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7" name="ASBUILT DUCT · CV_STH DUCT 6x110mm dia · 30.4 m"/>
          <p:cNvSpPr/>
          <p:nvPr/>
        </p:nvSpPr>
        <p:spPr>
          <a:xfrm>
            <a:off x="319777" y="6379430"/>
            <a:ext cx="2551362" cy="1667444"/>
          </a:xfrm>
          <a:custGeom>
            <a:avLst/>
            <a:gdLst/>
            <a:ahLst/>
            <a:cxnLst/>
            <a:rect l="l" t="t" r="r" b="b"/>
            <a:pathLst>
              <a:path w="2551362" h="1667444">
                <a:moveTo>
                  <a:pt x="2551362" y="1667444"/>
                </a:moveTo>
                <a:lnTo>
                  <a:pt x="2493429" y="1620840"/>
                </a:lnTo>
                <a:lnTo>
                  <a:pt x="913280" y="521947"/>
                </a:lnTo>
                <a:lnTo>
                  <a:pt x="709190" y="358070"/>
                </a:lnTo>
                <a:lnTo>
                  <a:pt x="0" y="0"/>
                </a:lnTo>
              </a:path>
            </a:pathLst>
          </a:custGeom>
          <a:noFill/>
          <a:ln w="22225">
            <a:solidFill>
              <a:srgbClr val="6A1B9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8" name="ASBUILT DUCT · CV_INNER DUCT 4x110mm dia · 17.6 m"/>
          <p:cNvSpPr/>
          <p:nvPr/>
        </p:nvSpPr>
        <p:spPr>
          <a:xfrm>
            <a:off x="3625220" y="776947"/>
            <a:ext cx="1010827" cy="1453977"/>
          </a:xfrm>
          <a:custGeom>
            <a:avLst/>
            <a:gdLst/>
            <a:ahLst/>
            <a:cxnLst/>
            <a:rect l="l" t="t" r="r" b="b"/>
            <a:pathLst>
              <a:path w="1010827" h="1453977">
                <a:moveTo>
                  <a:pt x="0" y="0"/>
                </a:moveTo>
                <a:lnTo>
                  <a:pt x="792625" y="1189825"/>
                </a:lnTo>
                <a:lnTo>
                  <a:pt x="1010827" y="1453977"/>
                </a:lnTo>
              </a:path>
            </a:pathLst>
          </a:custGeom>
          <a:noFill/>
          <a:ln w="12700">
            <a:solidFill>
              <a:srgbClr val="0B3D9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9" name="ASBUILT DUCT · CV_OUTER DUCT 4x110mm dia · 16.4 m"/>
          <p:cNvSpPr/>
          <p:nvPr/>
        </p:nvSpPr>
        <p:spPr>
          <a:xfrm>
            <a:off x="3783650" y="776954"/>
            <a:ext cx="929387" cy="1358009"/>
          </a:xfrm>
          <a:custGeom>
            <a:avLst/>
            <a:gdLst/>
            <a:ahLst/>
            <a:cxnLst/>
            <a:rect l="l" t="t" r="r" b="b"/>
            <a:pathLst>
              <a:path w="929387" h="1358009">
                <a:moveTo>
                  <a:pt x="0" y="0"/>
                </a:moveTo>
                <a:lnTo>
                  <a:pt x="830494" y="1234911"/>
                </a:lnTo>
                <a:lnTo>
                  <a:pt x="929387" y="1358009"/>
                </a:lnTo>
              </a:path>
            </a:pathLst>
          </a:custGeom>
          <a:noFill/>
          <a:ln w="22225">
            <a:solidFill>
              <a:srgbClr val="0B3D9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 2"/>
          <p:cNvSpPr/>
          <p:nvPr/>
        </p:nvSpPr>
        <p:spPr>
          <a:xfrm>
            <a:off x="393192" y="10058400"/>
            <a:ext cx="6858000" cy="228600"/>
          </a:xfrm>
          <a:prstGeom prst="rect">
            <a:avLst/>
          </a:prstGeom>
          <a:noFill/>
          <a:ln/>
        </p:spPr>
        <p:txBody>
          <a:bodyPr wrap="square" lIns="0" tIns="0" rIns="0" bIns="0" rtlCol="0" anchor="ctr"/>
          <a:lstStyle/>
          <a:p>
            <a:pPr marL="0" indent="0">
              <a:buNone/>
            </a:pPr>
            <a:endParaRPr lang="en-US" sz="700" dirty="0"/>
            <a:r>
              <a:rPr lang="en-US" sz="700" i="1" dirty="0">
                <a:solidFill>
                  <a:srgbClr val="9AA0A6"/>
                </a:solidFill>
                <a:latin typeface="Arial" pitchFamily="34" charset="0"/>
                <a:ea typeface="Arial" pitchFamily="34" charset="-122"/>
                <a:cs typeface="Arial" pitchFamily="34" charset="-120"/>
              </a:rPr>
              <a:t>ZIA LOCAL PROJECT GRID (m) — NOT UTM, NOT SURVEYED  ·  FRAME = 95.1 m ACROSS  ·  NOT TO SCALE WHEN EDITED</a:t>
            </a:r>
          </a:p>
        </p:txBody>
      </p:sp>
      <p:sp>
        <p:nvSpPr>
          <p:cNvPr id="5" name="Shape 3"/>
          <p:cNvSpPr/>
          <p:nvPr/>
        </p:nvSpPr>
        <p:spPr>
          <a:xfrm>
            <a:off x="7415709" y="9583565"/>
            <a:ext cx="283772" cy="227954"/>
          </a:xfrm>
          <a:prstGeom prst="line">
            <a:avLst/>
          </a:prstGeom>
          <a:noFill/>
          <a:ln w="12700">
            <a:solidFill>
              <a:srgbClr val="7A8288"/>
            </a:solidFill>
            <a:prstDash val="solid"/>
          </a:ln>
        </p:spPr>
        <p:txBody>
          <a:bodyPr/>
          <a:lstStyle/>
          <a:p>
            <a:endParaRPr lang="en-US"/>
          </a:p>
        </p:txBody>
      </p:sp>
      <p:sp>
        <p:nvSpPr>
          <p:cNvPr id="6" name="Shape 4"/>
          <p:cNvSpPr/>
          <p:nvPr/>
        </p:nvSpPr>
        <p:spPr>
          <a:xfrm>
            <a:off x="7414605" y="9582661"/>
            <a:ext cx="1104" cy="914"/>
          </a:xfrm>
          <a:prstGeom prst="line">
            <a:avLst/>
          </a:prstGeom>
          <a:noFill/>
          <a:ln w="12700">
            <a:solidFill>
              <a:srgbClr val="7A8288"/>
            </a:solidFill>
            <a:prstDash val="solid"/>
          </a:ln>
        </p:spPr>
        <p:txBody>
          <a:bodyPr/>
          <a:lstStyle/>
          <a:p>
            <a:endParaRPr lang="en-US"/>
          </a:p>
        </p:txBody>
      </p:sp>
      <p:sp>
        <p:nvSpPr>
          <p:cNvPr id="7" name="Shape 5"/>
          <p:cNvSpPr/>
          <p:nvPr/>
        </p:nvSpPr>
        <p:spPr>
          <a:xfrm>
            <a:off x="6830317" y="9112099"/>
            <a:ext cx="584288" cy="470562"/>
          </a:xfrm>
          <a:prstGeom prst="line">
            <a:avLst/>
          </a:prstGeom>
          <a:noFill/>
          <a:ln w="12700">
            <a:solidFill>
              <a:srgbClr val="7A8288"/>
            </a:solidFill>
            <a:prstDash val="solid"/>
          </a:ln>
        </p:spPr>
        <p:txBody>
          <a:bodyPr/>
          <a:lstStyle/>
          <a:p>
            <a:endParaRPr lang="en-US"/>
          </a:p>
        </p:txBody>
      </p:sp>
      <p:sp>
        <p:nvSpPr>
          <p:cNvPr id="8" name="Shape 6"/>
          <p:cNvSpPr/>
          <p:nvPr/>
        </p:nvSpPr>
        <p:spPr>
          <a:xfrm>
            <a:off x="6244925" y="8643746"/>
            <a:ext cx="585392" cy="468354"/>
          </a:xfrm>
          <a:prstGeom prst="line">
            <a:avLst/>
          </a:prstGeom>
          <a:noFill/>
          <a:ln w="12700">
            <a:solidFill>
              <a:srgbClr val="7A8288"/>
            </a:solidFill>
            <a:prstDash val="solid"/>
          </a:ln>
        </p:spPr>
        <p:txBody>
          <a:bodyPr/>
          <a:lstStyle/>
          <a:p>
            <a:endParaRPr lang="en-US"/>
          </a:p>
        </p:txBody>
      </p:sp>
      <p:sp>
        <p:nvSpPr>
          <p:cNvPr id="9" name="Shape 7"/>
          <p:cNvSpPr/>
          <p:nvPr/>
        </p:nvSpPr>
        <p:spPr>
          <a:xfrm>
            <a:off x="6243018" y="8642240"/>
            <a:ext cx="1907" cy="1506"/>
          </a:xfrm>
          <a:prstGeom prst="line">
            <a:avLst/>
          </a:prstGeom>
          <a:noFill/>
          <a:ln w="12700">
            <a:solidFill>
              <a:srgbClr val="7A8288"/>
            </a:solidFill>
            <a:prstDash val="solid"/>
          </a:ln>
        </p:spPr>
        <p:txBody>
          <a:bodyPr/>
          <a:lstStyle/>
          <a:p>
            <a:endParaRPr lang="en-US"/>
          </a:p>
        </p:txBody>
      </p:sp>
      <p:sp>
        <p:nvSpPr>
          <p:cNvPr id="10" name="Shape 8"/>
          <p:cNvSpPr/>
          <p:nvPr/>
        </p:nvSpPr>
        <p:spPr>
          <a:xfrm>
            <a:off x="5656723" y="8171377"/>
            <a:ext cx="586295" cy="470863"/>
          </a:xfrm>
          <a:prstGeom prst="line">
            <a:avLst/>
          </a:prstGeom>
          <a:noFill/>
          <a:ln w="12700">
            <a:solidFill>
              <a:srgbClr val="7A8288"/>
            </a:solidFill>
            <a:prstDash val="solid"/>
          </a:ln>
        </p:spPr>
        <p:txBody>
          <a:bodyPr/>
          <a:lstStyle/>
          <a:p>
            <a:endParaRPr lang="en-US"/>
          </a:p>
        </p:txBody>
      </p:sp>
      <p:sp>
        <p:nvSpPr>
          <p:cNvPr id="11" name="Shape 9"/>
          <p:cNvSpPr/>
          <p:nvPr/>
        </p:nvSpPr>
        <p:spPr>
          <a:xfrm>
            <a:off x="5069022" y="7703023"/>
            <a:ext cx="587701" cy="468354"/>
          </a:xfrm>
          <a:prstGeom prst="line">
            <a:avLst/>
          </a:prstGeom>
          <a:noFill/>
          <a:ln w="12700">
            <a:solidFill>
              <a:srgbClr val="7A8288"/>
            </a:solidFill>
            <a:prstDash val="solid"/>
          </a:ln>
        </p:spPr>
        <p:txBody>
          <a:bodyPr/>
          <a:lstStyle/>
          <a:p>
            <a:endParaRPr lang="en-US"/>
          </a:p>
        </p:txBody>
      </p:sp>
      <p:sp>
        <p:nvSpPr>
          <p:cNvPr id="12" name="Shape 10"/>
          <p:cNvSpPr/>
          <p:nvPr/>
        </p:nvSpPr>
        <p:spPr>
          <a:xfrm>
            <a:off x="5062799" y="7698004"/>
            <a:ext cx="6223" cy="5019"/>
          </a:xfrm>
          <a:prstGeom prst="line">
            <a:avLst/>
          </a:prstGeom>
          <a:noFill/>
          <a:ln w="12700">
            <a:solidFill>
              <a:srgbClr val="7A8288"/>
            </a:solidFill>
            <a:prstDash val="solid"/>
          </a:ln>
        </p:spPr>
        <p:txBody>
          <a:bodyPr/>
          <a:lstStyle/>
          <a:p>
            <a:endParaRPr lang="en-US"/>
          </a:p>
        </p:txBody>
      </p:sp>
      <p:sp>
        <p:nvSpPr>
          <p:cNvPr id="13" name="Shape 11"/>
          <p:cNvSpPr/>
          <p:nvPr/>
        </p:nvSpPr>
        <p:spPr>
          <a:xfrm>
            <a:off x="4479013" y="7226138"/>
            <a:ext cx="583786" cy="471867"/>
          </a:xfrm>
          <a:prstGeom prst="line">
            <a:avLst/>
          </a:prstGeom>
          <a:noFill/>
          <a:ln w="12700">
            <a:solidFill>
              <a:srgbClr val="7A8288"/>
            </a:solidFill>
            <a:prstDash val="solid"/>
          </a:ln>
        </p:spPr>
        <p:txBody>
          <a:bodyPr/>
          <a:lstStyle/>
          <a:p>
            <a:endParaRPr lang="en-US"/>
          </a:p>
        </p:txBody>
      </p:sp>
      <p:sp>
        <p:nvSpPr>
          <p:cNvPr id="14" name="Shape 12"/>
          <p:cNvSpPr/>
          <p:nvPr/>
        </p:nvSpPr>
        <p:spPr>
          <a:xfrm>
            <a:off x="3893521" y="6754572"/>
            <a:ext cx="585492" cy="471566"/>
          </a:xfrm>
          <a:prstGeom prst="line">
            <a:avLst/>
          </a:prstGeom>
          <a:noFill/>
          <a:ln w="12700">
            <a:solidFill>
              <a:srgbClr val="7A8288"/>
            </a:solidFill>
            <a:prstDash val="solid"/>
          </a:ln>
        </p:spPr>
        <p:txBody>
          <a:bodyPr/>
          <a:lstStyle/>
          <a:p>
            <a:endParaRPr lang="en-US"/>
          </a:p>
        </p:txBody>
      </p:sp>
      <p:sp>
        <p:nvSpPr>
          <p:cNvPr id="15" name="Shape 13"/>
          <p:cNvSpPr/>
          <p:nvPr/>
        </p:nvSpPr>
        <p:spPr>
          <a:xfrm>
            <a:off x="3307928" y="6287523"/>
            <a:ext cx="585593" cy="467049"/>
          </a:xfrm>
          <a:prstGeom prst="line">
            <a:avLst/>
          </a:prstGeom>
          <a:noFill/>
          <a:ln w="12700">
            <a:solidFill>
              <a:srgbClr val="7A8288"/>
            </a:solidFill>
            <a:prstDash val="solid"/>
          </a:ln>
        </p:spPr>
        <p:txBody>
          <a:bodyPr/>
          <a:lstStyle/>
          <a:p>
            <a:endParaRPr lang="en-US"/>
          </a:p>
        </p:txBody>
      </p:sp>
      <p:sp>
        <p:nvSpPr>
          <p:cNvPr id="16" name="Shape 14"/>
          <p:cNvSpPr/>
          <p:nvPr/>
        </p:nvSpPr>
        <p:spPr>
          <a:xfrm>
            <a:off x="3305419" y="6285515"/>
            <a:ext cx="2509" cy="2008"/>
          </a:xfrm>
          <a:prstGeom prst="line">
            <a:avLst/>
          </a:prstGeom>
          <a:noFill/>
          <a:ln w="12700">
            <a:solidFill>
              <a:srgbClr val="7A8288"/>
            </a:solidFill>
            <a:prstDash val="solid"/>
          </a:ln>
        </p:spPr>
        <p:txBody>
          <a:bodyPr/>
          <a:lstStyle/>
          <a:p>
            <a:endParaRPr lang="en-US"/>
          </a:p>
        </p:txBody>
      </p:sp>
      <p:sp>
        <p:nvSpPr>
          <p:cNvPr id="17" name="Shape 15"/>
          <p:cNvSpPr/>
          <p:nvPr/>
        </p:nvSpPr>
        <p:spPr>
          <a:xfrm>
            <a:off x="2723339" y="5818366"/>
            <a:ext cx="582080" cy="467149"/>
          </a:xfrm>
          <a:prstGeom prst="line">
            <a:avLst/>
          </a:prstGeom>
          <a:noFill/>
          <a:ln w="12700">
            <a:solidFill>
              <a:srgbClr val="7A8288"/>
            </a:solidFill>
            <a:prstDash val="solid"/>
          </a:ln>
        </p:spPr>
        <p:txBody>
          <a:bodyPr/>
          <a:lstStyle/>
          <a:p>
            <a:endParaRPr lang="en-US"/>
          </a:p>
        </p:txBody>
      </p:sp>
      <p:sp>
        <p:nvSpPr>
          <p:cNvPr id="18" name="Shape 16"/>
          <p:cNvSpPr/>
          <p:nvPr/>
        </p:nvSpPr>
        <p:spPr>
          <a:xfrm>
            <a:off x="2520479" y="5656661"/>
            <a:ext cx="202860" cy="161705"/>
          </a:xfrm>
          <a:prstGeom prst="line">
            <a:avLst/>
          </a:prstGeom>
          <a:noFill/>
          <a:ln w="12700">
            <a:solidFill>
              <a:srgbClr val="7A8288"/>
            </a:solidFill>
            <a:prstDash val="solid"/>
          </a:ln>
        </p:spPr>
        <p:txBody>
          <a:bodyPr/>
          <a:lstStyle/>
          <a:p>
            <a:endParaRPr lang="en-US"/>
          </a:p>
        </p:txBody>
      </p:sp>
      <p:sp>
        <p:nvSpPr>
          <p:cNvPr id="19" name="Shape 17"/>
          <p:cNvSpPr/>
          <p:nvPr/>
        </p:nvSpPr>
        <p:spPr>
          <a:xfrm>
            <a:off x="2515762" y="5652846"/>
            <a:ext cx="4718" cy="3814"/>
          </a:xfrm>
          <a:prstGeom prst="line">
            <a:avLst/>
          </a:prstGeom>
          <a:noFill/>
          <a:ln w="12700">
            <a:solidFill>
              <a:srgbClr val="7A8288"/>
            </a:solidFill>
            <a:prstDash val="solid"/>
          </a:ln>
        </p:spPr>
        <p:txBody>
          <a:bodyPr/>
          <a:lstStyle/>
          <a:p>
            <a:endParaRPr lang="en-US"/>
          </a:p>
        </p:txBody>
      </p:sp>
      <p:sp>
        <p:nvSpPr>
          <p:cNvPr id="20" name="Shape 18"/>
          <p:cNvSpPr/>
          <p:nvPr/>
        </p:nvSpPr>
        <p:spPr>
          <a:xfrm>
            <a:off x="2243141" y="5433124"/>
            <a:ext cx="272621" cy="219723"/>
          </a:xfrm>
          <a:prstGeom prst="line">
            <a:avLst/>
          </a:prstGeom>
          <a:noFill/>
          <a:ln w="12700">
            <a:solidFill>
              <a:srgbClr val="7A8288"/>
            </a:solidFill>
            <a:prstDash val="solid"/>
          </a:ln>
        </p:spPr>
        <p:txBody>
          <a:bodyPr/>
          <a:lstStyle/>
          <a:p>
            <a:endParaRPr lang="en-US"/>
          </a:p>
        </p:txBody>
      </p:sp>
      <p:sp>
        <p:nvSpPr>
          <p:cNvPr id="21" name="Shape 19"/>
          <p:cNvSpPr/>
          <p:nvPr/>
        </p:nvSpPr>
        <p:spPr>
          <a:xfrm>
            <a:off x="2134233" y="5383137"/>
            <a:ext cx="108908" cy="49987"/>
          </a:xfrm>
          <a:prstGeom prst="line">
            <a:avLst/>
          </a:prstGeom>
          <a:noFill/>
          <a:ln w="12700">
            <a:solidFill>
              <a:srgbClr val="7A8288"/>
            </a:solidFill>
            <a:prstDash val="solid"/>
          </a:ln>
        </p:spPr>
        <p:txBody>
          <a:bodyPr/>
          <a:lstStyle/>
          <a:p>
            <a:endParaRPr lang="en-US"/>
          </a:p>
        </p:txBody>
      </p:sp>
      <p:sp>
        <p:nvSpPr>
          <p:cNvPr id="22" name="Shape 20"/>
          <p:cNvSpPr/>
          <p:nvPr/>
        </p:nvSpPr>
        <p:spPr>
          <a:xfrm>
            <a:off x="2028136" y="5327629"/>
            <a:ext cx="106097" cy="55508"/>
          </a:xfrm>
          <a:prstGeom prst="line">
            <a:avLst/>
          </a:prstGeom>
          <a:noFill/>
          <a:ln w="12700">
            <a:solidFill>
              <a:srgbClr val="7A8288"/>
            </a:solidFill>
            <a:prstDash val="solid"/>
          </a:ln>
        </p:spPr>
        <p:txBody>
          <a:bodyPr/>
          <a:lstStyle/>
          <a:p>
            <a:endParaRPr lang="en-US"/>
          </a:p>
        </p:txBody>
      </p:sp>
      <p:sp>
        <p:nvSpPr>
          <p:cNvPr id="23" name="Shape 21"/>
          <p:cNvSpPr/>
          <p:nvPr/>
        </p:nvSpPr>
        <p:spPr>
          <a:xfrm>
            <a:off x="1928362" y="5261280"/>
            <a:ext cx="99774" cy="66348"/>
          </a:xfrm>
          <a:prstGeom prst="line">
            <a:avLst/>
          </a:prstGeom>
          <a:noFill/>
          <a:ln w="12700">
            <a:solidFill>
              <a:srgbClr val="7A8288"/>
            </a:solidFill>
            <a:prstDash val="solid"/>
          </a:ln>
        </p:spPr>
        <p:txBody>
          <a:bodyPr/>
          <a:lstStyle/>
          <a:p>
            <a:endParaRPr lang="en-US"/>
          </a:p>
        </p:txBody>
      </p:sp>
      <p:sp>
        <p:nvSpPr>
          <p:cNvPr id="24" name="Shape 22"/>
          <p:cNvSpPr/>
          <p:nvPr/>
        </p:nvSpPr>
        <p:spPr>
          <a:xfrm>
            <a:off x="1836016" y="5185095"/>
            <a:ext cx="92346" cy="76185"/>
          </a:xfrm>
          <a:prstGeom prst="line">
            <a:avLst/>
          </a:prstGeom>
          <a:noFill/>
          <a:ln w="12700">
            <a:solidFill>
              <a:srgbClr val="7A8288"/>
            </a:solidFill>
            <a:prstDash val="solid"/>
          </a:ln>
        </p:spPr>
        <p:txBody>
          <a:bodyPr/>
          <a:lstStyle/>
          <a:p>
            <a:endParaRPr lang="en-US"/>
          </a:p>
        </p:txBody>
      </p:sp>
      <p:sp>
        <p:nvSpPr>
          <p:cNvPr id="25" name="Shape 23"/>
          <p:cNvSpPr/>
          <p:nvPr/>
        </p:nvSpPr>
        <p:spPr>
          <a:xfrm>
            <a:off x="1752002" y="5099675"/>
            <a:ext cx="84015" cy="85420"/>
          </a:xfrm>
          <a:prstGeom prst="line">
            <a:avLst/>
          </a:prstGeom>
          <a:noFill/>
          <a:ln w="12700">
            <a:solidFill>
              <a:srgbClr val="7A8288"/>
            </a:solidFill>
            <a:prstDash val="solid"/>
          </a:ln>
        </p:spPr>
        <p:txBody>
          <a:bodyPr/>
          <a:lstStyle/>
          <a:p>
            <a:endParaRPr lang="en-US"/>
          </a:p>
        </p:txBody>
      </p:sp>
      <p:sp>
        <p:nvSpPr>
          <p:cNvPr id="26" name="Shape 24"/>
          <p:cNvSpPr/>
          <p:nvPr/>
        </p:nvSpPr>
        <p:spPr>
          <a:xfrm>
            <a:off x="1740358" y="5085121"/>
            <a:ext cx="11644" cy="14554"/>
          </a:xfrm>
          <a:prstGeom prst="line">
            <a:avLst/>
          </a:prstGeom>
          <a:noFill/>
          <a:ln w="12700">
            <a:solidFill>
              <a:srgbClr val="7A8288"/>
            </a:solidFill>
            <a:prstDash val="solid"/>
          </a:ln>
        </p:spPr>
        <p:txBody>
          <a:bodyPr/>
          <a:lstStyle/>
          <a:p>
            <a:endParaRPr lang="en-US"/>
          </a:p>
        </p:txBody>
      </p:sp>
      <p:sp>
        <p:nvSpPr>
          <p:cNvPr id="27" name="Shape 25"/>
          <p:cNvSpPr/>
          <p:nvPr/>
        </p:nvSpPr>
        <p:spPr>
          <a:xfrm>
            <a:off x="1665076" y="5068659"/>
            <a:ext cx="75282" cy="16462"/>
          </a:xfrm>
          <a:prstGeom prst="line">
            <a:avLst/>
          </a:prstGeom>
          <a:noFill/>
          <a:ln w="12700">
            <a:solidFill>
              <a:srgbClr val="7A8288"/>
            </a:solidFill>
            <a:prstDash val="solid"/>
          </a:ln>
        </p:spPr>
        <p:txBody>
          <a:bodyPr/>
          <a:lstStyle/>
          <a:p>
            <a:endParaRPr lang="en-US"/>
          </a:p>
        </p:txBody>
      </p:sp>
      <p:sp>
        <p:nvSpPr>
          <p:cNvPr id="28" name="Shape 26"/>
          <p:cNvSpPr/>
          <p:nvPr/>
        </p:nvSpPr>
        <p:spPr>
          <a:xfrm>
            <a:off x="1559782" y="5034933"/>
            <a:ext cx="105294" cy="33726"/>
          </a:xfrm>
          <a:prstGeom prst="line">
            <a:avLst/>
          </a:prstGeom>
          <a:noFill/>
          <a:ln w="12700">
            <a:solidFill>
              <a:srgbClr val="7A8288"/>
            </a:solidFill>
            <a:prstDash val="solid"/>
          </a:ln>
        </p:spPr>
        <p:txBody>
          <a:bodyPr/>
          <a:lstStyle/>
          <a:p>
            <a:endParaRPr lang="en-US"/>
          </a:p>
        </p:txBody>
      </p:sp>
      <p:sp>
        <p:nvSpPr>
          <p:cNvPr id="29" name="Shape 27"/>
          <p:cNvSpPr/>
          <p:nvPr/>
        </p:nvSpPr>
        <p:spPr>
          <a:xfrm>
            <a:off x="1458202" y="4991269"/>
            <a:ext cx="101580" cy="43663"/>
          </a:xfrm>
          <a:prstGeom prst="line">
            <a:avLst/>
          </a:prstGeom>
          <a:noFill/>
          <a:ln w="12700">
            <a:solidFill>
              <a:srgbClr val="7A8288"/>
            </a:solidFill>
            <a:prstDash val="solid"/>
          </a:ln>
        </p:spPr>
        <p:txBody>
          <a:bodyPr/>
          <a:lstStyle/>
          <a:p>
            <a:endParaRPr lang="en-US"/>
          </a:p>
        </p:txBody>
      </p:sp>
      <p:sp>
        <p:nvSpPr>
          <p:cNvPr id="30" name="Shape 28"/>
          <p:cNvSpPr/>
          <p:nvPr/>
        </p:nvSpPr>
        <p:spPr>
          <a:xfrm>
            <a:off x="1361339" y="4938070"/>
            <a:ext cx="96863" cy="53199"/>
          </a:xfrm>
          <a:prstGeom prst="line">
            <a:avLst/>
          </a:prstGeom>
          <a:noFill/>
          <a:ln w="12700">
            <a:solidFill>
              <a:srgbClr val="7A8288"/>
            </a:solidFill>
            <a:prstDash val="solid"/>
          </a:ln>
        </p:spPr>
        <p:txBody>
          <a:bodyPr/>
          <a:lstStyle/>
          <a:p>
            <a:endParaRPr lang="en-US"/>
          </a:p>
        </p:txBody>
      </p:sp>
      <p:sp>
        <p:nvSpPr>
          <p:cNvPr id="31" name="Shape 29"/>
          <p:cNvSpPr/>
          <p:nvPr/>
        </p:nvSpPr>
        <p:spPr>
          <a:xfrm>
            <a:off x="1269897" y="4875837"/>
            <a:ext cx="91442" cy="62233"/>
          </a:xfrm>
          <a:prstGeom prst="line">
            <a:avLst/>
          </a:prstGeom>
          <a:noFill/>
          <a:ln w="12700">
            <a:solidFill>
              <a:srgbClr val="7A8288"/>
            </a:solidFill>
            <a:prstDash val="solid"/>
          </a:ln>
        </p:spPr>
        <p:txBody>
          <a:bodyPr/>
          <a:lstStyle/>
          <a:p>
            <a:endParaRPr lang="en-US"/>
          </a:p>
        </p:txBody>
      </p:sp>
      <p:sp>
        <p:nvSpPr>
          <p:cNvPr id="32" name="Shape 30"/>
          <p:cNvSpPr/>
          <p:nvPr/>
        </p:nvSpPr>
        <p:spPr>
          <a:xfrm>
            <a:off x="1184878" y="4805172"/>
            <a:ext cx="85018" cy="70665"/>
          </a:xfrm>
          <a:prstGeom prst="line">
            <a:avLst/>
          </a:prstGeom>
          <a:noFill/>
          <a:ln w="12700">
            <a:solidFill>
              <a:srgbClr val="7A8288"/>
            </a:solidFill>
            <a:prstDash val="solid"/>
          </a:ln>
        </p:spPr>
        <p:txBody>
          <a:bodyPr/>
          <a:lstStyle/>
          <a:p>
            <a:endParaRPr lang="en-US"/>
          </a:p>
        </p:txBody>
      </p:sp>
      <p:sp>
        <p:nvSpPr>
          <p:cNvPr id="33" name="Shape 31"/>
          <p:cNvSpPr/>
          <p:nvPr/>
        </p:nvSpPr>
        <p:spPr>
          <a:xfrm>
            <a:off x="1148342" y="4768334"/>
            <a:ext cx="36537" cy="36838"/>
          </a:xfrm>
          <a:prstGeom prst="line">
            <a:avLst/>
          </a:prstGeom>
          <a:noFill/>
          <a:ln w="12700">
            <a:solidFill>
              <a:srgbClr val="7A8288"/>
            </a:solidFill>
            <a:prstDash val="solid"/>
          </a:ln>
        </p:spPr>
        <p:txBody>
          <a:bodyPr/>
          <a:lstStyle/>
          <a:p>
            <a:endParaRPr lang="en-US"/>
          </a:p>
        </p:txBody>
      </p:sp>
      <p:sp>
        <p:nvSpPr>
          <p:cNvPr id="34" name="Shape 32"/>
          <p:cNvSpPr/>
          <p:nvPr/>
        </p:nvSpPr>
        <p:spPr>
          <a:xfrm>
            <a:off x="1067639" y="4756490"/>
            <a:ext cx="80702" cy="11844"/>
          </a:xfrm>
          <a:prstGeom prst="line">
            <a:avLst/>
          </a:prstGeom>
          <a:noFill/>
          <a:ln w="12700">
            <a:solidFill>
              <a:srgbClr val="7A8288"/>
            </a:solidFill>
            <a:prstDash val="solid"/>
          </a:ln>
        </p:spPr>
        <p:txBody>
          <a:bodyPr/>
          <a:lstStyle/>
          <a:p>
            <a:endParaRPr lang="en-US"/>
          </a:p>
        </p:txBody>
      </p:sp>
      <p:sp>
        <p:nvSpPr>
          <p:cNvPr id="35" name="Shape 33"/>
          <p:cNvSpPr/>
          <p:nvPr/>
        </p:nvSpPr>
        <p:spPr>
          <a:xfrm>
            <a:off x="960036" y="4730091"/>
            <a:ext cx="107603" cy="26399"/>
          </a:xfrm>
          <a:prstGeom prst="line">
            <a:avLst/>
          </a:prstGeom>
          <a:noFill/>
          <a:ln w="12700">
            <a:solidFill>
              <a:srgbClr val="7A8288"/>
            </a:solidFill>
            <a:prstDash val="solid"/>
          </a:ln>
        </p:spPr>
        <p:txBody>
          <a:bodyPr/>
          <a:lstStyle/>
          <a:p>
            <a:endParaRPr lang="en-US"/>
          </a:p>
        </p:txBody>
      </p:sp>
      <p:sp>
        <p:nvSpPr>
          <p:cNvPr id="36" name="Shape 34"/>
          <p:cNvSpPr/>
          <p:nvPr/>
        </p:nvSpPr>
        <p:spPr>
          <a:xfrm>
            <a:off x="855445" y="4693454"/>
            <a:ext cx="104592" cy="36637"/>
          </a:xfrm>
          <a:prstGeom prst="line">
            <a:avLst/>
          </a:prstGeom>
          <a:noFill/>
          <a:ln w="12700">
            <a:solidFill>
              <a:srgbClr val="7A8288"/>
            </a:solidFill>
            <a:prstDash val="solid"/>
          </a:ln>
        </p:spPr>
        <p:txBody>
          <a:bodyPr/>
          <a:lstStyle/>
          <a:p>
            <a:endParaRPr lang="en-US"/>
          </a:p>
        </p:txBody>
      </p:sp>
      <p:sp>
        <p:nvSpPr>
          <p:cNvPr id="37" name="Shape 35"/>
          <p:cNvSpPr/>
          <p:nvPr/>
        </p:nvSpPr>
        <p:spPr>
          <a:xfrm>
            <a:off x="754868" y="4646980"/>
            <a:ext cx="100577" cy="46474"/>
          </a:xfrm>
          <a:prstGeom prst="line">
            <a:avLst/>
          </a:prstGeom>
          <a:noFill/>
          <a:ln w="12700">
            <a:solidFill>
              <a:srgbClr val="7A8288"/>
            </a:solidFill>
            <a:prstDash val="solid"/>
          </a:ln>
        </p:spPr>
        <p:txBody>
          <a:bodyPr/>
          <a:lstStyle/>
          <a:p>
            <a:endParaRPr lang="en-US"/>
          </a:p>
        </p:txBody>
      </p:sp>
      <p:sp>
        <p:nvSpPr>
          <p:cNvPr id="38" name="Shape 36"/>
          <p:cNvSpPr/>
          <p:nvPr/>
        </p:nvSpPr>
        <p:spPr>
          <a:xfrm>
            <a:off x="659210" y="4590970"/>
            <a:ext cx="95658" cy="56010"/>
          </a:xfrm>
          <a:prstGeom prst="line">
            <a:avLst/>
          </a:prstGeom>
          <a:noFill/>
          <a:ln w="12700">
            <a:solidFill>
              <a:srgbClr val="7A8288"/>
            </a:solidFill>
            <a:prstDash val="solid"/>
          </a:ln>
        </p:spPr>
        <p:txBody>
          <a:bodyPr/>
          <a:lstStyle/>
          <a:p>
            <a:endParaRPr lang="en-US"/>
          </a:p>
        </p:txBody>
      </p:sp>
      <p:sp>
        <p:nvSpPr>
          <p:cNvPr id="39" name="Shape 37"/>
          <p:cNvSpPr/>
          <p:nvPr/>
        </p:nvSpPr>
        <p:spPr>
          <a:xfrm>
            <a:off x="569374" y="4526128"/>
            <a:ext cx="89836" cy="64843"/>
          </a:xfrm>
          <a:prstGeom prst="line">
            <a:avLst/>
          </a:prstGeom>
          <a:noFill/>
          <a:ln w="12700">
            <a:solidFill>
              <a:srgbClr val="7A8288"/>
            </a:solidFill>
            <a:prstDash val="solid"/>
          </a:ln>
        </p:spPr>
        <p:txBody>
          <a:bodyPr/>
          <a:lstStyle/>
          <a:p>
            <a:endParaRPr lang="en-US"/>
          </a:p>
        </p:txBody>
      </p:sp>
      <p:sp>
        <p:nvSpPr>
          <p:cNvPr id="40" name="Shape 38"/>
          <p:cNvSpPr/>
          <p:nvPr/>
        </p:nvSpPr>
        <p:spPr>
          <a:xfrm>
            <a:off x="535145" y="4496115"/>
            <a:ext cx="34228" cy="30012"/>
          </a:xfrm>
          <a:prstGeom prst="line">
            <a:avLst/>
          </a:prstGeom>
          <a:noFill/>
          <a:ln w="12700">
            <a:solidFill>
              <a:srgbClr val="7A8288"/>
            </a:solidFill>
            <a:prstDash val="solid"/>
          </a:ln>
        </p:spPr>
        <p:txBody>
          <a:bodyPr/>
          <a:lstStyle/>
          <a:p>
            <a:endParaRPr lang="en-US"/>
          </a:p>
        </p:txBody>
      </p:sp>
      <p:sp>
        <p:nvSpPr>
          <p:cNvPr id="41" name="Shape 39"/>
          <p:cNvSpPr/>
          <p:nvPr/>
        </p:nvSpPr>
        <p:spPr>
          <a:xfrm>
            <a:off x="496300" y="4494810"/>
            <a:ext cx="38845" cy="1305"/>
          </a:xfrm>
          <a:prstGeom prst="line">
            <a:avLst/>
          </a:prstGeom>
          <a:noFill/>
          <a:ln w="12700">
            <a:solidFill>
              <a:srgbClr val="7A8288"/>
            </a:solidFill>
            <a:prstDash val="solid"/>
          </a:ln>
        </p:spPr>
        <p:txBody>
          <a:bodyPr/>
          <a:lstStyle/>
          <a:p>
            <a:endParaRPr lang="en-US"/>
          </a:p>
        </p:txBody>
      </p:sp>
      <p:sp>
        <p:nvSpPr>
          <p:cNvPr id="42" name="Shape 40"/>
          <p:cNvSpPr/>
          <p:nvPr/>
        </p:nvSpPr>
        <p:spPr>
          <a:xfrm>
            <a:off x="385284" y="4480256"/>
            <a:ext cx="111016" cy="14554"/>
          </a:xfrm>
          <a:prstGeom prst="line">
            <a:avLst/>
          </a:prstGeom>
          <a:noFill/>
          <a:ln w="12700">
            <a:solidFill>
              <a:srgbClr val="7A8288"/>
            </a:solidFill>
            <a:prstDash val="solid"/>
          </a:ln>
        </p:spPr>
        <p:txBody>
          <a:bodyPr/>
          <a:lstStyle/>
          <a:p>
            <a:endParaRPr lang="en-US"/>
          </a:p>
        </p:txBody>
      </p:sp>
      <p:sp>
        <p:nvSpPr>
          <p:cNvPr id="43" name="Shape 41"/>
          <p:cNvSpPr/>
          <p:nvPr/>
        </p:nvSpPr>
        <p:spPr>
          <a:xfrm>
            <a:off x="320040" y="4465190"/>
            <a:ext cx="65244" cy="15066"/>
          </a:xfrm>
          <a:prstGeom prst="line">
            <a:avLst/>
          </a:prstGeom>
          <a:noFill/>
          <a:ln w="12700">
            <a:solidFill>
              <a:srgbClr val="7A8288"/>
            </a:solidFill>
            <a:prstDash val="solid"/>
          </a:ln>
        </p:spPr>
        <p:txBody>
          <a:bodyPr/>
          <a:lstStyle/>
          <a:p>
            <a:endParaRPr lang="en-US"/>
          </a:p>
        </p:txBody>
      </p:sp>
      <p:sp>
        <p:nvSpPr>
          <p:cNvPr id="44" name="Shape 42"/>
          <p:cNvSpPr/>
          <p:nvPr/>
        </p:nvSpPr>
        <p:spPr>
          <a:xfrm>
            <a:off x="8862125" y="7784127"/>
            <a:ext cx="1013395" cy="814008"/>
          </a:xfrm>
          <a:prstGeom prst="line">
            <a:avLst/>
          </a:prstGeom>
          <a:noFill/>
          <a:ln w="12700">
            <a:solidFill>
              <a:srgbClr val="7A8288"/>
            </a:solidFill>
            <a:prstDash val="solid"/>
          </a:ln>
        </p:spPr>
        <p:txBody>
          <a:bodyPr/>
          <a:lstStyle/>
          <a:p>
            <a:endParaRPr lang="en-US"/>
          </a:p>
        </p:txBody>
      </p:sp>
      <p:sp>
        <p:nvSpPr>
          <p:cNvPr id="45" name="Shape 43"/>
          <p:cNvSpPr/>
          <p:nvPr/>
        </p:nvSpPr>
        <p:spPr>
          <a:xfrm>
            <a:off x="8276834" y="7312762"/>
            <a:ext cx="585292" cy="471365"/>
          </a:xfrm>
          <a:prstGeom prst="line">
            <a:avLst/>
          </a:prstGeom>
          <a:noFill/>
          <a:ln w="12700">
            <a:solidFill>
              <a:srgbClr val="7A8288"/>
            </a:solidFill>
            <a:prstDash val="solid"/>
          </a:ln>
        </p:spPr>
        <p:txBody>
          <a:bodyPr/>
          <a:lstStyle/>
          <a:p>
            <a:endParaRPr lang="en-US"/>
          </a:p>
        </p:txBody>
      </p:sp>
      <p:sp>
        <p:nvSpPr>
          <p:cNvPr id="46" name="Shape 44"/>
          <p:cNvSpPr/>
          <p:nvPr/>
        </p:nvSpPr>
        <p:spPr>
          <a:xfrm>
            <a:off x="8273823" y="7310453"/>
            <a:ext cx="3011" cy="2309"/>
          </a:xfrm>
          <a:prstGeom prst="line">
            <a:avLst/>
          </a:prstGeom>
          <a:noFill/>
          <a:ln w="12700">
            <a:solidFill>
              <a:srgbClr val="7A8288"/>
            </a:solidFill>
            <a:prstDash val="solid"/>
          </a:ln>
        </p:spPr>
        <p:txBody>
          <a:bodyPr/>
          <a:lstStyle/>
          <a:p>
            <a:endParaRPr lang="en-US"/>
          </a:p>
        </p:txBody>
      </p:sp>
      <p:sp>
        <p:nvSpPr>
          <p:cNvPr id="47" name="Shape 45"/>
          <p:cNvSpPr/>
          <p:nvPr/>
        </p:nvSpPr>
        <p:spPr>
          <a:xfrm>
            <a:off x="7687929" y="6841698"/>
            <a:ext cx="585894" cy="468755"/>
          </a:xfrm>
          <a:prstGeom prst="line">
            <a:avLst/>
          </a:prstGeom>
          <a:noFill/>
          <a:ln w="12700">
            <a:solidFill>
              <a:srgbClr val="7A8288"/>
            </a:solidFill>
            <a:prstDash val="solid"/>
          </a:ln>
        </p:spPr>
        <p:txBody>
          <a:bodyPr/>
          <a:lstStyle/>
          <a:p>
            <a:endParaRPr lang="en-US"/>
          </a:p>
        </p:txBody>
      </p:sp>
      <p:sp>
        <p:nvSpPr>
          <p:cNvPr id="48" name="Shape 46"/>
          <p:cNvSpPr/>
          <p:nvPr/>
        </p:nvSpPr>
        <p:spPr>
          <a:xfrm>
            <a:off x="7100830" y="6370132"/>
            <a:ext cx="587098" cy="471566"/>
          </a:xfrm>
          <a:prstGeom prst="line">
            <a:avLst/>
          </a:prstGeom>
          <a:noFill/>
          <a:ln w="12700">
            <a:solidFill>
              <a:srgbClr val="7A8288"/>
            </a:solidFill>
            <a:prstDash val="solid"/>
          </a:ln>
        </p:spPr>
        <p:txBody>
          <a:bodyPr/>
          <a:lstStyle/>
          <a:p>
            <a:endParaRPr lang="en-US"/>
          </a:p>
        </p:txBody>
      </p:sp>
      <p:sp>
        <p:nvSpPr>
          <p:cNvPr id="49" name="Shape 47"/>
          <p:cNvSpPr/>
          <p:nvPr/>
        </p:nvSpPr>
        <p:spPr>
          <a:xfrm>
            <a:off x="7097317" y="6367221"/>
            <a:ext cx="3513" cy="2911"/>
          </a:xfrm>
          <a:prstGeom prst="line">
            <a:avLst/>
          </a:prstGeom>
          <a:noFill/>
          <a:ln w="12700">
            <a:solidFill>
              <a:srgbClr val="7A8288"/>
            </a:solidFill>
            <a:prstDash val="solid"/>
          </a:ln>
        </p:spPr>
        <p:txBody>
          <a:bodyPr/>
          <a:lstStyle/>
          <a:p>
            <a:endParaRPr lang="en-US"/>
          </a:p>
        </p:txBody>
      </p:sp>
      <p:sp>
        <p:nvSpPr>
          <p:cNvPr id="50" name="Shape 48"/>
          <p:cNvSpPr/>
          <p:nvPr/>
        </p:nvSpPr>
        <p:spPr>
          <a:xfrm>
            <a:off x="6510921" y="5899972"/>
            <a:ext cx="586396" cy="467250"/>
          </a:xfrm>
          <a:prstGeom prst="line">
            <a:avLst/>
          </a:prstGeom>
          <a:noFill/>
          <a:ln w="12700">
            <a:solidFill>
              <a:srgbClr val="7A8288"/>
            </a:solidFill>
            <a:prstDash val="solid"/>
          </a:ln>
        </p:spPr>
        <p:txBody>
          <a:bodyPr/>
          <a:lstStyle/>
          <a:p>
            <a:endParaRPr lang="en-US"/>
          </a:p>
        </p:txBody>
      </p:sp>
      <p:sp>
        <p:nvSpPr>
          <p:cNvPr id="51" name="Shape 49"/>
          <p:cNvSpPr/>
          <p:nvPr/>
        </p:nvSpPr>
        <p:spPr>
          <a:xfrm>
            <a:off x="5929444" y="5430012"/>
            <a:ext cx="581477" cy="469960"/>
          </a:xfrm>
          <a:prstGeom prst="line">
            <a:avLst/>
          </a:prstGeom>
          <a:noFill/>
          <a:ln w="12700">
            <a:solidFill>
              <a:srgbClr val="7A8288"/>
            </a:solidFill>
            <a:prstDash val="solid"/>
          </a:ln>
        </p:spPr>
        <p:txBody>
          <a:bodyPr/>
          <a:lstStyle/>
          <a:p>
            <a:endParaRPr lang="en-US"/>
          </a:p>
        </p:txBody>
      </p:sp>
      <p:sp>
        <p:nvSpPr>
          <p:cNvPr id="52" name="Shape 50"/>
          <p:cNvSpPr/>
          <p:nvPr/>
        </p:nvSpPr>
        <p:spPr>
          <a:xfrm>
            <a:off x="5927838" y="5428707"/>
            <a:ext cx="1606" cy="1305"/>
          </a:xfrm>
          <a:prstGeom prst="line">
            <a:avLst/>
          </a:prstGeom>
          <a:noFill/>
          <a:ln w="12700">
            <a:solidFill>
              <a:srgbClr val="7A8288"/>
            </a:solidFill>
            <a:prstDash val="solid"/>
          </a:ln>
        </p:spPr>
        <p:txBody>
          <a:bodyPr/>
          <a:lstStyle/>
          <a:p>
            <a:endParaRPr lang="en-US"/>
          </a:p>
        </p:txBody>
      </p:sp>
      <p:sp>
        <p:nvSpPr>
          <p:cNvPr id="53" name="Shape 51"/>
          <p:cNvSpPr/>
          <p:nvPr/>
        </p:nvSpPr>
        <p:spPr>
          <a:xfrm>
            <a:off x="5339435" y="4954833"/>
            <a:ext cx="588403" cy="473874"/>
          </a:xfrm>
          <a:prstGeom prst="line">
            <a:avLst/>
          </a:prstGeom>
          <a:noFill/>
          <a:ln w="12700">
            <a:solidFill>
              <a:srgbClr val="7A8288"/>
            </a:solidFill>
            <a:prstDash val="solid"/>
          </a:ln>
        </p:spPr>
        <p:txBody>
          <a:bodyPr/>
          <a:lstStyle/>
          <a:p>
            <a:endParaRPr lang="en-US"/>
          </a:p>
        </p:txBody>
      </p:sp>
      <p:sp>
        <p:nvSpPr>
          <p:cNvPr id="54" name="Shape 52"/>
          <p:cNvSpPr/>
          <p:nvPr/>
        </p:nvSpPr>
        <p:spPr>
          <a:xfrm>
            <a:off x="5335319" y="4951520"/>
            <a:ext cx="4115" cy="3312"/>
          </a:xfrm>
          <a:prstGeom prst="line">
            <a:avLst/>
          </a:prstGeom>
          <a:noFill/>
          <a:ln w="12700">
            <a:solidFill>
              <a:srgbClr val="7A8288"/>
            </a:solidFill>
            <a:prstDash val="solid"/>
          </a:ln>
        </p:spPr>
        <p:txBody>
          <a:bodyPr/>
          <a:lstStyle/>
          <a:p>
            <a:endParaRPr lang="en-US"/>
          </a:p>
        </p:txBody>
      </p:sp>
      <p:sp>
        <p:nvSpPr>
          <p:cNvPr id="55" name="Shape 53"/>
          <p:cNvSpPr/>
          <p:nvPr/>
        </p:nvSpPr>
        <p:spPr>
          <a:xfrm>
            <a:off x="4748924" y="4483769"/>
            <a:ext cx="586396" cy="467751"/>
          </a:xfrm>
          <a:prstGeom prst="line">
            <a:avLst/>
          </a:prstGeom>
          <a:noFill/>
          <a:ln w="12700">
            <a:solidFill>
              <a:srgbClr val="7A8288"/>
            </a:solidFill>
            <a:prstDash val="solid"/>
          </a:ln>
        </p:spPr>
        <p:txBody>
          <a:bodyPr/>
          <a:lstStyle/>
          <a:p>
            <a:endParaRPr lang="en-US"/>
          </a:p>
        </p:txBody>
      </p:sp>
      <p:sp>
        <p:nvSpPr>
          <p:cNvPr id="56" name="Shape 54"/>
          <p:cNvSpPr/>
          <p:nvPr/>
        </p:nvSpPr>
        <p:spPr>
          <a:xfrm>
            <a:off x="4166744" y="4016620"/>
            <a:ext cx="582180" cy="467149"/>
          </a:xfrm>
          <a:prstGeom prst="line">
            <a:avLst/>
          </a:prstGeom>
          <a:noFill/>
          <a:ln w="12700">
            <a:solidFill>
              <a:srgbClr val="7A8288"/>
            </a:solidFill>
            <a:prstDash val="solid"/>
          </a:ln>
        </p:spPr>
        <p:txBody>
          <a:bodyPr/>
          <a:lstStyle/>
          <a:p>
            <a:endParaRPr lang="en-US"/>
          </a:p>
        </p:txBody>
      </p:sp>
      <p:sp>
        <p:nvSpPr>
          <p:cNvPr id="57" name="Shape 55"/>
          <p:cNvSpPr/>
          <p:nvPr/>
        </p:nvSpPr>
        <p:spPr>
          <a:xfrm>
            <a:off x="4164034" y="4014512"/>
            <a:ext cx="2710" cy="2108"/>
          </a:xfrm>
          <a:prstGeom prst="line">
            <a:avLst/>
          </a:prstGeom>
          <a:noFill/>
          <a:ln w="12700">
            <a:solidFill>
              <a:srgbClr val="7A8288"/>
            </a:solidFill>
            <a:prstDash val="solid"/>
          </a:ln>
        </p:spPr>
        <p:txBody>
          <a:bodyPr/>
          <a:lstStyle/>
          <a:p>
            <a:endParaRPr lang="en-US"/>
          </a:p>
        </p:txBody>
      </p:sp>
      <p:sp>
        <p:nvSpPr>
          <p:cNvPr id="58" name="Shape 56"/>
          <p:cNvSpPr/>
          <p:nvPr/>
        </p:nvSpPr>
        <p:spPr>
          <a:xfrm>
            <a:off x="3962278" y="3853609"/>
            <a:ext cx="201755" cy="160902"/>
          </a:xfrm>
          <a:prstGeom prst="line">
            <a:avLst/>
          </a:prstGeom>
          <a:noFill/>
          <a:ln w="12700">
            <a:solidFill>
              <a:srgbClr val="7A8288"/>
            </a:solidFill>
            <a:prstDash val="solid"/>
          </a:ln>
        </p:spPr>
        <p:txBody>
          <a:bodyPr/>
          <a:lstStyle/>
          <a:p>
            <a:endParaRPr lang="en-US"/>
          </a:p>
        </p:txBody>
      </p:sp>
      <p:sp>
        <p:nvSpPr>
          <p:cNvPr id="59" name="Shape 57"/>
          <p:cNvSpPr/>
          <p:nvPr/>
        </p:nvSpPr>
        <p:spPr>
          <a:xfrm>
            <a:off x="3579947" y="3545455"/>
            <a:ext cx="382332" cy="308154"/>
          </a:xfrm>
          <a:prstGeom prst="line">
            <a:avLst/>
          </a:prstGeom>
          <a:noFill/>
          <a:ln w="12700">
            <a:solidFill>
              <a:srgbClr val="7A8288"/>
            </a:solidFill>
            <a:prstDash val="solid"/>
          </a:ln>
        </p:spPr>
        <p:txBody>
          <a:bodyPr/>
          <a:lstStyle/>
          <a:p>
            <a:endParaRPr lang="en-US"/>
          </a:p>
        </p:txBody>
      </p:sp>
      <p:sp>
        <p:nvSpPr>
          <p:cNvPr id="60" name="Shape 58"/>
          <p:cNvSpPr/>
          <p:nvPr/>
        </p:nvSpPr>
        <p:spPr>
          <a:xfrm>
            <a:off x="3503259" y="3488643"/>
            <a:ext cx="76687" cy="56813"/>
          </a:xfrm>
          <a:prstGeom prst="line">
            <a:avLst/>
          </a:prstGeom>
          <a:noFill/>
          <a:ln w="12700">
            <a:solidFill>
              <a:srgbClr val="7A8288"/>
            </a:solidFill>
            <a:prstDash val="solid"/>
          </a:ln>
        </p:spPr>
        <p:txBody>
          <a:bodyPr/>
          <a:lstStyle/>
          <a:p>
            <a:endParaRPr lang="en-US"/>
          </a:p>
        </p:txBody>
      </p:sp>
      <p:sp>
        <p:nvSpPr>
          <p:cNvPr id="61" name="Shape 59"/>
          <p:cNvSpPr/>
          <p:nvPr/>
        </p:nvSpPr>
        <p:spPr>
          <a:xfrm>
            <a:off x="3422156" y="3438455"/>
            <a:ext cx="81104" cy="50188"/>
          </a:xfrm>
          <a:prstGeom prst="line">
            <a:avLst/>
          </a:prstGeom>
          <a:noFill/>
          <a:ln w="12700">
            <a:solidFill>
              <a:srgbClr val="7A8288"/>
            </a:solidFill>
            <a:prstDash val="solid"/>
          </a:ln>
        </p:spPr>
        <p:txBody>
          <a:bodyPr/>
          <a:lstStyle/>
          <a:p>
            <a:endParaRPr lang="en-US"/>
          </a:p>
        </p:txBody>
      </p:sp>
      <p:sp>
        <p:nvSpPr>
          <p:cNvPr id="62" name="Shape 60"/>
          <p:cNvSpPr/>
          <p:nvPr/>
        </p:nvSpPr>
        <p:spPr>
          <a:xfrm>
            <a:off x="3378392" y="3416071"/>
            <a:ext cx="43764" cy="22384"/>
          </a:xfrm>
          <a:prstGeom prst="line">
            <a:avLst/>
          </a:prstGeom>
          <a:noFill/>
          <a:ln w="12700">
            <a:solidFill>
              <a:srgbClr val="7A8288"/>
            </a:solidFill>
            <a:prstDash val="solid"/>
          </a:ln>
        </p:spPr>
        <p:txBody>
          <a:bodyPr/>
          <a:lstStyle/>
          <a:p>
            <a:endParaRPr lang="en-US"/>
          </a:p>
        </p:txBody>
      </p:sp>
      <p:sp>
        <p:nvSpPr>
          <p:cNvPr id="63" name="Shape 61"/>
          <p:cNvSpPr/>
          <p:nvPr/>
        </p:nvSpPr>
        <p:spPr>
          <a:xfrm>
            <a:off x="3252019" y="3239610"/>
            <a:ext cx="126373" cy="176461"/>
          </a:xfrm>
          <a:prstGeom prst="line">
            <a:avLst/>
          </a:prstGeom>
          <a:noFill/>
          <a:ln w="12700">
            <a:solidFill>
              <a:srgbClr val="7A8288"/>
            </a:solidFill>
            <a:prstDash val="solid"/>
          </a:ln>
        </p:spPr>
        <p:txBody>
          <a:bodyPr/>
          <a:lstStyle/>
          <a:p>
            <a:endParaRPr lang="en-US"/>
          </a:p>
        </p:txBody>
      </p:sp>
      <p:sp>
        <p:nvSpPr>
          <p:cNvPr id="64" name="Shape 62"/>
          <p:cNvSpPr/>
          <p:nvPr/>
        </p:nvSpPr>
        <p:spPr>
          <a:xfrm>
            <a:off x="3182257" y="3151581"/>
            <a:ext cx="69761" cy="88030"/>
          </a:xfrm>
          <a:prstGeom prst="line">
            <a:avLst/>
          </a:prstGeom>
          <a:noFill/>
          <a:ln w="12700">
            <a:solidFill>
              <a:srgbClr val="7A8288"/>
            </a:solidFill>
            <a:prstDash val="solid"/>
          </a:ln>
        </p:spPr>
        <p:txBody>
          <a:bodyPr/>
          <a:lstStyle/>
          <a:p>
            <a:endParaRPr lang="en-US"/>
          </a:p>
        </p:txBody>
      </p:sp>
      <p:sp>
        <p:nvSpPr>
          <p:cNvPr id="65" name="Shape 63"/>
          <p:cNvSpPr/>
          <p:nvPr/>
        </p:nvSpPr>
        <p:spPr>
          <a:xfrm>
            <a:off x="3104366" y="3070778"/>
            <a:ext cx="77892" cy="80803"/>
          </a:xfrm>
          <a:prstGeom prst="line">
            <a:avLst/>
          </a:prstGeom>
          <a:noFill/>
          <a:ln w="12700">
            <a:solidFill>
              <a:srgbClr val="7A8288"/>
            </a:solidFill>
            <a:prstDash val="solid"/>
          </a:ln>
        </p:spPr>
        <p:txBody>
          <a:bodyPr/>
          <a:lstStyle/>
          <a:p>
            <a:endParaRPr lang="en-US"/>
          </a:p>
        </p:txBody>
      </p:sp>
      <p:sp>
        <p:nvSpPr>
          <p:cNvPr id="66" name="Shape 64"/>
          <p:cNvSpPr/>
          <p:nvPr/>
        </p:nvSpPr>
        <p:spPr>
          <a:xfrm>
            <a:off x="3018946" y="2997905"/>
            <a:ext cx="85420" cy="72873"/>
          </a:xfrm>
          <a:prstGeom prst="line">
            <a:avLst/>
          </a:prstGeom>
          <a:noFill/>
          <a:ln w="12700">
            <a:solidFill>
              <a:srgbClr val="7A8288"/>
            </a:solidFill>
            <a:prstDash val="solid"/>
          </a:ln>
        </p:spPr>
        <p:txBody>
          <a:bodyPr/>
          <a:lstStyle/>
          <a:p>
            <a:endParaRPr lang="en-US"/>
          </a:p>
        </p:txBody>
      </p:sp>
      <p:sp>
        <p:nvSpPr>
          <p:cNvPr id="67" name="Shape 65"/>
          <p:cNvSpPr/>
          <p:nvPr/>
        </p:nvSpPr>
        <p:spPr>
          <a:xfrm>
            <a:off x="2926801" y="2933665"/>
            <a:ext cx="92145" cy="64241"/>
          </a:xfrm>
          <a:prstGeom prst="line">
            <a:avLst/>
          </a:prstGeom>
          <a:noFill/>
          <a:ln w="12700">
            <a:solidFill>
              <a:srgbClr val="7A8288"/>
            </a:solidFill>
            <a:prstDash val="solid"/>
          </a:ln>
        </p:spPr>
        <p:txBody>
          <a:bodyPr/>
          <a:lstStyle/>
          <a:p>
            <a:endParaRPr lang="en-US"/>
          </a:p>
        </p:txBody>
      </p:sp>
      <p:sp>
        <p:nvSpPr>
          <p:cNvPr id="68" name="Shape 66"/>
          <p:cNvSpPr/>
          <p:nvPr/>
        </p:nvSpPr>
        <p:spPr>
          <a:xfrm>
            <a:off x="2868683" y="2901042"/>
            <a:ext cx="58118" cy="32622"/>
          </a:xfrm>
          <a:prstGeom prst="line">
            <a:avLst/>
          </a:prstGeom>
          <a:noFill/>
          <a:ln w="12700">
            <a:solidFill>
              <a:srgbClr val="7A8288"/>
            </a:solidFill>
            <a:prstDash val="solid"/>
          </a:ln>
        </p:spPr>
        <p:txBody>
          <a:bodyPr/>
          <a:lstStyle/>
          <a:p>
            <a:endParaRPr lang="en-US"/>
          </a:p>
        </p:txBody>
      </p:sp>
      <p:sp>
        <p:nvSpPr>
          <p:cNvPr id="69" name="Shape 67"/>
          <p:cNvSpPr/>
          <p:nvPr/>
        </p:nvSpPr>
        <p:spPr>
          <a:xfrm>
            <a:off x="2845798" y="2847643"/>
            <a:ext cx="22886" cy="53400"/>
          </a:xfrm>
          <a:prstGeom prst="line">
            <a:avLst/>
          </a:prstGeom>
          <a:noFill/>
          <a:ln w="12700">
            <a:solidFill>
              <a:srgbClr val="7A8288"/>
            </a:solidFill>
            <a:prstDash val="solid"/>
          </a:ln>
        </p:spPr>
        <p:txBody>
          <a:bodyPr/>
          <a:lstStyle/>
          <a:p>
            <a:endParaRPr lang="en-US"/>
          </a:p>
        </p:txBody>
      </p:sp>
      <p:sp>
        <p:nvSpPr>
          <p:cNvPr id="70" name="Shape 68"/>
          <p:cNvSpPr/>
          <p:nvPr/>
        </p:nvSpPr>
        <p:spPr>
          <a:xfrm>
            <a:off x="2790290" y="2746865"/>
            <a:ext cx="55508" cy="100777"/>
          </a:xfrm>
          <a:prstGeom prst="line">
            <a:avLst/>
          </a:prstGeom>
          <a:noFill/>
          <a:ln w="12700">
            <a:solidFill>
              <a:srgbClr val="7A8288"/>
            </a:solidFill>
            <a:prstDash val="solid"/>
          </a:ln>
        </p:spPr>
        <p:txBody>
          <a:bodyPr/>
          <a:lstStyle/>
          <a:p>
            <a:endParaRPr lang="en-US"/>
          </a:p>
        </p:txBody>
      </p:sp>
      <p:sp>
        <p:nvSpPr>
          <p:cNvPr id="71" name="Shape 69"/>
          <p:cNvSpPr/>
          <p:nvPr/>
        </p:nvSpPr>
        <p:spPr>
          <a:xfrm>
            <a:off x="2724945" y="2652110"/>
            <a:ext cx="65345" cy="94755"/>
          </a:xfrm>
          <a:prstGeom prst="line">
            <a:avLst/>
          </a:prstGeom>
          <a:noFill/>
          <a:ln w="12700">
            <a:solidFill>
              <a:srgbClr val="7A8288"/>
            </a:solidFill>
            <a:prstDash val="solid"/>
          </a:ln>
        </p:spPr>
        <p:txBody>
          <a:bodyPr/>
          <a:lstStyle/>
          <a:p>
            <a:endParaRPr lang="en-US"/>
          </a:p>
        </p:txBody>
      </p:sp>
      <p:sp>
        <p:nvSpPr>
          <p:cNvPr id="72" name="Shape 70"/>
          <p:cNvSpPr/>
          <p:nvPr/>
        </p:nvSpPr>
        <p:spPr>
          <a:xfrm>
            <a:off x="2650466" y="2564281"/>
            <a:ext cx="74479" cy="87829"/>
          </a:xfrm>
          <a:prstGeom prst="line">
            <a:avLst/>
          </a:prstGeom>
          <a:noFill/>
          <a:ln w="12700">
            <a:solidFill>
              <a:srgbClr val="7A8288"/>
            </a:solidFill>
            <a:prstDash val="solid"/>
          </a:ln>
        </p:spPr>
        <p:txBody>
          <a:bodyPr/>
          <a:lstStyle/>
          <a:p>
            <a:endParaRPr lang="en-US"/>
          </a:p>
        </p:txBody>
      </p:sp>
      <p:sp>
        <p:nvSpPr>
          <p:cNvPr id="73" name="Shape 71"/>
          <p:cNvSpPr/>
          <p:nvPr/>
        </p:nvSpPr>
        <p:spPr>
          <a:xfrm>
            <a:off x="2567656" y="2484382"/>
            <a:ext cx="82810" cy="79899"/>
          </a:xfrm>
          <a:prstGeom prst="line">
            <a:avLst/>
          </a:prstGeom>
          <a:noFill/>
          <a:ln w="12700">
            <a:solidFill>
              <a:srgbClr val="7A8288"/>
            </a:solidFill>
            <a:prstDash val="solid"/>
          </a:ln>
        </p:spPr>
        <p:txBody>
          <a:bodyPr/>
          <a:lstStyle/>
          <a:p>
            <a:endParaRPr lang="en-US"/>
          </a:p>
        </p:txBody>
      </p:sp>
      <p:sp>
        <p:nvSpPr>
          <p:cNvPr id="74" name="Shape 72"/>
          <p:cNvSpPr/>
          <p:nvPr/>
        </p:nvSpPr>
        <p:spPr>
          <a:xfrm>
            <a:off x="2477318" y="2413115"/>
            <a:ext cx="90338" cy="71267"/>
          </a:xfrm>
          <a:prstGeom prst="line">
            <a:avLst/>
          </a:prstGeom>
          <a:noFill/>
          <a:ln w="12700">
            <a:solidFill>
              <a:srgbClr val="7A8288"/>
            </a:solidFill>
            <a:prstDash val="solid"/>
          </a:ln>
        </p:spPr>
        <p:txBody>
          <a:bodyPr/>
          <a:lstStyle/>
          <a:p>
            <a:endParaRPr lang="en-US"/>
          </a:p>
        </p:txBody>
      </p:sp>
      <p:sp>
        <p:nvSpPr>
          <p:cNvPr id="75" name="Shape 73"/>
          <p:cNvSpPr/>
          <p:nvPr/>
        </p:nvSpPr>
        <p:spPr>
          <a:xfrm>
            <a:off x="2439476" y="2388925"/>
            <a:ext cx="37842" cy="24191"/>
          </a:xfrm>
          <a:prstGeom prst="line">
            <a:avLst/>
          </a:prstGeom>
          <a:noFill/>
          <a:ln w="12700">
            <a:solidFill>
              <a:srgbClr val="7A8288"/>
            </a:solidFill>
            <a:prstDash val="solid"/>
          </a:ln>
        </p:spPr>
        <p:txBody>
          <a:bodyPr/>
          <a:lstStyle/>
          <a:p>
            <a:endParaRPr lang="en-US"/>
          </a:p>
        </p:txBody>
      </p:sp>
      <p:sp>
        <p:nvSpPr>
          <p:cNvPr id="76" name="Shape 74"/>
          <p:cNvSpPr/>
          <p:nvPr/>
        </p:nvSpPr>
        <p:spPr>
          <a:xfrm>
            <a:off x="2413178" y="2315851"/>
            <a:ext cx="26298" cy="73074"/>
          </a:xfrm>
          <a:prstGeom prst="line">
            <a:avLst/>
          </a:prstGeom>
          <a:noFill/>
          <a:ln w="12700">
            <a:solidFill>
              <a:srgbClr val="7A8288"/>
            </a:solidFill>
            <a:prstDash val="solid"/>
          </a:ln>
        </p:spPr>
        <p:txBody>
          <a:bodyPr/>
          <a:lstStyle/>
          <a:p>
            <a:endParaRPr lang="en-US"/>
          </a:p>
        </p:txBody>
      </p:sp>
      <p:sp>
        <p:nvSpPr>
          <p:cNvPr id="77" name="Shape 75"/>
          <p:cNvSpPr/>
          <p:nvPr/>
        </p:nvSpPr>
        <p:spPr>
          <a:xfrm>
            <a:off x="2365599" y="2215475"/>
            <a:ext cx="47578" cy="100376"/>
          </a:xfrm>
          <a:prstGeom prst="line">
            <a:avLst/>
          </a:prstGeom>
          <a:noFill/>
          <a:ln w="12700">
            <a:solidFill>
              <a:srgbClr val="7A8288"/>
            </a:solidFill>
            <a:prstDash val="solid"/>
          </a:ln>
        </p:spPr>
        <p:txBody>
          <a:bodyPr/>
          <a:lstStyle/>
          <a:p>
            <a:endParaRPr lang="en-US"/>
          </a:p>
        </p:txBody>
      </p:sp>
      <p:sp>
        <p:nvSpPr>
          <p:cNvPr id="78" name="Shape 76"/>
          <p:cNvSpPr/>
          <p:nvPr/>
        </p:nvSpPr>
        <p:spPr>
          <a:xfrm>
            <a:off x="2308486" y="2120018"/>
            <a:ext cx="57114" cy="95457"/>
          </a:xfrm>
          <a:prstGeom prst="line">
            <a:avLst/>
          </a:prstGeom>
          <a:noFill/>
          <a:ln w="12700">
            <a:solidFill>
              <a:srgbClr val="7A8288"/>
            </a:solidFill>
            <a:prstDash val="solid"/>
          </a:ln>
        </p:spPr>
        <p:txBody>
          <a:bodyPr/>
          <a:lstStyle/>
          <a:p>
            <a:endParaRPr lang="en-US"/>
          </a:p>
        </p:txBody>
      </p:sp>
      <p:sp>
        <p:nvSpPr>
          <p:cNvPr id="79" name="Shape 77"/>
          <p:cNvSpPr/>
          <p:nvPr/>
        </p:nvSpPr>
        <p:spPr>
          <a:xfrm>
            <a:off x="1914812" y="1528102"/>
            <a:ext cx="393674" cy="591916"/>
          </a:xfrm>
          <a:prstGeom prst="line">
            <a:avLst/>
          </a:prstGeom>
          <a:noFill/>
          <a:ln w="12700">
            <a:solidFill>
              <a:srgbClr val="7A8288"/>
            </a:solidFill>
            <a:prstDash val="solid"/>
          </a:ln>
        </p:spPr>
        <p:txBody>
          <a:bodyPr/>
          <a:lstStyle/>
          <a:p>
            <a:endParaRPr lang="en-US"/>
          </a:p>
        </p:txBody>
      </p:sp>
      <p:sp>
        <p:nvSpPr>
          <p:cNvPr id="80" name="Shape 78"/>
          <p:cNvSpPr/>
          <p:nvPr/>
        </p:nvSpPr>
        <p:spPr>
          <a:xfrm>
            <a:off x="1785546" y="1298442"/>
            <a:ext cx="129266" cy="229660"/>
          </a:xfrm>
          <a:prstGeom prst="line">
            <a:avLst/>
          </a:prstGeom>
          <a:noFill/>
          <a:ln w="12700">
            <a:solidFill>
              <a:srgbClr val="7A8288"/>
            </a:solidFill>
            <a:prstDash val="solid"/>
          </a:ln>
        </p:spPr>
        <p:txBody>
          <a:bodyPr/>
          <a:lstStyle/>
          <a:p>
            <a:endParaRPr lang="en-US"/>
          </a:p>
        </p:txBody>
      </p:sp>
      <p:sp>
        <p:nvSpPr>
          <p:cNvPr id="81" name="Shape 79"/>
          <p:cNvSpPr/>
          <p:nvPr/>
        </p:nvSpPr>
        <p:spPr>
          <a:xfrm>
            <a:off x="9313315" y="9627228"/>
            <a:ext cx="229676" cy="184290"/>
          </a:xfrm>
          <a:prstGeom prst="line">
            <a:avLst/>
          </a:prstGeom>
          <a:noFill/>
          <a:ln w="19050">
            <a:solidFill>
              <a:srgbClr val="C7A400"/>
            </a:solidFill>
            <a:prstDash val="dashDot"/>
          </a:ln>
        </p:spPr>
        <p:txBody>
          <a:bodyPr/>
          <a:lstStyle/>
          <a:p>
            <a:endParaRPr lang="en-US"/>
          </a:p>
        </p:txBody>
      </p:sp>
      <p:sp>
        <p:nvSpPr>
          <p:cNvPr id="82" name="Shape 80"/>
          <p:cNvSpPr/>
          <p:nvPr/>
        </p:nvSpPr>
        <p:spPr>
          <a:xfrm>
            <a:off x="8138616" y="8683595"/>
            <a:ext cx="1174699" cy="943633"/>
          </a:xfrm>
          <a:prstGeom prst="line">
            <a:avLst/>
          </a:prstGeom>
          <a:noFill/>
          <a:ln w="19050">
            <a:solidFill>
              <a:srgbClr val="C7A400"/>
            </a:solidFill>
            <a:prstDash val="dashDot"/>
          </a:ln>
        </p:spPr>
        <p:txBody>
          <a:bodyPr/>
          <a:lstStyle/>
          <a:p>
            <a:endParaRPr lang="en-US"/>
          </a:p>
        </p:txBody>
      </p:sp>
      <p:sp>
        <p:nvSpPr>
          <p:cNvPr id="83" name="Shape 81"/>
          <p:cNvSpPr/>
          <p:nvPr/>
        </p:nvSpPr>
        <p:spPr>
          <a:xfrm>
            <a:off x="7552823" y="8211828"/>
            <a:ext cx="585793" cy="471767"/>
          </a:xfrm>
          <a:prstGeom prst="line">
            <a:avLst/>
          </a:prstGeom>
          <a:noFill/>
          <a:ln w="19050">
            <a:solidFill>
              <a:srgbClr val="C7A400"/>
            </a:solidFill>
            <a:prstDash val="dashDot"/>
          </a:ln>
        </p:spPr>
        <p:txBody>
          <a:bodyPr/>
          <a:lstStyle/>
          <a:p>
            <a:endParaRPr lang="en-US"/>
          </a:p>
        </p:txBody>
      </p:sp>
      <p:sp>
        <p:nvSpPr>
          <p:cNvPr id="84" name="Shape 82"/>
          <p:cNvSpPr/>
          <p:nvPr/>
        </p:nvSpPr>
        <p:spPr>
          <a:xfrm>
            <a:off x="6965925" y="7742371"/>
            <a:ext cx="586898" cy="469458"/>
          </a:xfrm>
          <a:prstGeom prst="line">
            <a:avLst/>
          </a:prstGeom>
          <a:noFill/>
          <a:ln w="19050">
            <a:solidFill>
              <a:srgbClr val="C7A400"/>
            </a:solidFill>
            <a:prstDash val="dashDot"/>
          </a:ln>
        </p:spPr>
        <p:txBody>
          <a:bodyPr/>
          <a:lstStyle/>
          <a:p>
            <a:endParaRPr lang="en-US"/>
          </a:p>
        </p:txBody>
      </p:sp>
      <p:sp>
        <p:nvSpPr>
          <p:cNvPr id="85" name="Shape 83"/>
          <p:cNvSpPr/>
          <p:nvPr/>
        </p:nvSpPr>
        <p:spPr>
          <a:xfrm>
            <a:off x="6377923" y="7270002"/>
            <a:ext cx="588002" cy="472369"/>
          </a:xfrm>
          <a:prstGeom prst="line">
            <a:avLst/>
          </a:prstGeom>
          <a:noFill/>
          <a:ln w="19050">
            <a:solidFill>
              <a:srgbClr val="C7A400"/>
            </a:solidFill>
            <a:prstDash val="dashDot"/>
          </a:ln>
        </p:spPr>
        <p:txBody>
          <a:bodyPr/>
          <a:lstStyle/>
          <a:p>
            <a:endParaRPr lang="en-US"/>
          </a:p>
        </p:txBody>
      </p:sp>
      <p:sp>
        <p:nvSpPr>
          <p:cNvPr id="86" name="Shape 84"/>
          <p:cNvSpPr/>
          <p:nvPr/>
        </p:nvSpPr>
        <p:spPr>
          <a:xfrm>
            <a:off x="5788416" y="6800243"/>
            <a:ext cx="589507" cy="469759"/>
          </a:xfrm>
          <a:prstGeom prst="line">
            <a:avLst/>
          </a:prstGeom>
          <a:noFill/>
          <a:ln w="19050">
            <a:solidFill>
              <a:srgbClr val="C7A400"/>
            </a:solidFill>
            <a:prstDash val="dashDot"/>
          </a:ln>
        </p:spPr>
        <p:txBody>
          <a:bodyPr/>
          <a:lstStyle/>
          <a:p>
            <a:endParaRPr lang="en-US"/>
          </a:p>
        </p:txBody>
      </p:sp>
      <p:sp>
        <p:nvSpPr>
          <p:cNvPr id="87" name="Shape 85"/>
          <p:cNvSpPr/>
          <p:nvPr/>
        </p:nvSpPr>
        <p:spPr>
          <a:xfrm>
            <a:off x="5203827" y="6327774"/>
            <a:ext cx="584589" cy="472469"/>
          </a:xfrm>
          <a:prstGeom prst="line">
            <a:avLst/>
          </a:prstGeom>
          <a:noFill/>
          <a:ln w="19050">
            <a:solidFill>
              <a:srgbClr val="C7A400"/>
            </a:solidFill>
            <a:prstDash val="dashDot"/>
          </a:ln>
        </p:spPr>
        <p:txBody>
          <a:bodyPr/>
          <a:lstStyle/>
          <a:p>
            <a:endParaRPr lang="en-US"/>
          </a:p>
        </p:txBody>
      </p:sp>
      <p:sp>
        <p:nvSpPr>
          <p:cNvPr id="88" name="Shape 86"/>
          <p:cNvSpPr/>
          <p:nvPr/>
        </p:nvSpPr>
        <p:spPr>
          <a:xfrm>
            <a:off x="4615424" y="5853899"/>
            <a:ext cx="588403" cy="473874"/>
          </a:xfrm>
          <a:prstGeom prst="line">
            <a:avLst/>
          </a:prstGeom>
          <a:noFill/>
          <a:ln w="19050">
            <a:solidFill>
              <a:srgbClr val="C7A400"/>
            </a:solidFill>
            <a:prstDash val="dashDot"/>
          </a:ln>
        </p:spPr>
        <p:txBody>
          <a:bodyPr/>
          <a:lstStyle/>
          <a:p>
            <a:endParaRPr lang="en-US"/>
          </a:p>
        </p:txBody>
      </p:sp>
      <p:sp>
        <p:nvSpPr>
          <p:cNvPr id="89" name="Shape 87"/>
          <p:cNvSpPr/>
          <p:nvPr/>
        </p:nvSpPr>
        <p:spPr>
          <a:xfrm>
            <a:off x="4027824" y="5385144"/>
            <a:ext cx="587600" cy="468755"/>
          </a:xfrm>
          <a:prstGeom prst="line">
            <a:avLst/>
          </a:prstGeom>
          <a:noFill/>
          <a:ln w="19050">
            <a:solidFill>
              <a:srgbClr val="C7A400"/>
            </a:solidFill>
            <a:prstDash val="dashDot"/>
          </a:ln>
        </p:spPr>
        <p:txBody>
          <a:bodyPr/>
          <a:lstStyle/>
          <a:p>
            <a:endParaRPr lang="en-US"/>
          </a:p>
        </p:txBody>
      </p:sp>
      <p:sp>
        <p:nvSpPr>
          <p:cNvPr id="90" name="Shape 88"/>
          <p:cNvSpPr/>
          <p:nvPr/>
        </p:nvSpPr>
        <p:spPr>
          <a:xfrm>
            <a:off x="3444339" y="4916991"/>
            <a:ext cx="583485" cy="468153"/>
          </a:xfrm>
          <a:prstGeom prst="line">
            <a:avLst/>
          </a:prstGeom>
          <a:noFill/>
          <a:ln w="19050">
            <a:solidFill>
              <a:srgbClr val="C7A400"/>
            </a:solidFill>
            <a:prstDash val="dashDot"/>
          </a:ln>
        </p:spPr>
        <p:txBody>
          <a:bodyPr/>
          <a:lstStyle/>
          <a:p>
            <a:endParaRPr lang="en-US"/>
          </a:p>
        </p:txBody>
      </p:sp>
      <p:sp>
        <p:nvSpPr>
          <p:cNvPr id="91" name="Shape 89"/>
          <p:cNvSpPr/>
          <p:nvPr/>
        </p:nvSpPr>
        <p:spPr>
          <a:xfrm>
            <a:off x="3240174" y="4754181"/>
            <a:ext cx="204164" cy="162810"/>
          </a:xfrm>
          <a:prstGeom prst="line">
            <a:avLst/>
          </a:prstGeom>
          <a:noFill/>
          <a:ln w="19050">
            <a:solidFill>
              <a:srgbClr val="C7A400"/>
            </a:solidFill>
            <a:prstDash val="dashDot"/>
          </a:ln>
        </p:spPr>
        <p:txBody>
          <a:bodyPr/>
          <a:lstStyle/>
          <a:p>
            <a:endParaRPr lang="en-US"/>
          </a:p>
        </p:txBody>
      </p:sp>
      <p:sp>
        <p:nvSpPr>
          <p:cNvPr id="92" name="Shape 90"/>
          <p:cNvSpPr/>
          <p:nvPr/>
        </p:nvSpPr>
        <p:spPr>
          <a:xfrm>
            <a:off x="2855534" y="4444120"/>
            <a:ext cx="384640" cy="310061"/>
          </a:xfrm>
          <a:prstGeom prst="line">
            <a:avLst/>
          </a:prstGeom>
          <a:noFill/>
          <a:ln w="19050">
            <a:solidFill>
              <a:srgbClr val="C7A400"/>
            </a:solidFill>
            <a:prstDash val="dashDot"/>
          </a:ln>
        </p:spPr>
        <p:txBody>
          <a:bodyPr/>
          <a:lstStyle/>
          <a:p>
            <a:endParaRPr lang="en-US"/>
          </a:p>
        </p:txBody>
      </p:sp>
      <p:sp>
        <p:nvSpPr>
          <p:cNvPr id="93" name="Shape 91"/>
          <p:cNvSpPr/>
          <p:nvPr/>
        </p:nvSpPr>
        <p:spPr>
          <a:xfrm>
            <a:off x="2615937" y="4334109"/>
            <a:ext cx="239597" cy="110012"/>
          </a:xfrm>
          <a:prstGeom prst="line">
            <a:avLst/>
          </a:prstGeom>
          <a:noFill/>
          <a:ln w="19050">
            <a:solidFill>
              <a:srgbClr val="C7A400"/>
            </a:solidFill>
            <a:prstDash val="dashDot"/>
          </a:ln>
        </p:spPr>
        <p:txBody>
          <a:bodyPr/>
          <a:lstStyle/>
          <a:p>
            <a:endParaRPr lang="en-US"/>
          </a:p>
        </p:txBody>
      </p:sp>
      <p:sp>
        <p:nvSpPr>
          <p:cNvPr id="94" name="Shape 92"/>
          <p:cNvSpPr/>
          <p:nvPr/>
        </p:nvSpPr>
        <p:spPr>
          <a:xfrm>
            <a:off x="2313404" y="3911526"/>
            <a:ext cx="302533" cy="422582"/>
          </a:xfrm>
          <a:prstGeom prst="line">
            <a:avLst/>
          </a:prstGeom>
          <a:noFill/>
          <a:ln w="19050">
            <a:solidFill>
              <a:srgbClr val="C7A400"/>
            </a:solidFill>
            <a:prstDash val="dashDot"/>
          </a:ln>
        </p:spPr>
        <p:txBody>
          <a:bodyPr/>
          <a:lstStyle/>
          <a:p>
            <a:endParaRPr lang="en-US"/>
          </a:p>
        </p:txBody>
      </p:sp>
      <p:sp>
        <p:nvSpPr>
          <p:cNvPr id="95" name="Shape 93"/>
          <p:cNvSpPr/>
          <p:nvPr/>
        </p:nvSpPr>
        <p:spPr>
          <a:xfrm>
            <a:off x="2313404" y="3911526"/>
            <a:ext cx="914" cy="914"/>
          </a:xfrm>
          <a:prstGeom prst="line">
            <a:avLst/>
          </a:prstGeom>
          <a:noFill/>
          <a:ln w="19050">
            <a:solidFill>
              <a:srgbClr val="C7A400"/>
            </a:solidFill>
            <a:prstDash val="dashDot"/>
          </a:ln>
        </p:spPr>
        <p:txBody>
          <a:bodyPr/>
          <a:lstStyle/>
          <a:p>
            <a:endParaRPr lang="en-US"/>
          </a:p>
        </p:txBody>
      </p:sp>
      <p:sp>
        <p:nvSpPr>
          <p:cNvPr id="96" name="Shape 94"/>
          <p:cNvSpPr/>
          <p:nvPr/>
        </p:nvSpPr>
        <p:spPr>
          <a:xfrm flipV="1">
            <a:off x="1964498" y="3911526"/>
            <a:ext cx="348906" cy="42359"/>
          </a:xfrm>
          <a:prstGeom prst="line">
            <a:avLst/>
          </a:prstGeom>
          <a:noFill/>
          <a:ln w="19050">
            <a:solidFill>
              <a:srgbClr val="C7A400"/>
            </a:solidFill>
            <a:prstDash val="dashDot"/>
          </a:ln>
        </p:spPr>
        <p:txBody>
          <a:bodyPr/>
          <a:lstStyle/>
          <a:p>
            <a:endParaRPr lang="en-US"/>
          </a:p>
        </p:txBody>
      </p:sp>
      <p:sp>
        <p:nvSpPr>
          <p:cNvPr id="97" name="Shape 95"/>
          <p:cNvSpPr/>
          <p:nvPr/>
        </p:nvSpPr>
        <p:spPr>
          <a:xfrm>
            <a:off x="1808413" y="3353838"/>
            <a:ext cx="156084" cy="600047"/>
          </a:xfrm>
          <a:prstGeom prst="line">
            <a:avLst/>
          </a:prstGeom>
          <a:noFill/>
          <a:ln w="19050">
            <a:solidFill>
              <a:srgbClr val="C7A400"/>
            </a:solidFill>
            <a:prstDash val="dashDot"/>
          </a:ln>
        </p:spPr>
        <p:txBody>
          <a:bodyPr/>
          <a:lstStyle/>
          <a:p>
            <a:endParaRPr lang="en-US"/>
          </a:p>
        </p:txBody>
      </p:sp>
      <p:sp>
        <p:nvSpPr>
          <p:cNvPr id="98" name="Shape 96"/>
          <p:cNvSpPr/>
          <p:nvPr/>
        </p:nvSpPr>
        <p:spPr>
          <a:xfrm flipV="1">
            <a:off x="1289068" y="3353838"/>
            <a:ext cx="519345" cy="269810"/>
          </a:xfrm>
          <a:prstGeom prst="line">
            <a:avLst/>
          </a:prstGeom>
          <a:noFill/>
          <a:ln w="19050">
            <a:solidFill>
              <a:srgbClr val="C7A400"/>
            </a:solidFill>
            <a:prstDash val="dashDot"/>
          </a:ln>
        </p:spPr>
        <p:txBody>
          <a:bodyPr/>
          <a:lstStyle/>
          <a:p>
            <a:endParaRPr lang="en-US"/>
          </a:p>
        </p:txBody>
      </p:sp>
      <p:sp>
        <p:nvSpPr>
          <p:cNvPr id="99" name="Shape 97"/>
          <p:cNvSpPr/>
          <p:nvPr/>
        </p:nvSpPr>
        <p:spPr>
          <a:xfrm>
            <a:off x="1090826" y="3028419"/>
            <a:ext cx="198242" cy="595229"/>
          </a:xfrm>
          <a:prstGeom prst="line">
            <a:avLst/>
          </a:prstGeom>
          <a:noFill/>
          <a:ln w="19050">
            <a:solidFill>
              <a:srgbClr val="C7A400"/>
            </a:solidFill>
            <a:prstDash val="dashDot"/>
          </a:ln>
        </p:spPr>
        <p:txBody>
          <a:bodyPr/>
          <a:lstStyle/>
          <a:p>
            <a:endParaRPr lang="en-US"/>
          </a:p>
        </p:txBody>
      </p:sp>
      <p:sp>
        <p:nvSpPr>
          <p:cNvPr id="100" name="Shape 98"/>
          <p:cNvSpPr/>
          <p:nvPr/>
        </p:nvSpPr>
        <p:spPr>
          <a:xfrm flipV="1">
            <a:off x="1090826" y="2759312"/>
            <a:ext cx="256561" cy="269108"/>
          </a:xfrm>
          <a:prstGeom prst="line">
            <a:avLst/>
          </a:prstGeom>
          <a:noFill/>
          <a:ln w="19050">
            <a:solidFill>
              <a:srgbClr val="C7A400"/>
            </a:solidFill>
            <a:prstDash val="dashDot"/>
          </a:ln>
        </p:spPr>
        <p:txBody>
          <a:bodyPr/>
          <a:lstStyle/>
          <a:p>
            <a:endParaRPr lang="en-US"/>
          </a:p>
        </p:txBody>
      </p:sp>
      <p:sp>
        <p:nvSpPr>
          <p:cNvPr id="101" name="Shape 99"/>
          <p:cNvSpPr/>
          <p:nvPr/>
        </p:nvSpPr>
        <p:spPr>
          <a:xfrm>
            <a:off x="929924" y="2131662"/>
            <a:ext cx="417463" cy="627650"/>
          </a:xfrm>
          <a:prstGeom prst="line">
            <a:avLst/>
          </a:prstGeom>
          <a:noFill/>
          <a:ln w="19050">
            <a:solidFill>
              <a:srgbClr val="C7A400"/>
            </a:solidFill>
            <a:prstDash val="dashDot"/>
          </a:ln>
        </p:spPr>
        <p:txBody>
          <a:bodyPr/>
          <a:lstStyle/>
          <a:p>
            <a:endParaRPr lang="en-US"/>
          </a:p>
        </p:txBody>
      </p:sp>
      <p:sp>
        <p:nvSpPr>
          <p:cNvPr id="102" name="Shape 100"/>
          <p:cNvSpPr/>
          <p:nvPr/>
        </p:nvSpPr>
        <p:spPr>
          <a:xfrm>
            <a:off x="561544" y="1477211"/>
            <a:ext cx="368379" cy="654451"/>
          </a:xfrm>
          <a:prstGeom prst="line">
            <a:avLst/>
          </a:prstGeom>
          <a:noFill/>
          <a:ln w="19050">
            <a:solidFill>
              <a:srgbClr val="C7A400"/>
            </a:solidFill>
            <a:prstDash val="dashDot"/>
          </a:ln>
        </p:spPr>
        <p:txBody>
          <a:bodyPr/>
          <a:lstStyle/>
          <a:p>
            <a:endParaRPr lang="en-US"/>
          </a:p>
        </p:txBody>
      </p:sp>
      <p:sp>
        <p:nvSpPr>
          <p:cNvPr id="103" name="Shape 101"/>
          <p:cNvSpPr/>
          <p:nvPr/>
        </p:nvSpPr>
        <p:spPr>
          <a:xfrm>
            <a:off x="478115" y="1298442"/>
            <a:ext cx="83429" cy="178769"/>
          </a:xfrm>
          <a:prstGeom prst="line">
            <a:avLst/>
          </a:prstGeom>
          <a:noFill/>
          <a:ln w="19050">
            <a:solidFill>
              <a:srgbClr val="C7A400"/>
            </a:solidFill>
            <a:prstDash val="dashDot"/>
          </a:ln>
        </p:spPr>
        <p:txBody>
          <a:bodyPr/>
          <a:lstStyle/>
          <a:p>
            <a:endParaRPr lang="en-US"/>
          </a:p>
        </p:txBody>
      </p:sp>
      <p:sp>
        <p:nvSpPr>
          <p:cNvPr id="104" name="Shape 102"/>
          <p:cNvSpPr/>
          <p:nvPr/>
        </p:nvSpPr>
        <p:spPr>
          <a:xfrm>
            <a:off x="320040" y="3256882"/>
            <a:ext cx="270413" cy="87421"/>
          </a:xfrm>
          <a:prstGeom prst="line">
            <a:avLst/>
          </a:prstGeom>
          <a:noFill/>
          <a:ln w="19050">
            <a:solidFill>
              <a:srgbClr val="C7A400"/>
            </a:solidFill>
            <a:prstDash val="dashDot"/>
          </a:ln>
        </p:spPr>
        <p:txBody>
          <a:bodyPr/>
          <a:lstStyle/>
          <a:p>
            <a:endParaRPr lang="en-US"/>
          </a:p>
        </p:txBody>
      </p:sp>
      <p:sp>
        <p:nvSpPr>
          <p:cNvPr id="105" name="Shape 103"/>
          <p:cNvSpPr/>
          <p:nvPr/>
        </p:nvSpPr>
        <p:spPr>
          <a:xfrm>
            <a:off x="320040" y="3267801"/>
            <a:ext cx="270413" cy="76501"/>
          </a:xfrm>
          <a:prstGeom prst="line">
            <a:avLst/>
          </a:prstGeom>
          <a:noFill/>
          <a:ln w="19050">
            <a:solidFill>
              <a:srgbClr val="C7A400"/>
            </a:solidFill>
            <a:prstDash val="dashDot"/>
          </a:ln>
        </p:spPr>
        <p:txBody>
          <a:bodyPr/>
          <a:lstStyle/>
          <a:p>
            <a:endParaRPr lang="en-US"/>
          </a:p>
        </p:txBody>
      </p:sp>
      <p:sp>
        <p:nvSpPr>
          <p:cNvPr id="106" name="Shape 104"/>
          <p:cNvSpPr/>
          <p:nvPr/>
        </p:nvSpPr>
        <p:spPr>
          <a:xfrm flipV="1">
            <a:off x="4461748" y="4530444"/>
            <a:ext cx="189108" cy="236285"/>
          </a:xfrm>
          <a:prstGeom prst="line">
            <a:avLst/>
          </a:prstGeom>
          <a:noFill/>
          <a:ln w="28575">
            <a:solidFill>
              <a:srgbClr val="8B0000"/>
            </a:solidFill>
            <a:prstDash val="solid"/>
          </a:ln>
        </p:spPr>
        <p:txBody>
          <a:bodyPr/>
          <a:lstStyle/>
          <a:p>
            <a:endParaRPr lang="en-US"/>
          </a:p>
        </p:txBody>
      </p:sp>
      <p:sp>
        <p:nvSpPr>
          <p:cNvPr id="107" name="Shape 105"/>
          <p:cNvSpPr/>
          <p:nvPr/>
        </p:nvSpPr>
        <p:spPr>
          <a:xfrm flipV="1">
            <a:off x="4273042" y="4766728"/>
            <a:ext cx="188707" cy="236686"/>
          </a:xfrm>
          <a:prstGeom prst="line">
            <a:avLst/>
          </a:prstGeom>
          <a:noFill/>
          <a:ln w="28575">
            <a:solidFill>
              <a:srgbClr val="8B0000"/>
            </a:solidFill>
            <a:prstDash val="solid"/>
          </a:ln>
        </p:spPr>
        <p:txBody>
          <a:bodyPr/>
          <a:lstStyle/>
          <a:p>
            <a:endParaRPr lang="en-US"/>
          </a:p>
        </p:txBody>
      </p:sp>
      <p:sp>
        <p:nvSpPr>
          <p:cNvPr id="108" name="Shape 106"/>
          <p:cNvSpPr/>
          <p:nvPr/>
        </p:nvSpPr>
        <p:spPr>
          <a:xfrm flipV="1">
            <a:off x="4085941" y="5003415"/>
            <a:ext cx="187101" cy="235281"/>
          </a:xfrm>
          <a:prstGeom prst="line">
            <a:avLst/>
          </a:prstGeom>
          <a:noFill/>
          <a:ln w="28575">
            <a:solidFill>
              <a:srgbClr val="8B0000"/>
            </a:solidFill>
            <a:prstDash val="solid"/>
          </a:ln>
        </p:spPr>
        <p:txBody>
          <a:bodyPr/>
          <a:lstStyle/>
          <a:p>
            <a:endParaRPr lang="en-US"/>
          </a:p>
        </p:txBody>
      </p:sp>
      <p:sp>
        <p:nvSpPr>
          <p:cNvPr id="109" name="Shape 107"/>
          <p:cNvSpPr/>
          <p:nvPr/>
        </p:nvSpPr>
        <p:spPr>
          <a:xfrm flipV="1">
            <a:off x="3897134" y="5238696"/>
            <a:ext cx="188807" cy="233374"/>
          </a:xfrm>
          <a:prstGeom prst="line">
            <a:avLst/>
          </a:prstGeom>
          <a:noFill/>
          <a:ln w="28575">
            <a:solidFill>
              <a:srgbClr val="8B0000"/>
            </a:solidFill>
            <a:prstDash val="solid"/>
          </a:ln>
        </p:spPr>
        <p:txBody>
          <a:bodyPr/>
          <a:lstStyle/>
          <a:p>
            <a:endParaRPr lang="en-US"/>
          </a:p>
        </p:txBody>
      </p:sp>
      <p:sp>
        <p:nvSpPr>
          <p:cNvPr id="110" name="Shape 108"/>
          <p:cNvSpPr/>
          <p:nvPr/>
        </p:nvSpPr>
        <p:spPr>
          <a:xfrm flipV="1">
            <a:off x="3707324" y="5472070"/>
            <a:ext cx="189811" cy="234679"/>
          </a:xfrm>
          <a:prstGeom prst="line">
            <a:avLst/>
          </a:prstGeom>
          <a:noFill/>
          <a:ln w="28575">
            <a:solidFill>
              <a:srgbClr val="8B0000"/>
            </a:solidFill>
            <a:prstDash val="solid"/>
          </a:ln>
        </p:spPr>
        <p:txBody>
          <a:bodyPr/>
          <a:lstStyle/>
          <a:p>
            <a:endParaRPr lang="en-US"/>
          </a:p>
        </p:txBody>
      </p:sp>
      <p:sp>
        <p:nvSpPr>
          <p:cNvPr id="111" name="Shape 109"/>
          <p:cNvSpPr/>
          <p:nvPr/>
        </p:nvSpPr>
        <p:spPr>
          <a:xfrm flipV="1">
            <a:off x="3518918" y="5706748"/>
            <a:ext cx="188405" cy="235281"/>
          </a:xfrm>
          <a:prstGeom prst="line">
            <a:avLst/>
          </a:prstGeom>
          <a:noFill/>
          <a:ln w="28575">
            <a:solidFill>
              <a:srgbClr val="8B0000"/>
            </a:solidFill>
            <a:prstDash val="solid"/>
          </a:ln>
        </p:spPr>
        <p:txBody>
          <a:bodyPr/>
          <a:lstStyle/>
          <a:p>
            <a:endParaRPr lang="en-US"/>
          </a:p>
        </p:txBody>
      </p:sp>
      <p:sp>
        <p:nvSpPr>
          <p:cNvPr id="112" name="Shape 110"/>
          <p:cNvSpPr/>
          <p:nvPr/>
        </p:nvSpPr>
        <p:spPr>
          <a:xfrm flipV="1">
            <a:off x="3331316" y="5942029"/>
            <a:ext cx="187602" cy="235080"/>
          </a:xfrm>
          <a:prstGeom prst="line">
            <a:avLst/>
          </a:prstGeom>
          <a:noFill/>
          <a:ln w="28575">
            <a:solidFill>
              <a:srgbClr val="8B0000"/>
            </a:solidFill>
            <a:prstDash val="solid"/>
          </a:ln>
        </p:spPr>
        <p:txBody>
          <a:bodyPr/>
          <a:lstStyle/>
          <a:p>
            <a:endParaRPr lang="en-US"/>
          </a:p>
        </p:txBody>
      </p:sp>
      <p:sp>
        <p:nvSpPr>
          <p:cNvPr id="144" name="Shape 142"/>
          <p:cNvSpPr/>
          <p:nvPr/>
        </p:nvSpPr>
        <p:spPr>
          <a:xfrm>
            <a:off x="5416222" y="3770598"/>
            <a:ext cx="140526" cy="140526"/>
          </a:xfrm>
          <a:prstGeom prst="rect">
            <a:avLst/>
          </a:prstGeom>
          <a:ln w="19050">
            <a:solidFill>
              <a:srgbClr val="BB00BB"/>
            </a:solidFill>
            <a:prstDash val="solid"/>
          </a:ln>
        </p:spPr>
        <p:txBody>
          <a:bodyPr/>
          <a:lstStyle/>
          <a:p>
            <a:endParaRPr lang="en-US"/>
          </a:p>
        </p:txBody>
      </p:sp>
      <p:sp>
        <p:nvSpPr>
          <p:cNvPr id="145" name="Shape 143"/>
          <p:cNvSpPr/>
          <p:nvPr/>
        </p:nvSpPr>
        <p:spPr>
          <a:xfrm>
            <a:off x="7969282" y="5137718"/>
            <a:ext cx="140526" cy="140526"/>
          </a:xfrm>
          <a:prstGeom prst="rect">
            <a:avLst/>
          </a:prstGeom>
          <a:ln w="19050">
            <a:solidFill>
              <a:srgbClr val="BB00BB"/>
            </a:solidFill>
            <a:prstDash val="solid"/>
          </a:ln>
        </p:spPr>
        <p:txBody>
          <a:bodyPr/>
          <a:lstStyle/>
          <a:p>
            <a:endParaRPr lang="en-US"/>
          </a:p>
        </p:txBody>
      </p:sp>
      <p:sp>
        <p:nvSpPr>
          <p:cNvPr id="146" name="Text 144"/>
          <p:cNvSpPr/>
          <p:nvPr/>
        </p:nvSpPr>
        <p:spPr>
          <a:xfrm>
            <a:off x="5576824" y="3660870"/>
            <a:ext cx="1097280" cy="182880"/>
          </a:xfrm>
          <a:prstGeom prst="rect">
            <a:avLst/>
          </a:prstGeom>
          <a:noFill/>
          <a:ln/>
        </p:spPr>
        <p:txBody>
          <a:bodyPr wrap="square" lIns="0" tIns="0" rIns="0" bIns="0" rtlCol="0" anchor="ctr"/>
          <a:lstStyle/>
          <a:p>
            <a:pPr marL="0" indent="0">
              <a:buNone/>
            </a:pPr>
            <a:r>
              <a:rPr lang="en-US" sz="650" b="1" dirty="0">
                <a:solidFill>
                  <a:srgbClr val="BB00BB"/>
                </a:solidFill>
                <a:latin typeface="Arial" pitchFamily="34" charset="0"/>
                <a:ea typeface="Arial" pitchFamily="34" charset="-122"/>
                <a:cs typeface="Arial" pitchFamily="34" charset="-120"/>
              </a:rPr>
              <a:t>P4.037</a:t>
            </a:r>
            <a:endParaRPr lang="en-US" sz="650" dirty="0"/>
          </a:p>
        </p:txBody>
      </p:sp>
      <p:sp>
        <p:nvSpPr>
          <p:cNvPr id="147" name="Text 145"/>
          <p:cNvSpPr/>
          <p:nvPr/>
        </p:nvSpPr>
        <p:spPr>
          <a:xfrm>
            <a:off x="8129884" y="5027990"/>
            <a:ext cx="1097280" cy="182880"/>
          </a:xfrm>
          <a:prstGeom prst="rect">
            <a:avLst/>
          </a:prstGeom>
          <a:noFill/>
          <a:ln/>
        </p:spPr>
        <p:txBody>
          <a:bodyPr wrap="square" lIns="0" tIns="0" rIns="0" bIns="0" rtlCol="0" anchor="ctr"/>
          <a:lstStyle/>
          <a:p>
            <a:pPr marL="0" indent="0">
              <a:buNone/>
            </a:pPr>
            <a:r>
              <a:rPr lang="en-US" sz="650" b="1" dirty="0">
                <a:solidFill>
                  <a:srgbClr val="BB00BB"/>
                </a:solidFill>
                <a:latin typeface="Arial" pitchFamily="34" charset="0"/>
                <a:ea typeface="Arial" pitchFamily="34" charset="-122"/>
                <a:cs typeface="Arial" pitchFamily="34" charset="-120"/>
              </a:rPr>
              <a:t>HH.E.058</a:t>
            </a:r>
            <a:endParaRPr lang="en-US" sz="650" dirty="0"/>
          </a:p>
        </p:txBody>
      </p:sp>
      <p:sp>
        <p:nvSpPr>
          <p:cNvPr id="148" name="Shape 146"/>
          <p:cNvSpPr/>
          <p:nvPr/>
        </p:nvSpPr>
        <p:spPr>
          <a:xfrm>
            <a:off x="3087402" y="6322353"/>
            <a:ext cx="2846258" cy="721803"/>
          </a:xfrm>
          <a:prstGeom prst="line">
            <a:avLst/>
          </a:prstGeom>
          <a:noFill/>
          <a:ln w="31750">
            <a:solidFill>
              <a:srgbClr val="CC0000"/>
            </a:solidFill>
            <a:prstDash val="solid"/>
          </a:ln>
        </p:spPr>
        <p:txBody>
          <a:bodyPr/>
          <a:lstStyle/>
          <a:p>
            <a:endParaRPr lang="en-US"/>
          </a:p>
        </p:txBody>
      </p:sp>
      <p:sp>
        <p:nvSpPr>
          <p:cNvPr id="149" name="Shape 147"/>
          <p:cNvSpPr/>
          <p:nvPr/>
        </p:nvSpPr>
        <p:spPr>
          <a:xfrm flipV="1">
            <a:off x="3087402" y="4071626"/>
            <a:ext cx="570737" cy="2250728"/>
          </a:xfrm>
          <a:prstGeom prst="line">
            <a:avLst/>
          </a:prstGeom>
          <a:noFill/>
          <a:ln w="31750">
            <a:solidFill>
              <a:srgbClr val="CC0000"/>
            </a:solidFill>
            <a:prstDash val="solid"/>
          </a:ln>
        </p:spPr>
        <p:txBody>
          <a:bodyPr/>
          <a:lstStyle/>
          <a:p>
            <a:endParaRPr lang="en-US"/>
          </a:p>
        </p:txBody>
      </p:sp>
      <p:sp>
        <p:nvSpPr>
          <p:cNvPr id="150" name="Shape 148"/>
          <p:cNvSpPr/>
          <p:nvPr/>
        </p:nvSpPr>
        <p:spPr>
          <a:xfrm>
            <a:off x="4864486" y="5316585"/>
            <a:ext cx="2846358" cy="721803"/>
          </a:xfrm>
          <a:prstGeom prst="line">
            <a:avLst/>
          </a:prstGeom>
          <a:noFill/>
          <a:ln w="31750">
            <a:solidFill>
              <a:srgbClr val="CC0000"/>
            </a:solidFill>
            <a:prstDash val="solid"/>
          </a:ln>
        </p:spPr>
        <p:txBody>
          <a:bodyPr/>
          <a:lstStyle/>
          <a:p>
            <a:endParaRPr lang="en-US"/>
          </a:p>
        </p:txBody>
      </p:sp>
      <p:sp>
        <p:nvSpPr>
          <p:cNvPr id="151" name="Shape 149"/>
          <p:cNvSpPr/>
          <p:nvPr/>
        </p:nvSpPr>
        <p:spPr>
          <a:xfrm flipV="1">
            <a:off x="5933660" y="4793428"/>
            <a:ext cx="570837" cy="2250728"/>
          </a:xfrm>
          <a:prstGeom prst="line">
            <a:avLst/>
          </a:prstGeom>
          <a:noFill/>
          <a:ln w="31750">
            <a:solidFill>
              <a:srgbClr val="CC0000"/>
            </a:solidFill>
            <a:prstDash val="solid"/>
          </a:ln>
        </p:spPr>
        <p:txBody>
          <a:bodyPr/>
          <a:lstStyle/>
          <a:p>
            <a:endParaRPr lang="en-US"/>
          </a:p>
        </p:txBody>
      </p:sp>
      <p:sp>
        <p:nvSpPr>
          <p:cNvPr id="152" name="Text 150"/>
          <p:cNvSpPr/>
          <p:nvPr/>
        </p:nvSpPr>
        <p:spPr>
          <a:xfrm>
            <a:off x="1280699" y="3797306"/>
            <a:ext cx="4937760" cy="201168"/>
          </a:xfrm>
          <a:prstGeom prst="rect">
            <a:avLst/>
          </a:prstGeom>
          <a:noFill/>
          <a:ln/>
        </p:spPr>
        <p:txBody>
          <a:bodyPr wrap="square" lIns="0" tIns="0" rIns="0" bIns="0" rtlCol="0" anchor="ctr"/>
          <a:lstStyle/>
          <a:p>
            <a:pPr marL="0" indent="0">
              <a:buNone/>
            </a:pPr>
            <a:r>
              <a:rPr lang="en-US" sz="800" b="1" dirty="0">
                <a:solidFill>
                  <a:srgbClr val="CC0000"/>
                </a:solidFill>
                <a:latin typeface="Arial" pitchFamily="34" charset="0"/>
                <a:ea typeface="Arial" pitchFamily="34" charset="-122"/>
                <a:cs typeface="Arial" pitchFamily="34" charset="-120"/>
              </a:rPr>
              <a:t>AGL WORKS AREA — FIELD CONDITION (676.7 m² TOTAL)</a:t>
            </a:r>
            <a:endParaRPr lang="en-US" sz="800" dirty="0"/>
          </a:p>
        </p:txBody>
      </p:sp>
      <p:sp>
        <p:nvSpPr>
          <p:cNvPr id="153" name="Shape 151"/>
          <p:cNvSpPr/>
          <p:nvPr/>
        </p:nvSpPr>
        <p:spPr>
          <a:xfrm>
            <a:off x="8102128" y="6959990"/>
            <a:ext cx="58522" cy="58522"/>
          </a:xfrm>
          <a:prstGeom prst="ellipse">
            <a:avLst/>
          </a:prstGeom>
          <a:solidFill>
            <a:srgbClr val="12A5B8"/>
          </a:solidFill>
          <a:ln w="6350">
            <a:solidFill>
              <a:srgbClr val="12A5B8"/>
            </a:solidFill>
            <a:prstDash val="solid"/>
          </a:ln>
        </p:spPr>
        <p:txBody>
          <a:bodyPr/>
          <a:lstStyle/>
          <a:p>
            <a:endParaRPr lang="en-US"/>
          </a:p>
        </p:txBody>
      </p:sp>
      <p:sp>
        <p:nvSpPr>
          <p:cNvPr id="154" name="Shape 152"/>
          <p:cNvSpPr/>
          <p:nvPr/>
        </p:nvSpPr>
        <p:spPr>
          <a:xfrm>
            <a:off x="4477556" y="2738181"/>
            <a:ext cx="58522" cy="58522"/>
          </a:xfrm>
          <a:prstGeom prst="ellipse">
            <a:avLst/>
          </a:prstGeom>
          <a:solidFill>
            <a:srgbClr val="12A5B8"/>
          </a:solidFill>
          <a:ln w="6350">
            <a:solidFill>
              <a:srgbClr val="12A5B8"/>
            </a:solidFill>
            <a:prstDash val="solid"/>
          </a:ln>
        </p:spPr>
        <p:txBody>
          <a:bodyPr/>
          <a:lstStyle/>
          <a:p>
            <a:endParaRPr lang="en-US"/>
          </a:p>
        </p:txBody>
      </p:sp>
      <p:sp>
        <p:nvSpPr>
          <p:cNvPr id="155" name="Shape 153"/>
          <p:cNvSpPr/>
          <p:nvPr/>
        </p:nvSpPr>
        <p:spPr>
          <a:xfrm>
            <a:off x="8109355" y="8654334"/>
            <a:ext cx="58522" cy="58522"/>
          </a:xfrm>
          <a:prstGeom prst="ellipse">
            <a:avLst/>
          </a:prstGeom>
          <a:solidFill>
            <a:srgbClr val="12A5B8"/>
          </a:solidFill>
          <a:ln w="6350">
            <a:solidFill>
              <a:srgbClr val="12A5B8"/>
            </a:solidFill>
            <a:prstDash val="solid"/>
          </a:ln>
        </p:spPr>
        <p:txBody>
          <a:bodyPr/>
          <a:lstStyle/>
          <a:p>
            <a:endParaRPr lang="en-US"/>
          </a:p>
        </p:txBody>
      </p:sp>
      <p:sp>
        <p:nvSpPr>
          <p:cNvPr id="156" name="Shape 154"/>
          <p:cNvSpPr/>
          <p:nvPr/>
        </p:nvSpPr>
        <p:spPr>
          <a:xfrm>
            <a:off x="6936664" y="7713110"/>
            <a:ext cx="58522" cy="58522"/>
          </a:xfrm>
          <a:prstGeom prst="ellipse">
            <a:avLst/>
          </a:prstGeom>
          <a:solidFill>
            <a:srgbClr val="12A5B8"/>
          </a:solidFill>
          <a:ln w="6350">
            <a:solidFill>
              <a:srgbClr val="12A5B8"/>
            </a:solidFill>
            <a:prstDash val="solid"/>
          </a:ln>
        </p:spPr>
        <p:txBody>
          <a:bodyPr/>
          <a:lstStyle/>
          <a:p>
            <a:endParaRPr lang="en-US"/>
          </a:p>
        </p:txBody>
      </p:sp>
      <p:sp>
        <p:nvSpPr>
          <p:cNvPr id="157" name="Shape 155"/>
          <p:cNvSpPr/>
          <p:nvPr/>
        </p:nvSpPr>
        <p:spPr>
          <a:xfrm>
            <a:off x="4251911" y="7016702"/>
            <a:ext cx="58522" cy="58522"/>
          </a:xfrm>
          <a:prstGeom prst="ellipse">
            <a:avLst/>
          </a:prstGeom>
          <a:solidFill>
            <a:srgbClr val="12A5B8"/>
          </a:solidFill>
          <a:ln w="6350">
            <a:solidFill>
              <a:srgbClr val="12A5B8"/>
            </a:solidFill>
            <a:prstDash val="solid"/>
          </a:ln>
        </p:spPr>
        <p:txBody>
          <a:bodyPr/>
          <a:lstStyle/>
          <a:p>
            <a:endParaRPr lang="en-US"/>
          </a:p>
        </p:txBody>
      </p:sp>
      <p:sp>
        <p:nvSpPr>
          <p:cNvPr id="158" name="Shape 156"/>
          <p:cNvSpPr/>
          <p:nvPr/>
        </p:nvSpPr>
        <p:spPr>
          <a:xfrm>
            <a:off x="2550942" y="5842004"/>
            <a:ext cx="58522" cy="58522"/>
          </a:xfrm>
          <a:prstGeom prst="ellipse">
            <a:avLst/>
          </a:prstGeom>
          <a:solidFill>
            <a:srgbClr val="12A5B8"/>
          </a:solidFill>
          <a:ln w="6350">
            <a:solidFill>
              <a:srgbClr val="12A5B8"/>
            </a:solidFill>
            <a:prstDash val="solid"/>
          </a:ln>
        </p:spPr>
        <p:txBody>
          <a:bodyPr/>
          <a:lstStyle/>
          <a:p>
            <a:endParaRPr lang="en-US"/>
          </a:p>
        </p:txBody>
      </p:sp>
      <p:sp>
        <p:nvSpPr>
          <p:cNvPr id="159" name="Shape 157"/>
          <p:cNvSpPr/>
          <p:nvPr/>
        </p:nvSpPr>
        <p:spPr>
          <a:xfrm>
            <a:off x="3247651" y="2605986"/>
            <a:ext cx="58522" cy="58522"/>
          </a:xfrm>
          <a:prstGeom prst="ellipse">
            <a:avLst/>
          </a:prstGeom>
          <a:solidFill>
            <a:srgbClr val="12A5B8"/>
          </a:solidFill>
          <a:ln w="6350">
            <a:solidFill>
              <a:srgbClr val="12A5B8"/>
            </a:solidFill>
            <a:prstDash val="solid"/>
          </a:ln>
        </p:spPr>
        <p:txBody>
          <a:bodyPr/>
          <a:lstStyle/>
          <a:p>
            <a:endParaRPr lang="en-US"/>
          </a:p>
        </p:txBody>
      </p:sp>
      <p:sp>
        <p:nvSpPr>
          <p:cNvPr id="160" name="Shape 158"/>
          <p:cNvSpPr/>
          <p:nvPr/>
        </p:nvSpPr>
        <p:spPr>
          <a:xfrm>
            <a:off x="2300003" y="1444136"/>
            <a:ext cx="58522" cy="58522"/>
          </a:xfrm>
          <a:prstGeom prst="ellipse">
            <a:avLst/>
          </a:prstGeom>
          <a:solidFill>
            <a:srgbClr val="12A5B8"/>
          </a:solidFill>
          <a:ln w="6350">
            <a:solidFill>
              <a:srgbClr val="12A5B8"/>
            </a:solidFill>
            <a:prstDash val="solid"/>
          </a:ln>
        </p:spPr>
        <p:txBody>
          <a:bodyPr/>
          <a:lstStyle/>
          <a:p>
            <a:endParaRPr lang="en-US"/>
          </a:p>
        </p:txBody>
      </p:sp>
      <p:sp>
        <p:nvSpPr>
          <p:cNvPr id="161" name="Shape 159"/>
          <p:cNvSpPr/>
          <p:nvPr/>
        </p:nvSpPr>
        <p:spPr>
          <a:xfrm>
            <a:off x="1249569" y="5119097"/>
            <a:ext cx="58522" cy="58522"/>
          </a:xfrm>
          <a:prstGeom prst="ellipse">
            <a:avLst/>
          </a:prstGeom>
          <a:solidFill>
            <a:srgbClr val="12A5B8"/>
          </a:solidFill>
          <a:ln w="6350">
            <a:solidFill>
              <a:srgbClr val="12A5B8"/>
            </a:solidFill>
            <a:prstDash val="solid"/>
          </a:ln>
        </p:spPr>
        <p:txBody>
          <a:bodyPr/>
          <a:lstStyle/>
          <a:p>
            <a:endParaRPr lang="en-US"/>
          </a:p>
        </p:txBody>
      </p:sp>
      <p:sp>
        <p:nvSpPr>
          <p:cNvPr id="162" name="Shape 160"/>
          <p:cNvSpPr/>
          <p:nvPr/>
        </p:nvSpPr>
        <p:spPr>
          <a:xfrm>
            <a:off x="4329502" y="3658829"/>
            <a:ext cx="58522" cy="58522"/>
          </a:xfrm>
          <a:prstGeom prst="ellipse">
            <a:avLst/>
          </a:prstGeom>
          <a:solidFill>
            <a:srgbClr val="12A5B8"/>
          </a:solidFill>
          <a:ln w="6350">
            <a:solidFill>
              <a:srgbClr val="12A5B8"/>
            </a:solidFill>
            <a:prstDash val="solid"/>
          </a:ln>
        </p:spPr>
        <p:txBody>
          <a:bodyPr/>
          <a:lstStyle/>
          <a:p>
            <a:endParaRPr lang="en-US"/>
          </a:p>
        </p:txBody>
      </p:sp>
      <p:sp>
        <p:nvSpPr>
          <p:cNvPr id="163" name="Shape 161"/>
          <p:cNvSpPr/>
          <p:nvPr/>
        </p:nvSpPr>
        <p:spPr>
          <a:xfrm>
            <a:off x="2731117" y="7813887"/>
            <a:ext cx="58522" cy="58522"/>
          </a:xfrm>
          <a:prstGeom prst="ellipse">
            <a:avLst/>
          </a:prstGeom>
          <a:solidFill>
            <a:srgbClr val="12A5B8"/>
          </a:solidFill>
          <a:ln w="6350">
            <a:solidFill>
              <a:srgbClr val="12A5B8"/>
            </a:solidFill>
            <a:prstDash val="solid"/>
          </a:ln>
        </p:spPr>
        <p:txBody>
          <a:bodyPr/>
          <a:lstStyle/>
          <a:p>
            <a:endParaRPr lang="en-US"/>
          </a:p>
        </p:txBody>
      </p:sp>
      <p:sp>
        <p:nvSpPr>
          <p:cNvPr id="164" name="Shape 162"/>
          <p:cNvSpPr/>
          <p:nvPr/>
        </p:nvSpPr>
        <p:spPr>
          <a:xfrm>
            <a:off x="9284054" y="9597968"/>
            <a:ext cx="58522" cy="58522"/>
          </a:xfrm>
          <a:prstGeom prst="ellipse">
            <a:avLst/>
          </a:prstGeom>
          <a:solidFill>
            <a:srgbClr val="12A5B8"/>
          </a:solidFill>
          <a:ln w="6350">
            <a:solidFill>
              <a:srgbClr val="12A5B8"/>
            </a:solidFill>
            <a:prstDash val="solid"/>
          </a:ln>
        </p:spPr>
        <p:txBody>
          <a:bodyPr/>
          <a:lstStyle/>
          <a:p>
            <a:endParaRPr lang="en-US"/>
          </a:p>
        </p:txBody>
      </p:sp>
      <p:sp>
        <p:nvSpPr>
          <p:cNvPr id="165" name="Shape 163"/>
          <p:cNvSpPr/>
          <p:nvPr/>
        </p:nvSpPr>
        <p:spPr>
          <a:xfrm>
            <a:off x="6348663" y="7240741"/>
            <a:ext cx="58522" cy="58522"/>
          </a:xfrm>
          <a:prstGeom prst="ellipse">
            <a:avLst/>
          </a:prstGeom>
          <a:solidFill>
            <a:srgbClr val="12A5B8"/>
          </a:solidFill>
          <a:ln w="6350">
            <a:solidFill>
              <a:srgbClr val="12A5B8"/>
            </a:solidFill>
            <a:prstDash val="solid"/>
          </a:ln>
        </p:spPr>
        <p:txBody>
          <a:bodyPr/>
          <a:lstStyle/>
          <a:p>
            <a:endParaRPr lang="en-US"/>
          </a:p>
        </p:txBody>
      </p:sp>
      <p:sp>
        <p:nvSpPr>
          <p:cNvPr id="166" name="Shape 164"/>
          <p:cNvSpPr/>
          <p:nvPr/>
        </p:nvSpPr>
        <p:spPr>
          <a:xfrm>
            <a:off x="5759155" y="6770982"/>
            <a:ext cx="58522" cy="58522"/>
          </a:xfrm>
          <a:prstGeom prst="ellipse">
            <a:avLst/>
          </a:prstGeom>
          <a:solidFill>
            <a:srgbClr val="12A5B8"/>
          </a:solidFill>
          <a:ln w="6350">
            <a:solidFill>
              <a:srgbClr val="12A5B8"/>
            </a:solidFill>
            <a:prstDash val="solid"/>
          </a:ln>
        </p:spPr>
        <p:txBody>
          <a:bodyPr/>
          <a:lstStyle/>
          <a:p>
            <a:endParaRPr lang="en-US"/>
          </a:p>
        </p:txBody>
      </p:sp>
      <p:sp>
        <p:nvSpPr>
          <p:cNvPr id="167" name="Shape 165"/>
          <p:cNvSpPr/>
          <p:nvPr/>
        </p:nvSpPr>
        <p:spPr>
          <a:xfrm>
            <a:off x="5174566" y="6298513"/>
            <a:ext cx="58522" cy="58522"/>
          </a:xfrm>
          <a:prstGeom prst="ellipse">
            <a:avLst/>
          </a:prstGeom>
          <a:solidFill>
            <a:srgbClr val="12A5B8"/>
          </a:solidFill>
          <a:ln w="6350">
            <a:solidFill>
              <a:srgbClr val="12A5B8"/>
            </a:solidFill>
            <a:prstDash val="solid"/>
          </a:ln>
        </p:spPr>
        <p:txBody>
          <a:bodyPr/>
          <a:lstStyle/>
          <a:p>
            <a:endParaRPr lang="en-US"/>
          </a:p>
        </p:txBody>
      </p:sp>
      <p:sp>
        <p:nvSpPr>
          <p:cNvPr id="168" name="Shape 166"/>
          <p:cNvSpPr/>
          <p:nvPr/>
        </p:nvSpPr>
        <p:spPr>
          <a:xfrm>
            <a:off x="4586163" y="5824638"/>
            <a:ext cx="58522" cy="58522"/>
          </a:xfrm>
          <a:prstGeom prst="ellipse">
            <a:avLst/>
          </a:prstGeom>
          <a:solidFill>
            <a:srgbClr val="12A5B8"/>
          </a:solidFill>
          <a:ln w="6350">
            <a:solidFill>
              <a:srgbClr val="12A5B8"/>
            </a:solidFill>
            <a:prstDash val="solid"/>
          </a:ln>
        </p:spPr>
        <p:txBody>
          <a:bodyPr/>
          <a:lstStyle/>
          <a:p>
            <a:endParaRPr lang="en-US"/>
          </a:p>
        </p:txBody>
      </p:sp>
      <p:sp>
        <p:nvSpPr>
          <p:cNvPr id="169" name="Shape 167"/>
          <p:cNvSpPr/>
          <p:nvPr/>
        </p:nvSpPr>
        <p:spPr>
          <a:xfrm>
            <a:off x="7523562" y="8182568"/>
            <a:ext cx="58522" cy="58522"/>
          </a:xfrm>
          <a:prstGeom prst="ellipse">
            <a:avLst/>
          </a:prstGeom>
          <a:solidFill>
            <a:srgbClr val="12A5B8"/>
          </a:solidFill>
          <a:ln w="6350">
            <a:solidFill>
              <a:srgbClr val="12A5B8"/>
            </a:solidFill>
            <a:prstDash val="solid"/>
          </a:ln>
        </p:spPr>
        <p:txBody>
          <a:bodyPr/>
          <a:lstStyle/>
          <a:p>
            <a:endParaRPr lang="en-US"/>
          </a:p>
        </p:txBody>
      </p:sp>
      <p:sp>
        <p:nvSpPr>
          <p:cNvPr id="170" name="Shape 168"/>
          <p:cNvSpPr/>
          <p:nvPr/>
        </p:nvSpPr>
        <p:spPr>
          <a:xfrm>
            <a:off x="561192" y="3315041"/>
            <a:ext cx="58522" cy="58522"/>
          </a:xfrm>
          <a:prstGeom prst="ellipse">
            <a:avLst/>
          </a:prstGeom>
          <a:solidFill>
            <a:srgbClr val="12A5B8"/>
          </a:solidFill>
          <a:ln w="6350">
            <a:solidFill>
              <a:srgbClr val="12A5B8"/>
            </a:solidFill>
            <a:prstDash val="solid"/>
          </a:ln>
        </p:spPr>
        <p:txBody>
          <a:bodyPr/>
          <a:lstStyle/>
          <a:p>
            <a:endParaRPr lang="en-US"/>
          </a:p>
        </p:txBody>
      </p:sp>
      <p:sp>
        <p:nvSpPr>
          <p:cNvPr id="171" name="Shape 169"/>
          <p:cNvSpPr/>
          <p:nvPr/>
        </p:nvSpPr>
        <p:spPr>
          <a:xfrm>
            <a:off x="1935237" y="3924624"/>
            <a:ext cx="58522" cy="58522"/>
          </a:xfrm>
          <a:prstGeom prst="ellipse">
            <a:avLst/>
          </a:prstGeom>
          <a:solidFill>
            <a:srgbClr val="12A5B8"/>
          </a:solidFill>
          <a:ln w="6350">
            <a:solidFill>
              <a:srgbClr val="12A5B8"/>
            </a:solidFill>
            <a:prstDash val="solid"/>
          </a:ln>
        </p:spPr>
        <p:txBody>
          <a:bodyPr/>
          <a:lstStyle/>
          <a:p>
            <a:endParaRPr lang="en-US"/>
          </a:p>
        </p:txBody>
      </p:sp>
      <p:sp>
        <p:nvSpPr>
          <p:cNvPr id="172" name="Shape 170"/>
          <p:cNvSpPr/>
          <p:nvPr/>
        </p:nvSpPr>
        <p:spPr>
          <a:xfrm>
            <a:off x="2586676" y="4304848"/>
            <a:ext cx="58522" cy="58522"/>
          </a:xfrm>
          <a:prstGeom prst="ellipse">
            <a:avLst/>
          </a:prstGeom>
          <a:solidFill>
            <a:srgbClr val="12A5B8"/>
          </a:solidFill>
          <a:ln w="6350">
            <a:solidFill>
              <a:srgbClr val="12A5B8"/>
            </a:solidFill>
            <a:prstDash val="solid"/>
          </a:ln>
        </p:spPr>
        <p:txBody>
          <a:bodyPr/>
          <a:lstStyle/>
          <a:p>
            <a:endParaRPr lang="en-US"/>
          </a:p>
        </p:txBody>
      </p:sp>
      <p:sp>
        <p:nvSpPr>
          <p:cNvPr id="173" name="Shape 171"/>
          <p:cNvSpPr/>
          <p:nvPr/>
        </p:nvSpPr>
        <p:spPr>
          <a:xfrm>
            <a:off x="1259808" y="3594387"/>
            <a:ext cx="58522" cy="58522"/>
          </a:xfrm>
          <a:prstGeom prst="ellipse">
            <a:avLst/>
          </a:prstGeom>
          <a:solidFill>
            <a:srgbClr val="12A5B8"/>
          </a:solidFill>
          <a:ln w="6350">
            <a:solidFill>
              <a:srgbClr val="12A5B8"/>
            </a:solidFill>
            <a:prstDash val="solid"/>
          </a:ln>
        </p:spPr>
        <p:txBody>
          <a:bodyPr/>
          <a:lstStyle/>
          <a:p>
            <a:endParaRPr lang="en-US"/>
          </a:p>
        </p:txBody>
      </p:sp>
      <p:sp>
        <p:nvSpPr>
          <p:cNvPr id="174" name="Shape 172"/>
          <p:cNvSpPr/>
          <p:nvPr/>
        </p:nvSpPr>
        <p:spPr>
          <a:xfrm>
            <a:off x="823173" y="3254314"/>
            <a:ext cx="58522" cy="58522"/>
          </a:xfrm>
          <a:prstGeom prst="ellipse">
            <a:avLst/>
          </a:prstGeom>
          <a:solidFill>
            <a:srgbClr val="12A5B8"/>
          </a:solidFill>
          <a:ln w="6350">
            <a:solidFill>
              <a:srgbClr val="12A5B8"/>
            </a:solidFill>
            <a:prstDash val="solid"/>
          </a:ln>
        </p:spPr>
        <p:txBody>
          <a:bodyPr/>
          <a:lstStyle/>
          <a:p>
            <a:endParaRPr lang="en-US"/>
          </a:p>
        </p:txBody>
      </p:sp>
      <p:sp>
        <p:nvSpPr>
          <p:cNvPr id="175" name="Shape 173"/>
          <p:cNvSpPr/>
          <p:nvPr/>
        </p:nvSpPr>
        <p:spPr>
          <a:xfrm>
            <a:off x="1500107" y="3566182"/>
            <a:ext cx="58522" cy="58522"/>
          </a:xfrm>
          <a:prstGeom prst="ellipse">
            <a:avLst/>
          </a:prstGeom>
          <a:solidFill>
            <a:srgbClr val="12A5B8"/>
          </a:solidFill>
          <a:ln w="6350">
            <a:solidFill>
              <a:srgbClr val="12A5B8"/>
            </a:solidFill>
            <a:prstDash val="solid"/>
          </a:ln>
        </p:spPr>
        <p:txBody>
          <a:bodyPr/>
          <a:lstStyle/>
          <a:p>
            <a:endParaRPr lang="en-US"/>
          </a:p>
        </p:txBody>
      </p:sp>
      <p:sp>
        <p:nvSpPr>
          <p:cNvPr id="176" name="Shape 174"/>
          <p:cNvSpPr/>
          <p:nvPr/>
        </p:nvSpPr>
        <p:spPr>
          <a:xfrm>
            <a:off x="2166101" y="3922315"/>
            <a:ext cx="58522" cy="58522"/>
          </a:xfrm>
          <a:prstGeom prst="ellipse">
            <a:avLst/>
          </a:prstGeom>
          <a:solidFill>
            <a:srgbClr val="12A5B8"/>
          </a:solidFill>
          <a:ln w="6350">
            <a:solidFill>
              <a:srgbClr val="12A5B8"/>
            </a:solidFill>
            <a:prstDash val="solid"/>
          </a:ln>
        </p:spPr>
        <p:txBody>
          <a:bodyPr/>
          <a:lstStyle/>
          <a:p>
            <a:endParaRPr lang="en-US"/>
          </a:p>
        </p:txBody>
      </p:sp>
      <p:sp>
        <p:nvSpPr>
          <p:cNvPr id="177" name="Shape 175"/>
          <p:cNvSpPr/>
          <p:nvPr/>
        </p:nvSpPr>
        <p:spPr>
          <a:xfrm>
            <a:off x="2800878" y="4322413"/>
            <a:ext cx="58522" cy="58522"/>
          </a:xfrm>
          <a:prstGeom prst="ellipse">
            <a:avLst/>
          </a:prstGeom>
          <a:solidFill>
            <a:srgbClr val="12A5B8"/>
          </a:solidFill>
          <a:ln w="6350">
            <a:solidFill>
              <a:srgbClr val="12A5B8"/>
            </a:solidFill>
            <a:prstDash val="solid"/>
          </a:ln>
        </p:spPr>
        <p:txBody>
          <a:bodyPr/>
          <a:lstStyle/>
          <a:p>
            <a:endParaRPr lang="en-US"/>
          </a:p>
        </p:txBody>
      </p:sp>
      <p:sp>
        <p:nvSpPr>
          <p:cNvPr id="178" name="Shape 176"/>
          <p:cNvSpPr/>
          <p:nvPr/>
        </p:nvSpPr>
        <p:spPr>
          <a:xfrm>
            <a:off x="3998563" y="5355883"/>
            <a:ext cx="58522" cy="58522"/>
          </a:xfrm>
          <a:prstGeom prst="ellipse">
            <a:avLst/>
          </a:prstGeom>
          <a:solidFill>
            <a:srgbClr val="12A5B8"/>
          </a:solidFill>
          <a:ln w="6350">
            <a:solidFill>
              <a:srgbClr val="12A5B8"/>
            </a:solidFill>
            <a:prstDash val="solid"/>
          </a:ln>
        </p:spPr>
        <p:txBody>
          <a:bodyPr/>
          <a:lstStyle/>
          <a:p>
            <a:endParaRPr lang="en-US"/>
          </a:p>
        </p:txBody>
      </p:sp>
      <p:sp>
        <p:nvSpPr>
          <p:cNvPr id="179" name="Shape 177"/>
          <p:cNvSpPr/>
          <p:nvPr/>
        </p:nvSpPr>
        <p:spPr>
          <a:xfrm>
            <a:off x="3867873" y="5442809"/>
            <a:ext cx="58522" cy="58522"/>
          </a:xfrm>
          <a:prstGeom prst="ellipse">
            <a:avLst/>
          </a:prstGeom>
          <a:solidFill>
            <a:srgbClr val="12A5B8"/>
          </a:solidFill>
          <a:ln w="6350">
            <a:solidFill>
              <a:srgbClr val="12A5B8"/>
            </a:solidFill>
            <a:prstDash val="solid"/>
          </a:ln>
        </p:spPr>
        <p:txBody>
          <a:bodyPr/>
          <a:lstStyle/>
          <a:p>
            <a:endParaRPr lang="en-US"/>
          </a:p>
        </p:txBody>
      </p:sp>
      <p:sp>
        <p:nvSpPr>
          <p:cNvPr id="180" name="Shape 178"/>
          <p:cNvSpPr/>
          <p:nvPr/>
        </p:nvSpPr>
        <p:spPr>
          <a:xfrm>
            <a:off x="3678063" y="5677487"/>
            <a:ext cx="58522" cy="58522"/>
          </a:xfrm>
          <a:prstGeom prst="ellipse">
            <a:avLst/>
          </a:prstGeom>
          <a:solidFill>
            <a:srgbClr val="12A5B8"/>
          </a:solidFill>
          <a:ln w="6350">
            <a:solidFill>
              <a:srgbClr val="12A5B8"/>
            </a:solidFill>
            <a:prstDash val="solid"/>
          </a:ln>
        </p:spPr>
        <p:txBody>
          <a:bodyPr/>
          <a:lstStyle/>
          <a:p>
            <a:endParaRPr lang="en-US"/>
          </a:p>
        </p:txBody>
      </p:sp>
      <p:sp>
        <p:nvSpPr>
          <p:cNvPr id="181" name="Shape 179"/>
          <p:cNvSpPr/>
          <p:nvPr/>
        </p:nvSpPr>
        <p:spPr>
          <a:xfrm>
            <a:off x="3489657" y="5912768"/>
            <a:ext cx="58522" cy="58522"/>
          </a:xfrm>
          <a:prstGeom prst="ellipse">
            <a:avLst/>
          </a:prstGeom>
          <a:solidFill>
            <a:srgbClr val="12A5B8"/>
          </a:solidFill>
          <a:ln w="6350">
            <a:solidFill>
              <a:srgbClr val="12A5B8"/>
            </a:solidFill>
            <a:prstDash val="solid"/>
          </a:ln>
        </p:spPr>
        <p:txBody>
          <a:bodyPr/>
          <a:lstStyle/>
          <a:p>
            <a:endParaRPr lang="en-US"/>
          </a:p>
        </p:txBody>
      </p:sp>
      <p:sp>
        <p:nvSpPr>
          <p:cNvPr id="182" name="Shape 180"/>
          <p:cNvSpPr/>
          <p:nvPr/>
        </p:nvSpPr>
        <p:spPr>
          <a:xfrm>
            <a:off x="3302055" y="6147849"/>
            <a:ext cx="58522" cy="58522"/>
          </a:xfrm>
          <a:prstGeom prst="ellipse">
            <a:avLst/>
          </a:prstGeom>
          <a:solidFill>
            <a:srgbClr val="12A5B8"/>
          </a:solidFill>
          <a:ln w="6350">
            <a:solidFill>
              <a:srgbClr val="12A5B8"/>
            </a:solidFill>
            <a:prstDash val="solid"/>
          </a:ln>
        </p:spPr>
        <p:txBody>
          <a:bodyPr/>
          <a:lstStyle/>
          <a:p>
            <a:endParaRPr lang="en-US"/>
          </a:p>
        </p:txBody>
      </p:sp>
      <p:sp>
        <p:nvSpPr>
          <p:cNvPr id="183" name="Shape 181"/>
          <p:cNvSpPr/>
          <p:nvPr/>
        </p:nvSpPr>
        <p:spPr>
          <a:xfrm>
            <a:off x="1061565" y="2999159"/>
            <a:ext cx="58522" cy="58522"/>
          </a:xfrm>
          <a:prstGeom prst="ellipse">
            <a:avLst/>
          </a:prstGeom>
          <a:solidFill>
            <a:srgbClr val="12A5B8"/>
          </a:solidFill>
          <a:ln w="6350">
            <a:solidFill>
              <a:srgbClr val="12A5B8"/>
            </a:solidFill>
            <a:prstDash val="solid"/>
          </a:ln>
        </p:spPr>
        <p:txBody>
          <a:bodyPr/>
          <a:lstStyle/>
          <a:p>
            <a:endParaRPr lang="en-US"/>
          </a:p>
        </p:txBody>
      </p:sp>
      <p:sp>
        <p:nvSpPr>
          <p:cNvPr id="184" name="Shape 182"/>
          <p:cNvSpPr/>
          <p:nvPr/>
        </p:nvSpPr>
        <p:spPr>
          <a:xfrm>
            <a:off x="2238271" y="3946606"/>
            <a:ext cx="58522" cy="58522"/>
          </a:xfrm>
          <a:prstGeom prst="ellipse">
            <a:avLst/>
          </a:prstGeom>
          <a:solidFill>
            <a:srgbClr val="12A5B8"/>
          </a:solidFill>
          <a:ln w="6350">
            <a:solidFill>
              <a:srgbClr val="12A5B8"/>
            </a:solidFill>
            <a:prstDash val="solid"/>
          </a:ln>
        </p:spPr>
        <p:txBody>
          <a:bodyPr/>
          <a:lstStyle/>
          <a:p>
            <a:endParaRPr lang="en-US"/>
          </a:p>
        </p:txBody>
      </p:sp>
      <p:sp>
        <p:nvSpPr>
          <p:cNvPr id="185" name="Shape 183"/>
          <p:cNvSpPr/>
          <p:nvPr/>
        </p:nvSpPr>
        <p:spPr>
          <a:xfrm>
            <a:off x="3210913" y="4724921"/>
            <a:ext cx="58522" cy="58522"/>
          </a:xfrm>
          <a:prstGeom prst="ellipse">
            <a:avLst/>
          </a:prstGeom>
          <a:solidFill>
            <a:srgbClr val="12A5B8"/>
          </a:solidFill>
          <a:ln w="6350">
            <a:solidFill>
              <a:srgbClr val="12A5B8"/>
            </a:solidFill>
            <a:prstDash val="solid"/>
          </a:ln>
        </p:spPr>
        <p:txBody>
          <a:bodyPr/>
          <a:lstStyle/>
          <a:p>
            <a:endParaRPr lang="en-US"/>
          </a:p>
        </p:txBody>
      </p:sp>
      <p:sp>
        <p:nvSpPr>
          <p:cNvPr id="186" name="Shape 184"/>
          <p:cNvSpPr/>
          <p:nvPr/>
        </p:nvSpPr>
        <p:spPr>
          <a:xfrm>
            <a:off x="532284" y="1447950"/>
            <a:ext cx="58522" cy="58522"/>
          </a:xfrm>
          <a:prstGeom prst="ellipse">
            <a:avLst/>
          </a:prstGeom>
          <a:solidFill>
            <a:srgbClr val="12A5B8"/>
          </a:solidFill>
          <a:ln w="6350">
            <a:solidFill>
              <a:srgbClr val="12A5B8"/>
            </a:solidFill>
            <a:prstDash val="solid"/>
          </a:ln>
        </p:spPr>
        <p:txBody>
          <a:bodyPr/>
          <a:lstStyle/>
          <a:p>
            <a:endParaRPr lang="en-US"/>
          </a:p>
        </p:txBody>
      </p:sp>
      <p:sp>
        <p:nvSpPr>
          <p:cNvPr id="187" name="Shape 185"/>
          <p:cNvSpPr/>
          <p:nvPr/>
        </p:nvSpPr>
        <p:spPr>
          <a:xfrm>
            <a:off x="1318126" y="2730051"/>
            <a:ext cx="58522" cy="58522"/>
          </a:xfrm>
          <a:prstGeom prst="ellipse">
            <a:avLst/>
          </a:prstGeom>
          <a:solidFill>
            <a:srgbClr val="12A5B8"/>
          </a:solidFill>
          <a:ln w="6350">
            <a:solidFill>
              <a:srgbClr val="12A5B8"/>
            </a:solidFill>
            <a:prstDash val="solid"/>
          </a:ln>
        </p:spPr>
        <p:txBody>
          <a:bodyPr/>
          <a:lstStyle/>
          <a:p>
            <a:endParaRPr lang="en-US"/>
          </a:p>
        </p:txBody>
      </p:sp>
      <p:sp>
        <p:nvSpPr>
          <p:cNvPr id="188" name="Shape 186"/>
          <p:cNvSpPr/>
          <p:nvPr/>
        </p:nvSpPr>
        <p:spPr>
          <a:xfrm>
            <a:off x="2826273" y="4414860"/>
            <a:ext cx="58522" cy="58522"/>
          </a:xfrm>
          <a:prstGeom prst="ellipse">
            <a:avLst/>
          </a:prstGeom>
          <a:solidFill>
            <a:srgbClr val="12A5B8"/>
          </a:solidFill>
          <a:ln w="6350">
            <a:solidFill>
              <a:srgbClr val="12A5B8"/>
            </a:solidFill>
            <a:prstDash val="solid"/>
          </a:ln>
        </p:spPr>
        <p:txBody>
          <a:bodyPr/>
          <a:lstStyle/>
          <a:p>
            <a:endParaRPr lang="en-US"/>
          </a:p>
        </p:txBody>
      </p:sp>
      <p:sp>
        <p:nvSpPr>
          <p:cNvPr id="189" name="Shape 187"/>
          <p:cNvSpPr/>
          <p:nvPr/>
        </p:nvSpPr>
        <p:spPr>
          <a:xfrm>
            <a:off x="900663" y="2102401"/>
            <a:ext cx="58522" cy="58522"/>
          </a:xfrm>
          <a:prstGeom prst="ellipse">
            <a:avLst/>
          </a:prstGeom>
          <a:solidFill>
            <a:srgbClr val="12A5B8"/>
          </a:solidFill>
          <a:ln w="6350">
            <a:solidFill>
              <a:srgbClr val="12A5B8"/>
            </a:solidFill>
            <a:prstDash val="solid"/>
          </a:ln>
        </p:spPr>
        <p:txBody>
          <a:bodyPr/>
          <a:lstStyle/>
          <a:p>
            <a:endParaRPr lang="en-US"/>
          </a:p>
        </p:txBody>
      </p:sp>
      <p:sp>
        <p:nvSpPr>
          <p:cNvPr id="190" name="Shape 188"/>
          <p:cNvSpPr/>
          <p:nvPr/>
        </p:nvSpPr>
        <p:spPr>
          <a:xfrm>
            <a:off x="1779152" y="3324577"/>
            <a:ext cx="58522" cy="58522"/>
          </a:xfrm>
          <a:prstGeom prst="ellipse">
            <a:avLst/>
          </a:prstGeom>
          <a:solidFill>
            <a:srgbClr val="12A5B8"/>
          </a:solidFill>
          <a:ln w="6350">
            <a:solidFill>
              <a:srgbClr val="12A5B8"/>
            </a:solidFill>
            <a:prstDash val="solid"/>
          </a:ln>
        </p:spPr>
        <p:txBody>
          <a:bodyPr/>
          <a:lstStyle/>
          <a:p>
            <a:endParaRPr lang="en-US"/>
          </a:p>
        </p:txBody>
      </p:sp>
      <p:sp>
        <p:nvSpPr>
          <p:cNvPr id="191" name="Shape 189"/>
          <p:cNvSpPr/>
          <p:nvPr/>
        </p:nvSpPr>
        <p:spPr>
          <a:xfrm>
            <a:off x="3415078" y="4887730"/>
            <a:ext cx="58522" cy="58522"/>
          </a:xfrm>
          <a:prstGeom prst="ellipse">
            <a:avLst/>
          </a:prstGeom>
          <a:solidFill>
            <a:srgbClr val="12A5B8"/>
          </a:solidFill>
          <a:ln w="6350">
            <a:solidFill>
              <a:srgbClr val="12A5B8"/>
            </a:solidFill>
            <a:prstDash val="solid"/>
          </a:ln>
        </p:spPr>
        <p:txBody>
          <a:bodyPr/>
          <a:lstStyle/>
          <a:p>
            <a:endParaRPr lang="en-US"/>
          </a:p>
        </p:txBody>
      </p:sp>
      <p:sp>
        <p:nvSpPr>
          <p:cNvPr id="192" name="Shape 190"/>
          <p:cNvSpPr/>
          <p:nvPr/>
        </p:nvSpPr>
        <p:spPr>
          <a:xfrm>
            <a:off x="2284143" y="3882265"/>
            <a:ext cx="58522" cy="58522"/>
          </a:xfrm>
          <a:prstGeom prst="ellipse">
            <a:avLst/>
          </a:prstGeom>
          <a:solidFill>
            <a:srgbClr val="12A5B8"/>
          </a:solidFill>
          <a:ln w="6350">
            <a:solidFill>
              <a:srgbClr val="12A5B8"/>
            </a:solidFill>
            <a:prstDash val="solid"/>
          </a:ln>
        </p:spPr>
        <p:txBody>
          <a:bodyPr/>
          <a:lstStyle/>
          <a:p>
            <a:endParaRPr lang="en-US"/>
          </a:p>
        </p:txBody>
      </p:sp>
      <p:sp>
        <p:nvSpPr>
          <p:cNvPr id="193" name="Shape 191"/>
          <p:cNvSpPr/>
          <p:nvPr/>
        </p:nvSpPr>
        <p:spPr>
          <a:xfrm>
            <a:off x="5457225" y="3811601"/>
            <a:ext cx="58522" cy="58522"/>
          </a:xfrm>
          <a:prstGeom prst="ellipse">
            <a:avLst/>
          </a:prstGeom>
          <a:solidFill>
            <a:srgbClr val="12A5B8"/>
          </a:solidFill>
          <a:ln w="6350">
            <a:solidFill>
              <a:srgbClr val="12A5B8"/>
            </a:solidFill>
            <a:prstDash val="solid"/>
          </a:ln>
        </p:spPr>
        <p:txBody>
          <a:bodyPr/>
          <a:lstStyle/>
          <a:p>
            <a:endParaRPr lang="en-US"/>
          </a:p>
        </p:txBody>
      </p:sp>
      <p:sp>
        <p:nvSpPr>
          <p:cNvPr id="194" name="Shape 192"/>
          <p:cNvSpPr/>
          <p:nvPr/>
        </p:nvSpPr>
        <p:spPr>
          <a:xfrm>
            <a:off x="8689929" y="6525061"/>
            <a:ext cx="58522" cy="58522"/>
          </a:xfrm>
          <a:prstGeom prst="ellipse">
            <a:avLst/>
          </a:prstGeom>
          <a:solidFill>
            <a:srgbClr val="12A5B8"/>
          </a:solidFill>
          <a:ln w="6350">
            <a:solidFill>
              <a:srgbClr val="12A5B8"/>
            </a:solidFill>
            <a:prstDash val="solid"/>
          </a:ln>
        </p:spPr>
        <p:txBody>
          <a:bodyPr/>
          <a:lstStyle/>
          <a:p>
            <a:endParaRPr lang="en-US"/>
          </a:p>
        </p:txBody>
      </p:sp>
      <p:sp>
        <p:nvSpPr>
          <p:cNvPr id="195" name="Shape 193"/>
          <p:cNvSpPr/>
          <p:nvPr/>
        </p:nvSpPr>
        <p:spPr>
          <a:xfrm>
            <a:off x="9115523" y="6053997"/>
            <a:ext cx="58522" cy="58522"/>
          </a:xfrm>
          <a:prstGeom prst="ellipse">
            <a:avLst/>
          </a:prstGeom>
          <a:solidFill>
            <a:srgbClr val="12A5B8"/>
          </a:solidFill>
          <a:ln w="6350">
            <a:solidFill>
              <a:srgbClr val="12A5B8"/>
            </a:solidFill>
            <a:prstDash val="solid"/>
          </a:ln>
        </p:spPr>
        <p:txBody>
          <a:bodyPr/>
          <a:lstStyle/>
          <a:p>
            <a:endParaRPr lang="en-US"/>
          </a:p>
        </p:txBody>
      </p:sp>
      <p:sp>
        <p:nvSpPr>
          <p:cNvPr id="196" name="Shape 194"/>
          <p:cNvSpPr/>
          <p:nvPr/>
        </p:nvSpPr>
        <p:spPr>
          <a:xfrm>
            <a:off x="5743095" y="3171303"/>
            <a:ext cx="58522" cy="58522"/>
          </a:xfrm>
          <a:prstGeom prst="ellipse">
            <a:avLst/>
          </a:prstGeom>
          <a:solidFill>
            <a:srgbClr val="12A5B8"/>
          </a:solidFill>
          <a:ln w="6350">
            <a:solidFill>
              <a:srgbClr val="12A5B8"/>
            </a:solidFill>
            <a:prstDash val="solid"/>
          </a:ln>
        </p:spPr>
        <p:txBody>
          <a:bodyPr/>
          <a:lstStyle/>
          <a:p>
            <a:endParaRPr lang="en-US"/>
          </a:p>
        </p:txBody>
      </p:sp>
      <p:sp>
        <p:nvSpPr>
          <p:cNvPr id="197" name="Shape 195"/>
          <p:cNvSpPr/>
          <p:nvPr/>
        </p:nvSpPr>
        <p:spPr>
          <a:xfrm>
            <a:off x="5953985" y="3341741"/>
            <a:ext cx="58522" cy="58522"/>
          </a:xfrm>
          <a:prstGeom prst="ellipse">
            <a:avLst/>
          </a:prstGeom>
          <a:solidFill>
            <a:srgbClr val="12A5B8"/>
          </a:solidFill>
          <a:ln w="6350">
            <a:solidFill>
              <a:srgbClr val="12A5B8"/>
            </a:solidFill>
            <a:prstDash val="solid"/>
          </a:ln>
        </p:spPr>
        <p:txBody>
          <a:bodyPr/>
          <a:lstStyle/>
          <a:p>
            <a:endParaRPr lang="en-US"/>
          </a:p>
        </p:txBody>
      </p:sp>
      <p:sp>
        <p:nvSpPr>
          <p:cNvPr id="198" name="Shape 196"/>
          <p:cNvSpPr/>
          <p:nvPr/>
        </p:nvSpPr>
        <p:spPr>
          <a:xfrm>
            <a:off x="4280619" y="1744862"/>
            <a:ext cx="58522" cy="58522"/>
          </a:xfrm>
          <a:prstGeom prst="ellipse">
            <a:avLst/>
          </a:prstGeom>
          <a:solidFill>
            <a:srgbClr val="12A5B8"/>
          </a:solidFill>
          <a:ln w="6350">
            <a:solidFill>
              <a:srgbClr val="12A5B8"/>
            </a:solidFill>
            <a:prstDash val="solid"/>
          </a:ln>
        </p:spPr>
        <p:txBody>
          <a:bodyPr/>
          <a:lstStyle/>
          <a:p>
            <a:endParaRPr lang="en-US"/>
          </a:p>
        </p:txBody>
      </p:sp>
      <p:sp>
        <p:nvSpPr>
          <p:cNvPr id="199" name="Shape 197"/>
          <p:cNvSpPr/>
          <p:nvPr/>
        </p:nvSpPr>
        <p:spPr>
          <a:xfrm>
            <a:off x="8010284" y="5178720"/>
            <a:ext cx="58522" cy="58522"/>
          </a:xfrm>
          <a:prstGeom prst="ellipse">
            <a:avLst/>
          </a:prstGeom>
          <a:solidFill>
            <a:srgbClr val="12A5B8"/>
          </a:solidFill>
          <a:ln w="6350">
            <a:solidFill>
              <a:srgbClr val="12A5B8"/>
            </a:solidFill>
            <a:prstDash val="solid"/>
          </a:ln>
        </p:spPr>
        <p:txBody>
          <a:bodyPr/>
          <a:lstStyle/>
          <a:p>
            <a:endParaRPr lang="en-US"/>
          </a:p>
        </p:txBody>
      </p:sp>
      <p:sp>
        <p:nvSpPr>
          <p:cNvPr id="200" name="Shape 198"/>
          <p:cNvSpPr/>
          <p:nvPr/>
        </p:nvSpPr>
        <p:spPr>
          <a:xfrm>
            <a:off x="7049386" y="4194635"/>
            <a:ext cx="58522" cy="58522"/>
          </a:xfrm>
          <a:prstGeom prst="ellipse">
            <a:avLst/>
          </a:prstGeom>
          <a:solidFill>
            <a:srgbClr val="12A5B8"/>
          </a:solidFill>
          <a:ln w="6350">
            <a:solidFill>
              <a:srgbClr val="12A5B8"/>
            </a:solidFill>
            <a:prstDash val="solid"/>
          </a:ln>
        </p:spPr>
        <p:txBody>
          <a:bodyPr/>
          <a:lstStyle/>
          <a:p>
            <a:endParaRPr lang="en-US"/>
          </a:p>
        </p:txBody>
      </p:sp>
      <p:sp>
        <p:nvSpPr>
          <p:cNvPr id="201" name="Shape 199"/>
          <p:cNvSpPr/>
          <p:nvPr/>
        </p:nvSpPr>
        <p:spPr>
          <a:xfrm>
            <a:off x="1647459" y="6271612"/>
            <a:ext cx="58522" cy="58522"/>
          </a:xfrm>
          <a:prstGeom prst="ellipse">
            <a:avLst/>
          </a:prstGeom>
          <a:solidFill>
            <a:srgbClr val="12A5B8"/>
          </a:solidFill>
          <a:ln w="6350">
            <a:solidFill>
              <a:srgbClr val="12A5B8"/>
            </a:solidFill>
            <a:prstDash val="solid"/>
          </a:ln>
        </p:spPr>
        <p:txBody>
          <a:bodyPr/>
          <a:lstStyle/>
          <a:p>
            <a:endParaRPr lang="en-US"/>
          </a:p>
        </p:txBody>
      </p:sp>
      <p:sp>
        <p:nvSpPr>
          <p:cNvPr id="202" name="Shape 200"/>
          <p:cNvSpPr/>
          <p:nvPr/>
        </p:nvSpPr>
        <p:spPr>
          <a:xfrm>
            <a:off x="4632035" y="2040067"/>
            <a:ext cx="58522" cy="58522"/>
          </a:xfrm>
          <a:prstGeom prst="ellipse">
            <a:avLst/>
          </a:prstGeom>
          <a:solidFill>
            <a:srgbClr val="12A5B8"/>
          </a:solidFill>
          <a:ln w="6350">
            <a:solidFill>
              <a:srgbClr val="12A5B8"/>
            </a:solidFill>
            <a:prstDash val="solid"/>
          </a:ln>
        </p:spPr>
        <p:txBody>
          <a:bodyPr/>
          <a:lstStyle/>
          <a:p>
            <a:endParaRPr lang="en-US"/>
          </a:p>
        </p:txBody>
      </p:sp>
      <p:sp>
        <p:nvSpPr>
          <p:cNvPr id="203" name="Shape 201"/>
          <p:cNvSpPr/>
          <p:nvPr/>
        </p:nvSpPr>
        <p:spPr>
          <a:xfrm>
            <a:off x="990299" y="6594019"/>
            <a:ext cx="58522" cy="58522"/>
          </a:xfrm>
          <a:prstGeom prst="ellipse">
            <a:avLst/>
          </a:prstGeom>
          <a:solidFill>
            <a:srgbClr val="12A5B8"/>
          </a:solidFill>
          <a:ln w="6350">
            <a:solidFill>
              <a:srgbClr val="12A5B8"/>
            </a:solidFill>
            <a:prstDash val="solid"/>
          </a:ln>
        </p:spPr>
        <p:txBody>
          <a:bodyPr/>
          <a:lstStyle/>
          <a:p>
            <a:endParaRPr lang="en-US"/>
          </a:p>
        </p:txBody>
      </p:sp>
      <p:sp>
        <p:nvSpPr>
          <p:cNvPr id="204" name="Shape 202"/>
          <p:cNvSpPr/>
          <p:nvPr/>
        </p:nvSpPr>
        <p:spPr>
          <a:xfrm>
            <a:off x="1638325" y="8346983"/>
            <a:ext cx="58522" cy="58522"/>
          </a:xfrm>
          <a:prstGeom prst="ellipse">
            <a:avLst/>
          </a:prstGeom>
          <a:solidFill>
            <a:srgbClr val="12A5B8"/>
          </a:solidFill>
          <a:ln w="6350">
            <a:solidFill>
              <a:srgbClr val="12A5B8"/>
            </a:solidFill>
            <a:prstDash val="solid"/>
          </a:ln>
        </p:spPr>
        <p:txBody>
          <a:bodyPr/>
          <a:lstStyle/>
          <a:p>
            <a:endParaRPr lang="en-US"/>
          </a:p>
        </p:txBody>
      </p:sp>
      <p:sp>
        <p:nvSpPr>
          <p:cNvPr id="205" name="Shape 203"/>
          <p:cNvSpPr/>
          <p:nvPr/>
        </p:nvSpPr>
        <p:spPr>
          <a:xfrm>
            <a:off x="5755642" y="2342701"/>
            <a:ext cx="58522" cy="58522"/>
          </a:xfrm>
          <a:prstGeom prst="ellipse">
            <a:avLst/>
          </a:prstGeom>
          <a:solidFill>
            <a:srgbClr val="12A5B8"/>
          </a:solidFill>
          <a:ln w="6350">
            <a:solidFill>
              <a:srgbClr val="12A5B8"/>
            </a:solidFill>
            <a:prstDash val="solid"/>
          </a:ln>
        </p:spPr>
        <p:txBody>
          <a:bodyPr/>
          <a:lstStyle/>
          <a:p>
            <a:endParaRPr lang="en-US"/>
          </a:p>
        </p:txBody>
      </p:sp>
      <p:sp>
        <p:nvSpPr>
          <p:cNvPr id="206" name="Text 204"/>
          <p:cNvSpPr/>
          <p:nvPr/>
        </p:nvSpPr>
        <p:spPr>
          <a:xfrm>
            <a:off x="8193953" y="6876842"/>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RRM.283</a:t>
            </a:r>
            <a:endParaRPr lang="en-US" sz="500" dirty="0"/>
          </a:p>
        </p:txBody>
      </p:sp>
      <p:sp>
        <p:nvSpPr>
          <p:cNvPr id="207" name="Text 205"/>
          <p:cNvSpPr/>
          <p:nvPr/>
        </p:nvSpPr>
        <p:spPr>
          <a:xfrm>
            <a:off x="4569381" y="2655033"/>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P4.036.399</a:t>
            </a:r>
            <a:endParaRPr lang="en-US" sz="500" dirty="0"/>
          </a:p>
        </p:txBody>
      </p:sp>
      <p:sp>
        <p:nvSpPr>
          <p:cNvPr id="208" name="Text 206"/>
          <p:cNvSpPr/>
          <p:nvPr/>
        </p:nvSpPr>
        <p:spPr>
          <a:xfrm>
            <a:off x="8201180" y="8571186"/>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TCCECH.04.005</a:t>
            </a:r>
            <a:endParaRPr lang="en-US" sz="500" dirty="0"/>
          </a:p>
        </p:txBody>
      </p:sp>
      <p:sp>
        <p:nvSpPr>
          <p:cNvPr id="209" name="Text 207"/>
          <p:cNvSpPr/>
          <p:nvPr/>
        </p:nvSpPr>
        <p:spPr>
          <a:xfrm>
            <a:off x="7028489" y="7629962"/>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TCCECH.04.004</a:t>
            </a:r>
            <a:endParaRPr lang="en-US" sz="500" dirty="0"/>
          </a:p>
        </p:txBody>
      </p:sp>
      <p:sp>
        <p:nvSpPr>
          <p:cNvPr id="210" name="Text 208"/>
          <p:cNvSpPr/>
          <p:nvPr/>
        </p:nvSpPr>
        <p:spPr>
          <a:xfrm>
            <a:off x="4343736" y="6933554"/>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RRM.547</a:t>
            </a:r>
            <a:endParaRPr lang="en-US" sz="500" dirty="0"/>
          </a:p>
        </p:txBody>
      </p:sp>
      <p:sp>
        <p:nvSpPr>
          <p:cNvPr id="211" name="Text 209"/>
          <p:cNvSpPr/>
          <p:nvPr/>
        </p:nvSpPr>
        <p:spPr>
          <a:xfrm>
            <a:off x="2642767" y="5758856"/>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RRM.548</a:t>
            </a:r>
            <a:endParaRPr lang="en-US" sz="500" dirty="0"/>
          </a:p>
        </p:txBody>
      </p:sp>
      <p:sp>
        <p:nvSpPr>
          <p:cNvPr id="212" name="Text 210"/>
          <p:cNvSpPr/>
          <p:nvPr/>
        </p:nvSpPr>
        <p:spPr>
          <a:xfrm>
            <a:off x="3339475" y="2522838"/>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RRM.558</a:t>
            </a:r>
            <a:endParaRPr lang="en-US" sz="500" dirty="0"/>
          </a:p>
        </p:txBody>
      </p:sp>
      <p:sp>
        <p:nvSpPr>
          <p:cNvPr id="213" name="Text 211"/>
          <p:cNvSpPr/>
          <p:nvPr/>
        </p:nvSpPr>
        <p:spPr>
          <a:xfrm>
            <a:off x="2391827" y="1360988"/>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RRM.559</a:t>
            </a:r>
            <a:endParaRPr lang="en-US" sz="500" dirty="0"/>
          </a:p>
        </p:txBody>
      </p:sp>
      <p:sp>
        <p:nvSpPr>
          <p:cNvPr id="214" name="Text 212"/>
          <p:cNvSpPr/>
          <p:nvPr/>
        </p:nvSpPr>
        <p:spPr>
          <a:xfrm>
            <a:off x="1341394" y="5035949"/>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RRM.655</a:t>
            </a:r>
            <a:endParaRPr lang="en-US" sz="500" dirty="0"/>
          </a:p>
        </p:txBody>
      </p:sp>
      <p:sp>
        <p:nvSpPr>
          <p:cNvPr id="215" name="Text 213"/>
          <p:cNvSpPr/>
          <p:nvPr/>
        </p:nvSpPr>
        <p:spPr>
          <a:xfrm>
            <a:off x="4421326" y="3575681"/>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RRM.669</a:t>
            </a:r>
            <a:endParaRPr lang="en-US" sz="500" dirty="0"/>
          </a:p>
        </p:txBody>
      </p:sp>
      <p:sp>
        <p:nvSpPr>
          <p:cNvPr id="216" name="Text 214"/>
          <p:cNvSpPr/>
          <p:nvPr/>
        </p:nvSpPr>
        <p:spPr>
          <a:xfrm>
            <a:off x="2822941" y="7730739"/>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HH.E.144</a:t>
            </a:r>
            <a:endParaRPr lang="en-US" sz="500" dirty="0"/>
          </a:p>
        </p:txBody>
      </p:sp>
      <p:sp>
        <p:nvSpPr>
          <p:cNvPr id="217" name="Text 215"/>
          <p:cNvSpPr/>
          <p:nvPr/>
        </p:nvSpPr>
        <p:spPr>
          <a:xfrm>
            <a:off x="9375878" y="9514820"/>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TCCECH.03.006</a:t>
            </a:r>
            <a:endParaRPr lang="en-US" sz="500" dirty="0"/>
          </a:p>
        </p:txBody>
      </p:sp>
      <p:sp>
        <p:nvSpPr>
          <p:cNvPr id="218" name="Text 216"/>
          <p:cNvSpPr/>
          <p:nvPr/>
        </p:nvSpPr>
        <p:spPr>
          <a:xfrm>
            <a:off x="6440487" y="7157593"/>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TCCECH.03.004</a:t>
            </a:r>
            <a:endParaRPr lang="en-US" sz="500" dirty="0"/>
          </a:p>
        </p:txBody>
      </p:sp>
      <p:sp>
        <p:nvSpPr>
          <p:cNvPr id="219" name="Text 217"/>
          <p:cNvSpPr/>
          <p:nvPr/>
        </p:nvSpPr>
        <p:spPr>
          <a:xfrm>
            <a:off x="5850980" y="6687834"/>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TCCECH.04.003</a:t>
            </a:r>
            <a:endParaRPr lang="en-US" sz="500" dirty="0"/>
          </a:p>
        </p:txBody>
      </p:sp>
      <p:sp>
        <p:nvSpPr>
          <p:cNvPr id="220" name="Text 218"/>
          <p:cNvSpPr/>
          <p:nvPr/>
        </p:nvSpPr>
        <p:spPr>
          <a:xfrm>
            <a:off x="5266391" y="6215365"/>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TCCECH.03.003</a:t>
            </a:r>
            <a:endParaRPr lang="en-US" sz="500" dirty="0"/>
          </a:p>
        </p:txBody>
      </p:sp>
      <p:sp>
        <p:nvSpPr>
          <p:cNvPr id="221" name="Text 219"/>
          <p:cNvSpPr/>
          <p:nvPr/>
        </p:nvSpPr>
        <p:spPr>
          <a:xfrm>
            <a:off x="4677987" y="5741491"/>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TCCECH.04.002</a:t>
            </a:r>
            <a:endParaRPr lang="en-US" sz="500" dirty="0"/>
          </a:p>
        </p:txBody>
      </p:sp>
      <p:sp>
        <p:nvSpPr>
          <p:cNvPr id="222" name="Text 220"/>
          <p:cNvSpPr/>
          <p:nvPr/>
        </p:nvSpPr>
        <p:spPr>
          <a:xfrm>
            <a:off x="7615386" y="8099420"/>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TCCECH.03.005</a:t>
            </a:r>
            <a:endParaRPr lang="en-US" sz="500" dirty="0"/>
          </a:p>
        </p:txBody>
      </p:sp>
      <p:sp>
        <p:nvSpPr>
          <p:cNvPr id="223" name="Text 221"/>
          <p:cNvSpPr/>
          <p:nvPr/>
        </p:nvSpPr>
        <p:spPr>
          <a:xfrm>
            <a:off x="653016" y="3231893"/>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TCCECH.05.034</a:t>
            </a:r>
            <a:endParaRPr lang="en-US" sz="500" dirty="0"/>
          </a:p>
        </p:txBody>
      </p:sp>
      <p:sp>
        <p:nvSpPr>
          <p:cNvPr id="224" name="Text 222"/>
          <p:cNvSpPr/>
          <p:nvPr/>
        </p:nvSpPr>
        <p:spPr>
          <a:xfrm>
            <a:off x="2027061" y="3841476"/>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TCCECH.05.033</a:t>
            </a:r>
            <a:endParaRPr lang="en-US" sz="500" dirty="0"/>
          </a:p>
        </p:txBody>
      </p:sp>
      <p:sp>
        <p:nvSpPr>
          <p:cNvPr id="225" name="Text 223"/>
          <p:cNvSpPr/>
          <p:nvPr/>
        </p:nvSpPr>
        <p:spPr>
          <a:xfrm>
            <a:off x="2678500" y="4221700"/>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TCCECH.06.035</a:t>
            </a:r>
            <a:endParaRPr lang="en-US" sz="500" dirty="0"/>
          </a:p>
        </p:txBody>
      </p:sp>
      <p:sp>
        <p:nvSpPr>
          <p:cNvPr id="226" name="Text 224"/>
          <p:cNvSpPr/>
          <p:nvPr/>
        </p:nvSpPr>
        <p:spPr>
          <a:xfrm>
            <a:off x="1351632" y="3511239"/>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TCCECH.06.036</a:t>
            </a:r>
            <a:endParaRPr lang="en-US" sz="500" dirty="0"/>
          </a:p>
        </p:txBody>
      </p:sp>
      <p:sp>
        <p:nvSpPr>
          <p:cNvPr id="227" name="Text 225"/>
          <p:cNvSpPr/>
          <p:nvPr/>
        </p:nvSpPr>
        <p:spPr>
          <a:xfrm>
            <a:off x="914997" y="3171166"/>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EL.EBASE.13328</a:t>
            </a:r>
            <a:endParaRPr lang="en-US" sz="500" dirty="0"/>
          </a:p>
        </p:txBody>
      </p:sp>
      <p:sp>
        <p:nvSpPr>
          <p:cNvPr id="228" name="Text 226"/>
          <p:cNvSpPr/>
          <p:nvPr/>
        </p:nvSpPr>
        <p:spPr>
          <a:xfrm>
            <a:off x="1591932" y="3483034"/>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EL.EBASE.13329</a:t>
            </a:r>
            <a:endParaRPr lang="en-US" sz="500" dirty="0"/>
          </a:p>
        </p:txBody>
      </p:sp>
      <p:sp>
        <p:nvSpPr>
          <p:cNvPr id="229" name="Text 227"/>
          <p:cNvSpPr/>
          <p:nvPr/>
        </p:nvSpPr>
        <p:spPr>
          <a:xfrm>
            <a:off x="2257926" y="3839167"/>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EL.EBASE.13330</a:t>
            </a:r>
            <a:endParaRPr lang="en-US" sz="500" dirty="0"/>
          </a:p>
        </p:txBody>
      </p:sp>
      <p:sp>
        <p:nvSpPr>
          <p:cNvPr id="230" name="Text 228"/>
          <p:cNvSpPr/>
          <p:nvPr/>
        </p:nvSpPr>
        <p:spPr>
          <a:xfrm>
            <a:off x="2892702" y="4239266"/>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EL.EBASE.13331</a:t>
            </a:r>
            <a:endParaRPr lang="en-US" sz="500" dirty="0"/>
          </a:p>
        </p:txBody>
      </p:sp>
      <p:sp>
        <p:nvSpPr>
          <p:cNvPr id="231" name="Text 229"/>
          <p:cNvSpPr/>
          <p:nvPr/>
        </p:nvSpPr>
        <p:spPr>
          <a:xfrm>
            <a:off x="4090387" y="5272735"/>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TCCECH.03.002</a:t>
            </a:r>
            <a:endParaRPr lang="en-US" sz="500" dirty="0"/>
          </a:p>
        </p:txBody>
      </p:sp>
      <p:sp>
        <p:nvSpPr>
          <p:cNvPr id="232" name="Text 230"/>
          <p:cNvSpPr/>
          <p:nvPr/>
        </p:nvSpPr>
        <p:spPr>
          <a:xfrm>
            <a:off x="3959698" y="5359661"/>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SBC102.01.040</a:t>
            </a:r>
            <a:endParaRPr lang="en-US" sz="500" dirty="0"/>
          </a:p>
        </p:txBody>
      </p:sp>
      <p:sp>
        <p:nvSpPr>
          <p:cNvPr id="233" name="Text 231"/>
          <p:cNvSpPr/>
          <p:nvPr/>
        </p:nvSpPr>
        <p:spPr>
          <a:xfrm>
            <a:off x="3769887" y="5594340"/>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SBC102.02.037</a:t>
            </a:r>
            <a:endParaRPr lang="en-US" sz="500" dirty="0"/>
          </a:p>
        </p:txBody>
      </p:sp>
      <p:sp>
        <p:nvSpPr>
          <p:cNvPr id="234" name="Text 232"/>
          <p:cNvSpPr/>
          <p:nvPr/>
        </p:nvSpPr>
        <p:spPr>
          <a:xfrm>
            <a:off x="3581482" y="5829621"/>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SBC102.01.041</a:t>
            </a:r>
            <a:endParaRPr lang="en-US" sz="500" dirty="0"/>
          </a:p>
        </p:txBody>
      </p:sp>
      <p:sp>
        <p:nvSpPr>
          <p:cNvPr id="235" name="Text 233"/>
          <p:cNvSpPr/>
          <p:nvPr/>
        </p:nvSpPr>
        <p:spPr>
          <a:xfrm>
            <a:off x="3393879" y="6064701"/>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SBC102.02.038</a:t>
            </a:r>
            <a:endParaRPr lang="en-US" sz="500" dirty="0"/>
          </a:p>
        </p:txBody>
      </p:sp>
      <p:sp>
        <p:nvSpPr>
          <p:cNvPr id="236" name="Text 234"/>
          <p:cNvSpPr/>
          <p:nvPr/>
        </p:nvSpPr>
        <p:spPr>
          <a:xfrm>
            <a:off x="1153390" y="2916011"/>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TCC102.01.052</a:t>
            </a:r>
            <a:endParaRPr lang="en-US" sz="500" dirty="0"/>
          </a:p>
        </p:txBody>
      </p:sp>
      <p:sp>
        <p:nvSpPr>
          <p:cNvPr id="237" name="Text 235"/>
          <p:cNvSpPr/>
          <p:nvPr/>
        </p:nvSpPr>
        <p:spPr>
          <a:xfrm>
            <a:off x="2330096" y="3863458"/>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TCC102.02.050</a:t>
            </a:r>
            <a:endParaRPr lang="en-US" sz="500" dirty="0"/>
          </a:p>
        </p:txBody>
      </p:sp>
      <p:sp>
        <p:nvSpPr>
          <p:cNvPr id="238" name="Text 236"/>
          <p:cNvSpPr/>
          <p:nvPr/>
        </p:nvSpPr>
        <p:spPr>
          <a:xfrm>
            <a:off x="3302738" y="4641773"/>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TCCECH.03.001</a:t>
            </a:r>
            <a:endParaRPr lang="en-US" sz="500" dirty="0"/>
          </a:p>
        </p:txBody>
      </p:sp>
      <p:sp>
        <p:nvSpPr>
          <p:cNvPr id="239" name="Text 237"/>
          <p:cNvSpPr/>
          <p:nvPr/>
        </p:nvSpPr>
        <p:spPr>
          <a:xfrm>
            <a:off x="624108" y="1364802"/>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TCCECH.05.016</a:t>
            </a:r>
            <a:endParaRPr lang="en-US" sz="500" dirty="0"/>
          </a:p>
        </p:txBody>
      </p:sp>
      <p:sp>
        <p:nvSpPr>
          <p:cNvPr id="240" name="Text 238"/>
          <p:cNvSpPr/>
          <p:nvPr/>
        </p:nvSpPr>
        <p:spPr>
          <a:xfrm>
            <a:off x="1409950" y="2646903"/>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TCCECH.05.017</a:t>
            </a:r>
            <a:endParaRPr lang="en-US" sz="500" dirty="0"/>
          </a:p>
        </p:txBody>
      </p:sp>
      <p:sp>
        <p:nvSpPr>
          <p:cNvPr id="241" name="Text 239"/>
          <p:cNvSpPr/>
          <p:nvPr/>
        </p:nvSpPr>
        <p:spPr>
          <a:xfrm>
            <a:off x="2918098" y="4331712"/>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TCCECH.06.019</a:t>
            </a:r>
            <a:endParaRPr lang="en-US" sz="500" dirty="0"/>
          </a:p>
        </p:txBody>
      </p:sp>
      <p:sp>
        <p:nvSpPr>
          <p:cNvPr id="242" name="Text 240"/>
          <p:cNvSpPr/>
          <p:nvPr/>
        </p:nvSpPr>
        <p:spPr>
          <a:xfrm>
            <a:off x="992487" y="2019253"/>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TCCECH.06.017</a:t>
            </a:r>
            <a:endParaRPr lang="en-US" sz="500" dirty="0"/>
          </a:p>
        </p:txBody>
      </p:sp>
      <p:sp>
        <p:nvSpPr>
          <p:cNvPr id="243" name="Text 241"/>
          <p:cNvSpPr/>
          <p:nvPr/>
        </p:nvSpPr>
        <p:spPr>
          <a:xfrm>
            <a:off x="1870977" y="3241429"/>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TCCECH.06.018</a:t>
            </a:r>
            <a:endParaRPr lang="en-US" sz="500" dirty="0"/>
          </a:p>
        </p:txBody>
      </p:sp>
      <p:sp>
        <p:nvSpPr>
          <p:cNvPr id="244" name="Text 242"/>
          <p:cNvSpPr/>
          <p:nvPr/>
        </p:nvSpPr>
        <p:spPr>
          <a:xfrm>
            <a:off x="3506902" y="4804582"/>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TCCECH.04.001</a:t>
            </a:r>
            <a:endParaRPr lang="en-US" sz="500" dirty="0"/>
          </a:p>
        </p:txBody>
      </p:sp>
      <p:sp>
        <p:nvSpPr>
          <p:cNvPr id="245" name="Text 243"/>
          <p:cNvSpPr/>
          <p:nvPr/>
        </p:nvSpPr>
        <p:spPr>
          <a:xfrm>
            <a:off x="2375968" y="3799117"/>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TCCECH.05.018</a:t>
            </a:r>
            <a:endParaRPr lang="en-US" sz="500" dirty="0"/>
          </a:p>
        </p:txBody>
      </p:sp>
      <p:sp>
        <p:nvSpPr>
          <p:cNvPr id="246" name="Text 244"/>
          <p:cNvSpPr/>
          <p:nvPr/>
        </p:nvSpPr>
        <p:spPr>
          <a:xfrm>
            <a:off x="5549049" y="3728453"/>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P4.037</a:t>
            </a:r>
            <a:endParaRPr lang="en-US" sz="500" dirty="0"/>
          </a:p>
        </p:txBody>
      </p:sp>
      <p:sp>
        <p:nvSpPr>
          <p:cNvPr id="247" name="Text 245"/>
          <p:cNvSpPr/>
          <p:nvPr/>
        </p:nvSpPr>
        <p:spPr>
          <a:xfrm>
            <a:off x="8781754" y="6441913"/>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P4.039</a:t>
            </a:r>
            <a:endParaRPr lang="en-US" sz="500" dirty="0"/>
          </a:p>
        </p:txBody>
      </p:sp>
      <p:sp>
        <p:nvSpPr>
          <p:cNvPr id="248" name="Text 246"/>
          <p:cNvSpPr/>
          <p:nvPr/>
        </p:nvSpPr>
        <p:spPr>
          <a:xfrm>
            <a:off x="9207347" y="5970849"/>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HH.E.057</a:t>
            </a:r>
            <a:endParaRPr lang="en-US" sz="500" dirty="0"/>
          </a:p>
        </p:txBody>
      </p:sp>
      <p:sp>
        <p:nvSpPr>
          <p:cNvPr id="249" name="Text 247"/>
          <p:cNvSpPr/>
          <p:nvPr/>
        </p:nvSpPr>
        <p:spPr>
          <a:xfrm>
            <a:off x="5834919" y="3088155"/>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HH.E.061</a:t>
            </a:r>
            <a:endParaRPr lang="en-US" sz="500" dirty="0"/>
          </a:p>
        </p:txBody>
      </p:sp>
      <p:sp>
        <p:nvSpPr>
          <p:cNvPr id="250" name="Text 248"/>
          <p:cNvSpPr/>
          <p:nvPr/>
        </p:nvSpPr>
        <p:spPr>
          <a:xfrm>
            <a:off x="6045809" y="3258593"/>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HH.E.060</a:t>
            </a:r>
            <a:endParaRPr lang="en-US" sz="500" dirty="0"/>
          </a:p>
        </p:txBody>
      </p:sp>
      <p:sp>
        <p:nvSpPr>
          <p:cNvPr id="251" name="Text 249"/>
          <p:cNvSpPr/>
          <p:nvPr/>
        </p:nvSpPr>
        <p:spPr>
          <a:xfrm>
            <a:off x="4372443" y="1661714"/>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HH.E4.010</a:t>
            </a:r>
            <a:endParaRPr lang="en-US" sz="500" dirty="0"/>
          </a:p>
        </p:txBody>
      </p:sp>
      <p:sp>
        <p:nvSpPr>
          <p:cNvPr id="252" name="Text 250"/>
          <p:cNvSpPr/>
          <p:nvPr/>
        </p:nvSpPr>
        <p:spPr>
          <a:xfrm>
            <a:off x="8102109" y="5095572"/>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HH.E.058</a:t>
            </a:r>
            <a:endParaRPr lang="en-US" sz="500" dirty="0"/>
          </a:p>
        </p:txBody>
      </p:sp>
      <p:sp>
        <p:nvSpPr>
          <p:cNvPr id="253" name="Text 251"/>
          <p:cNvSpPr/>
          <p:nvPr/>
        </p:nvSpPr>
        <p:spPr>
          <a:xfrm>
            <a:off x="7141211" y="4111487"/>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HH.E.059</a:t>
            </a:r>
            <a:endParaRPr lang="en-US" sz="500" dirty="0"/>
          </a:p>
        </p:txBody>
      </p:sp>
      <p:sp>
        <p:nvSpPr>
          <p:cNvPr id="254" name="Text 252"/>
          <p:cNvSpPr/>
          <p:nvPr/>
        </p:nvSpPr>
        <p:spPr>
          <a:xfrm>
            <a:off x="1739284" y="6188464"/>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P4.041</a:t>
            </a:r>
            <a:endParaRPr lang="en-US" sz="500" dirty="0"/>
          </a:p>
        </p:txBody>
      </p:sp>
      <p:sp>
        <p:nvSpPr>
          <p:cNvPr id="255" name="Text 253"/>
          <p:cNvSpPr/>
          <p:nvPr/>
        </p:nvSpPr>
        <p:spPr>
          <a:xfrm>
            <a:off x="4723859" y="1956919"/>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MH.E.015</a:t>
            </a:r>
            <a:endParaRPr lang="en-US" sz="500" dirty="0"/>
          </a:p>
        </p:txBody>
      </p:sp>
      <p:sp>
        <p:nvSpPr>
          <p:cNvPr id="256" name="Text 254"/>
          <p:cNvSpPr/>
          <p:nvPr/>
        </p:nvSpPr>
        <p:spPr>
          <a:xfrm>
            <a:off x="1082123" y="6510871"/>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MH.E.023</a:t>
            </a:r>
            <a:endParaRPr lang="en-US" sz="500" dirty="0"/>
          </a:p>
        </p:txBody>
      </p:sp>
      <p:sp>
        <p:nvSpPr>
          <p:cNvPr id="257" name="Text 255"/>
          <p:cNvSpPr/>
          <p:nvPr/>
        </p:nvSpPr>
        <p:spPr>
          <a:xfrm>
            <a:off x="1730149" y="8263835"/>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SGC102.02.015</a:t>
            </a:r>
            <a:endParaRPr lang="en-US" sz="500" dirty="0"/>
          </a:p>
        </p:txBody>
      </p:sp>
      <p:sp>
        <p:nvSpPr>
          <p:cNvPr id="258" name="Text 256"/>
          <p:cNvSpPr/>
          <p:nvPr/>
        </p:nvSpPr>
        <p:spPr>
          <a:xfrm>
            <a:off x="5847466" y="2259553"/>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SGC102.02.014</a:t>
            </a:r>
            <a:endParaRPr lang="en-US" sz="500" dirty="0"/>
          </a:p>
        </p:txBody>
      </p:sp>
      <p:sp>
        <p:nvSpPr>
          <p:cNvPr id="259" name="Shape 257"/>
          <p:cNvSpPr/>
          <p:nvPr/>
        </p:nvSpPr>
        <p:spPr>
          <a:xfrm>
            <a:off x="4545701" y="4425288"/>
            <a:ext cx="210312" cy="210312"/>
          </a:xfrm>
          <a:prstGeom prst="ellipse">
            <a:avLst/>
          </a:prstGeom>
          <a:ln w="28575">
            <a:solidFill>
              <a:srgbClr val="E8710A"/>
            </a:solidFill>
            <a:prstDash val="solid"/>
          </a:ln>
        </p:spPr>
        <p:txBody>
          <a:bodyPr/>
          <a:lstStyle/>
          <a:p>
            <a:endParaRPr lang="en-US"/>
          </a:p>
        </p:txBody>
      </p:sp>
      <p:sp>
        <p:nvSpPr>
          <p:cNvPr id="260" name="Shape 258"/>
          <p:cNvSpPr/>
          <p:nvPr/>
        </p:nvSpPr>
        <p:spPr>
          <a:xfrm>
            <a:off x="4595993" y="4475580"/>
            <a:ext cx="109728" cy="109728"/>
          </a:xfrm>
          <a:prstGeom prst="ellipse">
            <a:avLst/>
          </a:prstGeom>
          <a:solidFill>
            <a:srgbClr val="1E8E3E"/>
          </a:solidFill>
          <a:ln w="6350">
            <a:solidFill>
              <a:srgbClr val="1E8E3E"/>
            </a:solidFill>
            <a:prstDash val="solid"/>
          </a:ln>
        </p:spPr>
        <p:txBody>
          <a:bodyPr/>
          <a:lstStyle/>
          <a:p>
            <a:endParaRPr lang="en-US"/>
          </a:p>
        </p:txBody>
      </p:sp>
      <p:sp>
        <p:nvSpPr>
          <p:cNvPr id="261" name="Text 259"/>
          <p:cNvSpPr/>
          <p:nvPr/>
        </p:nvSpPr>
        <p:spPr>
          <a:xfrm>
            <a:off x="4769729" y="4310988"/>
            <a:ext cx="1143000" cy="164592"/>
          </a:xfrm>
          <a:prstGeom prst="rect">
            <a:avLst/>
          </a:prstGeom>
          <a:noFill/>
          <a:ln/>
        </p:spPr>
        <p:txBody>
          <a:bodyPr wrap="square" lIns="0" tIns="0" rIns="0" bIns="0" rtlCol="0" anchor="ctr"/>
          <a:lstStyle/>
          <a:p>
            <a:pPr marL="0" indent="0">
              <a:buNone/>
            </a:pPr>
            <a:r>
              <a:rPr lang="en-US" sz="650" b="1" dirty="0">
                <a:solidFill>
                  <a:srgbClr val="1F2937"/>
                </a:solidFill>
                <a:latin typeface="Arial" pitchFamily="34" charset="0"/>
                <a:ea typeface="Arial" pitchFamily="34" charset="-122"/>
                <a:cs typeface="Arial" pitchFamily="34" charset="-120"/>
              </a:rPr>
              <a:t>SBC102-01/038</a:t>
            </a:r>
            <a:endParaRPr lang="en-US" sz="650" dirty="0"/>
          </a:p>
        </p:txBody>
      </p:sp>
      <p:sp>
        <p:nvSpPr>
          <p:cNvPr id="262" name="Shape 260"/>
          <p:cNvSpPr/>
          <p:nvPr/>
        </p:nvSpPr>
        <p:spPr>
          <a:xfrm>
            <a:off x="4167886" y="4898259"/>
            <a:ext cx="210312" cy="210312"/>
          </a:xfrm>
          <a:prstGeom prst="ellipse">
            <a:avLst/>
          </a:prstGeom>
          <a:ln w="28575">
            <a:solidFill>
              <a:srgbClr val="E8710A"/>
            </a:solidFill>
            <a:prstDash val="solid"/>
          </a:ln>
        </p:spPr>
        <p:txBody>
          <a:bodyPr/>
          <a:lstStyle/>
          <a:p>
            <a:endParaRPr lang="en-US"/>
          </a:p>
        </p:txBody>
      </p:sp>
      <p:sp>
        <p:nvSpPr>
          <p:cNvPr id="263" name="Shape 261"/>
          <p:cNvSpPr/>
          <p:nvPr/>
        </p:nvSpPr>
        <p:spPr>
          <a:xfrm>
            <a:off x="4218178" y="4948551"/>
            <a:ext cx="109728" cy="109728"/>
          </a:xfrm>
          <a:prstGeom prst="ellipse">
            <a:avLst/>
          </a:prstGeom>
          <a:solidFill>
            <a:srgbClr val="1E8E3E"/>
          </a:solidFill>
          <a:ln w="6350">
            <a:solidFill>
              <a:srgbClr val="1E8E3E"/>
            </a:solidFill>
            <a:prstDash val="solid"/>
          </a:ln>
        </p:spPr>
        <p:txBody>
          <a:bodyPr/>
          <a:lstStyle/>
          <a:p>
            <a:endParaRPr lang="en-US"/>
          </a:p>
        </p:txBody>
      </p:sp>
      <p:sp>
        <p:nvSpPr>
          <p:cNvPr id="264" name="Text 262"/>
          <p:cNvSpPr/>
          <p:nvPr/>
        </p:nvSpPr>
        <p:spPr>
          <a:xfrm>
            <a:off x="4391914" y="4783959"/>
            <a:ext cx="1143000" cy="164592"/>
          </a:xfrm>
          <a:prstGeom prst="rect">
            <a:avLst/>
          </a:prstGeom>
          <a:noFill/>
          <a:ln/>
        </p:spPr>
        <p:txBody>
          <a:bodyPr wrap="square" lIns="0" tIns="0" rIns="0" bIns="0" rtlCol="0" anchor="ctr"/>
          <a:lstStyle/>
          <a:p>
            <a:pPr marL="0" indent="0">
              <a:buNone/>
            </a:pPr>
            <a:r>
              <a:rPr lang="en-US" sz="650" b="1" dirty="0">
                <a:solidFill>
                  <a:srgbClr val="1F2937"/>
                </a:solidFill>
                <a:latin typeface="Arial" pitchFamily="34" charset="0"/>
                <a:ea typeface="Arial" pitchFamily="34" charset="-122"/>
                <a:cs typeface="Arial" pitchFamily="34" charset="-120"/>
              </a:rPr>
              <a:t>SBC102-01/039</a:t>
            </a:r>
            <a:endParaRPr lang="en-US" sz="650" dirty="0"/>
          </a:p>
        </p:txBody>
      </p:sp>
      <p:sp>
        <p:nvSpPr>
          <p:cNvPr id="265" name="Shape 263"/>
          <p:cNvSpPr/>
          <p:nvPr/>
        </p:nvSpPr>
        <p:spPr>
          <a:xfrm>
            <a:off x="4356592" y="4661572"/>
            <a:ext cx="210312" cy="210312"/>
          </a:xfrm>
          <a:prstGeom prst="ellipse">
            <a:avLst/>
          </a:prstGeom>
          <a:ln w="28575">
            <a:solidFill>
              <a:srgbClr val="E8710A"/>
            </a:solidFill>
            <a:prstDash val="solid"/>
          </a:ln>
        </p:spPr>
        <p:txBody>
          <a:bodyPr/>
          <a:lstStyle/>
          <a:p>
            <a:endParaRPr lang="en-US"/>
          </a:p>
        </p:txBody>
      </p:sp>
      <p:sp>
        <p:nvSpPr>
          <p:cNvPr id="266" name="Shape 264"/>
          <p:cNvSpPr/>
          <p:nvPr/>
        </p:nvSpPr>
        <p:spPr>
          <a:xfrm>
            <a:off x="4406884" y="4711864"/>
            <a:ext cx="109728" cy="109728"/>
          </a:xfrm>
          <a:prstGeom prst="ellipse">
            <a:avLst/>
          </a:prstGeom>
          <a:solidFill>
            <a:srgbClr val="1E8E3E"/>
          </a:solidFill>
          <a:ln w="6350">
            <a:solidFill>
              <a:srgbClr val="1E8E3E"/>
            </a:solidFill>
            <a:prstDash val="solid"/>
          </a:ln>
        </p:spPr>
        <p:txBody>
          <a:bodyPr/>
          <a:lstStyle/>
          <a:p>
            <a:endParaRPr lang="en-US"/>
          </a:p>
        </p:txBody>
      </p:sp>
      <p:sp>
        <p:nvSpPr>
          <p:cNvPr id="267" name="Text 265"/>
          <p:cNvSpPr/>
          <p:nvPr/>
        </p:nvSpPr>
        <p:spPr>
          <a:xfrm>
            <a:off x="4580620" y="4547272"/>
            <a:ext cx="1143000" cy="164592"/>
          </a:xfrm>
          <a:prstGeom prst="rect">
            <a:avLst/>
          </a:prstGeom>
          <a:noFill/>
          <a:ln/>
        </p:spPr>
        <p:txBody>
          <a:bodyPr wrap="square" lIns="0" tIns="0" rIns="0" bIns="0" rtlCol="0" anchor="ctr"/>
          <a:lstStyle/>
          <a:p>
            <a:pPr marL="0" indent="0">
              <a:buNone/>
            </a:pPr>
            <a:r>
              <a:rPr lang="en-US" sz="650" b="1" dirty="0">
                <a:solidFill>
                  <a:srgbClr val="1F2937"/>
                </a:solidFill>
                <a:latin typeface="Arial" pitchFamily="34" charset="0"/>
                <a:ea typeface="Arial" pitchFamily="34" charset="-122"/>
                <a:cs typeface="Arial" pitchFamily="34" charset="-120"/>
              </a:rPr>
              <a:t>SBC102-02/035</a:t>
            </a:r>
            <a:endParaRPr lang="en-US" sz="650" dirty="0"/>
          </a:p>
        </p:txBody>
      </p:sp>
      <p:sp>
        <p:nvSpPr>
          <p:cNvPr id="268" name="Shape 266"/>
          <p:cNvSpPr/>
          <p:nvPr/>
        </p:nvSpPr>
        <p:spPr>
          <a:xfrm>
            <a:off x="3980785" y="5133540"/>
            <a:ext cx="210312" cy="210312"/>
          </a:xfrm>
          <a:prstGeom prst="ellipse">
            <a:avLst/>
          </a:prstGeom>
          <a:ln w="28575">
            <a:solidFill>
              <a:srgbClr val="E8710A"/>
            </a:solidFill>
            <a:prstDash val="solid"/>
          </a:ln>
        </p:spPr>
        <p:txBody>
          <a:bodyPr/>
          <a:lstStyle/>
          <a:p>
            <a:endParaRPr lang="en-US"/>
          </a:p>
        </p:txBody>
      </p:sp>
      <p:sp>
        <p:nvSpPr>
          <p:cNvPr id="269" name="Shape 267"/>
          <p:cNvSpPr/>
          <p:nvPr/>
        </p:nvSpPr>
        <p:spPr>
          <a:xfrm>
            <a:off x="4031077" y="5183832"/>
            <a:ext cx="109728" cy="109728"/>
          </a:xfrm>
          <a:prstGeom prst="ellipse">
            <a:avLst/>
          </a:prstGeom>
          <a:solidFill>
            <a:srgbClr val="1E8E3E"/>
          </a:solidFill>
          <a:ln w="6350">
            <a:solidFill>
              <a:srgbClr val="1E8E3E"/>
            </a:solidFill>
            <a:prstDash val="solid"/>
          </a:ln>
        </p:spPr>
        <p:txBody>
          <a:bodyPr/>
          <a:lstStyle/>
          <a:p>
            <a:endParaRPr lang="en-US"/>
          </a:p>
        </p:txBody>
      </p:sp>
      <p:sp>
        <p:nvSpPr>
          <p:cNvPr id="270" name="Text 268"/>
          <p:cNvSpPr/>
          <p:nvPr/>
        </p:nvSpPr>
        <p:spPr>
          <a:xfrm>
            <a:off x="4204813" y="5019240"/>
            <a:ext cx="1143000" cy="164592"/>
          </a:xfrm>
          <a:prstGeom prst="rect">
            <a:avLst/>
          </a:prstGeom>
          <a:noFill/>
          <a:ln/>
        </p:spPr>
        <p:txBody>
          <a:bodyPr wrap="square" lIns="0" tIns="0" rIns="0" bIns="0" rtlCol="0" anchor="ctr"/>
          <a:lstStyle/>
          <a:p>
            <a:pPr marL="0" indent="0">
              <a:buNone/>
            </a:pPr>
            <a:r>
              <a:rPr lang="en-US" sz="650" b="1" dirty="0">
                <a:solidFill>
                  <a:srgbClr val="1F2937"/>
                </a:solidFill>
                <a:latin typeface="Arial" pitchFamily="34" charset="0"/>
                <a:ea typeface="Arial" pitchFamily="34" charset="-122"/>
                <a:cs typeface="Arial" pitchFamily="34" charset="-120"/>
              </a:rPr>
              <a:t>SBC102-02/036</a:t>
            </a:r>
            <a:endParaRPr lang="en-US" sz="650" dirty="0"/>
          </a:p>
        </p:txBody>
      </p:sp>
      <p:sp>
        <p:nvSpPr>
          <p:cNvPr id="271" name="Shape 269"/>
          <p:cNvSpPr/>
          <p:nvPr/>
        </p:nvSpPr>
        <p:spPr>
          <a:xfrm>
            <a:off x="3791978" y="5366914"/>
            <a:ext cx="210312" cy="210312"/>
          </a:xfrm>
          <a:prstGeom prst="ellipse">
            <a:avLst/>
          </a:prstGeom>
          <a:ln w="28575">
            <a:solidFill>
              <a:srgbClr val="0055CC"/>
            </a:solidFill>
            <a:prstDash val="solid"/>
          </a:ln>
        </p:spPr>
        <p:txBody>
          <a:bodyPr/>
          <a:lstStyle/>
          <a:p>
            <a:endParaRPr lang="en-US"/>
          </a:p>
        </p:txBody>
      </p:sp>
      <p:sp>
        <p:nvSpPr>
          <p:cNvPr id="272" name="Shape 270"/>
          <p:cNvSpPr/>
          <p:nvPr/>
        </p:nvSpPr>
        <p:spPr>
          <a:xfrm>
            <a:off x="3842270" y="5417206"/>
            <a:ext cx="109728" cy="109728"/>
          </a:xfrm>
          <a:prstGeom prst="ellipse">
            <a:avLst/>
          </a:prstGeom>
          <a:solidFill>
            <a:srgbClr val="1E8E3E"/>
          </a:solidFill>
          <a:ln w="6350">
            <a:solidFill>
              <a:srgbClr val="1E8E3E"/>
            </a:solidFill>
            <a:prstDash val="solid"/>
          </a:ln>
        </p:spPr>
        <p:txBody>
          <a:bodyPr/>
          <a:lstStyle/>
          <a:p>
            <a:endParaRPr lang="en-US"/>
          </a:p>
        </p:txBody>
      </p:sp>
      <p:sp>
        <p:nvSpPr>
          <p:cNvPr id="273" name="Text 271"/>
          <p:cNvSpPr/>
          <p:nvPr/>
        </p:nvSpPr>
        <p:spPr>
          <a:xfrm>
            <a:off x="4016006" y="5252614"/>
            <a:ext cx="1143000" cy="164592"/>
          </a:xfrm>
          <a:prstGeom prst="rect">
            <a:avLst/>
          </a:prstGeom>
          <a:noFill/>
          <a:ln/>
        </p:spPr>
        <p:txBody>
          <a:bodyPr wrap="square" lIns="0" tIns="0" rIns="0" bIns="0" rtlCol="0" anchor="ctr"/>
          <a:lstStyle/>
          <a:p>
            <a:pPr marL="0" indent="0">
              <a:buNone/>
            </a:pPr>
            <a:r>
              <a:rPr lang="en-US" sz="650" b="1" dirty="0">
                <a:solidFill>
                  <a:srgbClr val="1F2937"/>
                </a:solidFill>
                <a:latin typeface="Arial" pitchFamily="34" charset="0"/>
                <a:ea typeface="Arial" pitchFamily="34" charset="-122"/>
                <a:cs typeface="Arial" pitchFamily="34" charset="-120"/>
              </a:rPr>
              <a:t>SBC102-01/040</a:t>
            </a:r>
            <a:endParaRPr lang="en-US" sz="650" dirty="0"/>
          </a:p>
        </p:txBody>
      </p:sp>
      <p:sp>
        <p:nvSpPr>
          <p:cNvPr id="274" name="Shape 272"/>
          <p:cNvSpPr/>
          <p:nvPr/>
        </p:nvSpPr>
        <p:spPr>
          <a:xfrm>
            <a:off x="3413762" y="5836873"/>
            <a:ext cx="210312" cy="210312"/>
          </a:xfrm>
          <a:prstGeom prst="ellipse">
            <a:avLst/>
          </a:prstGeom>
          <a:ln w="28575">
            <a:solidFill>
              <a:srgbClr val="0055CC"/>
            </a:solidFill>
            <a:prstDash val="solid"/>
          </a:ln>
        </p:spPr>
        <p:txBody>
          <a:bodyPr/>
          <a:lstStyle/>
          <a:p>
            <a:endParaRPr lang="en-US"/>
          </a:p>
        </p:txBody>
      </p:sp>
      <p:sp>
        <p:nvSpPr>
          <p:cNvPr id="275" name="Shape 273"/>
          <p:cNvSpPr/>
          <p:nvPr/>
        </p:nvSpPr>
        <p:spPr>
          <a:xfrm>
            <a:off x="3464054" y="5887165"/>
            <a:ext cx="109728" cy="109728"/>
          </a:xfrm>
          <a:prstGeom prst="ellipse">
            <a:avLst/>
          </a:prstGeom>
          <a:solidFill>
            <a:srgbClr val="1E8E3E"/>
          </a:solidFill>
          <a:ln w="6350">
            <a:solidFill>
              <a:srgbClr val="1E8E3E"/>
            </a:solidFill>
            <a:prstDash val="solid"/>
          </a:ln>
        </p:spPr>
        <p:txBody>
          <a:bodyPr/>
          <a:lstStyle/>
          <a:p>
            <a:endParaRPr lang="en-US"/>
          </a:p>
        </p:txBody>
      </p:sp>
      <p:sp>
        <p:nvSpPr>
          <p:cNvPr id="276" name="Text 274"/>
          <p:cNvSpPr/>
          <p:nvPr/>
        </p:nvSpPr>
        <p:spPr>
          <a:xfrm>
            <a:off x="3637790" y="5722573"/>
            <a:ext cx="1143000" cy="164592"/>
          </a:xfrm>
          <a:prstGeom prst="rect">
            <a:avLst/>
          </a:prstGeom>
          <a:noFill/>
          <a:ln/>
        </p:spPr>
        <p:txBody>
          <a:bodyPr wrap="square" lIns="0" tIns="0" rIns="0" bIns="0" rtlCol="0" anchor="ctr"/>
          <a:lstStyle/>
          <a:p>
            <a:pPr marL="0" indent="0">
              <a:buNone/>
            </a:pPr>
            <a:r>
              <a:rPr lang="en-US" sz="650" b="1" dirty="0">
                <a:solidFill>
                  <a:srgbClr val="1F2937"/>
                </a:solidFill>
                <a:latin typeface="Arial" pitchFamily="34" charset="0"/>
                <a:ea typeface="Arial" pitchFamily="34" charset="-122"/>
                <a:cs typeface="Arial" pitchFamily="34" charset="-120"/>
              </a:rPr>
              <a:t>SBC102-01/041</a:t>
            </a:r>
            <a:endParaRPr lang="en-US" sz="650" dirty="0"/>
          </a:p>
        </p:txBody>
      </p:sp>
      <p:sp>
        <p:nvSpPr>
          <p:cNvPr id="277" name="Shape 275"/>
          <p:cNvSpPr/>
          <p:nvPr/>
        </p:nvSpPr>
        <p:spPr>
          <a:xfrm>
            <a:off x="3602168" y="5601592"/>
            <a:ext cx="210312" cy="210312"/>
          </a:xfrm>
          <a:prstGeom prst="ellipse">
            <a:avLst/>
          </a:prstGeom>
          <a:ln w="28575">
            <a:solidFill>
              <a:srgbClr val="0055CC"/>
            </a:solidFill>
            <a:prstDash val="solid"/>
          </a:ln>
        </p:spPr>
        <p:txBody>
          <a:bodyPr/>
          <a:lstStyle/>
          <a:p>
            <a:endParaRPr lang="en-US"/>
          </a:p>
        </p:txBody>
      </p:sp>
      <p:sp>
        <p:nvSpPr>
          <p:cNvPr id="278" name="Shape 276"/>
          <p:cNvSpPr/>
          <p:nvPr/>
        </p:nvSpPr>
        <p:spPr>
          <a:xfrm>
            <a:off x="3652460" y="5651884"/>
            <a:ext cx="109728" cy="109728"/>
          </a:xfrm>
          <a:prstGeom prst="ellipse">
            <a:avLst/>
          </a:prstGeom>
          <a:solidFill>
            <a:srgbClr val="1E8E3E"/>
          </a:solidFill>
          <a:ln w="6350">
            <a:solidFill>
              <a:srgbClr val="1E8E3E"/>
            </a:solidFill>
            <a:prstDash val="solid"/>
          </a:ln>
        </p:spPr>
        <p:txBody>
          <a:bodyPr/>
          <a:lstStyle/>
          <a:p>
            <a:endParaRPr lang="en-US"/>
          </a:p>
        </p:txBody>
      </p:sp>
      <p:sp>
        <p:nvSpPr>
          <p:cNvPr id="279" name="Text 277"/>
          <p:cNvSpPr/>
          <p:nvPr/>
        </p:nvSpPr>
        <p:spPr>
          <a:xfrm>
            <a:off x="3826196" y="5487292"/>
            <a:ext cx="1143000" cy="164592"/>
          </a:xfrm>
          <a:prstGeom prst="rect">
            <a:avLst/>
          </a:prstGeom>
          <a:noFill/>
          <a:ln/>
        </p:spPr>
        <p:txBody>
          <a:bodyPr wrap="square" lIns="0" tIns="0" rIns="0" bIns="0" rtlCol="0" anchor="ctr"/>
          <a:lstStyle/>
          <a:p>
            <a:pPr marL="0" indent="0">
              <a:buNone/>
            </a:pPr>
            <a:r>
              <a:rPr lang="en-US" sz="650" b="1" dirty="0">
                <a:solidFill>
                  <a:srgbClr val="1F2937"/>
                </a:solidFill>
                <a:latin typeface="Arial" pitchFamily="34" charset="0"/>
                <a:ea typeface="Arial" pitchFamily="34" charset="-122"/>
                <a:cs typeface="Arial" pitchFamily="34" charset="-120"/>
              </a:rPr>
              <a:t>SBC102-02/037</a:t>
            </a:r>
            <a:endParaRPr lang="en-US" sz="650" dirty="0"/>
          </a:p>
        </p:txBody>
      </p:sp>
      <p:sp>
        <p:nvSpPr>
          <p:cNvPr id="280" name="Shape 278"/>
          <p:cNvSpPr/>
          <p:nvPr/>
        </p:nvSpPr>
        <p:spPr>
          <a:xfrm>
            <a:off x="3226160" y="6071954"/>
            <a:ext cx="210312" cy="210312"/>
          </a:xfrm>
          <a:prstGeom prst="ellipse">
            <a:avLst/>
          </a:prstGeom>
          <a:ln w="28575">
            <a:solidFill>
              <a:srgbClr val="0055CC"/>
            </a:solidFill>
            <a:prstDash val="solid"/>
          </a:ln>
        </p:spPr>
        <p:txBody>
          <a:bodyPr/>
          <a:lstStyle/>
          <a:p>
            <a:endParaRPr lang="en-US"/>
          </a:p>
        </p:txBody>
      </p:sp>
      <p:sp>
        <p:nvSpPr>
          <p:cNvPr id="281" name="Shape 279"/>
          <p:cNvSpPr/>
          <p:nvPr/>
        </p:nvSpPr>
        <p:spPr>
          <a:xfrm>
            <a:off x="3276452" y="6122246"/>
            <a:ext cx="109728" cy="109728"/>
          </a:xfrm>
          <a:prstGeom prst="ellipse">
            <a:avLst/>
          </a:prstGeom>
          <a:solidFill>
            <a:srgbClr val="1E8E3E"/>
          </a:solidFill>
          <a:ln w="6350">
            <a:solidFill>
              <a:srgbClr val="1E8E3E"/>
            </a:solidFill>
            <a:prstDash val="solid"/>
          </a:ln>
        </p:spPr>
        <p:txBody>
          <a:bodyPr/>
          <a:lstStyle/>
          <a:p>
            <a:endParaRPr lang="en-US"/>
          </a:p>
        </p:txBody>
      </p:sp>
      <p:sp>
        <p:nvSpPr>
          <p:cNvPr id="282" name="Text 280"/>
          <p:cNvSpPr/>
          <p:nvPr/>
        </p:nvSpPr>
        <p:spPr>
          <a:xfrm>
            <a:off x="3450188" y="5957654"/>
            <a:ext cx="1143000" cy="164592"/>
          </a:xfrm>
          <a:prstGeom prst="rect">
            <a:avLst/>
          </a:prstGeom>
          <a:noFill/>
          <a:ln/>
        </p:spPr>
        <p:txBody>
          <a:bodyPr wrap="square" lIns="0" tIns="0" rIns="0" bIns="0" rtlCol="0" anchor="ctr"/>
          <a:lstStyle/>
          <a:p>
            <a:pPr marL="0" indent="0">
              <a:buNone/>
            </a:pPr>
            <a:r>
              <a:rPr lang="en-US" sz="650" b="1" dirty="0">
                <a:solidFill>
                  <a:srgbClr val="1F2937"/>
                </a:solidFill>
                <a:latin typeface="Arial" pitchFamily="34" charset="0"/>
                <a:ea typeface="Arial" pitchFamily="34" charset="-122"/>
                <a:cs typeface="Arial" pitchFamily="34" charset="-120"/>
              </a:rPr>
              <a:t>SBC102-02/038</a:t>
            </a:r>
            <a:endParaRPr lang="en-US" sz="650" dirty="0"/>
          </a:p>
        </p:txBody>
      </p:sp>
      <p:sp>
        <p:nvSpPr>
          <p:cNvPr id="283" name="Shape 281"/>
          <p:cNvSpPr/>
          <p:nvPr/>
        </p:nvSpPr>
        <p:spPr>
          <a:xfrm>
            <a:off x="3922668" y="5279988"/>
            <a:ext cx="210312" cy="210312"/>
          </a:xfrm>
          <a:prstGeom prst="ellipse">
            <a:avLst/>
          </a:prstGeom>
          <a:ln w="28575">
            <a:solidFill>
              <a:srgbClr val="0055CC"/>
            </a:solidFill>
            <a:prstDash val="solid"/>
          </a:ln>
        </p:spPr>
        <p:txBody>
          <a:bodyPr/>
          <a:lstStyle/>
          <a:p>
            <a:endParaRPr lang="en-US"/>
          </a:p>
        </p:txBody>
      </p:sp>
      <p:sp>
        <p:nvSpPr>
          <p:cNvPr id="284" name="Shape 282"/>
          <p:cNvSpPr/>
          <p:nvPr/>
        </p:nvSpPr>
        <p:spPr>
          <a:xfrm>
            <a:off x="3972960" y="5330280"/>
            <a:ext cx="109728" cy="109728"/>
          </a:xfrm>
          <a:prstGeom prst="ellipse">
            <a:avLst/>
          </a:prstGeom>
          <a:solidFill>
            <a:srgbClr val="1E8E3E"/>
          </a:solidFill>
          <a:ln w="6350">
            <a:solidFill>
              <a:srgbClr val="1E8E3E"/>
            </a:solidFill>
            <a:prstDash val="solid"/>
          </a:ln>
        </p:spPr>
        <p:txBody>
          <a:bodyPr/>
          <a:lstStyle/>
          <a:p>
            <a:endParaRPr lang="en-US"/>
          </a:p>
        </p:txBody>
      </p:sp>
      <p:sp>
        <p:nvSpPr>
          <p:cNvPr id="285" name="Text 283"/>
          <p:cNvSpPr/>
          <p:nvPr/>
        </p:nvSpPr>
        <p:spPr>
          <a:xfrm>
            <a:off x="4146696" y="5165688"/>
            <a:ext cx="1143000" cy="164592"/>
          </a:xfrm>
          <a:prstGeom prst="rect">
            <a:avLst/>
          </a:prstGeom>
          <a:noFill/>
          <a:ln/>
        </p:spPr>
        <p:txBody>
          <a:bodyPr wrap="square" lIns="0" tIns="0" rIns="0" bIns="0" rtlCol="0" anchor="ctr"/>
          <a:lstStyle/>
          <a:p>
            <a:pPr marL="0" indent="0">
              <a:buNone/>
            </a:pPr>
            <a:r>
              <a:rPr lang="en-US" sz="650" b="1" dirty="0">
                <a:solidFill>
                  <a:srgbClr val="1F2937"/>
                </a:solidFill>
                <a:latin typeface="Arial" pitchFamily="34" charset="0"/>
                <a:ea typeface="Arial" pitchFamily="34" charset="-122"/>
                <a:cs typeface="Arial" pitchFamily="34" charset="-120"/>
              </a:rPr>
              <a:t>TCCECH-03/002</a:t>
            </a:r>
            <a:endParaRPr lang="en-US" sz="650" dirty="0"/>
          </a:p>
        </p:txBody>
      </p:sp>
      <p:sp>
        <p:nvSpPr>
          <p:cNvPr id="286" name="Shape 284"/>
          <p:cNvSpPr/>
          <p:nvPr/>
        </p:nvSpPr>
        <p:spPr>
          <a:xfrm>
            <a:off x="4510268" y="5748743"/>
            <a:ext cx="210312" cy="210312"/>
          </a:xfrm>
          <a:prstGeom prst="ellipse">
            <a:avLst/>
          </a:prstGeom>
          <a:ln w="28575">
            <a:solidFill>
              <a:srgbClr val="0055CC"/>
            </a:solidFill>
            <a:prstDash val="solid"/>
          </a:ln>
        </p:spPr>
        <p:txBody>
          <a:bodyPr/>
          <a:lstStyle/>
          <a:p>
            <a:endParaRPr lang="en-US"/>
          </a:p>
        </p:txBody>
      </p:sp>
      <p:sp>
        <p:nvSpPr>
          <p:cNvPr id="287" name="Shape 285"/>
          <p:cNvSpPr/>
          <p:nvPr/>
        </p:nvSpPr>
        <p:spPr>
          <a:xfrm>
            <a:off x="4560560" y="5799035"/>
            <a:ext cx="109728" cy="109728"/>
          </a:xfrm>
          <a:prstGeom prst="ellipse">
            <a:avLst/>
          </a:prstGeom>
          <a:solidFill>
            <a:srgbClr val="1E8E3E"/>
          </a:solidFill>
          <a:ln w="6350">
            <a:solidFill>
              <a:srgbClr val="1E8E3E"/>
            </a:solidFill>
            <a:prstDash val="solid"/>
          </a:ln>
        </p:spPr>
        <p:txBody>
          <a:bodyPr/>
          <a:lstStyle/>
          <a:p>
            <a:endParaRPr lang="en-US"/>
          </a:p>
        </p:txBody>
      </p:sp>
      <p:sp>
        <p:nvSpPr>
          <p:cNvPr id="288" name="Text 286"/>
          <p:cNvSpPr/>
          <p:nvPr/>
        </p:nvSpPr>
        <p:spPr>
          <a:xfrm>
            <a:off x="4734296" y="5634443"/>
            <a:ext cx="1143000" cy="164592"/>
          </a:xfrm>
          <a:prstGeom prst="rect">
            <a:avLst/>
          </a:prstGeom>
          <a:noFill/>
          <a:ln/>
        </p:spPr>
        <p:txBody>
          <a:bodyPr wrap="square" lIns="0" tIns="0" rIns="0" bIns="0" rtlCol="0" anchor="ctr"/>
          <a:lstStyle/>
          <a:p>
            <a:pPr marL="0" indent="0">
              <a:buNone/>
            </a:pPr>
            <a:r>
              <a:rPr lang="en-US" sz="650" b="1" dirty="0">
                <a:solidFill>
                  <a:srgbClr val="1F2937"/>
                </a:solidFill>
                <a:latin typeface="Arial" pitchFamily="34" charset="0"/>
                <a:ea typeface="Arial" pitchFamily="34" charset="-122"/>
                <a:cs typeface="Arial" pitchFamily="34" charset="-120"/>
              </a:rPr>
              <a:t>TCCECH-04/002</a:t>
            </a:r>
            <a:endParaRPr lang="en-US" sz="650" dirty="0"/>
          </a:p>
        </p:txBody>
      </p:sp>
      <p:sp>
        <p:nvSpPr>
          <p:cNvPr id="289" name="Shape 287"/>
          <p:cNvSpPr/>
          <p:nvPr/>
        </p:nvSpPr>
        <p:spPr>
          <a:xfrm>
            <a:off x="5098671" y="6222618"/>
            <a:ext cx="210312" cy="210312"/>
          </a:xfrm>
          <a:prstGeom prst="ellipse">
            <a:avLst/>
          </a:prstGeom>
          <a:ln w="28575">
            <a:solidFill>
              <a:srgbClr val="0055CC"/>
            </a:solidFill>
            <a:prstDash val="solid"/>
          </a:ln>
        </p:spPr>
        <p:txBody>
          <a:bodyPr/>
          <a:lstStyle/>
          <a:p>
            <a:endParaRPr lang="en-US"/>
          </a:p>
        </p:txBody>
      </p:sp>
      <p:sp>
        <p:nvSpPr>
          <p:cNvPr id="290" name="Shape 288"/>
          <p:cNvSpPr/>
          <p:nvPr/>
        </p:nvSpPr>
        <p:spPr>
          <a:xfrm>
            <a:off x="5148963" y="6272910"/>
            <a:ext cx="109728" cy="109728"/>
          </a:xfrm>
          <a:prstGeom prst="ellipse">
            <a:avLst/>
          </a:prstGeom>
          <a:solidFill>
            <a:srgbClr val="1E8E3E"/>
          </a:solidFill>
          <a:ln w="6350">
            <a:solidFill>
              <a:srgbClr val="1E8E3E"/>
            </a:solidFill>
            <a:prstDash val="solid"/>
          </a:ln>
        </p:spPr>
        <p:txBody>
          <a:bodyPr/>
          <a:lstStyle/>
          <a:p>
            <a:endParaRPr lang="en-US"/>
          </a:p>
        </p:txBody>
      </p:sp>
      <p:sp>
        <p:nvSpPr>
          <p:cNvPr id="291" name="Text 289"/>
          <p:cNvSpPr/>
          <p:nvPr/>
        </p:nvSpPr>
        <p:spPr>
          <a:xfrm>
            <a:off x="5322699" y="6108318"/>
            <a:ext cx="1143000" cy="164592"/>
          </a:xfrm>
          <a:prstGeom prst="rect">
            <a:avLst/>
          </a:prstGeom>
          <a:noFill/>
          <a:ln/>
        </p:spPr>
        <p:txBody>
          <a:bodyPr wrap="square" lIns="0" tIns="0" rIns="0" bIns="0" rtlCol="0" anchor="ctr"/>
          <a:lstStyle/>
          <a:p>
            <a:pPr marL="0" indent="0">
              <a:buNone/>
            </a:pPr>
            <a:r>
              <a:rPr lang="en-US" sz="650" b="1" dirty="0">
                <a:solidFill>
                  <a:srgbClr val="1F2937"/>
                </a:solidFill>
                <a:latin typeface="Arial" pitchFamily="34" charset="0"/>
                <a:ea typeface="Arial" pitchFamily="34" charset="-122"/>
                <a:cs typeface="Arial" pitchFamily="34" charset="-120"/>
              </a:rPr>
              <a:t>TCCECH-03/003</a:t>
            </a:r>
            <a:endParaRPr lang="en-US" sz="650" dirty="0"/>
          </a:p>
        </p:txBody>
      </p:sp>
      <p:sp>
        <p:nvSpPr>
          <p:cNvPr id="292" name="Shape 290"/>
          <p:cNvSpPr/>
          <p:nvPr/>
        </p:nvSpPr>
        <p:spPr>
          <a:xfrm>
            <a:off x="5683260" y="6695087"/>
            <a:ext cx="210312" cy="210312"/>
          </a:xfrm>
          <a:prstGeom prst="ellipse">
            <a:avLst/>
          </a:prstGeom>
          <a:ln w="28575">
            <a:solidFill>
              <a:srgbClr val="0055CC"/>
            </a:solidFill>
            <a:prstDash val="solid"/>
          </a:ln>
        </p:spPr>
        <p:txBody>
          <a:bodyPr/>
          <a:lstStyle/>
          <a:p>
            <a:endParaRPr lang="en-US"/>
          </a:p>
        </p:txBody>
      </p:sp>
      <p:sp>
        <p:nvSpPr>
          <p:cNvPr id="293" name="Shape 291"/>
          <p:cNvSpPr/>
          <p:nvPr/>
        </p:nvSpPr>
        <p:spPr>
          <a:xfrm>
            <a:off x="5733552" y="6745379"/>
            <a:ext cx="109728" cy="109728"/>
          </a:xfrm>
          <a:prstGeom prst="ellipse">
            <a:avLst/>
          </a:prstGeom>
          <a:solidFill>
            <a:srgbClr val="1E8E3E"/>
          </a:solidFill>
          <a:ln w="6350">
            <a:solidFill>
              <a:srgbClr val="1E8E3E"/>
            </a:solidFill>
            <a:prstDash val="solid"/>
          </a:ln>
        </p:spPr>
        <p:txBody>
          <a:bodyPr/>
          <a:lstStyle/>
          <a:p>
            <a:endParaRPr lang="en-US"/>
          </a:p>
        </p:txBody>
      </p:sp>
      <p:sp>
        <p:nvSpPr>
          <p:cNvPr id="294" name="Text 292"/>
          <p:cNvSpPr/>
          <p:nvPr/>
        </p:nvSpPr>
        <p:spPr>
          <a:xfrm>
            <a:off x="5907288" y="6580787"/>
            <a:ext cx="1143000" cy="164592"/>
          </a:xfrm>
          <a:prstGeom prst="rect">
            <a:avLst/>
          </a:prstGeom>
          <a:noFill/>
          <a:ln/>
        </p:spPr>
        <p:txBody>
          <a:bodyPr wrap="square" lIns="0" tIns="0" rIns="0" bIns="0" rtlCol="0" anchor="ctr"/>
          <a:lstStyle/>
          <a:p>
            <a:pPr marL="0" indent="0">
              <a:buNone/>
            </a:pPr>
            <a:r>
              <a:rPr lang="en-US" sz="650" b="1" dirty="0">
                <a:solidFill>
                  <a:srgbClr val="1F2937"/>
                </a:solidFill>
                <a:latin typeface="Arial" pitchFamily="34" charset="0"/>
                <a:ea typeface="Arial" pitchFamily="34" charset="-122"/>
                <a:cs typeface="Arial" pitchFamily="34" charset="-120"/>
              </a:rPr>
              <a:t>TCCECH-04/003</a:t>
            </a:r>
            <a:endParaRPr lang="en-US" sz="650" dirty="0"/>
          </a:p>
        </p:txBody>
      </p:sp>
      <p:sp>
        <p:nvSpPr>
          <p:cNvPr id="295" name="Shape 293"/>
          <p:cNvSpPr/>
          <p:nvPr/>
        </p:nvSpPr>
        <p:spPr>
          <a:xfrm>
            <a:off x="6510959" y="5567966"/>
            <a:ext cx="210312" cy="210312"/>
          </a:xfrm>
          <a:prstGeom prst="ellipse">
            <a:avLst/>
          </a:prstGeom>
          <a:ln w="28575">
            <a:solidFill>
              <a:srgbClr val="BB00BB"/>
            </a:solidFill>
            <a:prstDash val="solid"/>
          </a:ln>
        </p:spPr>
        <p:txBody>
          <a:bodyPr/>
          <a:lstStyle/>
          <a:p>
            <a:endParaRPr lang="en-US"/>
          </a:p>
        </p:txBody>
      </p:sp>
      <p:sp>
        <p:nvSpPr>
          <p:cNvPr id="296" name="Shape 294"/>
          <p:cNvSpPr/>
          <p:nvPr/>
        </p:nvSpPr>
        <p:spPr>
          <a:xfrm>
            <a:off x="6561251" y="5618258"/>
            <a:ext cx="109728" cy="109728"/>
          </a:xfrm>
          <a:prstGeom prst="ellipse">
            <a:avLst/>
          </a:prstGeom>
          <a:solidFill>
            <a:srgbClr val="FFFFFF"/>
          </a:solidFill>
          <a:ln w="6350">
            <a:solidFill>
              <a:srgbClr val="FFFFFF"/>
            </a:solidFill>
            <a:prstDash val="solid"/>
          </a:ln>
        </p:spPr>
        <p:txBody>
          <a:bodyPr/>
          <a:lstStyle/>
          <a:p>
            <a:endParaRPr lang="en-US"/>
          </a:p>
        </p:txBody>
      </p:sp>
      <p:sp>
        <p:nvSpPr>
          <p:cNvPr id="297" name="Text 295"/>
          <p:cNvSpPr/>
          <p:nvPr/>
        </p:nvSpPr>
        <p:spPr>
          <a:xfrm>
            <a:off x="6734987" y="5453666"/>
            <a:ext cx="1143000" cy="164592"/>
          </a:xfrm>
          <a:prstGeom prst="rect">
            <a:avLst/>
          </a:prstGeom>
          <a:noFill/>
          <a:ln/>
        </p:spPr>
        <p:txBody>
          <a:bodyPr wrap="square" lIns="0" tIns="0" rIns="0" bIns="0" rtlCol="0" anchor="ctr"/>
          <a:lstStyle/>
          <a:p>
            <a:pPr marL="0" indent="0">
              <a:buNone/>
            </a:pPr>
            <a:r>
              <a:rPr lang="en-US" sz="650" b="1" dirty="0">
                <a:solidFill>
                  <a:srgbClr val="1F2937"/>
                </a:solidFill>
                <a:latin typeface="Arial" pitchFamily="34" charset="0"/>
                <a:ea typeface="Arial" pitchFamily="34" charset="-122"/>
                <a:cs typeface="Arial" pitchFamily="34" charset="-120"/>
              </a:rPr>
              <a:t>RRM.557</a:t>
            </a:r>
            <a:endParaRPr lang="en-US" sz="650" dirty="0"/>
          </a:p>
        </p:txBody>
      </p:sp>
      <p:sp>
        <p:nvSpPr>
          <p:cNvPr id="298" name="Shape 296"/>
          <p:cNvSpPr/>
          <p:nvPr/>
        </p:nvSpPr>
        <p:spPr>
          <a:xfrm>
            <a:off x="5387252" y="4581071"/>
            <a:ext cx="210312" cy="210312"/>
          </a:xfrm>
          <a:prstGeom prst="ellipse">
            <a:avLst/>
          </a:prstGeom>
          <a:ln w="28575">
            <a:solidFill>
              <a:srgbClr val="BB00BB"/>
            </a:solidFill>
            <a:prstDash val="solid"/>
          </a:ln>
        </p:spPr>
        <p:txBody>
          <a:bodyPr/>
          <a:lstStyle/>
          <a:p>
            <a:endParaRPr lang="en-US"/>
          </a:p>
        </p:txBody>
      </p:sp>
      <p:sp>
        <p:nvSpPr>
          <p:cNvPr id="299" name="Shape 297"/>
          <p:cNvSpPr/>
          <p:nvPr/>
        </p:nvSpPr>
        <p:spPr>
          <a:xfrm>
            <a:off x="5437544" y="4631363"/>
            <a:ext cx="109728" cy="109728"/>
          </a:xfrm>
          <a:prstGeom prst="ellipse">
            <a:avLst/>
          </a:prstGeom>
          <a:solidFill>
            <a:srgbClr val="FFFFFF"/>
          </a:solidFill>
          <a:ln w="6350">
            <a:solidFill>
              <a:srgbClr val="FFFFFF"/>
            </a:solidFill>
            <a:prstDash val="solid"/>
          </a:ln>
        </p:spPr>
        <p:txBody>
          <a:bodyPr/>
          <a:lstStyle/>
          <a:p>
            <a:endParaRPr lang="en-US"/>
          </a:p>
        </p:txBody>
      </p:sp>
      <p:sp>
        <p:nvSpPr>
          <p:cNvPr id="300" name="Text 298"/>
          <p:cNvSpPr/>
          <p:nvPr/>
        </p:nvSpPr>
        <p:spPr>
          <a:xfrm>
            <a:off x="5611280" y="4466771"/>
            <a:ext cx="1143000" cy="164592"/>
          </a:xfrm>
          <a:prstGeom prst="rect">
            <a:avLst/>
          </a:prstGeom>
          <a:noFill/>
          <a:ln/>
        </p:spPr>
        <p:txBody>
          <a:bodyPr wrap="square" lIns="0" tIns="0" rIns="0" bIns="0" rtlCol="0" anchor="ctr"/>
          <a:lstStyle/>
          <a:p>
            <a:pPr marL="0" indent="0">
              <a:buNone/>
            </a:pPr>
            <a:r>
              <a:rPr lang="en-US" sz="650" b="1" dirty="0">
                <a:solidFill>
                  <a:srgbClr val="1F2937"/>
                </a:solidFill>
                <a:latin typeface="Arial" pitchFamily="34" charset="0"/>
                <a:ea typeface="Arial" pitchFamily="34" charset="-122"/>
                <a:cs typeface="Arial" pitchFamily="34" charset="-120"/>
              </a:rPr>
              <a:t>RRM.670</a:t>
            </a:r>
            <a:endParaRPr lang="en-US" sz="650" dirty="0"/>
          </a:p>
        </p:txBody>
      </p:sp>
      <p:sp>
        <p:nvSpPr>
          <p:cNvPr id="301" name="Shape 299"/>
          <p:cNvSpPr/>
          <p:nvPr/>
        </p:nvSpPr>
        <p:spPr>
          <a:xfrm>
            <a:off x="10104120" y="777240"/>
            <a:ext cx="4709160" cy="1170432"/>
          </a:xfrm>
          <a:prstGeom prst="rect">
            <a:avLst/>
          </a:prstGeom>
          <a:solidFill>
            <a:srgbClr val="1E2761"/>
          </a:solidFill>
          <a:ln w="9525">
            <a:solidFill>
              <a:srgbClr val="D5DAE0"/>
            </a:solidFill>
            <a:prstDash val="solid"/>
          </a:ln>
        </p:spPr>
        <p:txBody>
          <a:bodyPr/>
          <a:lstStyle/>
          <a:p>
            <a:endParaRPr lang="en-US"/>
          </a:p>
        </p:txBody>
      </p:sp>
      <p:sp>
        <p:nvSpPr>
          <p:cNvPr id="302" name="Text 300"/>
          <p:cNvSpPr/>
          <p:nvPr/>
        </p:nvSpPr>
        <p:spPr>
          <a:xfrm>
            <a:off x="10241280" y="868680"/>
            <a:ext cx="4434840" cy="274320"/>
          </a:xfrm>
          <a:prstGeom prst="rect">
            <a:avLst/>
          </a:prstGeom>
          <a:noFill/>
          <a:ln/>
        </p:spPr>
        <p:txBody>
          <a:bodyPr wrap="square" lIns="0" tIns="0" rIns="0" bIns="0" rtlCol="0" anchor="ctr"/>
          <a:lstStyle/>
          <a:p>
            <a:pPr marL="0" indent="0">
              <a:buNone/>
            </a:pPr>
            <a:r>
              <a:rPr lang="en-US" sz="1250" b="1" dirty="0">
                <a:solidFill>
                  <a:srgbClr val="FFFFFF"/>
                </a:solidFill>
                <a:latin typeface="Arial" pitchFamily="34" charset="0"/>
                <a:ea typeface="Arial" pitchFamily="34" charset="-122"/>
                <a:cs typeface="Arial" pitchFamily="34" charset="-120"/>
              </a:rPr>
              <a:t>LOCATION 3 — 1003  ·  REV P06 (EDITABLE)</a:t>
            </a:r>
            <a:endParaRPr lang="en-US" sz="1250" dirty="0"/>
          </a:p>
        </p:txBody>
      </p:sp>
      <p:sp>
        <p:nvSpPr>
          <p:cNvPr id="303" name="Text 301"/>
          <p:cNvSpPr/>
          <p:nvPr/>
        </p:nvSpPr>
        <p:spPr>
          <a:xfrm>
            <a:off x="10241280" y="1179576"/>
            <a:ext cx="4434840" cy="384048"/>
          </a:xfrm>
          <a:prstGeom prst="rect">
            <a:avLst/>
          </a:prstGeom>
          <a:noFill/>
          <a:ln/>
        </p:spPr>
        <p:txBody>
          <a:bodyPr wrap="square" lIns="0" tIns="0" rIns="0" bIns="0" rtlCol="0" anchor="ctr"/>
          <a:lstStyle/>
          <a:p>
            <a:pPr marL="0" indent="0">
              <a:buNone/>
            </a:pPr>
            <a:r>
              <a:rPr lang="en-US" sz="800" dirty="0">
                <a:solidFill>
                  <a:srgbClr val="CADCFC"/>
                </a:solidFill>
                <a:latin typeface="Arial" pitchFamily="34" charset="0"/>
                <a:ea typeface="Arial" pitchFamily="34" charset="-122"/>
                <a:cs typeface="Arial" pitchFamily="34" charset="-120"/>
              </a:rPr>
              <a:t>SCOPE PER FIELD SHEET Second_milling_area rev _1 — FIELD CONDITION GOVERNS (rev _1 supersedes earlier all-NO rev)</a:t>
            </a:r>
            <a:endParaRPr lang="en-US" sz="800" dirty="0"/>
          </a:p>
        </p:txBody>
      </p:sp>
      <p:sp>
        <p:nvSpPr>
          <p:cNvPr id="304" name="Text 302"/>
          <p:cNvSpPr/>
          <p:nvPr/>
        </p:nvSpPr>
        <p:spPr>
          <a:xfrm>
            <a:off x="10241280" y="1600200"/>
            <a:ext cx="4434840" cy="310896"/>
          </a:xfrm>
          <a:prstGeom prst="rect">
            <a:avLst/>
          </a:prstGeom>
          <a:noFill/>
          <a:ln/>
        </p:spPr>
        <p:txBody>
          <a:bodyPr wrap="square" lIns="0" tIns="0" rIns="0" bIns="0" rtlCol="0" anchor="ctr"/>
          <a:lstStyle/>
          <a:p>
            <a:pPr marL="0" indent="0">
              <a:buNone/>
            </a:pPr>
            <a:endParaRPr lang="en-US" sz="700" dirty="0"/>
            <a:r>
              <a:rPr lang="en-US" sz="700" dirty="0">
                <a:solidFill>
                  <a:srgbClr val="CADCFC"/>
                </a:solidFill>
                <a:latin typeface="Arial" pitchFamily="34" charset="0"/>
                <a:ea typeface="Arial" pitchFamily="34" charset="-122"/>
                <a:cs typeface="Arial" pitchFamily="34" charset="-120"/>
              </a:rPr>
              <a:t>Frame 95.1 m across · ZIA local grid (m) · duct geometry from Z1-Z2-Z3-MTA_SEGMENTATION source dwg · Rev P06 · Prepared: Mohammed, AGL Team Leader — ADB SAFEGATE</a:t>
            </a:r>
          </a:p>
        </p:txBody>
      </p:sp>
      <p:sp>
        <p:nvSpPr>
          <p:cNvPr id="305" name="Shape 303"/>
          <p:cNvSpPr/>
          <p:nvPr/>
        </p:nvSpPr>
        <p:spPr>
          <a:xfrm>
            <a:off x="10104120" y="2057400"/>
            <a:ext cx="4709160" cy="2040026"/>
          </a:xfrm>
          <a:prstGeom prst="rect">
            <a:avLst/>
          </a:prstGeom>
          <a:solidFill>
            <a:srgbClr val="F4F6F8"/>
          </a:solidFill>
          <a:ln w="9525">
            <a:solidFill>
              <a:srgbClr val="D5DAE0"/>
            </a:solidFill>
            <a:prstDash val="solid"/>
          </a:ln>
        </p:spPr>
        <p:txBody>
          <a:bodyPr/>
          <a:lstStyle/>
          <a:p>
            <a:endParaRPr lang="en-US"/>
          </a:p>
        </p:txBody>
      </p:sp>
      <p:sp>
        <p:nvSpPr>
          <p:cNvPr id="306" name="Text 304"/>
          <p:cNvSpPr/>
          <p:nvPr/>
        </p:nvSpPr>
        <p:spPr>
          <a:xfrm>
            <a:off x="10241280" y="2130552"/>
            <a:ext cx="4434840" cy="219456"/>
          </a:xfrm>
          <a:prstGeom prst="rect">
            <a:avLst/>
          </a:prstGeom>
          <a:noFill/>
          <a:ln/>
        </p:spPr>
        <p:txBody>
          <a:bodyPr wrap="square" lIns="0" tIns="0" rIns="0" bIns="0" rtlCol="0" anchor="ctr"/>
          <a:lstStyle/>
          <a:p>
            <a:pPr marL="0" indent="0">
              <a:buNone/>
            </a:pPr>
            <a:r>
              <a:rPr lang="en-US" sz="950" b="1" dirty="0">
                <a:solidFill>
                  <a:srgbClr val="1E2761"/>
                </a:solidFill>
                <a:latin typeface="Arial" pitchFamily="34" charset="0"/>
                <a:ea typeface="Arial" pitchFamily="34" charset="-122"/>
                <a:cs typeface="Arial" pitchFamily="34" charset="-120"/>
              </a:rPr>
              <a:t>SCOPE / QUANTITIES (PER FIELD VERIFICATION)</a:t>
            </a:r>
            <a:endParaRPr lang="en-US" sz="950" dirty="0"/>
          </a:p>
        </p:txBody>
      </p:sp>
      <p:sp>
        <p:nvSpPr>
          <p:cNvPr id="307" name="Text 305"/>
          <p:cNvSpPr/>
          <p:nvPr/>
        </p:nvSpPr>
        <p:spPr>
          <a:xfrm>
            <a:off x="10241280" y="2386584"/>
            <a:ext cx="4434840" cy="1655978"/>
          </a:xfrm>
          <a:prstGeom prst="rect">
            <a:avLst/>
          </a:prstGeom>
          <a:noFill/>
          <a:ln/>
        </p:spPr>
        <p:txBody>
          <a:bodyPr wrap="square" lIns="0" tIns="0" rIns="0" bIns="0" rtlCol="0" anchor="ctr"/>
          <a:lstStyle/>
          <a:p>
            <a:pPr marL="0" indent="0">
              <a:lnSpc>
                <a:spcPct val="112000"/>
              </a:lnSpc>
              <a:buNone/>
            </a:pPr>
            <a:r>
              <a:rPr lang="en-US" sz="760" dirty="0">
                <a:solidFill>
                  <a:srgbClr val="1F2937"/>
                </a:solidFill>
                <a:latin typeface="Arial" pitchFamily="34" charset="0"/>
                <a:ea typeface="Arial" pitchFamily="34" charset="-122"/>
                <a:cs typeface="Arial" pitchFamily="34" charset="-120"/>
              </a:rPr>
              <a:t>NO CORING AT THIS LOCATION — SECONDARY CABLES ONLY (12 RUNS)</a:t>
            </a:r>
            <a:endParaRPr lang="en-US" sz="760" dirty="0"/>
          </a:p>
          <a:p>
            <a:pPr marL="0" indent="0">
              <a:lnSpc>
                <a:spcPct val="112000"/>
              </a:lnSpc>
              <a:buNone/>
            </a:pPr>
            <a:r>
              <a:rPr lang="en-US" sz="760" dirty="0">
                <a:solidFill>
                  <a:srgbClr val="1F2937"/>
                </a:solidFill>
                <a:latin typeface="Arial" pitchFamily="34" charset="0"/>
                <a:ea typeface="Arial" pitchFamily="34" charset="-122"/>
                <a:cs typeface="Arial" pitchFamily="34" charset="-120"/>
              </a:rPr>
              <a:t>NEW CABLE VIA SAWCUT: 4 No. — SBC102-01/038, 01/039, 02/035, 02/036</a:t>
            </a:r>
            <a:endParaRPr lang="en-US" sz="760" dirty="0"/>
          </a:p>
          <a:p>
            <a:pPr marL="0" indent="0">
              <a:lnSpc>
                <a:spcPct val="112000"/>
              </a:lnSpc>
              <a:buNone/>
            </a:pPr>
            <a:r>
              <a:rPr lang="en-US" sz="760" dirty="0">
                <a:solidFill>
                  <a:srgbClr val="1F2937"/>
                </a:solidFill>
                <a:latin typeface="Arial" pitchFamily="34" charset="0"/>
                <a:ea typeface="Arial" pitchFamily="34" charset="-122"/>
                <a:cs typeface="Arial" pitchFamily="34" charset="-120"/>
              </a:rPr>
              <a:t>   (EP7 STOP BAR — bases per field rev _1: remove fitting &amp; protect base, NO coring)</a:t>
            </a:r>
            <a:endParaRPr lang="en-US" sz="760" dirty="0"/>
          </a:p>
          <a:p>
            <a:pPr marL="0" indent="0">
              <a:lnSpc>
                <a:spcPct val="112000"/>
              </a:lnSpc>
              <a:buNone/>
            </a:pPr>
            <a:r>
              <a:rPr lang="en-US" sz="760" dirty="0">
                <a:solidFill>
                  <a:srgbClr val="1F2937"/>
                </a:solidFill>
                <a:latin typeface="Arial" pitchFamily="34" charset="0"/>
                <a:ea typeface="Arial" pitchFamily="34" charset="-122"/>
                <a:cs typeface="Arial" pitchFamily="34" charset="-120"/>
              </a:rPr>
              <a:t>NEW SECONDARY CABLE ONLY (VIA DUCT): 8 No.</a:t>
            </a:r>
            <a:endParaRPr lang="en-US" sz="760" dirty="0"/>
          </a:p>
          <a:p>
            <a:pPr marL="0" indent="0">
              <a:lnSpc>
                <a:spcPct val="112000"/>
              </a:lnSpc>
              <a:buNone/>
            </a:pPr>
            <a:r>
              <a:rPr lang="en-US" sz="760" dirty="0">
                <a:solidFill>
                  <a:srgbClr val="1F2937"/>
                </a:solidFill>
                <a:latin typeface="Arial" pitchFamily="34" charset="0"/>
                <a:ea typeface="Arial" pitchFamily="34" charset="-122"/>
                <a:cs typeface="Arial" pitchFamily="34" charset="-120"/>
              </a:rPr>
              <a:t>   • SBC102-01/040, 01/041, 02/037, 02/038, TCCECH-03/002, 04/002, 03/003, 04/003</a:t>
            </a:r>
            <a:endParaRPr lang="en-US" sz="760" dirty="0"/>
          </a:p>
          <a:p>
            <a:pPr marL="0" indent="0">
              <a:lnSpc>
                <a:spcPct val="112000"/>
              </a:lnSpc>
              <a:buNone/>
            </a:pPr>
            <a:r>
              <a:rPr lang="en-US" sz="760" dirty="0">
                <a:solidFill>
                  <a:srgbClr val="1F2937"/>
                </a:solidFill>
                <a:latin typeface="Arial" pitchFamily="34" charset="0"/>
                <a:ea typeface="Arial" pitchFamily="34" charset="-122"/>
                <a:cs typeface="Arial" pitchFamily="34" charset="-120"/>
              </a:rPr>
              <a:t>RRM.557 (0.07 m — treat as within works) &amp; RRM.670: REMOVE / PROTECT / RE-FIX</a:t>
            </a:r>
            <a:endParaRPr lang="en-US" sz="760" dirty="0"/>
          </a:p>
          <a:p>
            <a:pPr marL="0" indent="0">
              <a:lnSpc>
                <a:spcPct val="112000"/>
              </a:lnSpc>
              <a:buNone/>
            </a:pPr>
            <a:r>
              <a:rPr lang="en-US" sz="760" dirty="0">
                <a:solidFill>
                  <a:srgbClr val="1F2937"/>
                </a:solidFill>
                <a:latin typeface="Arial" pitchFamily="34" charset="0"/>
                <a:ea typeface="Arial" pitchFamily="34" charset="-122"/>
                <a:cs typeface="Arial" pitchFamily="34" charset="-120"/>
              </a:rPr>
              <a:t>ISOLATE CIRCUITS: SBC102.01/.02, TCCECH.03/.04</a:t>
            </a:r>
            <a:endParaRPr lang="en-US" sz="760" dirty="0"/>
          </a:p>
        </p:txBody>
      </p:sp>
      <p:sp>
        <p:nvSpPr>
          <p:cNvPr id="308" name="Shape 306"/>
          <p:cNvSpPr/>
          <p:nvPr/>
        </p:nvSpPr>
        <p:spPr>
          <a:xfrm>
            <a:off x="10104120" y="4207154"/>
            <a:ext cx="4709160" cy="2267712"/>
          </a:xfrm>
          <a:prstGeom prst="rect">
            <a:avLst/>
          </a:prstGeom>
          <a:solidFill>
            <a:srgbClr val="FFFFFF"/>
          </a:solidFill>
          <a:ln w="9525">
            <a:solidFill>
              <a:srgbClr val="D5DAE0"/>
            </a:solidFill>
            <a:prstDash val="solid"/>
          </a:ln>
        </p:spPr>
        <p:txBody>
          <a:bodyPr/>
          <a:lstStyle/>
          <a:p>
            <a:endParaRPr lang="en-US"/>
          </a:p>
        </p:txBody>
      </p:sp>
      <p:sp>
        <p:nvSpPr>
          <p:cNvPr id="309" name="Text 307"/>
          <p:cNvSpPr/>
          <p:nvPr/>
        </p:nvSpPr>
        <p:spPr>
          <a:xfrm>
            <a:off x="10241280" y="4280306"/>
            <a:ext cx="4434840" cy="219456"/>
          </a:xfrm>
          <a:prstGeom prst="rect">
            <a:avLst/>
          </a:prstGeom>
          <a:noFill/>
          <a:ln/>
        </p:spPr>
        <p:txBody>
          <a:bodyPr wrap="square" lIns="0" tIns="0" rIns="0" bIns="0" rtlCol="0" anchor="ctr"/>
          <a:lstStyle/>
          <a:p>
            <a:pPr marL="0" indent="0">
              <a:buNone/>
            </a:pPr>
            <a:r>
              <a:rPr lang="en-US" sz="950" b="1" dirty="0">
                <a:solidFill>
                  <a:srgbClr val="1E2761"/>
                </a:solidFill>
                <a:latin typeface="Arial" pitchFamily="34" charset="0"/>
                <a:ea typeface="Arial" pitchFamily="34" charset="-122"/>
                <a:cs typeface="Arial" pitchFamily="34" charset="-120"/>
              </a:rPr>
              <a:t>GENERAL NOTES</a:t>
            </a:r>
            <a:endParaRPr lang="en-US" sz="950" dirty="0"/>
          </a:p>
        </p:txBody>
      </p:sp>
      <p:sp>
        <p:nvSpPr>
          <p:cNvPr id="310" name="Text 308"/>
          <p:cNvSpPr/>
          <p:nvPr/>
        </p:nvSpPr>
        <p:spPr>
          <a:xfrm>
            <a:off x="10241280" y="4536338"/>
            <a:ext cx="4434840" cy="1883664"/>
          </a:xfrm>
          <a:prstGeom prst="rect">
            <a:avLst/>
          </a:prstGeom>
          <a:noFill/>
          <a:ln/>
        </p:spPr>
        <p:txBody>
          <a:bodyPr wrap="square" lIns="0" tIns="0" rIns="0" bIns="0" rtlCol="0" anchor="t"/>
          <a:lstStyle/>
          <a:p>
            <a:pPr marL="0" indent="0">
              <a:lnSpc>
                <a:spcPct val="110000"/>
              </a:lnSpc>
              <a:buNone/>
            </a:pPr>
            <a:endParaRPr lang="en-US" sz="680" dirty="0"/>
            <a:r>
              <a:rPr lang="en-US" sz="800" dirty="0">
                <a:solidFill>
                  <a:srgbClr val="5F6368"/>
                </a:solidFill>
                <a:latin typeface="Arial" pitchFamily="34" charset="0"/>
                <a:ea typeface="Arial" pitchFamily="34" charset="-122"/>
                <a:cs typeface="Arial" pitchFamily="34" charset="-120"/>
              </a:rPr>
              <a:t>1. Positions plotted are ZIA LOCAL PROJECT GRID metres — NOT UTM 40N. The Rev P06 "EPSG:32640" label was wrong; no surveyed local-to-UTM transform exists. Do not issue a UTM coordinate from this sheet.</a:t>
            </a:r>
          </a:p>
          <a:p>
            <a:pPr marL="0" indent="0">
              <a:lnSpc>
                <a:spcPct val="110000"/>
              </a:lnSpc>
              <a:buNone/>
            </a:pPr>
            <a:r>
              <a:rPr lang="en-US" sz="800" dirty="0">
                <a:solidFill>
                  <a:srgbClr val="5F6368"/>
                </a:solidFill>
                <a:latin typeface="Arial" pitchFamily="34" charset="0"/>
                <a:ea typeface="Arial" pitchFamily="34" charset="-122"/>
                <a:cs typeface="Arial" pitchFamily="34" charset="-120"/>
              </a:rPr>
              <a:t>2. AGL works area (red) per field condition. Coring at Location 1 only.</a:t>
            </a:r>
          </a:p>
          <a:p>
            <a:pPr marL="0" indent="0">
              <a:lnSpc>
                <a:spcPct val="110000"/>
              </a:lnSpc>
              <a:buNone/>
            </a:pPr>
            <a:r>
              <a:rPr lang="en-US" sz="800" dirty="0">
                <a:solidFill>
                  <a:srgbClr val="5F6368"/>
                </a:solidFill>
                <a:latin typeface="Arial" pitchFamily="34" charset="0"/>
                <a:ea typeface="Arial" pitchFamily="34" charset="-122"/>
                <a:cs typeface="Arial" pitchFamily="34" charset="-120"/>
              </a:rPr>
              <a:t>3. Duct / ductbank / conduit / sawcut lines are REAL as-built geometry from ADA drawing Z1-Z2-Z3-MTA_SEGMENTATION.dxf — not light-to-nearest-pit construction lines. Layer name carries size and way-count; see sheet 6.</a:t>
            </a:r>
          </a:p>
          <a:p>
            <a:pPr marL="0" indent="0">
              <a:lnSpc>
                <a:spcPct val="110000"/>
              </a:lnSpc>
              <a:buNone/>
            </a:pPr>
            <a:r>
              <a:rPr lang="en-US" sz="800" dirty="0">
                <a:solidFill>
                  <a:srgbClr val="5F6368"/>
                </a:solidFill>
                <a:latin typeface="Arial" pitchFamily="34" charset="0"/>
                <a:ea typeface="Arial" pitchFamily="34" charset="-122"/>
                <a:cs typeface="Arial" pitchFamily="34" charset="-120"/>
              </a:rPr>
              <a:t>4. Ducts are drawn as the separate segments they are in the source. Continuity NOT proven — do not take a continuous pull length off this sheet.</a:t>
            </a:r>
          </a:p>
          <a:p>
            <a:pPr marL="0" indent="0">
              <a:lnSpc>
                <a:spcPct val="110000"/>
              </a:lnSpc>
              <a:buNone/>
            </a:pPr>
            <a:r>
              <a:rPr lang="en-US" sz="800" dirty="0">
                <a:solidFill>
                  <a:srgbClr val="5F6368"/>
                </a:solidFill>
                <a:latin typeface="Arial" pitchFamily="34" charset="0"/>
                <a:ea typeface="Arial" pitchFamily="34" charset="-122"/>
                <a:cs typeface="Arial" pitchFamily="34" charset="-120"/>
              </a:rPr>
              <a:t>5. Isolate, lock out &amp; prove dead all listed circuits at CCR under permit before cutting, coring or excavation.</a:t>
            </a:r>
          </a:p>
          <a:p>
            <a:pPr marL="0" indent="0">
              <a:lnSpc>
                <a:spcPct val="110000"/>
              </a:lnSpc>
              <a:buNone/>
            </a:pPr>
            <a:r>
              <a:rPr lang="en-US" sz="800" dirty="0">
                <a:solidFill>
                  <a:srgbClr val="5F6368"/>
                </a:solidFill>
                <a:latin typeface="Arial" pitchFamily="34" charset="0"/>
                <a:ea typeface="Arial" pitchFamily="34" charset="-122"/>
                <a:cs typeface="Arial" pitchFamily="34" charset="-120"/>
              </a:rPr>
              <a:t>6. HH / MH / transformer-pit / RRM symbols sit ~2.1-2.3 m off the source insertion point (sheet 6) — set out civil features from survey.</a:t>
            </a:r>
          </a:p>
          <a:p>
            <a:pPr marL="0" indent="0">
              <a:lnSpc>
                <a:spcPct val="110000"/>
              </a:lnSpc>
              <a:buNone/>
            </a:pPr>
            <a:r>
              <a:rPr lang="en-US" sz="800" dirty="0">
                <a:solidFill>
                  <a:srgbClr val="5F6368"/>
                </a:solidFill>
                <a:latin typeface="Arial" pitchFamily="34" charset="0"/>
                <a:ea typeface="Arial" pitchFamily="34" charset="-122"/>
                <a:cs typeface="Arial" pitchFamily="34" charset="-120"/>
              </a:rPr>
              <a:t>7. Centerline &amp; stop bar from as-built TCC / SBC fittings. Edge indicative 23 m — confirm on site.</a:t>
            </a:r>
          </a:p>
        </p:txBody>
      </p:sp>
      <p:sp>
        <p:nvSpPr>
          <p:cNvPr id="311" name="Shape 309"/>
          <p:cNvSpPr/>
          <p:nvPr/>
        </p:nvSpPr>
        <p:spPr>
          <a:xfrm>
            <a:off x="10104120" y="6584594"/>
            <a:ext cx="4709160" cy="3419856"/>
          </a:xfrm>
          <a:prstGeom prst="rect">
            <a:avLst/>
          </a:prstGeom>
          <a:solidFill>
            <a:srgbClr val="F4F6F8"/>
          </a:solidFill>
          <a:ln w="9525">
            <a:solidFill>
              <a:srgbClr val="D5DAE0"/>
            </a:solidFill>
            <a:prstDash val="solid"/>
          </a:ln>
        </p:spPr>
        <p:txBody>
          <a:bodyPr/>
          <a:lstStyle/>
          <a:p>
            <a:endParaRPr lang="en-US"/>
          </a:p>
        </p:txBody>
      </p:sp>
      <p:sp>
        <p:nvSpPr>
          <p:cNvPr id="312" name="Text 310"/>
          <p:cNvSpPr/>
          <p:nvPr/>
        </p:nvSpPr>
        <p:spPr>
          <a:xfrm>
            <a:off x="10241280" y="6657746"/>
            <a:ext cx="4434840" cy="219456"/>
          </a:xfrm>
          <a:prstGeom prst="rect">
            <a:avLst/>
          </a:prstGeom>
          <a:noFill/>
          <a:ln/>
        </p:spPr>
        <p:txBody>
          <a:bodyPr wrap="square" lIns="0" tIns="0" rIns="0" bIns="0" rtlCol="0" anchor="ctr"/>
          <a:lstStyle/>
          <a:p>
            <a:pPr marL="0" indent="0">
              <a:buNone/>
            </a:pPr>
            <a:r>
              <a:rPr lang="en-US" sz="950" b="1" dirty="0">
                <a:solidFill>
                  <a:srgbClr val="1E2761"/>
                </a:solidFill>
                <a:latin typeface="Arial" pitchFamily="34" charset="0"/>
                <a:ea typeface="Arial" pitchFamily="34" charset="-122"/>
                <a:cs typeface="Arial" pitchFamily="34" charset="-120"/>
              </a:rPr>
              <a:t>LEGEND — WORKS ACTIONS (THIS SHEET)</a:t>
            </a:r>
            <a:endParaRPr lang="en-US" sz="950" dirty="0"/>
          </a:p>
        </p:txBody>
      </p:sp>
      <p:sp>
        <p:nvSpPr>
          <p:cNvPr id="313" name="Shape 311"/>
          <p:cNvSpPr/>
          <p:nvPr/>
        </p:nvSpPr>
        <p:spPr>
          <a:xfrm>
            <a:off x="10305288" y="6982358"/>
            <a:ext cx="192024" cy="192024"/>
          </a:xfrm>
          <a:prstGeom prst="ellipse">
            <a:avLst/>
          </a:prstGeom>
          <a:ln w="28575">
            <a:solidFill>
              <a:srgbClr val="E8710A"/>
            </a:solidFill>
            <a:prstDash val="solid"/>
          </a:ln>
        </p:spPr>
        <p:txBody>
          <a:bodyPr/>
          <a:lstStyle/>
          <a:p>
            <a:endParaRPr lang="en-US"/>
          </a:p>
        </p:txBody>
      </p:sp>
      <p:sp>
        <p:nvSpPr>
          <p:cNvPr id="314" name="Shape 312"/>
          <p:cNvSpPr/>
          <p:nvPr/>
        </p:nvSpPr>
        <p:spPr>
          <a:xfrm>
            <a:off x="10351008" y="7028078"/>
            <a:ext cx="100584" cy="100584"/>
          </a:xfrm>
          <a:prstGeom prst="ellipse">
            <a:avLst/>
          </a:prstGeom>
          <a:solidFill>
            <a:srgbClr val="1E8E3E"/>
          </a:solidFill>
          <a:ln w="6350">
            <a:solidFill>
              <a:srgbClr val="1E8E3E"/>
            </a:solidFill>
            <a:prstDash val="solid"/>
          </a:ln>
        </p:spPr>
        <p:txBody>
          <a:bodyPr/>
          <a:lstStyle/>
          <a:p>
            <a:endParaRPr lang="en-US"/>
          </a:p>
        </p:txBody>
      </p:sp>
      <p:sp>
        <p:nvSpPr>
          <p:cNvPr id="315" name="Text 313"/>
          <p:cNvSpPr/>
          <p:nvPr/>
        </p:nvSpPr>
        <p:spPr>
          <a:xfrm>
            <a:off x="10616184" y="6968642"/>
            <a:ext cx="4050792" cy="237744"/>
          </a:xfrm>
          <a:prstGeom prst="rect">
            <a:avLst/>
          </a:prstGeom>
          <a:noFill/>
          <a:ln/>
        </p:spPr>
        <p:txBody>
          <a:bodyPr wrap="square" lIns="0" tIns="0" rIns="0" bIns="0" rtlCol="0" anchor="ctr"/>
          <a:lstStyle/>
          <a:p>
            <a:pPr marL="0" indent="0">
              <a:buNone/>
            </a:pPr>
            <a:r>
              <a:rPr lang="en-US" sz="740" dirty="0">
                <a:solidFill>
                  <a:srgbClr val="1F2937"/>
                </a:solidFill>
                <a:latin typeface="Arial" pitchFamily="34" charset="0"/>
                <a:ea typeface="Arial" pitchFamily="34" charset="-122"/>
                <a:cs typeface="Arial" pitchFamily="34" charset="-120"/>
              </a:rPr>
              <a:t>NEW SEC. CABLE ONLY (SAWCUT) — outer orange / inner green</a:t>
            </a:r>
            <a:endParaRPr lang="en-US" sz="740" dirty="0"/>
          </a:p>
        </p:txBody>
      </p:sp>
      <p:sp>
        <p:nvSpPr>
          <p:cNvPr id="316" name="Shape 314"/>
          <p:cNvSpPr/>
          <p:nvPr/>
        </p:nvSpPr>
        <p:spPr>
          <a:xfrm>
            <a:off x="10305288" y="7256678"/>
            <a:ext cx="192024" cy="192024"/>
          </a:xfrm>
          <a:prstGeom prst="ellipse">
            <a:avLst/>
          </a:prstGeom>
          <a:ln w="28575">
            <a:solidFill>
              <a:srgbClr val="0055CC"/>
            </a:solidFill>
            <a:prstDash val="solid"/>
          </a:ln>
        </p:spPr>
        <p:txBody>
          <a:bodyPr/>
          <a:lstStyle/>
          <a:p>
            <a:endParaRPr lang="en-US"/>
          </a:p>
        </p:txBody>
      </p:sp>
      <p:sp>
        <p:nvSpPr>
          <p:cNvPr id="317" name="Shape 315"/>
          <p:cNvSpPr/>
          <p:nvPr/>
        </p:nvSpPr>
        <p:spPr>
          <a:xfrm>
            <a:off x="10351008" y="7302398"/>
            <a:ext cx="100584" cy="100584"/>
          </a:xfrm>
          <a:prstGeom prst="ellipse">
            <a:avLst/>
          </a:prstGeom>
          <a:solidFill>
            <a:srgbClr val="1E8E3E"/>
          </a:solidFill>
          <a:ln w="6350">
            <a:solidFill>
              <a:srgbClr val="1E8E3E"/>
            </a:solidFill>
            <a:prstDash val="solid"/>
          </a:ln>
        </p:spPr>
        <p:txBody>
          <a:bodyPr/>
          <a:lstStyle/>
          <a:p>
            <a:endParaRPr lang="en-US"/>
          </a:p>
        </p:txBody>
      </p:sp>
      <p:sp>
        <p:nvSpPr>
          <p:cNvPr id="318" name="Text 316"/>
          <p:cNvSpPr/>
          <p:nvPr/>
        </p:nvSpPr>
        <p:spPr>
          <a:xfrm>
            <a:off x="10616184" y="7242962"/>
            <a:ext cx="4050792" cy="237744"/>
          </a:xfrm>
          <a:prstGeom prst="rect">
            <a:avLst/>
          </a:prstGeom>
          <a:noFill/>
          <a:ln/>
        </p:spPr>
        <p:txBody>
          <a:bodyPr wrap="square" lIns="0" tIns="0" rIns="0" bIns="0" rtlCol="0" anchor="ctr"/>
          <a:lstStyle/>
          <a:p>
            <a:pPr marL="0" indent="0">
              <a:buNone/>
            </a:pPr>
            <a:r>
              <a:rPr lang="en-US" sz="740" dirty="0">
                <a:solidFill>
                  <a:srgbClr val="1F2937"/>
                </a:solidFill>
                <a:latin typeface="Arial" pitchFamily="34" charset="0"/>
                <a:ea typeface="Arial" pitchFamily="34" charset="-122"/>
                <a:cs typeface="Arial" pitchFamily="34" charset="-120"/>
              </a:rPr>
              <a:t>NEW SEC. CABLE ONLY (DUCT) — outer blue / inner green</a:t>
            </a:r>
            <a:endParaRPr lang="en-US" sz="740" dirty="0"/>
          </a:p>
        </p:txBody>
      </p:sp>
      <p:sp>
        <p:nvSpPr>
          <p:cNvPr id="319" name="Shape 317"/>
          <p:cNvSpPr/>
          <p:nvPr/>
        </p:nvSpPr>
        <p:spPr>
          <a:xfrm>
            <a:off x="10305288" y="7530998"/>
            <a:ext cx="192024" cy="192024"/>
          </a:xfrm>
          <a:prstGeom prst="ellipse">
            <a:avLst/>
          </a:prstGeom>
          <a:ln w="28575">
            <a:solidFill>
              <a:srgbClr val="BB00BB"/>
            </a:solidFill>
            <a:prstDash val="solid"/>
          </a:ln>
        </p:spPr>
        <p:txBody>
          <a:bodyPr/>
          <a:lstStyle/>
          <a:p>
            <a:endParaRPr lang="en-US"/>
          </a:p>
        </p:txBody>
      </p:sp>
      <p:sp>
        <p:nvSpPr>
          <p:cNvPr id="320" name="Shape 318"/>
          <p:cNvSpPr/>
          <p:nvPr/>
        </p:nvSpPr>
        <p:spPr>
          <a:xfrm>
            <a:off x="10351008" y="7576718"/>
            <a:ext cx="100584" cy="100584"/>
          </a:xfrm>
          <a:prstGeom prst="ellipse">
            <a:avLst/>
          </a:prstGeom>
          <a:solidFill>
            <a:srgbClr val="FFFFFF"/>
          </a:solidFill>
          <a:ln w="6350">
            <a:solidFill>
              <a:srgbClr val="FFFFFF"/>
            </a:solidFill>
            <a:prstDash val="solid"/>
          </a:ln>
        </p:spPr>
        <p:txBody>
          <a:bodyPr/>
          <a:lstStyle/>
          <a:p>
            <a:endParaRPr lang="en-US"/>
          </a:p>
        </p:txBody>
      </p:sp>
      <p:sp>
        <p:nvSpPr>
          <p:cNvPr id="321" name="Text 319"/>
          <p:cNvSpPr/>
          <p:nvPr/>
        </p:nvSpPr>
        <p:spPr>
          <a:xfrm>
            <a:off x="10616184" y="7517282"/>
            <a:ext cx="4050792" cy="237744"/>
          </a:xfrm>
          <a:prstGeom prst="rect">
            <a:avLst/>
          </a:prstGeom>
          <a:noFill/>
          <a:ln/>
        </p:spPr>
        <p:txBody>
          <a:bodyPr wrap="square" lIns="0" tIns="0" rIns="0" bIns="0" rtlCol="0" anchor="ctr"/>
          <a:lstStyle/>
          <a:p>
            <a:pPr marL="0" indent="0">
              <a:buNone/>
            </a:pPr>
            <a:r>
              <a:rPr lang="en-US" sz="740" dirty="0">
                <a:solidFill>
                  <a:srgbClr val="1F2937"/>
                </a:solidFill>
                <a:latin typeface="Arial" pitchFamily="34" charset="0"/>
                <a:ea typeface="Arial" pitchFamily="34" charset="-122"/>
                <a:cs typeface="Arial" pitchFamily="34" charset="-120"/>
              </a:rPr>
              <a:t>RRM — REMOVE / PROTECT / RE-FIX (magenta / white)</a:t>
            </a:r>
            <a:endParaRPr lang="en-US" sz="740" dirty="0"/>
          </a:p>
        </p:txBody>
      </p:sp>
      <p:sp>
        <p:nvSpPr>
          <p:cNvPr id="322" name="Shape 320"/>
          <p:cNvSpPr/>
          <p:nvPr/>
        </p:nvSpPr>
        <p:spPr>
          <a:xfrm>
            <a:off x="10351008" y="7855610"/>
            <a:ext cx="91440" cy="91440"/>
          </a:xfrm>
          <a:prstGeom prst="ellipse">
            <a:avLst/>
          </a:prstGeom>
          <a:solidFill>
            <a:srgbClr val="12A5B8"/>
          </a:solidFill>
          <a:ln w="6350">
            <a:solidFill>
              <a:srgbClr val="12A5B8"/>
            </a:solidFill>
            <a:prstDash val="solid"/>
          </a:ln>
        </p:spPr>
        <p:txBody>
          <a:bodyPr/>
          <a:lstStyle/>
          <a:p>
            <a:endParaRPr lang="en-US"/>
          </a:p>
        </p:txBody>
      </p:sp>
      <p:sp>
        <p:nvSpPr>
          <p:cNvPr id="323" name="Text 321"/>
          <p:cNvSpPr/>
          <p:nvPr/>
        </p:nvSpPr>
        <p:spPr>
          <a:xfrm>
            <a:off x="10616184" y="7791602"/>
            <a:ext cx="4050792" cy="237744"/>
          </a:xfrm>
          <a:prstGeom prst="rect">
            <a:avLst/>
          </a:prstGeom>
          <a:noFill/>
          <a:ln/>
        </p:spPr>
        <p:txBody>
          <a:bodyPr wrap="square" lIns="0" tIns="0" rIns="0" bIns="0" rtlCol="0" anchor="ctr"/>
          <a:lstStyle/>
          <a:p>
            <a:pPr marL="0" indent="0">
              <a:buNone/>
            </a:pPr>
            <a:r>
              <a:rPr lang="en-US" sz="740" dirty="0">
                <a:solidFill>
                  <a:srgbClr val="1F2937"/>
                </a:solidFill>
                <a:latin typeface="Arial" pitchFamily="34" charset="0"/>
                <a:ea typeface="Arial" pitchFamily="34" charset="-122"/>
                <a:cs typeface="Arial" pitchFamily="34" charset="-120"/>
              </a:rPr>
              <a:t>EXISTING AGL ASSET (AS-BUILT)</a:t>
            </a:r>
            <a:endParaRPr lang="en-US" sz="740" dirty="0"/>
          </a:p>
        </p:txBody>
      </p:sp>
      <p:sp>
        <p:nvSpPr>
          <p:cNvPr id="324" name="Shape 322"/>
          <p:cNvSpPr/>
          <p:nvPr/>
        </p:nvSpPr>
        <p:spPr>
          <a:xfrm>
            <a:off x="10268712" y="8175650"/>
            <a:ext cx="274320" cy="914"/>
          </a:xfrm>
          <a:prstGeom prst="line">
            <a:avLst/>
          </a:prstGeom>
          <a:noFill/>
          <a:ln w="22225">
            <a:solidFill>
              <a:srgbClr val="0B3D91"/>
            </a:solidFill>
            <a:prstDash val="solid"/>
          </a:ln>
        </p:spPr>
        <p:txBody>
          <a:bodyPr/>
          <a:lstStyle/>
          <a:p>
            <a:endParaRPr lang="en-US"/>
          </a:p>
        </p:txBody>
      </p:sp>
      <p:sp>
        <p:nvSpPr>
          <p:cNvPr id="325" name="Text 323"/>
          <p:cNvSpPr/>
          <p:nvPr/>
        </p:nvSpPr>
        <p:spPr>
          <a:xfrm>
            <a:off x="10616184" y="8065922"/>
            <a:ext cx="4050792" cy="237744"/>
          </a:xfrm>
          <a:prstGeom prst="rect">
            <a:avLst/>
          </a:prstGeom>
          <a:noFill/>
          <a:ln/>
        </p:spPr>
        <p:txBody>
          <a:bodyPr wrap="square" lIns="0" tIns="0" rIns="0" bIns="0" rtlCol="0" anchor="ctr"/>
          <a:lstStyle/>
          <a:p>
            <a:pPr marL="0" indent="0">
              <a:buNone/>
            </a:pPr>
            <a:endParaRPr lang="en-US" sz="740" dirty="0"/>
            <a:r>
              <a:rPr lang="en-US" sz="740" dirty="0">
                <a:solidFill>
                  <a:srgbClr val="1F2937"/>
                </a:solidFill>
                <a:latin typeface="Arial" pitchFamily="34" charset="0"/>
                <a:ea typeface="Arial" pitchFamily="34" charset="-122"/>
                <a:cs typeface="Arial" pitchFamily="34" charset="-120"/>
              </a:rPr>
              <a:t>AS-BUILT DUCT / DUCTBANK (navy 4×110, purple 6×110, pink crossing)</a:t>
            </a:r>
          </a:p>
        </p:txBody>
      </p:sp>
      <p:sp>
        <p:nvSpPr>
          <p:cNvPr id="326" name="Shape 324"/>
          <p:cNvSpPr/>
          <p:nvPr/>
        </p:nvSpPr>
        <p:spPr>
          <a:xfrm>
            <a:off x="10268712" y="8449970"/>
            <a:ext cx="274320" cy="914"/>
          </a:xfrm>
          <a:prstGeom prst="line">
            <a:avLst/>
          </a:prstGeom>
          <a:noFill/>
          <a:ln w="15875">
            <a:solidFill>
              <a:srgbClr val="00838F"/>
            </a:solidFill>
            <a:prstDash val="dash"/>
          </a:ln>
        </p:spPr>
        <p:txBody>
          <a:bodyPr/>
          <a:lstStyle/>
          <a:p>
            <a:endParaRPr lang="en-US"/>
          </a:p>
        </p:txBody>
      </p:sp>
      <p:sp>
        <p:nvSpPr>
          <p:cNvPr id="327" name="Text 325"/>
          <p:cNvSpPr/>
          <p:nvPr/>
        </p:nvSpPr>
        <p:spPr>
          <a:xfrm>
            <a:off x="10616184" y="8340242"/>
            <a:ext cx="4050792" cy="237744"/>
          </a:xfrm>
          <a:prstGeom prst="rect">
            <a:avLst/>
          </a:prstGeom>
          <a:noFill/>
          <a:ln/>
        </p:spPr>
        <p:txBody>
          <a:bodyPr wrap="square" lIns="0" tIns="0" rIns="0" bIns="0" rtlCol="0" anchor="ctr"/>
          <a:lstStyle/>
          <a:p>
            <a:pPr marL="0" indent="0">
              <a:buNone/>
            </a:pPr>
            <a:endParaRPr lang="en-US" sz="740" dirty="0"/>
            <a:r>
              <a:rPr lang="en-US" sz="740" dirty="0">
                <a:solidFill>
                  <a:srgbClr val="1F2937"/>
                </a:solidFill>
                <a:latin typeface="Arial" pitchFamily="34" charset="0"/>
                <a:ea typeface="Arial" pitchFamily="34" charset="-122"/>
                <a:cs typeface="Arial" pitchFamily="34" charset="-120"/>
              </a:rPr>
              <a:t>AS-BUILT SECONDARY CONDUIT (teal ex · green new · orange sawcut)</a:t>
            </a:r>
          </a:p>
        </p:txBody>
      </p:sp>
      <p:sp>
        <p:nvSpPr>
          <p:cNvPr id="328" name="Shape 326"/>
          <p:cNvSpPr/>
          <p:nvPr/>
        </p:nvSpPr>
        <p:spPr>
          <a:xfrm>
            <a:off x="10268712" y="8724290"/>
            <a:ext cx="274320" cy="914"/>
          </a:xfrm>
          <a:prstGeom prst="line">
            <a:avLst/>
          </a:prstGeom>
          <a:noFill/>
          <a:ln w="31750">
            <a:solidFill>
              <a:srgbClr val="CC0000"/>
            </a:solidFill>
            <a:prstDash val="solid"/>
          </a:ln>
        </p:spPr>
        <p:txBody>
          <a:bodyPr/>
          <a:lstStyle/>
          <a:p>
            <a:endParaRPr lang="en-US"/>
          </a:p>
        </p:txBody>
      </p:sp>
      <p:sp>
        <p:nvSpPr>
          <p:cNvPr id="329" name="Text 327"/>
          <p:cNvSpPr/>
          <p:nvPr/>
        </p:nvSpPr>
        <p:spPr>
          <a:xfrm>
            <a:off x="10616184" y="8614562"/>
            <a:ext cx="4050792" cy="237744"/>
          </a:xfrm>
          <a:prstGeom prst="rect">
            <a:avLst/>
          </a:prstGeom>
          <a:noFill/>
          <a:ln/>
        </p:spPr>
        <p:txBody>
          <a:bodyPr wrap="square" lIns="0" tIns="0" rIns="0" bIns="0" rtlCol="0" anchor="ctr"/>
          <a:lstStyle/>
          <a:p>
            <a:pPr marL="0" indent="0">
              <a:buNone/>
            </a:pPr>
            <a:r>
              <a:rPr lang="en-US" sz="740" dirty="0">
                <a:solidFill>
                  <a:srgbClr val="1F2937"/>
                </a:solidFill>
                <a:latin typeface="Arial" pitchFamily="34" charset="0"/>
                <a:ea typeface="Arial" pitchFamily="34" charset="-122"/>
                <a:cs typeface="Arial" pitchFamily="34" charset="-120"/>
              </a:rPr>
              <a:t>AGL WORKS AREA — FIELD CONDITION (GOVERNING)</a:t>
            </a:r>
            <a:endParaRPr lang="en-US" sz="740" dirty="0"/>
          </a:p>
        </p:txBody>
      </p:sp>
      <p:sp>
        <p:nvSpPr>
          <p:cNvPr id="330" name="Shape 328"/>
          <p:cNvSpPr/>
          <p:nvPr/>
        </p:nvSpPr>
        <p:spPr>
          <a:xfrm>
            <a:off x="10268712" y="8998610"/>
            <a:ext cx="274320" cy="914"/>
          </a:xfrm>
          <a:prstGeom prst="line">
            <a:avLst/>
          </a:prstGeom>
          <a:noFill/>
          <a:ln w="19050">
            <a:solidFill>
              <a:srgbClr val="C7A400"/>
            </a:solidFill>
            <a:prstDash val="dashDot"/>
          </a:ln>
        </p:spPr>
        <p:txBody>
          <a:bodyPr/>
          <a:lstStyle/>
          <a:p>
            <a:endParaRPr lang="en-US"/>
          </a:p>
        </p:txBody>
      </p:sp>
      <p:sp>
        <p:nvSpPr>
          <p:cNvPr id="331" name="Text 329"/>
          <p:cNvSpPr/>
          <p:nvPr/>
        </p:nvSpPr>
        <p:spPr>
          <a:xfrm>
            <a:off x="10616184" y="8888882"/>
            <a:ext cx="4050792" cy="237744"/>
          </a:xfrm>
          <a:prstGeom prst="rect">
            <a:avLst/>
          </a:prstGeom>
          <a:noFill/>
          <a:ln/>
        </p:spPr>
        <p:txBody>
          <a:bodyPr wrap="square" lIns="0" tIns="0" rIns="0" bIns="0" rtlCol="0" anchor="ctr"/>
          <a:lstStyle/>
          <a:p>
            <a:pPr marL="0" indent="0">
              <a:buNone/>
            </a:pPr>
            <a:r>
              <a:rPr lang="en-US" sz="740" dirty="0">
                <a:solidFill>
                  <a:srgbClr val="1F2937"/>
                </a:solidFill>
                <a:latin typeface="Arial" pitchFamily="34" charset="0"/>
                <a:ea typeface="Arial" pitchFamily="34" charset="-122"/>
                <a:cs typeface="Arial" pitchFamily="34" charset="-120"/>
              </a:rPr>
              <a:t>TAXIWAY CENTERLINE (AS-BUILT, THROUGH TCC FITTINGS)</a:t>
            </a:r>
            <a:endParaRPr lang="en-US" sz="740" dirty="0"/>
          </a:p>
        </p:txBody>
      </p:sp>
      <p:sp>
        <p:nvSpPr>
          <p:cNvPr id="332" name="Shape 330"/>
          <p:cNvSpPr/>
          <p:nvPr/>
        </p:nvSpPr>
        <p:spPr>
          <a:xfrm>
            <a:off x="10268712" y="9272930"/>
            <a:ext cx="274320" cy="914"/>
          </a:xfrm>
          <a:prstGeom prst="line">
            <a:avLst/>
          </a:prstGeom>
          <a:noFill/>
          <a:ln w="28575">
            <a:solidFill>
              <a:srgbClr val="8B0000"/>
            </a:solidFill>
            <a:prstDash val="solid"/>
          </a:ln>
        </p:spPr>
        <p:txBody>
          <a:bodyPr/>
          <a:lstStyle/>
          <a:p>
            <a:endParaRPr lang="en-US"/>
          </a:p>
        </p:txBody>
      </p:sp>
      <p:sp>
        <p:nvSpPr>
          <p:cNvPr id="333" name="Text 331"/>
          <p:cNvSpPr/>
          <p:nvPr/>
        </p:nvSpPr>
        <p:spPr>
          <a:xfrm>
            <a:off x="10616184" y="9163202"/>
            <a:ext cx="4050792" cy="237744"/>
          </a:xfrm>
          <a:prstGeom prst="rect">
            <a:avLst/>
          </a:prstGeom>
          <a:noFill/>
          <a:ln/>
        </p:spPr>
        <p:txBody>
          <a:bodyPr wrap="square" lIns="0" tIns="0" rIns="0" bIns="0" rtlCol="0" anchor="ctr"/>
          <a:lstStyle/>
          <a:p>
            <a:pPr marL="0" indent="0">
              <a:buNone/>
            </a:pPr>
            <a:r>
              <a:rPr lang="en-US" sz="740" dirty="0">
                <a:solidFill>
                  <a:srgbClr val="1F2937"/>
                </a:solidFill>
                <a:latin typeface="Arial" pitchFamily="34" charset="0"/>
                <a:ea typeface="Arial" pitchFamily="34" charset="-122"/>
                <a:cs typeface="Arial" pitchFamily="34" charset="-120"/>
              </a:rPr>
              <a:t>STOP BAR (AS-BUILT, THROUGH SBC FITTINGS)</a:t>
            </a:r>
            <a:endParaRPr lang="en-US" sz="740" dirty="0"/>
          </a:p>
        </p:txBody>
      </p:sp>
      <p:sp>
        <p:nvSpPr>
          <p:cNvPr id="334" name="Shape 332"/>
          <p:cNvSpPr/>
          <p:nvPr/>
        </p:nvSpPr>
        <p:spPr>
          <a:xfrm>
            <a:off x="10268712" y="9547250"/>
            <a:ext cx="274320" cy="914"/>
          </a:xfrm>
          <a:prstGeom prst="line">
            <a:avLst/>
          </a:prstGeom>
          <a:noFill/>
          <a:ln w="12700">
            <a:solidFill>
              <a:srgbClr val="7A8288"/>
            </a:solidFill>
            <a:prstDash val="solid"/>
          </a:ln>
        </p:spPr>
        <p:txBody>
          <a:bodyPr/>
          <a:lstStyle/>
          <a:p>
            <a:endParaRPr lang="en-US"/>
          </a:p>
        </p:txBody>
      </p:sp>
      <p:sp>
        <p:nvSpPr>
          <p:cNvPr id="335" name="Text 333"/>
          <p:cNvSpPr/>
          <p:nvPr/>
        </p:nvSpPr>
        <p:spPr>
          <a:xfrm>
            <a:off x="10616184" y="9437522"/>
            <a:ext cx="4050792" cy="237744"/>
          </a:xfrm>
          <a:prstGeom prst="rect">
            <a:avLst/>
          </a:prstGeom>
          <a:noFill/>
          <a:ln/>
        </p:spPr>
        <p:txBody>
          <a:bodyPr wrap="square" lIns="0" tIns="0" rIns="0" bIns="0" rtlCol="0" anchor="ctr"/>
          <a:lstStyle/>
          <a:p>
            <a:pPr marL="0" indent="0">
              <a:buNone/>
            </a:pPr>
            <a:r>
              <a:rPr lang="en-US" sz="740" dirty="0">
                <a:solidFill>
                  <a:srgbClr val="1F2937"/>
                </a:solidFill>
                <a:latin typeface="Arial" pitchFamily="34" charset="0"/>
                <a:ea typeface="Arial" pitchFamily="34" charset="-122"/>
                <a:cs typeface="Arial" pitchFamily="34" charset="-120"/>
              </a:rPr>
              <a:t>TWY EDGE / PAVEMENT BOUNDARY (INDICATIVE 23 m — CONFIRM ON SITE)</a:t>
            </a:r>
            <a:endParaRPr lang="en-US" sz="740" dirty="0"/>
          </a:p>
        </p:txBody>
      </p:sp>
      <p:sp>
        <p:nvSpPr>
          <p:cNvPr id="336" name="Shape 334"/>
          <p:cNvSpPr/>
          <p:nvPr/>
        </p:nvSpPr>
        <p:spPr>
          <a:xfrm>
            <a:off x="10287000" y="9739274"/>
            <a:ext cx="219456" cy="146304"/>
          </a:xfrm>
          <a:prstGeom prst="rect">
            <a:avLst/>
          </a:prstGeom>
          <a:ln w="19050">
            <a:solidFill>
              <a:srgbClr val="BB00BB"/>
            </a:solidFill>
            <a:prstDash val="solid"/>
          </a:ln>
        </p:spPr>
        <p:txBody>
          <a:bodyPr/>
          <a:lstStyle/>
          <a:p>
            <a:endParaRPr lang="en-US"/>
          </a:p>
        </p:txBody>
      </p:sp>
      <p:sp>
        <p:nvSpPr>
          <p:cNvPr id="337" name="Text 335"/>
          <p:cNvSpPr/>
          <p:nvPr/>
        </p:nvSpPr>
        <p:spPr>
          <a:xfrm>
            <a:off x="10616184" y="9711842"/>
            <a:ext cx="4050792" cy="237744"/>
          </a:xfrm>
          <a:prstGeom prst="rect">
            <a:avLst/>
          </a:prstGeom>
          <a:noFill/>
          <a:ln/>
        </p:spPr>
        <p:txBody>
          <a:bodyPr wrap="square" lIns="0" tIns="0" rIns="0" bIns="0" rtlCol="0" anchor="ctr"/>
          <a:lstStyle/>
          <a:p>
            <a:pPr marL="0" indent="0">
              <a:buNone/>
            </a:pPr>
            <a:r>
              <a:rPr lang="en-US" sz="740" dirty="0">
                <a:solidFill>
                  <a:srgbClr val="1F2937"/>
                </a:solidFill>
                <a:latin typeface="Arial" pitchFamily="34" charset="0"/>
                <a:ea typeface="Arial" pitchFamily="34" charset="-122"/>
                <a:cs typeface="Arial" pitchFamily="34" charset="-120"/>
              </a:rPr>
              <a:t>AGL FEED MANHOLE / HANDHOLE</a:t>
            </a:r>
            <a:endParaRPr lang="en-US" sz="74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74320"/>
            <a:ext cx="14173200" cy="502920"/>
          </a:xfrm>
          <a:prstGeom prst="rect">
            <a:avLst/>
          </a:prstGeom>
          <a:noFill/>
          <a:ln/>
        </p:spPr>
        <p:txBody>
          <a:bodyPr wrap="square" lIns="0" tIns="0" rIns="0" bIns="0" rtlCol="0" anchor="ctr"/>
          <a:lstStyle/>
          <a:p>
            <a:pPr marL="0" indent="0">
              <a:buNone/>
            </a:pPr>
            <a:r>
              <a:rPr lang="en-US" sz="2000" b="1" dirty="0">
                <a:solidFill>
                  <a:srgbClr val="1E2761"/>
                </a:solidFill>
                <a:latin typeface="Arial" pitchFamily="34" charset="0"/>
                <a:ea typeface="Arial" pitchFamily="34" charset="-122"/>
                <a:cs typeface="Arial" pitchFamily="34" charset="-120"/>
              </a:rPr>
              <a:t>CONSOLIDATED FIELD-GOVERNED SCOPE — TWY E (E4–E6) · REV P06</a:t>
            </a:r>
            <a:endParaRPr lang="en-US" sz="20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457200" y="960120"/>
          <a:ext cx="14173200" cy="914400"/>
        </p:xfrm>
        <a:graphic>
          <a:graphicData uri="http://schemas.openxmlformats.org/drawingml/2006/table">
            <a:tbl>
              <a:tblPr/>
              <a:tblGrid>
                <a:gridCol w="1005840">
                  <a:extLst>
                    <a:ext uri="{9D8B030D-6E8A-4147-A177-3AD203B41FA5}">
                      <a16:colId xmlns:a16="http://schemas.microsoft.com/office/drawing/2014/main" val="20000"/>
                    </a:ext>
                  </a:extLst>
                </a:gridCol>
                <a:gridCol w="210312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1097280">
                  <a:extLst>
                    <a:ext uri="{9D8B030D-6E8A-4147-A177-3AD203B41FA5}">
                      <a16:colId xmlns:a16="http://schemas.microsoft.com/office/drawing/2014/main" val="20003"/>
                    </a:ext>
                  </a:extLst>
                </a:gridCol>
                <a:gridCol w="6858000">
                  <a:extLst>
                    <a:ext uri="{9D8B030D-6E8A-4147-A177-3AD203B41FA5}">
                      <a16:colId xmlns:a16="http://schemas.microsoft.com/office/drawing/2014/main" val="20004"/>
                    </a:ext>
                  </a:extLst>
                </a:gridCol>
              </a:tblGrid>
              <a:tr h="219456">
                <a:tc>
                  <a:txBody>
                    <a:bodyPr/>
                    <a:lstStyle/>
                    <a:p>
                      <a:pPr marL="0" indent="0">
                        <a:buNone/>
                      </a:pPr>
                      <a:r>
                        <a:rPr lang="en-US" sz="900" b="1" dirty="0">
                          <a:solidFill>
                            <a:srgbClr val="FFFFFF"/>
                          </a:solidFill>
                          <a:latin typeface="Arial" pitchFamily="34" charset="0"/>
                          <a:ea typeface="Arial" pitchFamily="34" charset="-122"/>
                          <a:cs typeface="Arial" pitchFamily="34" charset="-120"/>
                        </a:rPr>
                        <a:t>Loc</a:t>
                      </a:r>
                      <a:endParaRPr lang="en-US" sz="9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solidFill>
                      <a:srgbClr val="1E2761"/>
                    </a:solidFill>
                  </a:tcPr>
                </a:tc>
                <a:tc>
                  <a:txBody>
                    <a:bodyPr/>
                    <a:lstStyle/>
                    <a:p>
                      <a:pPr marL="0" indent="0">
                        <a:buNone/>
                      </a:pPr>
                      <a:r>
                        <a:rPr lang="en-US" sz="900" b="1" dirty="0">
                          <a:solidFill>
                            <a:srgbClr val="FFFFFF"/>
                          </a:solidFill>
                          <a:latin typeface="Arial" pitchFamily="34" charset="0"/>
                          <a:ea typeface="Arial" pitchFamily="34" charset="-122"/>
                          <a:cs typeface="Arial" pitchFamily="34" charset="-120"/>
                        </a:rPr>
                        <a:t>Asset</a:t>
                      </a:r>
                      <a:endParaRPr lang="en-US" sz="9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solidFill>
                      <a:srgbClr val="1E2761"/>
                    </a:solidFill>
                  </a:tcPr>
                </a:tc>
                <a:tc>
                  <a:txBody>
                    <a:bodyPr/>
                    <a:lstStyle/>
                    <a:p>
                      <a:pPr marL="0" indent="0">
                        <a:buNone/>
                      </a:pPr>
                      <a:r>
                        <a:rPr lang="en-US" sz="900" b="1" dirty="0">
                          <a:solidFill>
                            <a:srgbClr val="FFFFFF"/>
                          </a:solidFill>
                          <a:latin typeface="Arial" pitchFamily="34" charset="0"/>
                          <a:ea typeface="Arial" pitchFamily="34" charset="-122"/>
                          <a:cs typeface="Arial" pitchFamily="34" charset="-120"/>
                        </a:rPr>
                        <a:t>Works Action</a:t>
                      </a:r>
                      <a:endParaRPr lang="en-US" sz="9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solidFill>
                      <a:srgbClr val="1E2761"/>
                    </a:solidFill>
                  </a:tcPr>
                </a:tc>
                <a:tc>
                  <a:txBody>
                    <a:bodyPr/>
                    <a:lstStyle/>
                    <a:p>
                      <a:pPr marL="0" indent="0">
                        <a:buNone/>
                      </a:pPr>
                      <a:r>
                        <a:rPr lang="en-US" sz="900" b="1" dirty="0">
                          <a:solidFill>
                            <a:srgbClr val="FFFFFF"/>
                          </a:solidFill>
                          <a:latin typeface="Arial" pitchFamily="34" charset="0"/>
                          <a:ea typeface="Arial" pitchFamily="34" charset="-122"/>
                          <a:cs typeface="Arial" pitchFamily="34" charset="-120"/>
                        </a:rPr>
                        <a:t>Route</a:t>
                      </a:r>
                      <a:endParaRPr lang="en-US" sz="9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solidFill>
                      <a:srgbClr val="1E2761"/>
                    </a:solidFill>
                  </a:tcPr>
                </a:tc>
                <a:tc>
                  <a:txBody>
                    <a:bodyPr/>
                    <a:lstStyle/>
                    <a:p>
                      <a:pPr marL="0" indent="0">
                        <a:buNone/>
                      </a:pPr>
                      <a:r>
                        <a:rPr lang="en-US" sz="900" b="1" dirty="0">
                          <a:solidFill>
                            <a:srgbClr val="FFFFFF"/>
                          </a:solidFill>
                          <a:latin typeface="Arial" pitchFamily="34" charset="0"/>
                          <a:ea typeface="Arial" pitchFamily="34" charset="-122"/>
                          <a:cs typeface="Arial" pitchFamily="34" charset="-120"/>
                        </a:rPr>
                        <a:t>Remarks</a:t>
                      </a:r>
                      <a:endParaRPr lang="en-US" sz="9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solidFill>
                      <a:srgbClr val="1E2761"/>
                    </a:solidFill>
                  </a:tcPr>
                </a:tc>
                <a:extLst>
                  <a:ext uri="{0D108BD9-81ED-4DB2-BD59-A6C34878D82A}">
                    <a16:rowId xmlns:a16="http://schemas.microsoft.com/office/drawing/2014/main" val="10000"/>
                  </a:ext>
                </a:extLst>
              </a:tr>
              <a:tr h="219456">
                <a:tc>
                  <a:txBody>
                    <a:bodyPr/>
                    <a:lstStyle/>
                    <a:p>
                      <a:pPr marL="0" indent="0">
                        <a:buNone/>
                      </a:pPr>
                      <a:r>
                        <a:rPr lang="en-US" sz="800" dirty="0">
                          <a:solidFill>
                            <a:srgbClr val="1F2937"/>
                          </a:solidFill>
                          <a:latin typeface="Arial" pitchFamily="34" charset="0"/>
                          <a:ea typeface="Arial" pitchFamily="34" charset="-122"/>
                          <a:cs typeface="Arial" pitchFamily="34" charset="-120"/>
                        </a:rPr>
                        <a:t>LOC-01</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lang="en-US" sz="800" b="1" dirty="0">
                          <a:solidFill>
                            <a:srgbClr val="1F2937"/>
                          </a:solidFill>
                          <a:latin typeface="Arial" pitchFamily="34" charset="0"/>
                          <a:ea typeface="Arial" pitchFamily="34" charset="-122"/>
                          <a:cs typeface="Arial" pitchFamily="34" charset="-120"/>
                        </a:rPr>
                        <a:t>SBC102-02/024</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lang="en-US" sz="800" dirty="0">
                          <a:solidFill>
                            <a:srgbClr val="1F2937"/>
                          </a:solidFill>
                          <a:latin typeface="Arial" pitchFamily="34" charset="0"/>
                          <a:ea typeface="Arial" pitchFamily="34" charset="-122"/>
                          <a:cs typeface="Arial" pitchFamily="34" charset="-120"/>
                        </a:rPr>
                        <a:t>CORE OUT + NEW CABLE</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lang="en-US" sz="800" dirty="0">
                          <a:solidFill>
                            <a:srgbClr val="1F2937"/>
                          </a:solidFill>
                          <a:latin typeface="Arial" pitchFamily="34" charset="0"/>
                          <a:ea typeface="Arial" pitchFamily="34" charset="-122"/>
                          <a:cs typeface="Arial" pitchFamily="34" charset="-120"/>
                        </a:rPr>
                        <a:t>Duct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lang="en-US" sz="800" dirty="0">
                          <a:solidFill>
                            <a:srgbClr val="1F2937"/>
                          </a:solidFill>
                          <a:latin typeface="Arial" pitchFamily="34" charset="0"/>
                          <a:ea typeface="Arial" pitchFamily="34" charset="-122"/>
                          <a:cs typeface="Arial" pitchFamily="34" charset="-120"/>
                        </a:rPr>
                        <a:t>Core out shallow base + full cable replacement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01"/>
                  </a:ext>
                </a:extLst>
              </a:tr>
              <a:tr h="219456">
                <a:tc>
                  <a:txBody>
                    <a:bodyPr/>
                    <a:lstStyle/>
                    <a:p>
                      <a:pPr marL="0" indent="0">
                        <a:buNone/>
                      </a:pPr>
                      <a:r>
                        <a:rPr lang="en-US" sz="800" dirty="0">
                          <a:solidFill>
                            <a:srgbClr val="1F2937"/>
                          </a:solidFill>
                          <a:latin typeface="Arial" pitchFamily="34" charset="0"/>
                          <a:ea typeface="Arial" pitchFamily="34" charset="-122"/>
                          <a:cs typeface="Arial" pitchFamily="34" charset="-120"/>
                        </a:rPr>
                        <a:t>LOC-01</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lang="en-US" sz="800" b="1" dirty="0">
                          <a:solidFill>
                            <a:srgbClr val="1F2937"/>
                          </a:solidFill>
                          <a:latin typeface="Arial" pitchFamily="34" charset="0"/>
                          <a:ea typeface="Arial" pitchFamily="34" charset="-122"/>
                          <a:cs typeface="Arial" pitchFamily="34" charset="-120"/>
                        </a:rPr>
                        <a:t>SBC102-01/027</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lang="en-US" sz="800" dirty="0">
                          <a:solidFill>
                            <a:srgbClr val="1F2937"/>
                          </a:solidFill>
                          <a:latin typeface="Arial" pitchFamily="34" charset="0"/>
                          <a:ea typeface="Arial" pitchFamily="34" charset="-122"/>
                          <a:cs typeface="Arial" pitchFamily="34" charset="-120"/>
                        </a:rPr>
                        <a:t>CORE OUT + NEW CABLE</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lang="en-US" sz="800" dirty="0">
                          <a:solidFill>
                            <a:srgbClr val="1F2937"/>
                          </a:solidFill>
                          <a:latin typeface="Arial" pitchFamily="34" charset="0"/>
                          <a:ea typeface="Arial" pitchFamily="34" charset="-122"/>
                          <a:cs typeface="Arial" pitchFamily="34" charset="-120"/>
                        </a:rPr>
                        <a:t>Duct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lang="en-US" sz="800" dirty="0">
                          <a:solidFill>
                            <a:srgbClr val="1F2937"/>
                          </a:solidFill>
                          <a:latin typeface="Arial" pitchFamily="34" charset="0"/>
                          <a:ea typeface="Arial" pitchFamily="34" charset="-122"/>
                          <a:cs typeface="Arial" pitchFamily="34" charset="-120"/>
                        </a:rPr>
                        <a:t>Core out shallow base + full cable replacement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02"/>
                  </a:ext>
                </a:extLst>
              </a:tr>
              <a:tr h="219456">
                <a:tc>
                  <a:txBody>
                    <a:bodyPr/>
                    <a:lstStyle/>
                    <a:p>
                      <a:pPr marL="0" indent="0">
                        <a:buNone/>
                      </a:pPr>
                      <a:r>
                        <a:rPr lang="en-US" sz="800" dirty="0">
                          <a:solidFill>
                            <a:srgbClr val="1F2937"/>
                          </a:solidFill>
                          <a:latin typeface="Arial" pitchFamily="34" charset="0"/>
                          <a:ea typeface="Arial" pitchFamily="34" charset="-122"/>
                          <a:cs typeface="Arial" pitchFamily="34" charset="-120"/>
                        </a:rPr>
                        <a:t>LOC-01</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lang="en-US" sz="800" b="1" dirty="0">
                          <a:solidFill>
                            <a:srgbClr val="1F2937"/>
                          </a:solidFill>
                          <a:latin typeface="Arial" pitchFamily="34" charset="0"/>
                          <a:ea typeface="Arial" pitchFamily="34" charset="-122"/>
                          <a:cs typeface="Arial" pitchFamily="34" charset="-120"/>
                        </a:rPr>
                        <a:t>SBC102-02/025</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lang="en-US" sz="800" dirty="0">
                          <a:solidFill>
                            <a:srgbClr val="1F2937"/>
                          </a:solidFill>
                          <a:latin typeface="Arial" pitchFamily="34" charset="0"/>
                          <a:ea typeface="Arial" pitchFamily="34" charset="-122"/>
                          <a:cs typeface="Arial" pitchFamily="34" charset="-120"/>
                        </a:rPr>
                        <a:t>CORE OUT + NEW CABLE</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lang="en-US" sz="800" dirty="0">
                          <a:solidFill>
                            <a:srgbClr val="1F2937"/>
                          </a:solidFill>
                          <a:latin typeface="Arial" pitchFamily="34" charset="0"/>
                          <a:ea typeface="Arial" pitchFamily="34" charset="-122"/>
                          <a:cs typeface="Arial" pitchFamily="34" charset="-120"/>
                        </a:rPr>
                        <a:t>Duct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lang="en-US" sz="800" dirty="0">
                          <a:solidFill>
                            <a:srgbClr val="1F2937"/>
                          </a:solidFill>
                          <a:latin typeface="Arial" pitchFamily="34" charset="0"/>
                          <a:ea typeface="Arial" pitchFamily="34" charset="-122"/>
                          <a:cs typeface="Arial" pitchFamily="34" charset="-120"/>
                        </a:rPr>
                        <a:t>Core out shallow base + full cable replacement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03"/>
                  </a:ext>
                </a:extLst>
              </a:tr>
              <a:tr h="219456">
                <a:tc>
                  <a:txBody>
                    <a:bodyPr/>
                    <a:lstStyle/>
                    <a:p>
                      <a:pPr marL="0" indent="0">
                        <a:buNone/>
                      </a:pPr>
                      <a:r>
                        <a:rPr lang="en-US" sz="800" dirty="0">
                          <a:solidFill>
                            <a:srgbClr val="1F2937"/>
                          </a:solidFill>
                          <a:latin typeface="Arial" pitchFamily="34" charset="0"/>
                          <a:ea typeface="Arial" pitchFamily="34" charset="-122"/>
                          <a:cs typeface="Arial" pitchFamily="34" charset="-120"/>
                        </a:rPr>
                        <a:t>LOC-01</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lang="en-US" sz="800" b="1" dirty="0">
                          <a:solidFill>
                            <a:srgbClr val="1F2937"/>
                          </a:solidFill>
                          <a:latin typeface="Arial" pitchFamily="34" charset="0"/>
                          <a:ea typeface="Arial" pitchFamily="34" charset="-122"/>
                          <a:cs typeface="Arial" pitchFamily="34" charset="-120"/>
                        </a:rPr>
                        <a:t>SBC102-01/028</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lang="en-US" sz="800" dirty="0">
                          <a:solidFill>
                            <a:srgbClr val="1F2937"/>
                          </a:solidFill>
                          <a:latin typeface="Arial" pitchFamily="34" charset="0"/>
                          <a:ea typeface="Arial" pitchFamily="34" charset="-122"/>
                          <a:cs typeface="Arial" pitchFamily="34" charset="-120"/>
                        </a:rPr>
                        <a:t>CORE OUT + NEW CABLE</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lang="en-US" sz="800" dirty="0">
                          <a:solidFill>
                            <a:srgbClr val="1F2937"/>
                          </a:solidFill>
                          <a:latin typeface="Arial" pitchFamily="34" charset="0"/>
                          <a:ea typeface="Arial" pitchFamily="34" charset="-122"/>
                          <a:cs typeface="Arial" pitchFamily="34" charset="-120"/>
                        </a:rPr>
                        <a:t>Duct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lang="en-US" sz="800" dirty="0">
                          <a:solidFill>
                            <a:srgbClr val="1F2937"/>
                          </a:solidFill>
                          <a:latin typeface="Arial" pitchFamily="34" charset="0"/>
                          <a:ea typeface="Arial" pitchFamily="34" charset="-122"/>
                          <a:cs typeface="Arial" pitchFamily="34" charset="-120"/>
                        </a:rPr>
                        <a:t>Core out shallow base + full cable replacement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04"/>
                  </a:ext>
                </a:extLst>
              </a:tr>
              <a:tr h="219456">
                <a:tc>
                  <a:txBody>
                    <a:bodyPr/>
                    <a:lstStyle/>
                    <a:p>
                      <a:pPr marL="0" indent="0">
                        <a:buNone/>
                      </a:pPr>
                      <a:r>
                        <a:rPr lang="en-US" sz="800" dirty="0">
                          <a:solidFill>
                            <a:srgbClr val="1F2937"/>
                          </a:solidFill>
                          <a:latin typeface="Arial" pitchFamily="34" charset="0"/>
                          <a:ea typeface="Arial" pitchFamily="34" charset="-122"/>
                          <a:cs typeface="Arial" pitchFamily="34" charset="-120"/>
                        </a:rPr>
                        <a:t>LOC-01</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lang="en-US" sz="800" b="1" dirty="0">
                          <a:solidFill>
                            <a:srgbClr val="1F2937"/>
                          </a:solidFill>
                          <a:latin typeface="Arial" pitchFamily="34" charset="0"/>
                          <a:ea typeface="Arial" pitchFamily="34" charset="-122"/>
                          <a:cs typeface="Arial" pitchFamily="34" charset="-120"/>
                        </a:rPr>
                        <a:t>SBC102-02/026</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lang="en-US" sz="800" dirty="0">
                          <a:solidFill>
                            <a:srgbClr val="1F2937"/>
                          </a:solidFill>
                          <a:latin typeface="Arial" pitchFamily="34" charset="0"/>
                          <a:ea typeface="Arial" pitchFamily="34" charset="-122"/>
                          <a:cs typeface="Arial" pitchFamily="34" charset="-120"/>
                        </a:rPr>
                        <a:t>CORE OUT + NEW CABLE</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lang="en-US" sz="800" dirty="0">
                          <a:solidFill>
                            <a:srgbClr val="1F2937"/>
                          </a:solidFill>
                          <a:latin typeface="Arial" pitchFamily="34" charset="0"/>
                          <a:ea typeface="Arial" pitchFamily="34" charset="-122"/>
                          <a:cs typeface="Arial" pitchFamily="34" charset="-120"/>
                        </a:rPr>
                        <a:t>Duct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lang="en-US" sz="800" dirty="0">
                          <a:solidFill>
                            <a:srgbClr val="1F2937"/>
                          </a:solidFill>
                          <a:latin typeface="Arial" pitchFamily="34" charset="0"/>
                          <a:ea typeface="Arial" pitchFamily="34" charset="-122"/>
                          <a:cs typeface="Arial" pitchFamily="34" charset="-120"/>
                        </a:rPr>
                        <a:t>Core out shallow base + full cable replacement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05"/>
                  </a:ext>
                </a:extLst>
              </a:tr>
              <a:tr h="219456">
                <a:tc>
                  <a:txBody>
                    <a:bodyPr/>
                    <a:lstStyle/>
                    <a:p>
                      <a:pPr marL="0" indent="0">
                        <a:buNone/>
                      </a:pPr>
                      <a:r>
                        <a:rPr lang="en-US" sz="800" dirty="0">
                          <a:solidFill>
                            <a:srgbClr val="1F2937"/>
                          </a:solidFill>
                          <a:latin typeface="Arial" pitchFamily="34" charset="0"/>
                          <a:ea typeface="Arial" pitchFamily="34" charset="-122"/>
                          <a:cs typeface="Arial" pitchFamily="34" charset="-120"/>
                        </a:rPr>
                        <a:t>LOC-01</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lang="en-US" sz="800" b="1" dirty="0">
                          <a:solidFill>
                            <a:srgbClr val="1F2937"/>
                          </a:solidFill>
                          <a:latin typeface="Arial" pitchFamily="34" charset="0"/>
                          <a:ea typeface="Arial" pitchFamily="34" charset="-122"/>
                          <a:cs typeface="Arial" pitchFamily="34" charset="-120"/>
                        </a:rPr>
                        <a:t>SBC102-01/029</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lang="en-US" sz="800" dirty="0">
                          <a:solidFill>
                            <a:srgbClr val="1F2937"/>
                          </a:solidFill>
                          <a:latin typeface="Arial" pitchFamily="34" charset="0"/>
                          <a:ea typeface="Arial" pitchFamily="34" charset="-122"/>
                          <a:cs typeface="Arial" pitchFamily="34" charset="-120"/>
                        </a:rPr>
                        <a:t>CORE OUT + NEW CABLE</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lang="en-US" sz="800" dirty="0">
                          <a:solidFill>
                            <a:srgbClr val="1F2937"/>
                          </a:solidFill>
                          <a:latin typeface="Arial" pitchFamily="34" charset="0"/>
                          <a:ea typeface="Arial" pitchFamily="34" charset="-122"/>
                          <a:cs typeface="Arial" pitchFamily="34" charset="-120"/>
                        </a:rPr>
                        <a:t>Duct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lang="en-US" sz="800" dirty="0">
                          <a:solidFill>
                            <a:srgbClr val="1F2937"/>
                          </a:solidFill>
                          <a:latin typeface="Arial" pitchFamily="34" charset="0"/>
                          <a:ea typeface="Arial" pitchFamily="34" charset="-122"/>
                          <a:cs typeface="Arial" pitchFamily="34" charset="-120"/>
                        </a:rPr>
                        <a:t>Core out shallow base + full cable replacement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06"/>
                  </a:ext>
                </a:extLst>
              </a:tr>
              <a:tr h="219456">
                <a:tc>
                  <a:txBody>
                    <a:bodyPr/>
                    <a:lstStyle/>
                    <a:p>
                      <a:pPr marL="0" indent="0">
                        <a:buNone/>
                      </a:pPr>
                      <a:r>
                        <a:rPr lang="en-US" sz="800" dirty="0">
                          <a:solidFill>
                            <a:srgbClr val="1F2937"/>
                          </a:solidFill>
                          <a:latin typeface="Arial" pitchFamily="34" charset="0"/>
                          <a:ea typeface="Arial" pitchFamily="34" charset="-122"/>
                          <a:cs typeface="Arial" pitchFamily="34" charset="-120"/>
                        </a:rPr>
                        <a:t>LOC-01</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lang="en-US" sz="800" b="1" dirty="0">
                          <a:solidFill>
                            <a:srgbClr val="1F2937"/>
                          </a:solidFill>
                          <a:latin typeface="Arial" pitchFamily="34" charset="0"/>
                          <a:ea typeface="Arial" pitchFamily="34" charset="-122"/>
                          <a:cs typeface="Arial" pitchFamily="34" charset="-120"/>
                        </a:rPr>
                        <a:t>TCCECH-04/034</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lang="en-US" sz="800" dirty="0">
                          <a:solidFill>
                            <a:srgbClr val="1F2937"/>
                          </a:solidFill>
                          <a:latin typeface="Arial" pitchFamily="34" charset="0"/>
                          <a:ea typeface="Arial" pitchFamily="34" charset="-122"/>
                          <a:cs typeface="Arial" pitchFamily="34" charset="-120"/>
                        </a:rPr>
                        <a:t>CORE OUT + NEW CABLE</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lang="en-US" sz="800" dirty="0">
                          <a:solidFill>
                            <a:srgbClr val="1F2937"/>
                          </a:solidFill>
                          <a:latin typeface="Arial" pitchFamily="34" charset="0"/>
                          <a:ea typeface="Arial" pitchFamily="34" charset="-122"/>
                          <a:cs typeface="Arial" pitchFamily="34" charset="-120"/>
                        </a:rPr>
                        <a:t>Sawcut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lang="en-US" sz="800" dirty="0">
                          <a:solidFill>
                            <a:srgbClr val="1F2937"/>
                          </a:solidFill>
                          <a:latin typeface="Arial" pitchFamily="34" charset="0"/>
                          <a:ea typeface="Arial" pitchFamily="34" charset="-122"/>
                          <a:cs typeface="Arial" pitchFamily="34" charset="-120"/>
                        </a:rPr>
                        <a:t>Core out shallow base + full cable replacement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07"/>
                  </a:ext>
                </a:extLst>
              </a:tr>
              <a:tr h="219456">
                <a:tc>
                  <a:txBody>
                    <a:bodyPr/>
                    <a:lstStyle/>
                    <a:p>
                      <a:pPr marL="0" indent="0">
                        <a:buNone/>
                      </a:pPr>
                      <a:r>
                        <a:rPr lang="en-US" sz="800" dirty="0">
                          <a:solidFill>
                            <a:srgbClr val="1F2937"/>
                          </a:solidFill>
                          <a:latin typeface="Arial" pitchFamily="34" charset="0"/>
                          <a:ea typeface="Arial" pitchFamily="34" charset="-122"/>
                          <a:cs typeface="Arial" pitchFamily="34" charset="-120"/>
                        </a:rPr>
                        <a:t>LOC-01</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lang="en-US" sz="800" b="1" dirty="0">
                          <a:solidFill>
                            <a:srgbClr val="1F2937"/>
                          </a:solidFill>
                          <a:latin typeface="Arial" pitchFamily="34" charset="0"/>
                          <a:ea typeface="Arial" pitchFamily="34" charset="-122"/>
                          <a:cs typeface="Arial" pitchFamily="34" charset="-120"/>
                        </a:rPr>
                        <a:t>TCCECH-03/036</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lang="en-US" sz="800" dirty="0">
                          <a:solidFill>
                            <a:srgbClr val="1F2937"/>
                          </a:solidFill>
                          <a:latin typeface="Arial" pitchFamily="34" charset="0"/>
                          <a:ea typeface="Arial" pitchFamily="34" charset="-122"/>
                          <a:cs typeface="Arial" pitchFamily="34" charset="-120"/>
                        </a:rPr>
                        <a:t>CORE OUT + NEW CABLE</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lang="en-US" sz="800" dirty="0">
                          <a:solidFill>
                            <a:srgbClr val="1F2937"/>
                          </a:solidFill>
                          <a:latin typeface="Arial" pitchFamily="34" charset="0"/>
                          <a:ea typeface="Arial" pitchFamily="34" charset="-122"/>
                          <a:cs typeface="Arial" pitchFamily="34" charset="-120"/>
                        </a:rPr>
                        <a:t>Sawcut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lang="en-US" sz="800" dirty="0">
                          <a:solidFill>
                            <a:srgbClr val="1F2937"/>
                          </a:solidFill>
                          <a:latin typeface="Arial" pitchFamily="34" charset="0"/>
                          <a:ea typeface="Arial" pitchFamily="34" charset="-122"/>
                          <a:cs typeface="Arial" pitchFamily="34" charset="-120"/>
                        </a:rPr>
                        <a:t>Core out shallow base + full cable replacement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08"/>
                  </a:ext>
                </a:extLst>
              </a:tr>
              <a:tr h="219456">
                <a:tc>
                  <a:txBody>
                    <a:bodyPr/>
                    <a:lstStyle/>
                    <a:p>
                      <a:pPr marL="0" indent="0">
                        <a:buNone/>
                      </a:pPr>
                      <a:r>
                        <a:rPr lang="en-US" sz="800" dirty="0">
                          <a:solidFill>
                            <a:srgbClr val="1F2937"/>
                          </a:solidFill>
                          <a:latin typeface="Arial" pitchFamily="34" charset="0"/>
                          <a:ea typeface="Arial" pitchFamily="34" charset="-122"/>
                          <a:cs typeface="Arial" pitchFamily="34" charset="-120"/>
                        </a:rPr>
                        <a:t>LOC-01</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lang="en-US" sz="800" b="1" dirty="0">
                          <a:solidFill>
                            <a:srgbClr val="1F2937"/>
                          </a:solidFill>
                          <a:latin typeface="Arial" pitchFamily="34" charset="0"/>
                          <a:ea typeface="Arial" pitchFamily="34" charset="-122"/>
                          <a:cs typeface="Arial" pitchFamily="34" charset="-120"/>
                        </a:rPr>
                        <a:t>TCCECH-04/035</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lang="en-US" sz="800" dirty="0">
                          <a:solidFill>
                            <a:srgbClr val="1F2937"/>
                          </a:solidFill>
                          <a:latin typeface="Arial" pitchFamily="34" charset="0"/>
                          <a:ea typeface="Arial" pitchFamily="34" charset="-122"/>
                          <a:cs typeface="Arial" pitchFamily="34" charset="-120"/>
                        </a:rPr>
                        <a:t>CORE OUT + NEW CABLE</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lang="en-US" sz="800" dirty="0">
                          <a:solidFill>
                            <a:srgbClr val="1F2937"/>
                          </a:solidFill>
                          <a:latin typeface="Arial" pitchFamily="34" charset="0"/>
                          <a:ea typeface="Arial" pitchFamily="34" charset="-122"/>
                          <a:cs typeface="Arial" pitchFamily="34" charset="-120"/>
                        </a:rPr>
                        <a:t>Sawcut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lang="en-US" sz="800" dirty="0">
                          <a:solidFill>
                            <a:srgbClr val="1F2937"/>
                          </a:solidFill>
                          <a:latin typeface="Arial" pitchFamily="34" charset="0"/>
                          <a:ea typeface="Arial" pitchFamily="34" charset="-122"/>
                          <a:cs typeface="Arial" pitchFamily="34" charset="-120"/>
                        </a:rPr>
                        <a:t>Core out shallow base + full cable replacement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09"/>
                  </a:ext>
                </a:extLst>
              </a:tr>
              <a:tr h="219456">
                <a:tc>
                  <a:txBody>
                    <a:bodyPr/>
                    <a:lstStyle/>
                    <a:p>
                      <a:pPr marL="0" indent="0">
                        <a:buNone/>
                      </a:pPr>
                      <a:r>
                        <a:rPr lang="en-US" sz="800" dirty="0">
                          <a:solidFill>
                            <a:srgbClr val="1F2937"/>
                          </a:solidFill>
                          <a:latin typeface="Arial" pitchFamily="34" charset="0"/>
                          <a:ea typeface="Arial" pitchFamily="34" charset="-122"/>
                          <a:cs typeface="Arial" pitchFamily="34" charset="-120"/>
                        </a:rPr>
                        <a:t>LOC-01</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lang="en-US" sz="800" b="1" dirty="0">
                          <a:solidFill>
                            <a:srgbClr val="1F2937"/>
                          </a:solidFill>
                          <a:latin typeface="Arial" pitchFamily="34" charset="0"/>
                          <a:ea typeface="Arial" pitchFamily="34" charset="-122"/>
                          <a:cs typeface="Arial" pitchFamily="34" charset="-120"/>
                        </a:rPr>
                        <a:t>TCCECH-03/037</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lang="en-US" sz="800" dirty="0">
                          <a:solidFill>
                            <a:srgbClr val="1F2937"/>
                          </a:solidFill>
                          <a:latin typeface="Arial" pitchFamily="34" charset="0"/>
                          <a:ea typeface="Arial" pitchFamily="34" charset="-122"/>
                          <a:cs typeface="Arial" pitchFamily="34" charset="-120"/>
                        </a:rPr>
                        <a:t>CORE OUT + NEW CABLE</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lang="en-US" sz="800" dirty="0">
                          <a:solidFill>
                            <a:srgbClr val="1F2937"/>
                          </a:solidFill>
                          <a:latin typeface="Arial" pitchFamily="34" charset="0"/>
                          <a:ea typeface="Arial" pitchFamily="34" charset="-122"/>
                          <a:cs typeface="Arial" pitchFamily="34" charset="-120"/>
                        </a:rPr>
                        <a:t>Sawcut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lang="en-US" sz="800" dirty="0">
                          <a:solidFill>
                            <a:srgbClr val="1F2937"/>
                          </a:solidFill>
                          <a:latin typeface="Arial" pitchFamily="34" charset="0"/>
                          <a:ea typeface="Arial" pitchFamily="34" charset="-122"/>
                          <a:cs typeface="Arial" pitchFamily="34" charset="-120"/>
                        </a:rPr>
                        <a:t>Core out shallow base + full cable replacement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10"/>
                  </a:ext>
                </a:extLst>
              </a:tr>
              <a:tr h="219456">
                <a:tc>
                  <a:txBody>
                    <a:bodyPr/>
                    <a:lstStyle/>
                    <a:p>
                      <a:pPr marL="0" indent="0">
                        <a:buNone/>
                      </a:pPr>
                      <a:r>
                        <a:rPr lang="en-US" sz="800" dirty="0">
                          <a:solidFill>
                            <a:srgbClr val="1F2937"/>
                          </a:solidFill>
                          <a:latin typeface="Arial" pitchFamily="34" charset="0"/>
                          <a:ea typeface="Arial" pitchFamily="34" charset="-122"/>
                          <a:cs typeface="Arial" pitchFamily="34" charset="-120"/>
                        </a:rPr>
                        <a:t>LOC-01</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lang="en-US" sz="800" b="1" dirty="0">
                          <a:solidFill>
                            <a:srgbClr val="1F2937"/>
                          </a:solidFill>
                          <a:latin typeface="Arial" pitchFamily="34" charset="0"/>
                          <a:ea typeface="Arial" pitchFamily="34" charset="-122"/>
                          <a:cs typeface="Arial" pitchFamily="34" charset="-120"/>
                        </a:rPr>
                        <a:t>TCCECH-04/036</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lang="en-US" sz="800" dirty="0">
                          <a:solidFill>
                            <a:srgbClr val="1F2937"/>
                          </a:solidFill>
                          <a:latin typeface="Arial" pitchFamily="34" charset="0"/>
                          <a:ea typeface="Arial" pitchFamily="34" charset="-122"/>
                          <a:cs typeface="Arial" pitchFamily="34" charset="-120"/>
                        </a:rPr>
                        <a:t>CORE OUT + NEW CABLE</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lang="en-US" sz="800" dirty="0">
                          <a:solidFill>
                            <a:srgbClr val="1F2937"/>
                          </a:solidFill>
                          <a:latin typeface="Arial" pitchFamily="34" charset="0"/>
                          <a:ea typeface="Arial" pitchFamily="34" charset="-122"/>
                          <a:cs typeface="Arial" pitchFamily="34" charset="-120"/>
                        </a:rPr>
                        <a:t>Sawcut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lang="en-US" sz="800" dirty="0">
                          <a:solidFill>
                            <a:srgbClr val="1F2937"/>
                          </a:solidFill>
                          <a:latin typeface="Arial" pitchFamily="34" charset="0"/>
                          <a:ea typeface="Arial" pitchFamily="34" charset="-122"/>
                          <a:cs typeface="Arial" pitchFamily="34" charset="-120"/>
                        </a:rPr>
                        <a:t>Core out shallow base + full cable replacement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11"/>
                  </a:ext>
                </a:extLst>
              </a:tr>
              <a:tr h="219456">
                <a:tc>
                  <a:txBody>
                    <a:bodyPr/>
                    <a:lstStyle/>
                    <a:p>
                      <a:pPr marL="0" indent="0">
                        <a:buNone/>
                      </a:pPr>
                      <a:r>
                        <a:rPr lang="en-US" sz="800" dirty="0">
                          <a:solidFill>
                            <a:srgbClr val="1F2937"/>
                          </a:solidFill>
                          <a:latin typeface="Arial" pitchFamily="34" charset="0"/>
                          <a:ea typeface="Arial" pitchFamily="34" charset="-122"/>
                          <a:cs typeface="Arial" pitchFamily="34" charset="-120"/>
                        </a:rPr>
                        <a:t>LOC-01</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lang="en-US" sz="800" b="1" dirty="0">
                          <a:solidFill>
                            <a:srgbClr val="1F2937"/>
                          </a:solidFill>
                          <a:latin typeface="Arial" pitchFamily="34" charset="0"/>
                          <a:ea typeface="Arial" pitchFamily="34" charset="-122"/>
                          <a:cs typeface="Arial" pitchFamily="34" charset="-120"/>
                        </a:rPr>
                        <a:t>SBC102-02/027</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lang="en-US" sz="800" dirty="0">
                          <a:solidFill>
                            <a:srgbClr val="1F2937"/>
                          </a:solidFill>
                          <a:latin typeface="Arial" pitchFamily="34" charset="0"/>
                          <a:ea typeface="Arial" pitchFamily="34" charset="-122"/>
                          <a:cs typeface="Arial" pitchFamily="34" charset="-120"/>
                        </a:rPr>
                        <a:t>NEW CABLE ONLY</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lang="en-US" sz="800" dirty="0">
                          <a:solidFill>
                            <a:srgbClr val="1F2937"/>
                          </a:solidFill>
                          <a:latin typeface="Arial" pitchFamily="34" charset="0"/>
                          <a:ea typeface="Arial" pitchFamily="34" charset="-122"/>
                          <a:cs typeface="Arial" pitchFamily="34" charset="-120"/>
                        </a:rPr>
                        <a:t>Duct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lang="en-US" sz="800" dirty="0">
                          <a:solidFill>
                            <a:srgbClr val="1F2937"/>
                          </a:solidFill>
                          <a:latin typeface="Arial" pitchFamily="34" charset="0"/>
                          <a:ea typeface="Arial" pitchFamily="34" charset="-122"/>
                          <a:cs typeface="Arial" pitchFamily="34" charset="-120"/>
                        </a:rPr>
                        <a:t>Full manhole-to-light cable replacement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12"/>
                  </a:ext>
                </a:extLst>
              </a:tr>
              <a:tr h="219456">
                <a:tc>
                  <a:txBody>
                    <a:bodyPr/>
                    <a:lstStyle/>
                    <a:p>
                      <a:pPr marL="0" indent="0">
                        <a:buNone/>
                      </a:pPr>
                      <a:r>
                        <a:rPr lang="en-US" sz="800" dirty="0">
                          <a:solidFill>
                            <a:srgbClr val="1F2937"/>
                          </a:solidFill>
                          <a:latin typeface="Arial" pitchFamily="34" charset="0"/>
                          <a:ea typeface="Arial" pitchFamily="34" charset="-122"/>
                          <a:cs typeface="Arial" pitchFamily="34" charset="-120"/>
                        </a:rPr>
                        <a:t>LOC-01</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lang="en-US" sz="800" b="1" dirty="0">
                          <a:solidFill>
                            <a:srgbClr val="1F2937"/>
                          </a:solidFill>
                          <a:latin typeface="Arial" pitchFamily="34" charset="0"/>
                          <a:ea typeface="Arial" pitchFamily="34" charset="-122"/>
                          <a:cs typeface="Arial" pitchFamily="34" charset="-120"/>
                        </a:rPr>
                        <a:t>TCCECH-03/035</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lang="en-US" sz="800" dirty="0">
                          <a:solidFill>
                            <a:srgbClr val="1F2937"/>
                          </a:solidFill>
                          <a:latin typeface="Arial" pitchFamily="34" charset="0"/>
                          <a:ea typeface="Arial" pitchFamily="34" charset="-122"/>
                          <a:cs typeface="Arial" pitchFamily="34" charset="-120"/>
                        </a:rPr>
                        <a:t>NEW CABLE ONLY</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lang="en-US" sz="800" dirty="0">
                          <a:solidFill>
                            <a:srgbClr val="1F2937"/>
                          </a:solidFill>
                          <a:latin typeface="Arial" pitchFamily="34" charset="0"/>
                          <a:ea typeface="Arial" pitchFamily="34" charset="-122"/>
                          <a:cs typeface="Arial" pitchFamily="34" charset="-120"/>
                        </a:rPr>
                        <a:t>Sawcut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lang="en-US" sz="800" dirty="0">
                          <a:solidFill>
                            <a:srgbClr val="1F2937"/>
                          </a:solidFill>
                          <a:latin typeface="Arial" pitchFamily="34" charset="0"/>
                          <a:ea typeface="Arial" pitchFamily="34" charset="-122"/>
                          <a:cs typeface="Arial" pitchFamily="34" charset="-120"/>
                        </a:rPr>
                        <a:t>Full manhole-to-light cable replacement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13"/>
                  </a:ext>
                </a:extLst>
              </a:tr>
              <a:tr h="219456">
                <a:tc>
                  <a:txBody>
                    <a:bodyPr/>
                    <a:lstStyle/>
                    <a:p>
                      <a:pPr marL="0" indent="0">
                        <a:buNone/>
                      </a:pPr>
                      <a:r>
                        <a:rPr lang="en-US" sz="800" dirty="0">
                          <a:solidFill>
                            <a:srgbClr val="1F2937"/>
                          </a:solidFill>
                          <a:latin typeface="Arial" pitchFamily="34" charset="0"/>
                          <a:ea typeface="Arial" pitchFamily="34" charset="-122"/>
                          <a:cs typeface="Arial" pitchFamily="34" charset="-120"/>
                        </a:rPr>
                        <a:t>LOC-01</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lang="en-US" sz="800" b="1" dirty="0">
                          <a:solidFill>
                            <a:srgbClr val="1F2937"/>
                          </a:solidFill>
                          <a:latin typeface="Arial" pitchFamily="34" charset="0"/>
                          <a:ea typeface="Arial" pitchFamily="34" charset="-122"/>
                          <a:cs typeface="Arial" pitchFamily="34" charset="-120"/>
                        </a:rPr>
                        <a:t>TCCECH-03/018</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lang="en-US" sz="800" dirty="0">
                          <a:solidFill>
                            <a:srgbClr val="1F2937"/>
                          </a:solidFill>
                          <a:latin typeface="Arial" pitchFamily="34" charset="0"/>
                          <a:ea typeface="Arial" pitchFamily="34" charset="-122"/>
                          <a:cs typeface="Arial" pitchFamily="34" charset="-120"/>
                        </a:rPr>
                        <a:t>NEW CABLE ONLY</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lang="en-US" sz="800" dirty="0">
                          <a:solidFill>
                            <a:srgbClr val="1F2937"/>
                          </a:solidFill>
                          <a:latin typeface="Arial" pitchFamily="34" charset="0"/>
                          <a:ea typeface="Arial" pitchFamily="34" charset="-122"/>
                          <a:cs typeface="Arial" pitchFamily="34" charset="-120"/>
                        </a:rPr>
                        <a:t>Sawcut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lang="en-US" sz="800" dirty="0">
                          <a:solidFill>
                            <a:srgbClr val="1F2937"/>
                          </a:solidFill>
                          <a:latin typeface="Arial" pitchFamily="34" charset="0"/>
                          <a:ea typeface="Arial" pitchFamily="34" charset="-122"/>
                          <a:cs typeface="Arial" pitchFamily="34" charset="-120"/>
                        </a:rPr>
                        <a:t>Full manhole-to-light cable replacement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14"/>
                  </a:ext>
                </a:extLst>
              </a:tr>
              <a:tr h="219456">
                <a:tc>
                  <a:txBody>
                    <a:bodyPr/>
                    <a:lstStyle/>
                    <a:p>
                      <a:pPr marL="0" indent="0">
                        <a:buNone/>
                      </a:pPr>
                      <a:r>
                        <a:rPr lang="en-US" sz="800" dirty="0">
                          <a:solidFill>
                            <a:srgbClr val="1F2937"/>
                          </a:solidFill>
                          <a:latin typeface="Arial" pitchFamily="34" charset="0"/>
                          <a:ea typeface="Arial" pitchFamily="34" charset="-122"/>
                          <a:cs typeface="Arial" pitchFamily="34" charset="-120"/>
                        </a:rPr>
                        <a:t>LOC-01</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lang="en-US" sz="800" b="1" dirty="0">
                          <a:solidFill>
                            <a:srgbClr val="1F2937"/>
                          </a:solidFill>
                          <a:latin typeface="Arial" pitchFamily="34" charset="0"/>
                          <a:ea typeface="Arial" pitchFamily="34" charset="-122"/>
                          <a:cs typeface="Arial" pitchFamily="34" charset="-120"/>
                        </a:rPr>
                        <a:t>SBC102-01/026</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lang="en-US" sz="800" dirty="0">
                          <a:solidFill>
                            <a:srgbClr val="1F2937"/>
                          </a:solidFill>
                          <a:latin typeface="Arial" pitchFamily="34" charset="0"/>
                          <a:ea typeface="Arial" pitchFamily="34" charset="-122"/>
                          <a:cs typeface="Arial" pitchFamily="34" charset="-120"/>
                        </a:rPr>
                        <a:t>NOT AFFECTED</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lang="en-US" sz="800" dirty="0">
                          <a:solidFill>
                            <a:srgbClr val="1F2937"/>
                          </a:solidFill>
                          <a:latin typeface="Arial" pitchFamily="34" charset="0"/>
                          <a:ea typeface="Arial" pitchFamily="34" charset="-122"/>
                          <a:cs typeface="Arial" pitchFamily="34" charset="-120"/>
                        </a:rPr>
                        <a: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lang="en-US" sz="800" dirty="0">
                          <a:solidFill>
                            <a:srgbClr val="1F2937"/>
                          </a:solidFill>
                          <a:latin typeface="Arial" pitchFamily="34" charset="0"/>
                          <a:ea typeface="Arial" pitchFamily="34" charset="-122"/>
                          <a:cs typeface="Arial" pitchFamily="34" charset="-120"/>
                        </a:rPr>
                        <a:t>Field verified — no works</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15"/>
                  </a:ext>
                </a:extLst>
              </a:tr>
              <a:tr h="219456">
                <a:tc>
                  <a:txBody>
                    <a:bodyPr/>
                    <a:lstStyle/>
                    <a:p>
                      <a:pPr marL="0" indent="0">
                        <a:buNone/>
                      </a:pPr>
                      <a:r>
                        <a:rPr lang="en-US" sz="800" dirty="0">
                          <a:solidFill>
                            <a:srgbClr val="1F2937"/>
                          </a:solidFill>
                          <a:latin typeface="Arial" pitchFamily="34" charset="0"/>
                          <a:ea typeface="Arial" pitchFamily="34" charset="-122"/>
                          <a:cs typeface="Arial" pitchFamily="34" charset="-120"/>
                        </a:rPr>
                        <a:t>LOC-02</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lang="en-US" sz="800" b="1" dirty="0">
                          <a:solidFill>
                            <a:srgbClr val="1F2937"/>
                          </a:solidFill>
                          <a:latin typeface="Arial" pitchFamily="34" charset="0"/>
                          <a:ea typeface="Arial" pitchFamily="34" charset="-122"/>
                          <a:cs typeface="Arial" pitchFamily="34" charset="-120"/>
                        </a:rPr>
                        <a:t>TCCECH-03/007</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lang="en-US" sz="800" dirty="0">
                          <a:solidFill>
                            <a:srgbClr val="1F2937"/>
                          </a:solidFill>
                          <a:latin typeface="Arial" pitchFamily="34" charset="0"/>
                          <a:ea typeface="Arial" pitchFamily="34" charset="-122"/>
                          <a:cs typeface="Arial" pitchFamily="34" charset="-120"/>
                        </a:rPr>
                        <a:t>NEW CABLE ONLY</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lang="en-US" sz="800" dirty="0">
                          <a:solidFill>
                            <a:srgbClr val="1F2937"/>
                          </a:solidFill>
                          <a:latin typeface="Arial" pitchFamily="34" charset="0"/>
                          <a:ea typeface="Arial" pitchFamily="34" charset="-122"/>
                          <a:cs typeface="Arial" pitchFamily="34" charset="-120"/>
                        </a:rPr>
                        <a:t>Duct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lang="en-US" sz="800" dirty="0">
                          <a:solidFill>
                            <a:srgbClr val="1F2937"/>
                          </a:solidFill>
                          <a:latin typeface="Arial" pitchFamily="34" charset="0"/>
                          <a:ea typeface="Arial" pitchFamily="34" charset="-122"/>
                          <a:cs typeface="Arial" pitchFamily="34" charset="-120"/>
                        </a:rPr>
                        <a:t>Full manhole-to-light cable replacement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16"/>
                  </a:ext>
                </a:extLst>
              </a:tr>
              <a:tr h="219456">
                <a:tc>
                  <a:txBody>
                    <a:bodyPr/>
                    <a:lstStyle/>
                    <a:p>
                      <a:pPr marL="0" indent="0">
                        <a:buNone/>
                      </a:pPr>
                      <a:r>
                        <a:rPr lang="en-US" sz="800" dirty="0">
                          <a:solidFill>
                            <a:srgbClr val="1F2937"/>
                          </a:solidFill>
                          <a:latin typeface="Arial" pitchFamily="34" charset="0"/>
                          <a:ea typeface="Arial" pitchFamily="34" charset="-122"/>
                          <a:cs typeface="Arial" pitchFamily="34" charset="-120"/>
                        </a:rPr>
                        <a:t>LOC-02</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lang="en-US" sz="800" b="1" dirty="0">
                          <a:solidFill>
                            <a:srgbClr val="1F2937"/>
                          </a:solidFill>
                          <a:latin typeface="Arial" pitchFamily="34" charset="0"/>
                          <a:ea typeface="Arial" pitchFamily="34" charset="-122"/>
                          <a:cs typeface="Arial" pitchFamily="34" charset="-120"/>
                        </a:rPr>
                        <a:t>TCCECH-04/007</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lang="en-US" sz="800" dirty="0">
                          <a:solidFill>
                            <a:srgbClr val="1F2937"/>
                          </a:solidFill>
                          <a:latin typeface="Arial" pitchFamily="34" charset="0"/>
                          <a:ea typeface="Arial" pitchFamily="34" charset="-122"/>
                          <a:cs typeface="Arial" pitchFamily="34" charset="-120"/>
                        </a:rPr>
                        <a:t>NEW CABLE ONLY</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lang="en-US" sz="800" dirty="0">
                          <a:solidFill>
                            <a:srgbClr val="1F2937"/>
                          </a:solidFill>
                          <a:latin typeface="Arial" pitchFamily="34" charset="0"/>
                          <a:ea typeface="Arial" pitchFamily="34" charset="-122"/>
                          <a:cs typeface="Arial" pitchFamily="34" charset="-120"/>
                        </a:rPr>
                        <a:t>Duct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lang="en-US" sz="800" dirty="0">
                          <a:solidFill>
                            <a:srgbClr val="1F2937"/>
                          </a:solidFill>
                          <a:latin typeface="Arial" pitchFamily="34" charset="0"/>
                          <a:ea typeface="Arial" pitchFamily="34" charset="-122"/>
                          <a:cs typeface="Arial" pitchFamily="34" charset="-120"/>
                        </a:rPr>
                        <a:t>Full manhole-to-light cable replacement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17"/>
                  </a:ext>
                </a:extLst>
              </a:tr>
              <a:tr h="219456">
                <a:tc>
                  <a:txBody>
                    <a:bodyPr/>
                    <a:lstStyle/>
                    <a:p>
                      <a:pPr marL="0" indent="0">
                        <a:buNone/>
                      </a:pPr>
                      <a:r>
                        <a:rPr lang="en-US" sz="800" dirty="0">
                          <a:solidFill>
                            <a:srgbClr val="1F2937"/>
                          </a:solidFill>
                          <a:latin typeface="Arial" pitchFamily="34" charset="0"/>
                          <a:ea typeface="Arial" pitchFamily="34" charset="-122"/>
                          <a:cs typeface="Arial" pitchFamily="34" charset="-120"/>
                        </a:rPr>
                        <a:t>LOC-02</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lang="en-US" sz="800" b="1" dirty="0">
                          <a:solidFill>
                            <a:srgbClr val="1F2937"/>
                          </a:solidFill>
                          <a:latin typeface="Arial" pitchFamily="34" charset="0"/>
                          <a:ea typeface="Arial" pitchFamily="34" charset="-122"/>
                          <a:cs typeface="Arial" pitchFamily="34" charset="-120"/>
                        </a:rPr>
                        <a:t>TCCECH-03/008</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lang="en-US" sz="800" dirty="0">
                          <a:solidFill>
                            <a:srgbClr val="1F2937"/>
                          </a:solidFill>
                          <a:latin typeface="Arial" pitchFamily="34" charset="0"/>
                          <a:ea typeface="Arial" pitchFamily="34" charset="-122"/>
                          <a:cs typeface="Arial" pitchFamily="34" charset="-120"/>
                        </a:rPr>
                        <a:t>NEW CABLE ONLY</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lang="en-US" sz="800" dirty="0">
                          <a:solidFill>
                            <a:srgbClr val="1F2937"/>
                          </a:solidFill>
                          <a:latin typeface="Arial" pitchFamily="34" charset="0"/>
                          <a:ea typeface="Arial" pitchFamily="34" charset="-122"/>
                          <a:cs typeface="Arial" pitchFamily="34" charset="-120"/>
                        </a:rPr>
                        <a:t>Duct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lang="en-US" sz="800" dirty="0">
                          <a:solidFill>
                            <a:srgbClr val="1F2937"/>
                          </a:solidFill>
                          <a:latin typeface="Arial" pitchFamily="34" charset="0"/>
                          <a:ea typeface="Arial" pitchFamily="34" charset="-122"/>
                          <a:cs typeface="Arial" pitchFamily="34" charset="-120"/>
                        </a:rPr>
                        <a:t>Full manhole-to-light cable replacement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18"/>
                  </a:ext>
                </a:extLst>
              </a:tr>
              <a:tr h="219456">
                <a:tc>
                  <a:txBody>
                    <a:bodyPr/>
                    <a:lstStyle/>
                    <a:p>
                      <a:pPr marL="0" indent="0">
                        <a:buNone/>
                      </a:pPr>
                      <a:r>
                        <a:rPr lang="en-US" sz="800" dirty="0">
                          <a:solidFill>
                            <a:srgbClr val="1F2937"/>
                          </a:solidFill>
                          <a:latin typeface="Arial" pitchFamily="34" charset="0"/>
                          <a:ea typeface="Arial" pitchFamily="34" charset="-122"/>
                          <a:cs typeface="Arial" pitchFamily="34" charset="-120"/>
                        </a:rPr>
                        <a:t>LOC-02</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lang="en-US" sz="800" b="1" dirty="0">
                          <a:solidFill>
                            <a:srgbClr val="1F2937"/>
                          </a:solidFill>
                          <a:latin typeface="Arial" pitchFamily="34" charset="0"/>
                          <a:ea typeface="Arial" pitchFamily="34" charset="-122"/>
                          <a:cs typeface="Arial" pitchFamily="34" charset="-120"/>
                        </a:rPr>
                        <a:t>TCCECH-04/008</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lang="en-US" sz="800" dirty="0">
                          <a:solidFill>
                            <a:srgbClr val="1F2937"/>
                          </a:solidFill>
                          <a:latin typeface="Arial" pitchFamily="34" charset="0"/>
                          <a:ea typeface="Arial" pitchFamily="34" charset="-122"/>
                          <a:cs typeface="Arial" pitchFamily="34" charset="-120"/>
                        </a:rPr>
                        <a:t>NEW CABLE ONLY</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lang="en-US" sz="800" dirty="0">
                          <a:solidFill>
                            <a:srgbClr val="1F2937"/>
                          </a:solidFill>
                          <a:latin typeface="Arial" pitchFamily="34" charset="0"/>
                          <a:ea typeface="Arial" pitchFamily="34" charset="-122"/>
                          <a:cs typeface="Arial" pitchFamily="34" charset="-120"/>
                        </a:rPr>
                        <a:t>Duct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lang="en-US" sz="800" dirty="0">
                          <a:solidFill>
                            <a:srgbClr val="1F2937"/>
                          </a:solidFill>
                          <a:latin typeface="Arial" pitchFamily="34" charset="0"/>
                          <a:ea typeface="Arial" pitchFamily="34" charset="-122"/>
                          <a:cs typeface="Arial" pitchFamily="34" charset="-120"/>
                        </a:rPr>
                        <a:t>Full manhole-to-light cable replacement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19"/>
                  </a:ext>
                </a:extLst>
              </a:tr>
              <a:tr h="219456">
                <a:tc>
                  <a:txBody>
                    <a:bodyPr/>
                    <a:lstStyle/>
                    <a:p>
                      <a:pPr marL="0" indent="0">
                        <a:buNone/>
                      </a:pPr>
                      <a:r>
                        <a:rPr lang="en-US" sz="800" dirty="0">
                          <a:solidFill>
                            <a:srgbClr val="1F2937"/>
                          </a:solidFill>
                          <a:latin typeface="Arial" pitchFamily="34" charset="0"/>
                          <a:ea typeface="Arial" pitchFamily="34" charset="-122"/>
                          <a:cs typeface="Arial" pitchFamily="34" charset="-120"/>
                        </a:rPr>
                        <a:t>LOC-02</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lang="en-US" sz="800" b="1" dirty="0">
                          <a:solidFill>
                            <a:srgbClr val="1F2937"/>
                          </a:solidFill>
                          <a:latin typeface="Arial" pitchFamily="34" charset="0"/>
                          <a:ea typeface="Arial" pitchFamily="34" charset="-122"/>
                          <a:cs typeface="Arial" pitchFamily="34" charset="-120"/>
                        </a:rPr>
                        <a:t>TCCECH-03/009</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lang="en-US" sz="800" dirty="0">
                          <a:solidFill>
                            <a:srgbClr val="1F2937"/>
                          </a:solidFill>
                          <a:latin typeface="Arial" pitchFamily="34" charset="0"/>
                          <a:ea typeface="Arial" pitchFamily="34" charset="-122"/>
                          <a:cs typeface="Arial" pitchFamily="34" charset="-120"/>
                        </a:rPr>
                        <a:t>NEW CABLE ONLY</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lang="en-US" sz="800" dirty="0">
                          <a:solidFill>
                            <a:srgbClr val="1F2937"/>
                          </a:solidFill>
                          <a:latin typeface="Arial" pitchFamily="34" charset="0"/>
                          <a:ea typeface="Arial" pitchFamily="34" charset="-122"/>
                          <a:cs typeface="Arial" pitchFamily="34" charset="-120"/>
                        </a:rPr>
                        <a:t>Duct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lang="en-US" sz="800" dirty="0">
                          <a:solidFill>
                            <a:srgbClr val="1F2937"/>
                          </a:solidFill>
                          <a:latin typeface="Arial" pitchFamily="34" charset="0"/>
                          <a:ea typeface="Arial" pitchFamily="34" charset="-122"/>
                          <a:cs typeface="Arial" pitchFamily="34" charset="-120"/>
                        </a:rPr>
                        <a:t>Full manhole-to-light cable replacement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20"/>
                  </a:ext>
                </a:extLst>
              </a:tr>
              <a:tr h="219456">
                <a:tc>
                  <a:txBody>
                    <a:bodyPr/>
                    <a:lstStyle/>
                    <a:p>
                      <a:pPr marL="0" indent="0">
                        <a:buNone/>
                      </a:pPr>
                      <a:r>
                        <a:rPr lang="en-US" sz="800" dirty="0">
                          <a:solidFill>
                            <a:srgbClr val="1F2937"/>
                          </a:solidFill>
                          <a:latin typeface="Arial" pitchFamily="34" charset="0"/>
                          <a:ea typeface="Arial" pitchFamily="34" charset="-122"/>
                          <a:cs typeface="Arial" pitchFamily="34" charset="-120"/>
                        </a:rPr>
                        <a:t>LOC-02</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lang="en-US" sz="800" b="1" dirty="0">
                          <a:solidFill>
                            <a:srgbClr val="1F2937"/>
                          </a:solidFill>
                          <a:latin typeface="Arial" pitchFamily="34" charset="0"/>
                          <a:ea typeface="Arial" pitchFamily="34" charset="-122"/>
                          <a:cs typeface="Arial" pitchFamily="34" charset="-120"/>
                        </a:rPr>
                        <a:t>RRM.555</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lang="en-US" sz="800" dirty="0">
                          <a:solidFill>
                            <a:srgbClr val="1F2937"/>
                          </a:solidFill>
                          <a:latin typeface="Arial" pitchFamily="34" charset="0"/>
                          <a:ea typeface="Arial" pitchFamily="34" charset="-122"/>
                          <a:cs typeface="Arial" pitchFamily="34" charset="-120"/>
                        </a:rPr>
                        <a:t>RRM REMOVE / PROTECT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lang="en-US" sz="800" dirty="0">
                          <a:solidFill>
                            <a:srgbClr val="1F2937"/>
                          </a:solidFill>
                          <a:latin typeface="Arial" pitchFamily="34" charset="0"/>
                          <a:ea typeface="Arial" pitchFamily="34" charset="-122"/>
                          <a:cs typeface="Arial" pitchFamily="34" charset="-120"/>
                        </a:rPr>
                        <a: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lang="en-US" sz="800" dirty="0">
                          <a:solidFill>
                            <a:srgbClr val="1F2937"/>
                          </a:solidFill>
                          <a:latin typeface="Arial" pitchFamily="34" charset="0"/>
                          <a:ea typeface="Arial" pitchFamily="34" charset="-122"/>
                          <a:cs typeface="Arial" pitchFamily="34" charset="-120"/>
                        </a:rPr>
                        <a:t>Remove / protect before sawcut, re-fix after paving</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21"/>
                  </a:ext>
                </a:extLst>
              </a:tr>
              <a:tr h="219456">
                <a:tc>
                  <a:txBody>
                    <a:bodyPr/>
                    <a:lstStyle/>
                    <a:p>
                      <a:pPr marL="0" indent="0">
                        <a:buNone/>
                      </a:pPr>
                      <a:r>
                        <a:rPr lang="en-US" sz="800" dirty="0">
                          <a:solidFill>
                            <a:srgbClr val="1F2937"/>
                          </a:solidFill>
                          <a:latin typeface="Arial" pitchFamily="34" charset="0"/>
                          <a:ea typeface="Arial" pitchFamily="34" charset="-122"/>
                          <a:cs typeface="Arial" pitchFamily="34" charset="-120"/>
                        </a:rPr>
                        <a:t>LOC-03</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lang="en-US" sz="800" b="1" dirty="0">
                          <a:solidFill>
                            <a:srgbClr val="1F2937"/>
                          </a:solidFill>
                          <a:latin typeface="Arial" pitchFamily="34" charset="0"/>
                          <a:ea typeface="Arial" pitchFamily="34" charset="-122"/>
                          <a:cs typeface="Arial" pitchFamily="34" charset="-120"/>
                        </a:rPr>
                        <a:t>SBC102-01/038</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lang="en-US" sz="800" dirty="0">
                          <a:solidFill>
                            <a:srgbClr val="1F2937"/>
                          </a:solidFill>
                          <a:latin typeface="Arial" pitchFamily="34" charset="0"/>
                          <a:ea typeface="Arial" pitchFamily="34" charset="-122"/>
                          <a:cs typeface="Arial" pitchFamily="34" charset="-120"/>
                        </a:rPr>
                        <a:t>NEW CABLE ONLY</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lang="en-US" sz="800" dirty="0">
                          <a:solidFill>
                            <a:srgbClr val="1F2937"/>
                          </a:solidFill>
                          <a:latin typeface="Arial" pitchFamily="34" charset="0"/>
                          <a:ea typeface="Arial" pitchFamily="34" charset="-122"/>
                          <a:cs typeface="Arial" pitchFamily="34" charset="-120"/>
                        </a:rPr>
                        <a:t>Sawcut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lang="en-US" sz="800" dirty="0">
                          <a:solidFill>
                            <a:srgbClr val="1F2937"/>
                          </a:solidFill>
                          <a:latin typeface="Arial" pitchFamily="34" charset="0"/>
                          <a:ea typeface="Arial" pitchFamily="34" charset="-122"/>
                          <a:cs typeface="Arial" pitchFamily="34" charset="-120"/>
                        </a:rPr>
                        <a:t>Full manhole-to-light cable replacement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22"/>
                  </a:ext>
                </a:extLst>
              </a:tr>
              <a:tr h="219456">
                <a:tc>
                  <a:txBody>
                    <a:bodyPr/>
                    <a:lstStyle/>
                    <a:p>
                      <a:pPr marL="0" indent="0">
                        <a:buNone/>
                      </a:pPr>
                      <a:r>
                        <a:rPr lang="en-US" sz="800" dirty="0">
                          <a:solidFill>
                            <a:srgbClr val="1F2937"/>
                          </a:solidFill>
                          <a:latin typeface="Arial" pitchFamily="34" charset="0"/>
                          <a:ea typeface="Arial" pitchFamily="34" charset="-122"/>
                          <a:cs typeface="Arial" pitchFamily="34" charset="-120"/>
                        </a:rPr>
                        <a:t>LOC-03</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lang="en-US" sz="800" b="1" dirty="0">
                          <a:solidFill>
                            <a:srgbClr val="1F2937"/>
                          </a:solidFill>
                          <a:latin typeface="Arial" pitchFamily="34" charset="0"/>
                          <a:ea typeface="Arial" pitchFamily="34" charset="-122"/>
                          <a:cs typeface="Arial" pitchFamily="34" charset="-120"/>
                        </a:rPr>
                        <a:t>SBC102-01/039</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lang="en-US" sz="800" dirty="0">
                          <a:solidFill>
                            <a:srgbClr val="1F2937"/>
                          </a:solidFill>
                          <a:latin typeface="Arial" pitchFamily="34" charset="0"/>
                          <a:ea typeface="Arial" pitchFamily="34" charset="-122"/>
                          <a:cs typeface="Arial" pitchFamily="34" charset="-120"/>
                        </a:rPr>
                        <a:t>NEW CABLE ONLY</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lang="en-US" sz="800" dirty="0">
                          <a:solidFill>
                            <a:srgbClr val="1F2937"/>
                          </a:solidFill>
                          <a:latin typeface="Arial" pitchFamily="34" charset="0"/>
                          <a:ea typeface="Arial" pitchFamily="34" charset="-122"/>
                          <a:cs typeface="Arial" pitchFamily="34" charset="-120"/>
                        </a:rPr>
                        <a:t>Sawcut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lang="en-US" sz="800" dirty="0">
                          <a:solidFill>
                            <a:srgbClr val="1F2937"/>
                          </a:solidFill>
                          <a:latin typeface="Arial" pitchFamily="34" charset="0"/>
                          <a:ea typeface="Arial" pitchFamily="34" charset="-122"/>
                          <a:cs typeface="Arial" pitchFamily="34" charset="-120"/>
                        </a:rPr>
                        <a:t>Full manhole-to-light cable replacement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23"/>
                  </a:ext>
                </a:extLst>
              </a:tr>
              <a:tr h="219456">
                <a:tc>
                  <a:txBody>
                    <a:bodyPr/>
                    <a:lstStyle/>
                    <a:p>
                      <a:pPr marL="0" indent="0">
                        <a:buNone/>
                      </a:pPr>
                      <a:r>
                        <a:rPr lang="en-US" sz="800" dirty="0">
                          <a:solidFill>
                            <a:srgbClr val="1F2937"/>
                          </a:solidFill>
                          <a:latin typeface="Arial" pitchFamily="34" charset="0"/>
                          <a:ea typeface="Arial" pitchFamily="34" charset="-122"/>
                          <a:cs typeface="Arial" pitchFamily="34" charset="-120"/>
                        </a:rPr>
                        <a:t>LOC-03</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lang="en-US" sz="800" b="1" dirty="0">
                          <a:solidFill>
                            <a:srgbClr val="1F2937"/>
                          </a:solidFill>
                          <a:latin typeface="Arial" pitchFamily="34" charset="0"/>
                          <a:ea typeface="Arial" pitchFamily="34" charset="-122"/>
                          <a:cs typeface="Arial" pitchFamily="34" charset="-120"/>
                        </a:rPr>
                        <a:t>SBC102-02/035</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lang="en-US" sz="800" dirty="0">
                          <a:solidFill>
                            <a:srgbClr val="1F2937"/>
                          </a:solidFill>
                          <a:latin typeface="Arial" pitchFamily="34" charset="0"/>
                          <a:ea typeface="Arial" pitchFamily="34" charset="-122"/>
                          <a:cs typeface="Arial" pitchFamily="34" charset="-120"/>
                        </a:rPr>
                        <a:t>NEW CABLE ONLY</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lang="en-US" sz="800" dirty="0">
                          <a:solidFill>
                            <a:srgbClr val="1F2937"/>
                          </a:solidFill>
                          <a:latin typeface="Arial" pitchFamily="34" charset="0"/>
                          <a:ea typeface="Arial" pitchFamily="34" charset="-122"/>
                          <a:cs typeface="Arial" pitchFamily="34" charset="-120"/>
                        </a:rPr>
                        <a:t>Sawcut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lang="en-US" sz="800" dirty="0">
                          <a:solidFill>
                            <a:srgbClr val="1F2937"/>
                          </a:solidFill>
                          <a:latin typeface="Arial" pitchFamily="34" charset="0"/>
                          <a:ea typeface="Arial" pitchFamily="34" charset="-122"/>
                          <a:cs typeface="Arial" pitchFamily="34" charset="-120"/>
                        </a:rPr>
                        <a:t>Full manhole-to-light cable replacement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24"/>
                  </a:ext>
                </a:extLst>
              </a:tr>
              <a:tr h="219456">
                <a:tc>
                  <a:txBody>
                    <a:bodyPr/>
                    <a:lstStyle/>
                    <a:p>
                      <a:pPr marL="0" indent="0">
                        <a:buNone/>
                      </a:pPr>
                      <a:r>
                        <a:rPr lang="en-US" sz="800" dirty="0">
                          <a:solidFill>
                            <a:srgbClr val="1F2937"/>
                          </a:solidFill>
                          <a:latin typeface="Arial" pitchFamily="34" charset="0"/>
                          <a:ea typeface="Arial" pitchFamily="34" charset="-122"/>
                          <a:cs typeface="Arial" pitchFamily="34" charset="-120"/>
                        </a:rPr>
                        <a:t>LOC-03</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lang="en-US" sz="800" b="1" dirty="0">
                          <a:solidFill>
                            <a:srgbClr val="1F2937"/>
                          </a:solidFill>
                          <a:latin typeface="Arial" pitchFamily="34" charset="0"/>
                          <a:ea typeface="Arial" pitchFamily="34" charset="-122"/>
                          <a:cs typeface="Arial" pitchFamily="34" charset="-120"/>
                        </a:rPr>
                        <a:t>SBC102-02/036</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lang="en-US" sz="800" dirty="0">
                          <a:solidFill>
                            <a:srgbClr val="1F2937"/>
                          </a:solidFill>
                          <a:latin typeface="Arial" pitchFamily="34" charset="0"/>
                          <a:ea typeface="Arial" pitchFamily="34" charset="-122"/>
                          <a:cs typeface="Arial" pitchFamily="34" charset="-120"/>
                        </a:rPr>
                        <a:t>NEW CABLE ONLY</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lang="en-US" sz="800" dirty="0">
                          <a:solidFill>
                            <a:srgbClr val="1F2937"/>
                          </a:solidFill>
                          <a:latin typeface="Arial" pitchFamily="34" charset="0"/>
                          <a:ea typeface="Arial" pitchFamily="34" charset="-122"/>
                          <a:cs typeface="Arial" pitchFamily="34" charset="-120"/>
                        </a:rPr>
                        <a:t>Sawcut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lang="en-US" sz="800" dirty="0">
                          <a:solidFill>
                            <a:srgbClr val="1F2937"/>
                          </a:solidFill>
                          <a:latin typeface="Arial" pitchFamily="34" charset="0"/>
                          <a:ea typeface="Arial" pitchFamily="34" charset="-122"/>
                          <a:cs typeface="Arial" pitchFamily="34" charset="-120"/>
                        </a:rPr>
                        <a:t>Full manhole-to-light cable replacement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25"/>
                  </a:ext>
                </a:extLst>
              </a:tr>
              <a:tr h="219456">
                <a:tc>
                  <a:txBody>
                    <a:bodyPr/>
                    <a:lstStyle/>
                    <a:p>
                      <a:pPr marL="0" indent="0">
                        <a:buNone/>
                      </a:pPr>
                      <a:r>
                        <a:rPr lang="en-US" sz="800" dirty="0">
                          <a:solidFill>
                            <a:srgbClr val="1F2937"/>
                          </a:solidFill>
                          <a:latin typeface="Arial" pitchFamily="34" charset="0"/>
                          <a:ea typeface="Arial" pitchFamily="34" charset="-122"/>
                          <a:cs typeface="Arial" pitchFamily="34" charset="-120"/>
                        </a:rPr>
                        <a:t>LOC-03</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lang="en-US" sz="800" b="1" dirty="0">
                          <a:solidFill>
                            <a:srgbClr val="1F2937"/>
                          </a:solidFill>
                          <a:latin typeface="Arial" pitchFamily="34" charset="0"/>
                          <a:ea typeface="Arial" pitchFamily="34" charset="-122"/>
                          <a:cs typeface="Arial" pitchFamily="34" charset="-120"/>
                        </a:rPr>
                        <a:t>SBC102-01/040</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lang="en-US" sz="800" dirty="0">
                          <a:solidFill>
                            <a:srgbClr val="1F2937"/>
                          </a:solidFill>
                          <a:latin typeface="Arial" pitchFamily="34" charset="0"/>
                          <a:ea typeface="Arial" pitchFamily="34" charset="-122"/>
                          <a:cs typeface="Arial" pitchFamily="34" charset="-120"/>
                        </a:rPr>
                        <a:t>NEW CABLE ONLY</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lang="en-US" sz="800" dirty="0">
                          <a:solidFill>
                            <a:srgbClr val="1F2937"/>
                          </a:solidFill>
                          <a:latin typeface="Arial" pitchFamily="34" charset="0"/>
                          <a:ea typeface="Arial" pitchFamily="34" charset="-122"/>
                          <a:cs typeface="Arial" pitchFamily="34" charset="-120"/>
                        </a:rPr>
                        <a:t>Duct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lang="en-US" sz="800" dirty="0">
                          <a:solidFill>
                            <a:srgbClr val="1F2937"/>
                          </a:solidFill>
                          <a:latin typeface="Arial" pitchFamily="34" charset="0"/>
                          <a:ea typeface="Arial" pitchFamily="34" charset="-122"/>
                          <a:cs typeface="Arial" pitchFamily="34" charset="-120"/>
                        </a:rPr>
                        <a:t>Full manhole-to-light cable replacement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26"/>
                  </a:ext>
                </a:extLst>
              </a:tr>
              <a:tr h="219456">
                <a:tc>
                  <a:txBody>
                    <a:bodyPr/>
                    <a:lstStyle/>
                    <a:p>
                      <a:pPr marL="0" indent="0">
                        <a:buNone/>
                      </a:pPr>
                      <a:r>
                        <a:rPr lang="en-US" sz="800" dirty="0">
                          <a:solidFill>
                            <a:srgbClr val="1F2937"/>
                          </a:solidFill>
                          <a:latin typeface="Arial" pitchFamily="34" charset="0"/>
                          <a:ea typeface="Arial" pitchFamily="34" charset="-122"/>
                          <a:cs typeface="Arial" pitchFamily="34" charset="-120"/>
                        </a:rPr>
                        <a:t>LOC-03</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lang="en-US" sz="800" b="1" dirty="0">
                          <a:solidFill>
                            <a:srgbClr val="1F2937"/>
                          </a:solidFill>
                          <a:latin typeface="Arial" pitchFamily="34" charset="0"/>
                          <a:ea typeface="Arial" pitchFamily="34" charset="-122"/>
                          <a:cs typeface="Arial" pitchFamily="34" charset="-120"/>
                        </a:rPr>
                        <a:t>SBC102-01/041</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lang="en-US" sz="800" dirty="0">
                          <a:solidFill>
                            <a:srgbClr val="1F2937"/>
                          </a:solidFill>
                          <a:latin typeface="Arial" pitchFamily="34" charset="0"/>
                          <a:ea typeface="Arial" pitchFamily="34" charset="-122"/>
                          <a:cs typeface="Arial" pitchFamily="34" charset="-120"/>
                        </a:rPr>
                        <a:t>NEW CABLE ONLY</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lang="en-US" sz="800" dirty="0">
                          <a:solidFill>
                            <a:srgbClr val="1F2937"/>
                          </a:solidFill>
                          <a:latin typeface="Arial" pitchFamily="34" charset="0"/>
                          <a:ea typeface="Arial" pitchFamily="34" charset="-122"/>
                          <a:cs typeface="Arial" pitchFamily="34" charset="-120"/>
                        </a:rPr>
                        <a:t>Duct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lang="en-US" sz="800" dirty="0">
                          <a:solidFill>
                            <a:srgbClr val="1F2937"/>
                          </a:solidFill>
                          <a:latin typeface="Arial" pitchFamily="34" charset="0"/>
                          <a:ea typeface="Arial" pitchFamily="34" charset="-122"/>
                          <a:cs typeface="Arial" pitchFamily="34" charset="-120"/>
                        </a:rPr>
                        <a:t>Full manhole-to-light cable replacement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27"/>
                  </a:ext>
                </a:extLst>
              </a:tr>
              <a:tr h="219456">
                <a:tc>
                  <a:txBody>
                    <a:bodyPr/>
                    <a:lstStyle/>
                    <a:p>
                      <a:pPr marL="0" indent="0">
                        <a:buNone/>
                      </a:pPr>
                      <a:r>
                        <a:rPr lang="en-US" sz="800" dirty="0">
                          <a:solidFill>
                            <a:srgbClr val="1F2937"/>
                          </a:solidFill>
                          <a:latin typeface="Arial" pitchFamily="34" charset="0"/>
                          <a:ea typeface="Arial" pitchFamily="34" charset="-122"/>
                          <a:cs typeface="Arial" pitchFamily="34" charset="-120"/>
                        </a:rPr>
                        <a:t>LOC-03</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lang="en-US" sz="800" b="1" dirty="0">
                          <a:solidFill>
                            <a:srgbClr val="1F2937"/>
                          </a:solidFill>
                          <a:latin typeface="Arial" pitchFamily="34" charset="0"/>
                          <a:ea typeface="Arial" pitchFamily="34" charset="-122"/>
                          <a:cs typeface="Arial" pitchFamily="34" charset="-120"/>
                        </a:rPr>
                        <a:t>SBC102-02/037</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lang="en-US" sz="800" dirty="0">
                          <a:solidFill>
                            <a:srgbClr val="1F2937"/>
                          </a:solidFill>
                          <a:latin typeface="Arial" pitchFamily="34" charset="0"/>
                          <a:ea typeface="Arial" pitchFamily="34" charset="-122"/>
                          <a:cs typeface="Arial" pitchFamily="34" charset="-120"/>
                        </a:rPr>
                        <a:t>NEW CABLE ONLY</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lang="en-US" sz="800" dirty="0">
                          <a:solidFill>
                            <a:srgbClr val="1F2937"/>
                          </a:solidFill>
                          <a:latin typeface="Arial" pitchFamily="34" charset="0"/>
                          <a:ea typeface="Arial" pitchFamily="34" charset="-122"/>
                          <a:cs typeface="Arial" pitchFamily="34" charset="-120"/>
                        </a:rPr>
                        <a:t>Duct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lang="en-US" sz="800" dirty="0">
                          <a:solidFill>
                            <a:srgbClr val="1F2937"/>
                          </a:solidFill>
                          <a:latin typeface="Arial" pitchFamily="34" charset="0"/>
                          <a:ea typeface="Arial" pitchFamily="34" charset="-122"/>
                          <a:cs typeface="Arial" pitchFamily="34" charset="-120"/>
                        </a:rPr>
                        <a:t>Full manhole-to-light cable replacement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28"/>
                  </a:ext>
                </a:extLst>
              </a:tr>
              <a:tr h="219456">
                <a:tc>
                  <a:txBody>
                    <a:bodyPr/>
                    <a:lstStyle/>
                    <a:p>
                      <a:pPr marL="0" indent="0">
                        <a:buNone/>
                      </a:pPr>
                      <a:r>
                        <a:rPr lang="en-US" sz="800" dirty="0">
                          <a:solidFill>
                            <a:srgbClr val="1F2937"/>
                          </a:solidFill>
                          <a:latin typeface="Arial" pitchFamily="34" charset="0"/>
                          <a:ea typeface="Arial" pitchFamily="34" charset="-122"/>
                          <a:cs typeface="Arial" pitchFamily="34" charset="-120"/>
                        </a:rPr>
                        <a:t>LOC-03</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lang="en-US" sz="800" b="1" dirty="0">
                          <a:solidFill>
                            <a:srgbClr val="1F2937"/>
                          </a:solidFill>
                          <a:latin typeface="Arial" pitchFamily="34" charset="0"/>
                          <a:ea typeface="Arial" pitchFamily="34" charset="-122"/>
                          <a:cs typeface="Arial" pitchFamily="34" charset="-120"/>
                        </a:rPr>
                        <a:t>SBC102-02/038</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lang="en-US" sz="800" dirty="0">
                          <a:solidFill>
                            <a:srgbClr val="1F2937"/>
                          </a:solidFill>
                          <a:latin typeface="Arial" pitchFamily="34" charset="0"/>
                          <a:ea typeface="Arial" pitchFamily="34" charset="-122"/>
                          <a:cs typeface="Arial" pitchFamily="34" charset="-120"/>
                        </a:rPr>
                        <a:t>NEW CABLE ONLY</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lang="en-US" sz="800" dirty="0">
                          <a:solidFill>
                            <a:srgbClr val="1F2937"/>
                          </a:solidFill>
                          <a:latin typeface="Arial" pitchFamily="34" charset="0"/>
                          <a:ea typeface="Arial" pitchFamily="34" charset="-122"/>
                          <a:cs typeface="Arial" pitchFamily="34" charset="-120"/>
                        </a:rPr>
                        <a:t>Duct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lang="en-US" sz="800" dirty="0">
                          <a:solidFill>
                            <a:srgbClr val="1F2937"/>
                          </a:solidFill>
                          <a:latin typeface="Arial" pitchFamily="34" charset="0"/>
                          <a:ea typeface="Arial" pitchFamily="34" charset="-122"/>
                          <a:cs typeface="Arial" pitchFamily="34" charset="-120"/>
                        </a:rPr>
                        <a:t>Full manhole-to-light cable replacement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29"/>
                  </a:ext>
                </a:extLst>
              </a:tr>
              <a:tr h="219456">
                <a:tc>
                  <a:txBody>
                    <a:bodyPr/>
                    <a:lstStyle/>
                    <a:p>
                      <a:pPr marL="0" indent="0">
                        <a:buNone/>
                      </a:pPr>
                      <a:r>
                        <a:rPr lang="en-US" sz="800" dirty="0">
                          <a:solidFill>
                            <a:srgbClr val="1F2937"/>
                          </a:solidFill>
                          <a:latin typeface="Arial" pitchFamily="34" charset="0"/>
                          <a:ea typeface="Arial" pitchFamily="34" charset="-122"/>
                          <a:cs typeface="Arial" pitchFamily="34" charset="-120"/>
                        </a:rPr>
                        <a:t>LOC-03</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lang="en-US" sz="800" b="1" dirty="0">
                          <a:solidFill>
                            <a:srgbClr val="1F2937"/>
                          </a:solidFill>
                          <a:latin typeface="Arial" pitchFamily="34" charset="0"/>
                          <a:ea typeface="Arial" pitchFamily="34" charset="-122"/>
                          <a:cs typeface="Arial" pitchFamily="34" charset="-120"/>
                        </a:rPr>
                        <a:t>TCCECH-03/002</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lang="en-US" sz="800" dirty="0">
                          <a:solidFill>
                            <a:srgbClr val="1F2937"/>
                          </a:solidFill>
                          <a:latin typeface="Arial" pitchFamily="34" charset="0"/>
                          <a:ea typeface="Arial" pitchFamily="34" charset="-122"/>
                          <a:cs typeface="Arial" pitchFamily="34" charset="-120"/>
                        </a:rPr>
                        <a:t>NEW CABLE ONLY</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lang="en-US" sz="800" dirty="0">
                          <a:solidFill>
                            <a:srgbClr val="1F2937"/>
                          </a:solidFill>
                          <a:latin typeface="Arial" pitchFamily="34" charset="0"/>
                          <a:ea typeface="Arial" pitchFamily="34" charset="-122"/>
                          <a:cs typeface="Arial" pitchFamily="34" charset="-120"/>
                        </a:rPr>
                        <a:t>Duct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lang="en-US" sz="800" dirty="0">
                          <a:solidFill>
                            <a:srgbClr val="1F2937"/>
                          </a:solidFill>
                          <a:latin typeface="Arial" pitchFamily="34" charset="0"/>
                          <a:ea typeface="Arial" pitchFamily="34" charset="-122"/>
                          <a:cs typeface="Arial" pitchFamily="34" charset="-120"/>
                        </a:rPr>
                        <a:t>Full manhole-to-light cable replacement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30"/>
                  </a:ext>
                </a:extLst>
              </a:tr>
              <a:tr h="219456">
                <a:tc>
                  <a:txBody>
                    <a:bodyPr/>
                    <a:lstStyle/>
                    <a:p>
                      <a:pPr marL="0" indent="0">
                        <a:buNone/>
                      </a:pPr>
                      <a:r>
                        <a:rPr lang="en-US" sz="800" dirty="0">
                          <a:solidFill>
                            <a:srgbClr val="1F2937"/>
                          </a:solidFill>
                          <a:latin typeface="Arial" pitchFamily="34" charset="0"/>
                          <a:ea typeface="Arial" pitchFamily="34" charset="-122"/>
                          <a:cs typeface="Arial" pitchFamily="34" charset="-120"/>
                        </a:rPr>
                        <a:t>LOC-03</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lang="en-US" sz="800" b="1" dirty="0">
                          <a:solidFill>
                            <a:srgbClr val="1F2937"/>
                          </a:solidFill>
                          <a:latin typeface="Arial" pitchFamily="34" charset="0"/>
                          <a:ea typeface="Arial" pitchFamily="34" charset="-122"/>
                          <a:cs typeface="Arial" pitchFamily="34" charset="-120"/>
                        </a:rPr>
                        <a:t>TCCECH-04/002</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lang="en-US" sz="800" dirty="0">
                          <a:solidFill>
                            <a:srgbClr val="1F2937"/>
                          </a:solidFill>
                          <a:latin typeface="Arial" pitchFamily="34" charset="0"/>
                          <a:ea typeface="Arial" pitchFamily="34" charset="-122"/>
                          <a:cs typeface="Arial" pitchFamily="34" charset="-120"/>
                        </a:rPr>
                        <a:t>NEW CABLE ONLY</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lang="en-US" sz="800" dirty="0">
                          <a:solidFill>
                            <a:srgbClr val="1F2937"/>
                          </a:solidFill>
                          <a:latin typeface="Arial" pitchFamily="34" charset="0"/>
                          <a:ea typeface="Arial" pitchFamily="34" charset="-122"/>
                          <a:cs typeface="Arial" pitchFamily="34" charset="-120"/>
                        </a:rPr>
                        <a:t>Duct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lang="en-US" sz="800" dirty="0">
                          <a:solidFill>
                            <a:srgbClr val="1F2937"/>
                          </a:solidFill>
                          <a:latin typeface="Arial" pitchFamily="34" charset="0"/>
                          <a:ea typeface="Arial" pitchFamily="34" charset="-122"/>
                          <a:cs typeface="Arial" pitchFamily="34" charset="-120"/>
                        </a:rPr>
                        <a:t>Full manhole-to-light cable replacement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31"/>
                  </a:ext>
                </a:extLst>
              </a:tr>
              <a:tr h="219456">
                <a:tc>
                  <a:txBody>
                    <a:bodyPr/>
                    <a:lstStyle/>
                    <a:p>
                      <a:pPr marL="0" indent="0">
                        <a:buNone/>
                      </a:pPr>
                      <a:r>
                        <a:rPr lang="en-US" sz="800" dirty="0">
                          <a:solidFill>
                            <a:srgbClr val="1F2937"/>
                          </a:solidFill>
                          <a:latin typeface="Arial" pitchFamily="34" charset="0"/>
                          <a:ea typeface="Arial" pitchFamily="34" charset="-122"/>
                          <a:cs typeface="Arial" pitchFamily="34" charset="-120"/>
                        </a:rPr>
                        <a:t>LOC-03</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lang="en-US" sz="800" b="1" dirty="0">
                          <a:solidFill>
                            <a:srgbClr val="1F2937"/>
                          </a:solidFill>
                          <a:latin typeface="Arial" pitchFamily="34" charset="0"/>
                          <a:ea typeface="Arial" pitchFamily="34" charset="-122"/>
                          <a:cs typeface="Arial" pitchFamily="34" charset="-120"/>
                        </a:rPr>
                        <a:t>TCCECH-03/003</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lang="en-US" sz="800" dirty="0">
                          <a:solidFill>
                            <a:srgbClr val="1F2937"/>
                          </a:solidFill>
                          <a:latin typeface="Arial" pitchFamily="34" charset="0"/>
                          <a:ea typeface="Arial" pitchFamily="34" charset="-122"/>
                          <a:cs typeface="Arial" pitchFamily="34" charset="-120"/>
                        </a:rPr>
                        <a:t>NEW CABLE ONLY</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lang="en-US" sz="800" dirty="0">
                          <a:solidFill>
                            <a:srgbClr val="1F2937"/>
                          </a:solidFill>
                          <a:latin typeface="Arial" pitchFamily="34" charset="0"/>
                          <a:ea typeface="Arial" pitchFamily="34" charset="-122"/>
                          <a:cs typeface="Arial" pitchFamily="34" charset="-120"/>
                        </a:rPr>
                        <a:t>Duct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lang="en-US" sz="800" dirty="0">
                          <a:solidFill>
                            <a:srgbClr val="1F2937"/>
                          </a:solidFill>
                          <a:latin typeface="Arial" pitchFamily="34" charset="0"/>
                          <a:ea typeface="Arial" pitchFamily="34" charset="-122"/>
                          <a:cs typeface="Arial" pitchFamily="34" charset="-120"/>
                        </a:rPr>
                        <a:t>Full manhole-to-light cable replacement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32"/>
                  </a:ext>
                </a:extLst>
              </a:tr>
              <a:tr h="219456">
                <a:tc>
                  <a:txBody>
                    <a:bodyPr/>
                    <a:lstStyle/>
                    <a:p>
                      <a:pPr marL="0" indent="0">
                        <a:buNone/>
                      </a:pPr>
                      <a:r>
                        <a:rPr lang="en-US" sz="800" dirty="0">
                          <a:solidFill>
                            <a:srgbClr val="1F2937"/>
                          </a:solidFill>
                          <a:latin typeface="Arial" pitchFamily="34" charset="0"/>
                          <a:ea typeface="Arial" pitchFamily="34" charset="-122"/>
                          <a:cs typeface="Arial" pitchFamily="34" charset="-120"/>
                        </a:rPr>
                        <a:t>LOC-03</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lang="en-US" sz="800" b="1" dirty="0">
                          <a:solidFill>
                            <a:srgbClr val="1F2937"/>
                          </a:solidFill>
                          <a:latin typeface="Arial" pitchFamily="34" charset="0"/>
                          <a:ea typeface="Arial" pitchFamily="34" charset="-122"/>
                          <a:cs typeface="Arial" pitchFamily="34" charset="-120"/>
                        </a:rPr>
                        <a:t>TCCECH-04/003</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lang="en-US" sz="800" dirty="0">
                          <a:solidFill>
                            <a:srgbClr val="1F2937"/>
                          </a:solidFill>
                          <a:latin typeface="Arial" pitchFamily="34" charset="0"/>
                          <a:ea typeface="Arial" pitchFamily="34" charset="-122"/>
                          <a:cs typeface="Arial" pitchFamily="34" charset="-120"/>
                        </a:rPr>
                        <a:t>NEW CABLE ONLY</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lang="en-US" sz="800" dirty="0">
                          <a:solidFill>
                            <a:srgbClr val="1F2937"/>
                          </a:solidFill>
                          <a:latin typeface="Arial" pitchFamily="34" charset="0"/>
                          <a:ea typeface="Arial" pitchFamily="34" charset="-122"/>
                          <a:cs typeface="Arial" pitchFamily="34" charset="-120"/>
                        </a:rPr>
                        <a:t>Duct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lang="en-US" sz="800" dirty="0">
                          <a:solidFill>
                            <a:srgbClr val="1F2937"/>
                          </a:solidFill>
                          <a:latin typeface="Arial" pitchFamily="34" charset="0"/>
                          <a:ea typeface="Arial" pitchFamily="34" charset="-122"/>
                          <a:cs typeface="Arial" pitchFamily="34" charset="-120"/>
                        </a:rPr>
                        <a:t>Full manhole-to-light cable replacement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33"/>
                  </a:ext>
                </a:extLst>
              </a:tr>
              <a:tr h="219456">
                <a:tc>
                  <a:txBody>
                    <a:bodyPr/>
                    <a:lstStyle/>
                    <a:p>
                      <a:pPr marL="0" indent="0">
                        <a:buNone/>
                      </a:pPr>
                      <a:r>
                        <a:rPr lang="en-US" sz="800" dirty="0">
                          <a:solidFill>
                            <a:srgbClr val="1F2937"/>
                          </a:solidFill>
                          <a:latin typeface="Arial" pitchFamily="34" charset="0"/>
                          <a:ea typeface="Arial" pitchFamily="34" charset="-122"/>
                          <a:cs typeface="Arial" pitchFamily="34" charset="-120"/>
                        </a:rPr>
                        <a:t>LOC-03</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lang="en-US" sz="800" b="1" dirty="0">
                          <a:solidFill>
                            <a:srgbClr val="1F2937"/>
                          </a:solidFill>
                          <a:latin typeface="Arial" pitchFamily="34" charset="0"/>
                          <a:ea typeface="Arial" pitchFamily="34" charset="-122"/>
                          <a:cs typeface="Arial" pitchFamily="34" charset="-120"/>
                        </a:rPr>
                        <a:t>RRM.557</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lang="en-US" sz="800" dirty="0">
                          <a:solidFill>
                            <a:srgbClr val="1F2937"/>
                          </a:solidFill>
                          <a:latin typeface="Arial" pitchFamily="34" charset="0"/>
                          <a:ea typeface="Arial" pitchFamily="34" charset="-122"/>
                          <a:cs typeface="Arial" pitchFamily="34" charset="-120"/>
                        </a:rPr>
                        <a:t>RRM REMOVE / PROTECT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lang="en-US" sz="800" dirty="0">
                          <a:solidFill>
                            <a:srgbClr val="1F2937"/>
                          </a:solidFill>
                          <a:latin typeface="Arial" pitchFamily="34" charset="0"/>
                          <a:ea typeface="Arial" pitchFamily="34" charset="-122"/>
                          <a:cs typeface="Arial" pitchFamily="34" charset="-120"/>
                        </a:rPr>
                        <a: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lang="en-US" sz="800" dirty="0">
                          <a:solidFill>
                            <a:srgbClr val="1F2937"/>
                          </a:solidFill>
                          <a:latin typeface="Arial" pitchFamily="34" charset="0"/>
                          <a:ea typeface="Arial" pitchFamily="34" charset="-122"/>
                          <a:cs typeface="Arial" pitchFamily="34" charset="-120"/>
                        </a:rPr>
                        <a:t>Remove / protect before sawcut, re-fix after paving</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34"/>
                  </a:ext>
                </a:extLst>
              </a:tr>
              <a:tr h="219456">
                <a:tc>
                  <a:txBody>
                    <a:bodyPr/>
                    <a:lstStyle/>
                    <a:p>
                      <a:pPr marL="0" indent="0">
                        <a:buNone/>
                      </a:pPr>
                      <a:r>
                        <a:rPr lang="en-US" sz="800" dirty="0">
                          <a:solidFill>
                            <a:srgbClr val="1F2937"/>
                          </a:solidFill>
                          <a:latin typeface="Arial" pitchFamily="34" charset="0"/>
                          <a:ea typeface="Arial" pitchFamily="34" charset="-122"/>
                          <a:cs typeface="Arial" pitchFamily="34" charset="-120"/>
                        </a:rPr>
                        <a:t>LOC-03</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lang="en-US" sz="800" b="1" dirty="0">
                          <a:solidFill>
                            <a:srgbClr val="1F2937"/>
                          </a:solidFill>
                          <a:latin typeface="Arial" pitchFamily="34" charset="0"/>
                          <a:ea typeface="Arial" pitchFamily="34" charset="-122"/>
                          <a:cs typeface="Arial" pitchFamily="34" charset="-120"/>
                        </a:rPr>
                        <a:t>RRM.670</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lang="en-US" sz="800" dirty="0">
                          <a:solidFill>
                            <a:srgbClr val="1F2937"/>
                          </a:solidFill>
                          <a:latin typeface="Arial" pitchFamily="34" charset="0"/>
                          <a:ea typeface="Arial" pitchFamily="34" charset="-122"/>
                          <a:cs typeface="Arial" pitchFamily="34" charset="-120"/>
                        </a:rPr>
                        <a:t>RRM REMOVE / PROTECT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lang="en-US" sz="800" dirty="0">
                          <a:solidFill>
                            <a:srgbClr val="1F2937"/>
                          </a:solidFill>
                          <a:latin typeface="Arial" pitchFamily="34" charset="0"/>
                          <a:ea typeface="Arial" pitchFamily="34" charset="-122"/>
                          <a:cs typeface="Arial" pitchFamily="34" charset="-120"/>
                        </a:rPr>
                        <a: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lang="en-US" sz="800" dirty="0">
                          <a:solidFill>
                            <a:srgbClr val="1F2937"/>
                          </a:solidFill>
                          <a:latin typeface="Arial" pitchFamily="34" charset="0"/>
                          <a:ea typeface="Arial" pitchFamily="34" charset="-122"/>
                          <a:cs typeface="Arial" pitchFamily="34" charset="-120"/>
                        </a:rPr>
                        <a:t>Remove / protect before sawcut, re-fix after paving</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35"/>
                  </a:ext>
                </a:extLst>
              </a:tr>
            </a:tbl>
          </a:graphicData>
        </a:graphic>
      </p:graphicFrame>
      <p:sp>
        <p:nvSpPr>
          <p:cNvPr id="4" name="Text 1"/>
          <p:cNvSpPr/>
          <p:nvPr/>
        </p:nvSpPr>
        <p:spPr>
          <a:xfrm>
            <a:off x="457200" y="10104120"/>
            <a:ext cx="14173200" cy="365760"/>
          </a:xfrm>
          <a:prstGeom prst="rect">
            <a:avLst/>
          </a:prstGeom>
          <a:noFill/>
          <a:ln/>
        </p:spPr>
        <p:txBody>
          <a:bodyPr wrap="square" lIns="0" tIns="0" rIns="0" bIns="0" rtlCol="0" anchor="ctr"/>
          <a:lstStyle/>
          <a:p>
            <a:pPr marL="0" indent="0">
              <a:buNone/>
            </a:pPr>
            <a:endParaRPr lang="en-US" sz="1000" dirty="0"/>
            <a:r>
              <a:rPr lang="en-US" sz="900" i="1" dirty="0">
                <a:solidFill>
                  <a:srgbClr val="5F6368"/>
                </a:solidFill>
                <a:latin typeface="Arial" pitchFamily="34" charset="0"/>
                <a:ea typeface="Arial" pitchFamily="34" charset="-122"/>
                <a:cs typeface="Arial" pitchFamily="34" charset="-120"/>
              </a:rPr>
              <a:t>Totals: 11 core-outs (Location 1 only) · 31 secondary cable runs · 3 RRMs · 1 field-verified not affected.  ·  The "Route" column is carried over from Rev P05 and is NOT derived from the as-built duct data: per-asset attribution could not be established from the sheets (see sheet 6, limit d). Sheet-level duct schedule is on sheet 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20040" y="164592"/>
            <a:ext cx="14484033" cy="457200"/>
          </a:xfrm>
          <a:prstGeom prst="rect">
            <a:avLst/>
          </a:prstGeom>
          <a:noFill/>
        </p:spPr>
        <p:txBody>
          <a:bodyPr wrap="square" anchor="t" lIns="0" rIns="0" tIns="0" bIns="0">
            <a:spAutoFit/>
          </a:bodyPr>
          <a:lstStyle/>
          <a:p>
            <a:pPr algn="l"/>
            <a:r>
              <a:rPr sz="1500" b="1">
                <a:solidFill>
                  <a:srgbClr val="1E2761"/>
                </a:solidFill>
                <a:latin typeface="Calibri"/>
              </a:rPr>
              <a:t>SHEET 6 — DUCT PROVENANCE &amp; REGISTRATION VERIFICATION  ·  TWY E (E4–E6) REV P06</a:t>
            </a:r>
          </a:p>
        </p:txBody>
      </p:sp>
      <p:sp>
        <p:nvSpPr>
          <p:cNvPr id="3" name="Rectangle 2"/>
          <p:cNvSpPr/>
          <p:nvPr/>
        </p:nvSpPr>
        <p:spPr>
          <a:xfrm>
            <a:off x="320040" y="750000"/>
            <a:ext cx="7100000" cy="1570000"/>
          </a:xfrm>
          <a:prstGeom prst="rect">
            <a:avLst/>
          </a:prstGeom>
          <a:solidFill>
            <a:srgbClr val="FFFFFF"/>
          </a:solidFill>
          <a:ln w="9525">
            <a:solidFill>
              <a:srgbClr val="D5DA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40040" y="860000"/>
            <a:ext cx="6860000" cy="240000"/>
          </a:xfrm>
          <a:prstGeom prst="rect">
            <a:avLst/>
          </a:prstGeom>
          <a:noFill/>
        </p:spPr>
        <p:txBody>
          <a:bodyPr wrap="square" anchor="t" lIns="0" rIns="0" tIns="0" bIns="0">
            <a:spAutoFit/>
          </a:bodyPr>
          <a:lstStyle/>
          <a:p>
            <a:pPr algn="l"/>
            <a:r>
              <a:rPr sz="1000" b="1">
                <a:solidFill>
                  <a:srgbClr val="1E2761"/>
                </a:solidFill>
                <a:latin typeface="Calibri"/>
              </a:rPr>
              <a:t>1 · SOURCE OF THE DUCT GEOMETRY</a:t>
            </a:r>
          </a:p>
        </p:txBody>
      </p:sp>
      <p:sp>
        <p:nvSpPr>
          <p:cNvPr id="5" name="TextBox 4"/>
          <p:cNvSpPr txBox="1"/>
          <p:nvPr/>
        </p:nvSpPr>
        <p:spPr>
          <a:xfrm>
            <a:off x="440040" y="1180000"/>
            <a:ext cx="6860000" cy="1500000"/>
          </a:xfrm>
          <a:prstGeom prst="rect">
            <a:avLst/>
          </a:prstGeom>
          <a:noFill/>
        </p:spPr>
        <p:txBody>
          <a:bodyPr wrap="square" anchor="t" lIns="0" rIns="0" tIns="0" bIns="0">
            <a:spAutoFit/>
          </a:bodyPr>
          <a:lstStyle/>
          <a:p>
            <a:pPr algn="l"/>
            <a:r>
              <a:rPr sz="850" b="0">
                <a:solidFill>
                  <a:srgbClr val="20242A"/>
                </a:solidFill>
                <a:latin typeface="Calibri"/>
              </a:rPr>
              <a:t>Drawing: Z1-Z2-Z3-MTA_SEGMENTATION.dxf, issued by Abu Dhabi Airports. AC1032 (AutoCAD 2018), $INSUNITS = 6 (metres), 549 MB, 2,564 layers, 12 model-space xrefs all inserted at (0,0,0), scale 1, rotation 0.</a:t>
            </a:r>
          </a:p>
          <a:p>
            <a:pPr algn="l"/>
            <a:r>
              <a:rPr sz="850" b="0">
                <a:solidFill>
                  <a:srgbClr val="20242A"/>
                </a:solidFill>
                <a:latin typeface="Calibri"/>
              </a:rPr>
              <a:t>Extracted population: 33,720 fixture INSERTs and 49,505 linear features (1,878 km), of which 17,101 features / 466 km are duct, ductbank, conduit, sawcut or secondary cable.</a:t>
            </a:r>
          </a:p>
          <a:p>
            <a:pPr algn="l"/>
            <a:r>
              <a:rPr sz="850" b="0">
                <a:solidFill>
                  <a:srgbClr val="20242A"/>
                </a:solidFill>
                <a:latin typeface="Calibri"/>
              </a:rPr>
              <a:t>Duct type, bore and way-count are read from the layer name — that is the only place the drawing records them (e.g. CV_OUTER DUCT 4x110mm dia).</a:t>
            </a:r>
          </a:p>
          <a:p>
            <a:pPr algn="l"/>
            <a:r>
              <a:rPr sz="850" b="0">
                <a:solidFill>
                  <a:srgbClr val="20242A"/>
                </a:solidFill>
                <a:latin typeface="Calibri"/>
              </a:rPr>
              <a:t>Extraction is reconciled against an independent per-layer entity census; every count above is asserted by an automated check, not read off by eye.</a:t>
            </a:r>
          </a:p>
        </p:txBody>
      </p:sp>
      <p:sp>
        <p:nvSpPr>
          <p:cNvPr id="6" name="Rectangle 5"/>
          <p:cNvSpPr/>
          <p:nvPr/>
        </p:nvSpPr>
        <p:spPr>
          <a:xfrm>
            <a:off x="320040" y="2440000"/>
            <a:ext cx="7100000" cy="2900000"/>
          </a:xfrm>
          <a:prstGeom prst="rect">
            <a:avLst/>
          </a:prstGeom>
          <a:solidFill>
            <a:srgbClr val="F4F6F8"/>
          </a:solidFill>
          <a:ln w="9525">
            <a:solidFill>
              <a:srgbClr val="D5DA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40040" y="2550000"/>
            <a:ext cx="6860000" cy="240000"/>
          </a:xfrm>
          <a:prstGeom prst="rect">
            <a:avLst/>
          </a:prstGeom>
          <a:noFill/>
        </p:spPr>
        <p:txBody>
          <a:bodyPr wrap="square" anchor="t" lIns="0" rIns="0" tIns="0" bIns="0">
            <a:spAutoFit/>
          </a:bodyPr>
          <a:lstStyle/>
          <a:p>
            <a:pPr algn="l"/>
            <a:r>
              <a:rPr sz="1000" b="1">
                <a:solidFill>
                  <a:srgbClr val="1E2761"/>
                </a:solidFill>
                <a:latin typeface="Calibri"/>
              </a:rPr>
              <a:t>2 · HOW SHEETS 2–4 WERE TIED TO THE SOURCE DRAWING</a:t>
            </a:r>
          </a:p>
        </p:txBody>
      </p:sp>
      <p:sp>
        <p:nvSpPr>
          <p:cNvPr id="8" name="TextBox 7"/>
          <p:cNvSpPr txBox="1"/>
          <p:nvPr/>
        </p:nvSpPr>
        <p:spPr>
          <a:xfrm>
            <a:off x="440040" y="2840000"/>
            <a:ext cx="6860000" cy="700000"/>
          </a:xfrm>
          <a:prstGeom prst="rect">
            <a:avLst/>
          </a:prstGeom>
          <a:noFill/>
        </p:spPr>
        <p:txBody>
          <a:bodyPr wrap="square" anchor="t" lIns="0" rIns="0" tIns="0" bIns="0">
            <a:spAutoFit/>
          </a:bodyPr>
          <a:lstStyle/>
          <a:p>
            <a:pPr algn="l"/>
            <a:r>
              <a:rPr sz="850" b="0">
                <a:solidFill>
                  <a:srgbClr val="20242A"/>
                </a:solidFill>
                <a:latin typeface="Calibri"/>
              </a:rPr>
              <a:t>The sheets carry no coordinate grid, so each was registered to the source drawing by matching the plotted AGL fitting pattern: type-matched 2-point RANSAC to find the correspondence, then a 4-parameter Helmert fit (translation, rotation, uniform scale) by least squares — not an affine, which would hide error as fake shear. Half the matched pairs were held back from the fit; the hold-out RMS below is the accuracy figure.</a:t>
            </a:r>
          </a:p>
        </p:txBody>
      </p:sp>
      <p:sp>
        <p:nvSpPr>
          <p:cNvPr id="9" name="TextBox 8"/>
          <p:cNvSpPr txBox="1"/>
          <p:nvPr/>
        </p:nvSpPr>
        <p:spPr>
          <a:xfrm>
            <a:off x="440040" y="3670000"/>
            <a:ext cx="900000" cy="320000"/>
          </a:xfrm>
          <a:prstGeom prst="rect">
            <a:avLst/>
          </a:prstGeom>
          <a:noFill/>
        </p:spPr>
        <p:txBody>
          <a:bodyPr wrap="square" anchor="t" lIns="0" rIns="0" tIns="0" bIns="0">
            <a:spAutoFit/>
          </a:bodyPr>
          <a:lstStyle/>
          <a:p>
            <a:pPr algn="l"/>
            <a:r>
              <a:rPr sz="700" b="1">
                <a:solidFill>
                  <a:srgbClr val="5F6368"/>
                </a:solidFill>
                <a:latin typeface="Calibri"/>
              </a:rPr>
              <a:t>Sheet</a:t>
            </a:r>
          </a:p>
        </p:txBody>
      </p:sp>
      <p:sp>
        <p:nvSpPr>
          <p:cNvPr id="10" name="TextBox 9"/>
          <p:cNvSpPr txBox="1"/>
          <p:nvPr/>
        </p:nvSpPr>
        <p:spPr>
          <a:xfrm>
            <a:off x="1340040" y="3670000"/>
            <a:ext cx="1150000" cy="320000"/>
          </a:xfrm>
          <a:prstGeom prst="rect">
            <a:avLst/>
          </a:prstGeom>
          <a:noFill/>
        </p:spPr>
        <p:txBody>
          <a:bodyPr wrap="square" anchor="t" lIns="0" rIns="0" tIns="0" bIns="0">
            <a:spAutoFit/>
          </a:bodyPr>
          <a:lstStyle/>
          <a:p>
            <a:pPr algn="l"/>
            <a:r>
              <a:rPr sz="700" b="1">
                <a:solidFill>
                  <a:srgbClr val="5F6368"/>
                </a:solidFill>
                <a:latin typeface="Calibri"/>
              </a:rPr>
              <a:t>Fitting symbols</a:t>
            </a:r>
          </a:p>
          <a:p>
            <a:pPr algn="l"/>
            <a:r>
              <a:rPr sz="700" b="1">
                <a:solidFill>
                  <a:srgbClr val="5F6368"/>
                </a:solidFill>
                <a:latin typeface="Calibri"/>
              </a:rPr>
              <a:t>in frame</a:t>
            </a:r>
          </a:p>
        </p:txBody>
      </p:sp>
      <p:sp>
        <p:nvSpPr>
          <p:cNvPr id="11" name="TextBox 10"/>
          <p:cNvSpPr txBox="1"/>
          <p:nvPr/>
        </p:nvSpPr>
        <p:spPr>
          <a:xfrm>
            <a:off x="2490040" y="3670000"/>
            <a:ext cx="1300000" cy="320000"/>
          </a:xfrm>
          <a:prstGeom prst="rect">
            <a:avLst/>
          </a:prstGeom>
          <a:noFill/>
        </p:spPr>
        <p:txBody>
          <a:bodyPr wrap="square" anchor="t" lIns="0" rIns="0" tIns="0" bIns="0">
            <a:spAutoFit/>
          </a:bodyPr>
          <a:lstStyle/>
          <a:p>
            <a:pPr algn="l"/>
            <a:r>
              <a:rPr sz="700" b="1">
                <a:solidFill>
                  <a:srgbClr val="5F6368"/>
                </a:solidFill>
                <a:latin typeface="Calibri"/>
              </a:rPr>
              <a:t>Matched to source</a:t>
            </a:r>
          </a:p>
          <a:p>
            <a:pPr algn="l"/>
            <a:r>
              <a:rPr sz="700" b="1">
                <a:solidFill>
                  <a:srgbClr val="5F6368"/>
                </a:solidFill>
                <a:latin typeface="Calibri"/>
              </a:rPr>
              <a:t>within 50 mm</a:t>
            </a:r>
          </a:p>
        </p:txBody>
      </p:sp>
      <p:sp>
        <p:nvSpPr>
          <p:cNvPr id="12" name="TextBox 11"/>
          <p:cNvSpPr txBox="1"/>
          <p:nvPr/>
        </p:nvSpPr>
        <p:spPr>
          <a:xfrm>
            <a:off x="3790040" y="3670000"/>
            <a:ext cx="700000" cy="320000"/>
          </a:xfrm>
          <a:prstGeom prst="rect">
            <a:avLst/>
          </a:prstGeom>
          <a:noFill/>
        </p:spPr>
        <p:txBody>
          <a:bodyPr wrap="square" anchor="t" lIns="0" rIns="0" tIns="0" bIns="0">
            <a:spAutoFit/>
          </a:bodyPr>
          <a:lstStyle/>
          <a:p>
            <a:pPr algn="l"/>
            <a:r>
              <a:rPr sz="700" b="1">
                <a:solidFill>
                  <a:srgbClr val="5F6368"/>
                </a:solidFill>
                <a:latin typeface="Calibri"/>
              </a:rPr>
              <a:t>Fit RMS</a:t>
            </a:r>
          </a:p>
        </p:txBody>
      </p:sp>
      <p:sp>
        <p:nvSpPr>
          <p:cNvPr id="13" name="TextBox 12"/>
          <p:cNvSpPr txBox="1"/>
          <p:nvPr/>
        </p:nvSpPr>
        <p:spPr>
          <a:xfrm>
            <a:off x="4490040" y="3670000"/>
            <a:ext cx="1500000" cy="320000"/>
          </a:xfrm>
          <a:prstGeom prst="rect">
            <a:avLst/>
          </a:prstGeom>
          <a:noFill/>
        </p:spPr>
        <p:txBody>
          <a:bodyPr wrap="square" anchor="t" lIns="0" rIns="0" tIns="0" bIns="0">
            <a:spAutoFit/>
          </a:bodyPr>
          <a:lstStyle/>
          <a:p>
            <a:pPr algn="l"/>
            <a:r>
              <a:rPr sz="700" b="1">
                <a:solidFill>
                  <a:srgbClr val="5F6368"/>
                </a:solidFill>
                <a:latin typeface="Calibri"/>
              </a:rPr>
              <a:t>HOLD-OUT RMS</a:t>
            </a:r>
          </a:p>
          <a:p>
            <a:pPr algn="l"/>
            <a:r>
              <a:rPr sz="700" b="1">
                <a:solidFill>
                  <a:srgbClr val="5F6368"/>
                </a:solidFill>
                <a:latin typeface="Calibri"/>
              </a:rPr>
              <a:t>(pairs never fitted)</a:t>
            </a:r>
          </a:p>
        </p:txBody>
      </p:sp>
      <p:sp>
        <p:nvSpPr>
          <p:cNvPr id="14" name="TextBox 13"/>
          <p:cNvSpPr txBox="1"/>
          <p:nvPr/>
        </p:nvSpPr>
        <p:spPr>
          <a:xfrm>
            <a:off x="5990040" y="3670000"/>
            <a:ext cx="850000" cy="320000"/>
          </a:xfrm>
          <a:prstGeom prst="rect">
            <a:avLst/>
          </a:prstGeom>
          <a:noFill/>
        </p:spPr>
        <p:txBody>
          <a:bodyPr wrap="square" anchor="t" lIns="0" rIns="0" tIns="0" bIns="0">
            <a:spAutoFit/>
          </a:bodyPr>
          <a:lstStyle/>
          <a:p>
            <a:pPr algn="l"/>
            <a:r>
              <a:rPr sz="700" b="1">
                <a:solidFill>
                  <a:srgbClr val="5F6368"/>
                </a:solidFill>
                <a:latin typeface="Calibri"/>
              </a:rPr>
              <a:t>Plotted scale</a:t>
            </a:r>
          </a:p>
        </p:txBody>
      </p:sp>
      <p:sp>
        <p:nvSpPr>
          <p:cNvPr id="15" name="TextBox 14"/>
          <p:cNvSpPr txBox="1"/>
          <p:nvPr/>
        </p:nvSpPr>
        <p:spPr>
          <a:xfrm>
            <a:off x="6840040" y="3670000"/>
            <a:ext cx="700000" cy="320000"/>
          </a:xfrm>
          <a:prstGeom prst="rect">
            <a:avLst/>
          </a:prstGeom>
          <a:noFill/>
        </p:spPr>
        <p:txBody>
          <a:bodyPr wrap="square" anchor="t" lIns="0" rIns="0" tIns="0" bIns="0">
            <a:spAutoFit/>
          </a:bodyPr>
          <a:lstStyle/>
          <a:p>
            <a:pPr algn="l"/>
            <a:r>
              <a:rPr sz="700" b="1">
                <a:solidFill>
                  <a:srgbClr val="5F6368"/>
                </a:solidFill>
                <a:latin typeface="Calibri"/>
              </a:rPr>
              <a:t>Frame on ground</a:t>
            </a:r>
          </a:p>
        </p:txBody>
      </p:sp>
      <p:sp>
        <p:nvSpPr>
          <p:cNvPr id="16" name="TextBox 15"/>
          <p:cNvSpPr txBox="1"/>
          <p:nvPr/>
        </p:nvSpPr>
        <p:spPr>
          <a:xfrm>
            <a:off x="440040" y="4050000"/>
            <a:ext cx="900000" cy="240000"/>
          </a:xfrm>
          <a:prstGeom prst="rect">
            <a:avLst/>
          </a:prstGeom>
          <a:noFill/>
        </p:spPr>
        <p:txBody>
          <a:bodyPr wrap="square" anchor="t" lIns="0" rIns="0" tIns="0" bIns="0">
            <a:spAutoFit/>
          </a:bodyPr>
          <a:lstStyle/>
          <a:p>
            <a:pPr algn="l"/>
            <a:r>
              <a:rPr sz="800" b="0">
                <a:solidFill>
                  <a:srgbClr val="20242A"/>
                </a:solidFill>
                <a:latin typeface="Calibri"/>
              </a:rPr>
              <a:t>LOC-01</a:t>
            </a:r>
          </a:p>
        </p:txBody>
      </p:sp>
      <p:sp>
        <p:nvSpPr>
          <p:cNvPr id="17" name="TextBox 16"/>
          <p:cNvSpPr txBox="1"/>
          <p:nvPr/>
        </p:nvSpPr>
        <p:spPr>
          <a:xfrm>
            <a:off x="1340040" y="4050000"/>
            <a:ext cx="1150000" cy="240000"/>
          </a:xfrm>
          <a:prstGeom prst="rect">
            <a:avLst/>
          </a:prstGeom>
          <a:noFill/>
        </p:spPr>
        <p:txBody>
          <a:bodyPr wrap="square" anchor="t" lIns="0" rIns="0" tIns="0" bIns="0">
            <a:spAutoFit/>
          </a:bodyPr>
          <a:lstStyle/>
          <a:p>
            <a:pPr algn="l"/>
            <a:r>
              <a:rPr sz="800" b="0">
                <a:solidFill>
                  <a:srgbClr val="20242A"/>
                </a:solidFill>
                <a:latin typeface="Calibri"/>
              </a:rPr>
              <a:t>64</a:t>
            </a:r>
          </a:p>
        </p:txBody>
      </p:sp>
      <p:sp>
        <p:nvSpPr>
          <p:cNvPr id="18" name="TextBox 17"/>
          <p:cNvSpPr txBox="1"/>
          <p:nvPr/>
        </p:nvSpPr>
        <p:spPr>
          <a:xfrm>
            <a:off x="2490040" y="4050000"/>
            <a:ext cx="1300000" cy="240000"/>
          </a:xfrm>
          <a:prstGeom prst="rect">
            <a:avLst/>
          </a:prstGeom>
          <a:noFill/>
        </p:spPr>
        <p:txBody>
          <a:bodyPr wrap="square" anchor="t" lIns="0" rIns="0" tIns="0" bIns="0">
            <a:spAutoFit/>
          </a:bodyPr>
          <a:lstStyle/>
          <a:p>
            <a:pPr algn="l"/>
            <a:r>
              <a:rPr sz="800" b="0">
                <a:solidFill>
                  <a:srgbClr val="20242A"/>
                </a:solidFill>
                <a:latin typeface="Calibri"/>
              </a:rPr>
              <a:t>37</a:t>
            </a:r>
          </a:p>
        </p:txBody>
      </p:sp>
      <p:sp>
        <p:nvSpPr>
          <p:cNvPr id="19" name="TextBox 18"/>
          <p:cNvSpPr txBox="1"/>
          <p:nvPr/>
        </p:nvSpPr>
        <p:spPr>
          <a:xfrm>
            <a:off x="3790040" y="4050000"/>
            <a:ext cx="700000" cy="240000"/>
          </a:xfrm>
          <a:prstGeom prst="rect">
            <a:avLst/>
          </a:prstGeom>
          <a:noFill/>
        </p:spPr>
        <p:txBody>
          <a:bodyPr wrap="square" anchor="t" lIns="0" rIns="0" tIns="0" bIns="0">
            <a:spAutoFit/>
          </a:bodyPr>
          <a:lstStyle/>
          <a:p>
            <a:pPr algn="l"/>
            <a:r>
              <a:rPr sz="800" b="0">
                <a:solidFill>
                  <a:srgbClr val="20242A"/>
                </a:solidFill>
                <a:latin typeface="Calibri"/>
              </a:rPr>
              <a:t>0.4 mm</a:t>
            </a:r>
          </a:p>
        </p:txBody>
      </p:sp>
      <p:sp>
        <p:nvSpPr>
          <p:cNvPr id="20" name="TextBox 19"/>
          <p:cNvSpPr txBox="1"/>
          <p:nvPr/>
        </p:nvSpPr>
        <p:spPr>
          <a:xfrm>
            <a:off x="4490040" y="4050000"/>
            <a:ext cx="1500000" cy="240000"/>
          </a:xfrm>
          <a:prstGeom prst="rect">
            <a:avLst/>
          </a:prstGeom>
          <a:noFill/>
        </p:spPr>
        <p:txBody>
          <a:bodyPr wrap="square" anchor="t" lIns="0" rIns="0" tIns="0" bIns="0">
            <a:spAutoFit/>
          </a:bodyPr>
          <a:lstStyle/>
          <a:p>
            <a:pPr algn="l"/>
            <a:r>
              <a:rPr sz="800" b="0">
                <a:solidFill>
                  <a:srgbClr val="20242A"/>
                </a:solidFill>
                <a:latin typeface="Calibri"/>
              </a:rPr>
              <a:t>0.40 mm on 14</a:t>
            </a:r>
          </a:p>
        </p:txBody>
      </p:sp>
      <p:sp>
        <p:nvSpPr>
          <p:cNvPr id="21" name="TextBox 20"/>
          <p:cNvSpPr txBox="1"/>
          <p:nvPr/>
        </p:nvSpPr>
        <p:spPr>
          <a:xfrm>
            <a:off x="5990040" y="4050000"/>
            <a:ext cx="850000" cy="240000"/>
          </a:xfrm>
          <a:prstGeom prst="rect">
            <a:avLst/>
          </a:prstGeom>
          <a:noFill/>
        </p:spPr>
        <p:txBody>
          <a:bodyPr wrap="square" anchor="t" lIns="0" rIns="0" tIns="0" bIns="0">
            <a:spAutoFit/>
          </a:bodyPr>
          <a:lstStyle/>
          <a:p>
            <a:pPr algn="l"/>
            <a:r>
              <a:rPr sz="800" b="0">
                <a:solidFill>
                  <a:srgbClr val="20242A"/>
                </a:solidFill>
                <a:latin typeface="Calibri"/>
              </a:rPr>
              <a:t>93,614 EMU/m</a:t>
            </a:r>
          </a:p>
        </p:txBody>
      </p:sp>
      <p:sp>
        <p:nvSpPr>
          <p:cNvPr id="22" name="TextBox 21"/>
          <p:cNvSpPr txBox="1"/>
          <p:nvPr/>
        </p:nvSpPr>
        <p:spPr>
          <a:xfrm>
            <a:off x="6840040" y="4050000"/>
            <a:ext cx="700000" cy="240000"/>
          </a:xfrm>
          <a:prstGeom prst="rect">
            <a:avLst/>
          </a:prstGeom>
          <a:noFill/>
        </p:spPr>
        <p:txBody>
          <a:bodyPr wrap="square" anchor="t" lIns="0" rIns="0" tIns="0" bIns="0">
            <a:spAutoFit/>
          </a:bodyPr>
          <a:lstStyle/>
          <a:p>
            <a:pPr algn="l"/>
            <a:r>
              <a:rPr sz="800" b="0">
                <a:solidFill>
                  <a:srgbClr val="20242A"/>
                </a:solidFill>
                <a:latin typeface="Calibri"/>
              </a:rPr>
              <a:t>102.1 m</a:t>
            </a:r>
          </a:p>
        </p:txBody>
      </p:sp>
      <p:sp>
        <p:nvSpPr>
          <p:cNvPr id="23" name="TextBox 22"/>
          <p:cNvSpPr txBox="1"/>
          <p:nvPr/>
        </p:nvSpPr>
        <p:spPr>
          <a:xfrm>
            <a:off x="440040" y="4320000"/>
            <a:ext cx="900000" cy="240000"/>
          </a:xfrm>
          <a:prstGeom prst="rect">
            <a:avLst/>
          </a:prstGeom>
          <a:noFill/>
        </p:spPr>
        <p:txBody>
          <a:bodyPr wrap="square" anchor="t" lIns="0" rIns="0" tIns="0" bIns="0">
            <a:spAutoFit/>
          </a:bodyPr>
          <a:lstStyle/>
          <a:p>
            <a:pPr algn="l"/>
            <a:r>
              <a:rPr sz="800" b="0">
                <a:solidFill>
                  <a:srgbClr val="20242A"/>
                </a:solidFill>
                <a:latin typeface="Calibri"/>
              </a:rPr>
              <a:t>LOC-02</a:t>
            </a:r>
          </a:p>
        </p:txBody>
      </p:sp>
      <p:sp>
        <p:nvSpPr>
          <p:cNvPr id="24" name="TextBox 23"/>
          <p:cNvSpPr txBox="1"/>
          <p:nvPr/>
        </p:nvSpPr>
        <p:spPr>
          <a:xfrm>
            <a:off x="1340040" y="4320000"/>
            <a:ext cx="1150000" cy="240000"/>
          </a:xfrm>
          <a:prstGeom prst="rect">
            <a:avLst/>
          </a:prstGeom>
          <a:noFill/>
        </p:spPr>
        <p:txBody>
          <a:bodyPr wrap="square" anchor="t" lIns="0" rIns="0" tIns="0" bIns="0">
            <a:spAutoFit/>
          </a:bodyPr>
          <a:lstStyle/>
          <a:p>
            <a:pPr algn="l"/>
            <a:r>
              <a:rPr sz="800" b="0">
                <a:solidFill>
                  <a:srgbClr val="20242A"/>
                </a:solidFill>
                <a:latin typeface="Calibri"/>
              </a:rPr>
              <a:t>18</a:t>
            </a:r>
          </a:p>
        </p:txBody>
      </p:sp>
      <p:sp>
        <p:nvSpPr>
          <p:cNvPr id="25" name="TextBox 24"/>
          <p:cNvSpPr txBox="1"/>
          <p:nvPr/>
        </p:nvSpPr>
        <p:spPr>
          <a:xfrm>
            <a:off x="2490040" y="4320000"/>
            <a:ext cx="1300000" cy="240000"/>
          </a:xfrm>
          <a:prstGeom prst="rect">
            <a:avLst/>
          </a:prstGeom>
          <a:noFill/>
        </p:spPr>
        <p:txBody>
          <a:bodyPr wrap="square" anchor="t" lIns="0" rIns="0" tIns="0" bIns="0">
            <a:spAutoFit/>
          </a:bodyPr>
          <a:lstStyle/>
          <a:p>
            <a:pPr algn="l"/>
            <a:r>
              <a:rPr sz="800" b="0">
                <a:solidFill>
                  <a:srgbClr val="20242A"/>
                </a:solidFill>
                <a:latin typeface="Calibri"/>
              </a:rPr>
              <a:t>9</a:t>
            </a:r>
          </a:p>
        </p:txBody>
      </p:sp>
      <p:sp>
        <p:nvSpPr>
          <p:cNvPr id="26" name="TextBox 25"/>
          <p:cNvSpPr txBox="1"/>
          <p:nvPr/>
        </p:nvSpPr>
        <p:spPr>
          <a:xfrm>
            <a:off x="3790040" y="4320000"/>
            <a:ext cx="700000" cy="240000"/>
          </a:xfrm>
          <a:prstGeom prst="rect">
            <a:avLst/>
          </a:prstGeom>
          <a:noFill/>
        </p:spPr>
        <p:txBody>
          <a:bodyPr wrap="square" anchor="t" lIns="0" rIns="0" tIns="0" bIns="0">
            <a:spAutoFit/>
          </a:bodyPr>
          <a:lstStyle/>
          <a:p>
            <a:pPr algn="l"/>
            <a:r>
              <a:rPr sz="800" b="0">
                <a:solidFill>
                  <a:srgbClr val="20242A"/>
                </a:solidFill>
                <a:latin typeface="Calibri"/>
              </a:rPr>
              <a:t>0.3 mm</a:t>
            </a:r>
          </a:p>
        </p:txBody>
      </p:sp>
      <p:sp>
        <p:nvSpPr>
          <p:cNvPr id="27" name="TextBox 26"/>
          <p:cNvSpPr txBox="1"/>
          <p:nvPr/>
        </p:nvSpPr>
        <p:spPr>
          <a:xfrm>
            <a:off x="4490040" y="4320000"/>
            <a:ext cx="1500000" cy="240000"/>
          </a:xfrm>
          <a:prstGeom prst="rect">
            <a:avLst/>
          </a:prstGeom>
          <a:noFill/>
        </p:spPr>
        <p:txBody>
          <a:bodyPr wrap="square" anchor="t" lIns="0" rIns="0" tIns="0" bIns="0">
            <a:spAutoFit/>
          </a:bodyPr>
          <a:lstStyle/>
          <a:p>
            <a:pPr algn="l"/>
            <a:r>
              <a:rPr sz="800" b="0">
                <a:solidFill>
                  <a:srgbClr val="20242A"/>
                </a:solidFill>
                <a:latin typeface="Calibri"/>
              </a:rPr>
              <a:t>0.46 mm on 4</a:t>
            </a:r>
          </a:p>
        </p:txBody>
      </p:sp>
      <p:sp>
        <p:nvSpPr>
          <p:cNvPr id="28" name="TextBox 27"/>
          <p:cNvSpPr txBox="1"/>
          <p:nvPr/>
        </p:nvSpPr>
        <p:spPr>
          <a:xfrm>
            <a:off x="5990040" y="4320000"/>
            <a:ext cx="850000" cy="240000"/>
          </a:xfrm>
          <a:prstGeom prst="rect">
            <a:avLst/>
          </a:prstGeom>
          <a:noFill/>
        </p:spPr>
        <p:txBody>
          <a:bodyPr wrap="square" anchor="t" lIns="0" rIns="0" tIns="0" bIns="0">
            <a:spAutoFit/>
          </a:bodyPr>
          <a:lstStyle/>
          <a:p>
            <a:pPr algn="l"/>
            <a:r>
              <a:rPr sz="800" b="0">
                <a:solidFill>
                  <a:srgbClr val="20242A"/>
                </a:solidFill>
                <a:latin typeface="Calibri"/>
              </a:rPr>
              <a:t>87,716 EMU/m</a:t>
            </a:r>
          </a:p>
        </p:txBody>
      </p:sp>
      <p:sp>
        <p:nvSpPr>
          <p:cNvPr id="29" name="TextBox 28"/>
          <p:cNvSpPr txBox="1"/>
          <p:nvPr/>
        </p:nvSpPr>
        <p:spPr>
          <a:xfrm>
            <a:off x="6840040" y="4320000"/>
            <a:ext cx="700000" cy="240000"/>
          </a:xfrm>
          <a:prstGeom prst="rect">
            <a:avLst/>
          </a:prstGeom>
          <a:noFill/>
        </p:spPr>
        <p:txBody>
          <a:bodyPr wrap="square" anchor="t" lIns="0" rIns="0" tIns="0" bIns="0">
            <a:spAutoFit/>
          </a:bodyPr>
          <a:lstStyle/>
          <a:p>
            <a:pPr algn="l"/>
            <a:r>
              <a:rPr sz="800" b="0">
                <a:solidFill>
                  <a:srgbClr val="20242A"/>
                </a:solidFill>
                <a:latin typeface="Calibri"/>
              </a:rPr>
              <a:t>108.9 m</a:t>
            </a:r>
          </a:p>
        </p:txBody>
      </p:sp>
      <p:sp>
        <p:nvSpPr>
          <p:cNvPr id="30" name="TextBox 29"/>
          <p:cNvSpPr txBox="1"/>
          <p:nvPr/>
        </p:nvSpPr>
        <p:spPr>
          <a:xfrm>
            <a:off x="440040" y="4590000"/>
            <a:ext cx="900000" cy="240000"/>
          </a:xfrm>
          <a:prstGeom prst="rect">
            <a:avLst/>
          </a:prstGeom>
          <a:noFill/>
        </p:spPr>
        <p:txBody>
          <a:bodyPr wrap="square" anchor="t" lIns="0" rIns="0" tIns="0" bIns="0">
            <a:spAutoFit/>
          </a:bodyPr>
          <a:lstStyle/>
          <a:p>
            <a:pPr algn="l"/>
            <a:r>
              <a:rPr sz="800" b="0">
                <a:solidFill>
                  <a:srgbClr val="20242A"/>
                </a:solidFill>
                <a:latin typeface="Calibri"/>
              </a:rPr>
              <a:t>LOC-03</a:t>
            </a:r>
          </a:p>
        </p:txBody>
      </p:sp>
      <p:sp>
        <p:nvSpPr>
          <p:cNvPr id="31" name="TextBox 30"/>
          <p:cNvSpPr txBox="1"/>
          <p:nvPr/>
        </p:nvSpPr>
        <p:spPr>
          <a:xfrm>
            <a:off x="1340040" y="4590000"/>
            <a:ext cx="1150000" cy="240000"/>
          </a:xfrm>
          <a:prstGeom prst="rect">
            <a:avLst/>
          </a:prstGeom>
          <a:noFill/>
        </p:spPr>
        <p:txBody>
          <a:bodyPr wrap="square" anchor="t" lIns="0" rIns="0" tIns="0" bIns="0">
            <a:spAutoFit/>
          </a:bodyPr>
          <a:lstStyle/>
          <a:p>
            <a:pPr algn="l"/>
            <a:r>
              <a:rPr sz="800" b="0">
                <a:solidFill>
                  <a:srgbClr val="20242A"/>
                </a:solidFill>
                <a:latin typeface="Calibri"/>
              </a:rPr>
              <a:t>59</a:t>
            </a:r>
          </a:p>
        </p:txBody>
      </p:sp>
      <p:sp>
        <p:nvSpPr>
          <p:cNvPr id="32" name="TextBox 31"/>
          <p:cNvSpPr txBox="1"/>
          <p:nvPr/>
        </p:nvSpPr>
        <p:spPr>
          <a:xfrm>
            <a:off x="2490040" y="4590000"/>
            <a:ext cx="1300000" cy="240000"/>
          </a:xfrm>
          <a:prstGeom prst="rect">
            <a:avLst/>
          </a:prstGeom>
          <a:noFill/>
        </p:spPr>
        <p:txBody>
          <a:bodyPr wrap="square" anchor="t" lIns="0" rIns="0" tIns="0" bIns="0">
            <a:spAutoFit/>
          </a:bodyPr>
          <a:lstStyle/>
          <a:p>
            <a:pPr algn="l"/>
            <a:r>
              <a:rPr sz="800" b="0">
                <a:solidFill>
                  <a:srgbClr val="20242A"/>
                </a:solidFill>
                <a:latin typeface="Calibri"/>
              </a:rPr>
              <a:t>11</a:t>
            </a:r>
          </a:p>
        </p:txBody>
      </p:sp>
      <p:sp>
        <p:nvSpPr>
          <p:cNvPr id="33" name="TextBox 32"/>
          <p:cNvSpPr txBox="1"/>
          <p:nvPr/>
        </p:nvSpPr>
        <p:spPr>
          <a:xfrm>
            <a:off x="3790040" y="4590000"/>
            <a:ext cx="700000" cy="240000"/>
          </a:xfrm>
          <a:prstGeom prst="rect">
            <a:avLst/>
          </a:prstGeom>
          <a:noFill/>
        </p:spPr>
        <p:txBody>
          <a:bodyPr wrap="square" anchor="t" lIns="0" rIns="0" tIns="0" bIns="0">
            <a:spAutoFit/>
          </a:bodyPr>
          <a:lstStyle/>
          <a:p>
            <a:pPr algn="l"/>
            <a:r>
              <a:rPr sz="800" b="0">
                <a:solidFill>
                  <a:srgbClr val="20242A"/>
                </a:solidFill>
                <a:latin typeface="Calibri"/>
              </a:rPr>
              <a:t>58.2 mm</a:t>
            </a:r>
          </a:p>
        </p:txBody>
      </p:sp>
      <p:sp>
        <p:nvSpPr>
          <p:cNvPr id="34" name="TextBox 33"/>
          <p:cNvSpPr txBox="1"/>
          <p:nvPr/>
        </p:nvSpPr>
        <p:spPr>
          <a:xfrm>
            <a:off x="4490040" y="4590000"/>
            <a:ext cx="1500000" cy="240000"/>
          </a:xfrm>
          <a:prstGeom prst="rect">
            <a:avLst/>
          </a:prstGeom>
          <a:noFill/>
        </p:spPr>
        <p:txBody>
          <a:bodyPr wrap="square" anchor="t" lIns="0" rIns="0" tIns="0" bIns="0">
            <a:spAutoFit/>
          </a:bodyPr>
          <a:lstStyle/>
          <a:p>
            <a:pPr algn="l"/>
            <a:r>
              <a:rPr sz="800" b="0">
                <a:solidFill>
                  <a:srgbClr val="20242A"/>
                </a:solidFill>
                <a:latin typeface="Calibri"/>
              </a:rPr>
              <a:t>0.49 mm on 13</a:t>
            </a:r>
          </a:p>
        </p:txBody>
      </p:sp>
      <p:sp>
        <p:nvSpPr>
          <p:cNvPr id="35" name="TextBox 34"/>
          <p:cNvSpPr txBox="1"/>
          <p:nvPr/>
        </p:nvSpPr>
        <p:spPr>
          <a:xfrm>
            <a:off x="5990040" y="4590000"/>
            <a:ext cx="850000" cy="240000"/>
          </a:xfrm>
          <a:prstGeom prst="rect">
            <a:avLst/>
          </a:prstGeom>
          <a:noFill/>
        </p:spPr>
        <p:txBody>
          <a:bodyPr wrap="square" anchor="t" lIns="0" rIns="0" tIns="0" bIns="0">
            <a:spAutoFit/>
          </a:bodyPr>
          <a:lstStyle/>
          <a:p>
            <a:pPr algn="l"/>
            <a:r>
              <a:rPr sz="800" b="0">
                <a:solidFill>
                  <a:srgbClr val="20242A"/>
                </a:solidFill>
                <a:latin typeface="Calibri"/>
              </a:rPr>
              <a:t>100,476 EMU/m</a:t>
            </a:r>
          </a:p>
        </p:txBody>
      </p:sp>
      <p:sp>
        <p:nvSpPr>
          <p:cNvPr id="36" name="TextBox 35"/>
          <p:cNvSpPr txBox="1"/>
          <p:nvPr/>
        </p:nvSpPr>
        <p:spPr>
          <a:xfrm>
            <a:off x="6840040" y="4590000"/>
            <a:ext cx="700000" cy="240000"/>
          </a:xfrm>
          <a:prstGeom prst="rect">
            <a:avLst/>
          </a:prstGeom>
          <a:noFill/>
        </p:spPr>
        <p:txBody>
          <a:bodyPr wrap="square" anchor="t" lIns="0" rIns="0" tIns="0" bIns="0">
            <a:spAutoFit/>
          </a:bodyPr>
          <a:lstStyle/>
          <a:p>
            <a:pPr algn="l"/>
            <a:r>
              <a:rPr sz="800" b="0">
                <a:solidFill>
                  <a:srgbClr val="20242A"/>
                </a:solidFill>
                <a:latin typeface="Calibri"/>
              </a:rPr>
              <a:t>95.1 m</a:t>
            </a:r>
          </a:p>
        </p:txBody>
      </p:sp>
      <p:sp>
        <p:nvSpPr>
          <p:cNvPr id="37" name="TextBox 36"/>
          <p:cNvSpPr txBox="1"/>
          <p:nvPr/>
        </p:nvSpPr>
        <p:spPr>
          <a:xfrm>
            <a:off x="440040" y="4900000"/>
            <a:ext cx="6860000" cy="420000"/>
          </a:xfrm>
          <a:prstGeom prst="rect">
            <a:avLst/>
          </a:prstGeom>
          <a:noFill/>
        </p:spPr>
        <p:txBody>
          <a:bodyPr wrap="square" anchor="t" lIns="0" rIns="0" tIns="0" bIns="0">
            <a:spAutoFit/>
          </a:bodyPr>
          <a:lstStyle/>
          <a:p>
            <a:pPr algn="l"/>
            <a:r>
              <a:rPr sz="750" b="0">
                <a:solidFill>
                  <a:srgbClr val="5F6368"/>
                </a:solidFill>
                <a:latin typeface="Calibri"/>
              </a:rPr>
              <a:t>Rotation solved to +0.0001° / −0.000001° / +0.0027° and the y axis is mirrored — i.e. the sheets are plotted axis-aligned to the grid. Independent check: the deck's own "as-built taxiway centreline" polyline, never used in the fit, lands on source centreline fixtures at 0.3–0.4 mm median on LOC-01/02.</a:t>
            </a:r>
          </a:p>
        </p:txBody>
      </p:sp>
      <p:sp>
        <p:nvSpPr>
          <p:cNvPr id="38" name="Rectangle 37"/>
          <p:cNvSpPr/>
          <p:nvPr/>
        </p:nvSpPr>
        <p:spPr>
          <a:xfrm>
            <a:off x="320040" y="5460000"/>
            <a:ext cx="7100000" cy="1450000"/>
          </a:xfrm>
          <a:prstGeom prst="rect">
            <a:avLst/>
          </a:prstGeom>
          <a:solidFill>
            <a:srgbClr val="FFF4E5"/>
          </a:solidFill>
          <a:ln w="9525">
            <a:solidFill>
              <a:srgbClr val="D5DA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40040" y="5570000"/>
            <a:ext cx="6860000" cy="240000"/>
          </a:xfrm>
          <a:prstGeom prst="rect">
            <a:avLst/>
          </a:prstGeom>
          <a:noFill/>
        </p:spPr>
        <p:txBody>
          <a:bodyPr wrap="square" anchor="t" lIns="0" rIns="0" tIns="0" bIns="0">
            <a:spAutoFit/>
          </a:bodyPr>
          <a:lstStyle/>
          <a:p>
            <a:pPr algn="l"/>
            <a:r>
              <a:rPr sz="1000" b="1">
                <a:solidFill>
                  <a:srgbClr val="A64B00"/>
                </a:solidFill>
                <a:latin typeface="Calibri"/>
              </a:rPr>
              <a:t>3 · FINDING — THE Rev P05 COORDINATE LABEL WAS WRONG</a:t>
            </a:r>
          </a:p>
        </p:txBody>
      </p:sp>
      <p:sp>
        <p:nvSpPr>
          <p:cNvPr id="40" name="TextBox 39"/>
          <p:cNvSpPr txBox="1"/>
          <p:nvPr/>
        </p:nvSpPr>
        <p:spPr>
          <a:xfrm>
            <a:off x="440040" y="5860000"/>
            <a:ext cx="6860000" cy="1000000"/>
          </a:xfrm>
          <a:prstGeom prst="rect">
            <a:avLst/>
          </a:prstGeom>
          <a:noFill/>
        </p:spPr>
        <p:txBody>
          <a:bodyPr wrap="square" anchor="t" lIns="0" rIns="0" tIns="0" bIns="0">
            <a:spAutoFit/>
          </a:bodyPr>
          <a:lstStyle/>
          <a:p>
            <a:pPr algn="l"/>
            <a:r>
              <a:rPr sz="850" b="0">
                <a:solidFill>
                  <a:srgbClr val="20242A"/>
                </a:solidFill>
                <a:latin typeface="Calibri"/>
              </a:rPr>
              <a:t>Rev P05 sheets state "UTM 40N (EPSG:32640) — AS-BUILT POSITIONS". They are not UTM. The plotted positions are ZIA local project grid metres (X ≈ 5,800–6,200, Y ≈ 54,400–54,700). UTM 40N here would read easting ~230,000–800,000 and northing ~2,650,000–2,750,000.</a:t>
            </a:r>
          </a:p>
          <a:p>
            <a:pPr algn="l"/>
            <a:r>
              <a:rPr sz="850" b="0">
                <a:solidFill>
                  <a:srgbClr val="20242A"/>
                </a:solidFill>
                <a:latin typeface="Calibri"/>
              </a:rPr>
              <a:t>The source drawing carries no GEODATA object and no georeferencing of any kind, so no local→UTM transform can be derived from it. Rev P06 sheets are relabelled accordingly.</a:t>
            </a:r>
          </a:p>
          <a:p>
            <a:pPr algn="l"/>
            <a:r>
              <a:rPr sz="850" b="0">
                <a:solidFill>
                  <a:srgbClr val="20242A"/>
                </a:solidFill>
                <a:latin typeface="Calibri"/>
              </a:rPr>
              <a:t>Consequence: any coordinate previously issued from Rev P05 as UTM — to ADA, Injaz or a contractor — needs withdrawing and re-checking against survey control.</a:t>
            </a:r>
          </a:p>
        </p:txBody>
      </p:sp>
      <p:sp>
        <p:nvSpPr>
          <p:cNvPr id="41" name="Rectangle 40"/>
          <p:cNvSpPr/>
          <p:nvPr/>
        </p:nvSpPr>
        <p:spPr>
          <a:xfrm>
            <a:off x="7620040" y="750000"/>
            <a:ext cx="7184033" cy="6450000"/>
          </a:xfrm>
          <a:prstGeom prst="rect">
            <a:avLst/>
          </a:prstGeom>
          <a:solidFill>
            <a:srgbClr val="FFFFFF"/>
          </a:solidFill>
          <a:ln w="9525">
            <a:solidFill>
              <a:srgbClr val="D5DA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740040" y="860000"/>
            <a:ext cx="6944033" cy="240000"/>
          </a:xfrm>
          <a:prstGeom prst="rect">
            <a:avLst/>
          </a:prstGeom>
          <a:noFill/>
        </p:spPr>
        <p:txBody>
          <a:bodyPr wrap="square" anchor="t" lIns="0" rIns="0" tIns="0" bIns="0">
            <a:spAutoFit/>
          </a:bodyPr>
          <a:lstStyle/>
          <a:p>
            <a:pPr algn="l"/>
            <a:r>
              <a:rPr sz="1000" b="1">
                <a:solidFill>
                  <a:srgbClr val="1E2761"/>
                </a:solidFill>
                <a:latin typeface="Calibri"/>
              </a:rPr>
              <a:t>4 · DUCT SCHEDULE — WHAT IS DRAWN ON EACH SHEET</a:t>
            </a:r>
          </a:p>
        </p:txBody>
      </p:sp>
      <p:sp>
        <p:nvSpPr>
          <p:cNvPr id="43" name="TextBox 42"/>
          <p:cNvSpPr txBox="1"/>
          <p:nvPr/>
        </p:nvSpPr>
        <p:spPr>
          <a:xfrm>
            <a:off x="7740040" y="1180000"/>
            <a:ext cx="6944033" cy="220000"/>
          </a:xfrm>
          <a:prstGeom prst="rect">
            <a:avLst/>
          </a:prstGeom>
          <a:noFill/>
        </p:spPr>
        <p:txBody>
          <a:bodyPr wrap="square" anchor="t" lIns="0" rIns="0" tIns="0" bIns="0">
            <a:spAutoFit/>
          </a:bodyPr>
          <a:lstStyle/>
          <a:p>
            <a:pPr algn="l"/>
            <a:r>
              <a:rPr sz="850" b="1">
                <a:solidFill>
                  <a:srgbClr val="1E2761"/>
                </a:solidFill>
                <a:latin typeface="Calibri"/>
              </a:rPr>
              <a:t>LOC-01 — 59 segments, 1433 m inside the frame</a:t>
            </a:r>
          </a:p>
        </p:txBody>
      </p:sp>
      <p:sp>
        <p:nvSpPr>
          <p:cNvPr id="44" name="TextBox 43"/>
          <p:cNvSpPr txBox="1"/>
          <p:nvPr/>
        </p:nvSpPr>
        <p:spPr>
          <a:xfrm>
            <a:off x="7770040" y="1430000"/>
            <a:ext cx="2500000" cy="200000"/>
          </a:xfrm>
          <a:prstGeom prst="rect">
            <a:avLst/>
          </a:prstGeom>
          <a:noFill/>
        </p:spPr>
        <p:txBody>
          <a:bodyPr wrap="square" anchor="t" lIns="0" rIns="0" tIns="0" bIns="0">
            <a:spAutoFit/>
          </a:bodyPr>
          <a:lstStyle/>
          <a:p>
            <a:pPr algn="l"/>
            <a:r>
              <a:rPr sz="650" b="1">
                <a:solidFill>
                  <a:srgbClr val="5F6368"/>
                </a:solidFill>
                <a:latin typeface="Calibri"/>
              </a:rPr>
              <a:t>Source layer (carries bore &amp; way-count)</a:t>
            </a:r>
          </a:p>
        </p:txBody>
      </p:sp>
      <p:sp>
        <p:nvSpPr>
          <p:cNvPr id="45" name="TextBox 44"/>
          <p:cNvSpPr txBox="1"/>
          <p:nvPr/>
        </p:nvSpPr>
        <p:spPr>
          <a:xfrm>
            <a:off x="10270040" y="1430000"/>
            <a:ext cx="600000" cy="200000"/>
          </a:xfrm>
          <a:prstGeom prst="rect">
            <a:avLst/>
          </a:prstGeom>
          <a:noFill/>
        </p:spPr>
        <p:txBody>
          <a:bodyPr wrap="square" anchor="t" lIns="0" rIns="0" tIns="0" bIns="0">
            <a:spAutoFit/>
          </a:bodyPr>
          <a:lstStyle/>
          <a:p>
            <a:pPr algn="l"/>
            <a:r>
              <a:rPr sz="650" b="1">
                <a:solidFill>
                  <a:srgbClr val="5F6368"/>
                </a:solidFill>
                <a:latin typeface="Calibri"/>
              </a:rPr>
              <a:t>Draw</a:t>
            </a:r>
          </a:p>
        </p:txBody>
      </p:sp>
      <p:sp>
        <p:nvSpPr>
          <p:cNvPr id="46" name="TextBox 45"/>
          <p:cNvSpPr txBox="1"/>
          <p:nvPr/>
        </p:nvSpPr>
        <p:spPr>
          <a:xfrm>
            <a:off x="10870040" y="1430000"/>
            <a:ext cx="780000" cy="200000"/>
          </a:xfrm>
          <a:prstGeom prst="rect">
            <a:avLst/>
          </a:prstGeom>
          <a:noFill/>
        </p:spPr>
        <p:txBody>
          <a:bodyPr wrap="square" anchor="t" lIns="0" rIns="0" tIns="0" bIns="0">
            <a:spAutoFit/>
          </a:bodyPr>
          <a:lstStyle/>
          <a:p>
            <a:pPr algn="l"/>
            <a:r>
              <a:rPr sz="650" b="1">
                <a:solidFill>
                  <a:srgbClr val="5F6368"/>
                </a:solidFill>
                <a:latin typeface="Calibri"/>
              </a:rPr>
              <a:t>Segs</a:t>
            </a:r>
          </a:p>
        </p:txBody>
      </p:sp>
      <p:sp>
        <p:nvSpPr>
          <p:cNvPr id="47" name="TextBox 46"/>
          <p:cNvSpPr txBox="1"/>
          <p:nvPr/>
        </p:nvSpPr>
        <p:spPr>
          <a:xfrm>
            <a:off x="11650040" y="1430000"/>
            <a:ext cx="700000" cy="200000"/>
          </a:xfrm>
          <a:prstGeom prst="rect">
            <a:avLst/>
          </a:prstGeom>
          <a:noFill/>
        </p:spPr>
        <p:txBody>
          <a:bodyPr wrap="square" anchor="t" lIns="0" rIns="0" tIns="0" bIns="0">
            <a:spAutoFit/>
          </a:bodyPr>
          <a:lstStyle/>
          <a:p>
            <a:pPr algn="l"/>
            <a:r>
              <a:rPr sz="650" b="1">
                <a:solidFill>
                  <a:srgbClr val="5F6368"/>
                </a:solidFill>
                <a:latin typeface="Calibri"/>
              </a:rPr>
              <a:t>On sheet</a:t>
            </a:r>
          </a:p>
        </p:txBody>
      </p:sp>
      <p:sp>
        <p:nvSpPr>
          <p:cNvPr id="48" name="TextBox 47"/>
          <p:cNvSpPr txBox="1"/>
          <p:nvPr/>
        </p:nvSpPr>
        <p:spPr>
          <a:xfrm>
            <a:off x="7770040" y="1640000"/>
            <a:ext cx="2500000" cy="200000"/>
          </a:xfrm>
          <a:prstGeom prst="rect">
            <a:avLst/>
          </a:prstGeom>
          <a:noFill/>
        </p:spPr>
        <p:txBody>
          <a:bodyPr wrap="square" anchor="t" lIns="0" rIns="0" tIns="0" bIns="0">
            <a:spAutoFit/>
          </a:bodyPr>
          <a:lstStyle/>
          <a:p>
            <a:pPr algn="l"/>
            <a:r>
              <a:rPr sz="750" b="0">
                <a:solidFill>
                  <a:srgbClr val="20242A"/>
                </a:solidFill>
                <a:latin typeface="Calibri"/>
              </a:rPr>
              <a:t>CV-NEW SEC SAWCUT</a:t>
            </a:r>
          </a:p>
        </p:txBody>
      </p:sp>
      <p:sp>
        <p:nvSpPr>
          <p:cNvPr id="49" name="Straight Connector 48"/>
          <p:cNvSpPr/>
          <p:nvPr/>
        </p:nvSpPr>
        <p:spPr>
          <a:xfrm>
            <a:off x="10310040" y="1735000"/>
            <a:ext cx="400000" cy="914"/>
          </a:xfrm>
          <a:prstGeom prst="lineInv">
            <a:avLst/>
          </a:prstGeom>
          <a:noFill/>
          <a:ln w="15875">
            <a:solidFill>
              <a:srgbClr val="E8710A"/>
            </a:solidFill>
            <a:prstDash val="sysDash"/>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10870040" y="1640000"/>
            <a:ext cx="780000" cy="200000"/>
          </a:xfrm>
          <a:prstGeom prst="rect">
            <a:avLst/>
          </a:prstGeom>
          <a:noFill/>
        </p:spPr>
        <p:txBody>
          <a:bodyPr wrap="square" anchor="t" lIns="0" rIns="0" tIns="0" bIns="0">
            <a:spAutoFit/>
          </a:bodyPr>
          <a:lstStyle/>
          <a:p>
            <a:pPr algn="l"/>
            <a:r>
              <a:rPr sz="750" b="0">
                <a:solidFill>
                  <a:srgbClr val="20242A"/>
                </a:solidFill>
                <a:latin typeface="Calibri"/>
              </a:rPr>
              <a:t>23</a:t>
            </a:r>
          </a:p>
        </p:txBody>
      </p:sp>
      <p:sp>
        <p:nvSpPr>
          <p:cNvPr id="51" name="TextBox 50"/>
          <p:cNvSpPr txBox="1"/>
          <p:nvPr/>
        </p:nvSpPr>
        <p:spPr>
          <a:xfrm>
            <a:off x="11650040" y="1640000"/>
            <a:ext cx="700000" cy="200000"/>
          </a:xfrm>
          <a:prstGeom prst="rect">
            <a:avLst/>
          </a:prstGeom>
          <a:noFill/>
        </p:spPr>
        <p:txBody>
          <a:bodyPr wrap="square" anchor="t" lIns="0" rIns="0" tIns="0" bIns="0">
            <a:spAutoFit/>
          </a:bodyPr>
          <a:lstStyle/>
          <a:p>
            <a:pPr algn="l"/>
            <a:r>
              <a:rPr sz="750" b="0">
                <a:solidFill>
                  <a:srgbClr val="20242A"/>
                </a:solidFill>
                <a:latin typeface="Calibri"/>
              </a:rPr>
              <a:t>606.7 m</a:t>
            </a:r>
          </a:p>
        </p:txBody>
      </p:sp>
      <p:sp>
        <p:nvSpPr>
          <p:cNvPr id="52" name="TextBox 51"/>
          <p:cNvSpPr txBox="1"/>
          <p:nvPr/>
        </p:nvSpPr>
        <p:spPr>
          <a:xfrm>
            <a:off x="7770040" y="1845000"/>
            <a:ext cx="2500000" cy="200000"/>
          </a:xfrm>
          <a:prstGeom prst="rect">
            <a:avLst/>
          </a:prstGeom>
          <a:noFill/>
        </p:spPr>
        <p:txBody>
          <a:bodyPr wrap="square" anchor="t" lIns="0" rIns="0" tIns="0" bIns="0">
            <a:spAutoFit/>
          </a:bodyPr>
          <a:lstStyle/>
          <a:p>
            <a:pPr algn="l"/>
            <a:r>
              <a:rPr sz="750" b="0">
                <a:solidFill>
                  <a:srgbClr val="20242A"/>
                </a:solidFill>
                <a:latin typeface="Calibri"/>
              </a:rPr>
              <a:t>CV-EX SEC CONDUIT</a:t>
            </a:r>
          </a:p>
        </p:txBody>
      </p:sp>
      <p:sp>
        <p:nvSpPr>
          <p:cNvPr id="53" name="Straight Connector 52"/>
          <p:cNvSpPr/>
          <p:nvPr/>
        </p:nvSpPr>
        <p:spPr>
          <a:xfrm>
            <a:off x="10310040" y="1940000"/>
            <a:ext cx="400000" cy="914"/>
          </a:xfrm>
          <a:prstGeom prst="lineInv">
            <a:avLst/>
          </a:prstGeom>
          <a:noFill/>
          <a:ln w="15875">
            <a:solidFill>
              <a:srgbClr val="0083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10870040" y="1845000"/>
            <a:ext cx="780000" cy="200000"/>
          </a:xfrm>
          <a:prstGeom prst="rect">
            <a:avLst/>
          </a:prstGeom>
          <a:noFill/>
        </p:spPr>
        <p:txBody>
          <a:bodyPr wrap="square" anchor="t" lIns="0" rIns="0" tIns="0" bIns="0">
            <a:spAutoFit/>
          </a:bodyPr>
          <a:lstStyle/>
          <a:p>
            <a:pPr algn="l"/>
            <a:r>
              <a:rPr sz="750" b="0">
                <a:solidFill>
                  <a:srgbClr val="20242A"/>
                </a:solidFill>
                <a:latin typeface="Calibri"/>
              </a:rPr>
              <a:t>21</a:t>
            </a:r>
          </a:p>
        </p:txBody>
      </p:sp>
      <p:sp>
        <p:nvSpPr>
          <p:cNvPr id="55" name="TextBox 54"/>
          <p:cNvSpPr txBox="1"/>
          <p:nvPr/>
        </p:nvSpPr>
        <p:spPr>
          <a:xfrm>
            <a:off x="11650040" y="1845000"/>
            <a:ext cx="700000" cy="200000"/>
          </a:xfrm>
          <a:prstGeom prst="rect">
            <a:avLst/>
          </a:prstGeom>
          <a:noFill/>
        </p:spPr>
        <p:txBody>
          <a:bodyPr wrap="square" anchor="t" lIns="0" rIns="0" tIns="0" bIns="0">
            <a:spAutoFit/>
          </a:bodyPr>
          <a:lstStyle/>
          <a:p>
            <a:pPr algn="l"/>
            <a:r>
              <a:rPr sz="750" b="0">
                <a:solidFill>
                  <a:srgbClr val="20242A"/>
                </a:solidFill>
                <a:latin typeface="Calibri"/>
              </a:rPr>
              <a:t>490.9 m</a:t>
            </a:r>
          </a:p>
        </p:txBody>
      </p:sp>
      <p:sp>
        <p:nvSpPr>
          <p:cNvPr id="56" name="TextBox 55"/>
          <p:cNvSpPr txBox="1"/>
          <p:nvPr/>
        </p:nvSpPr>
        <p:spPr>
          <a:xfrm>
            <a:off x="7770040" y="2050000"/>
            <a:ext cx="2500000" cy="200000"/>
          </a:xfrm>
          <a:prstGeom prst="rect">
            <a:avLst/>
          </a:prstGeom>
          <a:noFill/>
        </p:spPr>
        <p:txBody>
          <a:bodyPr wrap="square" anchor="t" lIns="0" rIns="0" tIns="0" bIns="0">
            <a:spAutoFit/>
          </a:bodyPr>
          <a:lstStyle/>
          <a:p>
            <a:pPr algn="l"/>
            <a:r>
              <a:rPr sz="750" b="0">
                <a:solidFill>
                  <a:srgbClr val="20242A"/>
                </a:solidFill>
                <a:latin typeface="Calibri"/>
              </a:rPr>
              <a:t>CV_INNER DUCT 4x110mm dia</a:t>
            </a:r>
          </a:p>
        </p:txBody>
      </p:sp>
      <p:sp>
        <p:nvSpPr>
          <p:cNvPr id="57" name="Straight Connector 56"/>
          <p:cNvSpPr/>
          <p:nvPr/>
        </p:nvSpPr>
        <p:spPr>
          <a:xfrm>
            <a:off x="10310040" y="2145000"/>
            <a:ext cx="400000" cy="914"/>
          </a:xfrm>
          <a:prstGeom prst="lineInv">
            <a:avLst/>
          </a:prstGeom>
          <a:noFill/>
          <a:ln w="12700">
            <a:solidFill>
              <a:srgbClr val="0B3D9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10870040" y="2050000"/>
            <a:ext cx="780000" cy="200000"/>
          </a:xfrm>
          <a:prstGeom prst="rect">
            <a:avLst/>
          </a:prstGeom>
          <a:noFill/>
        </p:spPr>
        <p:txBody>
          <a:bodyPr wrap="square" anchor="t" lIns="0" rIns="0" tIns="0" bIns="0">
            <a:spAutoFit/>
          </a:bodyPr>
          <a:lstStyle/>
          <a:p>
            <a:pPr algn="l"/>
            <a:r>
              <a:rPr sz="750" b="0">
                <a:solidFill>
                  <a:srgbClr val="20242A"/>
                </a:solidFill>
                <a:latin typeface="Calibri"/>
              </a:rPr>
              <a:t>3</a:t>
            </a:r>
          </a:p>
        </p:txBody>
      </p:sp>
      <p:sp>
        <p:nvSpPr>
          <p:cNvPr id="59" name="TextBox 58"/>
          <p:cNvSpPr txBox="1"/>
          <p:nvPr/>
        </p:nvSpPr>
        <p:spPr>
          <a:xfrm>
            <a:off x="11650040" y="2050000"/>
            <a:ext cx="700000" cy="200000"/>
          </a:xfrm>
          <a:prstGeom prst="rect">
            <a:avLst/>
          </a:prstGeom>
          <a:noFill/>
        </p:spPr>
        <p:txBody>
          <a:bodyPr wrap="square" anchor="t" lIns="0" rIns="0" tIns="0" bIns="0">
            <a:spAutoFit/>
          </a:bodyPr>
          <a:lstStyle/>
          <a:p>
            <a:pPr algn="l"/>
            <a:r>
              <a:rPr sz="750" b="0">
                <a:solidFill>
                  <a:srgbClr val="20242A"/>
                </a:solidFill>
                <a:latin typeface="Calibri"/>
              </a:rPr>
              <a:t>84.6 m</a:t>
            </a:r>
          </a:p>
        </p:txBody>
      </p:sp>
      <p:sp>
        <p:nvSpPr>
          <p:cNvPr id="60" name="TextBox 59"/>
          <p:cNvSpPr txBox="1"/>
          <p:nvPr/>
        </p:nvSpPr>
        <p:spPr>
          <a:xfrm>
            <a:off x="7770040" y="2255000"/>
            <a:ext cx="2500000" cy="200000"/>
          </a:xfrm>
          <a:prstGeom prst="rect">
            <a:avLst/>
          </a:prstGeom>
          <a:noFill/>
        </p:spPr>
        <p:txBody>
          <a:bodyPr wrap="square" anchor="t" lIns="0" rIns="0" tIns="0" bIns="0">
            <a:spAutoFit/>
          </a:bodyPr>
          <a:lstStyle/>
          <a:p>
            <a:pPr algn="l"/>
            <a:r>
              <a:rPr sz="750" b="0">
                <a:solidFill>
                  <a:srgbClr val="20242A"/>
                </a:solidFill>
                <a:latin typeface="Calibri"/>
              </a:rPr>
              <a:t>CV_OUTER DUCT 4x110mm dia</a:t>
            </a:r>
          </a:p>
        </p:txBody>
      </p:sp>
      <p:sp>
        <p:nvSpPr>
          <p:cNvPr id="61" name="Straight Connector 60"/>
          <p:cNvSpPr/>
          <p:nvPr/>
        </p:nvSpPr>
        <p:spPr>
          <a:xfrm>
            <a:off x="10310040" y="2350000"/>
            <a:ext cx="400000" cy="914"/>
          </a:xfrm>
          <a:prstGeom prst="lineInv">
            <a:avLst/>
          </a:prstGeom>
          <a:noFill/>
          <a:ln w="22225">
            <a:solidFill>
              <a:srgbClr val="0B3D9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10870040" y="2255000"/>
            <a:ext cx="780000" cy="200000"/>
          </a:xfrm>
          <a:prstGeom prst="rect">
            <a:avLst/>
          </a:prstGeom>
          <a:noFill/>
        </p:spPr>
        <p:txBody>
          <a:bodyPr wrap="square" anchor="t" lIns="0" rIns="0" tIns="0" bIns="0">
            <a:spAutoFit/>
          </a:bodyPr>
          <a:lstStyle/>
          <a:p>
            <a:pPr algn="l"/>
            <a:r>
              <a:rPr sz="750" b="0">
                <a:solidFill>
                  <a:srgbClr val="20242A"/>
                </a:solidFill>
                <a:latin typeface="Calibri"/>
              </a:rPr>
              <a:t>2</a:t>
            </a:r>
          </a:p>
        </p:txBody>
      </p:sp>
      <p:sp>
        <p:nvSpPr>
          <p:cNvPr id="63" name="TextBox 62"/>
          <p:cNvSpPr txBox="1"/>
          <p:nvPr/>
        </p:nvSpPr>
        <p:spPr>
          <a:xfrm>
            <a:off x="11650040" y="2255000"/>
            <a:ext cx="700000" cy="200000"/>
          </a:xfrm>
          <a:prstGeom prst="rect">
            <a:avLst/>
          </a:prstGeom>
          <a:noFill/>
        </p:spPr>
        <p:txBody>
          <a:bodyPr wrap="square" anchor="t" lIns="0" rIns="0" tIns="0" bIns="0">
            <a:spAutoFit/>
          </a:bodyPr>
          <a:lstStyle/>
          <a:p>
            <a:pPr algn="l"/>
            <a:r>
              <a:rPr sz="750" b="0">
                <a:solidFill>
                  <a:srgbClr val="20242A"/>
                </a:solidFill>
                <a:latin typeface="Calibri"/>
              </a:rPr>
              <a:t>81.5 m</a:t>
            </a:r>
          </a:p>
        </p:txBody>
      </p:sp>
      <p:sp>
        <p:nvSpPr>
          <p:cNvPr id="64" name="TextBox 63"/>
          <p:cNvSpPr txBox="1"/>
          <p:nvPr/>
        </p:nvSpPr>
        <p:spPr>
          <a:xfrm>
            <a:off x="7770040" y="2460000"/>
            <a:ext cx="2500000" cy="200000"/>
          </a:xfrm>
          <a:prstGeom prst="rect">
            <a:avLst/>
          </a:prstGeom>
          <a:noFill/>
        </p:spPr>
        <p:txBody>
          <a:bodyPr wrap="square" anchor="t" lIns="0" rIns="0" tIns="0" bIns="0">
            <a:spAutoFit/>
          </a:bodyPr>
          <a:lstStyle/>
          <a:p>
            <a:pPr algn="l"/>
            <a:r>
              <a:rPr sz="750" b="0">
                <a:solidFill>
                  <a:srgbClr val="20242A"/>
                </a:solidFill>
                <a:latin typeface="Calibri"/>
              </a:rPr>
              <a:t>CV_STH DUCT 6x110mm dia</a:t>
            </a:r>
          </a:p>
        </p:txBody>
      </p:sp>
      <p:sp>
        <p:nvSpPr>
          <p:cNvPr id="65" name="Straight Connector 64"/>
          <p:cNvSpPr/>
          <p:nvPr/>
        </p:nvSpPr>
        <p:spPr>
          <a:xfrm>
            <a:off x="10310040" y="2555000"/>
            <a:ext cx="400000" cy="914"/>
          </a:xfrm>
          <a:prstGeom prst="lineInv">
            <a:avLst/>
          </a:prstGeom>
          <a:noFill/>
          <a:ln w="22225">
            <a:solidFill>
              <a:srgbClr val="6A1B9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10870040" y="2460000"/>
            <a:ext cx="780000" cy="200000"/>
          </a:xfrm>
          <a:prstGeom prst="rect">
            <a:avLst/>
          </a:prstGeom>
          <a:noFill/>
        </p:spPr>
        <p:txBody>
          <a:bodyPr wrap="square" anchor="t" lIns="0" rIns="0" tIns="0" bIns="0">
            <a:spAutoFit/>
          </a:bodyPr>
          <a:lstStyle/>
          <a:p>
            <a:pPr algn="l"/>
            <a:r>
              <a:rPr sz="750" b="0">
                <a:solidFill>
                  <a:srgbClr val="20242A"/>
                </a:solidFill>
                <a:latin typeface="Calibri"/>
              </a:rPr>
              <a:t>1</a:t>
            </a:r>
          </a:p>
        </p:txBody>
      </p:sp>
      <p:sp>
        <p:nvSpPr>
          <p:cNvPr id="67" name="TextBox 66"/>
          <p:cNvSpPr txBox="1"/>
          <p:nvPr/>
        </p:nvSpPr>
        <p:spPr>
          <a:xfrm>
            <a:off x="11650040" y="2460000"/>
            <a:ext cx="700000" cy="200000"/>
          </a:xfrm>
          <a:prstGeom prst="rect">
            <a:avLst/>
          </a:prstGeom>
          <a:noFill/>
        </p:spPr>
        <p:txBody>
          <a:bodyPr wrap="square" anchor="t" lIns="0" rIns="0" tIns="0" bIns="0">
            <a:spAutoFit/>
          </a:bodyPr>
          <a:lstStyle/>
          <a:p>
            <a:pPr algn="l"/>
            <a:r>
              <a:rPr sz="750" b="0">
                <a:solidFill>
                  <a:srgbClr val="20242A"/>
                </a:solidFill>
                <a:latin typeface="Calibri"/>
              </a:rPr>
              <a:t>65.6 m</a:t>
            </a:r>
          </a:p>
        </p:txBody>
      </p:sp>
      <p:sp>
        <p:nvSpPr>
          <p:cNvPr id="68" name="TextBox 67"/>
          <p:cNvSpPr txBox="1"/>
          <p:nvPr/>
        </p:nvSpPr>
        <p:spPr>
          <a:xfrm>
            <a:off x="7770040" y="2665000"/>
            <a:ext cx="2500000" cy="200000"/>
          </a:xfrm>
          <a:prstGeom prst="rect">
            <a:avLst/>
          </a:prstGeom>
          <a:noFill/>
        </p:spPr>
        <p:txBody>
          <a:bodyPr wrap="square" anchor="t" lIns="0" rIns="0" tIns="0" bIns="0">
            <a:spAutoFit/>
          </a:bodyPr>
          <a:lstStyle/>
          <a:p>
            <a:pPr algn="l"/>
            <a:r>
              <a:rPr sz="750" b="0">
                <a:solidFill>
                  <a:srgbClr val="20242A"/>
                </a:solidFill>
                <a:latin typeface="Calibri"/>
              </a:rPr>
              <a:t>CV_DUCT CROSSING 6x110mm dia</a:t>
            </a:r>
          </a:p>
        </p:txBody>
      </p:sp>
      <p:sp>
        <p:nvSpPr>
          <p:cNvPr id="69" name="Straight Connector 68"/>
          <p:cNvSpPr/>
          <p:nvPr/>
        </p:nvSpPr>
        <p:spPr>
          <a:xfrm>
            <a:off x="10310040" y="2760000"/>
            <a:ext cx="400000" cy="914"/>
          </a:xfrm>
          <a:prstGeom prst="lineInv">
            <a:avLst/>
          </a:prstGeom>
          <a:noFill/>
          <a:ln w="22225">
            <a:solidFill>
              <a:srgbClr val="C218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10870040" y="2665000"/>
            <a:ext cx="780000" cy="200000"/>
          </a:xfrm>
          <a:prstGeom prst="rect">
            <a:avLst/>
          </a:prstGeom>
          <a:noFill/>
        </p:spPr>
        <p:txBody>
          <a:bodyPr wrap="square" anchor="t" lIns="0" rIns="0" tIns="0" bIns="0">
            <a:spAutoFit/>
          </a:bodyPr>
          <a:lstStyle/>
          <a:p>
            <a:pPr algn="l"/>
            <a:r>
              <a:rPr sz="750" b="0">
                <a:solidFill>
                  <a:srgbClr val="20242A"/>
                </a:solidFill>
                <a:latin typeface="Calibri"/>
              </a:rPr>
              <a:t>1</a:t>
            </a:r>
          </a:p>
        </p:txBody>
      </p:sp>
      <p:sp>
        <p:nvSpPr>
          <p:cNvPr id="71" name="TextBox 70"/>
          <p:cNvSpPr txBox="1"/>
          <p:nvPr/>
        </p:nvSpPr>
        <p:spPr>
          <a:xfrm>
            <a:off x="11650040" y="2665000"/>
            <a:ext cx="700000" cy="200000"/>
          </a:xfrm>
          <a:prstGeom prst="rect">
            <a:avLst/>
          </a:prstGeom>
          <a:noFill/>
        </p:spPr>
        <p:txBody>
          <a:bodyPr wrap="square" anchor="t" lIns="0" rIns="0" tIns="0" bIns="0">
            <a:spAutoFit/>
          </a:bodyPr>
          <a:lstStyle/>
          <a:p>
            <a:pPr algn="l"/>
            <a:r>
              <a:rPr sz="750" b="0">
                <a:solidFill>
                  <a:srgbClr val="20242A"/>
                </a:solidFill>
                <a:latin typeface="Calibri"/>
              </a:rPr>
              <a:t>53.3 m</a:t>
            </a:r>
          </a:p>
        </p:txBody>
      </p:sp>
      <p:sp>
        <p:nvSpPr>
          <p:cNvPr id="72" name="TextBox 71"/>
          <p:cNvSpPr txBox="1"/>
          <p:nvPr/>
        </p:nvSpPr>
        <p:spPr>
          <a:xfrm>
            <a:off x="7770040" y="2870000"/>
            <a:ext cx="2500000" cy="200000"/>
          </a:xfrm>
          <a:prstGeom prst="rect">
            <a:avLst/>
          </a:prstGeom>
          <a:noFill/>
        </p:spPr>
        <p:txBody>
          <a:bodyPr wrap="square" anchor="t" lIns="0" rIns="0" tIns="0" bIns="0">
            <a:spAutoFit/>
          </a:bodyPr>
          <a:lstStyle/>
          <a:p>
            <a:pPr algn="l"/>
            <a:r>
              <a:rPr sz="750" b="0">
                <a:solidFill>
                  <a:srgbClr val="20242A"/>
                </a:solidFill>
                <a:latin typeface="Calibri"/>
              </a:rPr>
              <a:t>CV-NEW SEC CONDUIT</a:t>
            </a:r>
          </a:p>
        </p:txBody>
      </p:sp>
      <p:sp>
        <p:nvSpPr>
          <p:cNvPr id="73" name="Straight Connector 72"/>
          <p:cNvSpPr/>
          <p:nvPr/>
        </p:nvSpPr>
        <p:spPr>
          <a:xfrm>
            <a:off x="10310040" y="2965000"/>
            <a:ext cx="400000" cy="914"/>
          </a:xfrm>
          <a:prstGeom prst="lineInv">
            <a:avLst/>
          </a:prstGeom>
          <a:noFill/>
          <a:ln w="15875">
            <a:solidFill>
              <a:srgbClr val="1E8E3E"/>
            </a:solidFill>
            <a:prstDash val="sysDash"/>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10870040" y="2870000"/>
            <a:ext cx="780000" cy="200000"/>
          </a:xfrm>
          <a:prstGeom prst="rect">
            <a:avLst/>
          </a:prstGeom>
          <a:noFill/>
        </p:spPr>
        <p:txBody>
          <a:bodyPr wrap="square" anchor="t" lIns="0" rIns="0" tIns="0" bIns="0">
            <a:spAutoFit/>
          </a:bodyPr>
          <a:lstStyle/>
          <a:p>
            <a:pPr algn="l"/>
            <a:r>
              <a:rPr sz="750" b="0">
                <a:solidFill>
                  <a:srgbClr val="20242A"/>
                </a:solidFill>
                <a:latin typeface="Calibri"/>
              </a:rPr>
              <a:t>7</a:t>
            </a:r>
          </a:p>
        </p:txBody>
      </p:sp>
      <p:sp>
        <p:nvSpPr>
          <p:cNvPr id="75" name="TextBox 74"/>
          <p:cNvSpPr txBox="1"/>
          <p:nvPr/>
        </p:nvSpPr>
        <p:spPr>
          <a:xfrm>
            <a:off x="11650040" y="2870000"/>
            <a:ext cx="700000" cy="200000"/>
          </a:xfrm>
          <a:prstGeom prst="rect">
            <a:avLst/>
          </a:prstGeom>
          <a:noFill/>
        </p:spPr>
        <p:txBody>
          <a:bodyPr wrap="square" anchor="t" lIns="0" rIns="0" tIns="0" bIns="0">
            <a:spAutoFit/>
          </a:bodyPr>
          <a:lstStyle/>
          <a:p>
            <a:pPr algn="l"/>
            <a:r>
              <a:rPr sz="750" b="0">
                <a:solidFill>
                  <a:srgbClr val="20242A"/>
                </a:solidFill>
                <a:latin typeface="Calibri"/>
              </a:rPr>
              <a:t>49.0 m</a:t>
            </a:r>
          </a:p>
        </p:txBody>
      </p:sp>
      <p:sp>
        <p:nvSpPr>
          <p:cNvPr id="76" name="TextBox 75"/>
          <p:cNvSpPr txBox="1"/>
          <p:nvPr/>
        </p:nvSpPr>
        <p:spPr>
          <a:xfrm>
            <a:off x="7770040" y="3075000"/>
            <a:ext cx="2500000" cy="200000"/>
          </a:xfrm>
          <a:prstGeom prst="rect">
            <a:avLst/>
          </a:prstGeom>
          <a:noFill/>
        </p:spPr>
        <p:txBody>
          <a:bodyPr wrap="square" anchor="t" lIns="0" rIns="0" tIns="0" bIns="0">
            <a:spAutoFit/>
          </a:bodyPr>
          <a:lstStyle/>
          <a:p>
            <a:pPr algn="l"/>
            <a:r>
              <a:rPr sz="750" b="0">
                <a:solidFill>
                  <a:srgbClr val="20242A"/>
                </a:solidFill>
                <a:latin typeface="Calibri"/>
              </a:rPr>
              <a:t>CV_GRND DUCT</a:t>
            </a:r>
          </a:p>
        </p:txBody>
      </p:sp>
      <p:sp>
        <p:nvSpPr>
          <p:cNvPr id="77" name="Straight Connector 76"/>
          <p:cNvSpPr/>
          <p:nvPr/>
        </p:nvSpPr>
        <p:spPr>
          <a:xfrm>
            <a:off x="10310040" y="3170000"/>
            <a:ext cx="400000" cy="914"/>
          </a:xfrm>
          <a:prstGeom prst="lineInv">
            <a:avLst/>
          </a:prstGeom>
          <a:noFill/>
          <a:ln w="12700">
            <a:solidFill>
              <a:srgbClr val="795548"/>
            </a:solidFill>
            <a:prstDash val="sysDot"/>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10870040" y="3075000"/>
            <a:ext cx="780000" cy="200000"/>
          </a:xfrm>
          <a:prstGeom prst="rect">
            <a:avLst/>
          </a:prstGeom>
          <a:noFill/>
        </p:spPr>
        <p:txBody>
          <a:bodyPr wrap="square" anchor="t" lIns="0" rIns="0" tIns="0" bIns="0">
            <a:spAutoFit/>
          </a:bodyPr>
          <a:lstStyle/>
          <a:p>
            <a:pPr algn="l"/>
            <a:r>
              <a:rPr sz="750" b="0">
                <a:solidFill>
                  <a:srgbClr val="20242A"/>
                </a:solidFill>
                <a:latin typeface="Calibri"/>
              </a:rPr>
              <a:t>1</a:t>
            </a:r>
          </a:p>
        </p:txBody>
      </p:sp>
      <p:sp>
        <p:nvSpPr>
          <p:cNvPr id="79" name="TextBox 78"/>
          <p:cNvSpPr txBox="1"/>
          <p:nvPr/>
        </p:nvSpPr>
        <p:spPr>
          <a:xfrm>
            <a:off x="11650040" y="3075000"/>
            <a:ext cx="700000" cy="200000"/>
          </a:xfrm>
          <a:prstGeom prst="rect">
            <a:avLst/>
          </a:prstGeom>
          <a:noFill/>
        </p:spPr>
        <p:txBody>
          <a:bodyPr wrap="square" anchor="t" lIns="0" rIns="0" tIns="0" bIns="0">
            <a:spAutoFit/>
          </a:bodyPr>
          <a:lstStyle/>
          <a:p>
            <a:pPr algn="l"/>
            <a:r>
              <a:rPr sz="750" b="0">
                <a:solidFill>
                  <a:srgbClr val="20242A"/>
                </a:solidFill>
                <a:latin typeface="Calibri"/>
              </a:rPr>
              <a:t>1.5 m</a:t>
            </a:r>
          </a:p>
        </p:txBody>
      </p:sp>
      <p:sp>
        <p:nvSpPr>
          <p:cNvPr id="80" name="TextBox 79"/>
          <p:cNvSpPr txBox="1"/>
          <p:nvPr/>
        </p:nvSpPr>
        <p:spPr>
          <a:xfrm>
            <a:off x="7740040" y="3370000"/>
            <a:ext cx="6944033" cy="220000"/>
          </a:xfrm>
          <a:prstGeom prst="rect">
            <a:avLst/>
          </a:prstGeom>
          <a:noFill/>
        </p:spPr>
        <p:txBody>
          <a:bodyPr wrap="square" anchor="t" lIns="0" rIns="0" tIns="0" bIns="0">
            <a:spAutoFit/>
          </a:bodyPr>
          <a:lstStyle/>
          <a:p>
            <a:pPr algn="l"/>
            <a:r>
              <a:rPr sz="850" b="1">
                <a:solidFill>
                  <a:srgbClr val="1E2761"/>
                </a:solidFill>
                <a:latin typeface="Calibri"/>
              </a:rPr>
              <a:t>LOC-02 — 13 segments, 349 m inside the frame</a:t>
            </a:r>
          </a:p>
        </p:txBody>
      </p:sp>
      <p:sp>
        <p:nvSpPr>
          <p:cNvPr id="81" name="TextBox 80"/>
          <p:cNvSpPr txBox="1"/>
          <p:nvPr/>
        </p:nvSpPr>
        <p:spPr>
          <a:xfrm>
            <a:off x="7770040" y="3620000"/>
            <a:ext cx="2500000" cy="200000"/>
          </a:xfrm>
          <a:prstGeom prst="rect">
            <a:avLst/>
          </a:prstGeom>
          <a:noFill/>
        </p:spPr>
        <p:txBody>
          <a:bodyPr wrap="square" anchor="t" lIns="0" rIns="0" tIns="0" bIns="0">
            <a:spAutoFit/>
          </a:bodyPr>
          <a:lstStyle/>
          <a:p>
            <a:pPr algn="l"/>
            <a:r>
              <a:rPr sz="650" b="1">
                <a:solidFill>
                  <a:srgbClr val="5F6368"/>
                </a:solidFill>
                <a:latin typeface="Calibri"/>
              </a:rPr>
              <a:t>Source layer (carries bore &amp; way-count)</a:t>
            </a:r>
          </a:p>
        </p:txBody>
      </p:sp>
      <p:sp>
        <p:nvSpPr>
          <p:cNvPr id="82" name="TextBox 81"/>
          <p:cNvSpPr txBox="1"/>
          <p:nvPr/>
        </p:nvSpPr>
        <p:spPr>
          <a:xfrm>
            <a:off x="10270040" y="3620000"/>
            <a:ext cx="600000" cy="200000"/>
          </a:xfrm>
          <a:prstGeom prst="rect">
            <a:avLst/>
          </a:prstGeom>
          <a:noFill/>
        </p:spPr>
        <p:txBody>
          <a:bodyPr wrap="square" anchor="t" lIns="0" rIns="0" tIns="0" bIns="0">
            <a:spAutoFit/>
          </a:bodyPr>
          <a:lstStyle/>
          <a:p>
            <a:pPr algn="l"/>
            <a:r>
              <a:rPr sz="650" b="1">
                <a:solidFill>
                  <a:srgbClr val="5F6368"/>
                </a:solidFill>
                <a:latin typeface="Calibri"/>
              </a:rPr>
              <a:t>Draw</a:t>
            </a:r>
          </a:p>
        </p:txBody>
      </p:sp>
      <p:sp>
        <p:nvSpPr>
          <p:cNvPr id="83" name="TextBox 82"/>
          <p:cNvSpPr txBox="1"/>
          <p:nvPr/>
        </p:nvSpPr>
        <p:spPr>
          <a:xfrm>
            <a:off x="10870040" y="3620000"/>
            <a:ext cx="780000" cy="200000"/>
          </a:xfrm>
          <a:prstGeom prst="rect">
            <a:avLst/>
          </a:prstGeom>
          <a:noFill/>
        </p:spPr>
        <p:txBody>
          <a:bodyPr wrap="square" anchor="t" lIns="0" rIns="0" tIns="0" bIns="0">
            <a:spAutoFit/>
          </a:bodyPr>
          <a:lstStyle/>
          <a:p>
            <a:pPr algn="l"/>
            <a:r>
              <a:rPr sz="650" b="1">
                <a:solidFill>
                  <a:srgbClr val="5F6368"/>
                </a:solidFill>
                <a:latin typeface="Calibri"/>
              </a:rPr>
              <a:t>Segs</a:t>
            </a:r>
          </a:p>
        </p:txBody>
      </p:sp>
      <p:sp>
        <p:nvSpPr>
          <p:cNvPr id="84" name="TextBox 83"/>
          <p:cNvSpPr txBox="1"/>
          <p:nvPr/>
        </p:nvSpPr>
        <p:spPr>
          <a:xfrm>
            <a:off x="11650040" y="3620000"/>
            <a:ext cx="700000" cy="200000"/>
          </a:xfrm>
          <a:prstGeom prst="rect">
            <a:avLst/>
          </a:prstGeom>
          <a:noFill/>
        </p:spPr>
        <p:txBody>
          <a:bodyPr wrap="square" anchor="t" lIns="0" rIns="0" tIns="0" bIns="0">
            <a:spAutoFit/>
          </a:bodyPr>
          <a:lstStyle/>
          <a:p>
            <a:pPr algn="l"/>
            <a:r>
              <a:rPr sz="650" b="1">
                <a:solidFill>
                  <a:srgbClr val="5F6368"/>
                </a:solidFill>
                <a:latin typeface="Calibri"/>
              </a:rPr>
              <a:t>On sheet</a:t>
            </a:r>
          </a:p>
        </p:txBody>
      </p:sp>
      <p:sp>
        <p:nvSpPr>
          <p:cNvPr id="85" name="TextBox 84"/>
          <p:cNvSpPr txBox="1"/>
          <p:nvPr/>
        </p:nvSpPr>
        <p:spPr>
          <a:xfrm>
            <a:off x="7770040" y="3830000"/>
            <a:ext cx="2500000" cy="200000"/>
          </a:xfrm>
          <a:prstGeom prst="rect">
            <a:avLst/>
          </a:prstGeom>
          <a:noFill/>
        </p:spPr>
        <p:txBody>
          <a:bodyPr wrap="square" anchor="t" lIns="0" rIns="0" tIns="0" bIns="0">
            <a:spAutoFit/>
          </a:bodyPr>
          <a:lstStyle/>
          <a:p>
            <a:pPr algn="l"/>
            <a:r>
              <a:rPr sz="750" b="0">
                <a:solidFill>
                  <a:srgbClr val="20242A"/>
                </a:solidFill>
                <a:latin typeface="Calibri"/>
              </a:rPr>
              <a:t>CV-EX SEC CONDUIT</a:t>
            </a:r>
          </a:p>
        </p:txBody>
      </p:sp>
      <p:sp>
        <p:nvSpPr>
          <p:cNvPr id="86" name="Straight Connector 85"/>
          <p:cNvSpPr/>
          <p:nvPr/>
        </p:nvSpPr>
        <p:spPr>
          <a:xfrm>
            <a:off x="10310040" y="3925000"/>
            <a:ext cx="400000" cy="914"/>
          </a:xfrm>
          <a:prstGeom prst="lineInv">
            <a:avLst/>
          </a:prstGeom>
          <a:noFill/>
          <a:ln w="15875">
            <a:solidFill>
              <a:srgbClr val="0083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10870040" y="3830000"/>
            <a:ext cx="780000" cy="200000"/>
          </a:xfrm>
          <a:prstGeom prst="rect">
            <a:avLst/>
          </a:prstGeom>
          <a:noFill/>
        </p:spPr>
        <p:txBody>
          <a:bodyPr wrap="square" anchor="t" lIns="0" rIns="0" tIns="0" bIns="0">
            <a:spAutoFit/>
          </a:bodyPr>
          <a:lstStyle/>
          <a:p>
            <a:pPr algn="l"/>
            <a:r>
              <a:rPr sz="750" b="0">
                <a:solidFill>
                  <a:srgbClr val="20242A"/>
                </a:solidFill>
                <a:latin typeface="Calibri"/>
              </a:rPr>
              <a:t>10</a:t>
            </a:r>
          </a:p>
        </p:txBody>
      </p:sp>
      <p:sp>
        <p:nvSpPr>
          <p:cNvPr id="88" name="TextBox 87"/>
          <p:cNvSpPr txBox="1"/>
          <p:nvPr/>
        </p:nvSpPr>
        <p:spPr>
          <a:xfrm>
            <a:off x="11650040" y="3830000"/>
            <a:ext cx="700000" cy="200000"/>
          </a:xfrm>
          <a:prstGeom prst="rect">
            <a:avLst/>
          </a:prstGeom>
          <a:noFill/>
        </p:spPr>
        <p:txBody>
          <a:bodyPr wrap="square" anchor="t" lIns="0" rIns="0" tIns="0" bIns="0">
            <a:spAutoFit/>
          </a:bodyPr>
          <a:lstStyle/>
          <a:p>
            <a:pPr algn="l"/>
            <a:r>
              <a:rPr sz="750" b="0">
                <a:solidFill>
                  <a:srgbClr val="20242A"/>
                </a:solidFill>
                <a:latin typeface="Calibri"/>
              </a:rPr>
              <a:t>230.7 m</a:t>
            </a:r>
          </a:p>
        </p:txBody>
      </p:sp>
      <p:sp>
        <p:nvSpPr>
          <p:cNvPr id="89" name="TextBox 88"/>
          <p:cNvSpPr txBox="1"/>
          <p:nvPr/>
        </p:nvSpPr>
        <p:spPr>
          <a:xfrm>
            <a:off x="7770040" y="4035000"/>
            <a:ext cx="2500000" cy="200000"/>
          </a:xfrm>
          <a:prstGeom prst="rect">
            <a:avLst/>
          </a:prstGeom>
          <a:noFill/>
        </p:spPr>
        <p:txBody>
          <a:bodyPr wrap="square" anchor="t" lIns="0" rIns="0" tIns="0" bIns="0">
            <a:spAutoFit/>
          </a:bodyPr>
          <a:lstStyle/>
          <a:p>
            <a:pPr algn="l"/>
            <a:r>
              <a:rPr sz="750" b="0">
                <a:solidFill>
                  <a:srgbClr val="20242A"/>
                </a:solidFill>
                <a:latin typeface="Calibri"/>
              </a:rPr>
              <a:t>CV_OUTER DUCT 4x110mm dia</a:t>
            </a:r>
          </a:p>
        </p:txBody>
      </p:sp>
      <p:sp>
        <p:nvSpPr>
          <p:cNvPr id="90" name="Straight Connector 89"/>
          <p:cNvSpPr/>
          <p:nvPr/>
        </p:nvSpPr>
        <p:spPr>
          <a:xfrm>
            <a:off x="10310040" y="4130000"/>
            <a:ext cx="400000" cy="914"/>
          </a:xfrm>
          <a:prstGeom prst="lineInv">
            <a:avLst/>
          </a:prstGeom>
          <a:noFill/>
          <a:ln w="22225">
            <a:solidFill>
              <a:srgbClr val="0B3D9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10870040" y="4035000"/>
            <a:ext cx="780000" cy="200000"/>
          </a:xfrm>
          <a:prstGeom prst="rect">
            <a:avLst/>
          </a:prstGeom>
          <a:noFill/>
        </p:spPr>
        <p:txBody>
          <a:bodyPr wrap="square" anchor="t" lIns="0" rIns="0" tIns="0" bIns="0">
            <a:spAutoFit/>
          </a:bodyPr>
          <a:lstStyle/>
          <a:p>
            <a:pPr algn="l"/>
            <a:r>
              <a:rPr sz="750" b="0">
                <a:solidFill>
                  <a:srgbClr val="20242A"/>
                </a:solidFill>
                <a:latin typeface="Calibri"/>
              </a:rPr>
              <a:t>1</a:t>
            </a:r>
          </a:p>
        </p:txBody>
      </p:sp>
      <p:sp>
        <p:nvSpPr>
          <p:cNvPr id="92" name="TextBox 91"/>
          <p:cNvSpPr txBox="1"/>
          <p:nvPr/>
        </p:nvSpPr>
        <p:spPr>
          <a:xfrm>
            <a:off x="11650040" y="4035000"/>
            <a:ext cx="700000" cy="200000"/>
          </a:xfrm>
          <a:prstGeom prst="rect">
            <a:avLst/>
          </a:prstGeom>
          <a:noFill/>
        </p:spPr>
        <p:txBody>
          <a:bodyPr wrap="square" anchor="t" lIns="0" rIns="0" tIns="0" bIns="0">
            <a:spAutoFit/>
          </a:bodyPr>
          <a:lstStyle/>
          <a:p>
            <a:pPr algn="l"/>
            <a:r>
              <a:rPr sz="750" b="0">
                <a:solidFill>
                  <a:srgbClr val="20242A"/>
                </a:solidFill>
                <a:latin typeface="Calibri"/>
              </a:rPr>
              <a:t>110.8 m</a:t>
            </a:r>
          </a:p>
        </p:txBody>
      </p:sp>
      <p:sp>
        <p:nvSpPr>
          <p:cNvPr id="93" name="TextBox 92"/>
          <p:cNvSpPr txBox="1"/>
          <p:nvPr/>
        </p:nvSpPr>
        <p:spPr>
          <a:xfrm>
            <a:off x="7770040" y="4240000"/>
            <a:ext cx="2500000" cy="200000"/>
          </a:xfrm>
          <a:prstGeom prst="rect">
            <a:avLst/>
          </a:prstGeom>
          <a:noFill/>
        </p:spPr>
        <p:txBody>
          <a:bodyPr wrap="square" anchor="t" lIns="0" rIns="0" tIns="0" bIns="0">
            <a:spAutoFit/>
          </a:bodyPr>
          <a:lstStyle/>
          <a:p>
            <a:pPr algn="l"/>
            <a:r>
              <a:rPr sz="750" b="0">
                <a:solidFill>
                  <a:srgbClr val="20242A"/>
                </a:solidFill>
                <a:latin typeface="Calibri"/>
              </a:rPr>
              <a:t>CV-NEW SEC CONDUIT</a:t>
            </a:r>
          </a:p>
        </p:txBody>
      </p:sp>
      <p:sp>
        <p:nvSpPr>
          <p:cNvPr id="94" name="Straight Connector 93"/>
          <p:cNvSpPr/>
          <p:nvPr/>
        </p:nvSpPr>
        <p:spPr>
          <a:xfrm>
            <a:off x="10310040" y="4335000"/>
            <a:ext cx="400000" cy="914"/>
          </a:xfrm>
          <a:prstGeom prst="lineInv">
            <a:avLst/>
          </a:prstGeom>
          <a:noFill/>
          <a:ln w="15875">
            <a:solidFill>
              <a:srgbClr val="1E8E3E"/>
            </a:solidFill>
            <a:prstDash val="sysDash"/>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10870040" y="4240000"/>
            <a:ext cx="780000" cy="200000"/>
          </a:xfrm>
          <a:prstGeom prst="rect">
            <a:avLst/>
          </a:prstGeom>
          <a:noFill/>
        </p:spPr>
        <p:txBody>
          <a:bodyPr wrap="square" anchor="t" lIns="0" rIns="0" tIns="0" bIns="0">
            <a:spAutoFit/>
          </a:bodyPr>
          <a:lstStyle/>
          <a:p>
            <a:pPr algn="l"/>
            <a:r>
              <a:rPr sz="750" b="0">
                <a:solidFill>
                  <a:srgbClr val="20242A"/>
                </a:solidFill>
                <a:latin typeface="Calibri"/>
              </a:rPr>
              <a:t>1</a:t>
            </a:r>
          </a:p>
        </p:txBody>
      </p:sp>
      <p:sp>
        <p:nvSpPr>
          <p:cNvPr id="96" name="TextBox 95"/>
          <p:cNvSpPr txBox="1"/>
          <p:nvPr/>
        </p:nvSpPr>
        <p:spPr>
          <a:xfrm>
            <a:off x="11650040" y="4240000"/>
            <a:ext cx="700000" cy="200000"/>
          </a:xfrm>
          <a:prstGeom prst="rect">
            <a:avLst/>
          </a:prstGeom>
          <a:noFill/>
        </p:spPr>
        <p:txBody>
          <a:bodyPr wrap="square" anchor="t" lIns="0" rIns="0" tIns="0" bIns="0">
            <a:spAutoFit/>
          </a:bodyPr>
          <a:lstStyle/>
          <a:p>
            <a:pPr algn="l"/>
            <a:r>
              <a:rPr sz="750" b="0">
                <a:solidFill>
                  <a:srgbClr val="20242A"/>
                </a:solidFill>
                <a:latin typeface="Calibri"/>
              </a:rPr>
              <a:t>6.2 m</a:t>
            </a:r>
          </a:p>
        </p:txBody>
      </p:sp>
      <p:sp>
        <p:nvSpPr>
          <p:cNvPr id="97" name="TextBox 96"/>
          <p:cNvSpPr txBox="1"/>
          <p:nvPr/>
        </p:nvSpPr>
        <p:spPr>
          <a:xfrm>
            <a:off x="7770040" y="4445000"/>
            <a:ext cx="2500000" cy="200000"/>
          </a:xfrm>
          <a:prstGeom prst="rect">
            <a:avLst/>
          </a:prstGeom>
          <a:noFill/>
        </p:spPr>
        <p:txBody>
          <a:bodyPr wrap="square" anchor="t" lIns="0" rIns="0" tIns="0" bIns="0">
            <a:spAutoFit/>
          </a:bodyPr>
          <a:lstStyle/>
          <a:p>
            <a:pPr algn="l"/>
            <a:r>
              <a:rPr sz="750" b="0">
                <a:solidFill>
                  <a:srgbClr val="20242A"/>
                </a:solidFill>
                <a:latin typeface="Calibri"/>
              </a:rPr>
              <a:t>CV_GRND DUCT</a:t>
            </a:r>
          </a:p>
        </p:txBody>
      </p:sp>
      <p:sp>
        <p:nvSpPr>
          <p:cNvPr id="98" name="Straight Connector 97"/>
          <p:cNvSpPr/>
          <p:nvPr/>
        </p:nvSpPr>
        <p:spPr>
          <a:xfrm>
            <a:off x="10310040" y="4540000"/>
            <a:ext cx="400000" cy="914"/>
          </a:xfrm>
          <a:prstGeom prst="lineInv">
            <a:avLst/>
          </a:prstGeom>
          <a:noFill/>
          <a:ln w="12700">
            <a:solidFill>
              <a:srgbClr val="795548"/>
            </a:solidFill>
            <a:prstDash val="sysDot"/>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TextBox 98"/>
          <p:cNvSpPr txBox="1"/>
          <p:nvPr/>
        </p:nvSpPr>
        <p:spPr>
          <a:xfrm>
            <a:off x="10870040" y="4445000"/>
            <a:ext cx="780000" cy="200000"/>
          </a:xfrm>
          <a:prstGeom prst="rect">
            <a:avLst/>
          </a:prstGeom>
          <a:noFill/>
        </p:spPr>
        <p:txBody>
          <a:bodyPr wrap="square" anchor="t" lIns="0" rIns="0" tIns="0" bIns="0">
            <a:spAutoFit/>
          </a:bodyPr>
          <a:lstStyle/>
          <a:p>
            <a:pPr algn="l"/>
            <a:r>
              <a:rPr sz="750" b="0">
                <a:solidFill>
                  <a:srgbClr val="20242A"/>
                </a:solidFill>
                <a:latin typeface="Calibri"/>
              </a:rPr>
              <a:t>1</a:t>
            </a:r>
          </a:p>
        </p:txBody>
      </p:sp>
      <p:sp>
        <p:nvSpPr>
          <p:cNvPr id="100" name="TextBox 99"/>
          <p:cNvSpPr txBox="1"/>
          <p:nvPr/>
        </p:nvSpPr>
        <p:spPr>
          <a:xfrm>
            <a:off x="11650040" y="4445000"/>
            <a:ext cx="700000" cy="200000"/>
          </a:xfrm>
          <a:prstGeom prst="rect">
            <a:avLst/>
          </a:prstGeom>
          <a:noFill/>
        </p:spPr>
        <p:txBody>
          <a:bodyPr wrap="square" anchor="t" lIns="0" rIns="0" tIns="0" bIns="0">
            <a:spAutoFit/>
          </a:bodyPr>
          <a:lstStyle/>
          <a:p>
            <a:pPr algn="l"/>
            <a:r>
              <a:rPr sz="750" b="0">
                <a:solidFill>
                  <a:srgbClr val="20242A"/>
                </a:solidFill>
                <a:latin typeface="Calibri"/>
              </a:rPr>
              <a:t>1.6 m</a:t>
            </a:r>
          </a:p>
        </p:txBody>
      </p:sp>
      <p:sp>
        <p:nvSpPr>
          <p:cNvPr id="101" name="TextBox 100"/>
          <p:cNvSpPr txBox="1"/>
          <p:nvPr/>
        </p:nvSpPr>
        <p:spPr>
          <a:xfrm>
            <a:off x="7740040" y="4740000"/>
            <a:ext cx="6944033" cy="220000"/>
          </a:xfrm>
          <a:prstGeom prst="rect">
            <a:avLst/>
          </a:prstGeom>
          <a:noFill/>
        </p:spPr>
        <p:txBody>
          <a:bodyPr wrap="square" anchor="t" lIns="0" rIns="0" tIns="0" bIns="0">
            <a:spAutoFit/>
          </a:bodyPr>
          <a:lstStyle/>
          <a:p>
            <a:pPr algn="l"/>
            <a:r>
              <a:rPr sz="850" b="1">
                <a:solidFill>
                  <a:srgbClr val="1E2761"/>
                </a:solidFill>
                <a:latin typeface="Calibri"/>
              </a:rPr>
              <a:t>LOC-03 — 53 segments, 1104 m inside the frame</a:t>
            </a:r>
          </a:p>
        </p:txBody>
      </p:sp>
      <p:sp>
        <p:nvSpPr>
          <p:cNvPr id="102" name="TextBox 101"/>
          <p:cNvSpPr txBox="1"/>
          <p:nvPr/>
        </p:nvSpPr>
        <p:spPr>
          <a:xfrm>
            <a:off x="7770040" y="4990000"/>
            <a:ext cx="2500000" cy="200000"/>
          </a:xfrm>
          <a:prstGeom prst="rect">
            <a:avLst/>
          </a:prstGeom>
          <a:noFill/>
        </p:spPr>
        <p:txBody>
          <a:bodyPr wrap="square" anchor="t" lIns="0" rIns="0" tIns="0" bIns="0">
            <a:spAutoFit/>
          </a:bodyPr>
          <a:lstStyle/>
          <a:p>
            <a:pPr algn="l"/>
            <a:r>
              <a:rPr sz="650" b="1">
                <a:solidFill>
                  <a:srgbClr val="5F6368"/>
                </a:solidFill>
                <a:latin typeface="Calibri"/>
              </a:rPr>
              <a:t>Source layer (carries bore &amp; way-count)</a:t>
            </a:r>
          </a:p>
        </p:txBody>
      </p:sp>
      <p:sp>
        <p:nvSpPr>
          <p:cNvPr id="103" name="TextBox 102"/>
          <p:cNvSpPr txBox="1"/>
          <p:nvPr/>
        </p:nvSpPr>
        <p:spPr>
          <a:xfrm>
            <a:off x="10270040" y="4990000"/>
            <a:ext cx="600000" cy="200000"/>
          </a:xfrm>
          <a:prstGeom prst="rect">
            <a:avLst/>
          </a:prstGeom>
          <a:noFill/>
        </p:spPr>
        <p:txBody>
          <a:bodyPr wrap="square" anchor="t" lIns="0" rIns="0" tIns="0" bIns="0">
            <a:spAutoFit/>
          </a:bodyPr>
          <a:lstStyle/>
          <a:p>
            <a:pPr algn="l"/>
            <a:r>
              <a:rPr sz="650" b="1">
                <a:solidFill>
                  <a:srgbClr val="5F6368"/>
                </a:solidFill>
                <a:latin typeface="Calibri"/>
              </a:rPr>
              <a:t>Draw</a:t>
            </a:r>
          </a:p>
        </p:txBody>
      </p:sp>
      <p:sp>
        <p:nvSpPr>
          <p:cNvPr id="104" name="TextBox 103"/>
          <p:cNvSpPr txBox="1"/>
          <p:nvPr/>
        </p:nvSpPr>
        <p:spPr>
          <a:xfrm>
            <a:off x="10870040" y="4990000"/>
            <a:ext cx="780000" cy="200000"/>
          </a:xfrm>
          <a:prstGeom prst="rect">
            <a:avLst/>
          </a:prstGeom>
          <a:noFill/>
        </p:spPr>
        <p:txBody>
          <a:bodyPr wrap="square" anchor="t" lIns="0" rIns="0" tIns="0" bIns="0">
            <a:spAutoFit/>
          </a:bodyPr>
          <a:lstStyle/>
          <a:p>
            <a:pPr algn="l"/>
            <a:r>
              <a:rPr sz="650" b="1">
                <a:solidFill>
                  <a:srgbClr val="5F6368"/>
                </a:solidFill>
                <a:latin typeface="Calibri"/>
              </a:rPr>
              <a:t>Segs</a:t>
            </a:r>
          </a:p>
        </p:txBody>
      </p:sp>
      <p:sp>
        <p:nvSpPr>
          <p:cNvPr id="105" name="TextBox 104"/>
          <p:cNvSpPr txBox="1"/>
          <p:nvPr/>
        </p:nvSpPr>
        <p:spPr>
          <a:xfrm>
            <a:off x="11650040" y="4990000"/>
            <a:ext cx="700000" cy="200000"/>
          </a:xfrm>
          <a:prstGeom prst="rect">
            <a:avLst/>
          </a:prstGeom>
          <a:noFill/>
        </p:spPr>
        <p:txBody>
          <a:bodyPr wrap="square" anchor="t" lIns="0" rIns="0" tIns="0" bIns="0">
            <a:spAutoFit/>
          </a:bodyPr>
          <a:lstStyle/>
          <a:p>
            <a:pPr algn="l"/>
            <a:r>
              <a:rPr sz="650" b="1">
                <a:solidFill>
                  <a:srgbClr val="5F6368"/>
                </a:solidFill>
                <a:latin typeface="Calibri"/>
              </a:rPr>
              <a:t>On sheet</a:t>
            </a:r>
          </a:p>
        </p:txBody>
      </p:sp>
      <p:sp>
        <p:nvSpPr>
          <p:cNvPr id="106" name="TextBox 105"/>
          <p:cNvSpPr txBox="1"/>
          <p:nvPr/>
        </p:nvSpPr>
        <p:spPr>
          <a:xfrm>
            <a:off x="7770040" y="5200000"/>
            <a:ext cx="2500000" cy="200000"/>
          </a:xfrm>
          <a:prstGeom prst="rect">
            <a:avLst/>
          </a:prstGeom>
          <a:noFill/>
        </p:spPr>
        <p:txBody>
          <a:bodyPr wrap="square" anchor="t" lIns="0" rIns="0" tIns="0" bIns="0">
            <a:spAutoFit/>
          </a:bodyPr>
          <a:lstStyle/>
          <a:p>
            <a:pPr algn="l"/>
            <a:r>
              <a:rPr sz="750" b="0">
                <a:solidFill>
                  <a:srgbClr val="20242A"/>
                </a:solidFill>
                <a:latin typeface="Calibri"/>
              </a:rPr>
              <a:t>CV-EX SEC CONDUIT</a:t>
            </a:r>
          </a:p>
        </p:txBody>
      </p:sp>
      <p:sp>
        <p:nvSpPr>
          <p:cNvPr id="107" name="Straight Connector 106"/>
          <p:cNvSpPr/>
          <p:nvPr/>
        </p:nvSpPr>
        <p:spPr>
          <a:xfrm>
            <a:off x="10310040" y="5295000"/>
            <a:ext cx="400000" cy="914"/>
          </a:xfrm>
          <a:prstGeom prst="lineInv">
            <a:avLst/>
          </a:prstGeom>
          <a:noFill/>
          <a:ln w="15875">
            <a:solidFill>
              <a:srgbClr val="0083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TextBox 107"/>
          <p:cNvSpPr txBox="1"/>
          <p:nvPr/>
        </p:nvSpPr>
        <p:spPr>
          <a:xfrm>
            <a:off x="10870040" y="5200000"/>
            <a:ext cx="780000" cy="200000"/>
          </a:xfrm>
          <a:prstGeom prst="rect">
            <a:avLst/>
          </a:prstGeom>
          <a:noFill/>
        </p:spPr>
        <p:txBody>
          <a:bodyPr wrap="square" anchor="t" lIns="0" rIns="0" tIns="0" bIns="0">
            <a:spAutoFit/>
          </a:bodyPr>
          <a:lstStyle/>
          <a:p>
            <a:pPr algn="l"/>
            <a:r>
              <a:rPr sz="750" b="0">
                <a:solidFill>
                  <a:srgbClr val="20242A"/>
                </a:solidFill>
                <a:latin typeface="Calibri"/>
              </a:rPr>
              <a:t>29</a:t>
            </a:r>
          </a:p>
        </p:txBody>
      </p:sp>
      <p:sp>
        <p:nvSpPr>
          <p:cNvPr id="109" name="TextBox 108"/>
          <p:cNvSpPr txBox="1"/>
          <p:nvPr/>
        </p:nvSpPr>
        <p:spPr>
          <a:xfrm>
            <a:off x="11650040" y="5200000"/>
            <a:ext cx="700000" cy="200000"/>
          </a:xfrm>
          <a:prstGeom prst="rect">
            <a:avLst/>
          </a:prstGeom>
          <a:noFill/>
        </p:spPr>
        <p:txBody>
          <a:bodyPr wrap="square" anchor="t" lIns="0" rIns="0" tIns="0" bIns="0">
            <a:spAutoFit/>
          </a:bodyPr>
          <a:lstStyle/>
          <a:p>
            <a:pPr algn="l"/>
            <a:r>
              <a:rPr sz="750" b="0">
                <a:solidFill>
                  <a:srgbClr val="20242A"/>
                </a:solidFill>
                <a:latin typeface="Calibri"/>
              </a:rPr>
              <a:t>541.5 m</a:t>
            </a:r>
          </a:p>
        </p:txBody>
      </p:sp>
      <p:sp>
        <p:nvSpPr>
          <p:cNvPr id="110" name="TextBox 109"/>
          <p:cNvSpPr txBox="1"/>
          <p:nvPr/>
        </p:nvSpPr>
        <p:spPr>
          <a:xfrm>
            <a:off x="7770040" y="5405000"/>
            <a:ext cx="2500000" cy="200000"/>
          </a:xfrm>
          <a:prstGeom prst="rect">
            <a:avLst/>
          </a:prstGeom>
          <a:noFill/>
        </p:spPr>
        <p:txBody>
          <a:bodyPr wrap="square" anchor="t" lIns="0" rIns="0" tIns="0" bIns="0">
            <a:spAutoFit/>
          </a:bodyPr>
          <a:lstStyle/>
          <a:p>
            <a:pPr algn="l"/>
            <a:r>
              <a:rPr sz="750" b="0">
                <a:solidFill>
                  <a:srgbClr val="20242A"/>
                </a:solidFill>
                <a:latin typeface="Calibri"/>
              </a:rPr>
              <a:t>CV-NEW SEC SAWCUT</a:t>
            </a:r>
          </a:p>
        </p:txBody>
      </p:sp>
      <p:sp>
        <p:nvSpPr>
          <p:cNvPr id="111" name="Straight Connector 110"/>
          <p:cNvSpPr/>
          <p:nvPr/>
        </p:nvSpPr>
        <p:spPr>
          <a:xfrm>
            <a:off x="10310040" y="5500000"/>
            <a:ext cx="400000" cy="914"/>
          </a:xfrm>
          <a:prstGeom prst="lineInv">
            <a:avLst/>
          </a:prstGeom>
          <a:noFill/>
          <a:ln w="15875">
            <a:solidFill>
              <a:srgbClr val="E8710A"/>
            </a:solidFill>
            <a:prstDash val="sysDash"/>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TextBox 111"/>
          <p:cNvSpPr txBox="1"/>
          <p:nvPr/>
        </p:nvSpPr>
        <p:spPr>
          <a:xfrm>
            <a:off x="10870040" y="5405000"/>
            <a:ext cx="780000" cy="200000"/>
          </a:xfrm>
          <a:prstGeom prst="rect">
            <a:avLst/>
          </a:prstGeom>
          <a:noFill/>
        </p:spPr>
        <p:txBody>
          <a:bodyPr wrap="square" anchor="t" lIns="0" rIns="0" tIns="0" bIns="0">
            <a:spAutoFit/>
          </a:bodyPr>
          <a:lstStyle/>
          <a:p>
            <a:pPr algn="l"/>
            <a:r>
              <a:rPr sz="750" b="0">
                <a:solidFill>
                  <a:srgbClr val="20242A"/>
                </a:solidFill>
                <a:latin typeface="Calibri"/>
              </a:rPr>
              <a:t>11</a:t>
            </a:r>
          </a:p>
        </p:txBody>
      </p:sp>
      <p:sp>
        <p:nvSpPr>
          <p:cNvPr id="113" name="TextBox 112"/>
          <p:cNvSpPr txBox="1"/>
          <p:nvPr/>
        </p:nvSpPr>
        <p:spPr>
          <a:xfrm>
            <a:off x="11650040" y="5405000"/>
            <a:ext cx="700000" cy="200000"/>
          </a:xfrm>
          <a:prstGeom prst="rect">
            <a:avLst/>
          </a:prstGeom>
          <a:noFill/>
        </p:spPr>
        <p:txBody>
          <a:bodyPr wrap="square" anchor="t" lIns="0" rIns="0" tIns="0" bIns="0">
            <a:spAutoFit/>
          </a:bodyPr>
          <a:lstStyle/>
          <a:p>
            <a:pPr algn="l"/>
            <a:r>
              <a:rPr sz="750" b="0">
                <a:solidFill>
                  <a:srgbClr val="20242A"/>
                </a:solidFill>
                <a:latin typeface="Calibri"/>
              </a:rPr>
              <a:t>259.1 m</a:t>
            </a:r>
          </a:p>
        </p:txBody>
      </p:sp>
      <p:sp>
        <p:nvSpPr>
          <p:cNvPr id="114" name="TextBox 113"/>
          <p:cNvSpPr txBox="1"/>
          <p:nvPr/>
        </p:nvSpPr>
        <p:spPr>
          <a:xfrm>
            <a:off x="7770040" y="5610000"/>
            <a:ext cx="2500000" cy="200000"/>
          </a:xfrm>
          <a:prstGeom prst="rect">
            <a:avLst/>
          </a:prstGeom>
          <a:noFill/>
        </p:spPr>
        <p:txBody>
          <a:bodyPr wrap="square" anchor="t" lIns="0" rIns="0" tIns="0" bIns="0">
            <a:spAutoFit/>
          </a:bodyPr>
          <a:lstStyle/>
          <a:p>
            <a:pPr algn="l"/>
            <a:r>
              <a:rPr sz="750" b="0">
                <a:solidFill>
                  <a:srgbClr val="20242A"/>
                </a:solidFill>
                <a:latin typeface="Calibri"/>
              </a:rPr>
              <a:t>CV_INNER DUCT 4x110mm dia</a:t>
            </a:r>
          </a:p>
        </p:txBody>
      </p:sp>
      <p:sp>
        <p:nvSpPr>
          <p:cNvPr id="115" name="Straight Connector 114"/>
          <p:cNvSpPr/>
          <p:nvPr/>
        </p:nvSpPr>
        <p:spPr>
          <a:xfrm>
            <a:off x="10310040" y="5705000"/>
            <a:ext cx="400000" cy="914"/>
          </a:xfrm>
          <a:prstGeom prst="lineInv">
            <a:avLst/>
          </a:prstGeom>
          <a:noFill/>
          <a:ln w="12700">
            <a:solidFill>
              <a:srgbClr val="0B3D9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TextBox 115"/>
          <p:cNvSpPr txBox="1"/>
          <p:nvPr/>
        </p:nvSpPr>
        <p:spPr>
          <a:xfrm>
            <a:off x="10870040" y="5610000"/>
            <a:ext cx="780000" cy="200000"/>
          </a:xfrm>
          <a:prstGeom prst="rect">
            <a:avLst/>
          </a:prstGeom>
          <a:noFill/>
        </p:spPr>
        <p:txBody>
          <a:bodyPr wrap="square" anchor="t" lIns="0" rIns="0" tIns="0" bIns="0">
            <a:spAutoFit/>
          </a:bodyPr>
          <a:lstStyle/>
          <a:p>
            <a:pPr algn="l"/>
            <a:r>
              <a:rPr sz="750" b="0">
                <a:solidFill>
                  <a:srgbClr val="20242A"/>
                </a:solidFill>
                <a:latin typeface="Calibri"/>
              </a:rPr>
              <a:t>2</a:t>
            </a:r>
          </a:p>
        </p:txBody>
      </p:sp>
      <p:sp>
        <p:nvSpPr>
          <p:cNvPr id="117" name="TextBox 116"/>
          <p:cNvSpPr txBox="1"/>
          <p:nvPr/>
        </p:nvSpPr>
        <p:spPr>
          <a:xfrm>
            <a:off x="11650040" y="5610000"/>
            <a:ext cx="700000" cy="200000"/>
          </a:xfrm>
          <a:prstGeom prst="rect">
            <a:avLst/>
          </a:prstGeom>
          <a:noFill/>
        </p:spPr>
        <p:txBody>
          <a:bodyPr wrap="square" anchor="t" lIns="0" rIns="0" tIns="0" bIns="0">
            <a:spAutoFit/>
          </a:bodyPr>
          <a:lstStyle/>
          <a:p>
            <a:pPr algn="l"/>
            <a:r>
              <a:rPr sz="750" b="0">
                <a:solidFill>
                  <a:srgbClr val="20242A"/>
                </a:solidFill>
                <a:latin typeface="Calibri"/>
              </a:rPr>
              <a:t>84.2 m</a:t>
            </a:r>
          </a:p>
        </p:txBody>
      </p:sp>
      <p:sp>
        <p:nvSpPr>
          <p:cNvPr id="118" name="TextBox 117"/>
          <p:cNvSpPr txBox="1"/>
          <p:nvPr/>
        </p:nvSpPr>
        <p:spPr>
          <a:xfrm>
            <a:off x="7770040" y="5815000"/>
            <a:ext cx="2500000" cy="200000"/>
          </a:xfrm>
          <a:prstGeom prst="rect">
            <a:avLst/>
          </a:prstGeom>
          <a:noFill/>
        </p:spPr>
        <p:txBody>
          <a:bodyPr wrap="square" anchor="t" lIns="0" rIns="0" tIns="0" bIns="0">
            <a:spAutoFit/>
          </a:bodyPr>
          <a:lstStyle/>
          <a:p>
            <a:pPr algn="l"/>
            <a:r>
              <a:rPr sz="750" b="0">
                <a:solidFill>
                  <a:srgbClr val="20242A"/>
                </a:solidFill>
                <a:latin typeface="Calibri"/>
              </a:rPr>
              <a:t>CV_OUTER DUCT 4x110mm dia</a:t>
            </a:r>
          </a:p>
        </p:txBody>
      </p:sp>
      <p:sp>
        <p:nvSpPr>
          <p:cNvPr id="119" name="Straight Connector 118"/>
          <p:cNvSpPr/>
          <p:nvPr/>
        </p:nvSpPr>
        <p:spPr>
          <a:xfrm>
            <a:off x="10310040" y="5910000"/>
            <a:ext cx="400000" cy="914"/>
          </a:xfrm>
          <a:prstGeom prst="lineInv">
            <a:avLst/>
          </a:prstGeom>
          <a:noFill/>
          <a:ln w="22225">
            <a:solidFill>
              <a:srgbClr val="0B3D9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TextBox 119"/>
          <p:cNvSpPr txBox="1"/>
          <p:nvPr/>
        </p:nvSpPr>
        <p:spPr>
          <a:xfrm>
            <a:off x="10870040" y="5815000"/>
            <a:ext cx="780000" cy="200000"/>
          </a:xfrm>
          <a:prstGeom prst="rect">
            <a:avLst/>
          </a:prstGeom>
          <a:noFill/>
        </p:spPr>
        <p:txBody>
          <a:bodyPr wrap="square" anchor="t" lIns="0" rIns="0" tIns="0" bIns="0">
            <a:spAutoFit/>
          </a:bodyPr>
          <a:lstStyle/>
          <a:p>
            <a:pPr algn="l"/>
            <a:r>
              <a:rPr sz="750" b="0">
                <a:solidFill>
                  <a:srgbClr val="20242A"/>
                </a:solidFill>
                <a:latin typeface="Calibri"/>
              </a:rPr>
              <a:t>2</a:t>
            </a:r>
          </a:p>
        </p:txBody>
      </p:sp>
      <p:sp>
        <p:nvSpPr>
          <p:cNvPr id="121" name="TextBox 120"/>
          <p:cNvSpPr txBox="1"/>
          <p:nvPr/>
        </p:nvSpPr>
        <p:spPr>
          <a:xfrm>
            <a:off x="11650040" y="5815000"/>
            <a:ext cx="700000" cy="200000"/>
          </a:xfrm>
          <a:prstGeom prst="rect">
            <a:avLst/>
          </a:prstGeom>
          <a:noFill/>
        </p:spPr>
        <p:txBody>
          <a:bodyPr wrap="square" anchor="t" lIns="0" rIns="0" tIns="0" bIns="0">
            <a:spAutoFit/>
          </a:bodyPr>
          <a:lstStyle/>
          <a:p>
            <a:pPr algn="l"/>
            <a:r>
              <a:rPr sz="750" b="0">
                <a:solidFill>
                  <a:srgbClr val="20242A"/>
                </a:solidFill>
                <a:latin typeface="Calibri"/>
              </a:rPr>
              <a:t>81.7 m</a:t>
            </a:r>
          </a:p>
        </p:txBody>
      </p:sp>
      <p:sp>
        <p:nvSpPr>
          <p:cNvPr id="122" name="TextBox 121"/>
          <p:cNvSpPr txBox="1"/>
          <p:nvPr/>
        </p:nvSpPr>
        <p:spPr>
          <a:xfrm>
            <a:off x="7770040" y="6020000"/>
            <a:ext cx="2500000" cy="200000"/>
          </a:xfrm>
          <a:prstGeom prst="rect">
            <a:avLst/>
          </a:prstGeom>
          <a:noFill/>
        </p:spPr>
        <p:txBody>
          <a:bodyPr wrap="square" anchor="t" lIns="0" rIns="0" tIns="0" bIns="0">
            <a:spAutoFit/>
          </a:bodyPr>
          <a:lstStyle/>
          <a:p>
            <a:pPr algn="l"/>
            <a:r>
              <a:rPr sz="750" b="0">
                <a:solidFill>
                  <a:srgbClr val="20242A"/>
                </a:solidFill>
                <a:latin typeface="Calibri"/>
              </a:rPr>
              <a:t>CV_DUCT CROSSING 6x110mm dia</a:t>
            </a:r>
          </a:p>
        </p:txBody>
      </p:sp>
      <p:sp>
        <p:nvSpPr>
          <p:cNvPr id="123" name="Straight Connector 122"/>
          <p:cNvSpPr/>
          <p:nvPr/>
        </p:nvSpPr>
        <p:spPr>
          <a:xfrm>
            <a:off x="10310040" y="6115000"/>
            <a:ext cx="400000" cy="914"/>
          </a:xfrm>
          <a:prstGeom prst="lineInv">
            <a:avLst/>
          </a:prstGeom>
          <a:noFill/>
          <a:ln w="22225">
            <a:solidFill>
              <a:srgbClr val="C218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TextBox 123"/>
          <p:cNvSpPr txBox="1"/>
          <p:nvPr/>
        </p:nvSpPr>
        <p:spPr>
          <a:xfrm>
            <a:off x="10870040" y="6020000"/>
            <a:ext cx="780000" cy="200000"/>
          </a:xfrm>
          <a:prstGeom prst="rect">
            <a:avLst/>
          </a:prstGeom>
          <a:noFill/>
        </p:spPr>
        <p:txBody>
          <a:bodyPr wrap="square" anchor="t" lIns="0" rIns="0" tIns="0" bIns="0">
            <a:spAutoFit/>
          </a:bodyPr>
          <a:lstStyle/>
          <a:p>
            <a:pPr algn="l"/>
            <a:r>
              <a:rPr sz="750" b="0">
                <a:solidFill>
                  <a:srgbClr val="20242A"/>
                </a:solidFill>
                <a:latin typeface="Calibri"/>
              </a:rPr>
              <a:t>1</a:t>
            </a:r>
          </a:p>
        </p:txBody>
      </p:sp>
      <p:sp>
        <p:nvSpPr>
          <p:cNvPr id="125" name="TextBox 124"/>
          <p:cNvSpPr txBox="1"/>
          <p:nvPr/>
        </p:nvSpPr>
        <p:spPr>
          <a:xfrm>
            <a:off x="11650040" y="6020000"/>
            <a:ext cx="700000" cy="200000"/>
          </a:xfrm>
          <a:prstGeom prst="rect">
            <a:avLst/>
          </a:prstGeom>
          <a:noFill/>
        </p:spPr>
        <p:txBody>
          <a:bodyPr wrap="square" anchor="t" lIns="0" rIns="0" tIns="0" bIns="0">
            <a:spAutoFit/>
          </a:bodyPr>
          <a:lstStyle/>
          <a:p>
            <a:pPr algn="l"/>
            <a:r>
              <a:rPr sz="750" b="0">
                <a:solidFill>
                  <a:srgbClr val="20242A"/>
                </a:solidFill>
                <a:latin typeface="Calibri"/>
              </a:rPr>
              <a:t>57.8 m</a:t>
            </a:r>
          </a:p>
        </p:txBody>
      </p:sp>
      <p:sp>
        <p:nvSpPr>
          <p:cNvPr id="126" name="TextBox 125"/>
          <p:cNvSpPr txBox="1"/>
          <p:nvPr/>
        </p:nvSpPr>
        <p:spPr>
          <a:xfrm>
            <a:off x="7770040" y="6225000"/>
            <a:ext cx="2500000" cy="200000"/>
          </a:xfrm>
          <a:prstGeom prst="rect">
            <a:avLst/>
          </a:prstGeom>
          <a:noFill/>
        </p:spPr>
        <p:txBody>
          <a:bodyPr wrap="square" anchor="t" lIns="0" rIns="0" tIns="0" bIns="0">
            <a:spAutoFit/>
          </a:bodyPr>
          <a:lstStyle/>
          <a:p>
            <a:pPr algn="l"/>
            <a:r>
              <a:rPr sz="750" b="0">
                <a:solidFill>
                  <a:srgbClr val="20242A"/>
                </a:solidFill>
                <a:latin typeface="Calibri"/>
              </a:rPr>
              <a:t>CV-NEW SEC CONDUIT</a:t>
            </a:r>
          </a:p>
        </p:txBody>
      </p:sp>
      <p:sp>
        <p:nvSpPr>
          <p:cNvPr id="127" name="Straight Connector 126"/>
          <p:cNvSpPr/>
          <p:nvPr/>
        </p:nvSpPr>
        <p:spPr>
          <a:xfrm>
            <a:off x="10310040" y="6320000"/>
            <a:ext cx="400000" cy="914"/>
          </a:xfrm>
          <a:prstGeom prst="lineInv">
            <a:avLst/>
          </a:prstGeom>
          <a:noFill/>
          <a:ln w="15875">
            <a:solidFill>
              <a:srgbClr val="1E8E3E"/>
            </a:solidFill>
            <a:prstDash val="sysDash"/>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TextBox 127"/>
          <p:cNvSpPr txBox="1"/>
          <p:nvPr/>
        </p:nvSpPr>
        <p:spPr>
          <a:xfrm>
            <a:off x="10870040" y="6225000"/>
            <a:ext cx="780000" cy="200000"/>
          </a:xfrm>
          <a:prstGeom prst="rect">
            <a:avLst/>
          </a:prstGeom>
          <a:noFill/>
        </p:spPr>
        <p:txBody>
          <a:bodyPr wrap="square" anchor="t" lIns="0" rIns="0" tIns="0" bIns="0">
            <a:spAutoFit/>
          </a:bodyPr>
          <a:lstStyle/>
          <a:p>
            <a:pPr algn="l"/>
            <a:r>
              <a:rPr sz="750" b="0">
                <a:solidFill>
                  <a:srgbClr val="20242A"/>
                </a:solidFill>
                <a:latin typeface="Calibri"/>
              </a:rPr>
              <a:t>5</a:t>
            </a:r>
          </a:p>
        </p:txBody>
      </p:sp>
      <p:sp>
        <p:nvSpPr>
          <p:cNvPr id="129" name="TextBox 128"/>
          <p:cNvSpPr txBox="1"/>
          <p:nvPr/>
        </p:nvSpPr>
        <p:spPr>
          <a:xfrm>
            <a:off x="11650040" y="6225000"/>
            <a:ext cx="700000" cy="200000"/>
          </a:xfrm>
          <a:prstGeom prst="rect">
            <a:avLst/>
          </a:prstGeom>
          <a:noFill/>
        </p:spPr>
        <p:txBody>
          <a:bodyPr wrap="square" anchor="t" lIns="0" rIns="0" tIns="0" bIns="0">
            <a:spAutoFit/>
          </a:bodyPr>
          <a:lstStyle/>
          <a:p>
            <a:pPr algn="l"/>
            <a:r>
              <a:rPr sz="750" b="0">
                <a:solidFill>
                  <a:srgbClr val="20242A"/>
                </a:solidFill>
                <a:latin typeface="Calibri"/>
              </a:rPr>
              <a:t>46.6 m</a:t>
            </a:r>
          </a:p>
        </p:txBody>
      </p:sp>
      <p:sp>
        <p:nvSpPr>
          <p:cNvPr id="130" name="TextBox 129"/>
          <p:cNvSpPr txBox="1"/>
          <p:nvPr/>
        </p:nvSpPr>
        <p:spPr>
          <a:xfrm>
            <a:off x="7770040" y="6430000"/>
            <a:ext cx="2500000" cy="200000"/>
          </a:xfrm>
          <a:prstGeom prst="rect">
            <a:avLst/>
          </a:prstGeom>
          <a:noFill/>
        </p:spPr>
        <p:txBody>
          <a:bodyPr wrap="square" anchor="t" lIns="0" rIns="0" tIns="0" bIns="0">
            <a:spAutoFit/>
          </a:bodyPr>
          <a:lstStyle/>
          <a:p>
            <a:pPr algn="l"/>
            <a:r>
              <a:rPr sz="750" b="0">
                <a:solidFill>
                  <a:srgbClr val="20242A"/>
                </a:solidFill>
                <a:latin typeface="Calibri"/>
              </a:rPr>
              <a:t>CV_STH DUCT 6x110mm dia</a:t>
            </a:r>
          </a:p>
        </p:txBody>
      </p:sp>
      <p:sp>
        <p:nvSpPr>
          <p:cNvPr id="131" name="Straight Connector 130"/>
          <p:cNvSpPr/>
          <p:nvPr/>
        </p:nvSpPr>
        <p:spPr>
          <a:xfrm>
            <a:off x="10310040" y="6525000"/>
            <a:ext cx="400000" cy="914"/>
          </a:xfrm>
          <a:prstGeom prst="lineInv">
            <a:avLst/>
          </a:prstGeom>
          <a:noFill/>
          <a:ln w="22225">
            <a:solidFill>
              <a:srgbClr val="6A1B9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TextBox 131"/>
          <p:cNvSpPr txBox="1"/>
          <p:nvPr/>
        </p:nvSpPr>
        <p:spPr>
          <a:xfrm>
            <a:off x="10870040" y="6430000"/>
            <a:ext cx="780000" cy="200000"/>
          </a:xfrm>
          <a:prstGeom prst="rect">
            <a:avLst/>
          </a:prstGeom>
          <a:noFill/>
        </p:spPr>
        <p:txBody>
          <a:bodyPr wrap="square" anchor="t" lIns="0" rIns="0" tIns="0" bIns="0">
            <a:spAutoFit/>
          </a:bodyPr>
          <a:lstStyle/>
          <a:p>
            <a:pPr algn="l"/>
            <a:r>
              <a:rPr sz="750" b="0">
                <a:solidFill>
                  <a:srgbClr val="20242A"/>
                </a:solidFill>
                <a:latin typeface="Calibri"/>
              </a:rPr>
              <a:t>1</a:t>
            </a:r>
          </a:p>
        </p:txBody>
      </p:sp>
      <p:sp>
        <p:nvSpPr>
          <p:cNvPr id="133" name="TextBox 132"/>
          <p:cNvSpPr txBox="1"/>
          <p:nvPr/>
        </p:nvSpPr>
        <p:spPr>
          <a:xfrm>
            <a:off x="11650040" y="6430000"/>
            <a:ext cx="700000" cy="200000"/>
          </a:xfrm>
          <a:prstGeom prst="rect">
            <a:avLst/>
          </a:prstGeom>
          <a:noFill/>
        </p:spPr>
        <p:txBody>
          <a:bodyPr wrap="square" anchor="t" lIns="0" rIns="0" tIns="0" bIns="0">
            <a:spAutoFit/>
          </a:bodyPr>
          <a:lstStyle/>
          <a:p>
            <a:pPr algn="l"/>
            <a:r>
              <a:rPr sz="750" b="0">
                <a:solidFill>
                  <a:srgbClr val="20242A"/>
                </a:solidFill>
                <a:latin typeface="Calibri"/>
              </a:rPr>
              <a:t>30.4 m</a:t>
            </a:r>
          </a:p>
        </p:txBody>
      </p:sp>
      <p:sp>
        <p:nvSpPr>
          <p:cNvPr id="134" name="TextBox 133"/>
          <p:cNvSpPr txBox="1"/>
          <p:nvPr/>
        </p:nvSpPr>
        <p:spPr>
          <a:xfrm>
            <a:off x="7770040" y="6635000"/>
            <a:ext cx="2500000" cy="200000"/>
          </a:xfrm>
          <a:prstGeom prst="rect">
            <a:avLst/>
          </a:prstGeom>
          <a:noFill/>
        </p:spPr>
        <p:txBody>
          <a:bodyPr wrap="square" anchor="t" lIns="0" rIns="0" tIns="0" bIns="0">
            <a:spAutoFit/>
          </a:bodyPr>
          <a:lstStyle/>
          <a:p>
            <a:pPr algn="l"/>
            <a:r>
              <a:rPr sz="750" b="0">
                <a:solidFill>
                  <a:srgbClr val="20242A"/>
                </a:solidFill>
                <a:latin typeface="Calibri"/>
              </a:rPr>
              <a:t>CV_GRND DUCT</a:t>
            </a:r>
          </a:p>
        </p:txBody>
      </p:sp>
      <p:sp>
        <p:nvSpPr>
          <p:cNvPr id="135" name="Straight Connector 134"/>
          <p:cNvSpPr/>
          <p:nvPr/>
        </p:nvSpPr>
        <p:spPr>
          <a:xfrm>
            <a:off x="10310040" y="6730000"/>
            <a:ext cx="400000" cy="914"/>
          </a:xfrm>
          <a:prstGeom prst="lineInv">
            <a:avLst/>
          </a:prstGeom>
          <a:noFill/>
          <a:ln w="12700">
            <a:solidFill>
              <a:srgbClr val="795548"/>
            </a:solidFill>
            <a:prstDash val="sysDot"/>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TextBox 135"/>
          <p:cNvSpPr txBox="1"/>
          <p:nvPr/>
        </p:nvSpPr>
        <p:spPr>
          <a:xfrm>
            <a:off x="10870040" y="6635000"/>
            <a:ext cx="780000" cy="200000"/>
          </a:xfrm>
          <a:prstGeom prst="rect">
            <a:avLst/>
          </a:prstGeom>
          <a:noFill/>
        </p:spPr>
        <p:txBody>
          <a:bodyPr wrap="square" anchor="t" lIns="0" rIns="0" tIns="0" bIns="0">
            <a:spAutoFit/>
          </a:bodyPr>
          <a:lstStyle/>
          <a:p>
            <a:pPr algn="l"/>
            <a:r>
              <a:rPr sz="750" b="0">
                <a:solidFill>
                  <a:srgbClr val="20242A"/>
                </a:solidFill>
                <a:latin typeface="Calibri"/>
              </a:rPr>
              <a:t>2</a:t>
            </a:r>
          </a:p>
        </p:txBody>
      </p:sp>
      <p:sp>
        <p:nvSpPr>
          <p:cNvPr id="137" name="TextBox 136"/>
          <p:cNvSpPr txBox="1"/>
          <p:nvPr/>
        </p:nvSpPr>
        <p:spPr>
          <a:xfrm>
            <a:off x="11650040" y="6635000"/>
            <a:ext cx="700000" cy="200000"/>
          </a:xfrm>
          <a:prstGeom prst="rect">
            <a:avLst/>
          </a:prstGeom>
          <a:noFill/>
        </p:spPr>
        <p:txBody>
          <a:bodyPr wrap="square" anchor="t" lIns="0" rIns="0" tIns="0" bIns="0">
            <a:spAutoFit/>
          </a:bodyPr>
          <a:lstStyle/>
          <a:p>
            <a:pPr algn="l"/>
            <a:r>
              <a:rPr sz="750" b="0">
                <a:solidFill>
                  <a:srgbClr val="20242A"/>
                </a:solidFill>
                <a:latin typeface="Calibri"/>
              </a:rPr>
              <a:t>2.4 m</a:t>
            </a:r>
          </a:p>
        </p:txBody>
      </p:sp>
      <p:sp>
        <p:nvSpPr>
          <p:cNvPr id="138" name="Rectangle 137"/>
          <p:cNvSpPr/>
          <p:nvPr/>
        </p:nvSpPr>
        <p:spPr>
          <a:xfrm>
            <a:off x="320040" y="7030000"/>
            <a:ext cx="7100000" cy="3050000"/>
          </a:xfrm>
          <a:prstGeom prst="rect">
            <a:avLst/>
          </a:prstGeom>
          <a:solidFill>
            <a:srgbClr val="FFFFFF"/>
          </a:solidFill>
          <a:ln w="9525">
            <a:solidFill>
              <a:srgbClr val="D5DA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TextBox 138"/>
          <p:cNvSpPr txBox="1"/>
          <p:nvPr/>
        </p:nvSpPr>
        <p:spPr>
          <a:xfrm>
            <a:off x="440040" y="7140000"/>
            <a:ext cx="6860000" cy="240000"/>
          </a:xfrm>
          <a:prstGeom prst="rect">
            <a:avLst/>
          </a:prstGeom>
          <a:noFill/>
        </p:spPr>
        <p:txBody>
          <a:bodyPr wrap="square" anchor="t" lIns="0" rIns="0" tIns="0" bIns="0">
            <a:spAutoFit/>
          </a:bodyPr>
          <a:lstStyle/>
          <a:p>
            <a:pPr algn="l"/>
            <a:r>
              <a:rPr sz="1000" b="1">
                <a:solidFill>
                  <a:srgbClr val="1E2761"/>
                </a:solidFill>
                <a:latin typeface="Calibri"/>
              </a:rPr>
              <a:t>5 · LIMITS — READ BEFORE USING THIS GEOMETRY</a:t>
            </a:r>
          </a:p>
        </p:txBody>
      </p:sp>
      <p:sp>
        <p:nvSpPr>
          <p:cNvPr id="140" name="TextBox 139"/>
          <p:cNvSpPr txBox="1"/>
          <p:nvPr/>
        </p:nvSpPr>
        <p:spPr>
          <a:xfrm>
            <a:off x="440040" y="7430000"/>
            <a:ext cx="6860000" cy="2600000"/>
          </a:xfrm>
          <a:prstGeom prst="rect">
            <a:avLst/>
          </a:prstGeom>
          <a:noFill/>
        </p:spPr>
        <p:txBody>
          <a:bodyPr wrap="square" anchor="t" lIns="0" rIns="0" tIns="0" bIns="0">
            <a:spAutoFit/>
          </a:bodyPr>
          <a:lstStyle/>
          <a:p>
            <a:pPr algn="l"/>
            <a:r>
              <a:rPr sz="800" b="0">
                <a:solidFill>
                  <a:srgbClr val="20242A"/>
                </a:solidFill>
                <a:latin typeface="Calibri"/>
              </a:rPr>
              <a:t>a) Runs are fragments, not proven pulls. The duct lines are the individual LINE / LWPOLYLINE segments as drafted. No endpoint snapping or graph chaining has been done, so "handhole A to handhole B" is not established. Do not order cable to a length scaled off these sheets.</a:t>
            </a:r>
          </a:p>
          <a:p>
            <a:pPr algn="l"/>
            <a:r>
              <a:rPr sz="800" b="0">
                <a:solidFill>
                  <a:srgbClr val="20242A"/>
                </a:solidFill>
                <a:latin typeface="Calibri"/>
              </a:rPr>
              <a:t>b) Coordinates are ZIA local grid, not surveyed and not UTM. Nothing here may be issued as a setting-out coordinate without an externally checked transform against ADA survey control.</a:t>
            </a:r>
          </a:p>
          <a:p>
            <a:pPr algn="l"/>
            <a:r>
              <a:rPr sz="800" b="0">
                <a:solidFill>
                  <a:srgbClr val="20242A"/>
                </a:solidFill>
                <a:latin typeface="Calibri"/>
              </a:rPr>
              <a:t>c) Civil symbols are ~2.1–2.3 m off. Handhole, manhole, transformer-pit and RRM symbols on the sheets sit a mean 2.1–2.3 m (sd 0.3–0.45 m) from the source-drawing insertion point, while AGL light fittings match to sub-millimetre. Set out civil features from survey, not from these sheets.</a:t>
            </a:r>
          </a:p>
          <a:p>
            <a:pPr algn="l"/>
            <a:r>
              <a:rPr sz="800" b="0">
                <a:solidFill>
                  <a:srgbClr val="20242A"/>
                </a:solidFill>
                <a:latin typeface="Calibri"/>
              </a:rPr>
              <a:t>d) Per-asset route attribution is NOT given. The consolidated table's "Route" column is unchanged from Rev P05. Attributing a specific duct layer to a named asset was attempted and rejected: the sheets' labels sit 3–8 m from their markers with neighbours only 10–15% further, and several markers resolve to the same label, so the assignment cannot be made from the drawing alone. It needs the source asset register, which is not in this data set.</a:t>
            </a:r>
          </a:p>
          <a:p>
            <a:pPr algn="l"/>
            <a:r>
              <a:rPr sz="800" b="0">
                <a:solidFill>
                  <a:srgbClr val="20242A"/>
                </a:solidFill>
                <a:latin typeface="Calibri"/>
              </a:rPr>
              <a:t>e) Z values are unreliable in the source drawing. This is a 2D basemap only; take levels from survey.</a:t>
            </a:r>
          </a:p>
          <a:p>
            <a:pPr algn="l"/>
            <a:r>
              <a:rPr sz="800" b="0">
                <a:solidFill>
                  <a:srgbClr val="20242A"/>
                </a:solidFill>
                <a:latin typeface="Calibri"/>
              </a:rPr>
              <a:t>f) Elements outside the twelve identity-inserted xrefs were excluded rather than drawn in the wrong place (3,375 geometry entities, 2,409 nested fixtures drawing-wide). If a duct looks absent in a given corner, check this first.</a:t>
            </a:r>
          </a:p>
        </p:txBody>
      </p:sp>
      <p:sp>
        <p:nvSpPr>
          <p:cNvPr id="141" name="Rectangle 140"/>
          <p:cNvSpPr/>
          <p:nvPr/>
        </p:nvSpPr>
        <p:spPr>
          <a:xfrm>
            <a:off x="7620040" y="7300000"/>
            <a:ext cx="7184033" cy="2868638"/>
          </a:xfrm>
          <a:prstGeom prst="rect">
            <a:avLst/>
          </a:prstGeom>
          <a:solidFill>
            <a:srgbClr val="FFFFFF"/>
          </a:solidFill>
          <a:ln w="9525">
            <a:solidFill>
              <a:srgbClr val="D5DA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TextBox 141"/>
          <p:cNvSpPr txBox="1"/>
          <p:nvPr/>
        </p:nvSpPr>
        <p:spPr>
          <a:xfrm>
            <a:off x="7740040" y="7410000"/>
            <a:ext cx="6944033" cy="240000"/>
          </a:xfrm>
          <a:prstGeom prst="rect">
            <a:avLst/>
          </a:prstGeom>
          <a:noFill/>
        </p:spPr>
        <p:txBody>
          <a:bodyPr wrap="square" anchor="t" lIns="0" rIns="0" tIns="0" bIns="0">
            <a:spAutoFit/>
          </a:bodyPr>
          <a:lstStyle/>
          <a:p>
            <a:pPr algn="l"/>
            <a:r>
              <a:rPr sz="1000" b="1">
                <a:solidFill>
                  <a:srgbClr val="1E2761"/>
                </a:solidFill>
                <a:latin typeface="Calibri"/>
              </a:rPr>
              <a:t>6 · THE GEOMETRY, IN THE SOURCE DRAWING'S OWN GRID</a:t>
            </a:r>
          </a:p>
        </p:txBody>
      </p:sp>
      <p:pic>
        <p:nvPicPr>
          <p:cNvPr id="143" name="Picture 142" descr="verify_fig.png"/>
          <p:cNvPicPr>
            <a:picLocks noChangeAspect="1"/>
          </p:cNvPicPr>
          <p:nvPr/>
        </p:nvPicPr>
        <p:blipFill>
          <a:blip r:embed="rId2"/>
          <a:stretch>
            <a:fillRect/>
          </a:stretch>
        </p:blipFill>
        <p:spPr>
          <a:xfrm>
            <a:off x="7770040" y="7700000"/>
            <a:ext cx="6884033" cy="2360239"/>
          </a:xfrm>
          <a:prstGeom prst="rect">
            <a:avLst/>
          </a:prstGeom>
        </p:spPr>
      </p:pic>
      <p:sp>
        <p:nvSpPr>
          <p:cNvPr id="144" name="TextBox 143"/>
          <p:cNvSpPr txBox="1"/>
          <p:nvPr/>
        </p:nvSpPr>
        <p:spPr>
          <a:xfrm>
            <a:off x="320040" y="10268638"/>
            <a:ext cx="14484033" cy="300000"/>
          </a:xfrm>
          <a:prstGeom prst="rect">
            <a:avLst/>
          </a:prstGeom>
          <a:noFill/>
        </p:spPr>
        <p:txBody>
          <a:bodyPr wrap="square" anchor="t" lIns="0" rIns="0" tIns="0" bIns="0">
            <a:spAutoFit/>
          </a:bodyPr>
          <a:lstStyle/>
          <a:p>
            <a:pPr algn="l"/>
            <a:r>
              <a:rPr sz="750" b="0">
                <a:solidFill>
                  <a:srgbClr val="5F6368"/>
                </a:solidFill>
                <a:latin typeface="Calibri"/>
              </a:rPr>
              <a:t>Reproduce: registration.json + sheet_ducts.json + duct_schedule.csv accompany this deck. Every figure on this sheet is computed from the source drawing, not transcribed.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20040" y="164592"/>
            <a:ext cx="14484033" cy="457200"/>
          </a:xfrm>
          <a:prstGeom prst="rect">
            <a:avLst/>
          </a:prstGeom>
          <a:noFill/>
        </p:spPr>
        <p:txBody>
          <a:bodyPr wrap="square" anchor="t" lIns="0" rIns="0" tIns="0" bIns="0">
            <a:spAutoFit/>
          </a:bodyPr>
          <a:lstStyle/>
          <a:p>
            <a:pPr algn="l"/>
            <a:r>
              <a:rPr sz="1500" b="1">
                <a:solidFill>
                  <a:srgbClr val="1E2761"/>
                </a:solidFill>
                <a:latin typeface="Calibri"/>
              </a:rPr>
              <a:t>SHEET 7 — SECONDARY FEED TOPOLOGY (DERIVED)  ·  STAR FROM TRANSFORMER HANDHOLES, NOT A CHAINED RUN</a:t>
            </a:r>
          </a:p>
        </p:txBody>
      </p:sp>
      <p:sp>
        <p:nvSpPr>
          <p:cNvPr id="3" name="Rectangle 2"/>
          <p:cNvSpPr/>
          <p:nvPr/>
        </p:nvSpPr>
        <p:spPr>
          <a:xfrm>
            <a:off x="320040" y="750000"/>
            <a:ext cx="14484033" cy="1150000"/>
          </a:xfrm>
          <a:prstGeom prst="rect">
            <a:avLst/>
          </a:prstGeom>
          <a:solidFill>
            <a:srgbClr val="FFF4E5"/>
          </a:solidFill>
          <a:ln w="9525">
            <a:solidFill>
              <a:srgbClr val="D5DA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40040" y="860000"/>
            <a:ext cx="14244033" cy="240000"/>
          </a:xfrm>
          <a:prstGeom prst="rect">
            <a:avLst/>
          </a:prstGeom>
          <a:noFill/>
        </p:spPr>
        <p:txBody>
          <a:bodyPr wrap="square" anchor="t" lIns="0" rIns="0" tIns="0" bIns="0">
            <a:spAutoFit/>
          </a:bodyPr>
          <a:lstStyle/>
          <a:p>
            <a:pPr algn="l"/>
            <a:r>
              <a:rPr sz="1000" b="1">
                <a:solidFill>
                  <a:srgbClr val="A64B00"/>
                </a:solidFill>
                <a:latin typeface="Calibri"/>
              </a:rPr>
              <a:t>FINDING — THE Rev P05 LOC-02 SCOPE NOTE DESCRIBES THE WRONG TOPOLOGY</a:t>
            </a:r>
          </a:p>
        </p:txBody>
      </p:sp>
      <p:sp>
        <p:nvSpPr>
          <p:cNvPr id="5" name="TextBox 4"/>
          <p:cNvSpPr txBox="1"/>
          <p:nvPr/>
        </p:nvSpPr>
        <p:spPr>
          <a:xfrm>
            <a:off x="440040" y="1170000"/>
            <a:ext cx="14244033" cy="900000"/>
          </a:xfrm>
          <a:prstGeom prst="rect">
            <a:avLst/>
          </a:prstGeom>
          <a:noFill/>
        </p:spPr>
        <p:txBody>
          <a:bodyPr wrap="square" anchor="t" lIns="0" rIns="0" tIns="0" bIns="0">
            <a:spAutoFit/>
          </a:bodyPr>
          <a:lstStyle/>
          <a:p>
            <a:pPr algn="l"/>
            <a:r>
              <a:rPr sz="850" b="0">
                <a:solidFill>
                  <a:srgbClr val="20242A"/>
                </a:solidFill>
                <a:latin typeface="Calibri"/>
              </a:rPr>
              <a:t>Rev P05, sheet 3 (LOC-02) states: "SECONDARY DUCT: CHAINED RUN HH.E.056 → 03/007 → 04/007 → 03/008 → 04/008 → 03/009 → HH.E.054". The source drawing shows no such chain.</a:t>
            </a:r>
          </a:p>
          <a:p>
            <a:pPr algn="l"/>
            <a:r>
              <a:rPr sz="850" b="0">
                <a:solidFill>
                  <a:srgbClr val="20242A"/>
                </a:solidFill>
                <a:latin typeface="Calibri"/>
              </a:rPr>
              <a:t>Every affected light at LOC-02 is fed by its own individual conduit spur radiating from ONE transformer handhole — five separate home runs of 20.5, 21.1, 29.1, 30.3 and 41.5 m, 142.5 m in total, not a series loop between lights. This changes the cable quantity, the number of pulls and the isolation sequence. Re-price and re-plan LOC-02 before ordering cable.</a:t>
            </a:r>
          </a:p>
        </p:txBody>
      </p:sp>
      <p:sp>
        <p:nvSpPr>
          <p:cNvPr id="6" name="Rectangle 5"/>
          <p:cNvSpPr/>
          <p:nvPr/>
        </p:nvSpPr>
        <p:spPr>
          <a:xfrm>
            <a:off x="320040" y="2020000"/>
            <a:ext cx="7142016" cy="1960000"/>
          </a:xfrm>
          <a:prstGeom prst="rect">
            <a:avLst/>
          </a:prstGeom>
          <a:solidFill>
            <a:srgbClr val="FFFFFF"/>
          </a:solidFill>
          <a:ln w="9525">
            <a:solidFill>
              <a:srgbClr val="D5DA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40040" y="2130000"/>
            <a:ext cx="6902016" cy="240000"/>
          </a:xfrm>
          <a:prstGeom prst="rect">
            <a:avLst/>
          </a:prstGeom>
          <a:noFill/>
        </p:spPr>
        <p:txBody>
          <a:bodyPr wrap="square" anchor="t" lIns="0" rIns="0" tIns="0" bIns="0">
            <a:spAutoFit/>
          </a:bodyPr>
          <a:lstStyle/>
          <a:p>
            <a:pPr algn="l"/>
            <a:r>
              <a:rPr sz="1000" b="1">
                <a:solidFill>
                  <a:srgbClr val="1E2761"/>
                </a:solidFill>
                <a:latin typeface="Calibri"/>
              </a:rPr>
              <a:t>WHY THIS ALSO PROVES THE GEOMETRY IS REAL</a:t>
            </a:r>
          </a:p>
        </p:txBody>
      </p:sp>
      <p:sp>
        <p:nvSpPr>
          <p:cNvPr id="8" name="TextBox 7"/>
          <p:cNvSpPr txBox="1"/>
          <p:nvPr/>
        </p:nvSpPr>
        <p:spPr>
          <a:xfrm>
            <a:off x="440040" y="2440000"/>
            <a:ext cx="6902016" cy="1800000"/>
          </a:xfrm>
          <a:prstGeom prst="rect">
            <a:avLst/>
          </a:prstGeom>
          <a:noFill/>
        </p:spPr>
        <p:txBody>
          <a:bodyPr wrap="square" anchor="t" lIns="0" rIns="0" tIns="0" bIns="0">
            <a:spAutoFit/>
          </a:bodyPr>
          <a:lstStyle/>
          <a:p>
            <a:pPr algn="l"/>
            <a:r>
              <a:rPr sz="850" b="0">
                <a:solidFill>
                  <a:srgbClr val="20242A"/>
                </a:solidFill>
                <a:latin typeface="Calibri"/>
              </a:rPr>
              <a:t>The conduit fragments were chained by snapping endpoints within 0.30 m. What comes out is not an arbitrary set of lines — it is a working secondary distribution network:</a:t>
            </a:r>
          </a:p>
          <a:p>
            <a:pPr algn="l"/>
            <a:r>
              <a:rPr sz="850" b="0">
                <a:solidFill>
                  <a:srgbClr val="20242A"/>
                </a:solidFill>
                <a:latin typeface="Calibri"/>
              </a:rPr>
              <a:t>·  Every hub node lands on a CV_ETRANS HH (existing transformer handhole) fixture at 0.000–0.002 m. Four hubs at LOC-01, one at LOC-02, two at LOC-03.</a:t>
            </a:r>
          </a:p>
          <a:p>
            <a:pPr algn="l"/>
            <a:r>
              <a:rPr sz="850" b="0">
                <a:solidFill>
                  <a:srgbClr val="20242A"/>
                </a:solidFill>
                <a:latin typeface="Calibri"/>
              </a:rPr>
              <a:t>·  40 of 45 spurs terminating at a light land within 50 mm of that light's insertion point; most are exactly 0.00 m.</a:t>
            </a:r>
          </a:p>
          <a:p>
            <a:pPr algn="l"/>
            <a:r>
              <a:rPr sz="850" b="0">
                <a:solidFill>
                  <a:srgbClr val="20242A"/>
                </a:solidFill>
                <a:latin typeface="Calibri"/>
              </a:rPr>
              <a:t>·  Spur lengths are 6–42 m, consistent with transformer-handhole-to-light home runs.</a:t>
            </a:r>
          </a:p>
          <a:p>
            <a:pPr algn="l"/>
            <a:r>
              <a:rPr sz="850" b="0">
                <a:solidFill>
                  <a:srgbClr val="20242A"/>
                </a:solidFill>
                <a:latin typeface="Calibri"/>
              </a:rPr>
              <a:t>Straight light-to-nearest-pit construction lines cannot produce that. Invented or inferred geometry would not terminate on fixture insertion points to the millimetre, nor converge specifically on transformer handholes rather than on any nearby pit.</a:t>
            </a:r>
          </a:p>
        </p:txBody>
      </p:sp>
      <p:sp>
        <p:nvSpPr>
          <p:cNvPr id="9" name="Rectangle 8"/>
          <p:cNvSpPr/>
          <p:nvPr/>
        </p:nvSpPr>
        <p:spPr>
          <a:xfrm>
            <a:off x="7662056" y="2020000"/>
            <a:ext cx="7142016" cy="1960000"/>
          </a:xfrm>
          <a:prstGeom prst="rect">
            <a:avLst/>
          </a:prstGeom>
          <a:solidFill>
            <a:srgbClr val="FFFFFF"/>
          </a:solidFill>
          <a:ln w="9525">
            <a:solidFill>
              <a:srgbClr val="D5DA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82056" y="2130000"/>
            <a:ext cx="6902016" cy="240000"/>
          </a:xfrm>
          <a:prstGeom prst="rect">
            <a:avLst/>
          </a:prstGeom>
          <a:noFill/>
        </p:spPr>
        <p:txBody>
          <a:bodyPr wrap="square" anchor="t" lIns="0" rIns="0" tIns="0" bIns="0">
            <a:spAutoFit/>
          </a:bodyPr>
          <a:lstStyle/>
          <a:p>
            <a:pPr algn="l"/>
            <a:r>
              <a:rPr sz="1000" b="1">
                <a:solidFill>
                  <a:srgbClr val="1E2761"/>
                </a:solidFill>
                <a:latin typeface="Calibri"/>
              </a:rPr>
              <a:t>METHOD AND ITS LIMIT</a:t>
            </a:r>
          </a:p>
        </p:txBody>
      </p:sp>
      <p:sp>
        <p:nvSpPr>
          <p:cNvPr id="11" name="TextBox 10"/>
          <p:cNvSpPr txBox="1"/>
          <p:nvPr/>
        </p:nvSpPr>
        <p:spPr>
          <a:xfrm>
            <a:off x="7782056" y="2440000"/>
            <a:ext cx="6902016" cy="1800000"/>
          </a:xfrm>
          <a:prstGeom prst="rect">
            <a:avLst/>
          </a:prstGeom>
          <a:noFill/>
        </p:spPr>
        <p:txBody>
          <a:bodyPr wrap="square" anchor="t" lIns="0" rIns="0" tIns="0" bIns="0">
            <a:spAutoFit/>
          </a:bodyPr>
          <a:lstStyle/>
          <a:p>
            <a:pPr algn="l"/>
            <a:r>
              <a:rPr sz="850" b="0">
                <a:solidFill>
                  <a:srgbClr val="20242A"/>
                </a:solidFill>
                <a:latin typeface="Calibri"/>
              </a:rPr>
              <a:t>The source drawing stores these conduits as loose LINE / LWPOLYLINE segments with no connectivity. The chaining here is DERIVED, not read from the drawing: endpoints within 0.30 m were treated as one node, then each branch was walked outward from its hub until it reached a leaf or a junction.</a:t>
            </a:r>
          </a:p>
          <a:p>
            <a:pPr algn="l"/>
            <a:r>
              <a:rPr sz="850" b="0">
                <a:solidFill>
                  <a:srgbClr val="20242A"/>
                </a:solidFill>
                <a:latin typeface="Calibri"/>
              </a:rPr>
              <a:t>Consequence: a spur length is the drawn geometry of a branch, not a proven pull. Two conduits passing within 0.30 m without physically joining would be merged; a genuine joint drawn with a wider gap would be split. Prove each run on site before ordering.</a:t>
            </a:r>
          </a:p>
          <a:p>
            <a:pPr algn="l"/>
            <a:r>
              <a:rPr sz="850" b="0">
                <a:solidFill>
                  <a:srgbClr val="20242A"/>
                </a:solidFill>
                <a:latin typeface="Calibri"/>
              </a:rPr>
              <a:t>The 0.30 m tolerance sits far below the shortest real spur (6.2 m) and well above the drafting gaps observed. No spur changed hop count when the tolerance was varied between 0.10 and 0.50 m.</a:t>
            </a:r>
          </a:p>
        </p:txBody>
      </p:sp>
      <p:sp>
        <p:nvSpPr>
          <p:cNvPr id="12" name="Rectangle 11"/>
          <p:cNvSpPr/>
          <p:nvPr/>
        </p:nvSpPr>
        <p:spPr>
          <a:xfrm>
            <a:off x="320040" y="4100000"/>
            <a:ext cx="4721344" cy="6068638"/>
          </a:xfrm>
          <a:prstGeom prst="rect">
            <a:avLst/>
          </a:prstGeom>
          <a:solidFill>
            <a:srgbClr val="FFFFFF"/>
          </a:solidFill>
          <a:ln w="9525">
            <a:solidFill>
              <a:srgbClr val="D5DA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30040" y="4200000"/>
            <a:ext cx="4501344" cy="240000"/>
          </a:xfrm>
          <a:prstGeom prst="rect">
            <a:avLst/>
          </a:prstGeom>
          <a:noFill/>
        </p:spPr>
        <p:txBody>
          <a:bodyPr wrap="square" anchor="t" lIns="0" rIns="0" tIns="0" bIns="0">
            <a:spAutoFit/>
          </a:bodyPr>
          <a:lstStyle/>
          <a:p>
            <a:pPr algn="l"/>
            <a:r>
              <a:rPr sz="950" b="1">
                <a:solidFill>
                  <a:srgbClr val="1E2761"/>
                </a:solidFill>
                <a:latin typeface="Calibri"/>
              </a:rPr>
              <a:t>LOC-01 — DERIVED SPUR SCHEDULE</a:t>
            </a:r>
          </a:p>
        </p:txBody>
      </p:sp>
      <p:sp>
        <p:nvSpPr>
          <p:cNvPr id="14" name="TextBox 13"/>
          <p:cNvSpPr txBox="1"/>
          <p:nvPr/>
        </p:nvSpPr>
        <p:spPr>
          <a:xfrm>
            <a:off x="430040" y="4430000"/>
            <a:ext cx="4501344" cy="200000"/>
          </a:xfrm>
          <a:prstGeom prst="rect">
            <a:avLst/>
          </a:prstGeom>
          <a:noFill/>
        </p:spPr>
        <p:txBody>
          <a:bodyPr wrap="square" anchor="t" lIns="0" rIns="0" tIns="0" bIns="0">
            <a:spAutoFit/>
          </a:bodyPr>
          <a:lstStyle/>
          <a:p>
            <a:pPr algn="l"/>
            <a:r>
              <a:rPr sz="750" b="0">
                <a:solidFill>
                  <a:srgbClr val="5F6368"/>
                </a:solidFill>
                <a:latin typeface="Calibri"/>
              </a:rPr>
              <a:t>4 transformer-handhole hub(s) · 26 spurs · 516.9 m to lights</a:t>
            </a:r>
          </a:p>
        </p:txBody>
      </p:sp>
      <p:sp>
        <p:nvSpPr>
          <p:cNvPr id="15" name="TextBox 14"/>
          <p:cNvSpPr txBox="1"/>
          <p:nvPr/>
        </p:nvSpPr>
        <p:spPr>
          <a:xfrm>
            <a:off x="430040" y="4660000"/>
            <a:ext cx="640000" cy="200000"/>
          </a:xfrm>
          <a:prstGeom prst="rect">
            <a:avLst/>
          </a:prstGeom>
          <a:noFill/>
        </p:spPr>
        <p:txBody>
          <a:bodyPr wrap="square" anchor="t" lIns="0" rIns="0" tIns="0" bIns="0">
            <a:spAutoFit/>
          </a:bodyPr>
          <a:lstStyle/>
          <a:p>
            <a:pPr algn="l"/>
            <a:r>
              <a:rPr sz="650" b="1">
                <a:solidFill>
                  <a:srgbClr val="5F6368"/>
                </a:solidFill>
                <a:latin typeface="Calibri"/>
              </a:rPr>
              <a:t>Length</a:t>
            </a:r>
          </a:p>
        </p:txBody>
      </p:sp>
      <p:sp>
        <p:nvSpPr>
          <p:cNvPr id="16" name="TextBox 15"/>
          <p:cNvSpPr txBox="1"/>
          <p:nvPr/>
        </p:nvSpPr>
        <p:spPr>
          <a:xfrm>
            <a:off x="1070040" y="4660000"/>
            <a:ext cx="1620000" cy="200000"/>
          </a:xfrm>
          <a:prstGeom prst="rect">
            <a:avLst/>
          </a:prstGeom>
          <a:noFill/>
        </p:spPr>
        <p:txBody>
          <a:bodyPr wrap="square" anchor="t" lIns="0" rIns="0" tIns="0" bIns="0">
            <a:spAutoFit/>
          </a:bodyPr>
          <a:lstStyle/>
          <a:p>
            <a:pPr algn="l"/>
            <a:r>
              <a:rPr sz="650" b="1">
                <a:solidFill>
                  <a:srgbClr val="5F6368"/>
                </a:solidFill>
                <a:latin typeface="Calibri"/>
              </a:rPr>
              <a:t>Terminates at</a:t>
            </a:r>
          </a:p>
        </p:txBody>
      </p:sp>
      <p:sp>
        <p:nvSpPr>
          <p:cNvPr id="17" name="TextBox 16"/>
          <p:cNvSpPr txBox="1"/>
          <p:nvPr/>
        </p:nvSpPr>
        <p:spPr>
          <a:xfrm>
            <a:off x="2690040" y="4660000"/>
            <a:ext cx="1150000" cy="200000"/>
          </a:xfrm>
          <a:prstGeom prst="rect">
            <a:avLst/>
          </a:prstGeom>
          <a:noFill/>
        </p:spPr>
        <p:txBody>
          <a:bodyPr wrap="square" anchor="t" lIns="0" rIns="0" tIns="0" bIns="0">
            <a:spAutoFit/>
          </a:bodyPr>
          <a:lstStyle/>
          <a:p>
            <a:pPr algn="l"/>
            <a:r>
              <a:rPr sz="650" b="1">
                <a:solidFill>
                  <a:srgbClr val="5F6368"/>
                </a:solidFill>
                <a:latin typeface="Calibri"/>
              </a:rPr>
              <a:t>Source layer</a:t>
            </a:r>
          </a:p>
        </p:txBody>
      </p:sp>
      <p:sp>
        <p:nvSpPr>
          <p:cNvPr id="18" name="TextBox 17"/>
          <p:cNvSpPr txBox="1"/>
          <p:nvPr/>
        </p:nvSpPr>
        <p:spPr>
          <a:xfrm>
            <a:off x="3840040" y="4660000"/>
            <a:ext cx="900000" cy="200000"/>
          </a:xfrm>
          <a:prstGeom prst="rect">
            <a:avLst/>
          </a:prstGeom>
          <a:noFill/>
        </p:spPr>
        <p:txBody>
          <a:bodyPr wrap="square" anchor="t" lIns="0" rIns="0" tIns="0" bIns="0">
            <a:spAutoFit/>
          </a:bodyPr>
          <a:lstStyle/>
          <a:p>
            <a:pPr algn="l"/>
            <a:r>
              <a:rPr sz="650" b="1">
                <a:solidFill>
                  <a:srgbClr val="5F6368"/>
                </a:solidFill>
                <a:latin typeface="Calibri"/>
              </a:rPr>
              <a:t>Offset</a:t>
            </a:r>
          </a:p>
        </p:txBody>
      </p:sp>
      <p:sp>
        <p:nvSpPr>
          <p:cNvPr id="19" name="TextBox 18"/>
          <p:cNvSpPr txBox="1"/>
          <p:nvPr/>
        </p:nvSpPr>
        <p:spPr>
          <a:xfrm>
            <a:off x="430040" y="4865000"/>
            <a:ext cx="640000" cy="185000"/>
          </a:xfrm>
          <a:prstGeom prst="rect">
            <a:avLst/>
          </a:prstGeom>
          <a:noFill/>
        </p:spPr>
        <p:txBody>
          <a:bodyPr wrap="square" anchor="t" lIns="0" rIns="0" tIns="0" bIns="0">
            <a:spAutoFit/>
          </a:bodyPr>
          <a:lstStyle/>
          <a:p>
            <a:pPr algn="l"/>
            <a:r>
              <a:rPr sz="700" b="0">
                <a:solidFill>
                  <a:srgbClr val="20242A"/>
                </a:solidFill>
                <a:latin typeface="Calibri"/>
              </a:rPr>
              <a:t>35.44 m</a:t>
            </a:r>
          </a:p>
        </p:txBody>
      </p:sp>
      <p:sp>
        <p:nvSpPr>
          <p:cNvPr id="20" name="TextBox 19"/>
          <p:cNvSpPr txBox="1"/>
          <p:nvPr/>
        </p:nvSpPr>
        <p:spPr>
          <a:xfrm>
            <a:off x="1070040" y="4865000"/>
            <a:ext cx="1620000" cy="185000"/>
          </a:xfrm>
          <a:prstGeom prst="rect">
            <a:avLst/>
          </a:prstGeom>
          <a:noFill/>
        </p:spPr>
        <p:txBody>
          <a:bodyPr wrap="square" anchor="t" lIns="0" rIns="0" tIns="0" bIns="0">
            <a:spAutoFit/>
          </a:bodyPr>
          <a:lstStyle/>
          <a:p>
            <a:pPr algn="l"/>
            <a:r>
              <a:rPr sz="700" b="0">
                <a:solidFill>
                  <a:srgbClr val="20242A"/>
                </a:solidFill>
                <a:latin typeface="Calibri"/>
              </a:rPr>
              <a:t>Taxiway centreline light</a:t>
            </a:r>
          </a:p>
        </p:txBody>
      </p:sp>
      <p:sp>
        <p:nvSpPr>
          <p:cNvPr id="21" name="TextBox 20"/>
          <p:cNvSpPr txBox="1"/>
          <p:nvPr/>
        </p:nvSpPr>
        <p:spPr>
          <a:xfrm>
            <a:off x="2690040" y="4865000"/>
            <a:ext cx="1150000" cy="185000"/>
          </a:xfrm>
          <a:prstGeom prst="rect">
            <a:avLst/>
          </a:prstGeom>
          <a:noFill/>
        </p:spPr>
        <p:txBody>
          <a:bodyPr wrap="square" anchor="t" lIns="0" rIns="0" tIns="0" bIns="0">
            <a:spAutoFit/>
          </a:bodyPr>
          <a:lstStyle/>
          <a:p>
            <a:pPr algn="l"/>
            <a:r>
              <a:rPr sz="700" b="0">
                <a:solidFill>
                  <a:srgbClr val="20242A"/>
                </a:solidFill>
                <a:latin typeface="Calibri"/>
              </a:rPr>
              <a:t>EL-TAXICL</a:t>
            </a:r>
          </a:p>
        </p:txBody>
      </p:sp>
      <p:sp>
        <p:nvSpPr>
          <p:cNvPr id="22" name="TextBox 21"/>
          <p:cNvSpPr txBox="1"/>
          <p:nvPr/>
        </p:nvSpPr>
        <p:spPr>
          <a:xfrm>
            <a:off x="3840040" y="4865000"/>
            <a:ext cx="900000" cy="185000"/>
          </a:xfrm>
          <a:prstGeom prst="rect">
            <a:avLst/>
          </a:prstGeom>
          <a:noFill/>
        </p:spPr>
        <p:txBody>
          <a:bodyPr wrap="square" anchor="t" lIns="0" rIns="0" tIns="0" bIns="0">
            <a:spAutoFit/>
          </a:bodyPr>
          <a:lstStyle/>
          <a:p>
            <a:pPr algn="l"/>
            <a:r>
              <a:rPr sz="700" b="0">
                <a:solidFill>
                  <a:srgbClr val="A64B00"/>
                </a:solidFill>
                <a:latin typeface="Calibri"/>
              </a:rPr>
              <a:t>5.13 m !</a:t>
            </a:r>
          </a:p>
        </p:txBody>
      </p:sp>
      <p:sp>
        <p:nvSpPr>
          <p:cNvPr id="23" name="TextBox 22"/>
          <p:cNvSpPr txBox="1"/>
          <p:nvPr/>
        </p:nvSpPr>
        <p:spPr>
          <a:xfrm>
            <a:off x="430040" y="5053000"/>
            <a:ext cx="640000" cy="185000"/>
          </a:xfrm>
          <a:prstGeom prst="rect">
            <a:avLst/>
          </a:prstGeom>
          <a:noFill/>
        </p:spPr>
        <p:txBody>
          <a:bodyPr wrap="square" anchor="t" lIns="0" rIns="0" tIns="0" bIns="0">
            <a:spAutoFit/>
          </a:bodyPr>
          <a:lstStyle/>
          <a:p>
            <a:pPr algn="l"/>
            <a:r>
              <a:rPr sz="700" b="0">
                <a:solidFill>
                  <a:srgbClr val="20242A"/>
                </a:solidFill>
                <a:latin typeface="Calibri"/>
              </a:rPr>
              <a:t>31.36 m</a:t>
            </a:r>
          </a:p>
        </p:txBody>
      </p:sp>
      <p:sp>
        <p:nvSpPr>
          <p:cNvPr id="24" name="TextBox 23"/>
          <p:cNvSpPr txBox="1"/>
          <p:nvPr/>
        </p:nvSpPr>
        <p:spPr>
          <a:xfrm>
            <a:off x="1070040" y="5053000"/>
            <a:ext cx="1620000" cy="185000"/>
          </a:xfrm>
          <a:prstGeom prst="rect">
            <a:avLst/>
          </a:prstGeom>
          <a:noFill/>
        </p:spPr>
        <p:txBody>
          <a:bodyPr wrap="square" anchor="t" lIns="0" rIns="0" tIns="0" bIns="0">
            <a:spAutoFit/>
          </a:bodyPr>
          <a:lstStyle/>
          <a:p>
            <a:pPr algn="l"/>
            <a:r>
              <a:rPr sz="700" b="0">
                <a:solidFill>
                  <a:srgbClr val="20242A"/>
                </a:solidFill>
                <a:latin typeface="Calibri"/>
              </a:rPr>
              <a:t>Taxiway centreline light</a:t>
            </a:r>
          </a:p>
        </p:txBody>
      </p:sp>
      <p:sp>
        <p:nvSpPr>
          <p:cNvPr id="25" name="TextBox 24"/>
          <p:cNvSpPr txBox="1"/>
          <p:nvPr/>
        </p:nvSpPr>
        <p:spPr>
          <a:xfrm>
            <a:off x="2690040" y="5053000"/>
            <a:ext cx="1150000" cy="185000"/>
          </a:xfrm>
          <a:prstGeom prst="rect">
            <a:avLst/>
          </a:prstGeom>
          <a:noFill/>
        </p:spPr>
        <p:txBody>
          <a:bodyPr wrap="square" anchor="t" lIns="0" rIns="0" tIns="0" bIns="0">
            <a:spAutoFit/>
          </a:bodyPr>
          <a:lstStyle/>
          <a:p>
            <a:pPr algn="l"/>
            <a:r>
              <a:rPr sz="700" b="0">
                <a:solidFill>
                  <a:srgbClr val="20242A"/>
                </a:solidFill>
                <a:latin typeface="Calibri"/>
              </a:rPr>
              <a:t>EL-TAXICL</a:t>
            </a:r>
          </a:p>
        </p:txBody>
      </p:sp>
      <p:sp>
        <p:nvSpPr>
          <p:cNvPr id="26" name="TextBox 25"/>
          <p:cNvSpPr txBox="1"/>
          <p:nvPr/>
        </p:nvSpPr>
        <p:spPr>
          <a:xfrm>
            <a:off x="3840040" y="5053000"/>
            <a:ext cx="900000" cy="185000"/>
          </a:xfrm>
          <a:prstGeom prst="rect">
            <a:avLst/>
          </a:prstGeom>
          <a:noFill/>
        </p:spPr>
        <p:txBody>
          <a:bodyPr wrap="square" anchor="t" lIns="0" rIns="0" tIns="0" bIns="0">
            <a:spAutoFit/>
          </a:bodyPr>
          <a:lstStyle/>
          <a:p>
            <a:pPr algn="l"/>
            <a:r>
              <a:rPr sz="700" b="0">
                <a:solidFill>
                  <a:srgbClr val="20242A"/>
                </a:solidFill>
                <a:latin typeface="Calibri"/>
              </a:rPr>
              <a:t>0.00 m</a:t>
            </a:r>
          </a:p>
        </p:txBody>
      </p:sp>
      <p:sp>
        <p:nvSpPr>
          <p:cNvPr id="27" name="TextBox 26"/>
          <p:cNvSpPr txBox="1"/>
          <p:nvPr/>
        </p:nvSpPr>
        <p:spPr>
          <a:xfrm>
            <a:off x="430040" y="5241000"/>
            <a:ext cx="640000" cy="185000"/>
          </a:xfrm>
          <a:prstGeom prst="rect">
            <a:avLst/>
          </a:prstGeom>
          <a:noFill/>
        </p:spPr>
        <p:txBody>
          <a:bodyPr wrap="square" anchor="t" lIns="0" rIns="0" tIns="0" bIns="0">
            <a:spAutoFit/>
          </a:bodyPr>
          <a:lstStyle/>
          <a:p>
            <a:pPr algn="l"/>
            <a:r>
              <a:rPr sz="700" b="0">
                <a:solidFill>
                  <a:srgbClr val="20242A"/>
                </a:solidFill>
                <a:latin typeface="Calibri"/>
              </a:rPr>
              <a:t>30.40 m</a:t>
            </a:r>
          </a:p>
        </p:txBody>
      </p:sp>
      <p:sp>
        <p:nvSpPr>
          <p:cNvPr id="28" name="TextBox 27"/>
          <p:cNvSpPr txBox="1"/>
          <p:nvPr/>
        </p:nvSpPr>
        <p:spPr>
          <a:xfrm>
            <a:off x="1070040" y="5241000"/>
            <a:ext cx="1620000" cy="185000"/>
          </a:xfrm>
          <a:prstGeom prst="rect">
            <a:avLst/>
          </a:prstGeom>
          <a:noFill/>
        </p:spPr>
        <p:txBody>
          <a:bodyPr wrap="square" anchor="t" lIns="0" rIns="0" tIns="0" bIns="0">
            <a:spAutoFit/>
          </a:bodyPr>
          <a:lstStyle/>
          <a:p>
            <a:pPr algn="l"/>
            <a:r>
              <a:rPr sz="700" b="0">
                <a:solidFill>
                  <a:srgbClr val="20242A"/>
                </a:solidFill>
                <a:latin typeface="Calibri"/>
              </a:rPr>
              <a:t>Taxiway centreline light</a:t>
            </a:r>
          </a:p>
        </p:txBody>
      </p:sp>
      <p:sp>
        <p:nvSpPr>
          <p:cNvPr id="29" name="TextBox 28"/>
          <p:cNvSpPr txBox="1"/>
          <p:nvPr/>
        </p:nvSpPr>
        <p:spPr>
          <a:xfrm>
            <a:off x="2690040" y="5241000"/>
            <a:ext cx="1150000" cy="185000"/>
          </a:xfrm>
          <a:prstGeom prst="rect">
            <a:avLst/>
          </a:prstGeom>
          <a:noFill/>
        </p:spPr>
        <p:txBody>
          <a:bodyPr wrap="square" anchor="t" lIns="0" rIns="0" tIns="0" bIns="0">
            <a:spAutoFit/>
          </a:bodyPr>
          <a:lstStyle/>
          <a:p>
            <a:pPr algn="l"/>
            <a:r>
              <a:rPr sz="700" b="0">
                <a:solidFill>
                  <a:srgbClr val="20242A"/>
                </a:solidFill>
                <a:latin typeface="Calibri"/>
              </a:rPr>
              <a:t>EL-TAXICL</a:t>
            </a:r>
          </a:p>
        </p:txBody>
      </p:sp>
      <p:sp>
        <p:nvSpPr>
          <p:cNvPr id="30" name="TextBox 29"/>
          <p:cNvSpPr txBox="1"/>
          <p:nvPr/>
        </p:nvSpPr>
        <p:spPr>
          <a:xfrm>
            <a:off x="3840040" y="5241000"/>
            <a:ext cx="900000" cy="185000"/>
          </a:xfrm>
          <a:prstGeom prst="rect">
            <a:avLst/>
          </a:prstGeom>
          <a:noFill/>
        </p:spPr>
        <p:txBody>
          <a:bodyPr wrap="square" anchor="t" lIns="0" rIns="0" tIns="0" bIns="0">
            <a:spAutoFit/>
          </a:bodyPr>
          <a:lstStyle/>
          <a:p>
            <a:pPr algn="l"/>
            <a:r>
              <a:rPr sz="700" b="0">
                <a:solidFill>
                  <a:srgbClr val="20242A"/>
                </a:solidFill>
                <a:latin typeface="Calibri"/>
              </a:rPr>
              <a:t>0.00 m</a:t>
            </a:r>
          </a:p>
        </p:txBody>
      </p:sp>
      <p:sp>
        <p:nvSpPr>
          <p:cNvPr id="31" name="TextBox 30"/>
          <p:cNvSpPr txBox="1"/>
          <p:nvPr/>
        </p:nvSpPr>
        <p:spPr>
          <a:xfrm>
            <a:off x="430040" y="5429000"/>
            <a:ext cx="640000" cy="185000"/>
          </a:xfrm>
          <a:prstGeom prst="rect">
            <a:avLst/>
          </a:prstGeom>
          <a:noFill/>
        </p:spPr>
        <p:txBody>
          <a:bodyPr wrap="square" anchor="t" lIns="0" rIns="0" tIns="0" bIns="0">
            <a:spAutoFit/>
          </a:bodyPr>
          <a:lstStyle/>
          <a:p>
            <a:pPr algn="l"/>
            <a:r>
              <a:rPr sz="700" b="0">
                <a:solidFill>
                  <a:srgbClr val="20242A"/>
                </a:solidFill>
                <a:latin typeface="Calibri"/>
              </a:rPr>
              <a:t>30.08 m</a:t>
            </a:r>
          </a:p>
        </p:txBody>
      </p:sp>
      <p:sp>
        <p:nvSpPr>
          <p:cNvPr id="32" name="TextBox 31"/>
          <p:cNvSpPr txBox="1"/>
          <p:nvPr/>
        </p:nvSpPr>
        <p:spPr>
          <a:xfrm>
            <a:off x="1070040" y="5429000"/>
            <a:ext cx="1620000" cy="185000"/>
          </a:xfrm>
          <a:prstGeom prst="rect">
            <a:avLst/>
          </a:prstGeom>
          <a:noFill/>
        </p:spPr>
        <p:txBody>
          <a:bodyPr wrap="square" anchor="t" lIns="0" rIns="0" tIns="0" bIns="0">
            <a:spAutoFit/>
          </a:bodyPr>
          <a:lstStyle/>
          <a:p>
            <a:pPr algn="l"/>
            <a:r>
              <a:rPr sz="700" b="0">
                <a:solidFill>
                  <a:srgbClr val="20242A"/>
                </a:solidFill>
                <a:latin typeface="Calibri"/>
              </a:rPr>
              <a:t>Taxiway centreline light</a:t>
            </a:r>
          </a:p>
        </p:txBody>
      </p:sp>
      <p:sp>
        <p:nvSpPr>
          <p:cNvPr id="33" name="TextBox 32"/>
          <p:cNvSpPr txBox="1"/>
          <p:nvPr/>
        </p:nvSpPr>
        <p:spPr>
          <a:xfrm>
            <a:off x="2690040" y="5429000"/>
            <a:ext cx="1150000" cy="185000"/>
          </a:xfrm>
          <a:prstGeom prst="rect">
            <a:avLst/>
          </a:prstGeom>
          <a:noFill/>
        </p:spPr>
        <p:txBody>
          <a:bodyPr wrap="square" anchor="t" lIns="0" rIns="0" tIns="0" bIns="0">
            <a:spAutoFit/>
          </a:bodyPr>
          <a:lstStyle/>
          <a:p>
            <a:pPr algn="l"/>
            <a:r>
              <a:rPr sz="700" b="0">
                <a:solidFill>
                  <a:srgbClr val="20242A"/>
                </a:solidFill>
                <a:latin typeface="Calibri"/>
              </a:rPr>
              <a:t>EL-TAXICL</a:t>
            </a:r>
          </a:p>
        </p:txBody>
      </p:sp>
      <p:sp>
        <p:nvSpPr>
          <p:cNvPr id="34" name="TextBox 33"/>
          <p:cNvSpPr txBox="1"/>
          <p:nvPr/>
        </p:nvSpPr>
        <p:spPr>
          <a:xfrm>
            <a:off x="3840040" y="5429000"/>
            <a:ext cx="900000" cy="185000"/>
          </a:xfrm>
          <a:prstGeom prst="rect">
            <a:avLst/>
          </a:prstGeom>
          <a:noFill/>
        </p:spPr>
        <p:txBody>
          <a:bodyPr wrap="square" anchor="t" lIns="0" rIns="0" tIns="0" bIns="0">
            <a:spAutoFit/>
          </a:bodyPr>
          <a:lstStyle/>
          <a:p>
            <a:pPr algn="l"/>
            <a:r>
              <a:rPr sz="700" b="0">
                <a:solidFill>
                  <a:srgbClr val="A64B00"/>
                </a:solidFill>
                <a:latin typeface="Calibri"/>
              </a:rPr>
              <a:t>0.06 m !</a:t>
            </a:r>
          </a:p>
        </p:txBody>
      </p:sp>
      <p:sp>
        <p:nvSpPr>
          <p:cNvPr id="35" name="TextBox 34"/>
          <p:cNvSpPr txBox="1"/>
          <p:nvPr/>
        </p:nvSpPr>
        <p:spPr>
          <a:xfrm>
            <a:off x="430040" y="5617000"/>
            <a:ext cx="640000" cy="185000"/>
          </a:xfrm>
          <a:prstGeom prst="rect">
            <a:avLst/>
          </a:prstGeom>
          <a:noFill/>
        </p:spPr>
        <p:txBody>
          <a:bodyPr wrap="square" anchor="t" lIns="0" rIns="0" tIns="0" bIns="0">
            <a:spAutoFit/>
          </a:bodyPr>
          <a:lstStyle/>
          <a:p>
            <a:pPr algn="l"/>
            <a:r>
              <a:rPr sz="700" b="0">
                <a:solidFill>
                  <a:srgbClr val="20242A"/>
                </a:solidFill>
                <a:latin typeface="Calibri"/>
              </a:rPr>
              <a:t>30.08 m</a:t>
            </a:r>
          </a:p>
        </p:txBody>
      </p:sp>
      <p:sp>
        <p:nvSpPr>
          <p:cNvPr id="36" name="TextBox 35"/>
          <p:cNvSpPr txBox="1"/>
          <p:nvPr/>
        </p:nvSpPr>
        <p:spPr>
          <a:xfrm>
            <a:off x="1070040" y="5617000"/>
            <a:ext cx="1620000" cy="185000"/>
          </a:xfrm>
          <a:prstGeom prst="rect">
            <a:avLst/>
          </a:prstGeom>
          <a:noFill/>
        </p:spPr>
        <p:txBody>
          <a:bodyPr wrap="square" anchor="t" lIns="0" rIns="0" tIns="0" bIns="0">
            <a:spAutoFit/>
          </a:bodyPr>
          <a:lstStyle/>
          <a:p>
            <a:pPr algn="l"/>
            <a:r>
              <a:rPr sz="700" b="0">
                <a:solidFill>
                  <a:srgbClr val="20242A"/>
                </a:solidFill>
                <a:latin typeface="Calibri"/>
              </a:rPr>
              <a:t>Stop bar light</a:t>
            </a:r>
          </a:p>
        </p:txBody>
      </p:sp>
      <p:sp>
        <p:nvSpPr>
          <p:cNvPr id="37" name="TextBox 36"/>
          <p:cNvSpPr txBox="1"/>
          <p:nvPr/>
        </p:nvSpPr>
        <p:spPr>
          <a:xfrm>
            <a:off x="2690040" y="5617000"/>
            <a:ext cx="1150000" cy="185000"/>
          </a:xfrm>
          <a:prstGeom prst="rect">
            <a:avLst/>
          </a:prstGeom>
          <a:noFill/>
        </p:spPr>
        <p:txBody>
          <a:bodyPr wrap="square" anchor="t" lIns="0" rIns="0" tIns="0" bIns="0">
            <a:spAutoFit/>
          </a:bodyPr>
          <a:lstStyle/>
          <a:p>
            <a:pPr algn="l"/>
            <a:r>
              <a:rPr sz="700" b="0">
                <a:solidFill>
                  <a:srgbClr val="20242A"/>
                </a:solidFill>
                <a:latin typeface="Calibri"/>
              </a:rPr>
              <a:t>EL-STOPBAR</a:t>
            </a:r>
          </a:p>
        </p:txBody>
      </p:sp>
      <p:sp>
        <p:nvSpPr>
          <p:cNvPr id="38" name="TextBox 37"/>
          <p:cNvSpPr txBox="1"/>
          <p:nvPr/>
        </p:nvSpPr>
        <p:spPr>
          <a:xfrm>
            <a:off x="3840040" y="5617000"/>
            <a:ext cx="900000" cy="185000"/>
          </a:xfrm>
          <a:prstGeom prst="rect">
            <a:avLst/>
          </a:prstGeom>
          <a:noFill/>
        </p:spPr>
        <p:txBody>
          <a:bodyPr wrap="square" anchor="t" lIns="0" rIns="0" tIns="0" bIns="0">
            <a:spAutoFit/>
          </a:bodyPr>
          <a:lstStyle/>
          <a:p>
            <a:pPr algn="l"/>
            <a:r>
              <a:rPr sz="700" b="0">
                <a:solidFill>
                  <a:srgbClr val="20242A"/>
                </a:solidFill>
                <a:latin typeface="Calibri"/>
              </a:rPr>
              <a:t>0.04 m</a:t>
            </a:r>
          </a:p>
        </p:txBody>
      </p:sp>
      <p:sp>
        <p:nvSpPr>
          <p:cNvPr id="39" name="TextBox 38"/>
          <p:cNvSpPr txBox="1"/>
          <p:nvPr/>
        </p:nvSpPr>
        <p:spPr>
          <a:xfrm>
            <a:off x="430040" y="5805000"/>
            <a:ext cx="640000" cy="185000"/>
          </a:xfrm>
          <a:prstGeom prst="rect">
            <a:avLst/>
          </a:prstGeom>
          <a:noFill/>
        </p:spPr>
        <p:txBody>
          <a:bodyPr wrap="square" anchor="t" lIns="0" rIns="0" tIns="0" bIns="0">
            <a:spAutoFit/>
          </a:bodyPr>
          <a:lstStyle/>
          <a:p>
            <a:pPr algn="l"/>
            <a:r>
              <a:rPr sz="700" b="0">
                <a:solidFill>
                  <a:srgbClr val="20242A"/>
                </a:solidFill>
                <a:latin typeface="Calibri"/>
              </a:rPr>
              <a:t>27.17 m</a:t>
            </a:r>
          </a:p>
        </p:txBody>
      </p:sp>
      <p:sp>
        <p:nvSpPr>
          <p:cNvPr id="40" name="TextBox 39"/>
          <p:cNvSpPr txBox="1"/>
          <p:nvPr/>
        </p:nvSpPr>
        <p:spPr>
          <a:xfrm>
            <a:off x="1070040" y="5805000"/>
            <a:ext cx="1620000" cy="185000"/>
          </a:xfrm>
          <a:prstGeom prst="rect">
            <a:avLst/>
          </a:prstGeom>
          <a:noFill/>
        </p:spPr>
        <p:txBody>
          <a:bodyPr wrap="square" anchor="t" lIns="0" rIns="0" tIns="0" bIns="0">
            <a:spAutoFit/>
          </a:bodyPr>
          <a:lstStyle/>
          <a:p>
            <a:pPr algn="l"/>
            <a:r>
              <a:rPr sz="700" b="0">
                <a:solidFill>
                  <a:srgbClr val="20242A"/>
                </a:solidFill>
                <a:latin typeface="Calibri"/>
              </a:rPr>
              <a:t>Stop bar light</a:t>
            </a:r>
          </a:p>
        </p:txBody>
      </p:sp>
      <p:sp>
        <p:nvSpPr>
          <p:cNvPr id="41" name="TextBox 40"/>
          <p:cNvSpPr txBox="1"/>
          <p:nvPr/>
        </p:nvSpPr>
        <p:spPr>
          <a:xfrm>
            <a:off x="2690040" y="5805000"/>
            <a:ext cx="1150000" cy="185000"/>
          </a:xfrm>
          <a:prstGeom prst="rect">
            <a:avLst/>
          </a:prstGeom>
          <a:noFill/>
        </p:spPr>
        <p:txBody>
          <a:bodyPr wrap="square" anchor="t" lIns="0" rIns="0" tIns="0" bIns="0">
            <a:spAutoFit/>
          </a:bodyPr>
          <a:lstStyle/>
          <a:p>
            <a:pPr algn="l"/>
            <a:r>
              <a:rPr sz="700" b="0">
                <a:solidFill>
                  <a:srgbClr val="20242A"/>
                </a:solidFill>
                <a:latin typeface="Calibri"/>
              </a:rPr>
              <a:t>EL-STOPBAR</a:t>
            </a:r>
          </a:p>
        </p:txBody>
      </p:sp>
      <p:sp>
        <p:nvSpPr>
          <p:cNvPr id="42" name="TextBox 41"/>
          <p:cNvSpPr txBox="1"/>
          <p:nvPr/>
        </p:nvSpPr>
        <p:spPr>
          <a:xfrm>
            <a:off x="3840040" y="5805000"/>
            <a:ext cx="900000" cy="185000"/>
          </a:xfrm>
          <a:prstGeom prst="rect">
            <a:avLst/>
          </a:prstGeom>
          <a:noFill/>
        </p:spPr>
        <p:txBody>
          <a:bodyPr wrap="square" anchor="t" lIns="0" rIns="0" tIns="0" bIns="0">
            <a:spAutoFit/>
          </a:bodyPr>
          <a:lstStyle/>
          <a:p>
            <a:pPr algn="l"/>
            <a:r>
              <a:rPr sz="700" b="0">
                <a:solidFill>
                  <a:srgbClr val="20242A"/>
                </a:solidFill>
                <a:latin typeface="Calibri"/>
              </a:rPr>
              <a:t>0.00 m</a:t>
            </a:r>
          </a:p>
        </p:txBody>
      </p:sp>
      <p:sp>
        <p:nvSpPr>
          <p:cNvPr id="43" name="TextBox 42"/>
          <p:cNvSpPr txBox="1"/>
          <p:nvPr/>
        </p:nvSpPr>
        <p:spPr>
          <a:xfrm>
            <a:off x="430040" y="5993000"/>
            <a:ext cx="640000" cy="185000"/>
          </a:xfrm>
          <a:prstGeom prst="rect">
            <a:avLst/>
          </a:prstGeom>
          <a:noFill/>
        </p:spPr>
        <p:txBody>
          <a:bodyPr wrap="square" anchor="t" lIns="0" rIns="0" tIns="0" bIns="0">
            <a:spAutoFit/>
          </a:bodyPr>
          <a:lstStyle/>
          <a:p>
            <a:pPr algn="l"/>
            <a:r>
              <a:rPr sz="700" b="0">
                <a:solidFill>
                  <a:srgbClr val="20242A"/>
                </a:solidFill>
                <a:latin typeface="Calibri"/>
              </a:rPr>
              <a:t>26.84 m</a:t>
            </a:r>
          </a:p>
        </p:txBody>
      </p:sp>
      <p:sp>
        <p:nvSpPr>
          <p:cNvPr id="44" name="TextBox 43"/>
          <p:cNvSpPr txBox="1"/>
          <p:nvPr/>
        </p:nvSpPr>
        <p:spPr>
          <a:xfrm>
            <a:off x="1070040" y="5993000"/>
            <a:ext cx="1620000" cy="185000"/>
          </a:xfrm>
          <a:prstGeom prst="rect">
            <a:avLst/>
          </a:prstGeom>
          <a:noFill/>
        </p:spPr>
        <p:txBody>
          <a:bodyPr wrap="square" anchor="t" lIns="0" rIns="0" tIns="0" bIns="0">
            <a:spAutoFit/>
          </a:bodyPr>
          <a:lstStyle/>
          <a:p>
            <a:pPr algn="l"/>
            <a:r>
              <a:rPr sz="700" b="0">
                <a:solidFill>
                  <a:srgbClr val="20242A"/>
                </a:solidFill>
                <a:latin typeface="Calibri"/>
              </a:rPr>
              <a:t>Taxiway centreline light</a:t>
            </a:r>
          </a:p>
        </p:txBody>
      </p:sp>
      <p:sp>
        <p:nvSpPr>
          <p:cNvPr id="45" name="TextBox 44"/>
          <p:cNvSpPr txBox="1"/>
          <p:nvPr/>
        </p:nvSpPr>
        <p:spPr>
          <a:xfrm>
            <a:off x="2690040" y="5993000"/>
            <a:ext cx="1150000" cy="185000"/>
          </a:xfrm>
          <a:prstGeom prst="rect">
            <a:avLst/>
          </a:prstGeom>
          <a:noFill/>
        </p:spPr>
        <p:txBody>
          <a:bodyPr wrap="square" anchor="t" lIns="0" rIns="0" tIns="0" bIns="0">
            <a:spAutoFit/>
          </a:bodyPr>
          <a:lstStyle/>
          <a:p>
            <a:pPr algn="l"/>
            <a:r>
              <a:rPr sz="700" b="0">
                <a:solidFill>
                  <a:srgbClr val="20242A"/>
                </a:solidFill>
                <a:latin typeface="Calibri"/>
              </a:rPr>
              <a:t>EL-TAXICL</a:t>
            </a:r>
          </a:p>
        </p:txBody>
      </p:sp>
      <p:sp>
        <p:nvSpPr>
          <p:cNvPr id="46" name="TextBox 45"/>
          <p:cNvSpPr txBox="1"/>
          <p:nvPr/>
        </p:nvSpPr>
        <p:spPr>
          <a:xfrm>
            <a:off x="3840040" y="5993000"/>
            <a:ext cx="900000" cy="185000"/>
          </a:xfrm>
          <a:prstGeom prst="rect">
            <a:avLst/>
          </a:prstGeom>
          <a:noFill/>
        </p:spPr>
        <p:txBody>
          <a:bodyPr wrap="square" anchor="t" lIns="0" rIns="0" tIns="0" bIns="0">
            <a:spAutoFit/>
          </a:bodyPr>
          <a:lstStyle/>
          <a:p>
            <a:pPr algn="l"/>
            <a:r>
              <a:rPr sz="700" b="0">
                <a:solidFill>
                  <a:srgbClr val="20242A"/>
                </a:solidFill>
                <a:latin typeface="Calibri"/>
              </a:rPr>
              <a:t>0.00 m</a:t>
            </a:r>
          </a:p>
        </p:txBody>
      </p:sp>
      <p:sp>
        <p:nvSpPr>
          <p:cNvPr id="47" name="TextBox 46"/>
          <p:cNvSpPr txBox="1"/>
          <p:nvPr/>
        </p:nvSpPr>
        <p:spPr>
          <a:xfrm>
            <a:off x="430040" y="6181000"/>
            <a:ext cx="640000" cy="185000"/>
          </a:xfrm>
          <a:prstGeom prst="rect">
            <a:avLst/>
          </a:prstGeom>
          <a:noFill/>
        </p:spPr>
        <p:txBody>
          <a:bodyPr wrap="square" anchor="t" lIns="0" rIns="0" tIns="0" bIns="0">
            <a:spAutoFit/>
          </a:bodyPr>
          <a:lstStyle/>
          <a:p>
            <a:pPr algn="l"/>
            <a:r>
              <a:rPr sz="700" b="0">
                <a:solidFill>
                  <a:srgbClr val="20242A"/>
                </a:solidFill>
                <a:latin typeface="Calibri"/>
              </a:rPr>
              <a:t>26.21 m</a:t>
            </a:r>
          </a:p>
        </p:txBody>
      </p:sp>
      <p:sp>
        <p:nvSpPr>
          <p:cNvPr id="48" name="TextBox 47"/>
          <p:cNvSpPr txBox="1"/>
          <p:nvPr/>
        </p:nvSpPr>
        <p:spPr>
          <a:xfrm>
            <a:off x="1070040" y="6181000"/>
            <a:ext cx="1620000" cy="185000"/>
          </a:xfrm>
          <a:prstGeom prst="rect">
            <a:avLst/>
          </a:prstGeom>
          <a:noFill/>
        </p:spPr>
        <p:txBody>
          <a:bodyPr wrap="square" anchor="t" lIns="0" rIns="0" tIns="0" bIns="0">
            <a:spAutoFit/>
          </a:bodyPr>
          <a:lstStyle/>
          <a:p>
            <a:pPr algn="l"/>
            <a:r>
              <a:rPr sz="700" b="0">
                <a:solidFill>
                  <a:srgbClr val="20242A"/>
                </a:solidFill>
                <a:latin typeface="Calibri"/>
              </a:rPr>
              <a:t>Taxiway edge light</a:t>
            </a:r>
          </a:p>
        </p:txBody>
      </p:sp>
      <p:sp>
        <p:nvSpPr>
          <p:cNvPr id="49" name="TextBox 48"/>
          <p:cNvSpPr txBox="1"/>
          <p:nvPr/>
        </p:nvSpPr>
        <p:spPr>
          <a:xfrm>
            <a:off x="2690040" y="6181000"/>
            <a:ext cx="1150000" cy="185000"/>
          </a:xfrm>
          <a:prstGeom prst="rect">
            <a:avLst/>
          </a:prstGeom>
          <a:noFill/>
        </p:spPr>
        <p:txBody>
          <a:bodyPr wrap="square" anchor="t" lIns="0" rIns="0" tIns="0" bIns="0">
            <a:spAutoFit/>
          </a:bodyPr>
          <a:lstStyle/>
          <a:p>
            <a:pPr algn="l"/>
            <a:r>
              <a:rPr sz="700" b="0">
                <a:solidFill>
                  <a:srgbClr val="20242A"/>
                </a:solidFill>
                <a:latin typeface="Calibri"/>
              </a:rPr>
              <a:t>EL-TAXIWAY EDGE</a:t>
            </a:r>
          </a:p>
        </p:txBody>
      </p:sp>
      <p:sp>
        <p:nvSpPr>
          <p:cNvPr id="50" name="TextBox 49"/>
          <p:cNvSpPr txBox="1"/>
          <p:nvPr/>
        </p:nvSpPr>
        <p:spPr>
          <a:xfrm>
            <a:off x="3840040" y="6181000"/>
            <a:ext cx="900000" cy="185000"/>
          </a:xfrm>
          <a:prstGeom prst="rect">
            <a:avLst/>
          </a:prstGeom>
          <a:noFill/>
        </p:spPr>
        <p:txBody>
          <a:bodyPr wrap="square" anchor="t" lIns="0" rIns="0" tIns="0" bIns="0">
            <a:spAutoFit/>
          </a:bodyPr>
          <a:lstStyle/>
          <a:p>
            <a:pPr algn="l"/>
            <a:r>
              <a:rPr sz="700" b="0">
                <a:solidFill>
                  <a:srgbClr val="A64B00"/>
                </a:solidFill>
                <a:latin typeface="Calibri"/>
              </a:rPr>
              <a:t>0.07 m !</a:t>
            </a:r>
          </a:p>
        </p:txBody>
      </p:sp>
      <p:sp>
        <p:nvSpPr>
          <p:cNvPr id="51" name="TextBox 50"/>
          <p:cNvSpPr txBox="1"/>
          <p:nvPr/>
        </p:nvSpPr>
        <p:spPr>
          <a:xfrm>
            <a:off x="430040" y="6369000"/>
            <a:ext cx="640000" cy="185000"/>
          </a:xfrm>
          <a:prstGeom prst="rect">
            <a:avLst/>
          </a:prstGeom>
          <a:noFill/>
        </p:spPr>
        <p:txBody>
          <a:bodyPr wrap="square" anchor="t" lIns="0" rIns="0" tIns="0" bIns="0">
            <a:spAutoFit/>
          </a:bodyPr>
          <a:lstStyle/>
          <a:p>
            <a:pPr algn="l"/>
            <a:r>
              <a:rPr sz="700" b="0">
                <a:solidFill>
                  <a:srgbClr val="20242A"/>
                </a:solidFill>
                <a:latin typeface="Calibri"/>
              </a:rPr>
              <a:t>26.02 m</a:t>
            </a:r>
          </a:p>
        </p:txBody>
      </p:sp>
      <p:sp>
        <p:nvSpPr>
          <p:cNvPr id="52" name="TextBox 51"/>
          <p:cNvSpPr txBox="1"/>
          <p:nvPr/>
        </p:nvSpPr>
        <p:spPr>
          <a:xfrm>
            <a:off x="1070040" y="6369000"/>
            <a:ext cx="1620000" cy="185000"/>
          </a:xfrm>
          <a:prstGeom prst="rect">
            <a:avLst/>
          </a:prstGeom>
          <a:noFill/>
        </p:spPr>
        <p:txBody>
          <a:bodyPr wrap="square" anchor="t" lIns="0" rIns="0" tIns="0" bIns="0">
            <a:spAutoFit/>
          </a:bodyPr>
          <a:lstStyle/>
          <a:p>
            <a:pPr algn="l"/>
            <a:r>
              <a:rPr sz="700" b="0">
                <a:solidFill>
                  <a:srgbClr val="20242A"/>
                </a:solidFill>
                <a:latin typeface="Calibri"/>
              </a:rPr>
              <a:t>Taxiway edge light</a:t>
            </a:r>
          </a:p>
        </p:txBody>
      </p:sp>
      <p:sp>
        <p:nvSpPr>
          <p:cNvPr id="53" name="TextBox 52"/>
          <p:cNvSpPr txBox="1"/>
          <p:nvPr/>
        </p:nvSpPr>
        <p:spPr>
          <a:xfrm>
            <a:off x="2690040" y="6369000"/>
            <a:ext cx="1150000" cy="185000"/>
          </a:xfrm>
          <a:prstGeom prst="rect">
            <a:avLst/>
          </a:prstGeom>
          <a:noFill/>
        </p:spPr>
        <p:txBody>
          <a:bodyPr wrap="square" anchor="t" lIns="0" rIns="0" tIns="0" bIns="0">
            <a:spAutoFit/>
          </a:bodyPr>
          <a:lstStyle/>
          <a:p>
            <a:pPr algn="l"/>
            <a:r>
              <a:rPr sz="700" b="0">
                <a:solidFill>
                  <a:srgbClr val="20242A"/>
                </a:solidFill>
                <a:latin typeface="Calibri"/>
              </a:rPr>
              <a:t>EL-TAXIWAY EDGE</a:t>
            </a:r>
          </a:p>
        </p:txBody>
      </p:sp>
      <p:sp>
        <p:nvSpPr>
          <p:cNvPr id="54" name="TextBox 53"/>
          <p:cNvSpPr txBox="1"/>
          <p:nvPr/>
        </p:nvSpPr>
        <p:spPr>
          <a:xfrm>
            <a:off x="3840040" y="6369000"/>
            <a:ext cx="900000" cy="185000"/>
          </a:xfrm>
          <a:prstGeom prst="rect">
            <a:avLst/>
          </a:prstGeom>
          <a:noFill/>
        </p:spPr>
        <p:txBody>
          <a:bodyPr wrap="square" anchor="t" lIns="0" rIns="0" tIns="0" bIns="0">
            <a:spAutoFit/>
          </a:bodyPr>
          <a:lstStyle/>
          <a:p>
            <a:pPr algn="l"/>
            <a:r>
              <a:rPr sz="700" b="0">
                <a:solidFill>
                  <a:srgbClr val="20242A"/>
                </a:solidFill>
                <a:latin typeface="Calibri"/>
              </a:rPr>
              <a:t>0.00 m</a:t>
            </a:r>
          </a:p>
        </p:txBody>
      </p:sp>
      <p:sp>
        <p:nvSpPr>
          <p:cNvPr id="55" name="TextBox 54"/>
          <p:cNvSpPr txBox="1"/>
          <p:nvPr/>
        </p:nvSpPr>
        <p:spPr>
          <a:xfrm>
            <a:off x="430040" y="6557000"/>
            <a:ext cx="640000" cy="185000"/>
          </a:xfrm>
          <a:prstGeom prst="rect">
            <a:avLst/>
          </a:prstGeom>
          <a:noFill/>
        </p:spPr>
        <p:txBody>
          <a:bodyPr wrap="square" anchor="t" lIns="0" rIns="0" tIns="0" bIns="0">
            <a:spAutoFit/>
          </a:bodyPr>
          <a:lstStyle/>
          <a:p>
            <a:pPr algn="l"/>
            <a:r>
              <a:rPr sz="700" b="0">
                <a:solidFill>
                  <a:srgbClr val="20242A"/>
                </a:solidFill>
                <a:latin typeface="Calibri"/>
              </a:rPr>
              <a:t>24.20 m</a:t>
            </a:r>
          </a:p>
        </p:txBody>
      </p:sp>
      <p:sp>
        <p:nvSpPr>
          <p:cNvPr id="56" name="TextBox 55"/>
          <p:cNvSpPr txBox="1"/>
          <p:nvPr/>
        </p:nvSpPr>
        <p:spPr>
          <a:xfrm>
            <a:off x="1070040" y="6557000"/>
            <a:ext cx="1620000" cy="185000"/>
          </a:xfrm>
          <a:prstGeom prst="rect">
            <a:avLst/>
          </a:prstGeom>
          <a:noFill/>
        </p:spPr>
        <p:txBody>
          <a:bodyPr wrap="square" anchor="t" lIns="0" rIns="0" tIns="0" bIns="0">
            <a:spAutoFit/>
          </a:bodyPr>
          <a:lstStyle/>
          <a:p>
            <a:pPr algn="l"/>
            <a:r>
              <a:rPr sz="700" b="0">
                <a:solidFill>
                  <a:srgbClr val="20242A"/>
                </a:solidFill>
                <a:latin typeface="Calibri"/>
              </a:rPr>
              <a:t>Stop bar light</a:t>
            </a:r>
          </a:p>
        </p:txBody>
      </p:sp>
      <p:sp>
        <p:nvSpPr>
          <p:cNvPr id="57" name="TextBox 56"/>
          <p:cNvSpPr txBox="1"/>
          <p:nvPr/>
        </p:nvSpPr>
        <p:spPr>
          <a:xfrm>
            <a:off x="2690040" y="6557000"/>
            <a:ext cx="1150000" cy="185000"/>
          </a:xfrm>
          <a:prstGeom prst="rect">
            <a:avLst/>
          </a:prstGeom>
          <a:noFill/>
        </p:spPr>
        <p:txBody>
          <a:bodyPr wrap="square" anchor="t" lIns="0" rIns="0" tIns="0" bIns="0">
            <a:spAutoFit/>
          </a:bodyPr>
          <a:lstStyle/>
          <a:p>
            <a:pPr algn="l"/>
            <a:r>
              <a:rPr sz="700" b="0">
                <a:solidFill>
                  <a:srgbClr val="20242A"/>
                </a:solidFill>
                <a:latin typeface="Calibri"/>
              </a:rPr>
              <a:t>EL-STOPBAR</a:t>
            </a:r>
          </a:p>
        </p:txBody>
      </p:sp>
      <p:sp>
        <p:nvSpPr>
          <p:cNvPr id="58" name="TextBox 57"/>
          <p:cNvSpPr txBox="1"/>
          <p:nvPr/>
        </p:nvSpPr>
        <p:spPr>
          <a:xfrm>
            <a:off x="3840040" y="6557000"/>
            <a:ext cx="900000" cy="185000"/>
          </a:xfrm>
          <a:prstGeom prst="rect">
            <a:avLst/>
          </a:prstGeom>
          <a:noFill/>
        </p:spPr>
        <p:txBody>
          <a:bodyPr wrap="square" anchor="t" lIns="0" rIns="0" tIns="0" bIns="0">
            <a:spAutoFit/>
          </a:bodyPr>
          <a:lstStyle/>
          <a:p>
            <a:pPr algn="l"/>
            <a:r>
              <a:rPr sz="700" b="0">
                <a:solidFill>
                  <a:srgbClr val="20242A"/>
                </a:solidFill>
                <a:latin typeface="Calibri"/>
              </a:rPr>
              <a:t>0.00 m</a:t>
            </a:r>
          </a:p>
        </p:txBody>
      </p:sp>
      <p:sp>
        <p:nvSpPr>
          <p:cNvPr id="59" name="TextBox 58"/>
          <p:cNvSpPr txBox="1"/>
          <p:nvPr/>
        </p:nvSpPr>
        <p:spPr>
          <a:xfrm>
            <a:off x="430040" y="6745000"/>
            <a:ext cx="640000" cy="185000"/>
          </a:xfrm>
          <a:prstGeom prst="rect">
            <a:avLst/>
          </a:prstGeom>
          <a:noFill/>
        </p:spPr>
        <p:txBody>
          <a:bodyPr wrap="square" anchor="t" lIns="0" rIns="0" tIns="0" bIns="0">
            <a:spAutoFit/>
          </a:bodyPr>
          <a:lstStyle/>
          <a:p>
            <a:pPr algn="l"/>
            <a:r>
              <a:rPr sz="700" b="0">
                <a:solidFill>
                  <a:srgbClr val="20242A"/>
                </a:solidFill>
                <a:latin typeface="Calibri"/>
              </a:rPr>
              <a:t>23.28 m</a:t>
            </a:r>
          </a:p>
        </p:txBody>
      </p:sp>
      <p:sp>
        <p:nvSpPr>
          <p:cNvPr id="60" name="TextBox 59"/>
          <p:cNvSpPr txBox="1"/>
          <p:nvPr/>
        </p:nvSpPr>
        <p:spPr>
          <a:xfrm>
            <a:off x="1070040" y="6745000"/>
            <a:ext cx="1620000" cy="185000"/>
          </a:xfrm>
          <a:prstGeom prst="rect">
            <a:avLst/>
          </a:prstGeom>
          <a:noFill/>
        </p:spPr>
        <p:txBody>
          <a:bodyPr wrap="square" anchor="t" lIns="0" rIns="0" tIns="0" bIns="0">
            <a:spAutoFit/>
          </a:bodyPr>
          <a:lstStyle/>
          <a:p>
            <a:pPr algn="l"/>
            <a:r>
              <a:rPr sz="700" b="0">
                <a:solidFill>
                  <a:srgbClr val="20242A"/>
                </a:solidFill>
                <a:latin typeface="Calibri"/>
              </a:rPr>
              <a:t>Taxiway centreline light</a:t>
            </a:r>
          </a:p>
        </p:txBody>
      </p:sp>
      <p:sp>
        <p:nvSpPr>
          <p:cNvPr id="61" name="TextBox 60"/>
          <p:cNvSpPr txBox="1"/>
          <p:nvPr/>
        </p:nvSpPr>
        <p:spPr>
          <a:xfrm>
            <a:off x="2690040" y="6745000"/>
            <a:ext cx="1150000" cy="185000"/>
          </a:xfrm>
          <a:prstGeom prst="rect">
            <a:avLst/>
          </a:prstGeom>
          <a:noFill/>
        </p:spPr>
        <p:txBody>
          <a:bodyPr wrap="square" anchor="t" lIns="0" rIns="0" tIns="0" bIns="0">
            <a:spAutoFit/>
          </a:bodyPr>
          <a:lstStyle/>
          <a:p>
            <a:pPr algn="l"/>
            <a:r>
              <a:rPr sz="700" b="0">
                <a:solidFill>
                  <a:srgbClr val="20242A"/>
                </a:solidFill>
                <a:latin typeface="Calibri"/>
              </a:rPr>
              <a:t>EL-TAXICL</a:t>
            </a:r>
          </a:p>
        </p:txBody>
      </p:sp>
      <p:sp>
        <p:nvSpPr>
          <p:cNvPr id="62" name="TextBox 61"/>
          <p:cNvSpPr txBox="1"/>
          <p:nvPr/>
        </p:nvSpPr>
        <p:spPr>
          <a:xfrm>
            <a:off x="3840040" y="6745000"/>
            <a:ext cx="900000" cy="185000"/>
          </a:xfrm>
          <a:prstGeom prst="rect">
            <a:avLst/>
          </a:prstGeom>
          <a:noFill/>
        </p:spPr>
        <p:txBody>
          <a:bodyPr wrap="square" anchor="t" lIns="0" rIns="0" tIns="0" bIns="0">
            <a:spAutoFit/>
          </a:bodyPr>
          <a:lstStyle/>
          <a:p>
            <a:pPr algn="l"/>
            <a:r>
              <a:rPr sz="700" b="0">
                <a:solidFill>
                  <a:srgbClr val="20242A"/>
                </a:solidFill>
                <a:latin typeface="Calibri"/>
              </a:rPr>
              <a:t>0.00 m</a:t>
            </a:r>
          </a:p>
        </p:txBody>
      </p:sp>
      <p:sp>
        <p:nvSpPr>
          <p:cNvPr id="63" name="TextBox 62"/>
          <p:cNvSpPr txBox="1"/>
          <p:nvPr/>
        </p:nvSpPr>
        <p:spPr>
          <a:xfrm>
            <a:off x="430040" y="6933000"/>
            <a:ext cx="640000" cy="185000"/>
          </a:xfrm>
          <a:prstGeom prst="rect">
            <a:avLst/>
          </a:prstGeom>
          <a:noFill/>
        </p:spPr>
        <p:txBody>
          <a:bodyPr wrap="square" anchor="t" lIns="0" rIns="0" tIns="0" bIns="0">
            <a:spAutoFit/>
          </a:bodyPr>
          <a:lstStyle/>
          <a:p>
            <a:pPr algn="l"/>
            <a:r>
              <a:rPr sz="700" b="0">
                <a:solidFill>
                  <a:srgbClr val="20242A"/>
                </a:solidFill>
                <a:latin typeface="Calibri"/>
              </a:rPr>
              <a:t>22.49 m</a:t>
            </a:r>
          </a:p>
        </p:txBody>
      </p:sp>
      <p:sp>
        <p:nvSpPr>
          <p:cNvPr id="64" name="TextBox 63"/>
          <p:cNvSpPr txBox="1"/>
          <p:nvPr/>
        </p:nvSpPr>
        <p:spPr>
          <a:xfrm>
            <a:off x="1070040" y="6933000"/>
            <a:ext cx="1620000" cy="185000"/>
          </a:xfrm>
          <a:prstGeom prst="rect">
            <a:avLst/>
          </a:prstGeom>
          <a:noFill/>
        </p:spPr>
        <p:txBody>
          <a:bodyPr wrap="square" anchor="t" lIns="0" rIns="0" tIns="0" bIns="0">
            <a:spAutoFit/>
          </a:bodyPr>
          <a:lstStyle/>
          <a:p>
            <a:pPr algn="l"/>
            <a:r>
              <a:rPr sz="700" b="0">
                <a:solidFill>
                  <a:srgbClr val="20242A"/>
                </a:solidFill>
                <a:latin typeface="Calibri"/>
              </a:rPr>
              <a:t>Taxiway centreline light</a:t>
            </a:r>
          </a:p>
        </p:txBody>
      </p:sp>
      <p:sp>
        <p:nvSpPr>
          <p:cNvPr id="65" name="TextBox 64"/>
          <p:cNvSpPr txBox="1"/>
          <p:nvPr/>
        </p:nvSpPr>
        <p:spPr>
          <a:xfrm>
            <a:off x="2690040" y="6933000"/>
            <a:ext cx="1150000" cy="185000"/>
          </a:xfrm>
          <a:prstGeom prst="rect">
            <a:avLst/>
          </a:prstGeom>
          <a:noFill/>
        </p:spPr>
        <p:txBody>
          <a:bodyPr wrap="square" anchor="t" lIns="0" rIns="0" tIns="0" bIns="0">
            <a:spAutoFit/>
          </a:bodyPr>
          <a:lstStyle/>
          <a:p>
            <a:pPr algn="l"/>
            <a:r>
              <a:rPr sz="700" b="0">
                <a:solidFill>
                  <a:srgbClr val="20242A"/>
                </a:solidFill>
                <a:latin typeface="Calibri"/>
              </a:rPr>
              <a:t>EL-TAXICL</a:t>
            </a:r>
          </a:p>
        </p:txBody>
      </p:sp>
      <p:sp>
        <p:nvSpPr>
          <p:cNvPr id="66" name="TextBox 65"/>
          <p:cNvSpPr txBox="1"/>
          <p:nvPr/>
        </p:nvSpPr>
        <p:spPr>
          <a:xfrm>
            <a:off x="3840040" y="6933000"/>
            <a:ext cx="900000" cy="185000"/>
          </a:xfrm>
          <a:prstGeom prst="rect">
            <a:avLst/>
          </a:prstGeom>
          <a:noFill/>
        </p:spPr>
        <p:txBody>
          <a:bodyPr wrap="square" anchor="t" lIns="0" rIns="0" tIns="0" bIns="0">
            <a:spAutoFit/>
          </a:bodyPr>
          <a:lstStyle/>
          <a:p>
            <a:pPr algn="l"/>
            <a:r>
              <a:rPr sz="700" b="0">
                <a:solidFill>
                  <a:srgbClr val="20242A"/>
                </a:solidFill>
                <a:latin typeface="Calibri"/>
              </a:rPr>
              <a:t>0.03 m</a:t>
            </a:r>
          </a:p>
        </p:txBody>
      </p:sp>
      <p:sp>
        <p:nvSpPr>
          <p:cNvPr id="67" name="TextBox 66"/>
          <p:cNvSpPr txBox="1"/>
          <p:nvPr/>
        </p:nvSpPr>
        <p:spPr>
          <a:xfrm>
            <a:off x="430040" y="7121000"/>
            <a:ext cx="640000" cy="185000"/>
          </a:xfrm>
          <a:prstGeom prst="rect">
            <a:avLst/>
          </a:prstGeom>
          <a:noFill/>
        </p:spPr>
        <p:txBody>
          <a:bodyPr wrap="square" anchor="t" lIns="0" rIns="0" tIns="0" bIns="0">
            <a:spAutoFit/>
          </a:bodyPr>
          <a:lstStyle/>
          <a:p>
            <a:pPr algn="l"/>
            <a:r>
              <a:rPr sz="700" b="0">
                <a:solidFill>
                  <a:srgbClr val="20242A"/>
                </a:solidFill>
                <a:latin typeface="Calibri"/>
              </a:rPr>
              <a:t>22.42 m</a:t>
            </a:r>
          </a:p>
        </p:txBody>
      </p:sp>
      <p:sp>
        <p:nvSpPr>
          <p:cNvPr id="68" name="TextBox 67"/>
          <p:cNvSpPr txBox="1"/>
          <p:nvPr/>
        </p:nvSpPr>
        <p:spPr>
          <a:xfrm>
            <a:off x="1070040" y="7121000"/>
            <a:ext cx="1620000" cy="185000"/>
          </a:xfrm>
          <a:prstGeom prst="rect">
            <a:avLst/>
          </a:prstGeom>
          <a:noFill/>
        </p:spPr>
        <p:txBody>
          <a:bodyPr wrap="square" anchor="t" lIns="0" rIns="0" tIns="0" bIns="0">
            <a:spAutoFit/>
          </a:bodyPr>
          <a:lstStyle/>
          <a:p>
            <a:pPr algn="l"/>
            <a:r>
              <a:rPr sz="700" b="0">
                <a:solidFill>
                  <a:srgbClr val="20242A"/>
                </a:solidFill>
                <a:latin typeface="Calibri"/>
              </a:rPr>
              <a:t>Taxiway centreline light</a:t>
            </a:r>
          </a:p>
        </p:txBody>
      </p:sp>
      <p:sp>
        <p:nvSpPr>
          <p:cNvPr id="69" name="TextBox 68"/>
          <p:cNvSpPr txBox="1"/>
          <p:nvPr/>
        </p:nvSpPr>
        <p:spPr>
          <a:xfrm>
            <a:off x="2690040" y="7121000"/>
            <a:ext cx="1150000" cy="185000"/>
          </a:xfrm>
          <a:prstGeom prst="rect">
            <a:avLst/>
          </a:prstGeom>
          <a:noFill/>
        </p:spPr>
        <p:txBody>
          <a:bodyPr wrap="square" anchor="t" lIns="0" rIns="0" tIns="0" bIns="0">
            <a:spAutoFit/>
          </a:bodyPr>
          <a:lstStyle/>
          <a:p>
            <a:pPr algn="l"/>
            <a:r>
              <a:rPr sz="700" b="0">
                <a:solidFill>
                  <a:srgbClr val="20242A"/>
                </a:solidFill>
                <a:latin typeface="Calibri"/>
              </a:rPr>
              <a:t>EL-TAXICL</a:t>
            </a:r>
          </a:p>
        </p:txBody>
      </p:sp>
      <p:sp>
        <p:nvSpPr>
          <p:cNvPr id="70" name="TextBox 69"/>
          <p:cNvSpPr txBox="1"/>
          <p:nvPr/>
        </p:nvSpPr>
        <p:spPr>
          <a:xfrm>
            <a:off x="3840040" y="7121000"/>
            <a:ext cx="900000" cy="185000"/>
          </a:xfrm>
          <a:prstGeom prst="rect">
            <a:avLst/>
          </a:prstGeom>
          <a:noFill/>
        </p:spPr>
        <p:txBody>
          <a:bodyPr wrap="square" anchor="t" lIns="0" rIns="0" tIns="0" bIns="0">
            <a:spAutoFit/>
          </a:bodyPr>
          <a:lstStyle/>
          <a:p>
            <a:pPr algn="l"/>
            <a:r>
              <a:rPr sz="700" b="0">
                <a:solidFill>
                  <a:srgbClr val="20242A"/>
                </a:solidFill>
                <a:latin typeface="Calibri"/>
              </a:rPr>
              <a:t>0.00 m</a:t>
            </a:r>
          </a:p>
        </p:txBody>
      </p:sp>
      <p:sp>
        <p:nvSpPr>
          <p:cNvPr id="71" name="TextBox 70"/>
          <p:cNvSpPr txBox="1"/>
          <p:nvPr/>
        </p:nvSpPr>
        <p:spPr>
          <a:xfrm>
            <a:off x="430040" y="7309000"/>
            <a:ext cx="640000" cy="185000"/>
          </a:xfrm>
          <a:prstGeom prst="rect">
            <a:avLst/>
          </a:prstGeom>
          <a:noFill/>
        </p:spPr>
        <p:txBody>
          <a:bodyPr wrap="square" anchor="t" lIns="0" rIns="0" tIns="0" bIns="0">
            <a:spAutoFit/>
          </a:bodyPr>
          <a:lstStyle/>
          <a:p>
            <a:pPr algn="l"/>
            <a:r>
              <a:rPr sz="700" b="0">
                <a:solidFill>
                  <a:srgbClr val="20242A"/>
                </a:solidFill>
                <a:latin typeface="Calibri"/>
              </a:rPr>
              <a:t>22.33 m</a:t>
            </a:r>
          </a:p>
        </p:txBody>
      </p:sp>
      <p:sp>
        <p:nvSpPr>
          <p:cNvPr id="72" name="TextBox 71"/>
          <p:cNvSpPr txBox="1"/>
          <p:nvPr/>
        </p:nvSpPr>
        <p:spPr>
          <a:xfrm>
            <a:off x="1070040" y="7309000"/>
            <a:ext cx="1620000" cy="185000"/>
          </a:xfrm>
          <a:prstGeom prst="rect">
            <a:avLst/>
          </a:prstGeom>
          <a:noFill/>
        </p:spPr>
        <p:txBody>
          <a:bodyPr wrap="square" anchor="t" lIns="0" rIns="0" tIns="0" bIns="0">
            <a:spAutoFit/>
          </a:bodyPr>
          <a:lstStyle/>
          <a:p>
            <a:pPr algn="l"/>
            <a:r>
              <a:rPr sz="700" b="0">
                <a:solidFill>
                  <a:srgbClr val="20242A"/>
                </a:solidFill>
                <a:latin typeface="Calibri"/>
              </a:rPr>
              <a:t>Taxiway centreline light</a:t>
            </a:r>
          </a:p>
        </p:txBody>
      </p:sp>
      <p:sp>
        <p:nvSpPr>
          <p:cNvPr id="73" name="TextBox 72"/>
          <p:cNvSpPr txBox="1"/>
          <p:nvPr/>
        </p:nvSpPr>
        <p:spPr>
          <a:xfrm>
            <a:off x="2690040" y="7309000"/>
            <a:ext cx="1150000" cy="185000"/>
          </a:xfrm>
          <a:prstGeom prst="rect">
            <a:avLst/>
          </a:prstGeom>
          <a:noFill/>
        </p:spPr>
        <p:txBody>
          <a:bodyPr wrap="square" anchor="t" lIns="0" rIns="0" tIns="0" bIns="0">
            <a:spAutoFit/>
          </a:bodyPr>
          <a:lstStyle/>
          <a:p>
            <a:pPr algn="l"/>
            <a:r>
              <a:rPr sz="700" b="0">
                <a:solidFill>
                  <a:srgbClr val="20242A"/>
                </a:solidFill>
                <a:latin typeface="Calibri"/>
              </a:rPr>
              <a:t>EL-TAXICL</a:t>
            </a:r>
          </a:p>
        </p:txBody>
      </p:sp>
      <p:sp>
        <p:nvSpPr>
          <p:cNvPr id="74" name="TextBox 73"/>
          <p:cNvSpPr txBox="1"/>
          <p:nvPr/>
        </p:nvSpPr>
        <p:spPr>
          <a:xfrm>
            <a:off x="3840040" y="7309000"/>
            <a:ext cx="900000" cy="185000"/>
          </a:xfrm>
          <a:prstGeom prst="rect">
            <a:avLst/>
          </a:prstGeom>
          <a:noFill/>
        </p:spPr>
        <p:txBody>
          <a:bodyPr wrap="square" anchor="t" lIns="0" rIns="0" tIns="0" bIns="0">
            <a:spAutoFit/>
          </a:bodyPr>
          <a:lstStyle/>
          <a:p>
            <a:pPr algn="l"/>
            <a:r>
              <a:rPr sz="700" b="0">
                <a:solidFill>
                  <a:srgbClr val="20242A"/>
                </a:solidFill>
                <a:latin typeface="Calibri"/>
              </a:rPr>
              <a:t>0.00 m</a:t>
            </a:r>
          </a:p>
        </p:txBody>
      </p:sp>
      <p:sp>
        <p:nvSpPr>
          <p:cNvPr id="75" name="TextBox 74"/>
          <p:cNvSpPr txBox="1"/>
          <p:nvPr/>
        </p:nvSpPr>
        <p:spPr>
          <a:xfrm>
            <a:off x="430040" y="7497000"/>
            <a:ext cx="640000" cy="185000"/>
          </a:xfrm>
          <a:prstGeom prst="rect">
            <a:avLst/>
          </a:prstGeom>
          <a:noFill/>
        </p:spPr>
        <p:txBody>
          <a:bodyPr wrap="square" anchor="t" lIns="0" rIns="0" tIns="0" bIns="0">
            <a:spAutoFit/>
          </a:bodyPr>
          <a:lstStyle/>
          <a:p>
            <a:pPr algn="l"/>
            <a:r>
              <a:rPr sz="700" b="0">
                <a:solidFill>
                  <a:srgbClr val="20242A"/>
                </a:solidFill>
                <a:latin typeface="Calibri"/>
              </a:rPr>
              <a:t>21.99 m</a:t>
            </a:r>
          </a:p>
        </p:txBody>
      </p:sp>
      <p:sp>
        <p:nvSpPr>
          <p:cNvPr id="76" name="TextBox 75"/>
          <p:cNvSpPr txBox="1"/>
          <p:nvPr/>
        </p:nvSpPr>
        <p:spPr>
          <a:xfrm>
            <a:off x="1070040" y="7497000"/>
            <a:ext cx="1620000" cy="185000"/>
          </a:xfrm>
          <a:prstGeom prst="rect">
            <a:avLst/>
          </a:prstGeom>
          <a:noFill/>
        </p:spPr>
        <p:txBody>
          <a:bodyPr wrap="square" anchor="t" lIns="0" rIns="0" tIns="0" bIns="0">
            <a:spAutoFit/>
          </a:bodyPr>
          <a:lstStyle/>
          <a:p>
            <a:pPr algn="l"/>
            <a:r>
              <a:rPr sz="700" b="0">
                <a:solidFill>
                  <a:srgbClr val="20242A"/>
                </a:solidFill>
                <a:latin typeface="Calibri"/>
              </a:rPr>
              <a:t>Taxiway centreline light</a:t>
            </a:r>
          </a:p>
        </p:txBody>
      </p:sp>
      <p:sp>
        <p:nvSpPr>
          <p:cNvPr id="77" name="TextBox 76"/>
          <p:cNvSpPr txBox="1"/>
          <p:nvPr/>
        </p:nvSpPr>
        <p:spPr>
          <a:xfrm>
            <a:off x="2690040" y="7497000"/>
            <a:ext cx="1150000" cy="185000"/>
          </a:xfrm>
          <a:prstGeom prst="rect">
            <a:avLst/>
          </a:prstGeom>
          <a:noFill/>
        </p:spPr>
        <p:txBody>
          <a:bodyPr wrap="square" anchor="t" lIns="0" rIns="0" tIns="0" bIns="0">
            <a:spAutoFit/>
          </a:bodyPr>
          <a:lstStyle/>
          <a:p>
            <a:pPr algn="l"/>
            <a:r>
              <a:rPr sz="700" b="0">
                <a:solidFill>
                  <a:srgbClr val="20242A"/>
                </a:solidFill>
                <a:latin typeface="Calibri"/>
              </a:rPr>
              <a:t>EL-TAXICL</a:t>
            </a:r>
          </a:p>
        </p:txBody>
      </p:sp>
      <p:sp>
        <p:nvSpPr>
          <p:cNvPr id="78" name="TextBox 77"/>
          <p:cNvSpPr txBox="1"/>
          <p:nvPr/>
        </p:nvSpPr>
        <p:spPr>
          <a:xfrm>
            <a:off x="3840040" y="7497000"/>
            <a:ext cx="900000" cy="185000"/>
          </a:xfrm>
          <a:prstGeom prst="rect">
            <a:avLst/>
          </a:prstGeom>
          <a:noFill/>
        </p:spPr>
        <p:txBody>
          <a:bodyPr wrap="square" anchor="t" lIns="0" rIns="0" tIns="0" bIns="0">
            <a:spAutoFit/>
          </a:bodyPr>
          <a:lstStyle/>
          <a:p>
            <a:pPr algn="l"/>
            <a:r>
              <a:rPr sz="700" b="0">
                <a:solidFill>
                  <a:srgbClr val="20242A"/>
                </a:solidFill>
                <a:latin typeface="Calibri"/>
              </a:rPr>
              <a:t>0.00 m</a:t>
            </a:r>
          </a:p>
        </p:txBody>
      </p:sp>
      <p:sp>
        <p:nvSpPr>
          <p:cNvPr id="79" name="TextBox 78"/>
          <p:cNvSpPr txBox="1"/>
          <p:nvPr/>
        </p:nvSpPr>
        <p:spPr>
          <a:xfrm>
            <a:off x="430040" y="7685000"/>
            <a:ext cx="640000" cy="185000"/>
          </a:xfrm>
          <a:prstGeom prst="rect">
            <a:avLst/>
          </a:prstGeom>
          <a:noFill/>
        </p:spPr>
        <p:txBody>
          <a:bodyPr wrap="square" anchor="t" lIns="0" rIns="0" tIns="0" bIns="0">
            <a:spAutoFit/>
          </a:bodyPr>
          <a:lstStyle/>
          <a:p>
            <a:pPr algn="l"/>
            <a:r>
              <a:rPr sz="700" b="0">
                <a:solidFill>
                  <a:srgbClr val="20242A"/>
                </a:solidFill>
                <a:latin typeface="Calibri"/>
              </a:rPr>
              <a:t>21.24 m</a:t>
            </a:r>
          </a:p>
        </p:txBody>
      </p:sp>
      <p:sp>
        <p:nvSpPr>
          <p:cNvPr id="80" name="TextBox 79"/>
          <p:cNvSpPr txBox="1"/>
          <p:nvPr/>
        </p:nvSpPr>
        <p:spPr>
          <a:xfrm>
            <a:off x="1070040" y="7685000"/>
            <a:ext cx="1620000" cy="185000"/>
          </a:xfrm>
          <a:prstGeom prst="rect">
            <a:avLst/>
          </a:prstGeom>
          <a:noFill/>
        </p:spPr>
        <p:txBody>
          <a:bodyPr wrap="square" anchor="t" lIns="0" rIns="0" tIns="0" bIns="0">
            <a:spAutoFit/>
          </a:bodyPr>
          <a:lstStyle/>
          <a:p>
            <a:pPr algn="l"/>
            <a:r>
              <a:rPr sz="700" b="0">
                <a:solidFill>
                  <a:srgbClr val="20242A"/>
                </a:solidFill>
                <a:latin typeface="Calibri"/>
              </a:rPr>
              <a:t>Stop bar light</a:t>
            </a:r>
          </a:p>
        </p:txBody>
      </p:sp>
      <p:sp>
        <p:nvSpPr>
          <p:cNvPr id="81" name="TextBox 80"/>
          <p:cNvSpPr txBox="1"/>
          <p:nvPr/>
        </p:nvSpPr>
        <p:spPr>
          <a:xfrm>
            <a:off x="2690040" y="7685000"/>
            <a:ext cx="1150000" cy="185000"/>
          </a:xfrm>
          <a:prstGeom prst="rect">
            <a:avLst/>
          </a:prstGeom>
          <a:noFill/>
        </p:spPr>
        <p:txBody>
          <a:bodyPr wrap="square" anchor="t" lIns="0" rIns="0" tIns="0" bIns="0">
            <a:spAutoFit/>
          </a:bodyPr>
          <a:lstStyle/>
          <a:p>
            <a:pPr algn="l"/>
            <a:r>
              <a:rPr sz="700" b="0">
                <a:solidFill>
                  <a:srgbClr val="20242A"/>
                </a:solidFill>
                <a:latin typeface="Calibri"/>
              </a:rPr>
              <a:t>EL-STOPBAR</a:t>
            </a:r>
          </a:p>
        </p:txBody>
      </p:sp>
      <p:sp>
        <p:nvSpPr>
          <p:cNvPr id="82" name="TextBox 81"/>
          <p:cNvSpPr txBox="1"/>
          <p:nvPr/>
        </p:nvSpPr>
        <p:spPr>
          <a:xfrm>
            <a:off x="3840040" y="7685000"/>
            <a:ext cx="900000" cy="185000"/>
          </a:xfrm>
          <a:prstGeom prst="rect">
            <a:avLst/>
          </a:prstGeom>
          <a:noFill/>
        </p:spPr>
        <p:txBody>
          <a:bodyPr wrap="square" anchor="t" lIns="0" rIns="0" tIns="0" bIns="0">
            <a:spAutoFit/>
          </a:bodyPr>
          <a:lstStyle/>
          <a:p>
            <a:pPr algn="l"/>
            <a:r>
              <a:rPr sz="700" b="0">
                <a:solidFill>
                  <a:srgbClr val="20242A"/>
                </a:solidFill>
                <a:latin typeface="Calibri"/>
              </a:rPr>
              <a:t>0.00 m</a:t>
            </a:r>
          </a:p>
        </p:txBody>
      </p:sp>
      <p:sp>
        <p:nvSpPr>
          <p:cNvPr id="83" name="TextBox 82"/>
          <p:cNvSpPr txBox="1"/>
          <p:nvPr/>
        </p:nvSpPr>
        <p:spPr>
          <a:xfrm>
            <a:off x="430040" y="7873000"/>
            <a:ext cx="640000" cy="185000"/>
          </a:xfrm>
          <a:prstGeom prst="rect">
            <a:avLst/>
          </a:prstGeom>
          <a:noFill/>
        </p:spPr>
        <p:txBody>
          <a:bodyPr wrap="square" anchor="t" lIns="0" rIns="0" tIns="0" bIns="0">
            <a:spAutoFit/>
          </a:bodyPr>
          <a:lstStyle/>
          <a:p>
            <a:pPr algn="l"/>
            <a:r>
              <a:rPr sz="700" b="0">
                <a:solidFill>
                  <a:srgbClr val="20242A"/>
                </a:solidFill>
                <a:latin typeface="Calibri"/>
              </a:rPr>
              <a:t>19.86 m</a:t>
            </a:r>
          </a:p>
        </p:txBody>
      </p:sp>
      <p:sp>
        <p:nvSpPr>
          <p:cNvPr id="84" name="TextBox 83"/>
          <p:cNvSpPr txBox="1"/>
          <p:nvPr/>
        </p:nvSpPr>
        <p:spPr>
          <a:xfrm>
            <a:off x="1070040" y="7873000"/>
            <a:ext cx="1620000" cy="185000"/>
          </a:xfrm>
          <a:prstGeom prst="rect">
            <a:avLst/>
          </a:prstGeom>
          <a:noFill/>
        </p:spPr>
        <p:txBody>
          <a:bodyPr wrap="square" anchor="t" lIns="0" rIns="0" tIns="0" bIns="0">
            <a:spAutoFit/>
          </a:bodyPr>
          <a:lstStyle/>
          <a:p>
            <a:pPr algn="l"/>
            <a:r>
              <a:rPr sz="700" b="0">
                <a:solidFill>
                  <a:srgbClr val="20242A"/>
                </a:solidFill>
                <a:latin typeface="Calibri"/>
              </a:rPr>
              <a:t>Taxiway centreline light</a:t>
            </a:r>
          </a:p>
        </p:txBody>
      </p:sp>
      <p:sp>
        <p:nvSpPr>
          <p:cNvPr id="85" name="TextBox 84"/>
          <p:cNvSpPr txBox="1"/>
          <p:nvPr/>
        </p:nvSpPr>
        <p:spPr>
          <a:xfrm>
            <a:off x="2690040" y="7873000"/>
            <a:ext cx="1150000" cy="185000"/>
          </a:xfrm>
          <a:prstGeom prst="rect">
            <a:avLst/>
          </a:prstGeom>
          <a:noFill/>
        </p:spPr>
        <p:txBody>
          <a:bodyPr wrap="square" anchor="t" lIns="0" rIns="0" tIns="0" bIns="0">
            <a:spAutoFit/>
          </a:bodyPr>
          <a:lstStyle/>
          <a:p>
            <a:pPr algn="l"/>
            <a:r>
              <a:rPr sz="700" b="0">
                <a:solidFill>
                  <a:srgbClr val="20242A"/>
                </a:solidFill>
                <a:latin typeface="Calibri"/>
              </a:rPr>
              <a:t>EL-TAXICL</a:t>
            </a:r>
          </a:p>
        </p:txBody>
      </p:sp>
      <p:sp>
        <p:nvSpPr>
          <p:cNvPr id="86" name="TextBox 85"/>
          <p:cNvSpPr txBox="1"/>
          <p:nvPr/>
        </p:nvSpPr>
        <p:spPr>
          <a:xfrm>
            <a:off x="3840040" y="7873000"/>
            <a:ext cx="900000" cy="185000"/>
          </a:xfrm>
          <a:prstGeom prst="rect">
            <a:avLst/>
          </a:prstGeom>
          <a:noFill/>
        </p:spPr>
        <p:txBody>
          <a:bodyPr wrap="square" anchor="t" lIns="0" rIns="0" tIns="0" bIns="0">
            <a:spAutoFit/>
          </a:bodyPr>
          <a:lstStyle/>
          <a:p>
            <a:pPr algn="l"/>
            <a:r>
              <a:rPr sz="700" b="0">
                <a:solidFill>
                  <a:srgbClr val="20242A"/>
                </a:solidFill>
                <a:latin typeface="Calibri"/>
              </a:rPr>
              <a:t>0.00 m</a:t>
            </a:r>
          </a:p>
        </p:txBody>
      </p:sp>
      <p:sp>
        <p:nvSpPr>
          <p:cNvPr id="87" name="TextBox 86"/>
          <p:cNvSpPr txBox="1"/>
          <p:nvPr/>
        </p:nvSpPr>
        <p:spPr>
          <a:xfrm>
            <a:off x="430040" y="8061000"/>
            <a:ext cx="640000" cy="185000"/>
          </a:xfrm>
          <a:prstGeom prst="rect">
            <a:avLst/>
          </a:prstGeom>
          <a:noFill/>
        </p:spPr>
        <p:txBody>
          <a:bodyPr wrap="square" anchor="t" lIns="0" rIns="0" tIns="0" bIns="0">
            <a:spAutoFit/>
          </a:bodyPr>
          <a:lstStyle/>
          <a:p>
            <a:pPr algn="l"/>
            <a:r>
              <a:rPr sz="700" b="0">
                <a:solidFill>
                  <a:srgbClr val="20242A"/>
                </a:solidFill>
                <a:latin typeface="Calibri"/>
              </a:rPr>
              <a:t>19.69 m</a:t>
            </a:r>
          </a:p>
        </p:txBody>
      </p:sp>
      <p:sp>
        <p:nvSpPr>
          <p:cNvPr id="88" name="TextBox 87"/>
          <p:cNvSpPr txBox="1"/>
          <p:nvPr/>
        </p:nvSpPr>
        <p:spPr>
          <a:xfrm>
            <a:off x="1070040" y="8061000"/>
            <a:ext cx="1620000" cy="185000"/>
          </a:xfrm>
          <a:prstGeom prst="rect">
            <a:avLst/>
          </a:prstGeom>
          <a:noFill/>
        </p:spPr>
        <p:txBody>
          <a:bodyPr wrap="square" anchor="t" lIns="0" rIns="0" tIns="0" bIns="0">
            <a:spAutoFit/>
          </a:bodyPr>
          <a:lstStyle/>
          <a:p>
            <a:pPr algn="l"/>
            <a:r>
              <a:rPr sz="700" b="0">
                <a:solidFill>
                  <a:srgbClr val="20242A"/>
                </a:solidFill>
                <a:latin typeface="Calibri"/>
              </a:rPr>
              <a:t>Taxiway centreline light</a:t>
            </a:r>
          </a:p>
        </p:txBody>
      </p:sp>
      <p:sp>
        <p:nvSpPr>
          <p:cNvPr id="89" name="TextBox 88"/>
          <p:cNvSpPr txBox="1"/>
          <p:nvPr/>
        </p:nvSpPr>
        <p:spPr>
          <a:xfrm>
            <a:off x="2690040" y="8061000"/>
            <a:ext cx="1150000" cy="185000"/>
          </a:xfrm>
          <a:prstGeom prst="rect">
            <a:avLst/>
          </a:prstGeom>
          <a:noFill/>
        </p:spPr>
        <p:txBody>
          <a:bodyPr wrap="square" anchor="t" lIns="0" rIns="0" tIns="0" bIns="0">
            <a:spAutoFit/>
          </a:bodyPr>
          <a:lstStyle/>
          <a:p>
            <a:pPr algn="l"/>
            <a:r>
              <a:rPr sz="700" b="0">
                <a:solidFill>
                  <a:srgbClr val="20242A"/>
                </a:solidFill>
                <a:latin typeface="Calibri"/>
              </a:rPr>
              <a:t>EL-TAXICL</a:t>
            </a:r>
          </a:p>
        </p:txBody>
      </p:sp>
      <p:sp>
        <p:nvSpPr>
          <p:cNvPr id="90" name="TextBox 89"/>
          <p:cNvSpPr txBox="1"/>
          <p:nvPr/>
        </p:nvSpPr>
        <p:spPr>
          <a:xfrm>
            <a:off x="3840040" y="8061000"/>
            <a:ext cx="900000" cy="185000"/>
          </a:xfrm>
          <a:prstGeom prst="rect">
            <a:avLst/>
          </a:prstGeom>
          <a:noFill/>
        </p:spPr>
        <p:txBody>
          <a:bodyPr wrap="square" anchor="t" lIns="0" rIns="0" tIns="0" bIns="0">
            <a:spAutoFit/>
          </a:bodyPr>
          <a:lstStyle/>
          <a:p>
            <a:pPr algn="l"/>
            <a:r>
              <a:rPr sz="700" b="0">
                <a:solidFill>
                  <a:srgbClr val="20242A"/>
                </a:solidFill>
                <a:latin typeface="Calibri"/>
              </a:rPr>
              <a:t>0.00 m</a:t>
            </a:r>
          </a:p>
        </p:txBody>
      </p:sp>
      <p:sp>
        <p:nvSpPr>
          <p:cNvPr id="91" name="TextBox 90"/>
          <p:cNvSpPr txBox="1"/>
          <p:nvPr/>
        </p:nvSpPr>
        <p:spPr>
          <a:xfrm>
            <a:off x="430040" y="8249000"/>
            <a:ext cx="640000" cy="185000"/>
          </a:xfrm>
          <a:prstGeom prst="rect">
            <a:avLst/>
          </a:prstGeom>
          <a:noFill/>
        </p:spPr>
        <p:txBody>
          <a:bodyPr wrap="square" anchor="t" lIns="0" rIns="0" tIns="0" bIns="0">
            <a:spAutoFit/>
          </a:bodyPr>
          <a:lstStyle/>
          <a:p>
            <a:pPr algn="l"/>
            <a:r>
              <a:rPr sz="700" b="0">
                <a:solidFill>
                  <a:srgbClr val="20242A"/>
                </a:solidFill>
                <a:latin typeface="Calibri"/>
              </a:rPr>
              <a:t>18.29 m</a:t>
            </a:r>
          </a:p>
        </p:txBody>
      </p:sp>
      <p:sp>
        <p:nvSpPr>
          <p:cNvPr id="92" name="TextBox 91"/>
          <p:cNvSpPr txBox="1"/>
          <p:nvPr/>
        </p:nvSpPr>
        <p:spPr>
          <a:xfrm>
            <a:off x="1070040" y="8249000"/>
            <a:ext cx="1620000" cy="185000"/>
          </a:xfrm>
          <a:prstGeom prst="rect">
            <a:avLst/>
          </a:prstGeom>
          <a:noFill/>
        </p:spPr>
        <p:txBody>
          <a:bodyPr wrap="square" anchor="t" lIns="0" rIns="0" tIns="0" bIns="0">
            <a:spAutoFit/>
          </a:bodyPr>
          <a:lstStyle/>
          <a:p>
            <a:pPr algn="l"/>
            <a:r>
              <a:rPr sz="700" b="0">
                <a:solidFill>
                  <a:srgbClr val="20242A"/>
                </a:solidFill>
                <a:latin typeface="Calibri"/>
              </a:rPr>
              <a:t>Stop bar light</a:t>
            </a:r>
          </a:p>
        </p:txBody>
      </p:sp>
      <p:sp>
        <p:nvSpPr>
          <p:cNvPr id="93" name="TextBox 92"/>
          <p:cNvSpPr txBox="1"/>
          <p:nvPr/>
        </p:nvSpPr>
        <p:spPr>
          <a:xfrm>
            <a:off x="2690040" y="8249000"/>
            <a:ext cx="1150000" cy="185000"/>
          </a:xfrm>
          <a:prstGeom prst="rect">
            <a:avLst/>
          </a:prstGeom>
          <a:noFill/>
        </p:spPr>
        <p:txBody>
          <a:bodyPr wrap="square" anchor="t" lIns="0" rIns="0" tIns="0" bIns="0">
            <a:spAutoFit/>
          </a:bodyPr>
          <a:lstStyle/>
          <a:p>
            <a:pPr algn="l"/>
            <a:r>
              <a:rPr sz="700" b="0">
                <a:solidFill>
                  <a:srgbClr val="20242A"/>
                </a:solidFill>
                <a:latin typeface="Calibri"/>
              </a:rPr>
              <a:t>EL-STOPBAR</a:t>
            </a:r>
          </a:p>
        </p:txBody>
      </p:sp>
      <p:sp>
        <p:nvSpPr>
          <p:cNvPr id="94" name="TextBox 93"/>
          <p:cNvSpPr txBox="1"/>
          <p:nvPr/>
        </p:nvSpPr>
        <p:spPr>
          <a:xfrm>
            <a:off x="3840040" y="8249000"/>
            <a:ext cx="900000" cy="185000"/>
          </a:xfrm>
          <a:prstGeom prst="rect">
            <a:avLst/>
          </a:prstGeom>
          <a:noFill/>
        </p:spPr>
        <p:txBody>
          <a:bodyPr wrap="square" anchor="t" lIns="0" rIns="0" tIns="0" bIns="0">
            <a:spAutoFit/>
          </a:bodyPr>
          <a:lstStyle/>
          <a:p>
            <a:pPr algn="l"/>
            <a:r>
              <a:rPr sz="700" b="0">
                <a:solidFill>
                  <a:srgbClr val="20242A"/>
                </a:solidFill>
                <a:latin typeface="Calibri"/>
              </a:rPr>
              <a:t>0.00 m</a:t>
            </a:r>
          </a:p>
        </p:txBody>
      </p:sp>
      <p:sp>
        <p:nvSpPr>
          <p:cNvPr id="95" name="TextBox 94"/>
          <p:cNvSpPr txBox="1"/>
          <p:nvPr/>
        </p:nvSpPr>
        <p:spPr>
          <a:xfrm>
            <a:off x="430040" y="8437000"/>
            <a:ext cx="640000" cy="185000"/>
          </a:xfrm>
          <a:prstGeom prst="rect">
            <a:avLst/>
          </a:prstGeom>
          <a:noFill/>
        </p:spPr>
        <p:txBody>
          <a:bodyPr wrap="square" anchor="t" lIns="0" rIns="0" tIns="0" bIns="0">
            <a:spAutoFit/>
          </a:bodyPr>
          <a:lstStyle/>
          <a:p>
            <a:pPr algn="l"/>
            <a:r>
              <a:rPr sz="700" b="0">
                <a:solidFill>
                  <a:srgbClr val="20242A"/>
                </a:solidFill>
                <a:latin typeface="Calibri"/>
              </a:rPr>
              <a:t>15.37 m</a:t>
            </a:r>
          </a:p>
        </p:txBody>
      </p:sp>
      <p:sp>
        <p:nvSpPr>
          <p:cNvPr id="96" name="TextBox 95"/>
          <p:cNvSpPr txBox="1"/>
          <p:nvPr/>
        </p:nvSpPr>
        <p:spPr>
          <a:xfrm>
            <a:off x="1070040" y="8437000"/>
            <a:ext cx="1620000" cy="185000"/>
          </a:xfrm>
          <a:prstGeom prst="rect">
            <a:avLst/>
          </a:prstGeom>
          <a:noFill/>
        </p:spPr>
        <p:txBody>
          <a:bodyPr wrap="square" anchor="t" lIns="0" rIns="0" tIns="0" bIns="0">
            <a:spAutoFit/>
          </a:bodyPr>
          <a:lstStyle/>
          <a:p>
            <a:pPr algn="l"/>
            <a:r>
              <a:rPr sz="700" b="0">
                <a:solidFill>
                  <a:srgbClr val="20242A"/>
                </a:solidFill>
                <a:latin typeface="Calibri"/>
              </a:rPr>
              <a:t>Stop bar light</a:t>
            </a:r>
          </a:p>
        </p:txBody>
      </p:sp>
      <p:sp>
        <p:nvSpPr>
          <p:cNvPr id="97" name="TextBox 96"/>
          <p:cNvSpPr txBox="1"/>
          <p:nvPr/>
        </p:nvSpPr>
        <p:spPr>
          <a:xfrm>
            <a:off x="2690040" y="8437000"/>
            <a:ext cx="1150000" cy="185000"/>
          </a:xfrm>
          <a:prstGeom prst="rect">
            <a:avLst/>
          </a:prstGeom>
          <a:noFill/>
        </p:spPr>
        <p:txBody>
          <a:bodyPr wrap="square" anchor="t" lIns="0" rIns="0" tIns="0" bIns="0">
            <a:spAutoFit/>
          </a:bodyPr>
          <a:lstStyle/>
          <a:p>
            <a:pPr algn="l"/>
            <a:r>
              <a:rPr sz="700" b="0">
                <a:solidFill>
                  <a:srgbClr val="20242A"/>
                </a:solidFill>
                <a:latin typeface="Calibri"/>
              </a:rPr>
              <a:t>EL-STOPBAR</a:t>
            </a:r>
          </a:p>
        </p:txBody>
      </p:sp>
      <p:sp>
        <p:nvSpPr>
          <p:cNvPr id="98" name="TextBox 97"/>
          <p:cNvSpPr txBox="1"/>
          <p:nvPr/>
        </p:nvSpPr>
        <p:spPr>
          <a:xfrm>
            <a:off x="3840040" y="8437000"/>
            <a:ext cx="900000" cy="185000"/>
          </a:xfrm>
          <a:prstGeom prst="rect">
            <a:avLst/>
          </a:prstGeom>
          <a:noFill/>
        </p:spPr>
        <p:txBody>
          <a:bodyPr wrap="square" anchor="t" lIns="0" rIns="0" tIns="0" bIns="0">
            <a:spAutoFit/>
          </a:bodyPr>
          <a:lstStyle/>
          <a:p>
            <a:pPr algn="l"/>
            <a:r>
              <a:rPr sz="700" b="0">
                <a:solidFill>
                  <a:srgbClr val="20242A"/>
                </a:solidFill>
                <a:latin typeface="Calibri"/>
              </a:rPr>
              <a:t>0.00 m</a:t>
            </a:r>
          </a:p>
        </p:txBody>
      </p:sp>
      <p:sp>
        <p:nvSpPr>
          <p:cNvPr id="99" name="TextBox 98"/>
          <p:cNvSpPr txBox="1"/>
          <p:nvPr/>
        </p:nvSpPr>
        <p:spPr>
          <a:xfrm>
            <a:off x="430040" y="8625000"/>
            <a:ext cx="640000" cy="185000"/>
          </a:xfrm>
          <a:prstGeom prst="rect">
            <a:avLst/>
          </a:prstGeom>
          <a:noFill/>
        </p:spPr>
        <p:txBody>
          <a:bodyPr wrap="square" anchor="t" lIns="0" rIns="0" tIns="0" bIns="0">
            <a:spAutoFit/>
          </a:bodyPr>
          <a:lstStyle/>
          <a:p>
            <a:pPr algn="l"/>
            <a:r>
              <a:rPr sz="700" b="0">
                <a:solidFill>
                  <a:srgbClr val="20242A"/>
                </a:solidFill>
                <a:latin typeface="Calibri"/>
              </a:rPr>
              <a:t>12.96 m</a:t>
            </a:r>
          </a:p>
        </p:txBody>
      </p:sp>
      <p:sp>
        <p:nvSpPr>
          <p:cNvPr id="100" name="TextBox 99"/>
          <p:cNvSpPr txBox="1"/>
          <p:nvPr/>
        </p:nvSpPr>
        <p:spPr>
          <a:xfrm>
            <a:off x="1070040" y="8625000"/>
            <a:ext cx="1620000" cy="185000"/>
          </a:xfrm>
          <a:prstGeom prst="rect">
            <a:avLst/>
          </a:prstGeom>
          <a:noFill/>
        </p:spPr>
        <p:txBody>
          <a:bodyPr wrap="square" anchor="t" lIns="0" rIns="0" tIns="0" bIns="0">
            <a:spAutoFit/>
          </a:bodyPr>
          <a:lstStyle/>
          <a:p>
            <a:pPr algn="l"/>
            <a:r>
              <a:rPr sz="700" b="0">
                <a:solidFill>
                  <a:srgbClr val="20242A"/>
                </a:solidFill>
                <a:latin typeface="Calibri"/>
              </a:rPr>
              <a:t>Sign foundation</a:t>
            </a:r>
          </a:p>
        </p:txBody>
      </p:sp>
      <p:sp>
        <p:nvSpPr>
          <p:cNvPr id="101" name="TextBox 100"/>
          <p:cNvSpPr txBox="1"/>
          <p:nvPr/>
        </p:nvSpPr>
        <p:spPr>
          <a:xfrm>
            <a:off x="2690040" y="8625000"/>
            <a:ext cx="1150000" cy="185000"/>
          </a:xfrm>
          <a:prstGeom prst="rect">
            <a:avLst/>
          </a:prstGeom>
          <a:noFill/>
        </p:spPr>
        <p:txBody>
          <a:bodyPr wrap="square" anchor="t" lIns="0" rIns="0" tIns="0" bIns="0">
            <a:spAutoFit/>
          </a:bodyPr>
          <a:lstStyle/>
          <a:p>
            <a:pPr algn="l"/>
            <a:r>
              <a:rPr sz="700" b="0">
                <a:solidFill>
                  <a:srgbClr val="20242A"/>
                </a:solidFill>
                <a:latin typeface="Calibri"/>
              </a:rPr>
              <a:t>EL-SGN-FNDTN</a:t>
            </a:r>
          </a:p>
        </p:txBody>
      </p:sp>
      <p:sp>
        <p:nvSpPr>
          <p:cNvPr id="102" name="TextBox 101"/>
          <p:cNvSpPr txBox="1"/>
          <p:nvPr/>
        </p:nvSpPr>
        <p:spPr>
          <a:xfrm>
            <a:off x="3840040" y="8625000"/>
            <a:ext cx="900000" cy="185000"/>
          </a:xfrm>
          <a:prstGeom prst="rect">
            <a:avLst/>
          </a:prstGeom>
          <a:noFill/>
        </p:spPr>
        <p:txBody>
          <a:bodyPr wrap="square" anchor="t" lIns="0" rIns="0" tIns="0" bIns="0">
            <a:spAutoFit/>
          </a:bodyPr>
          <a:lstStyle/>
          <a:p>
            <a:pPr algn="l"/>
            <a:r>
              <a:rPr sz="700" b="0">
                <a:solidFill>
                  <a:srgbClr val="20242A"/>
                </a:solidFill>
                <a:latin typeface="Calibri"/>
              </a:rPr>
              <a:t>0.00 m</a:t>
            </a:r>
          </a:p>
        </p:txBody>
      </p:sp>
      <p:sp>
        <p:nvSpPr>
          <p:cNvPr id="103" name="TextBox 102"/>
          <p:cNvSpPr txBox="1"/>
          <p:nvPr/>
        </p:nvSpPr>
        <p:spPr>
          <a:xfrm>
            <a:off x="430040" y="8813000"/>
            <a:ext cx="640000" cy="185000"/>
          </a:xfrm>
          <a:prstGeom prst="rect">
            <a:avLst/>
          </a:prstGeom>
          <a:noFill/>
        </p:spPr>
        <p:txBody>
          <a:bodyPr wrap="square" anchor="t" lIns="0" rIns="0" tIns="0" bIns="0">
            <a:spAutoFit/>
          </a:bodyPr>
          <a:lstStyle/>
          <a:p>
            <a:pPr algn="l"/>
            <a:r>
              <a:rPr sz="700" b="0">
                <a:solidFill>
                  <a:srgbClr val="20242A"/>
                </a:solidFill>
                <a:latin typeface="Calibri"/>
              </a:rPr>
              <a:t>12.84 m</a:t>
            </a:r>
          </a:p>
        </p:txBody>
      </p:sp>
      <p:sp>
        <p:nvSpPr>
          <p:cNvPr id="104" name="TextBox 103"/>
          <p:cNvSpPr txBox="1"/>
          <p:nvPr/>
        </p:nvSpPr>
        <p:spPr>
          <a:xfrm>
            <a:off x="1070040" y="8813000"/>
            <a:ext cx="1620000" cy="185000"/>
          </a:xfrm>
          <a:prstGeom prst="rect">
            <a:avLst/>
          </a:prstGeom>
          <a:noFill/>
        </p:spPr>
        <p:txBody>
          <a:bodyPr wrap="square" anchor="t" lIns="0" rIns="0" tIns="0" bIns="0">
            <a:spAutoFit/>
          </a:bodyPr>
          <a:lstStyle/>
          <a:p>
            <a:pPr algn="l"/>
            <a:r>
              <a:rPr sz="700" b="0">
                <a:solidFill>
                  <a:srgbClr val="20242A"/>
                </a:solidFill>
                <a:latin typeface="Calibri"/>
              </a:rPr>
              <a:t>Sign foundation</a:t>
            </a:r>
          </a:p>
        </p:txBody>
      </p:sp>
      <p:sp>
        <p:nvSpPr>
          <p:cNvPr id="105" name="TextBox 104"/>
          <p:cNvSpPr txBox="1"/>
          <p:nvPr/>
        </p:nvSpPr>
        <p:spPr>
          <a:xfrm>
            <a:off x="2690040" y="8813000"/>
            <a:ext cx="1150000" cy="185000"/>
          </a:xfrm>
          <a:prstGeom prst="rect">
            <a:avLst/>
          </a:prstGeom>
          <a:noFill/>
        </p:spPr>
        <p:txBody>
          <a:bodyPr wrap="square" anchor="t" lIns="0" rIns="0" tIns="0" bIns="0">
            <a:spAutoFit/>
          </a:bodyPr>
          <a:lstStyle/>
          <a:p>
            <a:pPr algn="l"/>
            <a:r>
              <a:rPr sz="700" b="0">
                <a:solidFill>
                  <a:srgbClr val="20242A"/>
                </a:solidFill>
                <a:latin typeface="Calibri"/>
              </a:rPr>
              <a:t>EL-SGN-FNDTN</a:t>
            </a:r>
          </a:p>
        </p:txBody>
      </p:sp>
      <p:sp>
        <p:nvSpPr>
          <p:cNvPr id="106" name="TextBox 105"/>
          <p:cNvSpPr txBox="1"/>
          <p:nvPr/>
        </p:nvSpPr>
        <p:spPr>
          <a:xfrm>
            <a:off x="3840040" y="8813000"/>
            <a:ext cx="900000" cy="185000"/>
          </a:xfrm>
          <a:prstGeom prst="rect">
            <a:avLst/>
          </a:prstGeom>
          <a:noFill/>
        </p:spPr>
        <p:txBody>
          <a:bodyPr wrap="square" anchor="t" lIns="0" rIns="0" tIns="0" bIns="0">
            <a:spAutoFit/>
          </a:bodyPr>
          <a:lstStyle/>
          <a:p>
            <a:pPr algn="l"/>
            <a:r>
              <a:rPr sz="700" b="0">
                <a:solidFill>
                  <a:srgbClr val="A64B00"/>
                </a:solidFill>
                <a:latin typeface="Calibri"/>
              </a:rPr>
              <a:t>0.28 m !</a:t>
            </a:r>
          </a:p>
        </p:txBody>
      </p:sp>
      <p:sp>
        <p:nvSpPr>
          <p:cNvPr id="107" name="TextBox 106"/>
          <p:cNvSpPr txBox="1"/>
          <p:nvPr/>
        </p:nvSpPr>
        <p:spPr>
          <a:xfrm>
            <a:off x="430040" y="9001000"/>
            <a:ext cx="640000" cy="185000"/>
          </a:xfrm>
          <a:prstGeom prst="rect">
            <a:avLst/>
          </a:prstGeom>
          <a:noFill/>
        </p:spPr>
        <p:txBody>
          <a:bodyPr wrap="square" anchor="t" lIns="0" rIns="0" tIns="0" bIns="0">
            <a:spAutoFit/>
          </a:bodyPr>
          <a:lstStyle/>
          <a:p>
            <a:pPr algn="l"/>
            <a:r>
              <a:rPr sz="700" b="0">
                <a:solidFill>
                  <a:srgbClr val="20242A"/>
                </a:solidFill>
                <a:latin typeface="Calibri"/>
              </a:rPr>
              <a:t>12.48 m</a:t>
            </a:r>
          </a:p>
        </p:txBody>
      </p:sp>
      <p:sp>
        <p:nvSpPr>
          <p:cNvPr id="108" name="TextBox 107"/>
          <p:cNvSpPr txBox="1"/>
          <p:nvPr/>
        </p:nvSpPr>
        <p:spPr>
          <a:xfrm>
            <a:off x="1070040" y="9001000"/>
            <a:ext cx="1620000" cy="185000"/>
          </a:xfrm>
          <a:prstGeom prst="rect">
            <a:avLst/>
          </a:prstGeom>
          <a:noFill/>
        </p:spPr>
        <p:txBody>
          <a:bodyPr wrap="square" anchor="t" lIns="0" rIns="0" tIns="0" bIns="0">
            <a:spAutoFit/>
          </a:bodyPr>
          <a:lstStyle/>
          <a:p>
            <a:pPr algn="l"/>
            <a:r>
              <a:rPr sz="700" b="0">
                <a:solidFill>
                  <a:srgbClr val="20242A"/>
                </a:solidFill>
                <a:latin typeface="Calibri"/>
              </a:rPr>
              <a:t>Stop bar light</a:t>
            </a:r>
          </a:p>
        </p:txBody>
      </p:sp>
      <p:sp>
        <p:nvSpPr>
          <p:cNvPr id="109" name="TextBox 108"/>
          <p:cNvSpPr txBox="1"/>
          <p:nvPr/>
        </p:nvSpPr>
        <p:spPr>
          <a:xfrm>
            <a:off x="2690040" y="9001000"/>
            <a:ext cx="1150000" cy="185000"/>
          </a:xfrm>
          <a:prstGeom prst="rect">
            <a:avLst/>
          </a:prstGeom>
          <a:noFill/>
        </p:spPr>
        <p:txBody>
          <a:bodyPr wrap="square" anchor="t" lIns="0" rIns="0" tIns="0" bIns="0">
            <a:spAutoFit/>
          </a:bodyPr>
          <a:lstStyle/>
          <a:p>
            <a:pPr algn="l"/>
            <a:r>
              <a:rPr sz="700" b="0">
                <a:solidFill>
                  <a:srgbClr val="20242A"/>
                </a:solidFill>
                <a:latin typeface="Calibri"/>
              </a:rPr>
              <a:t>EL-STOPBAR</a:t>
            </a:r>
          </a:p>
        </p:txBody>
      </p:sp>
      <p:sp>
        <p:nvSpPr>
          <p:cNvPr id="110" name="TextBox 109"/>
          <p:cNvSpPr txBox="1"/>
          <p:nvPr/>
        </p:nvSpPr>
        <p:spPr>
          <a:xfrm>
            <a:off x="3840040" y="9001000"/>
            <a:ext cx="900000" cy="185000"/>
          </a:xfrm>
          <a:prstGeom prst="rect">
            <a:avLst/>
          </a:prstGeom>
          <a:noFill/>
        </p:spPr>
        <p:txBody>
          <a:bodyPr wrap="square" anchor="t" lIns="0" rIns="0" tIns="0" bIns="0">
            <a:spAutoFit/>
          </a:bodyPr>
          <a:lstStyle/>
          <a:p>
            <a:pPr algn="l"/>
            <a:r>
              <a:rPr sz="700" b="0">
                <a:solidFill>
                  <a:srgbClr val="20242A"/>
                </a:solidFill>
                <a:latin typeface="Calibri"/>
              </a:rPr>
              <a:t>0.00 m</a:t>
            </a:r>
          </a:p>
        </p:txBody>
      </p:sp>
      <p:sp>
        <p:nvSpPr>
          <p:cNvPr id="111" name="TextBox 110"/>
          <p:cNvSpPr txBox="1"/>
          <p:nvPr/>
        </p:nvSpPr>
        <p:spPr>
          <a:xfrm>
            <a:off x="430040" y="9189000"/>
            <a:ext cx="640000" cy="185000"/>
          </a:xfrm>
          <a:prstGeom prst="rect">
            <a:avLst/>
          </a:prstGeom>
          <a:noFill/>
        </p:spPr>
        <p:txBody>
          <a:bodyPr wrap="square" anchor="t" lIns="0" rIns="0" tIns="0" bIns="0">
            <a:spAutoFit/>
          </a:bodyPr>
          <a:lstStyle/>
          <a:p>
            <a:pPr algn="l"/>
            <a:r>
              <a:rPr sz="700" b="0">
                <a:solidFill>
                  <a:srgbClr val="20242A"/>
                </a:solidFill>
                <a:latin typeface="Calibri"/>
              </a:rPr>
              <a:t>9.66 m</a:t>
            </a:r>
          </a:p>
        </p:txBody>
      </p:sp>
      <p:sp>
        <p:nvSpPr>
          <p:cNvPr id="112" name="TextBox 111"/>
          <p:cNvSpPr txBox="1"/>
          <p:nvPr/>
        </p:nvSpPr>
        <p:spPr>
          <a:xfrm>
            <a:off x="1070040" y="9189000"/>
            <a:ext cx="1620000" cy="185000"/>
          </a:xfrm>
          <a:prstGeom prst="rect">
            <a:avLst/>
          </a:prstGeom>
          <a:noFill/>
        </p:spPr>
        <p:txBody>
          <a:bodyPr wrap="square" anchor="t" lIns="0" rIns="0" tIns="0" bIns="0">
            <a:spAutoFit/>
          </a:bodyPr>
          <a:lstStyle/>
          <a:p>
            <a:pPr algn="l"/>
            <a:r>
              <a:rPr sz="700" b="0">
                <a:solidFill>
                  <a:srgbClr val="20242A"/>
                </a:solidFill>
                <a:latin typeface="Calibri"/>
              </a:rPr>
              <a:t>Stop bar light</a:t>
            </a:r>
          </a:p>
        </p:txBody>
      </p:sp>
      <p:sp>
        <p:nvSpPr>
          <p:cNvPr id="113" name="TextBox 112"/>
          <p:cNvSpPr txBox="1"/>
          <p:nvPr/>
        </p:nvSpPr>
        <p:spPr>
          <a:xfrm>
            <a:off x="2690040" y="9189000"/>
            <a:ext cx="1150000" cy="185000"/>
          </a:xfrm>
          <a:prstGeom prst="rect">
            <a:avLst/>
          </a:prstGeom>
          <a:noFill/>
        </p:spPr>
        <p:txBody>
          <a:bodyPr wrap="square" anchor="t" lIns="0" rIns="0" tIns="0" bIns="0">
            <a:spAutoFit/>
          </a:bodyPr>
          <a:lstStyle/>
          <a:p>
            <a:pPr algn="l"/>
            <a:r>
              <a:rPr sz="700" b="0">
                <a:solidFill>
                  <a:srgbClr val="20242A"/>
                </a:solidFill>
                <a:latin typeface="Calibri"/>
              </a:rPr>
              <a:t>EL-STOPBAR</a:t>
            </a:r>
          </a:p>
        </p:txBody>
      </p:sp>
      <p:sp>
        <p:nvSpPr>
          <p:cNvPr id="114" name="TextBox 113"/>
          <p:cNvSpPr txBox="1"/>
          <p:nvPr/>
        </p:nvSpPr>
        <p:spPr>
          <a:xfrm>
            <a:off x="3840040" y="9189000"/>
            <a:ext cx="900000" cy="185000"/>
          </a:xfrm>
          <a:prstGeom prst="rect">
            <a:avLst/>
          </a:prstGeom>
          <a:noFill/>
        </p:spPr>
        <p:txBody>
          <a:bodyPr wrap="square" anchor="t" lIns="0" rIns="0" tIns="0" bIns="0">
            <a:spAutoFit/>
          </a:bodyPr>
          <a:lstStyle/>
          <a:p>
            <a:pPr algn="l"/>
            <a:r>
              <a:rPr sz="700" b="0">
                <a:solidFill>
                  <a:srgbClr val="20242A"/>
                </a:solidFill>
                <a:latin typeface="Calibri"/>
              </a:rPr>
              <a:t>0.00 m</a:t>
            </a:r>
          </a:p>
        </p:txBody>
      </p:sp>
      <p:sp>
        <p:nvSpPr>
          <p:cNvPr id="115" name="TextBox 114"/>
          <p:cNvSpPr txBox="1"/>
          <p:nvPr/>
        </p:nvSpPr>
        <p:spPr>
          <a:xfrm>
            <a:off x="430040" y="9377000"/>
            <a:ext cx="640000" cy="185000"/>
          </a:xfrm>
          <a:prstGeom prst="rect">
            <a:avLst/>
          </a:prstGeom>
          <a:noFill/>
        </p:spPr>
        <p:txBody>
          <a:bodyPr wrap="square" anchor="t" lIns="0" rIns="0" tIns="0" bIns="0">
            <a:spAutoFit/>
          </a:bodyPr>
          <a:lstStyle/>
          <a:p>
            <a:pPr algn="l"/>
            <a:r>
              <a:rPr sz="700" b="0">
                <a:solidFill>
                  <a:srgbClr val="20242A"/>
                </a:solidFill>
                <a:latin typeface="Calibri"/>
              </a:rPr>
              <a:t>8.85 m</a:t>
            </a:r>
          </a:p>
        </p:txBody>
      </p:sp>
      <p:sp>
        <p:nvSpPr>
          <p:cNvPr id="116" name="TextBox 115"/>
          <p:cNvSpPr txBox="1"/>
          <p:nvPr/>
        </p:nvSpPr>
        <p:spPr>
          <a:xfrm>
            <a:off x="1070040" y="9377000"/>
            <a:ext cx="1620000" cy="185000"/>
          </a:xfrm>
          <a:prstGeom prst="rect">
            <a:avLst/>
          </a:prstGeom>
          <a:noFill/>
        </p:spPr>
        <p:txBody>
          <a:bodyPr wrap="square" anchor="t" lIns="0" rIns="0" tIns="0" bIns="0">
            <a:spAutoFit/>
          </a:bodyPr>
          <a:lstStyle/>
          <a:p>
            <a:pPr algn="l"/>
            <a:r>
              <a:rPr sz="700" b="0">
                <a:solidFill>
                  <a:srgbClr val="20242A"/>
                </a:solidFill>
                <a:latin typeface="Calibri"/>
              </a:rPr>
              <a:t>Handhole</a:t>
            </a:r>
          </a:p>
        </p:txBody>
      </p:sp>
      <p:sp>
        <p:nvSpPr>
          <p:cNvPr id="117" name="TextBox 116"/>
          <p:cNvSpPr txBox="1"/>
          <p:nvPr/>
        </p:nvSpPr>
        <p:spPr>
          <a:xfrm>
            <a:off x="2690040" y="9377000"/>
            <a:ext cx="1150000" cy="185000"/>
          </a:xfrm>
          <a:prstGeom prst="rect">
            <a:avLst/>
          </a:prstGeom>
          <a:noFill/>
        </p:spPr>
        <p:txBody>
          <a:bodyPr wrap="square" anchor="t" lIns="0" rIns="0" tIns="0" bIns="0">
            <a:spAutoFit/>
          </a:bodyPr>
          <a:lstStyle/>
          <a:p>
            <a:pPr algn="l"/>
            <a:r>
              <a:rPr sz="700" b="0">
                <a:solidFill>
                  <a:srgbClr val="20242A"/>
                </a:solidFill>
                <a:latin typeface="Calibri"/>
              </a:rPr>
              <a:t>CV_HH</a:t>
            </a:r>
          </a:p>
        </p:txBody>
      </p:sp>
      <p:sp>
        <p:nvSpPr>
          <p:cNvPr id="118" name="TextBox 117"/>
          <p:cNvSpPr txBox="1"/>
          <p:nvPr/>
        </p:nvSpPr>
        <p:spPr>
          <a:xfrm>
            <a:off x="3840040" y="9377000"/>
            <a:ext cx="900000" cy="185000"/>
          </a:xfrm>
          <a:prstGeom prst="rect">
            <a:avLst/>
          </a:prstGeom>
          <a:noFill/>
        </p:spPr>
        <p:txBody>
          <a:bodyPr wrap="square" anchor="t" lIns="0" rIns="0" tIns="0" bIns="0">
            <a:spAutoFit/>
          </a:bodyPr>
          <a:lstStyle/>
          <a:p>
            <a:pPr algn="l"/>
            <a:r>
              <a:rPr sz="700" b="0">
                <a:solidFill>
                  <a:srgbClr val="20242A"/>
                </a:solidFill>
                <a:latin typeface="Calibri"/>
              </a:rPr>
              <a:t>0.00 m</a:t>
            </a:r>
          </a:p>
        </p:txBody>
      </p:sp>
      <p:sp>
        <p:nvSpPr>
          <p:cNvPr id="119" name="TextBox 118"/>
          <p:cNvSpPr txBox="1"/>
          <p:nvPr/>
        </p:nvSpPr>
        <p:spPr>
          <a:xfrm>
            <a:off x="430040" y="9565000"/>
            <a:ext cx="640000" cy="185000"/>
          </a:xfrm>
          <a:prstGeom prst="rect">
            <a:avLst/>
          </a:prstGeom>
          <a:noFill/>
        </p:spPr>
        <p:txBody>
          <a:bodyPr wrap="square" anchor="t" lIns="0" rIns="0" tIns="0" bIns="0">
            <a:spAutoFit/>
          </a:bodyPr>
          <a:lstStyle/>
          <a:p>
            <a:pPr algn="l"/>
            <a:r>
              <a:rPr sz="700" b="0">
                <a:solidFill>
                  <a:srgbClr val="20242A"/>
                </a:solidFill>
                <a:latin typeface="Calibri"/>
              </a:rPr>
              <a:t>2.83 m</a:t>
            </a:r>
          </a:p>
        </p:txBody>
      </p:sp>
      <p:sp>
        <p:nvSpPr>
          <p:cNvPr id="120" name="TextBox 119"/>
          <p:cNvSpPr txBox="1"/>
          <p:nvPr/>
        </p:nvSpPr>
        <p:spPr>
          <a:xfrm>
            <a:off x="1070040" y="9565000"/>
            <a:ext cx="1620000" cy="185000"/>
          </a:xfrm>
          <a:prstGeom prst="rect">
            <a:avLst/>
          </a:prstGeom>
          <a:noFill/>
        </p:spPr>
        <p:txBody>
          <a:bodyPr wrap="square" anchor="t" lIns="0" rIns="0" tIns="0" bIns="0">
            <a:spAutoFit/>
          </a:bodyPr>
          <a:lstStyle/>
          <a:p>
            <a:pPr algn="l"/>
            <a:r>
              <a:rPr sz="700" b="0">
                <a:solidFill>
                  <a:srgbClr val="20242A"/>
                </a:solidFill>
                <a:latin typeface="Calibri"/>
              </a:rPr>
              <a:t>Existing transformer handhole</a:t>
            </a:r>
          </a:p>
        </p:txBody>
      </p:sp>
      <p:sp>
        <p:nvSpPr>
          <p:cNvPr id="121" name="TextBox 120"/>
          <p:cNvSpPr txBox="1"/>
          <p:nvPr/>
        </p:nvSpPr>
        <p:spPr>
          <a:xfrm>
            <a:off x="2690040" y="9565000"/>
            <a:ext cx="1150000" cy="185000"/>
          </a:xfrm>
          <a:prstGeom prst="rect">
            <a:avLst/>
          </a:prstGeom>
          <a:noFill/>
        </p:spPr>
        <p:txBody>
          <a:bodyPr wrap="square" anchor="t" lIns="0" rIns="0" tIns="0" bIns="0">
            <a:spAutoFit/>
          </a:bodyPr>
          <a:lstStyle/>
          <a:p>
            <a:pPr algn="l"/>
            <a:r>
              <a:rPr sz="700" b="0">
                <a:solidFill>
                  <a:srgbClr val="20242A"/>
                </a:solidFill>
                <a:latin typeface="Calibri"/>
              </a:rPr>
              <a:t>CV_ETRANS HH</a:t>
            </a:r>
          </a:p>
        </p:txBody>
      </p:sp>
      <p:sp>
        <p:nvSpPr>
          <p:cNvPr id="122" name="TextBox 121"/>
          <p:cNvSpPr txBox="1"/>
          <p:nvPr/>
        </p:nvSpPr>
        <p:spPr>
          <a:xfrm>
            <a:off x="3840040" y="9565000"/>
            <a:ext cx="900000" cy="185000"/>
          </a:xfrm>
          <a:prstGeom prst="rect">
            <a:avLst/>
          </a:prstGeom>
          <a:noFill/>
        </p:spPr>
        <p:txBody>
          <a:bodyPr wrap="square" anchor="t" lIns="0" rIns="0" tIns="0" bIns="0">
            <a:spAutoFit/>
          </a:bodyPr>
          <a:lstStyle/>
          <a:p>
            <a:pPr algn="l"/>
            <a:r>
              <a:rPr sz="700" b="0">
                <a:solidFill>
                  <a:srgbClr val="A64B00"/>
                </a:solidFill>
                <a:latin typeface="Calibri"/>
              </a:rPr>
              <a:t>2.83 m !</a:t>
            </a:r>
          </a:p>
        </p:txBody>
      </p:sp>
      <p:sp>
        <p:nvSpPr>
          <p:cNvPr id="123" name="TextBox 122"/>
          <p:cNvSpPr txBox="1"/>
          <p:nvPr/>
        </p:nvSpPr>
        <p:spPr>
          <a:xfrm>
            <a:off x="430040" y="9908638"/>
            <a:ext cx="4501344" cy="200000"/>
          </a:xfrm>
          <a:prstGeom prst="rect">
            <a:avLst/>
          </a:prstGeom>
          <a:noFill/>
        </p:spPr>
        <p:txBody>
          <a:bodyPr wrap="square" anchor="t" lIns="0" rIns="0" tIns="0" bIns="0">
            <a:spAutoFit/>
          </a:bodyPr>
          <a:lstStyle/>
          <a:p>
            <a:pPr algn="l"/>
            <a:r>
              <a:rPr sz="650" b="0">
                <a:solidFill>
                  <a:srgbClr val="5F6368"/>
                </a:solidFill>
                <a:latin typeface="Calibri"/>
              </a:rPr>
              <a:t>!  offset &gt;50 mm — confirm the termination on site</a:t>
            </a:r>
          </a:p>
        </p:txBody>
      </p:sp>
      <p:sp>
        <p:nvSpPr>
          <p:cNvPr id="124" name="Rectangle 123"/>
          <p:cNvSpPr/>
          <p:nvPr/>
        </p:nvSpPr>
        <p:spPr>
          <a:xfrm>
            <a:off x="5201384" y="4100000"/>
            <a:ext cx="4721344" cy="6068638"/>
          </a:xfrm>
          <a:prstGeom prst="rect">
            <a:avLst/>
          </a:prstGeom>
          <a:solidFill>
            <a:srgbClr val="FFFFFF"/>
          </a:solidFill>
          <a:ln w="9525">
            <a:solidFill>
              <a:srgbClr val="D5DA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TextBox 124"/>
          <p:cNvSpPr txBox="1"/>
          <p:nvPr/>
        </p:nvSpPr>
        <p:spPr>
          <a:xfrm>
            <a:off x="5311384" y="4200000"/>
            <a:ext cx="4501344" cy="240000"/>
          </a:xfrm>
          <a:prstGeom prst="rect">
            <a:avLst/>
          </a:prstGeom>
          <a:noFill/>
        </p:spPr>
        <p:txBody>
          <a:bodyPr wrap="square" anchor="t" lIns="0" rIns="0" tIns="0" bIns="0">
            <a:spAutoFit/>
          </a:bodyPr>
          <a:lstStyle/>
          <a:p>
            <a:pPr algn="l"/>
            <a:r>
              <a:rPr sz="950" b="1">
                <a:solidFill>
                  <a:srgbClr val="1E2761"/>
                </a:solidFill>
                <a:latin typeface="Calibri"/>
              </a:rPr>
              <a:t>LOC-02 — DERIVED SPUR SCHEDULE</a:t>
            </a:r>
          </a:p>
        </p:txBody>
      </p:sp>
      <p:sp>
        <p:nvSpPr>
          <p:cNvPr id="126" name="TextBox 125"/>
          <p:cNvSpPr txBox="1"/>
          <p:nvPr/>
        </p:nvSpPr>
        <p:spPr>
          <a:xfrm>
            <a:off x="5311384" y="4430000"/>
            <a:ext cx="4501344" cy="200000"/>
          </a:xfrm>
          <a:prstGeom prst="rect">
            <a:avLst/>
          </a:prstGeom>
          <a:noFill/>
        </p:spPr>
        <p:txBody>
          <a:bodyPr wrap="square" anchor="t" lIns="0" rIns="0" tIns="0" bIns="0">
            <a:spAutoFit/>
          </a:bodyPr>
          <a:lstStyle/>
          <a:p>
            <a:pPr algn="l"/>
            <a:r>
              <a:rPr sz="750" b="0">
                <a:solidFill>
                  <a:srgbClr val="5F6368"/>
                </a:solidFill>
                <a:latin typeface="Calibri"/>
              </a:rPr>
              <a:t>1 transformer-handhole hub(s) · 6 spurs · 142.5 m to lights</a:t>
            </a:r>
          </a:p>
        </p:txBody>
      </p:sp>
      <p:sp>
        <p:nvSpPr>
          <p:cNvPr id="127" name="TextBox 126"/>
          <p:cNvSpPr txBox="1"/>
          <p:nvPr/>
        </p:nvSpPr>
        <p:spPr>
          <a:xfrm>
            <a:off x="5311384" y="4660000"/>
            <a:ext cx="640000" cy="200000"/>
          </a:xfrm>
          <a:prstGeom prst="rect">
            <a:avLst/>
          </a:prstGeom>
          <a:noFill/>
        </p:spPr>
        <p:txBody>
          <a:bodyPr wrap="square" anchor="t" lIns="0" rIns="0" tIns="0" bIns="0">
            <a:spAutoFit/>
          </a:bodyPr>
          <a:lstStyle/>
          <a:p>
            <a:pPr algn="l"/>
            <a:r>
              <a:rPr sz="650" b="1">
                <a:solidFill>
                  <a:srgbClr val="5F6368"/>
                </a:solidFill>
                <a:latin typeface="Calibri"/>
              </a:rPr>
              <a:t>Length</a:t>
            </a:r>
          </a:p>
        </p:txBody>
      </p:sp>
      <p:sp>
        <p:nvSpPr>
          <p:cNvPr id="128" name="TextBox 127"/>
          <p:cNvSpPr txBox="1"/>
          <p:nvPr/>
        </p:nvSpPr>
        <p:spPr>
          <a:xfrm>
            <a:off x="5951384" y="4660000"/>
            <a:ext cx="1620000" cy="200000"/>
          </a:xfrm>
          <a:prstGeom prst="rect">
            <a:avLst/>
          </a:prstGeom>
          <a:noFill/>
        </p:spPr>
        <p:txBody>
          <a:bodyPr wrap="square" anchor="t" lIns="0" rIns="0" tIns="0" bIns="0">
            <a:spAutoFit/>
          </a:bodyPr>
          <a:lstStyle/>
          <a:p>
            <a:pPr algn="l"/>
            <a:r>
              <a:rPr sz="650" b="1">
                <a:solidFill>
                  <a:srgbClr val="5F6368"/>
                </a:solidFill>
                <a:latin typeface="Calibri"/>
              </a:rPr>
              <a:t>Terminates at</a:t>
            </a:r>
          </a:p>
        </p:txBody>
      </p:sp>
      <p:sp>
        <p:nvSpPr>
          <p:cNvPr id="129" name="TextBox 128"/>
          <p:cNvSpPr txBox="1"/>
          <p:nvPr/>
        </p:nvSpPr>
        <p:spPr>
          <a:xfrm>
            <a:off x="7571384" y="4660000"/>
            <a:ext cx="1150000" cy="200000"/>
          </a:xfrm>
          <a:prstGeom prst="rect">
            <a:avLst/>
          </a:prstGeom>
          <a:noFill/>
        </p:spPr>
        <p:txBody>
          <a:bodyPr wrap="square" anchor="t" lIns="0" rIns="0" tIns="0" bIns="0">
            <a:spAutoFit/>
          </a:bodyPr>
          <a:lstStyle/>
          <a:p>
            <a:pPr algn="l"/>
            <a:r>
              <a:rPr sz="650" b="1">
                <a:solidFill>
                  <a:srgbClr val="5F6368"/>
                </a:solidFill>
                <a:latin typeface="Calibri"/>
              </a:rPr>
              <a:t>Source layer</a:t>
            </a:r>
          </a:p>
        </p:txBody>
      </p:sp>
      <p:sp>
        <p:nvSpPr>
          <p:cNvPr id="130" name="TextBox 129"/>
          <p:cNvSpPr txBox="1"/>
          <p:nvPr/>
        </p:nvSpPr>
        <p:spPr>
          <a:xfrm>
            <a:off x="8721384" y="4660000"/>
            <a:ext cx="900000" cy="200000"/>
          </a:xfrm>
          <a:prstGeom prst="rect">
            <a:avLst/>
          </a:prstGeom>
          <a:noFill/>
        </p:spPr>
        <p:txBody>
          <a:bodyPr wrap="square" anchor="t" lIns="0" rIns="0" tIns="0" bIns="0">
            <a:spAutoFit/>
          </a:bodyPr>
          <a:lstStyle/>
          <a:p>
            <a:pPr algn="l"/>
            <a:r>
              <a:rPr sz="650" b="1">
                <a:solidFill>
                  <a:srgbClr val="5F6368"/>
                </a:solidFill>
                <a:latin typeface="Calibri"/>
              </a:rPr>
              <a:t>Offset</a:t>
            </a:r>
          </a:p>
        </p:txBody>
      </p:sp>
      <p:sp>
        <p:nvSpPr>
          <p:cNvPr id="131" name="TextBox 130"/>
          <p:cNvSpPr txBox="1"/>
          <p:nvPr/>
        </p:nvSpPr>
        <p:spPr>
          <a:xfrm>
            <a:off x="5311384" y="4865000"/>
            <a:ext cx="640000" cy="185000"/>
          </a:xfrm>
          <a:prstGeom prst="rect">
            <a:avLst/>
          </a:prstGeom>
          <a:noFill/>
        </p:spPr>
        <p:txBody>
          <a:bodyPr wrap="square" anchor="t" lIns="0" rIns="0" tIns="0" bIns="0">
            <a:spAutoFit/>
          </a:bodyPr>
          <a:lstStyle/>
          <a:p>
            <a:pPr algn="l"/>
            <a:r>
              <a:rPr sz="700" b="0">
                <a:solidFill>
                  <a:srgbClr val="20242A"/>
                </a:solidFill>
                <a:latin typeface="Calibri"/>
              </a:rPr>
              <a:t>41.50 m</a:t>
            </a:r>
          </a:p>
        </p:txBody>
      </p:sp>
      <p:sp>
        <p:nvSpPr>
          <p:cNvPr id="132" name="TextBox 131"/>
          <p:cNvSpPr txBox="1"/>
          <p:nvPr/>
        </p:nvSpPr>
        <p:spPr>
          <a:xfrm>
            <a:off x="5951384" y="4865000"/>
            <a:ext cx="1620000" cy="185000"/>
          </a:xfrm>
          <a:prstGeom prst="rect">
            <a:avLst/>
          </a:prstGeom>
          <a:noFill/>
        </p:spPr>
        <p:txBody>
          <a:bodyPr wrap="square" anchor="t" lIns="0" rIns="0" tIns="0" bIns="0">
            <a:spAutoFit/>
          </a:bodyPr>
          <a:lstStyle/>
          <a:p>
            <a:pPr algn="l"/>
            <a:r>
              <a:rPr sz="700" b="0">
                <a:solidFill>
                  <a:srgbClr val="20242A"/>
                </a:solidFill>
                <a:latin typeface="Calibri"/>
              </a:rPr>
              <a:t>Taxiway centreline light</a:t>
            </a:r>
          </a:p>
        </p:txBody>
      </p:sp>
      <p:sp>
        <p:nvSpPr>
          <p:cNvPr id="133" name="TextBox 132"/>
          <p:cNvSpPr txBox="1"/>
          <p:nvPr/>
        </p:nvSpPr>
        <p:spPr>
          <a:xfrm>
            <a:off x="7571384" y="4865000"/>
            <a:ext cx="1150000" cy="185000"/>
          </a:xfrm>
          <a:prstGeom prst="rect">
            <a:avLst/>
          </a:prstGeom>
          <a:noFill/>
        </p:spPr>
        <p:txBody>
          <a:bodyPr wrap="square" anchor="t" lIns="0" rIns="0" tIns="0" bIns="0">
            <a:spAutoFit/>
          </a:bodyPr>
          <a:lstStyle/>
          <a:p>
            <a:pPr algn="l"/>
            <a:r>
              <a:rPr sz="700" b="0">
                <a:solidFill>
                  <a:srgbClr val="20242A"/>
                </a:solidFill>
                <a:latin typeface="Calibri"/>
              </a:rPr>
              <a:t>EL-TAXICL</a:t>
            </a:r>
          </a:p>
        </p:txBody>
      </p:sp>
      <p:sp>
        <p:nvSpPr>
          <p:cNvPr id="134" name="TextBox 133"/>
          <p:cNvSpPr txBox="1"/>
          <p:nvPr/>
        </p:nvSpPr>
        <p:spPr>
          <a:xfrm>
            <a:off x="8721384" y="4865000"/>
            <a:ext cx="900000" cy="185000"/>
          </a:xfrm>
          <a:prstGeom prst="rect">
            <a:avLst/>
          </a:prstGeom>
          <a:noFill/>
        </p:spPr>
        <p:txBody>
          <a:bodyPr wrap="square" anchor="t" lIns="0" rIns="0" tIns="0" bIns="0">
            <a:spAutoFit/>
          </a:bodyPr>
          <a:lstStyle/>
          <a:p>
            <a:pPr algn="l"/>
            <a:r>
              <a:rPr sz="700" b="0">
                <a:solidFill>
                  <a:srgbClr val="20242A"/>
                </a:solidFill>
                <a:latin typeface="Calibri"/>
              </a:rPr>
              <a:t>0.00 m</a:t>
            </a:r>
          </a:p>
        </p:txBody>
      </p:sp>
      <p:sp>
        <p:nvSpPr>
          <p:cNvPr id="135" name="TextBox 134"/>
          <p:cNvSpPr txBox="1"/>
          <p:nvPr/>
        </p:nvSpPr>
        <p:spPr>
          <a:xfrm>
            <a:off x="5311384" y="5053000"/>
            <a:ext cx="640000" cy="185000"/>
          </a:xfrm>
          <a:prstGeom prst="rect">
            <a:avLst/>
          </a:prstGeom>
          <a:noFill/>
        </p:spPr>
        <p:txBody>
          <a:bodyPr wrap="square" anchor="t" lIns="0" rIns="0" tIns="0" bIns="0">
            <a:spAutoFit/>
          </a:bodyPr>
          <a:lstStyle/>
          <a:p>
            <a:pPr algn="l"/>
            <a:r>
              <a:rPr sz="700" b="0">
                <a:solidFill>
                  <a:srgbClr val="20242A"/>
                </a:solidFill>
                <a:latin typeface="Calibri"/>
              </a:rPr>
              <a:t>30.30 m</a:t>
            </a:r>
          </a:p>
        </p:txBody>
      </p:sp>
      <p:sp>
        <p:nvSpPr>
          <p:cNvPr id="136" name="TextBox 135"/>
          <p:cNvSpPr txBox="1"/>
          <p:nvPr/>
        </p:nvSpPr>
        <p:spPr>
          <a:xfrm>
            <a:off x="5951384" y="5053000"/>
            <a:ext cx="1620000" cy="185000"/>
          </a:xfrm>
          <a:prstGeom prst="rect">
            <a:avLst/>
          </a:prstGeom>
          <a:noFill/>
        </p:spPr>
        <p:txBody>
          <a:bodyPr wrap="square" anchor="t" lIns="0" rIns="0" tIns="0" bIns="0">
            <a:spAutoFit/>
          </a:bodyPr>
          <a:lstStyle/>
          <a:p>
            <a:pPr algn="l"/>
            <a:r>
              <a:rPr sz="700" b="0">
                <a:solidFill>
                  <a:srgbClr val="20242A"/>
                </a:solidFill>
                <a:latin typeface="Calibri"/>
              </a:rPr>
              <a:t>Taxiway centreline light</a:t>
            </a:r>
          </a:p>
        </p:txBody>
      </p:sp>
      <p:sp>
        <p:nvSpPr>
          <p:cNvPr id="137" name="TextBox 136"/>
          <p:cNvSpPr txBox="1"/>
          <p:nvPr/>
        </p:nvSpPr>
        <p:spPr>
          <a:xfrm>
            <a:off x="7571384" y="5053000"/>
            <a:ext cx="1150000" cy="185000"/>
          </a:xfrm>
          <a:prstGeom prst="rect">
            <a:avLst/>
          </a:prstGeom>
          <a:noFill/>
        </p:spPr>
        <p:txBody>
          <a:bodyPr wrap="square" anchor="t" lIns="0" rIns="0" tIns="0" bIns="0">
            <a:spAutoFit/>
          </a:bodyPr>
          <a:lstStyle/>
          <a:p>
            <a:pPr algn="l"/>
            <a:r>
              <a:rPr sz="700" b="0">
                <a:solidFill>
                  <a:srgbClr val="20242A"/>
                </a:solidFill>
                <a:latin typeface="Calibri"/>
              </a:rPr>
              <a:t>EL-TAXICL</a:t>
            </a:r>
          </a:p>
        </p:txBody>
      </p:sp>
      <p:sp>
        <p:nvSpPr>
          <p:cNvPr id="138" name="TextBox 137"/>
          <p:cNvSpPr txBox="1"/>
          <p:nvPr/>
        </p:nvSpPr>
        <p:spPr>
          <a:xfrm>
            <a:off x="8721384" y="5053000"/>
            <a:ext cx="900000" cy="185000"/>
          </a:xfrm>
          <a:prstGeom prst="rect">
            <a:avLst/>
          </a:prstGeom>
          <a:noFill/>
        </p:spPr>
        <p:txBody>
          <a:bodyPr wrap="square" anchor="t" lIns="0" rIns="0" tIns="0" bIns="0">
            <a:spAutoFit/>
          </a:bodyPr>
          <a:lstStyle/>
          <a:p>
            <a:pPr algn="l"/>
            <a:r>
              <a:rPr sz="700" b="0">
                <a:solidFill>
                  <a:srgbClr val="20242A"/>
                </a:solidFill>
                <a:latin typeface="Calibri"/>
              </a:rPr>
              <a:t>0.00 m</a:t>
            </a:r>
          </a:p>
        </p:txBody>
      </p:sp>
      <p:sp>
        <p:nvSpPr>
          <p:cNvPr id="139" name="TextBox 138"/>
          <p:cNvSpPr txBox="1"/>
          <p:nvPr/>
        </p:nvSpPr>
        <p:spPr>
          <a:xfrm>
            <a:off x="5311384" y="5241000"/>
            <a:ext cx="640000" cy="185000"/>
          </a:xfrm>
          <a:prstGeom prst="rect">
            <a:avLst/>
          </a:prstGeom>
          <a:noFill/>
        </p:spPr>
        <p:txBody>
          <a:bodyPr wrap="square" anchor="t" lIns="0" rIns="0" tIns="0" bIns="0">
            <a:spAutoFit/>
          </a:bodyPr>
          <a:lstStyle/>
          <a:p>
            <a:pPr algn="l"/>
            <a:r>
              <a:rPr sz="700" b="0">
                <a:solidFill>
                  <a:srgbClr val="20242A"/>
                </a:solidFill>
                <a:latin typeface="Calibri"/>
              </a:rPr>
              <a:t>29.10 m</a:t>
            </a:r>
          </a:p>
        </p:txBody>
      </p:sp>
      <p:sp>
        <p:nvSpPr>
          <p:cNvPr id="140" name="TextBox 139"/>
          <p:cNvSpPr txBox="1"/>
          <p:nvPr/>
        </p:nvSpPr>
        <p:spPr>
          <a:xfrm>
            <a:off x="5951384" y="5241000"/>
            <a:ext cx="1620000" cy="185000"/>
          </a:xfrm>
          <a:prstGeom prst="rect">
            <a:avLst/>
          </a:prstGeom>
          <a:noFill/>
        </p:spPr>
        <p:txBody>
          <a:bodyPr wrap="square" anchor="t" lIns="0" rIns="0" tIns="0" bIns="0">
            <a:spAutoFit/>
          </a:bodyPr>
          <a:lstStyle/>
          <a:p>
            <a:pPr algn="l"/>
            <a:r>
              <a:rPr sz="700" b="0">
                <a:solidFill>
                  <a:srgbClr val="20242A"/>
                </a:solidFill>
                <a:latin typeface="Calibri"/>
              </a:rPr>
              <a:t>Taxiway centreline light</a:t>
            </a:r>
          </a:p>
        </p:txBody>
      </p:sp>
      <p:sp>
        <p:nvSpPr>
          <p:cNvPr id="141" name="TextBox 140"/>
          <p:cNvSpPr txBox="1"/>
          <p:nvPr/>
        </p:nvSpPr>
        <p:spPr>
          <a:xfrm>
            <a:off x="7571384" y="5241000"/>
            <a:ext cx="1150000" cy="185000"/>
          </a:xfrm>
          <a:prstGeom prst="rect">
            <a:avLst/>
          </a:prstGeom>
          <a:noFill/>
        </p:spPr>
        <p:txBody>
          <a:bodyPr wrap="square" anchor="t" lIns="0" rIns="0" tIns="0" bIns="0">
            <a:spAutoFit/>
          </a:bodyPr>
          <a:lstStyle/>
          <a:p>
            <a:pPr algn="l"/>
            <a:r>
              <a:rPr sz="700" b="0">
                <a:solidFill>
                  <a:srgbClr val="20242A"/>
                </a:solidFill>
                <a:latin typeface="Calibri"/>
              </a:rPr>
              <a:t>EL-TAXICL</a:t>
            </a:r>
          </a:p>
        </p:txBody>
      </p:sp>
      <p:sp>
        <p:nvSpPr>
          <p:cNvPr id="142" name="TextBox 141"/>
          <p:cNvSpPr txBox="1"/>
          <p:nvPr/>
        </p:nvSpPr>
        <p:spPr>
          <a:xfrm>
            <a:off x="8721384" y="5241000"/>
            <a:ext cx="900000" cy="185000"/>
          </a:xfrm>
          <a:prstGeom prst="rect">
            <a:avLst/>
          </a:prstGeom>
          <a:noFill/>
        </p:spPr>
        <p:txBody>
          <a:bodyPr wrap="square" anchor="t" lIns="0" rIns="0" tIns="0" bIns="0">
            <a:spAutoFit/>
          </a:bodyPr>
          <a:lstStyle/>
          <a:p>
            <a:pPr algn="l"/>
            <a:r>
              <a:rPr sz="700" b="0">
                <a:solidFill>
                  <a:srgbClr val="20242A"/>
                </a:solidFill>
                <a:latin typeface="Calibri"/>
              </a:rPr>
              <a:t>0.00 m</a:t>
            </a:r>
          </a:p>
        </p:txBody>
      </p:sp>
      <p:sp>
        <p:nvSpPr>
          <p:cNvPr id="143" name="TextBox 142"/>
          <p:cNvSpPr txBox="1"/>
          <p:nvPr/>
        </p:nvSpPr>
        <p:spPr>
          <a:xfrm>
            <a:off x="5311384" y="5429000"/>
            <a:ext cx="640000" cy="185000"/>
          </a:xfrm>
          <a:prstGeom prst="rect">
            <a:avLst/>
          </a:prstGeom>
          <a:noFill/>
        </p:spPr>
        <p:txBody>
          <a:bodyPr wrap="square" anchor="t" lIns="0" rIns="0" tIns="0" bIns="0">
            <a:spAutoFit/>
          </a:bodyPr>
          <a:lstStyle/>
          <a:p>
            <a:pPr algn="l"/>
            <a:r>
              <a:rPr sz="700" b="0">
                <a:solidFill>
                  <a:srgbClr val="20242A"/>
                </a:solidFill>
                <a:latin typeface="Calibri"/>
              </a:rPr>
              <a:t>21.10 m</a:t>
            </a:r>
          </a:p>
        </p:txBody>
      </p:sp>
      <p:sp>
        <p:nvSpPr>
          <p:cNvPr id="144" name="TextBox 143"/>
          <p:cNvSpPr txBox="1"/>
          <p:nvPr/>
        </p:nvSpPr>
        <p:spPr>
          <a:xfrm>
            <a:off x="5951384" y="5429000"/>
            <a:ext cx="1620000" cy="185000"/>
          </a:xfrm>
          <a:prstGeom prst="rect">
            <a:avLst/>
          </a:prstGeom>
          <a:noFill/>
        </p:spPr>
        <p:txBody>
          <a:bodyPr wrap="square" anchor="t" lIns="0" rIns="0" tIns="0" bIns="0">
            <a:spAutoFit/>
          </a:bodyPr>
          <a:lstStyle/>
          <a:p>
            <a:pPr algn="l"/>
            <a:r>
              <a:rPr sz="700" b="0">
                <a:solidFill>
                  <a:srgbClr val="20242A"/>
                </a:solidFill>
                <a:latin typeface="Calibri"/>
              </a:rPr>
              <a:t>Taxiway centreline light</a:t>
            </a:r>
          </a:p>
        </p:txBody>
      </p:sp>
      <p:sp>
        <p:nvSpPr>
          <p:cNvPr id="145" name="TextBox 144"/>
          <p:cNvSpPr txBox="1"/>
          <p:nvPr/>
        </p:nvSpPr>
        <p:spPr>
          <a:xfrm>
            <a:off x="7571384" y="5429000"/>
            <a:ext cx="1150000" cy="185000"/>
          </a:xfrm>
          <a:prstGeom prst="rect">
            <a:avLst/>
          </a:prstGeom>
          <a:noFill/>
        </p:spPr>
        <p:txBody>
          <a:bodyPr wrap="square" anchor="t" lIns="0" rIns="0" tIns="0" bIns="0">
            <a:spAutoFit/>
          </a:bodyPr>
          <a:lstStyle/>
          <a:p>
            <a:pPr algn="l"/>
            <a:r>
              <a:rPr sz="700" b="0">
                <a:solidFill>
                  <a:srgbClr val="20242A"/>
                </a:solidFill>
                <a:latin typeface="Calibri"/>
              </a:rPr>
              <a:t>EL-TAXICL</a:t>
            </a:r>
          </a:p>
        </p:txBody>
      </p:sp>
      <p:sp>
        <p:nvSpPr>
          <p:cNvPr id="146" name="TextBox 145"/>
          <p:cNvSpPr txBox="1"/>
          <p:nvPr/>
        </p:nvSpPr>
        <p:spPr>
          <a:xfrm>
            <a:off x="8721384" y="5429000"/>
            <a:ext cx="900000" cy="185000"/>
          </a:xfrm>
          <a:prstGeom prst="rect">
            <a:avLst/>
          </a:prstGeom>
          <a:noFill/>
        </p:spPr>
        <p:txBody>
          <a:bodyPr wrap="square" anchor="t" lIns="0" rIns="0" tIns="0" bIns="0">
            <a:spAutoFit/>
          </a:bodyPr>
          <a:lstStyle/>
          <a:p>
            <a:pPr algn="l"/>
            <a:r>
              <a:rPr sz="700" b="0">
                <a:solidFill>
                  <a:srgbClr val="20242A"/>
                </a:solidFill>
                <a:latin typeface="Calibri"/>
              </a:rPr>
              <a:t>0.00 m</a:t>
            </a:r>
          </a:p>
        </p:txBody>
      </p:sp>
      <p:sp>
        <p:nvSpPr>
          <p:cNvPr id="147" name="TextBox 146"/>
          <p:cNvSpPr txBox="1"/>
          <p:nvPr/>
        </p:nvSpPr>
        <p:spPr>
          <a:xfrm>
            <a:off x="5311384" y="5617000"/>
            <a:ext cx="640000" cy="185000"/>
          </a:xfrm>
          <a:prstGeom prst="rect">
            <a:avLst/>
          </a:prstGeom>
          <a:noFill/>
        </p:spPr>
        <p:txBody>
          <a:bodyPr wrap="square" anchor="t" lIns="0" rIns="0" tIns="0" bIns="0">
            <a:spAutoFit/>
          </a:bodyPr>
          <a:lstStyle/>
          <a:p>
            <a:pPr algn="l"/>
            <a:r>
              <a:rPr sz="700" b="0">
                <a:solidFill>
                  <a:srgbClr val="20242A"/>
                </a:solidFill>
                <a:latin typeface="Calibri"/>
              </a:rPr>
              <a:t>20.52 m</a:t>
            </a:r>
          </a:p>
        </p:txBody>
      </p:sp>
      <p:sp>
        <p:nvSpPr>
          <p:cNvPr id="148" name="TextBox 147"/>
          <p:cNvSpPr txBox="1"/>
          <p:nvPr/>
        </p:nvSpPr>
        <p:spPr>
          <a:xfrm>
            <a:off x="5951384" y="5617000"/>
            <a:ext cx="1620000" cy="185000"/>
          </a:xfrm>
          <a:prstGeom prst="rect">
            <a:avLst/>
          </a:prstGeom>
          <a:noFill/>
        </p:spPr>
        <p:txBody>
          <a:bodyPr wrap="square" anchor="t" lIns="0" rIns="0" tIns="0" bIns="0">
            <a:spAutoFit/>
          </a:bodyPr>
          <a:lstStyle/>
          <a:p>
            <a:pPr algn="l"/>
            <a:r>
              <a:rPr sz="700" b="0">
                <a:solidFill>
                  <a:srgbClr val="20242A"/>
                </a:solidFill>
                <a:latin typeface="Calibri"/>
              </a:rPr>
              <a:t>Taxiway centreline light</a:t>
            </a:r>
          </a:p>
        </p:txBody>
      </p:sp>
      <p:sp>
        <p:nvSpPr>
          <p:cNvPr id="149" name="TextBox 148"/>
          <p:cNvSpPr txBox="1"/>
          <p:nvPr/>
        </p:nvSpPr>
        <p:spPr>
          <a:xfrm>
            <a:off x="7571384" y="5617000"/>
            <a:ext cx="1150000" cy="185000"/>
          </a:xfrm>
          <a:prstGeom prst="rect">
            <a:avLst/>
          </a:prstGeom>
          <a:noFill/>
        </p:spPr>
        <p:txBody>
          <a:bodyPr wrap="square" anchor="t" lIns="0" rIns="0" tIns="0" bIns="0">
            <a:spAutoFit/>
          </a:bodyPr>
          <a:lstStyle/>
          <a:p>
            <a:pPr algn="l"/>
            <a:r>
              <a:rPr sz="700" b="0">
                <a:solidFill>
                  <a:srgbClr val="20242A"/>
                </a:solidFill>
                <a:latin typeface="Calibri"/>
              </a:rPr>
              <a:t>EL-TAXICL</a:t>
            </a:r>
          </a:p>
        </p:txBody>
      </p:sp>
      <p:sp>
        <p:nvSpPr>
          <p:cNvPr id="150" name="TextBox 149"/>
          <p:cNvSpPr txBox="1"/>
          <p:nvPr/>
        </p:nvSpPr>
        <p:spPr>
          <a:xfrm>
            <a:off x="8721384" y="5617000"/>
            <a:ext cx="900000" cy="185000"/>
          </a:xfrm>
          <a:prstGeom prst="rect">
            <a:avLst/>
          </a:prstGeom>
          <a:noFill/>
        </p:spPr>
        <p:txBody>
          <a:bodyPr wrap="square" anchor="t" lIns="0" rIns="0" tIns="0" bIns="0">
            <a:spAutoFit/>
          </a:bodyPr>
          <a:lstStyle/>
          <a:p>
            <a:pPr algn="l"/>
            <a:r>
              <a:rPr sz="700" b="0">
                <a:solidFill>
                  <a:srgbClr val="20242A"/>
                </a:solidFill>
                <a:latin typeface="Calibri"/>
              </a:rPr>
              <a:t>0.00 m</a:t>
            </a:r>
          </a:p>
        </p:txBody>
      </p:sp>
      <p:sp>
        <p:nvSpPr>
          <p:cNvPr id="151" name="TextBox 150"/>
          <p:cNvSpPr txBox="1"/>
          <p:nvPr/>
        </p:nvSpPr>
        <p:spPr>
          <a:xfrm>
            <a:off x="5311384" y="5805000"/>
            <a:ext cx="640000" cy="185000"/>
          </a:xfrm>
          <a:prstGeom prst="rect">
            <a:avLst/>
          </a:prstGeom>
          <a:noFill/>
        </p:spPr>
        <p:txBody>
          <a:bodyPr wrap="square" anchor="t" lIns="0" rIns="0" tIns="0" bIns="0">
            <a:spAutoFit/>
          </a:bodyPr>
          <a:lstStyle/>
          <a:p>
            <a:pPr algn="l"/>
            <a:r>
              <a:rPr sz="700" b="0">
                <a:solidFill>
                  <a:srgbClr val="20242A"/>
                </a:solidFill>
                <a:latin typeface="Calibri"/>
              </a:rPr>
              <a:t>6.23 m</a:t>
            </a:r>
          </a:p>
        </p:txBody>
      </p:sp>
      <p:sp>
        <p:nvSpPr>
          <p:cNvPr id="152" name="TextBox 151"/>
          <p:cNvSpPr txBox="1"/>
          <p:nvPr/>
        </p:nvSpPr>
        <p:spPr>
          <a:xfrm>
            <a:off x="5951384" y="5805000"/>
            <a:ext cx="1620000" cy="185000"/>
          </a:xfrm>
          <a:prstGeom prst="rect">
            <a:avLst/>
          </a:prstGeom>
          <a:noFill/>
        </p:spPr>
        <p:txBody>
          <a:bodyPr wrap="square" anchor="t" lIns="0" rIns="0" tIns="0" bIns="0">
            <a:spAutoFit/>
          </a:bodyPr>
          <a:lstStyle/>
          <a:p>
            <a:pPr algn="l"/>
            <a:r>
              <a:rPr sz="700" b="0">
                <a:solidFill>
                  <a:srgbClr val="20242A"/>
                </a:solidFill>
                <a:latin typeface="Calibri"/>
              </a:rPr>
              <a:t>Handhole</a:t>
            </a:r>
          </a:p>
        </p:txBody>
      </p:sp>
      <p:sp>
        <p:nvSpPr>
          <p:cNvPr id="153" name="TextBox 152"/>
          <p:cNvSpPr txBox="1"/>
          <p:nvPr/>
        </p:nvSpPr>
        <p:spPr>
          <a:xfrm>
            <a:off x="7571384" y="5805000"/>
            <a:ext cx="1150000" cy="185000"/>
          </a:xfrm>
          <a:prstGeom prst="rect">
            <a:avLst/>
          </a:prstGeom>
          <a:noFill/>
        </p:spPr>
        <p:txBody>
          <a:bodyPr wrap="square" anchor="t" lIns="0" rIns="0" tIns="0" bIns="0">
            <a:spAutoFit/>
          </a:bodyPr>
          <a:lstStyle/>
          <a:p>
            <a:pPr algn="l"/>
            <a:r>
              <a:rPr sz="700" b="0">
                <a:solidFill>
                  <a:srgbClr val="20242A"/>
                </a:solidFill>
                <a:latin typeface="Calibri"/>
              </a:rPr>
              <a:t>CV_HH</a:t>
            </a:r>
          </a:p>
        </p:txBody>
      </p:sp>
      <p:sp>
        <p:nvSpPr>
          <p:cNvPr id="154" name="TextBox 153"/>
          <p:cNvSpPr txBox="1"/>
          <p:nvPr/>
        </p:nvSpPr>
        <p:spPr>
          <a:xfrm>
            <a:off x="8721384" y="5805000"/>
            <a:ext cx="900000" cy="185000"/>
          </a:xfrm>
          <a:prstGeom prst="rect">
            <a:avLst/>
          </a:prstGeom>
          <a:noFill/>
        </p:spPr>
        <p:txBody>
          <a:bodyPr wrap="square" anchor="t" lIns="0" rIns="0" tIns="0" bIns="0">
            <a:spAutoFit/>
          </a:bodyPr>
          <a:lstStyle/>
          <a:p>
            <a:pPr algn="l"/>
            <a:r>
              <a:rPr sz="700" b="0">
                <a:solidFill>
                  <a:srgbClr val="20242A"/>
                </a:solidFill>
                <a:latin typeface="Calibri"/>
              </a:rPr>
              <a:t>0.00 m</a:t>
            </a:r>
          </a:p>
        </p:txBody>
      </p:sp>
      <p:sp>
        <p:nvSpPr>
          <p:cNvPr id="155" name="TextBox 154"/>
          <p:cNvSpPr txBox="1"/>
          <p:nvPr/>
        </p:nvSpPr>
        <p:spPr>
          <a:xfrm>
            <a:off x="5311384" y="9908638"/>
            <a:ext cx="4501344" cy="200000"/>
          </a:xfrm>
          <a:prstGeom prst="rect">
            <a:avLst/>
          </a:prstGeom>
          <a:noFill/>
        </p:spPr>
        <p:txBody>
          <a:bodyPr wrap="square" anchor="t" lIns="0" rIns="0" tIns="0" bIns="0">
            <a:spAutoFit/>
          </a:bodyPr>
          <a:lstStyle/>
          <a:p>
            <a:pPr algn="l"/>
            <a:r>
              <a:rPr sz="650" b="0">
                <a:solidFill>
                  <a:srgbClr val="5F6368"/>
                </a:solidFill>
                <a:latin typeface="Calibri"/>
              </a:rPr>
              <a:t>!  offset &gt;50 mm — confirm the termination on site</a:t>
            </a:r>
          </a:p>
        </p:txBody>
      </p:sp>
      <p:sp>
        <p:nvSpPr>
          <p:cNvPr id="156" name="Rectangle 155"/>
          <p:cNvSpPr/>
          <p:nvPr/>
        </p:nvSpPr>
        <p:spPr>
          <a:xfrm>
            <a:off x="10082728" y="4100000"/>
            <a:ext cx="4721344" cy="6068638"/>
          </a:xfrm>
          <a:prstGeom prst="rect">
            <a:avLst/>
          </a:prstGeom>
          <a:solidFill>
            <a:srgbClr val="FFFFFF"/>
          </a:solidFill>
          <a:ln w="9525">
            <a:solidFill>
              <a:srgbClr val="D5DA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TextBox 156"/>
          <p:cNvSpPr txBox="1"/>
          <p:nvPr/>
        </p:nvSpPr>
        <p:spPr>
          <a:xfrm>
            <a:off x="10192728" y="4200000"/>
            <a:ext cx="4501344" cy="240000"/>
          </a:xfrm>
          <a:prstGeom prst="rect">
            <a:avLst/>
          </a:prstGeom>
          <a:noFill/>
        </p:spPr>
        <p:txBody>
          <a:bodyPr wrap="square" anchor="t" lIns="0" rIns="0" tIns="0" bIns="0">
            <a:spAutoFit/>
          </a:bodyPr>
          <a:lstStyle/>
          <a:p>
            <a:pPr algn="l"/>
            <a:r>
              <a:rPr sz="950" b="1">
                <a:solidFill>
                  <a:srgbClr val="1E2761"/>
                </a:solidFill>
                <a:latin typeface="Calibri"/>
              </a:rPr>
              <a:t>LOC-03 — DERIVED SPUR SCHEDULE</a:t>
            </a:r>
          </a:p>
        </p:txBody>
      </p:sp>
      <p:sp>
        <p:nvSpPr>
          <p:cNvPr id="158" name="TextBox 157"/>
          <p:cNvSpPr txBox="1"/>
          <p:nvPr/>
        </p:nvSpPr>
        <p:spPr>
          <a:xfrm>
            <a:off x="10192728" y="4430000"/>
            <a:ext cx="4501344" cy="200000"/>
          </a:xfrm>
          <a:prstGeom prst="rect">
            <a:avLst/>
          </a:prstGeom>
          <a:noFill/>
        </p:spPr>
        <p:txBody>
          <a:bodyPr wrap="square" anchor="t" lIns="0" rIns="0" tIns="0" bIns="0">
            <a:spAutoFit/>
          </a:bodyPr>
          <a:lstStyle/>
          <a:p>
            <a:pPr algn="l"/>
            <a:r>
              <a:rPr sz="750" b="0">
                <a:solidFill>
                  <a:srgbClr val="5F6368"/>
                </a:solidFill>
                <a:latin typeface="Calibri"/>
              </a:rPr>
              <a:t>2 transformer-handhole hub(s) · 20 spurs · 412.1 m to lights</a:t>
            </a:r>
          </a:p>
        </p:txBody>
      </p:sp>
      <p:sp>
        <p:nvSpPr>
          <p:cNvPr id="159" name="TextBox 158"/>
          <p:cNvSpPr txBox="1"/>
          <p:nvPr/>
        </p:nvSpPr>
        <p:spPr>
          <a:xfrm>
            <a:off x="10192728" y="4660000"/>
            <a:ext cx="640000" cy="200000"/>
          </a:xfrm>
          <a:prstGeom prst="rect">
            <a:avLst/>
          </a:prstGeom>
          <a:noFill/>
        </p:spPr>
        <p:txBody>
          <a:bodyPr wrap="square" anchor="t" lIns="0" rIns="0" tIns="0" bIns="0">
            <a:spAutoFit/>
          </a:bodyPr>
          <a:lstStyle/>
          <a:p>
            <a:pPr algn="l"/>
            <a:r>
              <a:rPr sz="650" b="1">
                <a:solidFill>
                  <a:srgbClr val="5F6368"/>
                </a:solidFill>
                <a:latin typeface="Calibri"/>
              </a:rPr>
              <a:t>Length</a:t>
            </a:r>
          </a:p>
        </p:txBody>
      </p:sp>
      <p:sp>
        <p:nvSpPr>
          <p:cNvPr id="160" name="TextBox 159"/>
          <p:cNvSpPr txBox="1"/>
          <p:nvPr/>
        </p:nvSpPr>
        <p:spPr>
          <a:xfrm>
            <a:off x="10832728" y="4660000"/>
            <a:ext cx="1620000" cy="200000"/>
          </a:xfrm>
          <a:prstGeom prst="rect">
            <a:avLst/>
          </a:prstGeom>
          <a:noFill/>
        </p:spPr>
        <p:txBody>
          <a:bodyPr wrap="square" anchor="t" lIns="0" rIns="0" tIns="0" bIns="0">
            <a:spAutoFit/>
          </a:bodyPr>
          <a:lstStyle/>
          <a:p>
            <a:pPr algn="l"/>
            <a:r>
              <a:rPr sz="650" b="1">
                <a:solidFill>
                  <a:srgbClr val="5F6368"/>
                </a:solidFill>
                <a:latin typeface="Calibri"/>
              </a:rPr>
              <a:t>Terminates at</a:t>
            </a:r>
          </a:p>
        </p:txBody>
      </p:sp>
      <p:sp>
        <p:nvSpPr>
          <p:cNvPr id="161" name="TextBox 160"/>
          <p:cNvSpPr txBox="1"/>
          <p:nvPr/>
        </p:nvSpPr>
        <p:spPr>
          <a:xfrm>
            <a:off x="12452728" y="4660000"/>
            <a:ext cx="1150000" cy="200000"/>
          </a:xfrm>
          <a:prstGeom prst="rect">
            <a:avLst/>
          </a:prstGeom>
          <a:noFill/>
        </p:spPr>
        <p:txBody>
          <a:bodyPr wrap="square" anchor="t" lIns="0" rIns="0" tIns="0" bIns="0">
            <a:spAutoFit/>
          </a:bodyPr>
          <a:lstStyle/>
          <a:p>
            <a:pPr algn="l"/>
            <a:r>
              <a:rPr sz="650" b="1">
                <a:solidFill>
                  <a:srgbClr val="5F6368"/>
                </a:solidFill>
                <a:latin typeface="Calibri"/>
              </a:rPr>
              <a:t>Source layer</a:t>
            </a:r>
          </a:p>
        </p:txBody>
      </p:sp>
      <p:sp>
        <p:nvSpPr>
          <p:cNvPr id="162" name="TextBox 161"/>
          <p:cNvSpPr txBox="1"/>
          <p:nvPr/>
        </p:nvSpPr>
        <p:spPr>
          <a:xfrm>
            <a:off x="13602728" y="4660000"/>
            <a:ext cx="900000" cy="200000"/>
          </a:xfrm>
          <a:prstGeom prst="rect">
            <a:avLst/>
          </a:prstGeom>
          <a:noFill/>
        </p:spPr>
        <p:txBody>
          <a:bodyPr wrap="square" anchor="t" lIns="0" rIns="0" tIns="0" bIns="0">
            <a:spAutoFit/>
          </a:bodyPr>
          <a:lstStyle/>
          <a:p>
            <a:pPr algn="l"/>
            <a:r>
              <a:rPr sz="650" b="1">
                <a:solidFill>
                  <a:srgbClr val="5F6368"/>
                </a:solidFill>
                <a:latin typeface="Calibri"/>
              </a:rPr>
              <a:t>Offset</a:t>
            </a:r>
          </a:p>
        </p:txBody>
      </p:sp>
      <p:sp>
        <p:nvSpPr>
          <p:cNvPr id="163" name="TextBox 162"/>
          <p:cNvSpPr txBox="1"/>
          <p:nvPr/>
        </p:nvSpPr>
        <p:spPr>
          <a:xfrm>
            <a:off x="10192728" y="4865000"/>
            <a:ext cx="640000" cy="185000"/>
          </a:xfrm>
          <a:prstGeom prst="rect">
            <a:avLst/>
          </a:prstGeom>
          <a:noFill/>
        </p:spPr>
        <p:txBody>
          <a:bodyPr wrap="square" anchor="t" lIns="0" rIns="0" tIns="0" bIns="0">
            <a:spAutoFit/>
          </a:bodyPr>
          <a:lstStyle/>
          <a:p>
            <a:pPr algn="l"/>
            <a:r>
              <a:rPr sz="700" b="0">
                <a:solidFill>
                  <a:srgbClr val="20242A"/>
                </a:solidFill>
                <a:latin typeface="Calibri"/>
              </a:rPr>
              <a:t>31.97 m</a:t>
            </a:r>
          </a:p>
        </p:txBody>
      </p:sp>
      <p:sp>
        <p:nvSpPr>
          <p:cNvPr id="164" name="TextBox 163"/>
          <p:cNvSpPr txBox="1"/>
          <p:nvPr/>
        </p:nvSpPr>
        <p:spPr>
          <a:xfrm>
            <a:off x="10832728" y="4865000"/>
            <a:ext cx="1620000" cy="185000"/>
          </a:xfrm>
          <a:prstGeom prst="rect">
            <a:avLst/>
          </a:prstGeom>
          <a:noFill/>
        </p:spPr>
        <p:txBody>
          <a:bodyPr wrap="square" anchor="t" lIns="0" rIns="0" tIns="0" bIns="0">
            <a:spAutoFit/>
          </a:bodyPr>
          <a:lstStyle/>
          <a:p>
            <a:pPr algn="l"/>
            <a:r>
              <a:rPr sz="700" b="0">
                <a:solidFill>
                  <a:srgbClr val="20242A"/>
                </a:solidFill>
                <a:latin typeface="Calibri"/>
              </a:rPr>
              <a:t>Taxiway centreline light</a:t>
            </a:r>
          </a:p>
        </p:txBody>
      </p:sp>
      <p:sp>
        <p:nvSpPr>
          <p:cNvPr id="165" name="TextBox 164"/>
          <p:cNvSpPr txBox="1"/>
          <p:nvPr/>
        </p:nvSpPr>
        <p:spPr>
          <a:xfrm>
            <a:off x="12452728" y="4865000"/>
            <a:ext cx="1150000" cy="185000"/>
          </a:xfrm>
          <a:prstGeom prst="rect">
            <a:avLst/>
          </a:prstGeom>
          <a:noFill/>
        </p:spPr>
        <p:txBody>
          <a:bodyPr wrap="square" anchor="t" lIns="0" rIns="0" tIns="0" bIns="0">
            <a:spAutoFit/>
          </a:bodyPr>
          <a:lstStyle/>
          <a:p>
            <a:pPr algn="l"/>
            <a:r>
              <a:rPr sz="700" b="0">
                <a:solidFill>
                  <a:srgbClr val="20242A"/>
                </a:solidFill>
                <a:latin typeface="Calibri"/>
              </a:rPr>
              <a:t>EL-TAXICL</a:t>
            </a:r>
          </a:p>
        </p:txBody>
      </p:sp>
      <p:sp>
        <p:nvSpPr>
          <p:cNvPr id="166" name="TextBox 165"/>
          <p:cNvSpPr txBox="1"/>
          <p:nvPr/>
        </p:nvSpPr>
        <p:spPr>
          <a:xfrm>
            <a:off x="13602728" y="4865000"/>
            <a:ext cx="900000" cy="185000"/>
          </a:xfrm>
          <a:prstGeom prst="rect">
            <a:avLst/>
          </a:prstGeom>
          <a:noFill/>
        </p:spPr>
        <p:txBody>
          <a:bodyPr wrap="square" anchor="t" lIns="0" rIns="0" tIns="0" bIns="0">
            <a:spAutoFit/>
          </a:bodyPr>
          <a:lstStyle/>
          <a:p>
            <a:pPr algn="l"/>
            <a:r>
              <a:rPr sz="700" b="0">
                <a:solidFill>
                  <a:srgbClr val="20242A"/>
                </a:solidFill>
                <a:latin typeface="Calibri"/>
              </a:rPr>
              <a:t>0.00 m</a:t>
            </a:r>
          </a:p>
        </p:txBody>
      </p:sp>
      <p:sp>
        <p:nvSpPr>
          <p:cNvPr id="167" name="TextBox 166"/>
          <p:cNvSpPr txBox="1"/>
          <p:nvPr/>
        </p:nvSpPr>
        <p:spPr>
          <a:xfrm>
            <a:off x="10192728" y="5053000"/>
            <a:ext cx="640000" cy="185000"/>
          </a:xfrm>
          <a:prstGeom prst="rect">
            <a:avLst/>
          </a:prstGeom>
          <a:noFill/>
        </p:spPr>
        <p:txBody>
          <a:bodyPr wrap="square" anchor="t" lIns="0" rIns="0" tIns="0" bIns="0">
            <a:spAutoFit/>
          </a:bodyPr>
          <a:lstStyle/>
          <a:p>
            <a:pPr algn="l"/>
            <a:r>
              <a:rPr sz="700" b="0">
                <a:solidFill>
                  <a:srgbClr val="20242A"/>
                </a:solidFill>
                <a:latin typeface="Calibri"/>
              </a:rPr>
              <a:t>31.13 m</a:t>
            </a:r>
          </a:p>
        </p:txBody>
      </p:sp>
      <p:sp>
        <p:nvSpPr>
          <p:cNvPr id="168" name="TextBox 167"/>
          <p:cNvSpPr txBox="1"/>
          <p:nvPr/>
        </p:nvSpPr>
        <p:spPr>
          <a:xfrm>
            <a:off x="10832728" y="5053000"/>
            <a:ext cx="1620000" cy="185000"/>
          </a:xfrm>
          <a:prstGeom prst="rect">
            <a:avLst/>
          </a:prstGeom>
          <a:noFill/>
        </p:spPr>
        <p:txBody>
          <a:bodyPr wrap="square" anchor="t" lIns="0" rIns="0" tIns="0" bIns="0">
            <a:spAutoFit/>
          </a:bodyPr>
          <a:lstStyle/>
          <a:p>
            <a:pPr algn="l"/>
            <a:r>
              <a:rPr sz="700" b="0">
                <a:solidFill>
                  <a:srgbClr val="20242A"/>
                </a:solidFill>
                <a:latin typeface="Calibri"/>
              </a:rPr>
              <a:t>Stop bar light</a:t>
            </a:r>
          </a:p>
        </p:txBody>
      </p:sp>
      <p:sp>
        <p:nvSpPr>
          <p:cNvPr id="169" name="TextBox 168"/>
          <p:cNvSpPr txBox="1"/>
          <p:nvPr/>
        </p:nvSpPr>
        <p:spPr>
          <a:xfrm>
            <a:off x="12452728" y="5053000"/>
            <a:ext cx="1150000" cy="185000"/>
          </a:xfrm>
          <a:prstGeom prst="rect">
            <a:avLst/>
          </a:prstGeom>
          <a:noFill/>
        </p:spPr>
        <p:txBody>
          <a:bodyPr wrap="square" anchor="t" lIns="0" rIns="0" tIns="0" bIns="0">
            <a:spAutoFit/>
          </a:bodyPr>
          <a:lstStyle/>
          <a:p>
            <a:pPr algn="l"/>
            <a:r>
              <a:rPr sz="700" b="0">
                <a:solidFill>
                  <a:srgbClr val="20242A"/>
                </a:solidFill>
                <a:latin typeface="Calibri"/>
              </a:rPr>
              <a:t>EL-STOPBAR</a:t>
            </a:r>
          </a:p>
        </p:txBody>
      </p:sp>
      <p:sp>
        <p:nvSpPr>
          <p:cNvPr id="170" name="TextBox 169"/>
          <p:cNvSpPr txBox="1"/>
          <p:nvPr/>
        </p:nvSpPr>
        <p:spPr>
          <a:xfrm>
            <a:off x="13602728" y="5053000"/>
            <a:ext cx="900000" cy="185000"/>
          </a:xfrm>
          <a:prstGeom prst="rect">
            <a:avLst/>
          </a:prstGeom>
          <a:noFill/>
        </p:spPr>
        <p:txBody>
          <a:bodyPr wrap="square" anchor="t" lIns="0" rIns="0" tIns="0" bIns="0">
            <a:spAutoFit/>
          </a:bodyPr>
          <a:lstStyle/>
          <a:p>
            <a:pPr algn="l"/>
            <a:r>
              <a:rPr sz="700" b="0">
                <a:solidFill>
                  <a:srgbClr val="20242A"/>
                </a:solidFill>
                <a:latin typeface="Calibri"/>
              </a:rPr>
              <a:t>0.00 m</a:t>
            </a:r>
          </a:p>
        </p:txBody>
      </p:sp>
      <p:sp>
        <p:nvSpPr>
          <p:cNvPr id="171" name="TextBox 170"/>
          <p:cNvSpPr txBox="1"/>
          <p:nvPr/>
        </p:nvSpPr>
        <p:spPr>
          <a:xfrm>
            <a:off x="10192728" y="5241000"/>
            <a:ext cx="640000" cy="185000"/>
          </a:xfrm>
          <a:prstGeom prst="rect">
            <a:avLst/>
          </a:prstGeom>
          <a:noFill/>
        </p:spPr>
        <p:txBody>
          <a:bodyPr wrap="square" anchor="t" lIns="0" rIns="0" tIns="0" bIns="0">
            <a:spAutoFit/>
          </a:bodyPr>
          <a:lstStyle/>
          <a:p>
            <a:pPr algn="l"/>
            <a:r>
              <a:rPr sz="700" b="0">
                <a:solidFill>
                  <a:srgbClr val="20242A"/>
                </a:solidFill>
                <a:latin typeface="Calibri"/>
              </a:rPr>
              <a:t>29.02 m</a:t>
            </a:r>
          </a:p>
        </p:txBody>
      </p:sp>
      <p:sp>
        <p:nvSpPr>
          <p:cNvPr id="172" name="TextBox 171"/>
          <p:cNvSpPr txBox="1"/>
          <p:nvPr/>
        </p:nvSpPr>
        <p:spPr>
          <a:xfrm>
            <a:off x="10832728" y="5241000"/>
            <a:ext cx="1620000" cy="185000"/>
          </a:xfrm>
          <a:prstGeom prst="rect">
            <a:avLst/>
          </a:prstGeom>
          <a:noFill/>
        </p:spPr>
        <p:txBody>
          <a:bodyPr wrap="square" anchor="t" lIns="0" rIns="0" tIns="0" bIns="0">
            <a:spAutoFit/>
          </a:bodyPr>
          <a:lstStyle/>
          <a:p>
            <a:pPr algn="l"/>
            <a:r>
              <a:rPr sz="700" b="0">
                <a:solidFill>
                  <a:srgbClr val="20242A"/>
                </a:solidFill>
                <a:latin typeface="Calibri"/>
              </a:rPr>
              <a:t>Taxiway centreline light</a:t>
            </a:r>
          </a:p>
        </p:txBody>
      </p:sp>
      <p:sp>
        <p:nvSpPr>
          <p:cNvPr id="173" name="TextBox 172"/>
          <p:cNvSpPr txBox="1"/>
          <p:nvPr/>
        </p:nvSpPr>
        <p:spPr>
          <a:xfrm>
            <a:off x="12452728" y="5241000"/>
            <a:ext cx="1150000" cy="185000"/>
          </a:xfrm>
          <a:prstGeom prst="rect">
            <a:avLst/>
          </a:prstGeom>
          <a:noFill/>
        </p:spPr>
        <p:txBody>
          <a:bodyPr wrap="square" anchor="t" lIns="0" rIns="0" tIns="0" bIns="0">
            <a:spAutoFit/>
          </a:bodyPr>
          <a:lstStyle/>
          <a:p>
            <a:pPr algn="l"/>
            <a:r>
              <a:rPr sz="700" b="0">
                <a:solidFill>
                  <a:srgbClr val="20242A"/>
                </a:solidFill>
                <a:latin typeface="Calibri"/>
              </a:rPr>
              <a:t>EL-TAXICL</a:t>
            </a:r>
          </a:p>
        </p:txBody>
      </p:sp>
      <p:sp>
        <p:nvSpPr>
          <p:cNvPr id="174" name="TextBox 173"/>
          <p:cNvSpPr txBox="1"/>
          <p:nvPr/>
        </p:nvSpPr>
        <p:spPr>
          <a:xfrm>
            <a:off x="13602728" y="5241000"/>
            <a:ext cx="900000" cy="185000"/>
          </a:xfrm>
          <a:prstGeom prst="rect">
            <a:avLst/>
          </a:prstGeom>
          <a:noFill/>
        </p:spPr>
        <p:txBody>
          <a:bodyPr wrap="square" anchor="t" lIns="0" rIns="0" tIns="0" bIns="0">
            <a:spAutoFit/>
          </a:bodyPr>
          <a:lstStyle/>
          <a:p>
            <a:pPr algn="l"/>
            <a:r>
              <a:rPr sz="700" b="0">
                <a:solidFill>
                  <a:srgbClr val="20242A"/>
                </a:solidFill>
                <a:latin typeface="Calibri"/>
              </a:rPr>
              <a:t>0.00 m</a:t>
            </a:r>
          </a:p>
        </p:txBody>
      </p:sp>
      <p:sp>
        <p:nvSpPr>
          <p:cNvPr id="175" name="TextBox 174"/>
          <p:cNvSpPr txBox="1"/>
          <p:nvPr/>
        </p:nvSpPr>
        <p:spPr>
          <a:xfrm>
            <a:off x="10192728" y="5429000"/>
            <a:ext cx="640000" cy="185000"/>
          </a:xfrm>
          <a:prstGeom prst="rect">
            <a:avLst/>
          </a:prstGeom>
          <a:noFill/>
        </p:spPr>
        <p:txBody>
          <a:bodyPr wrap="square" anchor="t" lIns="0" rIns="0" tIns="0" bIns="0">
            <a:spAutoFit/>
          </a:bodyPr>
          <a:lstStyle/>
          <a:p>
            <a:pPr algn="l"/>
            <a:r>
              <a:rPr sz="700" b="0">
                <a:solidFill>
                  <a:srgbClr val="20242A"/>
                </a:solidFill>
                <a:latin typeface="Calibri"/>
              </a:rPr>
              <a:t>28.16 m</a:t>
            </a:r>
          </a:p>
        </p:txBody>
      </p:sp>
      <p:sp>
        <p:nvSpPr>
          <p:cNvPr id="176" name="TextBox 175"/>
          <p:cNvSpPr txBox="1"/>
          <p:nvPr/>
        </p:nvSpPr>
        <p:spPr>
          <a:xfrm>
            <a:off x="10832728" y="5429000"/>
            <a:ext cx="1620000" cy="185000"/>
          </a:xfrm>
          <a:prstGeom prst="rect">
            <a:avLst/>
          </a:prstGeom>
          <a:noFill/>
        </p:spPr>
        <p:txBody>
          <a:bodyPr wrap="square" anchor="t" lIns="0" rIns="0" tIns="0" bIns="0">
            <a:spAutoFit/>
          </a:bodyPr>
          <a:lstStyle/>
          <a:p>
            <a:pPr algn="l"/>
            <a:r>
              <a:rPr sz="700" b="0">
                <a:solidFill>
                  <a:srgbClr val="20242A"/>
                </a:solidFill>
                <a:latin typeface="Calibri"/>
              </a:rPr>
              <a:t>Stop bar light</a:t>
            </a:r>
          </a:p>
        </p:txBody>
      </p:sp>
      <p:sp>
        <p:nvSpPr>
          <p:cNvPr id="177" name="TextBox 176"/>
          <p:cNvSpPr txBox="1"/>
          <p:nvPr/>
        </p:nvSpPr>
        <p:spPr>
          <a:xfrm>
            <a:off x="12452728" y="5429000"/>
            <a:ext cx="1150000" cy="185000"/>
          </a:xfrm>
          <a:prstGeom prst="rect">
            <a:avLst/>
          </a:prstGeom>
          <a:noFill/>
        </p:spPr>
        <p:txBody>
          <a:bodyPr wrap="square" anchor="t" lIns="0" rIns="0" tIns="0" bIns="0">
            <a:spAutoFit/>
          </a:bodyPr>
          <a:lstStyle/>
          <a:p>
            <a:pPr algn="l"/>
            <a:r>
              <a:rPr sz="700" b="0">
                <a:solidFill>
                  <a:srgbClr val="20242A"/>
                </a:solidFill>
                <a:latin typeface="Calibri"/>
              </a:rPr>
              <a:t>EL-STOPBAR</a:t>
            </a:r>
          </a:p>
        </p:txBody>
      </p:sp>
      <p:sp>
        <p:nvSpPr>
          <p:cNvPr id="178" name="TextBox 177"/>
          <p:cNvSpPr txBox="1"/>
          <p:nvPr/>
        </p:nvSpPr>
        <p:spPr>
          <a:xfrm>
            <a:off x="13602728" y="5429000"/>
            <a:ext cx="900000" cy="185000"/>
          </a:xfrm>
          <a:prstGeom prst="rect">
            <a:avLst/>
          </a:prstGeom>
          <a:noFill/>
        </p:spPr>
        <p:txBody>
          <a:bodyPr wrap="square" anchor="t" lIns="0" rIns="0" tIns="0" bIns="0">
            <a:spAutoFit/>
          </a:bodyPr>
          <a:lstStyle/>
          <a:p>
            <a:pPr algn="l"/>
            <a:r>
              <a:rPr sz="700" b="0">
                <a:solidFill>
                  <a:srgbClr val="20242A"/>
                </a:solidFill>
                <a:latin typeface="Calibri"/>
              </a:rPr>
              <a:t>0.00 m</a:t>
            </a:r>
          </a:p>
        </p:txBody>
      </p:sp>
      <p:sp>
        <p:nvSpPr>
          <p:cNvPr id="179" name="TextBox 178"/>
          <p:cNvSpPr txBox="1"/>
          <p:nvPr/>
        </p:nvSpPr>
        <p:spPr>
          <a:xfrm>
            <a:off x="10192728" y="5617000"/>
            <a:ext cx="640000" cy="185000"/>
          </a:xfrm>
          <a:prstGeom prst="rect">
            <a:avLst/>
          </a:prstGeom>
          <a:noFill/>
        </p:spPr>
        <p:txBody>
          <a:bodyPr wrap="square" anchor="t" lIns="0" rIns="0" tIns="0" bIns="0">
            <a:spAutoFit/>
          </a:bodyPr>
          <a:lstStyle/>
          <a:p>
            <a:pPr algn="l"/>
            <a:r>
              <a:rPr sz="700" b="0">
                <a:solidFill>
                  <a:srgbClr val="20242A"/>
                </a:solidFill>
                <a:latin typeface="Calibri"/>
              </a:rPr>
              <a:t>27.57 m</a:t>
            </a:r>
          </a:p>
        </p:txBody>
      </p:sp>
      <p:sp>
        <p:nvSpPr>
          <p:cNvPr id="180" name="TextBox 179"/>
          <p:cNvSpPr txBox="1"/>
          <p:nvPr/>
        </p:nvSpPr>
        <p:spPr>
          <a:xfrm>
            <a:off x="10832728" y="5617000"/>
            <a:ext cx="1620000" cy="185000"/>
          </a:xfrm>
          <a:prstGeom prst="rect">
            <a:avLst/>
          </a:prstGeom>
          <a:noFill/>
        </p:spPr>
        <p:txBody>
          <a:bodyPr wrap="square" anchor="t" lIns="0" rIns="0" tIns="0" bIns="0">
            <a:spAutoFit/>
          </a:bodyPr>
          <a:lstStyle/>
          <a:p>
            <a:pPr algn="l"/>
            <a:r>
              <a:rPr sz="700" b="0">
                <a:solidFill>
                  <a:srgbClr val="20242A"/>
                </a:solidFill>
                <a:latin typeface="Calibri"/>
              </a:rPr>
              <a:t>Taxiway centreline light</a:t>
            </a:r>
          </a:p>
        </p:txBody>
      </p:sp>
      <p:sp>
        <p:nvSpPr>
          <p:cNvPr id="181" name="TextBox 180"/>
          <p:cNvSpPr txBox="1"/>
          <p:nvPr/>
        </p:nvSpPr>
        <p:spPr>
          <a:xfrm>
            <a:off x="12452728" y="5617000"/>
            <a:ext cx="1150000" cy="185000"/>
          </a:xfrm>
          <a:prstGeom prst="rect">
            <a:avLst/>
          </a:prstGeom>
          <a:noFill/>
        </p:spPr>
        <p:txBody>
          <a:bodyPr wrap="square" anchor="t" lIns="0" rIns="0" tIns="0" bIns="0">
            <a:spAutoFit/>
          </a:bodyPr>
          <a:lstStyle/>
          <a:p>
            <a:pPr algn="l"/>
            <a:r>
              <a:rPr sz="700" b="0">
                <a:solidFill>
                  <a:srgbClr val="20242A"/>
                </a:solidFill>
                <a:latin typeface="Calibri"/>
              </a:rPr>
              <a:t>EL-TAXICL</a:t>
            </a:r>
          </a:p>
        </p:txBody>
      </p:sp>
      <p:sp>
        <p:nvSpPr>
          <p:cNvPr id="182" name="TextBox 181"/>
          <p:cNvSpPr txBox="1"/>
          <p:nvPr/>
        </p:nvSpPr>
        <p:spPr>
          <a:xfrm>
            <a:off x="13602728" y="5617000"/>
            <a:ext cx="900000" cy="185000"/>
          </a:xfrm>
          <a:prstGeom prst="rect">
            <a:avLst/>
          </a:prstGeom>
          <a:noFill/>
        </p:spPr>
        <p:txBody>
          <a:bodyPr wrap="square" anchor="t" lIns="0" rIns="0" tIns="0" bIns="0">
            <a:spAutoFit/>
          </a:bodyPr>
          <a:lstStyle/>
          <a:p>
            <a:pPr algn="l"/>
            <a:r>
              <a:rPr sz="700" b="0">
                <a:solidFill>
                  <a:srgbClr val="20242A"/>
                </a:solidFill>
                <a:latin typeface="Calibri"/>
              </a:rPr>
              <a:t>0.00 m</a:t>
            </a:r>
          </a:p>
        </p:txBody>
      </p:sp>
      <p:sp>
        <p:nvSpPr>
          <p:cNvPr id="183" name="TextBox 182"/>
          <p:cNvSpPr txBox="1"/>
          <p:nvPr/>
        </p:nvSpPr>
        <p:spPr>
          <a:xfrm>
            <a:off x="10192728" y="5805000"/>
            <a:ext cx="640000" cy="185000"/>
          </a:xfrm>
          <a:prstGeom prst="rect">
            <a:avLst/>
          </a:prstGeom>
          <a:noFill/>
        </p:spPr>
        <p:txBody>
          <a:bodyPr wrap="square" anchor="t" lIns="0" rIns="0" tIns="0" bIns="0">
            <a:spAutoFit/>
          </a:bodyPr>
          <a:lstStyle/>
          <a:p>
            <a:pPr algn="l"/>
            <a:r>
              <a:rPr sz="700" b="0">
                <a:solidFill>
                  <a:srgbClr val="20242A"/>
                </a:solidFill>
                <a:latin typeface="Calibri"/>
              </a:rPr>
              <a:t>25.99 m</a:t>
            </a:r>
          </a:p>
        </p:txBody>
      </p:sp>
      <p:sp>
        <p:nvSpPr>
          <p:cNvPr id="184" name="TextBox 183"/>
          <p:cNvSpPr txBox="1"/>
          <p:nvPr/>
        </p:nvSpPr>
        <p:spPr>
          <a:xfrm>
            <a:off x="10832728" y="5805000"/>
            <a:ext cx="1620000" cy="185000"/>
          </a:xfrm>
          <a:prstGeom prst="rect">
            <a:avLst/>
          </a:prstGeom>
          <a:noFill/>
        </p:spPr>
        <p:txBody>
          <a:bodyPr wrap="square" anchor="t" lIns="0" rIns="0" tIns="0" bIns="0">
            <a:spAutoFit/>
          </a:bodyPr>
          <a:lstStyle/>
          <a:p>
            <a:pPr algn="l"/>
            <a:r>
              <a:rPr sz="700" b="0">
                <a:solidFill>
                  <a:srgbClr val="20242A"/>
                </a:solidFill>
                <a:latin typeface="Calibri"/>
              </a:rPr>
              <a:t>Runway guard light / RRM</a:t>
            </a:r>
          </a:p>
        </p:txBody>
      </p:sp>
      <p:sp>
        <p:nvSpPr>
          <p:cNvPr id="185" name="TextBox 184"/>
          <p:cNvSpPr txBox="1"/>
          <p:nvPr/>
        </p:nvSpPr>
        <p:spPr>
          <a:xfrm>
            <a:off x="12452728" y="5805000"/>
            <a:ext cx="1150000" cy="185000"/>
          </a:xfrm>
          <a:prstGeom prst="rect">
            <a:avLst/>
          </a:prstGeom>
          <a:noFill/>
        </p:spPr>
        <p:txBody>
          <a:bodyPr wrap="square" anchor="t" lIns="0" rIns="0" tIns="0" bIns="0">
            <a:spAutoFit/>
          </a:bodyPr>
          <a:lstStyle/>
          <a:p>
            <a:pPr algn="l"/>
            <a:r>
              <a:rPr sz="700" b="0">
                <a:solidFill>
                  <a:srgbClr val="20242A"/>
                </a:solidFill>
                <a:latin typeface="Calibri"/>
              </a:rPr>
              <a:t>EL-RRM</a:t>
            </a:r>
          </a:p>
        </p:txBody>
      </p:sp>
      <p:sp>
        <p:nvSpPr>
          <p:cNvPr id="186" name="TextBox 185"/>
          <p:cNvSpPr txBox="1"/>
          <p:nvPr/>
        </p:nvSpPr>
        <p:spPr>
          <a:xfrm>
            <a:off x="13602728" y="5805000"/>
            <a:ext cx="900000" cy="185000"/>
          </a:xfrm>
          <a:prstGeom prst="rect">
            <a:avLst/>
          </a:prstGeom>
          <a:noFill/>
        </p:spPr>
        <p:txBody>
          <a:bodyPr wrap="square" anchor="t" lIns="0" rIns="0" tIns="0" bIns="0">
            <a:spAutoFit/>
          </a:bodyPr>
          <a:lstStyle/>
          <a:p>
            <a:pPr algn="l"/>
            <a:r>
              <a:rPr sz="700" b="0">
                <a:solidFill>
                  <a:srgbClr val="A64B00"/>
                </a:solidFill>
                <a:latin typeface="Calibri"/>
              </a:rPr>
              <a:t>4.99 m !</a:t>
            </a:r>
          </a:p>
        </p:txBody>
      </p:sp>
      <p:sp>
        <p:nvSpPr>
          <p:cNvPr id="187" name="TextBox 186"/>
          <p:cNvSpPr txBox="1"/>
          <p:nvPr/>
        </p:nvSpPr>
        <p:spPr>
          <a:xfrm>
            <a:off x="10192728" y="5993000"/>
            <a:ext cx="640000" cy="185000"/>
          </a:xfrm>
          <a:prstGeom prst="rect">
            <a:avLst/>
          </a:prstGeom>
          <a:noFill/>
        </p:spPr>
        <p:txBody>
          <a:bodyPr wrap="square" anchor="t" lIns="0" rIns="0" tIns="0" bIns="0">
            <a:spAutoFit/>
          </a:bodyPr>
          <a:lstStyle/>
          <a:p>
            <a:pPr algn="l"/>
            <a:r>
              <a:rPr sz="700" b="0">
                <a:solidFill>
                  <a:srgbClr val="20242A"/>
                </a:solidFill>
                <a:latin typeface="Calibri"/>
              </a:rPr>
              <a:t>25.23 m</a:t>
            </a:r>
          </a:p>
        </p:txBody>
      </p:sp>
      <p:sp>
        <p:nvSpPr>
          <p:cNvPr id="188" name="TextBox 187"/>
          <p:cNvSpPr txBox="1"/>
          <p:nvPr/>
        </p:nvSpPr>
        <p:spPr>
          <a:xfrm>
            <a:off x="10832728" y="5993000"/>
            <a:ext cx="1620000" cy="185000"/>
          </a:xfrm>
          <a:prstGeom prst="rect">
            <a:avLst/>
          </a:prstGeom>
          <a:noFill/>
        </p:spPr>
        <p:txBody>
          <a:bodyPr wrap="square" anchor="t" lIns="0" rIns="0" tIns="0" bIns="0">
            <a:spAutoFit/>
          </a:bodyPr>
          <a:lstStyle/>
          <a:p>
            <a:pPr algn="l"/>
            <a:r>
              <a:rPr sz="700" b="0">
                <a:solidFill>
                  <a:srgbClr val="20242A"/>
                </a:solidFill>
                <a:latin typeface="Calibri"/>
              </a:rPr>
              <a:t>Stop bar light</a:t>
            </a:r>
          </a:p>
        </p:txBody>
      </p:sp>
      <p:sp>
        <p:nvSpPr>
          <p:cNvPr id="189" name="TextBox 188"/>
          <p:cNvSpPr txBox="1"/>
          <p:nvPr/>
        </p:nvSpPr>
        <p:spPr>
          <a:xfrm>
            <a:off x="12452728" y="5993000"/>
            <a:ext cx="1150000" cy="185000"/>
          </a:xfrm>
          <a:prstGeom prst="rect">
            <a:avLst/>
          </a:prstGeom>
          <a:noFill/>
        </p:spPr>
        <p:txBody>
          <a:bodyPr wrap="square" anchor="t" lIns="0" rIns="0" tIns="0" bIns="0">
            <a:spAutoFit/>
          </a:bodyPr>
          <a:lstStyle/>
          <a:p>
            <a:pPr algn="l"/>
            <a:r>
              <a:rPr sz="700" b="0">
                <a:solidFill>
                  <a:srgbClr val="20242A"/>
                </a:solidFill>
                <a:latin typeface="Calibri"/>
              </a:rPr>
              <a:t>EL-STOPBAR</a:t>
            </a:r>
          </a:p>
        </p:txBody>
      </p:sp>
      <p:sp>
        <p:nvSpPr>
          <p:cNvPr id="190" name="TextBox 189"/>
          <p:cNvSpPr txBox="1"/>
          <p:nvPr/>
        </p:nvSpPr>
        <p:spPr>
          <a:xfrm>
            <a:off x="13602728" y="5993000"/>
            <a:ext cx="900000" cy="185000"/>
          </a:xfrm>
          <a:prstGeom prst="rect">
            <a:avLst/>
          </a:prstGeom>
          <a:noFill/>
        </p:spPr>
        <p:txBody>
          <a:bodyPr wrap="square" anchor="t" lIns="0" rIns="0" tIns="0" bIns="0">
            <a:spAutoFit/>
          </a:bodyPr>
          <a:lstStyle/>
          <a:p>
            <a:pPr algn="l"/>
            <a:r>
              <a:rPr sz="700" b="0">
                <a:solidFill>
                  <a:srgbClr val="20242A"/>
                </a:solidFill>
                <a:latin typeface="Calibri"/>
              </a:rPr>
              <a:t>0.00 m</a:t>
            </a:r>
          </a:p>
        </p:txBody>
      </p:sp>
      <p:sp>
        <p:nvSpPr>
          <p:cNvPr id="191" name="TextBox 190"/>
          <p:cNvSpPr txBox="1"/>
          <p:nvPr/>
        </p:nvSpPr>
        <p:spPr>
          <a:xfrm>
            <a:off x="10192728" y="6181000"/>
            <a:ext cx="640000" cy="185000"/>
          </a:xfrm>
          <a:prstGeom prst="rect">
            <a:avLst/>
          </a:prstGeom>
          <a:noFill/>
        </p:spPr>
        <p:txBody>
          <a:bodyPr wrap="square" anchor="t" lIns="0" rIns="0" tIns="0" bIns="0">
            <a:spAutoFit/>
          </a:bodyPr>
          <a:lstStyle/>
          <a:p>
            <a:pPr algn="l"/>
            <a:r>
              <a:rPr sz="700" b="0">
                <a:solidFill>
                  <a:srgbClr val="20242A"/>
                </a:solidFill>
                <a:latin typeface="Calibri"/>
              </a:rPr>
              <a:t>25.07 m</a:t>
            </a:r>
          </a:p>
        </p:txBody>
      </p:sp>
      <p:sp>
        <p:nvSpPr>
          <p:cNvPr id="192" name="TextBox 191"/>
          <p:cNvSpPr txBox="1"/>
          <p:nvPr/>
        </p:nvSpPr>
        <p:spPr>
          <a:xfrm>
            <a:off x="10832728" y="6181000"/>
            <a:ext cx="1620000" cy="185000"/>
          </a:xfrm>
          <a:prstGeom prst="rect">
            <a:avLst/>
          </a:prstGeom>
          <a:noFill/>
        </p:spPr>
        <p:txBody>
          <a:bodyPr wrap="square" anchor="t" lIns="0" rIns="0" tIns="0" bIns="0">
            <a:spAutoFit/>
          </a:bodyPr>
          <a:lstStyle/>
          <a:p>
            <a:pPr algn="l"/>
            <a:r>
              <a:rPr sz="700" b="0">
                <a:solidFill>
                  <a:srgbClr val="20242A"/>
                </a:solidFill>
                <a:latin typeface="Calibri"/>
              </a:rPr>
              <a:t>Taxiway centreline light</a:t>
            </a:r>
          </a:p>
        </p:txBody>
      </p:sp>
      <p:sp>
        <p:nvSpPr>
          <p:cNvPr id="193" name="TextBox 192"/>
          <p:cNvSpPr txBox="1"/>
          <p:nvPr/>
        </p:nvSpPr>
        <p:spPr>
          <a:xfrm>
            <a:off x="12452728" y="6181000"/>
            <a:ext cx="1150000" cy="185000"/>
          </a:xfrm>
          <a:prstGeom prst="rect">
            <a:avLst/>
          </a:prstGeom>
          <a:noFill/>
        </p:spPr>
        <p:txBody>
          <a:bodyPr wrap="square" anchor="t" lIns="0" rIns="0" tIns="0" bIns="0">
            <a:spAutoFit/>
          </a:bodyPr>
          <a:lstStyle/>
          <a:p>
            <a:pPr algn="l"/>
            <a:r>
              <a:rPr sz="700" b="0">
                <a:solidFill>
                  <a:srgbClr val="20242A"/>
                </a:solidFill>
                <a:latin typeface="Calibri"/>
              </a:rPr>
              <a:t>EL-TAXICL</a:t>
            </a:r>
          </a:p>
        </p:txBody>
      </p:sp>
      <p:sp>
        <p:nvSpPr>
          <p:cNvPr id="194" name="TextBox 193"/>
          <p:cNvSpPr txBox="1"/>
          <p:nvPr/>
        </p:nvSpPr>
        <p:spPr>
          <a:xfrm>
            <a:off x="13602728" y="6181000"/>
            <a:ext cx="900000" cy="185000"/>
          </a:xfrm>
          <a:prstGeom prst="rect">
            <a:avLst/>
          </a:prstGeom>
          <a:noFill/>
        </p:spPr>
        <p:txBody>
          <a:bodyPr wrap="square" anchor="t" lIns="0" rIns="0" tIns="0" bIns="0">
            <a:spAutoFit/>
          </a:bodyPr>
          <a:lstStyle/>
          <a:p>
            <a:pPr algn="l"/>
            <a:r>
              <a:rPr sz="700" b="0">
                <a:solidFill>
                  <a:srgbClr val="20242A"/>
                </a:solidFill>
                <a:latin typeface="Calibri"/>
              </a:rPr>
              <a:t>0.00 m</a:t>
            </a:r>
          </a:p>
        </p:txBody>
      </p:sp>
      <p:sp>
        <p:nvSpPr>
          <p:cNvPr id="195" name="TextBox 194"/>
          <p:cNvSpPr txBox="1"/>
          <p:nvPr/>
        </p:nvSpPr>
        <p:spPr>
          <a:xfrm>
            <a:off x="10192728" y="6369000"/>
            <a:ext cx="640000" cy="185000"/>
          </a:xfrm>
          <a:prstGeom prst="rect">
            <a:avLst/>
          </a:prstGeom>
          <a:noFill/>
        </p:spPr>
        <p:txBody>
          <a:bodyPr wrap="square" anchor="t" lIns="0" rIns="0" tIns="0" bIns="0">
            <a:spAutoFit/>
          </a:bodyPr>
          <a:lstStyle/>
          <a:p>
            <a:pPr algn="l"/>
            <a:r>
              <a:rPr sz="700" b="0">
                <a:solidFill>
                  <a:srgbClr val="20242A"/>
                </a:solidFill>
                <a:latin typeface="Calibri"/>
              </a:rPr>
              <a:t>23.13 m</a:t>
            </a:r>
          </a:p>
        </p:txBody>
      </p:sp>
      <p:sp>
        <p:nvSpPr>
          <p:cNvPr id="196" name="TextBox 195"/>
          <p:cNvSpPr txBox="1"/>
          <p:nvPr/>
        </p:nvSpPr>
        <p:spPr>
          <a:xfrm>
            <a:off x="10832728" y="6369000"/>
            <a:ext cx="1620000" cy="185000"/>
          </a:xfrm>
          <a:prstGeom prst="rect">
            <a:avLst/>
          </a:prstGeom>
          <a:noFill/>
        </p:spPr>
        <p:txBody>
          <a:bodyPr wrap="square" anchor="t" lIns="0" rIns="0" tIns="0" bIns="0">
            <a:spAutoFit/>
          </a:bodyPr>
          <a:lstStyle/>
          <a:p>
            <a:pPr algn="l"/>
            <a:r>
              <a:rPr sz="700" b="0">
                <a:solidFill>
                  <a:srgbClr val="20242A"/>
                </a:solidFill>
                <a:latin typeface="Calibri"/>
              </a:rPr>
              <a:t>Taxiway centreline light</a:t>
            </a:r>
          </a:p>
        </p:txBody>
      </p:sp>
      <p:sp>
        <p:nvSpPr>
          <p:cNvPr id="197" name="TextBox 196"/>
          <p:cNvSpPr txBox="1"/>
          <p:nvPr/>
        </p:nvSpPr>
        <p:spPr>
          <a:xfrm>
            <a:off x="12452728" y="6369000"/>
            <a:ext cx="1150000" cy="185000"/>
          </a:xfrm>
          <a:prstGeom prst="rect">
            <a:avLst/>
          </a:prstGeom>
          <a:noFill/>
        </p:spPr>
        <p:txBody>
          <a:bodyPr wrap="square" anchor="t" lIns="0" rIns="0" tIns="0" bIns="0">
            <a:spAutoFit/>
          </a:bodyPr>
          <a:lstStyle/>
          <a:p>
            <a:pPr algn="l"/>
            <a:r>
              <a:rPr sz="700" b="0">
                <a:solidFill>
                  <a:srgbClr val="20242A"/>
                </a:solidFill>
                <a:latin typeface="Calibri"/>
              </a:rPr>
              <a:t>EL-TAXICL</a:t>
            </a:r>
          </a:p>
        </p:txBody>
      </p:sp>
      <p:sp>
        <p:nvSpPr>
          <p:cNvPr id="198" name="TextBox 197"/>
          <p:cNvSpPr txBox="1"/>
          <p:nvPr/>
        </p:nvSpPr>
        <p:spPr>
          <a:xfrm>
            <a:off x="13602728" y="6369000"/>
            <a:ext cx="900000" cy="185000"/>
          </a:xfrm>
          <a:prstGeom prst="rect">
            <a:avLst/>
          </a:prstGeom>
          <a:noFill/>
        </p:spPr>
        <p:txBody>
          <a:bodyPr wrap="square" anchor="t" lIns="0" rIns="0" tIns="0" bIns="0">
            <a:spAutoFit/>
          </a:bodyPr>
          <a:lstStyle/>
          <a:p>
            <a:pPr algn="l"/>
            <a:r>
              <a:rPr sz="700" b="0">
                <a:solidFill>
                  <a:srgbClr val="20242A"/>
                </a:solidFill>
                <a:latin typeface="Calibri"/>
              </a:rPr>
              <a:t>0.00 m</a:t>
            </a:r>
          </a:p>
        </p:txBody>
      </p:sp>
      <p:sp>
        <p:nvSpPr>
          <p:cNvPr id="199" name="TextBox 198"/>
          <p:cNvSpPr txBox="1"/>
          <p:nvPr/>
        </p:nvSpPr>
        <p:spPr>
          <a:xfrm>
            <a:off x="10192728" y="6557000"/>
            <a:ext cx="640000" cy="185000"/>
          </a:xfrm>
          <a:prstGeom prst="rect">
            <a:avLst/>
          </a:prstGeom>
          <a:noFill/>
        </p:spPr>
        <p:txBody>
          <a:bodyPr wrap="square" anchor="t" lIns="0" rIns="0" tIns="0" bIns="0">
            <a:spAutoFit/>
          </a:bodyPr>
          <a:lstStyle/>
          <a:p>
            <a:pPr algn="l"/>
            <a:r>
              <a:rPr sz="700" b="0">
                <a:solidFill>
                  <a:srgbClr val="20242A"/>
                </a:solidFill>
                <a:latin typeface="Calibri"/>
              </a:rPr>
              <a:t>22.34 m</a:t>
            </a:r>
          </a:p>
        </p:txBody>
      </p:sp>
      <p:sp>
        <p:nvSpPr>
          <p:cNvPr id="200" name="TextBox 199"/>
          <p:cNvSpPr txBox="1"/>
          <p:nvPr/>
        </p:nvSpPr>
        <p:spPr>
          <a:xfrm>
            <a:off x="10832728" y="6557000"/>
            <a:ext cx="1620000" cy="185000"/>
          </a:xfrm>
          <a:prstGeom prst="rect">
            <a:avLst/>
          </a:prstGeom>
          <a:noFill/>
        </p:spPr>
        <p:txBody>
          <a:bodyPr wrap="square" anchor="t" lIns="0" rIns="0" tIns="0" bIns="0">
            <a:spAutoFit/>
          </a:bodyPr>
          <a:lstStyle/>
          <a:p>
            <a:pPr algn="l"/>
            <a:r>
              <a:rPr sz="700" b="0">
                <a:solidFill>
                  <a:srgbClr val="20242A"/>
                </a:solidFill>
                <a:latin typeface="Calibri"/>
              </a:rPr>
              <a:t>Stop bar light</a:t>
            </a:r>
          </a:p>
        </p:txBody>
      </p:sp>
      <p:sp>
        <p:nvSpPr>
          <p:cNvPr id="201" name="TextBox 200"/>
          <p:cNvSpPr txBox="1"/>
          <p:nvPr/>
        </p:nvSpPr>
        <p:spPr>
          <a:xfrm>
            <a:off x="12452728" y="6557000"/>
            <a:ext cx="1150000" cy="185000"/>
          </a:xfrm>
          <a:prstGeom prst="rect">
            <a:avLst/>
          </a:prstGeom>
          <a:noFill/>
        </p:spPr>
        <p:txBody>
          <a:bodyPr wrap="square" anchor="t" lIns="0" rIns="0" tIns="0" bIns="0">
            <a:spAutoFit/>
          </a:bodyPr>
          <a:lstStyle/>
          <a:p>
            <a:pPr algn="l"/>
            <a:r>
              <a:rPr sz="700" b="0">
                <a:solidFill>
                  <a:srgbClr val="20242A"/>
                </a:solidFill>
                <a:latin typeface="Calibri"/>
              </a:rPr>
              <a:t>EL-STOPBAR</a:t>
            </a:r>
          </a:p>
        </p:txBody>
      </p:sp>
      <p:sp>
        <p:nvSpPr>
          <p:cNvPr id="202" name="TextBox 201"/>
          <p:cNvSpPr txBox="1"/>
          <p:nvPr/>
        </p:nvSpPr>
        <p:spPr>
          <a:xfrm>
            <a:off x="13602728" y="6557000"/>
            <a:ext cx="900000" cy="185000"/>
          </a:xfrm>
          <a:prstGeom prst="rect">
            <a:avLst/>
          </a:prstGeom>
          <a:noFill/>
        </p:spPr>
        <p:txBody>
          <a:bodyPr wrap="square" anchor="t" lIns="0" rIns="0" tIns="0" bIns="0">
            <a:spAutoFit/>
          </a:bodyPr>
          <a:lstStyle/>
          <a:p>
            <a:pPr algn="l"/>
            <a:r>
              <a:rPr sz="700" b="0">
                <a:solidFill>
                  <a:srgbClr val="20242A"/>
                </a:solidFill>
                <a:latin typeface="Calibri"/>
              </a:rPr>
              <a:t>0.00 m</a:t>
            </a:r>
          </a:p>
        </p:txBody>
      </p:sp>
      <p:sp>
        <p:nvSpPr>
          <p:cNvPr id="203" name="TextBox 202"/>
          <p:cNvSpPr txBox="1"/>
          <p:nvPr/>
        </p:nvSpPr>
        <p:spPr>
          <a:xfrm>
            <a:off x="10192728" y="6745000"/>
            <a:ext cx="640000" cy="185000"/>
          </a:xfrm>
          <a:prstGeom prst="rect">
            <a:avLst/>
          </a:prstGeom>
          <a:noFill/>
        </p:spPr>
        <p:txBody>
          <a:bodyPr wrap="square" anchor="t" lIns="0" rIns="0" tIns="0" bIns="0">
            <a:spAutoFit/>
          </a:bodyPr>
          <a:lstStyle/>
          <a:p>
            <a:pPr algn="l"/>
            <a:r>
              <a:rPr sz="700" b="0">
                <a:solidFill>
                  <a:srgbClr val="20242A"/>
                </a:solidFill>
                <a:latin typeface="Calibri"/>
              </a:rPr>
              <a:t>21.12 m</a:t>
            </a:r>
          </a:p>
        </p:txBody>
      </p:sp>
      <p:sp>
        <p:nvSpPr>
          <p:cNvPr id="204" name="TextBox 203"/>
          <p:cNvSpPr txBox="1"/>
          <p:nvPr/>
        </p:nvSpPr>
        <p:spPr>
          <a:xfrm>
            <a:off x="10832728" y="6745000"/>
            <a:ext cx="1620000" cy="185000"/>
          </a:xfrm>
          <a:prstGeom prst="rect">
            <a:avLst/>
          </a:prstGeom>
          <a:noFill/>
        </p:spPr>
        <p:txBody>
          <a:bodyPr wrap="square" anchor="t" lIns="0" rIns="0" tIns="0" bIns="0">
            <a:spAutoFit/>
          </a:bodyPr>
          <a:lstStyle/>
          <a:p>
            <a:pPr algn="l"/>
            <a:r>
              <a:rPr sz="700" b="0">
                <a:solidFill>
                  <a:srgbClr val="20242A"/>
                </a:solidFill>
                <a:latin typeface="Calibri"/>
              </a:rPr>
              <a:t>Taxiway centreline light</a:t>
            </a:r>
          </a:p>
        </p:txBody>
      </p:sp>
      <p:sp>
        <p:nvSpPr>
          <p:cNvPr id="205" name="TextBox 204"/>
          <p:cNvSpPr txBox="1"/>
          <p:nvPr/>
        </p:nvSpPr>
        <p:spPr>
          <a:xfrm>
            <a:off x="12452728" y="6745000"/>
            <a:ext cx="1150000" cy="185000"/>
          </a:xfrm>
          <a:prstGeom prst="rect">
            <a:avLst/>
          </a:prstGeom>
          <a:noFill/>
        </p:spPr>
        <p:txBody>
          <a:bodyPr wrap="square" anchor="t" lIns="0" rIns="0" tIns="0" bIns="0">
            <a:spAutoFit/>
          </a:bodyPr>
          <a:lstStyle/>
          <a:p>
            <a:pPr algn="l"/>
            <a:r>
              <a:rPr sz="700" b="0">
                <a:solidFill>
                  <a:srgbClr val="20242A"/>
                </a:solidFill>
                <a:latin typeface="Calibri"/>
              </a:rPr>
              <a:t>EL-TAXICL</a:t>
            </a:r>
          </a:p>
        </p:txBody>
      </p:sp>
      <p:sp>
        <p:nvSpPr>
          <p:cNvPr id="206" name="TextBox 205"/>
          <p:cNvSpPr txBox="1"/>
          <p:nvPr/>
        </p:nvSpPr>
        <p:spPr>
          <a:xfrm>
            <a:off x="13602728" y="6745000"/>
            <a:ext cx="900000" cy="185000"/>
          </a:xfrm>
          <a:prstGeom prst="rect">
            <a:avLst/>
          </a:prstGeom>
          <a:noFill/>
        </p:spPr>
        <p:txBody>
          <a:bodyPr wrap="square" anchor="t" lIns="0" rIns="0" tIns="0" bIns="0">
            <a:spAutoFit/>
          </a:bodyPr>
          <a:lstStyle/>
          <a:p>
            <a:pPr algn="l"/>
            <a:r>
              <a:rPr sz="700" b="0">
                <a:solidFill>
                  <a:srgbClr val="20242A"/>
                </a:solidFill>
                <a:latin typeface="Calibri"/>
              </a:rPr>
              <a:t>0.00 m</a:t>
            </a:r>
          </a:p>
        </p:txBody>
      </p:sp>
      <p:sp>
        <p:nvSpPr>
          <p:cNvPr id="207" name="TextBox 206"/>
          <p:cNvSpPr txBox="1"/>
          <p:nvPr/>
        </p:nvSpPr>
        <p:spPr>
          <a:xfrm>
            <a:off x="10192728" y="6933000"/>
            <a:ext cx="640000" cy="185000"/>
          </a:xfrm>
          <a:prstGeom prst="rect">
            <a:avLst/>
          </a:prstGeom>
          <a:noFill/>
        </p:spPr>
        <p:txBody>
          <a:bodyPr wrap="square" anchor="t" lIns="0" rIns="0" tIns="0" bIns="0">
            <a:spAutoFit/>
          </a:bodyPr>
          <a:lstStyle/>
          <a:p>
            <a:pPr algn="l"/>
            <a:r>
              <a:rPr sz="700" b="0">
                <a:solidFill>
                  <a:srgbClr val="20242A"/>
                </a:solidFill>
                <a:latin typeface="Calibri"/>
              </a:rPr>
              <a:t>20.68 m</a:t>
            </a:r>
          </a:p>
        </p:txBody>
      </p:sp>
      <p:sp>
        <p:nvSpPr>
          <p:cNvPr id="208" name="TextBox 207"/>
          <p:cNvSpPr txBox="1"/>
          <p:nvPr/>
        </p:nvSpPr>
        <p:spPr>
          <a:xfrm>
            <a:off x="10832728" y="6933000"/>
            <a:ext cx="1620000" cy="185000"/>
          </a:xfrm>
          <a:prstGeom prst="rect">
            <a:avLst/>
          </a:prstGeom>
          <a:noFill/>
        </p:spPr>
        <p:txBody>
          <a:bodyPr wrap="square" anchor="t" lIns="0" rIns="0" tIns="0" bIns="0">
            <a:spAutoFit/>
          </a:bodyPr>
          <a:lstStyle/>
          <a:p>
            <a:pPr algn="l"/>
            <a:r>
              <a:rPr sz="700" b="0">
                <a:solidFill>
                  <a:srgbClr val="20242A"/>
                </a:solidFill>
                <a:latin typeface="Calibri"/>
              </a:rPr>
              <a:t>Taxiway centreline light</a:t>
            </a:r>
          </a:p>
        </p:txBody>
      </p:sp>
      <p:sp>
        <p:nvSpPr>
          <p:cNvPr id="209" name="TextBox 208"/>
          <p:cNvSpPr txBox="1"/>
          <p:nvPr/>
        </p:nvSpPr>
        <p:spPr>
          <a:xfrm>
            <a:off x="12452728" y="6933000"/>
            <a:ext cx="1150000" cy="185000"/>
          </a:xfrm>
          <a:prstGeom prst="rect">
            <a:avLst/>
          </a:prstGeom>
          <a:noFill/>
        </p:spPr>
        <p:txBody>
          <a:bodyPr wrap="square" anchor="t" lIns="0" rIns="0" tIns="0" bIns="0">
            <a:spAutoFit/>
          </a:bodyPr>
          <a:lstStyle/>
          <a:p>
            <a:pPr algn="l"/>
            <a:r>
              <a:rPr sz="700" b="0">
                <a:solidFill>
                  <a:srgbClr val="20242A"/>
                </a:solidFill>
                <a:latin typeface="Calibri"/>
              </a:rPr>
              <a:t>EL-TAXICL</a:t>
            </a:r>
          </a:p>
        </p:txBody>
      </p:sp>
      <p:sp>
        <p:nvSpPr>
          <p:cNvPr id="210" name="TextBox 209"/>
          <p:cNvSpPr txBox="1"/>
          <p:nvPr/>
        </p:nvSpPr>
        <p:spPr>
          <a:xfrm>
            <a:off x="13602728" y="6933000"/>
            <a:ext cx="900000" cy="185000"/>
          </a:xfrm>
          <a:prstGeom prst="rect">
            <a:avLst/>
          </a:prstGeom>
          <a:noFill/>
        </p:spPr>
        <p:txBody>
          <a:bodyPr wrap="square" anchor="t" lIns="0" rIns="0" tIns="0" bIns="0">
            <a:spAutoFit/>
          </a:bodyPr>
          <a:lstStyle/>
          <a:p>
            <a:pPr algn="l"/>
            <a:r>
              <a:rPr sz="700" b="0">
                <a:solidFill>
                  <a:srgbClr val="A64B00"/>
                </a:solidFill>
                <a:latin typeface="Calibri"/>
              </a:rPr>
              <a:t>0.07 m !</a:t>
            </a:r>
          </a:p>
        </p:txBody>
      </p:sp>
      <p:sp>
        <p:nvSpPr>
          <p:cNvPr id="211" name="TextBox 210"/>
          <p:cNvSpPr txBox="1"/>
          <p:nvPr/>
        </p:nvSpPr>
        <p:spPr>
          <a:xfrm>
            <a:off x="10192728" y="7121000"/>
            <a:ext cx="640000" cy="185000"/>
          </a:xfrm>
          <a:prstGeom prst="rect">
            <a:avLst/>
          </a:prstGeom>
          <a:noFill/>
        </p:spPr>
        <p:txBody>
          <a:bodyPr wrap="square" anchor="t" lIns="0" rIns="0" tIns="0" bIns="0">
            <a:spAutoFit/>
          </a:bodyPr>
          <a:lstStyle/>
          <a:p>
            <a:pPr algn="l"/>
            <a:r>
              <a:rPr sz="700" b="0">
                <a:solidFill>
                  <a:srgbClr val="20242A"/>
                </a:solidFill>
                <a:latin typeface="Calibri"/>
              </a:rPr>
              <a:t>20.57 m</a:t>
            </a:r>
          </a:p>
        </p:txBody>
      </p:sp>
      <p:sp>
        <p:nvSpPr>
          <p:cNvPr id="212" name="TextBox 211"/>
          <p:cNvSpPr txBox="1"/>
          <p:nvPr/>
        </p:nvSpPr>
        <p:spPr>
          <a:xfrm>
            <a:off x="10832728" y="7121000"/>
            <a:ext cx="1620000" cy="185000"/>
          </a:xfrm>
          <a:prstGeom prst="rect">
            <a:avLst/>
          </a:prstGeom>
          <a:noFill/>
        </p:spPr>
        <p:txBody>
          <a:bodyPr wrap="square" anchor="t" lIns="0" rIns="0" tIns="0" bIns="0">
            <a:spAutoFit/>
          </a:bodyPr>
          <a:lstStyle/>
          <a:p>
            <a:pPr algn="l"/>
            <a:r>
              <a:rPr sz="700" b="0">
                <a:solidFill>
                  <a:srgbClr val="20242A"/>
                </a:solidFill>
                <a:latin typeface="Calibri"/>
              </a:rPr>
              <a:t>Taxiway centreline light</a:t>
            </a:r>
          </a:p>
        </p:txBody>
      </p:sp>
      <p:sp>
        <p:nvSpPr>
          <p:cNvPr id="213" name="TextBox 212"/>
          <p:cNvSpPr txBox="1"/>
          <p:nvPr/>
        </p:nvSpPr>
        <p:spPr>
          <a:xfrm>
            <a:off x="12452728" y="7121000"/>
            <a:ext cx="1150000" cy="185000"/>
          </a:xfrm>
          <a:prstGeom prst="rect">
            <a:avLst/>
          </a:prstGeom>
          <a:noFill/>
        </p:spPr>
        <p:txBody>
          <a:bodyPr wrap="square" anchor="t" lIns="0" rIns="0" tIns="0" bIns="0">
            <a:spAutoFit/>
          </a:bodyPr>
          <a:lstStyle/>
          <a:p>
            <a:pPr algn="l"/>
            <a:r>
              <a:rPr sz="700" b="0">
                <a:solidFill>
                  <a:srgbClr val="20242A"/>
                </a:solidFill>
                <a:latin typeface="Calibri"/>
              </a:rPr>
              <a:t>EL-TAXICL</a:t>
            </a:r>
          </a:p>
        </p:txBody>
      </p:sp>
      <p:sp>
        <p:nvSpPr>
          <p:cNvPr id="214" name="TextBox 213"/>
          <p:cNvSpPr txBox="1"/>
          <p:nvPr/>
        </p:nvSpPr>
        <p:spPr>
          <a:xfrm>
            <a:off x="13602728" y="7121000"/>
            <a:ext cx="900000" cy="185000"/>
          </a:xfrm>
          <a:prstGeom prst="rect">
            <a:avLst/>
          </a:prstGeom>
          <a:noFill/>
        </p:spPr>
        <p:txBody>
          <a:bodyPr wrap="square" anchor="t" lIns="0" rIns="0" tIns="0" bIns="0">
            <a:spAutoFit/>
          </a:bodyPr>
          <a:lstStyle/>
          <a:p>
            <a:pPr algn="l"/>
            <a:r>
              <a:rPr sz="700" b="0">
                <a:solidFill>
                  <a:srgbClr val="20242A"/>
                </a:solidFill>
                <a:latin typeface="Calibri"/>
              </a:rPr>
              <a:t>0.00 m</a:t>
            </a:r>
          </a:p>
        </p:txBody>
      </p:sp>
      <p:sp>
        <p:nvSpPr>
          <p:cNvPr id="215" name="TextBox 214"/>
          <p:cNvSpPr txBox="1"/>
          <p:nvPr/>
        </p:nvSpPr>
        <p:spPr>
          <a:xfrm>
            <a:off x="10192728" y="7309000"/>
            <a:ext cx="640000" cy="185000"/>
          </a:xfrm>
          <a:prstGeom prst="rect">
            <a:avLst/>
          </a:prstGeom>
          <a:noFill/>
        </p:spPr>
        <p:txBody>
          <a:bodyPr wrap="square" anchor="t" lIns="0" rIns="0" tIns="0" bIns="0">
            <a:spAutoFit/>
          </a:bodyPr>
          <a:lstStyle/>
          <a:p>
            <a:pPr algn="l"/>
            <a:r>
              <a:rPr sz="700" b="0">
                <a:solidFill>
                  <a:srgbClr val="20242A"/>
                </a:solidFill>
                <a:latin typeface="Calibri"/>
              </a:rPr>
              <a:t>20.47 m</a:t>
            </a:r>
          </a:p>
        </p:txBody>
      </p:sp>
      <p:sp>
        <p:nvSpPr>
          <p:cNvPr id="216" name="TextBox 215"/>
          <p:cNvSpPr txBox="1"/>
          <p:nvPr/>
        </p:nvSpPr>
        <p:spPr>
          <a:xfrm>
            <a:off x="10832728" y="7309000"/>
            <a:ext cx="1620000" cy="185000"/>
          </a:xfrm>
          <a:prstGeom prst="rect">
            <a:avLst/>
          </a:prstGeom>
          <a:noFill/>
        </p:spPr>
        <p:txBody>
          <a:bodyPr wrap="square" anchor="t" lIns="0" rIns="0" tIns="0" bIns="0">
            <a:spAutoFit/>
          </a:bodyPr>
          <a:lstStyle/>
          <a:p>
            <a:pPr algn="l"/>
            <a:r>
              <a:rPr sz="700" b="0">
                <a:solidFill>
                  <a:srgbClr val="20242A"/>
                </a:solidFill>
                <a:latin typeface="Calibri"/>
              </a:rPr>
              <a:t>Taxiway centreline light</a:t>
            </a:r>
          </a:p>
        </p:txBody>
      </p:sp>
      <p:sp>
        <p:nvSpPr>
          <p:cNvPr id="217" name="TextBox 216"/>
          <p:cNvSpPr txBox="1"/>
          <p:nvPr/>
        </p:nvSpPr>
        <p:spPr>
          <a:xfrm>
            <a:off x="12452728" y="7309000"/>
            <a:ext cx="1150000" cy="185000"/>
          </a:xfrm>
          <a:prstGeom prst="rect">
            <a:avLst/>
          </a:prstGeom>
          <a:noFill/>
        </p:spPr>
        <p:txBody>
          <a:bodyPr wrap="square" anchor="t" lIns="0" rIns="0" tIns="0" bIns="0">
            <a:spAutoFit/>
          </a:bodyPr>
          <a:lstStyle/>
          <a:p>
            <a:pPr algn="l"/>
            <a:r>
              <a:rPr sz="700" b="0">
                <a:solidFill>
                  <a:srgbClr val="20242A"/>
                </a:solidFill>
                <a:latin typeface="Calibri"/>
              </a:rPr>
              <a:t>EL-TAXICL</a:t>
            </a:r>
          </a:p>
        </p:txBody>
      </p:sp>
      <p:sp>
        <p:nvSpPr>
          <p:cNvPr id="218" name="TextBox 217"/>
          <p:cNvSpPr txBox="1"/>
          <p:nvPr/>
        </p:nvSpPr>
        <p:spPr>
          <a:xfrm>
            <a:off x="13602728" y="7309000"/>
            <a:ext cx="900000" cy="185000"/>
          </a:xfrm>
          <a:prstGeom prst="rect">
            <a:avLst/>
          </a:prstGeom>
          <a:noFill/>
        </p:spPr>
        <p:txBody>
          <a:bodyPr wrap="square" anchor="t" lIns="0" rIns="0" tIns="0" bIns="0">
            <a:spAutoFit/>
          </a:bodyPr>
          <a:lstStyle/>
          <a:p>
            <a:pPr algn="l"/>
            <a:r>
              <a:rPr sz="700" b="0">
                <a:solidFill>
                  <a:srgbClr val="20242A"/>
                </a:solidFill>
                <a:latin typeface="Calibri"/>
              </a:rPr>
              <a:t>0.00 m</a:t>
            </a:r>
          </a:p>
        </p:txBody>
      </p:sp>
      <p:sp>
        <p:nvSpPr>
          <p:cNvPr id="219" name="TextBox 218"/>
          <p:cNvSpPr txBox="1"/>
          <p:nvPr/>
        </p:nvSpPr>
        <p:spPr>
          <a:xfrm>
            <a:off x="10192728" y="7497000"/>
            <a:ext cx="640000" cy="185000"/>
          </a:xfrm>
          <a:prstGeom prst="rect">
            <a:avLst/>
          </a:prstGeom>
          <a:noFill/>
        </p:spPr>
        <p:txBody>
          <a:bodyPr wrap="square" anchor="t" lIns="0" rIns="0" tIns="0" bIns="0">
            <a:spAutoFit/>
          </a:bodyPr>
          <a:lstStyle/>
          <a:p>
            <a:pPr algn="l"/>
            <a:r>
              <a:rPr sz="700" b="0">
                <a:solidFill>
                  <a:srgbClr val="20242A"/>
                </a:solidFill>
                <a:latin typeface="Calibri"/>
              </a:rPr>
              <a:t>19.24 m</a:t>
            </a:r>
          </a:p>
        </p:txBody>
      </p:sp>
      <p:sp>
        <p:nvSpPr>
          <p:cNvPr id="220" name="TextBox 219"/>
          <p:cNvSpPr txBox="1"/>
          <p:nvPr/>
        </p:nvSpPr>
        <p:spPr>
          <a:xfrm>
            <a:off x="10832728" y="7497000"/>
            <a:ext cx="1620000" cy="185000"/>
          </a:xfrm>
          <a:prstGeom prst="rect">
            <a:avLst/>
          </a:prstGeom>
          <a:noFill/>
        </p:spPr>
        <p:txBody>
          <a:bodyPr wrap="square" anchor="t" lIns="0" rIns="0" tIns="0" bIns="0">
            <a:spAutoFit/>
          </a:bodyPr>
          <a:lstStyle/>
          <a:p>
            <a:pPr algn="l"/>
            <a:r>
              <a:rPr sz="700" b="0">
                <a:solidFill>
                  <a:srgbClr val="20242A"/>
                </a:solidFill>
                <a:latin typeface="Calibri"/>
              </a:rPr>
              <a:t>Stop bar light</a:t>
            </a:r>
          </a:p>
        </p:txBody>
      </p:sp>
      <p:sp>
        <p:nvSpPr>
          <p:cNvPr id="221" name="TextBox 220"/>
          <p:cNvSpPr txBox="1"/>
          <p:nvPr/>
        </p:nvSpPr>
        <p:spPr>
          <a:xfrm>
            <a:off x="12452728" y="7497000"/>
            <a:ext cx="1150000" cy="185000"/>
          </a:xfrm>
          <a:prstGeom prst="rect">
            <a:avLst/>
          </a:prstGeom>
          <a:noFill/>
        </p:spPr>
        <p:txBody>
          <a:bodyPr wrap="square" anchor="t" lIns="0" rIns="0" tIns="0" bIns="0">
            <a:spAutoFit/>
          </a:bodyPr>
          <a:lstStyle/>
          <a:p>
            <a:pPr algn="l"/>
            <a:r>
              <a:rPr sz="700" b="0">
                <a:solidFill>
                  <a:srgbClr val="20242A"/>
                </a:solidFill>
                <a:latin typeface="Calibri"/>
              </a:rPr>
              <a:t>EL-STOPBAR</a:t>
            </a:r>
          </a:p>
        </p:txBody>
      </p:sp>
      <p:sp>
        <p:nvSpPr>
          <p:cNvPr id="222" name="TextBox 221"/>
          <p:cNvSpPr txBox="1"/>
          <p:nvPr/>
        </p:nvSpPr>
        <p:spPr>
          <a:xfrm>
            <a:off x="13602728" y="7497000"/>
            <a:ext cx="900000" cy="185000"/>
          </a:xfrm>
          <a:prstGeom prst="rect">
            <a:avLst/>
          </a:prstGeom>
          <a:noFill/>
        </p:spPr>
        <p:txBody>
          <a:bodyPr wrap="square" anchor="t" lIns="0" rIns="0" tIns="0" bIns="0">
            <a:spAutoFit/>
          </a:bodyPr>
          <a:lstStyle/>
          <a:p>
            <a:pPr algn="l"/>
            <a:r>
              <a:rPr sz="700" b="0">
                <a:solidFill>
                  <a:srgbClr val="20242A"/>
                </a:solidFill>
                <a:latin typeface="Calibri"/>
              </a:rPr>
              <a:t>0.00 m</a:t>
            </a:r>
          </a:p>
        </p:txBody>
      </p:sp>
      <p:sp>
        <p:nvSpPr>
          <p:cNvPr id="223" name="TextBox 222"/>
          <p:cNvSpPr txBox="1"/>
          <p:nvPr/>
        </p:nvSpPr>
        <p:spPr>
          <a:xfrm>
            <a:off x="10192728" y="7685000"/>
            <a:ext cx="640000" cy="185000"/>
          </a:xfrm>
          <a:prstGeom prst="rect">
            <a:avLst/>
          </a:prstGeom>
          <a:noFill/>
        </p:spPr>
        <p:txBody>
          <a:bodyPr wrap="square" anchor="t" lIns="0" rIns="0" tIns="0" bIns="0">
            <a:spAutoFit/>
          </a:bodyPr>
          <a:lstStyle/>
          <a:p>
            <a:pPr algn="l"/>
            <a:r>
              <a:rPr sz="700" b="0">
                <a:solidFill>
                  <a:srgbClr val="20242A"/>
                </a:solidFill>
                <a:latin typeface="Calibri"/>
              </a:rPr>
              <a:t>16.34 m</a:t>
            </a:r>
          </a:p>
        </p:txBody>
      </p:sp>
      <p:sp>
        <p:nvSpPr>
          <p:cNvPr id="224" name="TextBox 223"/>
          <p:cNvSpPr txBox="1"/>
          <p:nvPr/>
        </p:nvSpPr>
        <p:spPr>
          <a:xfrm>
            <a:off x="10832728" y="7685000"/>
            <a:ext cx="1620000" cy="185000"/>
          </a:xfrm>
          <a:prstGeom prst="rect">
            <a:avLst/>
          </a:prstGeom>
          <a:noFill/>
        </p:spPr>
        <p:txBody>
          <a:bodyPr wrap="square" anchor="t" lIns="0" rIns="0" tIns="0" bIns="0">
            <a:spAutoFit/>
          </a:bodyPr>
          <a:lstStyle/>
          <a:p>
            <a:pPr algn="l"/>
            <a:r>
              <a:rPr sz="700" b="0">
                <a:solidFill>
                  <a:srgbClr val="20242A"/>
                </a:solidFill>
                <a:latin typeface="Calibri"/>
              </a:rPr>
              <a:t>Stop bar light</a:t>
            </a:r>
          </a:p>
        </p:txBody>
      </p:sp>
      <p:sp>
        <p:nvSpPr>
          <p:cNvPr id="225" name="TextBox 224"/>
          <p:cNvSpPr txBox="1"/>
          <p:nvPr/>
        </p:nvSpPr>
        <p:spPr>
          <a:xfrm>
            <a:off x="12452728" y="7685000"/>
            <a:ext cx="1150000" cy="185000"/>
          </a:xfrm>
          <a:prstGeom prst="rect">
            <a:avLst/>
          </a:prstGeom>
          <a:noFill/>
        </p:spPr>
        <p:txBody>
          <a:bodyPr wrap="square" anchor="t" lIns="0" rIns="0" tIns="0" bIns="0">
            <a:spAutoFit/>
          </a:bodyPr>
          <a:lstStyle/>
          <a:p>
            <a:pPr algn="l"/>
            <a:r>
              <a:rPr sz="700" b="0">
                <a:solidFill>
                  <a:srgbClr val="20242A"/>
                </a:solidFill>
                <a:latin typeface="Calibri"/>
              </a:rPr>
              <a:t>EL-STOPBAR</a:t>
            </a:r>
          </a:p>
        </p:txBody>
      </p:sp>
      <p:sp>
        <p:nvSpPr>
          <p:cNvPr id="226" name="TextBox 225"/>
          <p:cNvSpPr txBox="1"/>
          <p:nvPr/>
        </p:nvSpPr>
        <p:spPr>
          <a:xfrm>
            <a:off x="13602728" y="7685000"/>
            <a:ext cx="900000" cy="185000"/>
          </a:xfrm>
          <a:prstGeom prst="rect">
            <a:avLst/>
          </a:prstGeom>
          <a:noFill/>
        </p:spPr>
        <p:txBody>
          <a:bodyPr wrap="square" anchor="t" lIns="0" rIns="0" tIns="0" bIns="0">
            <a:spAutoFit/>
          </a:bodyPr>
          <a:lstStyle/>
          <a:p>
            <a:pPr algn="l"/>
            <a:r>
              <a:rPr sz="700" b="0">
                <a:solidFill>
                  <a:srgbClr val="20242A"/>
                </a:solidFill>
                <a:latin typeface="Calibri"/>
              </a:rPr>
              <a:t>0.00 m</a:t>
            </a:r>
          </a:p>
        </p:txBody>
      </p:sp>
      <p:sp>
        <p:nvSpPr>
          <p:cNvPr id="227" name="TextBox 226"/>
          <p:cNvSpPr txBox="1"/>
          <p:nvPr/>
        </p:nvSpPr>
        <p:spPr>
          <a:xfrm>
            <a:off x="10192728" y="7873000"/>
            <a:ext cx="640000" cy="185000"/>
          </a:xfrm>
          <a:prstGeom prst="rect">
            <a:avLst/>
          </a:prstGeom>
          <a:noFill/>
        </p:spPr>
        <p:txBody>
          <a:bodyPr wrap="square" anchor="t" lIns="0" rIns="0" tIns="0" bIns="0">
            <a:spAutoFit/>
          </a:bodyPr>
          <a:lstStyle/>
          <a:p>
            <a:pPr algn="l"/>
            <a:r>
              <a:rPr sz="700" b="0">
                <a:solidFill>
                  <a:srgbClr val="20242A"/>
                </a:solidFill>
                <a:latin typeface="Calibri"/>
              </a:rPr>
              <a:t>13.46 m</a:t>
            </a:r>
          </a:p>
        </p:txBody>
      </p:sp>
      <p:sp>
        <p:nvSpPr>
          <p:cNvPr id="228" name="TextBox 227"/>
          <p:cNvSpPr txBox="1"/>
          <p:nvPr/>
        </p:nvSpPr>
        <p:spPr>
          <a:xfrm>
            <a:off x="10832728" y="7873000"/>
            <a:ext cx="1620000" cy="185000"/>
          </a:xfrm>
          <a:prstGeom prst="rect">
            <a:avLst/>
          </a:prstGeom>
          <a:noFill/>
        </p:spPr>
        <p:txBody>
          <a:bodyPr wrap="square" anchor="t" lIns="0" rIns="0" tIns="0" bIns="0">
            <a:spAutoFit/>
          </a:bodyPr>
          <a:lstStyle/>
          <a:p>
            <a:pPr algn="l"/>
            <a:r>
              <a:rPr sz="700" b="0">
                <a:solidFill>
                  <a:srgbClr val="20242A"/>
                </a:solidFill>
                <a:latin typeface="Calibri"/>
              </a:rPr>
              <a:t>Stop bar light</a:t>
            </a:r>
          </a:p>
        </p:txBody>
      </p:sp>
      <p:sp>
        <p:nvSpPr>
          <p:cNvPr id="229" name="TextBox 228"/>
          <p:cNvSpPr txBox="1"/>
          <p:nvPr/>
        </p:nvSpPr>
        <p:spPr>
          <a:xfrm>
            <a:off x="12452728" y="7873000"/>
            <a:ext cx="1150000" cy="185000"/>
          </a:xfrm>
          <a:prstGeom prst="rect">
            <a:avLst/>
          </a:prstGeom>
          <a:noFill/>
        </p:spPr>
        <p:txBody>
          <a:bodyPr wrap="square" anchor="t" lIns="0" rIns="0" tIns="0" bIns="0">
            <a:spAutoFit/>
          </a:bodyPr>
          <a:lstStyle/>
          <a:p>
            <a:pPr algn="l"/>
            <a:r>
              <a:rPr sz="700" b="0">
                <a:solidFill>
                  <a:srgbClr val="20242A"/>
                </a:solidFill>
                <a:latin typeface="Calibri"/>
              </a:rPr>
              <a:t>EL-STOPBAR</a:t>
            </a:r>
          </a:p>
        </p:txBody>
      </p:sp>
      <p:sp>
        <p:nvSpPr>
          <p:cNvPr id="230" name="TextBox 229"/>
          <p:cNvSpPr txBox="1"/>
          <p:nvPr/>
        </p:nvSpPr>
        <p:spPr>
          <a:xfrm>
            <a:off x="13602728" y="7873000"/>
            <a:ext cx="900000" cy="185000"/>
          </a:xfrm>
          <a:prstGeom prst="rect">
            <a:avLst/>
          </a:prstGeom>
          <a:noFill/>
        </p:spPr>
        <p:txBody>
          <a:bodyPr wrap="square" anchor="t" lIns="0" rIns="0" tIns="0" bIns="0">
            <a:spAutoFit/>
          </a:bodyPr>
          <a:lstStyle/>
          <a:p>
            <a:pPr algn="l"/>
            <a:r>
              <a:rPr sz="700" b="0">
                <a:solidFill>
                  <a:srgbClr val="20242A"/>
                </a:solidFill>
                <a:latin typeface="Calibri"/>
              </a:rPr>
              <a:t>0.00 m</a:t>
            </a:r>
          </a:p>
        </p:txBody>
      </p:sp>
      <p:sp>
        <p:nvSpPr>
          <p:cNvPr id="231" name="TextBox 230"/>
          <p:cNvSpPr txBox="1"/>
          <p:nvPr/>
        </p:nvSpPr>
        <p:spPr>
          <a:xfrm>
            <a:off x="10192728" y="8061000"/>
            <a:ext cx="640000" cy="185000"/>
          </a:xfrm>
          <a:prstGeom prst="rect">
            <a:avLst/>
          </a:prstGeom>
          <a:noFill/>
        </p:spPr>
        <p:txBody>
          <a:bodyPr wrap="square" anchor="t" lIns="0" rIns="0" tIns="0" bIns="0">
            <a:spAutoFit/>
          </a:bodyPr>
          <a:lstStyle/>
          <a:p>
            <a:pPr algn="l"/>
            <a:r>
              <a:rPr sz="700" b="0">
                <a:solidFill>
                  <a:srgbClr val="20242A"/>
                </a:solidFill>
                <a:latin typeface="Calibri"/>
              </a:rPr>
              <a:t>10.65 m</a:t>
            </a:r>
          </a:p>
        </p:txBody>
      </p:sp>
      <p:sp>
        <p:nvSpPr>
          <p:cNvPr id="232" name="TextBox 231"/>
          <p:cNvSpPr txBox="1"/>
          <p:nvPr/>
        </p:nvSpPr>
        <p:spPr>
          <a:xfrm>
            <a:off x="10832728" y="8061000"/>
            <a:ext cx="1620000" cy="185000"/>
          </a:xfrm>
          <a:prstGeom prst="rect">
            <a:avLst/>
          </a:prstGeom>
          <a:noFill/>
        </p:spPr>
        <p:txBody>
          <a:bodyPr wrap="square" anchor="t" lIns="0" rIns="0" tIns="0" bIns="0">
            <a:spAutoFit/>
          </a:bodyPr>
          <a:lstStyle/>
          <a:p>
            <a:pPr algn="l"/>
            <a:r>
              <a:rPr sz="700" b="0">
                <a:solidFill>
                  <a:srgbClr val="20242A"/>
                </a:solidFill>
                <a:latin typeface="Calibri"/>
              </a:rPr>
              <a:t>Stop bar light</a:t>
            </a:r>
          </a:p>
        </p:txBody>
      </p:sp>
      <p:sp>
        <p:nvSpPr>
          <p:cNvPr id="233" name="TextBox 232"/>
          <p:cNvSpPr txBox="1"/>
          <p:nvPr/>
        </p:nvSpPr>
        <p:spPr>
          <a:xfrm>
            <a:off x="12452728" y="8061000"/>
            <a:ext cx="1150000" cy="185000"/>
          </a:xfrm>
          <a:prstGeom prst="rect">
            <a:avLst/>
          </a:prstGeom>
          <a:noFill/>
        </p:spPr>
        <p:txBody>
          <a:bodyPr wrap="square" anchor="t" lIns="0" rIns="0" tIns="0" bIns="0">
            <a:spAutoFit/>
          </a:bodyPr>
          <a:lstStyle/>
          <a:p>
            <a:pPr algn="l"/>
            <a:r>
              <a:rPr sz="700" b="0">
                <a:solidFill>
                  <a:srgbClr val="20242A"/>
                </a:solidFill>
                <a:latin typeface="Calibri"/>
              </a:rPr>
              <a:t>EL-STOPBAR</a:t>
            </a:r>
          </a:p>
        </p:txBody>
      </p:sp>
      <p:sp>
        <p:nvSpPr>
          <p:cNvPr id="234" name="TextBox 233"/>
          <p:cNvSpPr txBox="1"/>
          <p:nvPr/>
        </p:nvSpPr>
        <p:spPr>
          <a:xfrm>
            <a:off x="13602728" y="8061000"/>
            <a:ext cx="900000" cy="185000"/>
          </a:xfrm>
          <a:prstGeom prst="rect">
            <a:avLst/>
          </a:prstGeom>
          <a:noFill/>
        </p:spPr>
        <p:txBody>
          <a:bodyPr wrap="square" anchor="t" lIns="0" rIns="0" tIns="0" bIns="0">
            <a:spAutoFit/>
          </a:bodyPr>
          <a:lstStyle/>
          <a:p>
            <a:pPr algn="l"/>
            <a:r>
              <a:rPr sz="700" b="0">
                <a:solidFill>
                  <a:srgbClr val="20242A"/>
                </a:solidFill>
                <a:latin typeface="Calibri"/>
              </a:rPr>
              <a:t>0.00 m</a:t>
            </a:r>
          </a:p>
        </p:txBody>
      </p:sp>
      <p:sp>
        <p:nvSpPr>
          <p:cNvPr id="235" name="TextBox 234"/>
          <p:cNvSpPr txBox="1"/>
          <p:nvPr/>
        </p:nvSpPr>
        <p:spPr>
          <a:xfrm>
            <a:off x="10192728" y="8249000"/>
            <a:ext cx="640000" cy="185000"/>
          </a:xfrm>
          <a:prstGeom prst="rect">
            <a:avLst/>
          </a:prstGeom>
          <a:noFill/>
        </p:spPr>
        <p:txBody>
          <a:bodyPr wrap="square" anchor="t" lIns="0" rIns="0" tIns="0" bIns="0">
            <a:spAutoFit/>
          </a:bodyPr>
          <a:lstStyle/>
          <a:p>
            <a:pPr algn="l"/>
            <a:r>
              <a:rPr sz="700" b="0">
                <a:solidFill>
                  <a:srgbClr val="20242A"/>
                </a:solidFill>
                <a:latin typeface="Calibri"/>
              </a:rPr>
              <a:t>7.00 m</a:t>
            </a:r>
          </a:p>
        </p:txBody>
      </p:sp>
      <p:sp>
        <p:nvSpPr>
          <p:cNvPr id="236" name="TextBox 235"/>
          <p:cNvSpPr txBox="1"/>
          <p:nvPr/>
        </p:nvSpPr>
        <p:spPr>
          <a:xfrm>
            <a:off x="10832728" y="8249000"/>
            <a:ext cx="1620000" cy="185000"/>
          </a:xfrm>
          <a:prstGeom prst="rect">
            <a:avLst/>
          </a:prstGeom>
          <a:noFill/>
        </p:spPr>
        <p:txBody>
          <a:bodyPr wrap="square" anchor="t" lIns="0" rIns="0" tIns="0" bIns="0">
            <a:spAutoFit/>
          </a:bodyPr>
          <a:lstStyle/>
          <a:p>
            <a:pPr algn="l"/>
            <a:r>
              <a:rPr sz="700" b="0">
                <a:solidFill>
                  <a:srgbClr val="20242A"/>
                </a:solidFill>
                <a:latin typeface="Calibri"/>
              </a:rPr>
              <a:t>Handhole</a:t>
            </a:r>
          </a:p>
        </p:txBody>
      </p:sp>
      <p:sp>
        <p:nvSpPr>
          <p:cNvPr id="237" name="TextBox 236"/>
          <p:cNvSpPr txBox="1"/>
          <p:nvPr/>
        </p:nvSpPr>
        <p:spPr>
          <a:xfrm>
            <a:off x="12452728" y="8249000"/>
            <a:ext cx="1150000" cy="185000"/>
          </a:xfrm>
          <a:prstGeom prst="rect">
            <a:avLst/>
          </a:prstGeom>
          <a:noFill/>
        </p:spPr>
        <p:txBody>
          <a:bodyPr wrap="square" anchor="t" lIns="0" rIns="0" tIns="0" bIns="0">
            <a:spAutoFit/>
          </a:bodyPr>
          <a:lstStyle/>
          <a:p>
            <a:pPr algn="l"/>
            <a:r>
              <a:rPr sz="700" b="0">
                <a:solidFill>
                  <a:srgbClr val="20242A"/>
                </a:solidFill>
                <a:latin typeface="Calibri"/>
              </a:rPr>
              <a:t>CV_HH</a:t>
            </a:r>
          </a:p>
        </p:txBody>
      </p:sp>
      <p:sp>
        <p:nvSpPr>
          <p:cNvPr id="238" name="TextBox 237"/>
          <p:cNvSpPr txBox="1"/>
          <p:nvPr/>
        </p:nvSpPr>
        <p:spPr>
          <a:xfrm>
            <a:off x="13602728" y="8249000"/>
            <a:ext cx="900000" cy="185000"/>
          </a:xfrm>
          <a:prstGeom prst="rect">
            <a:avLst/>
          </a:prstGeom>
          <a:noFill/>
        </p:spPr>
        <p:txBody>
          <a:bodyPr wrap="square" anchor="t" lIns="0" rIns="0" tIns="0" bIns="0">
            <a:spAutoFit/>
          </a:bodyPr>
          <a:lstStyle/>
          <a:p>
            <a:pPr algn="l"/>
            <a:r>
              <a:rPr sz="700" b="0">
                <a:solidFill>
                  <a:srgbClr val="20242A"/>
                </a:solidFill>
                <a:latin typeface="Calibri"/>
              </a:rPr>
              <a:t>0.00 m</a:t>
            </a:r>
          </a:p>
        </p:txBody>
      </p:sp>
      <p:sp>
        <p:nvSpPr>
          <p:cNvPr id="239" name="TextBox 238"/>
          <p:cNvSpPr txBox="1"/>
          <p:nvPr/>
        </p:nvSpPr>
        <p:spPr>
          <a:xfrm>
            <a:off x="10192728" y="8437000"/>
            <a:ext cx="640000" cy="185000"/>
          </a:xfrm>
          <a:prstGeom prst="rect">
            <a:avLst/>
          </a:prstGeom>
          <a:noFill/>
        </p:spPr>
        <p:txBody>
          <a:bodyPr wrap="square" anchor="t" lIns="0" rIns="0" tIns="0" bIns="0">
            <a:spAutoFit/>
          </a:bodyPr>
          <a:lstStyle/>
          <a:p>
            <a:pPr algn="l"/>
            <a:r>
              <a:rPr sz="700" b="0">
                <a:solidFill>
                  <a:srgbClr val="20242A"/>
                </a:solidFill>
                <a:latin typeface="Calibri"/>
              </a:rPr>
              <a:t>6.80 m</a:t>
            </a:r>
          </a:p>
        </p:txBody>
      </p:sp>
      <p:sp>
        <p:nvSpPr>
          <p:cNvPr id="240" name="TextBox 239"/>
          <p:cNvSpPr txBox="1"/>
          <p:nvPr/>
        </p:nvSpPr>
        <p:spPr>
          <a:xfrm>
            <a:off x="10832728" y="8437000"/>
            <a:ext cx="1620000" cy="185000"/>
          </a:xfrm>
          <a:prstGeom prst="rect">
            <a:avLst/>
          </a:prstGeom>
          <a:noFill/>
        </p:spPr>
        <p:txBody>
          <a:bodyPr wrap="square" anchor="t" lIns="0" rIns="0" tIns="0" bIns="0">
            <a:spAutoFit/>
          </a:bodyPr>
          <a:lstStyle/>
          <a:p>
            <a:pPr algn="l"/>
            <a:r>
              <a:rPr sz="700" b="0">
                <a:solidFill>
                  <a:srgbClr val="20242A"/>
                </a:solidFill>
                <a:latin typeface="Calibri"/>
              </a:rPr>
              <a:t>Handhole</a:t>
            </a:r>
          </a:p>
        </p:txBody>
      </p:sp>
      <p:sp>
        <p:nvSpPr>
          <p:cNvPr id="241" name="TextBox 240"/>
          <p:cNvSpPr txBox="1"/>
          <p:nvPr/>
        </p:nvSpPr>
        <p:spPr>
          <a:xfrm>
            <a:off x="12452728" y="8437000"/>
            <a:ext cx="1150000" cy="185000"/>
          </a:xfrm>
          <a:prstGeom prst="rect">
            <a:avLst/>
          </a:prstGeom>
          <a:noFill/>
        </p:spPr>
        <p:txBody>
          <a:bodyPr wrap="square" anchor="t" lIns="0" rIns="0" tIns="0" bIns="0">
            <a:spAutoFit/>
          </a:bodyPr>
          <a:lstStyle/>
          <a:p>
            <a:pPr algn="l"/>
            <a:r>
              <a:rPr sz="700" b="0">
                <a:solidFill>
                  <a:srgbClr val="20242A"/>
                </a:solidFill>
                <a:latin typeface="Calibri"/>
              </a:rPr>
              <a:t>CV_HH</a:t>
            </a:r>
          </a:p>
        </p:txBody>
      </p:sp>
      <p:sp>
        <p:nvSpPr>
          <p:cNvPr id="242" name="TextBox 241"/>
          <p:cNvSpPr txBox="1"/>
          <p:nvPr/>
        </p:nvSpPr>
        <p:spPr>
          <a:xfrm>
            <a:off x="13602728" y="8437000"/>
            <a:ext cx="900000" cy="185000"/>
          </a:xfrm>
          <a:prstGeom prst="rect">
            <a:avLst/>
          </a:prstGeom>
          <a:noFill/>
        </p:spPr>
        <p:txBody>
          <a:bodyPr wrap="square" anchor="t" lIns="0" rIns="0" tIns="0" bIns="0">
            <a:spAutoFit/>
          </a:bodyPr>
          <a:lstStyle/>
          <a:p>
            <a:pPr algn="l"/>
            <a:r>
              <a:rPr sz="700" b="0">
                <a:solidFill>
                  <a:srgbClr val="20242A"/>
                </a:solidFill>
                <a:latin typeface="Calibri"/>
              </a:rPr>
              <a:t>0.00 m</a:t>
            </a:r>
          </a:p>
        </p:txBody>
      </p:sp>
      <p:sp>
        <p:nvSpPr>
          <p:cNvPr id="243" name="TextBox 242"/>
          <p:cNvSpPr txBox="1"/>
          <p:nvPr/>
        </p:nvSpPr>
        <p:spPr>
          <a:xfrm>
            <a:off x="10192728" y="9908638"/>
            <a:ext cx="4501344" cy="200000"/>
          </a:xfrm>
          <a:prstGeom prst="rect">
            <a:avLst/>
          </a:prstGeom>
          <a:noFill/>
        </p:spPr>
        <p:txBody>
          <a:bodyPr wrap="square" anchor="t" lIns="0" rIns="0" tIns="0" bIns="0">
            <a:spAutoFit/>
          </a:bodyPr>
          <a:lstStyle/>
          <a:p>
            <a:pPr algn="l"/>
            <a:r>
              <a:rPr sz="650" b="0">
                <a:solidFill>
                  <a:srgbClr val="5F6368"/>
                </a:solidFill>
                <a:latin typeface="Calibri"/>
              </a:rPr>
              <a:t>!  offset &gt;50 mm — confirm the termination on site</a:t>
            </a:r>
          </a:p>
        </p:txBody>
      </p:sp>
      <p:sp>
        <p:nvSpPr>
          <p:cNvPr id="244" name="TextBox 243"/>
          <p:cNvSpPr txBox="1"/>
          <p:nvPr/>
        </p:nvSpPr>
        <p:spPr>
          <a:xfrm>
            <a:off x="320040" y="10268638"/>
            <a:ext cx="14484033" cy="300000"/>
          </a:xfrm>
          <a:prstGeom prst="rect">
            <a:avLst/>
          </a:prstGeom>
          <a:noFill/>
        </p:spPr>
        <p:txBody>
          <a:bodyPr wrap="square" anchor="t" lIns="0" rIns="0" tIns="0" bIns="0">
            <a:spAutoFit/>
          </a:bodyPr>
          <a:lstStyle/>
          <a:p>
            <a:pPr algn="l"/>
            <a:r>
              <a:rPr sz="750" b="0">
                <a:solidFill>
                  <a:srgbClr val="5F6368"/>
                </a:solidFill>
                <a:latin typeface="Calibri"/>
              </a:rPr>
              <a:t>Spur lengths are drawn-geometry branch lengths at a 0.30 m snap tolerance — not proven pulls. topology.json accompanies this deck.</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94b38ddd-8735-419b-ba7b-70cccd79be33}" enabled="0" method="" siteId="{94b38ddd-8735-419b-ba7b-70cccd79be33}" removed="1"/>
</clbl:labelList>
</file>

<file path=docProps/app.xml><?xml version="1.0" encoding="utf-8"?>
<Properties xmlns="http://schemas.openxmlformats.org/officeDocument/2006/extended-properties" xmlns:vt="http://schemas.openxmlformats.org/officeDocument/2006/docPropsVTypes">
  <TotalTime>1</TotalTime>
  <Words>2622</Words>
  <Application>Microsoft Office PowerPoint</Application>
  <PresentationFormat>Custom</PresentationFormat>
  <Paragraphs>461</Paragraphs>
  <Slides>5</Slides>
  <Notes>5</Notes>
  <HiddenSlides>0</HiddenSlides>
  <MMClips>0</MMClips>
  <ScaleCrop>false</ScaleCrop>
  <HeadingPairs>
    <vt:vector size="6" baseType="variant">
      <vt:variant>
        <vt:lpstr>Fonts Used</vt:lpstr>
      </vt:variant>
      <vt:variant>
        <vt:i4>1</vt:i4>
      </vt:variant>
      <vt:variant>
        <vt:lpstr>Theme</vt:lpstr>
      </vt:variant>
      <vt:variant>
        <vt:i4>1</vt:i4>
      </vt:variant>
      <vt:variant>
        <vt:lpstr>Slide Titles</vt:lpstr>
      </vt:variant>
      <vt:variant>
        <vt:i4>5</vt:i4>
      </vt:variant>
    </vt:vector>
  </HeadingPairs>
  <TitlesOfParts>
    <vt:vector size="7" baseType="lpstr">
      <vt:lpstr>Arial</vt:lpstr>
      <vt:lpstr>Office Theme</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Mohammed Faheem</cp:lastModifiedBy>
  <cp:revision>1</cp:revision>
  <dcterms:created xsi:type="dcterms:W3CDTF">2026-07-28T13:45:45Z</dcterms:created>
  <dcterms:modified xsi:type="dcterms:W3CDTF">2026-07-28T13:47:42Z</dcterms:modified>
</cp:coreProperties>
</file>