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The affected-fitting list moves from 30 No. to 16 No. A saw cut and side-entry base detail sheet is included and is held pending issue of the detail drawing.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1539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00006"/>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open bases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existing 12" shallow base maintained, new side-entry cable only.</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176101"/>
            <a:ext cx="6958584" cy="2844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285829"/>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654332"/>
            <a:ext cx="6665976" cy="2228808"/>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2841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CONFIRMATION REQUIRED (NOT A CONSTRUCTION INSTRUCTION)</a:t>
            </a:r>
          </a:p>
        </p:txBody>
      </p:sp>
      <p:sp>
        <p:nvSpPr>
          <p:cNvPr id="11" name="TextBox 10"/>
          <p:cNvSpPr txBox="1"/>
          <p:nvPr/>
        </p:nvSpPr>
        <p:spPr>
          <a:xfrm>
            <a:off x="7845552" y="1392631"/>
            <a:ext cx="6665976" cy="266874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110 mm secondary duct — cover, reuse and continuity</a:t>
            </a:r>
          </a:p>
          <a:p>
            <a:pPr>
              <a:spcAft>
                <a:spcPts val="900"/>
              </a:spcAft>
            </a:pPr>
            <a:r>
              <a:rPr sz="1050" b="0">
                <a:solidFill>
                  <a:srgbClr val="1F2937"/>
                </a:solidFill>
                <a:latin typeface="Arial"/>
              </a:rPr>
              <a:t>Field condition:  the existing 4 x 110 mm secondary duct bank was exposed at 50 mm milling depth.</a:t>
            </a:r>
          </a:p>
          <a:p>
            <a:pPr>
              <a:spcAft>
                <a:spcPts val="900"/>
              </a:spcAft>
            </a:pPr>
            <a:r>
              <a:rPr sz="1050" b="0">
                <a:solidFill>
                  <a:srgbClr val="1F2937"/>
                </a:solidFill>
                <a:latin typeface="Arial"/>
              </a:rPr>
              <a:t>Q1.  Confirmation required from the civil team before any duct is re-laid on the existing duct alignment.</a:t>
            </a:r>
          </a:p>
          <a:p>
            <a:pPr>
              <a:spcAft>
                <a:spcPts val="900"/>
              </a:spcAft>
            </a:pPr>
            <a:r>
              <a:rPr sz="1050" b="0">
                <a:solidFill>
                  <a:srgbClr val="1F2937"/>
                </a:solidFill>
                <a:latin typeface="Arial"/>
              </a:rPr>
              <a:t>Q2.  The existing duct is not suitable for reuse for the new secondary cable: the existing cables are obsolete and are to be withdrawn, and the existing duct cross-section does not accommodate the new secondary cable.</a:t>
            </a:r>
          </a:p>
          <a:p>
            <a:pPr>
              <a:spcAft>
                <a:spcPts val="900"/>
              </a:spcAft>
            </a:pPr>
            <a:r>
              <a:rPr sz="1050" b="0">
                <a:solidFill>
                  <a:srgbClr val="1F2937"/>
                </a:solidFill>
                <a:latin typeface="Arial"/>
              </a:rPr>
              <a:t>Q3.  If new duct sized for the new secondary cable is laid within the construction area, the transition into the duct in the non-construction area is to be agreed with the civil team. The same condition is expected over the full length, which would otherwise require saw cutting for the full length.</a:t>
            </a:r>
          </a:p>
        </p:txBody>
      </p:sp>
      <p:sp>
        <p:nvSpPr>
          <p:cNvPr id="12" name="P08 PANEL · AGL TEAM PROPOSAL"/>
          <p:cNvSpPr/>
          <p:nvPr/>
        </p:nvSpPr>
        <p:spPr>
          <a:xfrm>
            <a:off x="7699248" y="4344838"/>
            <a:ext cx="6958584" cy="289418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454566"/>
            <a:ext cx="6665976" cy="237744"/>
          </a:xfrm>
          <a:prstGeom prst="rect">
            <a:avLst/>
          </a:prstGeom>
          <a:noFill/>
        </p:spPr>
        <p:txBody>
          <a:bodyPr wrap="square" lIns="0" tIns="0" rIns="0" bIns="0">
            <a:spAutoFit/>
          </a:bodyPr>
          <a:lstStyle/>
          <a:p>
            <a:r>
              <a:rPr sz="950" b="1">
                <a:solidFill>
                  <a:srgbClr val="1E2761"/>
                </a:solidFill>
                <a:latin typeface="Arial"/>
              </a:rPr>
              <a:t>AGL TEAM PROPOSAL</a:t>
            </a:r>
          </a:p>
        </p:txBody>
      </p:sp>
      <p:sp>
        <p:nvSpPr>
          <p:cNvPr id="14" name="TextBox 13"/>
          <p:cNvSpPr txBox="1"/>
          <p:nvPr/>
        </p:nvSpPr>
        <p:spPr>
          <a:xfrm>
            <a:off x="7845552" y="4823069"/>
            <a:ext cx="6665976" cy="2278791"/>
          </a:xfrm>
          <a:prstGeom prst="rect">
            <a:avLst/>
          </a:prstGeom>
          <a:noFill/>
        </p:spPr>
        <p:txBody>
          <a:bodyPr wrap="square" lIns="0" tIns="0" rIns="0" bIns="0">
            <a:spAutoFit/>
          </a:bodyPr>
          <a:lstStyle/>
          <a:p>
            <a:pPr>
              <a:spcAft>
                <a:spcPts val="900"/>
              </a:spcAft>
            </a:pPr>
            <a:r>
              <a:rPr sz="1050" b="0">
                <a:solidFill>
                  <a:srgbClr val="1F2937"/>
                </a:solidFill>
                <a:latin typeface="Arial"/>
              </a:rPr>
              <a:t>Lay a full-stretch new secondary duct sized to accommodate the new secondary cable, giving a continuous route end to end and minimising saw cutting in the finished pavement.</a:t>
            </a:r>
          </a:p>
          <a:p>
            <a:pPr>
              <a:spcAft>
                <a:spcPts val="900"/>
              </a:spcAft>
            </a:pPr>
            <a:r>
              <a:rPr sz="1050" b="1">
                <a:solidFill>
                  <a:srgbClr val="B3261E"/>
                </a:solidFill>
                <a:latin typeface="Arial"/>
              </a:rPr>
              <a:t>Status at Rev P08:  superseded. The final scope of work issued 30.07.2026 adopts SAW CUT for every secondary route at the three locations, which answers Q3 — the full length is saw cut and no new duct is laid under the AGL scope.</a:t>
            </a:r>
          </a:p>
          <a:p>
            <a:pPr>
              <a:spcAft>
                <a:spcPts val="900"/>
              </a:spcAft>
            </a:pPr>
            <a:r>
              <a:rPr sz="1050" b="0">
                <a:solidFill>
                  <a:srgbClr val="1F2937"/>
                </a:solidFill>
                <a:latin typeface="Arial"/>
              </a:rPr>
              <a:t>Q1 and Q2 remain OPEN on the existing 4 x 110 mm duct bank: whether it is to be left in place, and confirmation that the obsolete cables are withdrawn. To be raised under RFI AUH-WP-AGL-TWYE-001. Recorded here for confirmation; it is not a construction instruction.</a:t>
            </a:r>
          </a:p>
        </p:txBody>
      </p:sp>
      <p:sp>
        <p:nvSpPr>
          <p:cNvPr id="15" name="P08 PANEL · REV P08 — WHAT CHANGED"/>
          <p:cNvSpPr/>
          <p:nvPr/>
        </p:nvSpPr>
        <p:spPr>
          <a:xfrm>
            <a:off x="7699248" y="7385324"/>
            <a:ext cx="6958584" cy="263497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495052"/>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863555"/>
            <a:ext cx="6665976" cy="2019585"/>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16 No.: LOC-01 11,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704789"/>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082997"/>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11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NOT IN THE REV P08 SCOPE — no works: SBC102-02/027, TCCECH-03/035, TCCECH-03/018</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4926781"/>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063941"/>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411413"/>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605839"/>
            <a:ext cx="4709160" cy="199339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742999"/>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306425"/>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352145"/>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29245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37" name="Shape 335"/>
          <p:cNvSpPr/>
          <p:nvPr/>
        </p:nvSpPr>
        <p:spPr>
          <a:xfrm>
            <a:off x="10241280" y="8950315"/>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884109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9498955"/>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38973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7999847"/>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357163"/>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292455"/>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617767"/>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566775"/>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882943"/>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841095"/>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9107" name="P08 LEG 8IN RING"/>
          <p:cNvSpPr/>
          <p:nvPr/>
        </p:nvSpPr>
        <p:spPr>
          <a:xfrm>
            <a:off x="10241280" y="8580745"/>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626465"/>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56677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224635"/>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1541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7999847"/>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199339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24754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29326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23484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61838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50916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16702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05780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889270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878348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267712"/>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63865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68437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62595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009499"/>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890027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558139"/>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44891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1005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35163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28381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7459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16 No. fittings — LOC-01 11 No. (9 No. cored: 3 No. 12" + 6 No. 8"; 2 No. 12" removed earlier; 11 No. new 8" bases); LOC-02 1 No. (12" core, new 12" base); LOC-03 4 No. (12" core at 03/003 only, balance 3 No. secondary cable only) — all new cable via SAW CUT.   ·   Coring 11 No. (6 @ 8" · 5 @ 12")   ·   New side-entry bases 13 No.   ·   15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8365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6897238"/>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006966"/>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477758"/>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587486"/>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6953246"/>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223886"/>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224591"/>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372726"/>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11 No.  (6 SBC · 5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16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41705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transitions into the existing duct in the non-construction area — this is open technical query Q3, and it governs the ends of every run.</a:t>
            </a:r>
          </a:p>
          <a:p>
            <a:pPr>
              <a:spcAft>
                <a:spcPts val="900"/>
              </a:spcAft>
            </a:pPr>
            <a:r>
              <a:rPr sz="1050" b="0">
                <a:solidFill>
                  <a:srgbClr val="B3261E"/>
                </a:solidFill>
                <a:latin typeface="Arial"/>
              </a:rPr>
              <a:t>9.  Treatment where the saw cut crosses the existing 4 x 110 mm secondary duct bank exposed at 50 mm milling depth.</a:t>
            </a:r>
          </a:p>
          <a:p>
            <a:pPr>
              <a:spcAft>
                <a:spcPts val="900"/>
              </a:spcAft>
            </a:pPr>
            <a:r>
              <a:rPr sz="1050" b="0">
                <a:solidFill>
                  <a:srgbClr val="B3261E"/>
                </a:solidFill>
                <a:latin typeface="Arial"/>
              </a:rPr>
              <a:t>Items 8 and 9 are the two that go beyond detailing. Item 8 is open technical query Q3 — the transition into the non-construction area is still to be confirmed, and every run has two ends. Item 9 is a physical clash with a duct bank already found in the field at 50 mm. Neither can be closed out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47572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3863072"/>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41442">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of the affected circuits — all three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16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263892"/>
            <a:ext cx="6665976" cy="2619248"/>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263892"/>
            <a:ext cx="6665976" cy="2619248"/>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and coring is recorded complete (site record 23.07.2026); Phase 2 civil attendance sits outside these five days.</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11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