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96" r:id="rId2"/>
    <p:sldId id="302" r:id="rId3"/>
    <p:sldId id="306" r:id="rId14"/>
    <p:sldId id="303" r:id="rId4"/>
    <p:sldId id="304" r:id="rId5"/>
    <p:sldId id="305" r:id="rId6"/>
    <p:sldId id="307" r:id="rId15"/>
    <p:sldId id="300" r:id="rId7"/>
    <p:sldId id="265" r:id="rId8"/>
  </p:sldIdLst>
  <p:sldSz cx="15124113" cy="10688638"/>
  <p:notesSz cx="10688638" cy="151241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04" autoAdjust="0"/>
    <p:restoredTop sz="94610"/>
  </p:normalViewPr>
  <p:slideViewPr>
    <p:cSldViewPr snapToGrid="0" snapToObjects="1">
      <p:cViewPr>
        <p:scale>
          <a:sx n="75" d="100"/>
          <a:sy n="75" d="100"/>
        </p:scale>
        <p:origin x="-90" y="-22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4975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914400" y="1920240"/>
            <a:ext cx="13258800" cy="91440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SHOP DRAWINGS — ELECTRICAL / AGL SCOPE</a:t>
            </a:r>
            <a:endParaRPr lang="en-US" sz="4000" dirty="0"/>
          </a:p>
        </p:txBody>
      </p:sp>
      <p:sp>
        <p:nvSpPr>
          <p:cNvPr id="3" name="Text 1"/>
          <p:cNvSpPr/>
          <p:nvPr/>
        </p:nvSpPr>
        <p:spPr>
          <a:xfrm>
            <a:off x="914400" y="2926080"/>
            <a:ext cx="13258800" cy="1097280"/>
          </a:xfrm>
          <a:prstGeom prst="rect">
            <a:avLst/>
          </a:prstGeom>
          <a:noFill/>
          <a:ln/>
        </p:spPr>
        <p:txBody>
          <a:bodyPr wrap="square" lIns="0" tIns="0" rIns="0" bIns="0" rtlCol="0" anchor="ctr"/>
          <a:lstStyle/>
          <a:p>
            <a:pPr marL="0" indent="0">
              <a:buNone/>
            </a:pPr>
            <a:r>
              <a:rPr lang="en-US" sz="2000" dirty="0">
                <a:solidFill>
                  <a:srgbClr val="CADCFC"/>
                </a:solidFill>
                <a:latin typeface="Arial" pitchFamily="34" charset="0"/>
                <a:ea typeface="Arial" pitchFamily="34" charset="-122"/>
                <a:cs typeface="Arial" pitchFamily="34" charset="-120"/>
              </a:rPr>
              <a:t>RECTIFICATION OF TWY E BETWEEN E4 &amp; E6 (ZIA)</a:t>
            </a:r>
            <a:endParaRPr lang="en-US" sz="2000" dirty="0"/>
          </a:p>
          <a:p>
            <a:pPr marL="0" indent="0">
              <a:buNone/>
            </a:pPr>
            <a:r>
              <a:rPr lang="en-US" sz="2000" dirty="0">
                <a:solidFill>
                  <a:srgbClr val="CADCFC"/>
                </a:solidFill>
                <a:latin typeface="Arial" pitchFamily="34" charset="0"/>
                <a:ea typeface="Arial" pitchFamily="34" charset="-122"/>
                <a:cs typeface="Arial" pitchFamily="34" charset="-120"/>
              </a:rPr>
              <a:t>AGL WORKS AT THREE (3) MILLING LOCATIONS — FIELD CONDITION SCOPE</a:t>
            </a:r>
            <a:endParaRPr lang="en-US" sz="2000" dirty="0"/>
          </a:p>
        </p:txBody>
      </p:sp>
      <p:sp>
        <p:nvSpPr>
          <p:cNvPr id="4" name="Text 2"/>
          <p:cNvSpPr/>
          <p:nvPr/>
        </p:nvSpPr>
        <p:spPr>
          <a:xfrm>
            <a:off x="914400" y="4937760"/>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Document No.</a:t>
            </a:r>
            <a:endParaRPr lang="en-US" sz="1300" dirty="0"/>
          </a:p>
        </p:txBody>
      </p:sp>
      <p:sp>
        <p:nvSpPr>
          <p:cNvPr id="5" name="Text 3"/>
          <p:cNvSpPr/>
          <p:nvPr/>
        </p:nvSpPr>
        <p:spPr>
          <a:xfrm>
            <a:off x="4023360" y="4937760"/>
            <a:ext cx="10241280" cy="384048"/>
          </a:xfrm>
          <a:prstGeom prst="rect">
            <a:avLst/>
          </a:prstGeom>
          <a:noFill/>
          <a:ln/>
        </p:spPr>
        <p:txBody>
          <a:bodyPr wrap="square" lIns="0" tIns="0" rIns="0" bIns="0" rtlCol="0" anchor="ctr"/>
          <a:lstStyle/>
          <a:p>
            <a:pPr marL="0" indent="0">
              <a:buNone/>
            </a:pPr>
            <a:r>
              <a:rPr sz="1300">
                <a:solidFill>
                  <a:srgbClr val="FFFFFF"/>
                </a:solidFill>
                <a:latin typeface="Arial"/>
              </a:rPr>
              <a:t>AUH-SK-AGL-TWYE-001 (sheets 1001 / 1002 / 1003)  ·  Revision P08 — FINAL SCOPE OF WORK</a:t>
            </a:r>
            <a:endParaRPr lang="en-US" sz="1300" dirty="0"/>
          </a:p>
        </p:txBody>
      </p:sp>
      <p:sp>
        <p:nvSpPr>
          <p:cNvPr id="6" name="Text 4"/>
          <p:cNvSpPr/>
          <p:nvPr/>
        </p:nvSpPr>
        <p:spPr>
          <a:xfrm>
            <a:off x="914400" y="5413248"/>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Basis of scope</a:t>
            </a:r>
            <a:endParaRPr lang="en-US" sz="1300" dirty="0"/>
          </a:p>
        </p:txBody>
      </p:sp>
      <p:sp>
        <p:nvSpPr>
          <p:cNvPr id="7" name="Text 5"/>
          <p:cNvSpPr/>
          <p:nvPr/>
        </p:nvSpPr>
        <p:spPr>
          <a:xfrm>
            <a:off x="4023360" y="5413248"/>
            <a:ext cx="10241280" cy="384048"/>
          </a:xfrm>
          <a:prstGeom prst="rect">
            <a:avLst/>
          </a:prstGeom>
          <a:noFill/>
          <a:ln/>
        </p:spPr>
        <p:txBody>
          <a:bodyPr wrap="square" lIns="0" tIns="0" rIns="0" bIns="0" rtlCol="0" anchor="ctr"/>
          <a:lstStyle/>
          <a:p>
            <a:pPr marL="0" indent="0">
              <a:buNone/>
            </a:pPr>
            <a:r>
              <a:rPr sz="1300">
                <a:solidFill>
                  <a:srgbClr val="FFFFFF"/>
                </a:solidFill>
                <a:latin typeface="Arial"/>
              </a:rPr>
              <a:t>Final scope of work issued 30.07.2026, superseding the Rev P06 / P07 field-sheet quantities. Quantities and locations are taken from the joint field verification of the three milling locations.</a:t>
            </a:r>
            <a:endParaRPr lang="en-US" sz="1300" dirty="0"/>
          </a:p>
        </p:txBody>
      </p:sp>
      <p:sp>
        <p:nvSpPr>
          <p:cNvPr id="8" name="Text 6"/>
          <p:cNvSpPr/>
          <p:nvPr/>
        </p:nvSpPr>
        <p:spPr>
          <a:xfrm>
            <a:off x="914400" y="5888736"/>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Base layer</a:t>
            </a:r>
            <a:endParaRPr lang="en-US" sz="1300" dirty="0"/>
          </a:p>
        </p:txBody>
      </p:sp>
      <p:sp>
        <p:nvSpPr>
          <p:cNvPr id="9" name="Text 7"/>
          <p:cNvSpPr/>
          <p:nvPr/>
        </p:nvSpPr>
        <p:spPr>
          <a:xfrm>
            <a:off x="4023360" y="5888736"/>
            <a:ext cx="10241280" cy="384048"/>
          </a:xfrm>
          <a:prstGeom prst="rect">
            <a:avLst/>
          </a:prstGeom>
          <a:noFill/>
          <a:ln/>
        </p:spPr>
        <p:txBody>
          <a:bodyPr wrap="square" lIns="0" tIns="0" rIns="0" bIns="0" rtlCol="0" anchor="ctr"/>
          <a:lstStyle/>
          <a:p>
            <a:pPr marL="0" indent="0">
              <a:buNone/>
            </a:pPr>
            <a:r>
              <a:rPr sz="1300">
                <a:solidFill>
                  <a:srgbClr val="FFFFFF"/>
                </a:solidFill>
                <a:latin typeface="Arial"/>
              </a:rPr>
              <a:t>ADA as-built drawing Z1-Z2-Z3-MTA_SEGMENTATION  ·  ZIA local project grid (metres)</a:t>
            </a:r>
            <a:endParaRPr lang="en-US" sz="1300" dirty="0"/>
          </a:p>
        </p:txBody>
      </p:sp>
      <p:sp>
        <p:nvSpPr>
          <p:cNvPr id="10" name="Text 8"/>
          <p:cNvSpPr/>
          <p:nvPr/>
        </p:nvSpPr>
        <p:spPr>
          <a:xfrm>
            <a:off x="914400" y="6364224"/>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Prepared by</a:t>
            </a:r>
            <a:endParaRPr lang="en-US" sz="1300" dirty="0"/>
          </a:p>
        </p:txBody>
      </p:sp>
      <p:sp>
        <p:nvSpPr>
          <p:cNvPr id="10" name="Text 8b"/>
          <p:cNvSpPr/>
          <p:nvPr/>
        </p:nvSpPr>
        <p:spPr>
          <a:xfrm>
            <a:off x="914400" y="6839712"/>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Approved by</a:t>
            </a:r>
            <a:endParaRPr lang="en-US" sz="1300" dirty="0"/>
          </a:p>
        </p:txBody>
      </p:sp>
      <p:sp>
        <p:nvSpPr>
          <p:cNvPr id="11" name="Text 9"/>
          <p:cNvSpPr/>
          <p:nvPr/>
        </p:nvSpPr>
        <p:spPr>
          <a:xfrm>
            <a:off x="4023360" y="6364224"/>
            <a:ext cx="10241280" cy="384048"/>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Mohammed Faheem — AGL Team Leader, ADB SAFEGATE  ·  Issued 28.07.2026  ·  Rev P08 issued 30.07.2026</a:t>
            </a:r>
            <a:endParaRPr lang="en-US" sz="1300" dirty="0"/>
          </a:p>
        </p:txBody>
      </p:sp>
      <p:sp>
        <p:nvSpPr>
          <p:cNvPr id="11" name="Text 9b"/>
          <p:cNvSpPr/>
          <p:nvPr/>
        </p:nvSpPr>
        <p:spPr>
          <a:xfrm>
            <a:off x="4023360" y="6839712"/>
            <a:ext cx="10241280" cy="384048"/>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Ragesh Menon — AGL Manager, ADB SAFEGATE</a:t>
            </a:r>
            <a:endParaRPr lang="en-US" sz="1300" dirty="0"/>
          </a:p>
        </p:txBody>
      </p:sp>
      <p:sp>
        <p:nvSpPr>
          <p:cNvPr id="12" name="Text 10"/>
          <p:cNvSpPr/>
          <p:nvPr/>
        </p:nvSpPr>
        <p:spPr>
          <a:xfrm>
            <a:off x="914400" y="7863840"/>
            <a:ext cx="13258800" cy="822960"/>
          </a:xfrm>
          <a:prstGeom prst="rect">
            <a:avLst/>
          </a:prstGeom>
          <a:noFill/>
          <a:ln/>
        </p:spPr>
        <p:txBody>
          <a:bodyPr wrap="square" lIns="0" tIns="0" rIns="0" bIns="0" rtlCol="0" anchor="ctr"/>
          <a:lstStyle/>
          <a:p>
            <a:pPr marL="0" indent="0">
              <a:buNone/>
            </a:pPr>
            <a:r>
              <a:rPr sz="1200">
                <a:solidFill>
                  <a:srgbClr val="CADCFC"/>
                </a:solidFill>
                <a:latin typeface="Arial"/>
              </a:rPr>
              <a:t>REV P08 IS THE FINAL SCOPE OF WORK.  All secondary routes at the three locations are laid by SAW CUT; no duct route remains in the AGL scope. New side-entry shallow bases: Location 1 — 11 No. 8" (9 No. bases cored out: 3 No. 12" + 6 No. 8"; 2 No. 12" bases removed earlier); Location 2 — 1 No. 12" at TCCECH-03/008; Location 3 — 1 No. 12" at TCCECH-03/003, with the remaining 3 No. TCC taking new secondary cable into their existing 12" bases. A further 3 No. fittings at Location 1 (SBC102-02/027, TCCECH-03/035, TCCECH-03/018) take new secondary cable only — no coring — and are protected by a dummy plate during milling. The affected-fitting list moves from 30 No. to 19 No. A saw cut and side-entry base detail sheet is included and is held pending issue of the detail drawing. The technical queries on the existing 4 x 19 mm secondary duct are closed by agreement between the AGL team, the civil team and ADA AGL: saw cut is adopted as an interim arrangement, with permanent duct provision to follow under the South Rehabilitation works. As-built duct geometry, sheet registration and the stated limits of Rev P06 are carried forward unchanged.</a:t>
            </a:r>
            <a:endParaRPr lang="en-US" sz="1200" dirty="0"/>
          </a:p>
        </p:txBody>
      </p:sp>
      <p:pic>
        <p:nvPicPr>
          <p:cNvPr id="13" name="ADB SAFEGATE LOGO" descr="logo-adb-reverse.png"/>
          <p:cNvPicPr>
            <a:picLocks noChangeAspect="1"/>
          </p:cNvPicPr>
          <p:nvPr/>
        </p:nvPicPr>
        <p:blipFill>
          <a:blip r:embed="rId3"/>
          <a:stretch>
            <a:fillRect/>
          </a:stretch>
        </p:blipFill>
        <p:spPr>
          <a:xfrm>
            <a:off x="12145259" y="838200"/>
            <a:ext cx="2027941" cy="700000"/>
          </a:xfrm>
          <a:prstGeom prst="rect">
            <a:avLst/>
          </a:prstGeom>
        </p:spPr>
      </p:pic>
    </p:spTree>
    <p:extLst>
      <p:ext uri="{BB962C8B-B14F-4D97-AF65-F5344CB8AC3E}">
        <p14:creationId xmlns:p14="http://schemas.microsoft.com/office/powerpoint/2010/main" val="1546317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2500632" cy="502920"/>
          </a:xfrm>
          <a:prstGeom prst="rect">
            <a:avLst/>
          </a:prstGeom>
          <a:noFill/>
        </p:spPr>
        <p:txBody>
          <a:bodyPr wrap="square" lIns="0" rIns="0" anchor="ctr">
            <a:spAutoFit/>
          </a:bodyPr>
          <a:lstStyle/>
          <a:p>
            <a:r>
              <a:rPr sz="2000" b="1">
                <a:solidFill>
                  <a:srgbClr val="1E2761"/>
                </a:solidFill>
                <a:latin typeface="Arial"/>
              </a:rPr>
              <a:t>SCOPE OF WORK &amp; SEQUENCE — TWY E (E4–E6)  ·  REV P08 (FINAL SCOPE)</a:t>
            </a:r>
          </a:p>
        </p:txBody>
      </p:sp>
      <p:sp>
        <p:nvSpPr>
          <p:cNvPr id="3" name="P08 PANEL · SCOPE OF WORK — SEQUENCE OF "/>
          <p:cNvSpPr/>
          <p:nvPr/>
        </p:nvSpPr>
        <p:spPr>
          <a:xfrm>
            <a:off x="457200" y="914400"/>
            <a:ext cx="6958584" cy="6357428"/>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3504" y="1024128"/>
            <a:ext cx="6665976" cy="237744"/>
          </a:xfrm>
          <a:prstGeom prst="rect">
            <a:avLst/>
          </a:prstGeom>
          <a:noFill/>
        </p:spPr>
        <p:txBody>
          <a:bodyPr wrap="square" lIns="0" tIns="0" rIns="0" bIns="0">
            <a:spAutoFit/>
          </a:bodyPr>
          <a:lstStyle/>
          <a:p>
            <a:r>
              <a:rPr sz="950" b="1">
                <a:solidFill>
                  <a:srgbClr val="1E2761"/>
                </a:solidFill>
                <a:latin typeface="Arial"/>
              </a:rPr>
              <a:t>SCOPE OF WORK — SEQUENCE OF AGL ACTIVITIES</a:t>
            </a:r>
          </a:p>
        </p:txBody>
      </p:sp>
      <p:sp>
        <p:nvSpPr>
          <p:cNvPr id="5" name="TextBox 4"/>
          <p:cNvSpPr txBox="1"/>
          <p:nvPr/>
        </p:nvSpPr>
        <p:spPr>
          <a:xfrm>
            <a:off x="603504" y="1392631"/>
            <a:ext cx="6665976" cy="5742037"/>
          </a:xfrm>
          <a:prstGeom prst="rect">
            <a:avLst/>
          </a:prstGeom>
          <a:noFill/>
        </p:spPr>
        <p:txBody>
          <a:bodyPr wrap="square" lIns="0" tIns="0" rIns="0" bIns="0">
            <a:spAutoFit/>
          </a:bodyPr>
          <a:lstStyle/>
          <a:p>
            <a:pPr>
              <a:spcAft>
                <a:spcPts val="800"/>
              </a:spcAft>
            </a:pPr>
            <a:r>
              <a:rPr sz="1050" b="1">
                <a:solidFill>
                  <a:srgbClr val="1E2761"/>
                </a:solidFill>
                <a:latin typeface="Arial"/>
              </a:rPr>
              <a:t>PHASE 1 — BEFORE ASPHALT MILLING · AGL ASSET REMOVAL (BEFORE CIVIL WORKS)</a:t>
            </a:r>
          </a:p>
          <a:p>
            <a:pPr>
              <a:spcAft>
                <a:spcPts val="800"/>
              </a:spcAft>
            </a:pPr>
            <a:r>
              <a:rPr sz="1050" b="0">
                <a:solidFill>
                  <a:srgbClr val="1F2937"/>
                </a:solidFill>
                <a:latin typeface="Arial"/>
              </a:rPr>
              <a:t>R1.  Isolate affected circuits; remove affected fittings; core out bases — LOC-01 9 No. (3 No. 12" + 6 No. 8"; 2 No. 12" bases removed earlier); LOC-02 TCCECH-03/008 12"; LOC-03 TCCECH-03/003 12".</a:t>
            </a:r>
          </a:p>
          <a:p>
            <a:pPr>
              <a:spcAft>
                <a:spcPts val="800"/>
              </a:spcAft>
            </a:pPr>
            <a:r>
              <a:rPr sz="1050" b="0">
                <a:solidFill>
                  <a:srgbClr val="1F2937"/>
                </a:solidFill>
                <a:latin typeface="Arial"/>
              </a:rPr>
              <a:t>R2.  RRMs removed and protected (RRM.555, RRM.557, RRM.670) — re-fixed after civil works.</a:t>
            </a:r>
          </a:p>
          <a:p>
            <a:pPr>
              <a:spcAft>
                <a:spcPts val="800"/>
              </a:spcAft>
            </a:pPr>
            <a:r>
              <a:rPr sz="1050" b="0">
                <a:solidFill>
                  <a:srgbClr val="1F2937"/>
                </a:solidFill>
                <a:latin typeface="Arial"/>
              </a:rPr>
              <a:t>R3.  Dummy plates installed on the open bases, and on the 3 No. Location 1 fittings that take secondary cable only (SBC102-02/027, TCCECH-03/035, TCCECH-03/018), for protection during milling and civil works.</a:t>
            </a:r>
          </a:p>
          <a:p>
            <a:pPr>
              <a:spcAft>
                <a:spcPts val="800"/>
              </a:spcAft>
            </a:pPr>
            <a:r>
              <a:rPr sz="1050" b="1">
                <a:solidFill>
                  <a:srgbClr val="1E2761"/>
                </a:solidFill>
                <a:latin typeface="Arial"/>
              </a:rPr>
              <a:t>PHASE 2 — CIVIL WORKS · ASPHALT MILLING &amp; LAYING (AGL ATTENDANCE)</a:t>
            </a:r>
          </a:p>
          <a:p>
            <a:pPr>
              <a:spcAft>
                <a:spcPts val="800"/>
              </a:spcAft>
            </a:pPr>
            <a:r>
              <a:rPr sz="1050" b="0">
                <a:solidFill>
                  <a:srgbClr val="1F2937"/>
                </a:solidFill>
                <a:latin typeface="Arial"/>
              </a:rPr>
              <a:t>A1.  Where secondary duct or secondary cable is laid by the civil team, a mandrel test is to be carried out on every duct and witnessed by the AGL team BEFORE asphalt laying. Asphalt laying to follow the witnessed mandrel test.</a:t>
            </a:r>
          </a:p>
          <a:p>
            <a:pPr>
              <a:spcAft>
                <a:spcPts val="800"/>
              </a:spcAft>
            </a:pPr>
            <a:r>
              <a:rPr sz="1050" b="1">
                <a:solidFill>
                  <a:srgbClr val="1E2761"/>
                </a:solidFill>
                <a:latin typeface="Arial"/>
              </a:rPr>
              <a:t>PHASE 3 — AFTER CIVIL WORKS · AGL INSTALLATION</a:t>
            </a:r>
          </a:p>
          <a:p>
            <a:pPr>
              <a:spcAft>
                <a:spcPts val="800"/>
              </a:spcAft>
            </a:pPr>
            <a:r>
              <a:rPr sz="1050" b="0">
                <a:solidFill>
                  <a:srgbClr val="1F2937"/>
                </a:solidFill>
                <a:latin typeface="Arial"/>
              </a:rPr>
              <a:t>1.  AGL installation works to commence only after written confirmation from the civil team that the asphalt curing period is complete.</a:t>
            </a:r>
          </a:p>
          <a:p>
            <a:pPr>
              <a:spcAft>
                <a:spcPts val="800"/>
              </a:spcAft>
            </a:pPr>
            <a:r>
              <a:rPr sz="1050" b="0">
                <a:solidFill>
                  <a:srgbClr val="1F2937"/>
                </a:solidFill>
                <a:latin typeface="Arial"/>
              </a:rPr>
              <a:t>2.  Saw cutting to commence only after the survey points are confirmed in the field by the civil survey team, and not before the saw cut detail drawing is issued. At Rev P08 every secondary route at the three locations is saw cut, and no duct route remains in the AGL scope.</a:t>
            </a:r>
          </a:p>
          <a:p>
            <a:pPr>
              <a:spcAft>
                <a:spcPts val="800"/>
              </a:spcAft>
            </a:pPr>
            <a:r>
              <a:rPr sz="1050" b="0">
                <a:solidFill>
                  <a:srgbClr val="1F2937"/>
                </a:solidFill>
                <a:latin typeface="Arial"/>
              </a:rPr>
              <a:t>3.  Installation of new bases — SIDE-ENTRY SHALLOW BASE: 11 No. 8" at Location 1; 1 No. 12" at Location 2; 1 No. 12" at Location 3 (TCCECH-03/003 — no side-entry provision in existing base). Balance 3 No. TCC at Location 3 and 3 No. at Location 1: existing shallow base maintained, new side-entry cable only, no coring.</a:t>
            </a:r>
          </a:p>
          <a:p>
            <a:pPr>
              <a:spcAft>
                <a:spcPts val="800"/>
              </a:spcAft>
            </a:pPr>
            <a:r>
              <a:rPr sz="1050" b="0">
                <a:solidFill>
                  <a:srgbClr val="1F2937"/>
                </a:solidFill>
                <a:latin typeface="Arial"/>
              </a:rPr>
              <a:t>4.  Laying of new secondary cable through the saw cut — 1 No. 2-core 4 sq.mm cable to each fitting, SBC and TCC alike (7 No. SBC, 12 No. TCC). No joints — full manhole-to-light replacement.</a:t>
            </a:r>
          </a:p>
          <a:p>
            <a:pPr>
              <a:spcAft>
                <a:spcPts val="800"/>
              </a:spcAft>
            </a:pPr>
            <a:r>
              <a:rPr sz="1050" b="0">
                <a:solidFill>
                  <a:srgbClr val="1F2937"/>
                </a:solidFill>
                <a:latin typeface="Arial"/>
              </a:rPr>
              <a:t>5.  Secondary cable termination, insulation resistance and continuity testing.</a:t>
            </a:r>
          </a:p>
          <a:p>
            <a:pPr>
              <a:spcAft>
                <a:spcPts val="800"/>
              </a:spcAft>
            </a:pPr>
            <a:r>
              <a:rPr sz="1050" b="0">
                <a:solidFill>
                  <a:srgbClr val="1F2937"/>
                </a:solidFill>
                <a:latin typeface="Arial"/>
              </a:rPr>
              <a:t>6.  Testing and commissioning at circuit level — covering the affected fittings together with the fittings on the same circuits that fall outside these works, since the series circuits are proved end to end before handover.</a:t>
            </a:r>
          </a:p>
          <a:p>
            <a:pPr>
              <a:spcAft>
                <a:spcPts val="800"/>
              </a:spcAft>
            </a:pPr>
            <a:r>
              <a:rPr sz="1050" b="0">
                <a:solidFill>
                  <a:srgbClr val="1F2937"/>
                </a:solidFill>
                <a:latin typeface="Arial"/>
              </a:rPr>
              <a:t>7.  Final functionality check, then handover to Operations for final inspection and return of the area to operational service.</a:t>
            </a:r>
          </a:p>
        </p:txBody>
      </p:sp>
      <p:sp>
        <p:nvSpPr>
          <p:cNvPr id="6" name="P08 PANEL · HOLD POINTS &amp; WITNESS REQUIR"/>
          <p:cNvSpPr/>
          <p:nvPr/>
        </p:nvSpPr>
        <p:spPr>
          <a:xfrm>
            <a:off x="457200" y="7418132"/>
            <a:ext cx="6958584" cy="2602168"/>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3504" y="7527860"/>
            <a:ext cx="6665976" cy="237744"/>
          </a:xfrm>
          <a:prstGeom prst="rect">
            <a:avLst/>
          </a:prstGeom>
          <a:noFill/>
        </p:spPr>
        <p:txBody>
          <a:bodyPr wrap="square" lIns="0" tIns="0" rIns="0" bIns="0">
            <a:spAutoFit/>
          </a:bodyPr>
          <a:lstStyle/>
          <a:p>
            <a:r>
              <a:rPr sz="950" b="1">
                <a:solidFill>
                  <a:srgbClr val="1E2761"/>
                </a:solidFill>
                <a:latin typeface="Arial"/>
              </a:rPr>
              <a:t>HOLD POINTS &amp; WITNESS REQUIREMENTS</a:t>
            </a:r>
          </a:p>
        </p:txBody>
      </p:sp>
      <p:sp>
        <p:nvSpPr>
          <p:cNvPr id="8" name="TextBox 7"/>
          <p:cNvSpPr txBox="1"/>
          <p:nvPr/>
        </p:nvSpPr>
        <p:spPr>
          <a:xfrm>
            <a:off x="603504" y="7896363"/>
            <a:ext cx="6665976" cy="1986777"/>
          </a:xfrm>
          <a:prstGeom prst="rect">
            <a:avLst/>
          </a:prstGeom>
          <a:noFill/>
        </p:spPr>
        <p:txBody>
          <a:bodyPr wrap="square" lIns="0" tIns="0" rIns="0" bIns="0">
            <a:spAutoFit/>
          </a:bodyPr>
          <a:lstStyle/>
          <a:p>
            <a:pPr>
              <a:spcAft>
                <a:spcPts val="900"/>
              </a:spcAft>
            </a:pPr>
            <a:r>
              <a:rPr sz="1050" b="0">
                <a:solidFill>
                  <a:srgbClr val="1F2937"/>
                </a:solidFill>
                <a:latin typeface="Arial"/>
              </a:rPr>
              <a:t>H1   Curing complete — Civil.  Written confirmation of the asphalt curing period before AGL installation works start (Phase 3, Item 1).</a:t>
            </a:r>
          </a:p>
          <a:p>
            <a:pPr>
              <a:spcAft>
                <a:spcPts val="900"/>
              </a:spcAft>
            </a:pPr>
            <a:r>
              <a:rPr sz="1050" b="0">
                <a:solidFill>
                  <a:srgbClr val="1F2937"/>
                </a:solidFill>
                <a:latin typeface="Arial"/>
              </a:rPr>
              <a:t>H2   Setting-out — Civil survey.  Coordinates issued and field points confirmed before coring (Phase 1, R1) and before saw cutting (Phase 3, Item 2).</a:t>
            </a:r>
          </a:p>
          <a:p>
            <a:pPr>
              <a:spcAft>
                <a:spcPts val="900"/>
              </a:spcAft>
            </a:pPr>
            <a:r>
              <a:rPr sz="1050" b="0">
                <a:solidFill>
                  <a:srgbClr val="1F2937"/>
                </a:solidFill>
                <a:latin typeface="Arial"/>
              </a:rPr>
              <a:t>H3   Mandrel test — AGL witness.  Every duct laid by the civil team, before asphalt laying (Item A1).</a:t>
            </a:r>
          </a:p>
          <a:p>
            <a:pPr>
              <a:spcAft>
                <a:spcPts val="900"/>
              </a:spcAft>
            </a:pPr>
            <a:r>
              <a:rPr sz="1050" b="0">
                <a:solidFill>
                  <a:srgbClr val="1F2937"/>
                </a:solidFill>
                <a:latin typeface="Arial"/>
              </a:rPr>
              <a:t>H4   Functionality check — AGL / Operations.  Witnessed before handover (Phase 3, Item 7).</a:t>
            </a:r>
          </a:p>
          <a:p>
            <a:pPr>
              <a:spcAft>
                <a:spcPts val="900"/>
              </a:spcAft>
            </a:pPr>
            <a:r>
              <a:rPr sz="1050" b="0">
                <a:solidFill>
                  <a:srgbClr val="B3261E"/>
                </a:solidFill>
                <a:latin typeface="Arial"/>
              </a:rPr>
              <a:t>H5   Saw cut detail — AGL / Engineer.  Saw cutting to start once the saw cut and side-entry base detail drawing is issued and accepted (Rev P08).</a:t>
            </a:r>
          </a:p>
        </p:txBody>
      </p:sp>
      <p:sp>
        <p:nvSpPr>
          <p:cNvPr id="9" name="P08 PANEL · TECHNICAL QUERY — CONFIRMATI"/>
          <p:cNvSpPr/>
          <p:nvPr/>
        </p:nvSpPr>
        <p:spPr>
          <a:xfrm>
            <a:off x="7699248" y="914400"/>
            <a:ext cx="6958584" cy="3088914"/>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45552" y="1024128"/>
            <a:ext cx="6665976" cy="237744"/>
          </a:xfrm>
          <a:prstGeom prst="rect">
            <a:avLst/>
          </a:prstGeom>
          <a:noFill/>
        </p:spPr>
        <p:txBody>
          <a:bodyPr wrap="square" lIns="0" tIns="0" rIns="0" bIns="0">
            <a:spAutoFit/>
          </a:bodyPr>
          <a:lstStyle/>
          <a:p>
            <a:r>
              <a:rPr sz="950" b="1">
                <a:solidFill>
                  <a:srgbClr val="1E2761"/>
                </a:solidFill>
                <a:latin typeface="Arial"/>
              </a:rPr>
              <a:t>TECHNICAL QUERY — CLOSED BY AGREEMENT (AGL TEAM · CIVIL TEAM · ADA AGL)</a:t>
            </a:r>
          </a:p>
        </p:txBody>
      </p:sp>
      <p:sp>
        <p:nvSpPr>
          <p:cNvPr id="11" name="TextBox 10"/>
          <p:cNvSpPr txBox="1"/>
          <p:nvPr/>
        </p:nvSpPr>
        <p:spPr>
          <a:xfrm>
            <a:off x="7845552" y="1392631"/>
            <a:ext cx="6665976" cy="2473523"/>
          </a:xfrm>
          <a:prstGeom prst="rect">
            <a:avLst/>
          </a:prstGeom>
          <a:noFill/>
        </p:spPr>
        <p:txBody>
          <a:bodyPr wrap="square" lIns="0" tIns="0" rIns="0" bIns="0">
            <a:spAutoFit/>
          </a:bodyPr>
          <a:lstStyle/>
          <a:p>
            <a:pPr>
              <a:spcAft>
                <a:spcPts val="900"/>
              </a:spcAft>
            </a:pPr>
            <a:r>
              <a:rPr sz="1050" b="1">
                <a:solidFill>
                  <a:srgbClr val="1F2937"/>
                </a:solidFill>
                <a:latin typeface="Arial"/>
              </a:rPr>
              <a:t>Subject:  existing 4 x 19 mm secondary duct — cover, reuse and continuity</a:t>
            </a:r>
          </a:p>
          <a:p>
            <a:pPr>
              <a:spcAft>
                <a:spcPts val="900"/>
              </a:spcAft>
            </a:pPr>
            <a:r>
              <a:rPr sz="1050" b="0">
                <a:solidFill>
                  <a:srgbClr val="1F2937"/>
                </a:solidFill>
                <a:latin typeface="Arial"/>
              </a:rPr>
              <a:t>Field condition:  the existing 4 x 19 mm secondary duct bank was exposed at 50 mm milling depth.</a:t>
            </a:r>
          </a:p>
          <a:p>
            <a:pPr>
              <a:spcAft>
                <a:spcPts val="900"/>
              </a:spcAft>
            </a:pPr>
            <a:r>
              <a:rPr sz="1050" b="0">
                <a:solidFill>
                  <a:srgbClr val="1F2937"/>
                </a:solidFill>
                <a:latin typeface="Arial"/>
              </a:rPr>
              <a:t>Q1.  Whether new duct may be re-laid on the existing duct alignment.   CLOSED — no duct is re-laid on the existing alignment under this scope; the new secondary cable is laid by saw cut.</a:t>
            </a:r>
          </a:p>
          <a:p>
            <a:pPr>
              <a:spcAft>
                <a:spcPts val="900"/>
              </a:spcAft>
            </a:pPr>
            <a:r>
              <a:rPr sz="1050" b="0">
                <a:solidFill>
                  <a:srgbClr val="1F2937"/>
                </a:solidFill>
                <a:latin typeface="Arial"/>
              </a:rPr>
              <a:t>Q2.  Suitability of the existing duct for reuse.   CLOSED — the existing 4 x 19 mm cross-section does not accommodate the new secondary cable, and the existing cables are obsolete and are to be withdrawn. Reuse is not adopted; the duct bank is left in place.</a:t>
            </a:r>
          </a:p>
          <a:p>
            <a:pPr>
              <a:spcAft>
                <a:spcPts val="900"/>
              </a:spcAft>
            </a:pPr>
            <a:r>
              <a:rPr sz="1050" b="0">
                <a:solidFill>
                  <a:srgbClr val="1F2937"/>
                </a:solidFill>
                <a:latin typeface="Arial"/>
              </a:rPr>
              <a:t>Q3.  Transition into the duct in the non-construction area.   CLOSED — the civil scope of work covers the milling area only, so a full-stretch duct cannot be delivered under this work. Saw cut is adopted for the full affected length, which removes the transition.</a:t>
            </a:r>
          </a:p>
        </p:txBody>
      </p:sp>
      <p:sp>
        <p:nvSpPr>
          <p:cNvPr id="12" name="P08 PANEL · AGL TEAM PROPOSAL"/>
          <p:cNvSpPr/>
          <p:nvPr/>
        </p:nvSpPr>
        <p:spPr>
          <a:xfrm>
            <a:off x="7699248" y="4149618"/>
            <a:ext cx="6958584" cy="2860315"/>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45552" y="4259346"/>
            <a:ext cx="6665976" cy="237744"/>
          </a:xfrm>
          <a:prstGeom prst="rect">
            <a:avLst/>
          </a:prstGeom>
          <a:noFill/>
        </p:spPr>
        <p:txBody>
          <a:bodyPr wrap="square" lIns="0" tIns="0" rIns="0" bIns="0">
            <a:spAutoFit/>
          </a:bodyPr>
          <a:lstStyle/>
          <a:p>
            <a:r>
              <a:rPr sz="950" b="1">
                <a:solidFill>
                  <a:srgbClr val="1E2761"/>
                </a:solidFill>
                <a:latin typeface="Arial"/>
              </a:rPr>
              <a:t>AGREED WAY FORWARD — SAW CUT AS AN INTERIM ARRANGEMENT</a:t>
            </a:r>
          </a:p>
        </p:txBody>
      </p:sp>
      <p:sp>
        <p:nvSpPr>
          <p:cNvPr id="14" name="TextBox 13"/>
          <p:cNvSpPr txBox="1"/>
          <p:nvPr/>
        </p:nvSpPr>
        <p:spPr>
          <a:xfrm>
            <a:off x="7845552" y="4627849"/>
            <a:ext cx="6665976" cy="2244924"/>
          </a:xfrm>
          <a:prstGeom prst="rect">
            <a:avLst/>
          </a:prstGeom>
          <a:noFill/>
        </p:spPr>
        <p:txBody>
          <a:bodyPr wrap="square" lIns="0" tIns="0" rIns="0" bIns="0">
            <a:spAutoFit/>
          </a:bodyPr>
          <a:lstStyle/>
          <a:p>
            <a:pPr>
              <a:spcAft>
                <a:spcPts val="900"/>
              </a:spcAft>
            </a:pPr>
            <a:r>
              <a:rPr sz="1050" b="0">
                <a:solidFill>
                  <a:srgbClr val="1F2937"/>
                </a:solidFill>
                <a:latin typeface="Arial"/>
              </a:rPr>
              <a:t>The AGL team's original proposal was a full-stretch new secondary duct sized for the new secondary cable, giving a continuous route end to end and minimising saw cutting in the finished pavement.</a:t>
            </a:r>
          </a:p>
          <a:p>
            <a:pPr>
              <a:spcAft>
                <a:spcPts val="900"/>
              </a:spcAft>
            </a:pPr>
            <a:r>
              <a:rPr sz="1050" b="1">
                <a:solidFill>
                  <a:srgbClr val="B3261E"/>
                </a:solidFill>
                <a:latin typeface="Arial"/>
              </a:rPr>
              <a:t>Agreed position:  the matter was raised with the civil team and with ADA AGL. It is agreed that the existing 4 x 19 mm duct cannot accommodate the new secondary cable, and that the civil scope of work covers the milling area only, so a full-stretch duct cannot be delivered under this work. SAW CUT is therefore adopted for every milling-affected asset — agreed by the AGL team (ADB SAFEGATE), the civil team and ADA AGL.</a:t>
            </a:r>
          </a:p>
          <a:p>
            <a:pPr>
              <a:spcAft>
                <a:spcPts val="900"/>
              </a:spcAft>
            </a:pPr>
            <a:r>
              <a:rPr sz="1050" b="0">
                <a:solidFill>
                  <a:srgbClr val="1F2937"/>
                </a:solidFill>
                <a:latin typeface="Arial"/>
              </a:rPr>
              <a:t>Status:  the saw cut route is an INTERIM arrangement. Permanent duct provision is to follow under the South Rehabilitation works, where the saw cut routes are to be replaced with duct to the standard design. Q1, Q2 and Q3 are closed on that basis.</a:t>
            </a:r>
          </a:p>
        </p:txBody>
      </p:sp>
      <p:sp>
        <p:nvSpPr>
          <p:cNvPr id="15" name="P08 PANEL · REV P08 — WHAT CHANGED"/>
          <p:cNvSpPr/>
          <p:nvPr/>
        </p:nvSpPr>
        <p:spPr>
          <a:xfrm>
            <a:off x="7699248" y="7156237"/>
            <a:ext cx="6958584" cy="2864063"/>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45552" y="7265965"/>
            <a:ext cx="6665976" cy="237744"/>
          </a:xfrm>
          <a:prstGeom prst="rect">
            <a:avLst/>
          </a:prstGeom>
          <a:noFill/>
        </p:spPr>
        <p:txBody>
          <a:bodyPr wrap="square" lIns="0" tIns="0" rIns="0" bIns="0">
            <a:spAutoFit/>
          </a:bodyPr>
          <a:lstStyle/>
          <a:p>
            <a:r>
              <a:rPr sz="950" b="1">
                <a:solidFill>
                  <a:srgbClr val="1E2761"/>
                </a:solidFill>
                <a:latin typeface="Arial"/>
              </a:rPr>
              <a:t>REV P08 — WHAT CHANGED</a:t>
            </a:r>
          </a:p>
        </p:txBody>
      </p:sp>
      <p:sp>
        <p:nvSpPr>
          <p:cNvPr id="17" name="TextBox 16"/>
          <p:cNvSpPr txBox="1"/>
          <p:nvPr/>
        </p:nvSpPr>
        <p:spPr>
          <a:xfrm>
            <a:off x="7845552" y="7634468"/>
            <a:ext cx="6665976" cy="2248672"/>
          </a:xfrm>
          <a:prstGeom prst="rect">
            <a:avLst/>
          </a:prstGeom>
          <a:noFill/>
        </p:spPr>
        <p:txBody>
          <a:bodyPr wrap="square" lIns="0" tIns="0" rIns="0" bIns="0">
            <a:spAutoFit/>
          </a:bodyPr>
          <a:lstStyle/>
          <a:p>
            <a:pPr>
              <a:spcAft>
                <a:spcPts val="800"/>
              </a:spcAft>
            </a:pPr>
            <a:r>
              <a:rPr sz="1050" b="0">
                <a:solidFill>
                  <a:srgbClr val="1F2937"/>
                </a:solidFill>
                <a:latin typeface="Arial"/>
              </a:rPr>
              <a:t>All secondary routes saw cut at the three locations; no duct route remains in the AGL scope.</a:t>
            </a:r>
          </a:p>
          <a:p>
            <a:pPr>
              <a:spcAft>
                <a:spcPts val="800"/>
              </a:spcAft>
            </a:pPr>
            <a:r>
              <a:rPr sz="1050" b="0">
                <a:solidFill>
                  <a:srgbClr val="1F2937"/>
                </a:solidFill>
                <a:latin typeface="Arial"/>
              </a:rPr>
              <a:t>New SIDE-ENTRY SHALLOW BASES — LOC-01 11 No. 8" (3 No. 12" + 6 No. 8" cored out, 2 No. 12" removed earlier); LOC-02 and LOC-03 1 No. 12" each.</a:t>
            </a:r>
          </a:p>
          <a:p>
            <a:pPr>
              <a:spcAft>
                <a:spcPts val="800"/>
              </a:spcAft>
            </a:pPr>
            <a:r>
              <a:rPr sz="1050" b="0">
                <a:solidFill>
                  <a:srgbClr val="1F2937"/>
                </a:solidFill>
                <a:latin typeface="Arial"/>
              </a:rPr>
              <a:t>Affected fittings move from 30 No. to 19 No.: LOC-01 14 (11 with new bases, 3 secondary cable only), LOC-02 1 (TCCECH-03/008), LOC-03 4 (TCC only — 03/003 cored, balance 3 secondary cable only).</a:t>
            </a:r>
          </a:p>
          <a:p>
            <a:pPr>
              <a:spcAft>
                <a:spcPts val="800"/>
              </a:spcAft>
            </a:pPr>
            <a:r>
              <a:rPr sz="1050" b="0">
                <a:solidFill>
                  <a:srgbClr val="B3261E"/>
                </a:solidFill>
                <a:latin typeface="Arial"/>
              </a:rPr>
              <a:t>Coring: 11 No. in total — LOC-01 9 No. (3 No. 12" + 6 No. 8"); LOC-02 1 No. 12"; LOC-03 1 No. 12".</a:t>
            </a:r>
          </a:p>
          <a:p>
            <a:pPr>
              <a:spcAft>
                <a:spcPts val="800"/>
              </a:spcAft>
            </a:pPr>
            <a:r>
              <a:rPr sz="1050" b="0">
                <a:solidFill>
                  <a:srgbClr val="B3261E"/>
                </a:solidFill>
                <a:latin typeface="Arial"/>
              </a:rPr>
              <a:t>Technical queries Q1–Q3 on the existing 4 x 19 mm secondary duct are closed by agreement between the AGL team, the civil team and ADA AGL: saw cut is adopted as an interim arrangement, with permanent duct provision under the South Rehabilitation works.</a:t>
            </a:r>
          </a:p>
        </p:txBody>
      </p:sp>
      <p:sp>
        <p:nvSpPr>
          <p:cNvPr id="18" name="TextBox 17"/>
          <p:cNvSpPr txBox="1"/>
          <p:nvPr/>
        </p:nvSpPr>
        <p:spPr>
          <a:xfrm>
            <a:off x="457200" y="10149840"/>
            <a:ext cx="14173200" cy="365760"/>
          </a:xfrm>
          <a:prstGeom prst="rect">
            <a:avLst/>
          </a:prstGeom>
          <a:noFill/>
        </p:spPr>
        <p:txBody>
          <a:bodyPr wrap="square" lIns="0" tIns="0" rIns="0" bIns="0">
            <a:spAutoFit/>
          </a:bodyPr>
          <a:lstStyle/>
          <a:p>
            <a:r>
              <a:rPr sz="750">
                <a:solidFill>
                  <a:srgbClr val="5F6368"/>
                </a:solidFill>
                <a:latin typeface="Arial"/>
              </a:rPr>
              <a:t>Sequence and hold points apply to the three milling locations (sheets 1001, 1002, 1003). Field condition governs. Where this sequence and a civil programme instruction differ, the AGL Team Leader is to be informed so that the two can be aligned before work proceeds.     ·     AUH-SK-AGL-TWYE-001 REV P08 (FINAL SCOPE)  ·  Prepared: Mohammed Faheem, AGL Team Leader — ADB SAFEGATE  ·  Approved: Ragesh Menon, AGL Manager</a:t>
            </a:r>
          </a:p>
        </p:txBody>
      </p:sp>
      <p:pic>
        <p:nvPicPr>
          <p:cNvPr id="19" name="ADB SAFEGATE LOGO" descr="logo-adb.png"/>
          <p:cNvPicPr>
            <a:picLocks noChangeAspect="1"/>
          </p:cNvPicPr>
          <p:nvPr/>
        </p:nvPicPr>
        <p:blipFill>
          <a:blip r:embed="rId2"/>
          <a:stretch>
            <a:fillRect/>
          </a:stretch>
        </p:blipFill>
        <p:spPr>
          <a:xfrm>
            <a:off x="13399524" y="265430"/>
            <a:ext cx="1258308" cy="434340"/>
          </a:xfrm>
          <a:prstGeom prst="rect">
            <a:avLst/>
          </a:prstGeom>
        </p:spPr>
      </p:pic>
    </p:spTree>
    <p:extLst>
      <p:ext uri="{BB962C8B-B14F-4D97-AF65-F5344CB8AC3E}">
        <p14:creationId xmlns:p14="http://schemas.microsoft.com/office/powerpoint/2010/main" val="149422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96000"/>
            <a:ext cx="13100000" cy="411480"/>
          </a:xfrm>
          <a:prstGeom prst="rect">
            <a:avLst/>
          </a:prstGeom>
          <a:noFill/>
          <a:ln/>
        </p:spPr>
        <p:txBody>
          <a:bodyPr wrap="none" lIns="0" tIns="0" rIns="0" bIns="0" rtlCol="0" anchor="ctr"/>
          <a:lstStyle/>
          <a:p>
            <a:pPr marL="0" indent="0">
              <a:buNone/>
            </a:pPr>
            <a:r>
              <a:rPr lang="en-US" sz="1325" b="1" dirty="0">
                <a:solidFill>
                  <a:srgbClr val="1E2761"/>
                </a:solidFill>
                <a:latin typeface="Arial" pitchFamily="34" charset="0"/>
                <a:ea typeface="Arial" pitchFamily="34" charset="-122"/>
                <a:cs typeface="Arial" pitchFamily="34" charset="-120"/>
              </a:rPr>
              <a:t>SHOP DRAWING — ELECTRICAL / AGL SCOPE (FIELD-GOVERNED)   ·   TAXIWAY E (E4–E6) — LOCATION 1   ·   DWG NO AUH-SK-AGL-TWYE-001-1001 REV P08</a:t>
            </a:r>
            <a:endParaRPr lang="en-US" sz="1500" dirty="0"/>
          </a:p>
        </p:txBody>
      </p:sp>
      <p:sp useBgFill="1">
        <p:nvSpPr>
          <p:cNvPr id="3" name="Shape 1"/>
          <p:cNvSpPr/>
          <p:nvPr/>
        </p:nvSpPr>
        <p:spPr>
          <a:xfrm>
            <a:off x="320040" y="777240"/>
            <a:ext cx="9555480" cy="9555480"/>
          </a:xfrm>
          <a:prstGeom prst="rect">
            <a:avLst/>
          </a:prstGeom>
          <a:solidFill>
            <a:srgbClr val="FFFFFF"/>
          </a:solidFill>
          <a:ln w="9525">
            <a:solidFill>
              <a:srgbClr val="5F6368"/>
            </a:solidFill>
            <a:prstDash val="solid"/>
          </a:ln>
        </p:spPr>
        <p:txBody>
          <a:bodyPr/>
          <a:lstStyle/>
          <a:p>
            <a:endParaRPr lang="en-US" dirty="0"/>
          </a:p>
        </p:txBody>
      </p:sp>
      <p:sp>
        <p:nvSpPr>
          <p:cNvPr id="105" name="ASBUILT DUCT · CV-NEW SEC SAWCUT · 29.7 m"/>
          <p:cNvSpPr/>
          <p:nvPr/>
        </p:nvSpPr>
        <p:spPr>
          <a:xfrm>
            <a:off x="4675694" y="3440146"/>
            <a:ext cx="2200193" cy="1699483"/>
          </a:xfrm>
          <a:custGeom>
            <a:avLst/>
            <a:gdLst/>
            <a:ahLst/>
            <a:cxnLst/>
            <a:rect l="l" t="t" r="r" b="b"/>
            <a:pathLst>
              <a:path w="2200193" h="1699483">
                <a:moveTo>
                  <a:pt x="0" y="1699483"/>
                </a:moveTo>
                <a:lnTo>
                  <a:pt x="2200193" y="0"/>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ASBUILT DUCT · CV-NEW SEC SAWCUT · 28.9 m"/>
          <p:cNvSpPr/>
          <p:nvPr/>
        </p:nvSpPr>
        <p:spPr>
          <a:xfrm>
            <a:off x="5222602" y="3440146"/>
            <a:ext cx="1653285" cy="2139824"/>
          </a:xfrm>
          <a:custGeom>
            <a:avLst/>
            <a:gdLst/>
            <a:ahLst/>
            <a:cxnLst/>
            <a:rect l="l" t="t" r="r" b="b"/>
            <a:pathLst>
              <a:path w="1653285" h="2139824">
                <a:moveTo>
                  <a:pt x="0" y="2139824"/>
                </a:moveTo>
                <a:lnTo>
                  <a:pt x="1653285" y="0"/>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ASBUILT DUCT · CV-NEW SEC SAWCUT · 30.0 m"/>
          <p:cNvSpPr/>
          <p:nvPr/>
        </p:nvSpPr>
        <p:spPr>
          <a:xfrm>
            <a:off x="5770408" y="3440146"/>
            <a:ext cx="1105479" cy="2585163"/>
          </a:xfrm>
          <a:custGeom>
            <a:avLst/>
            <a:gdLst/>
            <a:ahLst/>
            <a:cxnLst/>
            <a:rect l="l" t="t" r="r" b="b"/>
            <a:pathLst>
              <a:path w="1105479" h="2585163">
                <a:moveTo>
                  <a:pt x="0" y="2585163"/>
                </a:moveTo>
                <a:lnTo>
                  <a:pt x="1105479" y="0"/>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ASBUILT DUCT · CV-NEW SEC SAWCUT · 32.9 m"/>
          <p:cNvSpPr/>
          <p:nvPr/>
        </p:nvSpPr>
        <p:spPr>
          <a:xfrm>
            <a:off x="6315294" y="3440146"/>
            <a:ext cx="560593" cy="3028761"/>
          </a:xfrm>
          <a:custGeom>
            <a:avLst/>
            <a:gdLst/>
            <a:ahLst/>
            <a:cxnLst/>
            <a:rect l="l" t="t" r="r" b="b"/>
            <a:pathLst>
              <a:path w="560593" h="3028761">
                <a:moveTo>
                  <a:pt x="560593" y="0"/>
                </a:moveTo>
                <a:lnTo>
                  <a:pt x="0" y="3028761"/>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ASBUILT DUCT · CV-NEW SEC SAWCUT · 31.3 m"/>
          <p:cNvSpPr/>
          <p:nvPr/>
        </p:nvSpPr>
        <p:spPr>
          <a:xfrm>
            <a:off x="6857615" y="4147005"/>
            <a:ext cx="987563" cy="2757449"/>
          </a:xfrm>
          <a:custGeom>
            <a:avLst/>
            <a:gdLst/>
            <a:ahLst/>
            <a:cxnLst/>
            <a:rect l="l" t="t" r="r" b="b"/>
            <a:pathLst>
              <a:path w="987563" h="2757449">
                <a:moveTo>
                  <a:pt x="0" y="2757449"/>
                </a:moveTo>
                <a:lnTo>
                  <a:pt x="987563" y="0"/>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ASBUILT DUCT · CV-NEW SEC SAWCUT · 34.5 m"/>
          <p:cNvSpPr/>
          <p:nvPr/>
        </p:nvSpPr>
        <p:spPr>
          <a:xfrm>
            <a:off x="7405234" y="4147005"/>
            <a:ext cx="439944" cy="3197734"/>
          </a:xfrm>
          <a:custGeom>
            <a:avLst/>
            <a:gdLst/>
            <a:ahLst/>
            <a:cxnLst/>
            <a:rect l="l" t="t" r="r" b="b"/>
            <a:pathLst>
              <a:path w="439944" h="3197734">
                <a:moveTo>
                  <a:pt x="439944" y="0"/>
                </a:moveTo>
                <a:lnTo>
                  <a:pt x="0" y="3197734"/>
                </a:lnTo>
              </a:path>
            </a:pathLst>
          </a:custGeom>
          <a:noFill/>
          <a:ln w="15875" cap="flat" cmpd="sng" algn="ctr">
            <a:solidFill>
              <a:srgbClr val="70AD47">
                <a:lumMod val="75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ASBUILT DUCT · CV-NEW SEC SAWCUT · 35.1 m"/>
          <p:cNvSpPr/>
          <p:nvPr/>
        </p:nvSpPr>
        <p:spPr>
          <a:xfrm>
            <a:off x="7918320" y="4487928"/>
            <a:ext cx="394363" cy="3258901"/>
          </a:xfrm>
          <a:custGeom>
            <a:avLst/>
            <a:gdLst/>
            <a:ahLst/>
            <a:cxnLst/>
            <a:rect l="l" t="t" r="r" b="b"/>
            <a:pathLst>
              <a:path w="394363" h="3258901">
                <a:moveTo>
                  <a:pt x="0" y="3258901"/>
                </a:moveTo>
                <a:lnTo>
                  <a:pt x="394363" y="0"/>
                </a:lnTo>
              </a:path>
            </a:pathLst>
          </a:custGeom>
          <a:noFill/>
          <a:ln w="15875" cap="flat" cmpd="sng" algn="ctr">
            <a:solidFill>
              <a:srgbClr val="70AD47">
                <a:lumMod val="75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ASBUILT DUCT · CV-NEW SEC CONDUIT · 11.5 m"/>
          <p:cNvSpPr/>
          <p:nvPr/>
        </p:nvSpPr>
        <p:spPr>
          <a:xfrm>
            <a:off x="8623140" y="4945559"/>
            <a:ext cx="527252" cy="937061"/>
          </a:xfrm>
          <a:custGeom>
            <a:avLst/>
            <a:gdLst/>
            <a:ahLst/>
            <a:cxnLst/>
            <a:rect l="l" t="t" r="r" b="b"/>
            <a:pathLst>
              <a:path w="527252" h="937061">
                <a:moveTo>
                  <a:pt x="527252" y="0"/>
                </a:moveTo>
                <a:lnTo>
                  <a:pt x="0" y="937061"/>
                </a:lnTo>
              </a:path>
            </a:pathLst>
          </a:custGeom>
          <a:noFill/>
          <a:ln w="15875" cap="flat" cmpd="sng" algn="ctr">
            <a:solidFill>
              <a:srgbClr val="1E8E3E">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ASBUILT DUCT · CV-EX SEC CONDUIT · 30.1 m"/>
          <p:cNvSpPr/>
          <p:nvPr/>
        </p:nvSpPr>
        <p:spPr>
          <a:xfrm>
            <a:off x="8623140" y="5882620"/>
            <a:ext cx="419186" cy="2784666"/>
          </a:xfrm>
          <a:custGeom>
            <a:avLst/>
            <a:gdLst/>
            <a:ahLst/>
            <a:cxnLst/>
            <a:rect l="l" t="t" r="r" b="b"/>
            <a:pathLst>
              <a:path w="419186" h="2784666">
                <a:moveTo>
                  <a:pt x="419186" y="2784666"/>
                </a:moveTo>
                <a:lnTo>
                  <a:pt x="0"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ASBUILT DUCT · CV-NEW SEC SAWCUT · 15.6 m"/>
          <p:cNvSpPr/>
          <p:nvPr/>
        </p:nvSpPr>
        <p:spPr>
          <a:xfrm>
            <a:off x="8311092" y="4488817"/>
            <a:ext cx="142467" cy="1454034"/>
          </a:xfrm>
          <a:custGeom>
            <a:avLst/>
            <a:gdLst/>
            <a:ahLst/>
            <a:cxnLst/>
            <a:rect l="l" t="t" r="r" b="b"/>
            <a:pathLst>
              <a:path w="142467" h="1454034">
                <a:moveTo>
                  <a:pt x="142467" y="1454034"/>
                </a:moveTo>
                <a:lnTo>
                  <a:pt x="0" y="0"/>
                </a:lnTo>
              </a:path>
            </a:pathLst>
          </a:custGeom>
          <a:noFill/>
          <a:ln w="15875" cap="flat" cmpd="sng" algn="ctr">
            <a:solidFill>
              <a:srgbClr val="E8710A">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ASBUILT DUCT · CV-NEW SEC SAWCUT · 14.8 m"/>
          <p:cNvSpPr/>
          <p:nvPr/>
        </p:nvSpPr>
        <p:spPr>
          <a:xfrm>
            <a:off x="7623489" y="4147005"/>
            <a:ext cx="221689" cy="1363621"/>
          </a:xfrm>
          <a:custGeom>
            <a:avLst/>
            <a:gdLst/>
            <a:ahLst/>
            <a:cxnLst/>
            <a:rect l="l" t="t" r="r" b="b"/>
            <a:pathLst>
              <a:path w="221689" h="1363621">
                <a:moveTo>
                  <a:pt x="0" y="1363621"/>
                </a:moveTo>
                <a:lnTo>
                  <a:pt x="221689" y="0"/>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ASBUILT DUCT · CV-EX SEC CONDUIT · 26.2 m"/>
          <p:cNvSpPr/>
          <p:nvPr/>
        </p:nvSpPr>
        <p:spPr>
          <a:xfrm>
            <a:off x="6455728" y="4732573"/>
            <a:ext cx="2167412" cy="1150047"/>
          </a:xfrm>
          <a:custGeom>
            <a:avLst/>
            <a:gdLst/>
            <a:ahLst/>
            <a:cxnLst/>
            <a:rect l="l" t="t" r="r" b="b"/>
            <a:pathLst>
              <a:path w="2167412" h="1150047">
                <a:moveTo>
                  <a:pt x="0" y="0"/>
                </a:moveTo>
                <a:lnTo>
                  <a:pt x="2167412" y="1150047"/>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ASBUILT DUCT · CV-NEW SEC SAWCUT · 14.5 m"/>
          <p:cNvSpPr/>
          <p:nvPr/>
        </p:nvSpPr>
        <p:spPr>
          <a:xfrm>
            <a:off x="9149559" y="4945063"/>
            <a:ext cx="166648" cy="1350048"/>
          </a:xfrm>
          <a:custGeom>
            <a:avLst/>
            <a:gdLst/>
            <a:ahLst/>
            <a:cxnLst/>
            <a:rect l="l" t="t" r="r" b="b"/>
            <a:pathLst>
              <a:path w="166648" h="1350048">
                <a:moveTo>
                  <a:pt x="166648" y="1350048"/>
                </a:moveTo>
                <a:lnTo>
                  <a:pt x="0" y="0"/>
                </a:lnTo>
              </a:path>
            </a:pathLst>
          </a:custGeom>
          <a:noFill/>
          <a:ln w="15875" cap="flat" cmpd="sng" algn="ctr">
            <a:solidFill>
              <a:srgbClr val="E8710A">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ASBUILT DUCT · CV-NEW SEC SAWCUT · 61.4 m"/>
          <p:cNvSpPr/>
          <p:nvPr/>
        </p:nvSpPr>
        <p:spPr>
          <a:xfrm>
            <a:off x="1811240" y="4726249"/>
            <a:ext cx="2340462" cy="1433125"/>
          </a:xfrm>
          <a:custGeom>
            <a:avLst/>
            <a:gdLst/>
            <a:ahLst/>
            <a:cxnLst/>
            <a:rect l="l" t="t" r="r" b="b"/>
            <a:pathLst>
              <a:path w="2340462" h="1433125">
                <a:moveTo>
                  <a:pt x="2295191" y="6151"/>
                </a:moveTo>
                <a:lnTo>
                  <a:pt x="1096392" y="1234882"/>
                </a:lnTo>
                <a:lnTo>
                  <a:pt x="0" y="1433125"/>
                </a:lnTo>
                <a:lnTo>
                  <a:pt x="1185325" y="1280181"/>
                </a:lnTo>
                <a:lnTo>
                  <a:pt x="2340462"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9" name="ASBUILT DUCT · CV-NEW SEC SAWCUT · 8.9 m"/>
          <p:cNvSpPr/>
          <p:nvPr/>
        </p:nvSpPr>
        <p:spPr>
          <a:xfrm>
            <a:off x="4419153" y="5758687"/>
            <a:ext cx="644193" cy="521622"/>
          </a:xfrm>
          <a:custGeom>
            <a:avLst/>
            <a:gdLst/>
            <a:ahLst/>
            <a:cxnLst/>
            <a:rect l="l" t="t" r="r" b="b"/>
            <a:pathLst>
              <a:path w="644193" h="521622">
                <a:moveTo>
                  <a:pt x="644193" y="0"/>
                </a:moveTo>
                <a:lnTo>
                  <a:pt x="0" y="521622"/>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ASBUILT DUCT · CV-NEW SEC SAWCUT · 37.0 m"/>
          <p:cNvSpPr/>
          <p:nvPr/>
        </p:nvSpPr>
        <p:spPr>
          <a:xfrm>
            <a:off x="3683964" y="5251825"/>
            <a:ext cx="906064" cy="3307316"/>
          </a:xfrm>
          <a:custGeom>
            <a:avLst/>
            <a:gdLst/>
            <a:ahLst/>
            <a:cxnLst/>
            <a:rect l="l" t="t" r="r" b="b"/>
            <a:pathLst>
              <a:path w="906064" h="3307316">
                <a:moveTo>
                  <a:pt x="906064" y="0"/>
                </a:moveTo>
                <a:lnTo>
                  <a:pt x="537755" y="2216917"/>
                </a:lnTo>
                <a:lnTo>
                  <a:pt x="0" y="3307316"/>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ASBUILT DUCT · CV-NEW SEC SAWCUT · 30.7 m"/>
          <p:cNvSpPr/>
          <p:nvPr/>
        </p:nvSpPr>
        <p:spPr>
          <a:xfrm>
            <a:off x="3683964" y="6320650"/>
            <a:ext cx="1800642" cy="2238491"/>
          </a:xfrm>
          <a:custGeom>
            <a:avLst/>
            <a:gdLst/>
            <a:ahLst/>
            <a:cxnLst/>
            <a:rect l="l" t="t" r="r" b="b"/>
            <a:pathLst>
              <a:path w="1800642" h="2238491">
                <a:moveTo>
                  <a:pt x="1800642" y="0"/>
                </a:moveTo>
                <a:lnTo>
                  <a:pt x="0" y="2238491"/>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ASBUILT DUCT · CV-NEW SEC SAWCUT · 9.7 m"/>
          <p:cNvSpPr/>
          <p:nvPr/>
        </p:nvSpPr>
        <p:spPr>
          <a:xfrm>
            <a:off x="4957897" y="6909947"/>
            <a:ext cx="906965" cy="65491"/>
          </a:xfrm>
          <a:custGeom>
            <a:avLst/>
            <a:gdLst/>
            <a:ahLst/>
            <a:cxnLst/>
            <a:rect l="l" t="t" r="r" b="b"/>
            <a:pathLst>
              <a:path w="906965" h="65491">
                <a:moveTo>
                  <a:pt x="906965" y="0"/>
                </a:moveTo>
                <a:lnTo>
                  <a:pt x="0" y="65491"/>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ASBUILT DUCT · CV-NEW SEC SAWCUT · 30.3 m"/>
          <p:cNvSpPr/>
          <p:nvPr/>
        </p:nvSpPr>
        <p:spPr>
          <a:xfrm>
            <a:off x="3683964" y="8162385"/>
            <a:ext cx="2809473" cy="396756"/>
          </a:xfrm>
          <a:custGeom>
            <a:avLst/>
            <a:gdLst/>
            <a:ahLst/>
            <a:cxnLst/>
            <a:rect l="l" t="t" r="r" b="b"/>
            <a:pathLst>
              <a:path w="2809473" h="396756">
                <a:moveTo>
                  <a:pt x="2809473" y="0"/>
                </a:moveTo>
                <a:lnTo>
                  <a:pt x="0" y="396756"/>
                </a:lnTo>
              </a:path>
            </a:pathLst>
          </a:custGeom>
          <a:noFill/>
          <a:ln w="15875" cap="flat" cmpd="sng" algn="ctr">
            <a:solidFill>
              <a:srgbClr val="548235">
                <a:alpha val="20000"/>
              </a:srgbClr>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20" name="P08 NEW SAWCUT 04036 TRUNK"/>
          <p:cNvSpPr/>
          <p:nvPr/>
        </p:nvSpPr>
        <p:spPr>
          <a:xfrm flipV="1">
            <a:off x="3683000" y="8305800"/>
            <a:ext cx="1866900" cy="254000"/>
          </a:xfrm>
          <a:prstGeom prst="line">
            <a:avLst/>
          </a:prstGeom>
          <a:ln w="31750">
            <a:solidFill>
              <a:srgbClr val="7030A0"/>
            </a:solidFill>
          </a:ln>
        </p:spPr>
        <p:txBody>
          <a:bodyPr/>
          <a:lstStyle/>
          <a:p>
            <a:endParaRPr lang="en-US"/>
          </a:p>
        </p:txBody>
      </p:sp>
      <p:sp>
        <p:nvSpPr>
          <p:cNvPr id="124" name="ASBUILT DUCT · CV-NEW SEC SAWCUT · 10.8 m"/>
          <p:cNvSpPr/>
          <p:nvPr/>
        </p:nvSpPr>
        <p:spPr>
          <a:xfrm>
            <a:off x="5553482" y="7525176"/>
            <a:ext cx="650260" cy="769951"/>
          </a:xfrm>
          <a:custGeom>
            <a:avLst/>
            <a:gdLst/>
            <a:ahLst/>
            <a:cxnLst/>
            <a:rect l="l" t="t" r="r" b="b"/>
            <a:pathLst>
              <a:path w="650260" h="769951">
                <a:moveTo>
                  <a:pt x="650260" y="0"/>
                </a:moveTo>
                <a:lnTo>
                  <a:pt x="0" y="769951"/>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ASBUILT DUCT · CV-NEW SEC SAWCUT · 29.2 m"/>
          <p:cNvSpPr/>
          <p:nvPr/>
        </p:nvSpPr>
        <p:spPr>
          <a:xfrm>
            <a:off x="4314550" y="8793547"/>
            <a:ext cx="2403343" cy="1308936"/>
          </a:xfrm>
          <a:custGeom>
            <a:avLst/>
            <a:gdLst/>
            <a:ahLst/>
            <a:cxnLst/>
            <a:rect l="l" t="t" r="r" b="b"/>
            <a:pathLst>
              <a:path w="2403343" h="1308936">
                <a:moveTo>
                  <a:pt x="2403343" y="0"/>
                </a:moveTo>
                <a:lnTo>
                  <a:pt x="0" y="1308936"/>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ASBUILT DUCT · CV-NEW SEC SAWCUT · 10.7 m"/>
          <p:cNvSpPr/>
          <p:nvPr/>
        </p:nvSpPr>
        <p:spPr>
          <a:xfrm>
            <a:off x="5958742" y="9207008"/>
            <a:ext cx="967205" cy="267128"/>
          </a:xfrm>
          <a:custGeom>
            <a:avLst/>
            <a:gdLst/>
            <a:ahLst/>
            <a:cxnLst/>
            <a:rect l="l" t="t" r="r" b="b"/>
            <a:pathLst>
              <a:path w="967205" h="267128">
                <a:moveTo>
                  <a:pt x="967205" y="267128"/>
                </a:moveTo>
                <a:lnTo>
                  <a:pt x="0" y="0"/>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ASBUILT DUCT · CV-NEW SEC SAWCUT · 29.4 m"/>
          <p:cNvSpPr/>
          <p:nvPr/>
        </p:nvSpPr>
        <p:spPr>
          <a:xfrm>
            <a:off x="4314550" y="10102483"/>
            <a:ext cx="2752219" cy="50951"/>
          </a:xfrm>
          <a:custGeom>
            <a:avLst/>
            <a:gdLst/>
            <a:ahLst/>
            <a:cxnLst/>
            <a:rect l="l" t="t" r="r" b="b"/>
            <a:pathLst>
              <a:path w="2752219" h="50951">
                <a:moveTo>
                  <a:pt x="2752219" y="50951"/>
                </a:moveTo>
                <a:lnTo>
                  <a:pt x="0"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ASBUILT DUCT · CV-EX SEC CONDUIT · 23.3 m"/>
          <p:cNvSpPr/>
          <p:nvPr/>
        </p:nvSpPr>
        <p:spPr>
          <a:xfrm>
            <a:off x="8466913" y="5882620"/>
            <a:ext cx="156227" cy="2173602"/>
          </a:xfrm>
          <a:custGeom>
            <a:avLst/>
            <a:gdLst/>
            <a:ahLst/>
            <a:cxnLst/>
            <a:rect l="l" t="t" r="r" b="b"/>
            <a:pathLst>
              <a:path w="156227" h="2173602">
                <a:moveTo>
                  <a:pt x="0" y="2173602"/>
                </a:moveTo>
                <a:lnTo>
                  <a:pt x="156227"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ASBUILT DUCT · CV-EX SEC CONDUIT · 19.9 m"/>
          <p:cNvSpPr/>
          <p:nvPr/>
        </p:nvSpPr>
        <p:spPr>
          <a:xfrm>
            <a:off x="968053" y="987696"/>
            <a:ext cx="1434873" cy="1182018"/>
          </a:xfrm>
          <a:custGeom>
            <a:avLst/>
            <a:gdLst/>
            <a:ahLst/>
            <a:cxnLst/>
            <a:rect l="l" t="t" r="r" b="b"/>
            <a:pathLst>
              <a:path w="1434873" h="1182018">
                <a:moveTo>
                  <a:pt x="1434873" y="0"/>
                </a:moveTo>
                <a:lnTo>
                  <a:pt x="0" y="1182018"/>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ASBUILT DUCT · CV-EX SEC CONDUIT · 19.7 m"/>
          <p:cNvSpPr/>
          <p:nvPr/>
        </p:nvSpPr>
        <p:spPr>
          <a:xfrm>
            <a:off x="1489769" y="987696"/>
            <a:ext cx="913157" cy="1600836"/>
          </a:xfrm>
          <a:custGeom>
            <a:avLst/>
            <a:gdLst/>
            <a:ahLst/>
            <a:cxnLst/>
            <a:rect l="l" t="t" r="r" b="b"/>
            <a:pathLst>
              <a:path w="913157" h="1600836">
                <a:moveTo>
                  <a:pt x="0" y="1600836"/>
                </a:moveTo>
                <a:lnTo>
                  <a:pt x="913157"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ASBUILT DUCT · CV-EX SEC CONDUIT · 22.5 m"/>
          <p:cNvSpPr/>
          <p:nvPr/>
        </p:nvSpPr>
        <p:spPr>
          <a:xfrm>
            <a:off x="440607" y="987696"/>
            <a:ext cx="1962319" cy="763882"/>
          </a:xfrm>
          <a:custGeom>
            <a:avLst/>
            <a:gdLst/>
            <a:ahLst/>
            <a:cxnLst/>
            <a:rect l="l" t="t" r="r" b="b"/>
            <a:pathLst>
              <a:path w="1962319" h="763882">
                <a:moveTo>
                  <a:pt x="0" y="763882"/>
                </a:moveTo>
                <a:lnTo>
                  <a:pt x="1962319"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ASBUILT DUCT · CV-EX SEC CONDUIT · 22.0 m"/>
          <p:cNvSpPr/>
          <p:nvPr/>
        </p:nvSpPr>
        <p:spPr>
          <a:xfrm>
            <a:off x="2013190" y="987696"/>
            <a:ext cx="389736" cy="2021621"/>
          </a:xfrm>
          <a:custGeom>
            <a:avLst/>
            <a:gdLst/>
            <a:ahLst/>
            <a:cxnLst/>
            <a:rect l="l" t="t" r="r" b="b"/>
            <a:pathLst>
              <a:path w="389736" h="2021621">
                <a:moveTo>
                  <a:pt x="0" y="2021621"/>
                </a:moveTo>
                <a:lnTo>
                  <a:pt x="389736"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ASBUILT DUCT · CV-NEW SEC SAWCUT · 28.4 m"/>
          <p:cNvSpPr/>
          <p:nvPr/>
        </p:nvSpPr>
        <p:spPr>
          <a:xfrm>
            <a:off x="2535459" y="777225"/>
            <a:ext cx="200786" cy="2651276"/>
          </a:xfrm>
          <a:custGeom>
            <a:avLst/>
            <a:gdLst/>
            <a:ahLst/>
            <a:cxnLst/>
            <a:rect l="l" t="t" r="r" b="b"/>
            <a:pathLst>
              <a:path w="200786" h="2651276">
                <a:moveTo>
                  <a:pt x="0" y="2651276"/>
                </a:moveTo>
                <a:lnTo>
                  <a:pt x="200786"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ASBUILT DUCT · CV-NEW SEC SAWCUT · 16.9 m"/>
          <p:cNvSpPr/>
          <p:nvPr/>
        </p:nvSpPr>
        <p:spPr>
          <a:xfrm>
            <a:off x="320039" y="777223"/>
            <a:ext cx="1528168" cy="418310"/>
          </a:xfrm>
          <a:custGeom>
            <a:avLst/>
            <a:gdLst/>
            <a:ahLst/>
            <a:cxnLst/>
            <a:rect l="l" t="t" r="r" b="b"/>
            <a:pathLst>
              <a:path w="1528168" h="418310">
                <a:moveTo>
                  <a:pt x="0" y="418310"/>
                </a:moveTo>
                <a:lnTo>
                  <a:pt x="1528168"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ASBUILT DUCT · CV-NEW SEC CONDUIT · 2.8 m"/>
          <p:cNvSpPr/>
          <p:nvPr/>
        </p:nvSpPr>
        <p:spPr>
          <a:xfrm>
            <a:off x="2402832" y="777224"/>
            <a:ext cx="161582" cy="210407"/>
          </a:xfrm>
          <a:custGeom>
            <a:avLst/>
            <a:gdLst/>
            <a:ahLst/>
            <a:cxnLst/>
            <a:rect l="l" t="t" r="r" b="b"/>
            <a:pathLst>
              <a:path w="161582" h="210407">
                <a:moveTo>
                  <a:pt x="161582" y="0"/>
                </a:moveTo>
                <a:lnTo>
                  <a:pt x="0" y="210407"/>
                </a:lnTo>
              </a:path>
            </a:pathLst>
          </a:custGeom>
          <a:noFill/>
          <a:ln w="15875" cap="flat" cmpd="sng" algn="ctr">
            <a:solidFill>
              <a:srgbClr val="1E8E3E">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ASBUILT DUCT · CV-EX SEC CONDUIT · 22.4 m"/>
          <p:cNvSpPr/>
          <p:nvPr/>
        </p:nvSpPr>
        <p:spPr>
          <a:xfrm>
            <a:off x="2046024" y="3849163"/>
            <a:ext cx="1013529" cy="1837744"/>
          </a:xfrm>
          <a:custGeom>
            <a:avLst/>
            <a:gdLst/>
            <a:ahLst/>
            <a:cxnLst/>
            <a:rect l="l" t="t" r="r" b="b"/>
            <a:pathLst>
              <a:path w="1013529" h="1837744">
                <a:moveTo>
                  <a:pt x="1013529" y="0"/>
                </a:moveTo>
                <a:lnTo>
                  <a:pt x="0" y="1837744"/>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ASBUILT DUCT · CV-EX SEC CONDUIT · 22.3 m"/>
          <p:cNvSpPr/>
          <p:nvPr/>
        </p:nvSpPr>
        <p:spPr>
          <a:xfrm>
            <a:off x="2046024" y="4269133"/>
            <a:ext cx="1536285" cy="1417774"/>
          </a:xfrm>
          <a:custGeom>
            <a:avLst/>
            <a:gdLst/>
            <a:ahLst/>
            <a:cxnLst/>
            <a:rect l="l" t="t" r="r" b="b"/>
            <a:pathLst>
              <a:path w="1536285" h="1417774">
                <a:moveTo>
                  <a:pt x="0" y="1417774"/>
                </a:moveTo>
                <a:lnTo>
                  <a:pt x="1536285"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ASBUILT DUCT · CV-NEW SEC CONDUIT · 5.6 m"/>
          <p:cNvSpPr/>
          <p:nvPr/>
        </p:nvSpPr>
        <p:spPr>
          <a:xfrm>
            <a:off x="1811455" y="5686907"/>
            <a:ext cx="234569" cy="472223"/>
          </a:xfrm>
          <a:custGeom>
            <a:avLst/>
            <a:gdLst/>
            <a:ahLst/>
            <a:cxnLst/>
            <a:rect l="l" t="t" r="r" b="b"/>
            <a:pathLst>
              <a:path w="234569" h="472223">
                <a:moveTo>
                  <a:pt x="234569" y="0"/>
                </a:moveTo>
                <a:lnTo>
                  <a:pt x="0" y="472223"/>
                </a:lnTo>
              </a:path>
            </a:pathLst>
          </a:custGeom>
          <a:noFill/>
          <a:ln w="15875" cap="flat" cmpd="sng" algn="ctr">
            <a:solidFill>
              <a:srgbClr val="1E8E3E">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ASBUILT DUCT · CV-EX SEC CONDUIT · 9.7 m"/>
          <p:cNvSpPr/>
          <p:nvPr/>
        </p:nvSpPr>
        <p:spPr>
          <a:xfrm>
            <a:off x="4560299" y="3363941"/>
            <a:ext cx="793544" cy="432736"/>
          </a:xfrm>
          <a:custGeom>
            <a:avLst/>
            <a:gdLst/>
            <a:ahLst/>
            <a:cxnLst/>
            <a:rect l="l" t="t" r="r" b="b"/>
            <a:pathLst>
              <a:path w="793544" h="432736">
                <a:moveTo>
                  <a:pt x="0" y="432736"/>
                </a:moveTo>
                <a:lnTo>
                  <a:pt x="793544"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ASBUILT DUCT · CV-EX SEC CONDUIT · 30.1 m"/>
          <p:cNvSpPr/>
          <p:nvPr/>
        </p:nvSpPr>
        <p:spPr>
          <a:xfrm>
            <a:off x="3333425" y="3363941"/>
            <a:ext cx="2020418" cy="1960918"/>
          </a:xfrm>
          <a:custGeom>
            <a:avLst/>
            <a:gdLst/>
            <a:ahLst/>
            <a:cxnLst/>
            <a:rect l="l" t="t" r="r" b="b"/>
            <a:pathLst>
              <a:path w="2020418" h="1960918">
                <a:moveTo>
                  <a:pt x="2020418" y="0"/>
                </a:moveTo>
                <a:lnTo>
                  <a:pt x="0" y="1960918"/>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ASBUILT DUCT · CV-EX SEC CONDUIT · 12.5 m"/>
          <p:cNvSpPr/>
          <p:nvPr/>
        </p:nvSpPr>
        <p:spPr>
          <a:xfrm>
            <a:off x="4384483" y="3363941"/>
            <a:ext cx="969360" cy="651736"/>
          </a:xfrm>
          <a:custGeom>
            <a:avLst/>
            <a:gdLst/>
            <a:ahLst/>
            <a:cxnLst/>
            <a:rect l="l" t="t" r="r" b="b"/>
            <a:pathLst>
              <a:path w="969360" h="651736">
                <a:moveTo>
                  <a:pt x="0" y="651736"/>
                </a:moveTo>
                <a:lnTo>
                  <a:pt x="969360"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ASBUILT DUCT · CV-EX SEC CONDUIT · 15.4 m"/>
          <p:cNvSpPr/>
          <p:nvPr/>
        </p:nvSpPr>
        <p:spPr>
          <a:xfrm>
            <a:off x="4208742" y="3363941"/>
            <a:ext cx="1145101" cy="870791"/>
          </a:xfrm>
          <a:custGeom>
            <a:avLst/>
            <a:gdLst/>
            <a:ahLst/>
            <a:cxnLst/>
            <a:rect l="l" t="t" r="r" b="b"/>
            <a:pathLst>
              <a:path w="1145101" h="870791">
                <a:moveTo>
                  <a:pt x="0" y="870791"/>
                </a:moveTo>
                <a:lnTo>
                  <a:pt x="1145101"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ASBUILT DUCT · CV-NEW SEC CONDUIT · 8.9 m"/>
          <p:cNvSpPr/>
          <p:nvPr/>
        </p:nvSpPr>
        <p:spPr>
          <a:xfrm>
            <a:off x="5354040" y="2712486"/>
            <a:ext cx="512517" cy="651474"/>
          </a:xfrm>
          <a:custGeom>
            <a:avLst/>
            <a:gdLst/>
            <a:ahLst/>
            <a:cxnLst/>
            <a:rect l="l" t="t" r="r" b="b"/>
            <a:pathLst>
              <a:path w="512517" h="651474">
                <a:moveTo>
                  <a:pt x="512517" y="0"/>
                </a:moveTo>
                <a:lnTo>
                  <a:pt x="0" y="651474"/>
                </a:lnTo>
              </a:path>
            </a:pathLst>
          </a:custGeom>
          <a:noFill/>
          <a:ln w="15875" cap="flat" cmpd="sng" algn="ctr">
            <a:solidFill>
              <a:srgbClr val="1E8E3E">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ASBUILT DUCT · CV-NEW SEC CONDUIT · 9.2 m"/>
          <p:cNvSpPr/>
          <p:nvPr/>
        </p:nvSpPr>
        <p:spPr>
          <a:xfrm>
            <a:off x="5354040" y="2547426"/>
            <a:ext cx="285298" cy="816534"/>
          </a:xfrm>
          <a:custGeom>
            <a:avLst/>
            <a:gdLst/>
            <a:ahLst/>
            <a:cxnLst/>
            <a:rect l="l" t="t" r="r" b="b"/>
            <a:pathLst>
              <a:path w="285298" h="816534">
                <a:moveTo>
                  <a:pt x="285298" y="0"/>
                </a:moveTo>
                <a:lnTo>
                  <a:pt x="0" y="816534"/>
                </a:lnTo>
              </a:path>
            </a:pathLst>
          </a:custGeom>
          <a:noFill/>
          <a:ln w="15875" cap="flat" cmpd="sng" algn="ctr">
            <a:solidFill>
              <a:srgbClr val="1E8E3E">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ASBUILT DUCT · CV-EX SEC CONDUIT · 27.2 m"/>
          <p:cNvSpPr/>
          <p:nvPr/>
        </p:nvSpPr>
        <p:spPr>
          <a:xfrm>
            <a:off x="3505469" y="3363960"/>
            <a:ext cx="1848571" cy="1746759"/>
          </a:xfrm>
          <a:custGeom>
            <a:avLst/>
            <a:gdLst/>
            <a:ahLst/>
            <a:cxnLst/>
            <a:rect l="l" t="t" r="r" b="b"/>
            <a:pathLst>
              <a:path w="1848571" h="1746759">
                <a:moveTo>
                  <a:pt x="0" y="1746759"/>
                </a:moveTo>
                <a:lnTo>
                  <a:pt x="1848571"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ASBUILT DUCT · CV-EX SEC CONDUIT · 24.2 m"/>
          <p:cNvSpPr/>
          <p:nvPr/>
        </p:nvSpPr>
        <p:spPr>
          <a:xfrm>
            <a:off x="3681285" y="3363960"/>
            <a:ext cx="1672755" cy="1527760"/>
          </a:xfrm>
          <a:custGeom>
            <a:avLst/>
            <a:gdLst/>
            <a:ahLst/>
            <a:cxnLst/>
            <a:rect l="l" t="t" r="r" b="b"/>
            <a:pathLst>
              <a:path w="1672755" h="1527760">
                <a:moveTo>
                  <a:pt x="1672755" y="0"/>
                </a:moveTo>
                <a:lnTo>
                  <a:pt x="0" y="152776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ASBUILT DUCT · CV-NEW SEC CONDUIT · 3.6 m"/>
          <p:cNvSpPr/>
          <p:nvPr/>
        </p:nvSpPr>
        <p:spPr>
          <a:xfrm>
            <a:off x="5639338" y="2309705"/>
            <a:ext cx="239174" cy="237721"/>
          </a:xfrm>
          <a:custGeom>
            <a:avLst/>
            <a:gdLst/>
            <a:ahLst/>
            <a:cxnLst/>
            <a:rect l="l" t="t" r="r" b="b"/>
            <a:pathLst>
              <a:path w="239174" h="237721">
                <a:moveTo>
                  <a:pt x="239174" y="0"/>
                </a:moveTo>
                <a:lnTo>
                  <a:pt x="0" y="237721"/>
                </a:lnTo>
              </a:path>
            </a:pathLst>
          </a:custGeom>
          <a:noFill/>
          <a:ln w="15875" cap="flat" cmpd="sng" algn="ctr">
            <a:solidFill>
              <a:srgbClr val="1E8E3E">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ASBUILT DUCT · CV-NEW SEC CONDUIT · 7.3 m"/>
          <p:cNvSpPr/>
          <p:nvPr/>
        </p:nvSpPr>
        <p:spPr>
          <a:xfrm>
            <a:off x="1585948" y="6159130"/>
            <a:ext cx="225507" cy="647712"/>
          </a:xfrm>
          <a:custGeom>
            <a:avLst/>
            <a:gdLst/>
            <a:ahLst/>
            <a:cxnLst/>
            <a:rect l="l" t="t" r="r" b="b"/>
            <a:pathLst>
              <a:path w="225507" h="647712">
                <a:moveTo>
                  <a:pt x="0" y="647712"/>
                </a:moveTo>
                <a:lnTo>
                  <a:pt x="225507" y="0"/>
                </a:lnTo>
              </a:path>
            </a:pathLst>
          </a:custGeom>
          <a:noFill/>
          <a:ln w="15875" cap="flat" cmpd="sng" algn="ctr">
            <a:solidFill>
              <a:srgbClr val="1E8E3E">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ASBUILT DUCT · CV-EX SEC CONDUIT · 35.4 m"/>
          <p:cNvSpPr/>
          <p:nvPr/>
        </p:nvSpPr>
        <p:spPr>
          <a:xfrm>
            <a:off x="8623140" y="5882620"/>
            <a:ext cx="1252383" cy="3066156"/>
          </a:xfrm>
          <a:custGeom>
            <a:avLst/>
            <a:gdLst/>
            <a:ahLst/>
            <a:cxnLst/>
            <a:rect l="l" t="t" r="r" b="b"/>
            <a:pathLst>
              <a:path w="1252383" h="3066156">
                <a:moveTo>
                  <a:pt x="1252383" y="3066156"/>
                </a:moveTo>
                <a:lnTo>
                  <a:pt x="1145935" y="2921690"/>
                </a:lnTo>
                <a:lnTo>
                  <a:pt x="0"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ASBUILT DUCT · CV-EX SEC CONDUIT · 30.4 m"/>
          <p:cNvSpPr/>
          <p:nvPr/>
        </p:nvSpPr>
        <p:spPr>
          <a:xfrm>
            <a:off x="8623140" y="5882620"/>
            <a:ext cx="1174938" cy="2592123"/>
          </a:xfrm>
          <a:custGeom>
            <a:avLst/>
            <a:gdLst/>
            <a:ahLst/>
            <a:cxnLst/>
            <a:rect l="l" t="t" r="r" b="b"/>
            <a:pathLst>
              <a:path w="1174938" h="2592123">
                <a:moveTo>
                  <a:pt x="1174938" y="2592123"/>
                </a:moveTo>
                <a:lnTo>
                  <a:pt x="0"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ASBUILT DUCT · CV-NEW SEC SAWCUT · 36.0 m"/>
          <p:cNvSpPr/>
          <p:nvPr/>
        </p:nvSpPr>
        <p:spPr>
          <a:xfrm>
            <a:off x="7952854" y="4488602"/>
            <a:ext cx="358509" cy="3296412"/>
          </a:xfrm>
          <a:custGeom>
            <a:avLst/>
            <a:gdLst/>
            <a:ahLst/>
            <a:cxnLst/>
            <a:rect l="l" t="t" r="r" b="b"/>
            <a:pathLst>
              <a:path w="358509" h="3296412">
                <a:moveTo>
                  <a:pt x="0" y="3296412"/>
                </a:moveTo>
                <a:lnTo>
                  <a:pt x="207747" y="3037646"/>
                </a:lnTo>
                <a:lnTo>
                  <a:pt x="358509" y="0"/>
                </a:lnTo>
              </a:path>
            </a:pathLst>
          </a:custGeom>
          <a:noFill/>
          <a:ln w="15875" cap="flat" cmpd="sng" algn="ctr">
            <a:solidFill>
              <a:srgbClr val="70AD47">
                <a:lumMod val="75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ASBUILT DUCT · CV-EX SEC CONDUIT · 21.2 m"/>
          <p:cNvSpPr/>
          <p:nvPr/>
        </p:nvSpPr>
        <p:spPr>
          <a:xfrm>
            <a:off x="3857101" y="3363960"/>
            <a:ext cx="1496939" cy="1308761"/>
          </a:xfrm>
          <a:custGeom>
            <a:avLst/>
            <a:gdLst/>
            <a:ahLst/>
            <a:cxnLst/>
            <a:rect l="l" t="t" r="r" b="b"/>
            <a:pathLst>
              <a:path w="1496939" h="1308761">
                <a:moveTo>
                  <a:pt x="0" y="1308761"/>
                </a:moveTo>
                <a:lnTo>
                  <a:pt x="1496939"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ASBUILT DUCT · CV-EX SEC CONDUIT · 18.3 m"/>
          <p:cNvSpPr/>
          <p:nvPr/>
        </p:nvSpPr>
        <p:spPr>
          <a:xfrm>
            <a:off x="4032917" y="3363960"/>
            <a:ext cx="1321123" cy="1089771"/>
          </a:xfrm>
          <a:custGeom>
            <a:avLst/>
            <a:gdLst/>
            <a:ahLst/>
            <a:cxnLst/>
            <a:rect l="l" t="t" r="r" b="b"/>
            <a:pathLst>
              <a:path w="1321123" h="1089771">
                <a:moveTo>
                  <a:pt x="0" y="1089771"/>
                </a:moveTo>
                <a:lnTo>
                  <a:pt x="1321123"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ASBUILT DUCT · CV-EX SEC CONDUIT · 31.4 m"/>
          <p:cNvSpPr/>
          <p:nvPr/>
        </p:nvSpPr>
        <p:spPr>
          <a:xfrm>
            <a:off x="8623140" y="5882620"/>
            <a:ext cx="746085" cy="2748316"/>
          </a:xfrm>
          <a:custGeom>
            <a:avLst/>
            <a:gdLst/>
            <a:ahLst/>
            <a:cxnLst/>
            <a:rect l="l" t="t" r="r" b="b"/>
            <a:pathLst>
              <a:path w="746085" h="2748316">
                <a:moveTo>
                  <a:pt x="489331" y="2748316"/>
                </a:moveTo>
                <a:lnTo>
                  <a:pt x="746085" y="2315691"/>
                </a:lnTo>
                <a:lnTo>
                  <a:pt x="0"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ASBUILT DUCT · CV-EX SEC CONDUIT · 26.8 m"/>
          <p:cNvSpPr/>
          <p:nvPr/>
        </p:nvSpPr>
        <p:spPr>
          <a:xfrm>
            <a:off x="8623140" y="5882620"/>
            <a:ext cx="562500" cy="2432277"/>
          </a:xfrm>
          <a:custGeom>
            <a:avLst/>
            <a:gdLst/>
            <a:ahLst/>
            <a:cxnLst/>
            <a:rect l="l" t="t" r="r" b="b"/>
            <a:pathLst>
              <a:path w="562500" h="2432277">
                <a:moveTo>
                  <a:pt x="494480" y="2432277"/>
                </a:moveTo>
                <a:lnTo>
                  <a:pt x="562500" y="2151361"/>
                </a:lnTo>
                <a:lnTo>
                  <a:pt x="0"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ASBUILT DUCT · CV_DUCT CROSSING 6x110mm dia · 53.3 m"/>
          <p:cNvSpPr/>
          <p:nvPr/>
        </p:nvSpPr>
        <p:spPr>
          <a:xfrm>
            <a:off x="910679" y="1500196"/>
            <a:ext cx="3125287" cy="3892621"/>
          </a:xfrm>
          <a:custGeom>
            <a:avLst/>
            <a:gdLst/>
            <a:ahLst/>
            <a:cxnLst/>
            <a:rect l="l" t="t" r="r" b="b"/>
            <a:pathLst>
              <a:path w="3125287" h="3892621">
                <a:moveTo>
                  <a:pt x="3125287" y="0"/>
                </a:moveTo>
                <a:lnTo>
                  <a:pt x="0" y="3892621"/>
                </a:lnTo>
              </a:path>
            </a:pathLst>
          </a:custGeom>
          <a:noFill/>
          <a:ln w="22225" cap="flat" cmpd="sng" algn="ctr">
            <a:solidFill>
              <a:srgbClr val="C2185B">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ASBUILT DUCT · CV_OUTER DUCT 4x110mm dia · 72.2 m"/>
          <p:cNvSpPr/>
          <p:nvPr/>
        </p:nvSpPr>
        <p:spPr>
          <a:xfrm>
            <a:off x="4243488" y="1436446"/>
            <a:ext cx="5632043" cy="3708898"/>
          </a:xfrm>
          <a:custGeom>
            <a:avLst/>
            <a:gdLst/>
            <a:ahLst/>
            <a:cxnLst/>
            <a:rect l="l" t="t" r="r" b="b"/>
            <a:pathLst>
              <a:path w="5632043" h="3708898">
                <a:moveTo>
                  <a:pt x="0" y="0"/>
                </a:moveTo>
                <a:lnTo>
                  <a:pt x="4186952" y="2928502"/>
                </a:lnTo>
                <a:lnTo>
                  <a:pt x="4552709" y="3145808"/>
                </a:lnTo>
                <a:lnTo>
                  <a:pt x="5284756" y="3598646"/>
                </a:lnTo>
                <a:lnTo>
                  <a:pt x="5617823" y="3707089"/>
                </a:lnTo>
                <a:lnTo>
                  <a:pt x="5632043" y="3708898"/>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ASBUILT DUCT · CV_INNER DUCT 4x110mm dia · 54.4 m"/>
          <p:cNvSpPr/>
          <p:nvPr/>
        </p:nvSpPr>
        <p:spPr>
          <a:xfrm>
            <a:off x="4169056" y="1529226"/>
            <a:ext cx="4142036" cy="2959591"/>
          </a:xfrm>
          <a:custGeom>
            <a:avLst/>
            <a:gdLst/>
            <a:ahLst/>
            <a:cxnLst/>
            <a:rect l="l" t="t" r="r" b="b"/>
            <a:pathLst>
              <a:path w="4142036" h="2959591">
                <a:moveTo>
                  <a:pt x="0" y="0"/>
                </a:moveTo>
                <a:lnTo>
                  <a:pt x="4142036" y="2959591"/>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ASBUILT DUCT · CV_GRND DUCT · 1.5 m"/>
          <p:cNvSpPr/>
          <p:nvPr/>
        </p:nvSpPr>
        <p:spPr>
          <a:xfrm>
            <a:off x="7447864" y="3593711"/>
            <a:ext cx="85264" cy="117326"/>
          </a:xfrm>
          <a:custGeom>
            <a:avLst/>
            <a:gdLst/>
            <a:ahLst/>
            <a:cxnLst/>
            <a:rect l="l" t="t" r="r" b="b"/>
            <a:pathLst>
              <a:path w="85264" h="117326">
                <a:moveTo>
                  <a:pt x="85264" y="0"/>
                </a:moveTo>
                <a:lnTo>
                  <a:pt x="0" y="117326"/>
                </a:lnTo>
              </a:path>
            </a:pathLst>
          </a:custGeom>
          <a:noFill/>
          <a:ln w="9525" cap="flat" cmpd="sng" algn="ctr">
            <a:solidFill>
              <a:srgbClr val="795548">
                <a:alpha val="30000"/>
                <a:alpha val="20000"/>
                <a:alpha val="20000"/>
              </a:srgbClr>
            </a:solidFill>
            <a:prstDash val="sysDot"/>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ASBUILT DUCT · CV_STH DUCT 6x110mm dia · 65.6 m"/>
          <p:cNvSpPr/>
          <p:nvPr/>
        </p:nvSpPr>
        <p:spPr>
          <a:xfrm>
            <a:off x="910679" y="5392817"/>
            <a:ext cx="3448108" cy="4939912"/>
          </a:xfrm>
          <a:custGeom>
            <a:avLst/>
            <a:gdLst/>
            <a:ahLst/>
            <a:cxnLst/>
            <a:rect l="l" t="t" r="r" b="b"/>
            <a:pathLst>
              <a:path w="3448108" h="4939912">
                <a:moveTo>
                  <a:pt x="0" y="0"/>
                </a:moveTo>
                <a:lnTo>
                  <a:pt x="900561" y="766557"/>
                </a:lnTo>
                <a:lnTo>
                  <a:pt x="2034124" y="1977328"/>
                </a:lnTo>
                <a:lnTo>
                  <a:pt x="2773069" y="3166577"/>
                </a:lnTo>
                <a:lnTo>
                  <a:pt x="3328541" y="4462030"/>
                </a:lnTo>
                <a:lnTo>
                  <a:pt x="3448108" y="4939912"/>
                </a:lnTo>
              </a:path>
            </a:pathLst>
          </a:custGeom>
          <a:noFill/>
          <a:ln w="22225" cap="flat" cmpd="sng" algn="ctr">
            <a:solidFill>
              <a:srgbClr val="6A1B9A">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ASBUILT DUCT · CV_INNER DUCT 4x110mm dia · 11.5 m"/>
          <p:cNvSpPr/>
          <p:nvPr/>
        </p:nvSpPr>
        <p:spPr>
          <a:xfrm>
            <a:off x="3078664" y="777225"/>
            <a:ext cx="897314" cy="602968"/>
          </a:xfrm>
          <a:custGeom>
            <a:avLst/>
            <a:gdLst/>
            <a:ahLst/>
            <a:cxnLst/>
            <a:rect l="l" t="t" r="r" b="b"/>
            <a:pathLst>
              <a:path w="897314" h="602968">
                <a:moveTo>
                  <a:pt x="897314" y="602968"/>
                </a:moveTo>
                <a:lnTo>
                  <a:pt x="0" y="0"/>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ASBUILT DUCT · CV_OUTER DUCT 4x110mm dia · 9.3 m"/>
          <p:cNvSpPr/>
          <p:nvPr/>
        </p:nvSpPr>
        <p:spPr>
          <a:xfrm>
            <a:off x="3343370" y="777226"/>
            <a:ext cx="705580" cy="512003"/>
          </a:xfrm>
          <a:custGeom>
            <a:avLst/>
            <a:gdLst/>
            <a:ahLst/>
            <a:cxnLst/>
            <a:rect l="l" t="t" r="r" b="b"/>
            <a:pathLst>
              <a:path w="705580" h="512003">
                <a:moveTo>
                  <a:pt x="705580" y="512003"/>
                </a:moveTo>
                <a:lnTo>
                  <a:pt x="0" y="0"/>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ASBUILT DUCT · CV_INNER DUCT 4x110mm dia · 18.7 m"/>
          <p:cNvSpPr/>
          <p:nvPr/>
        </p:nvSpPr>
        <p:spPr>
          <a:xfrm>
            <a:off x="8311148" y="4488845"/>
            <a:ext cx="1564383" cy="768399"/>
          </a:xfrm>
          <a:custGeom>
            <a:avLst/>
            <a:gdLst/>
            <a:ahLst/>
            <a:cxnLst/>
            <a:rect l="l" t="t" r="r" b="b"/>
            <a:pathLst>
              <a:path w="1564383" h="768399">
                <a:moveTo>
                  <a:pt x="0" y="0"/>
                </a:moveTo>
                <a:lnTo>
                  <a:pt x="349814" y="195747"/>
                </a:lnTo>
                <a:lnTo>
                  <a:pt x="1182347" y="653753"/>
                </a:lnTo>
                <a:lnTo>
                  <a:pt x="1515723" y="762223"/>
                </a:lnTo>
                <a:lnTo>
                  <a:pt x="1564383" y="768399"/>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ASBUILT ASSET · Runway guard light / RRM"/>
          <p:cNvSpPr/>
          <p:nvPr/>
        </p:nvSpPr>
        <p:spPr>
          <a:xfrm>
            <a:off x="4301026" y="7078249"/>
            <a:ext cx="100584" cy="100584"/>
          </a:xfrm>
          <a:prstGeom prst="ellipse">
            <a:avLst/>
          </a:prstGeom>
          <a:solidFill>
            <a:srgbClr val="E8B000">
              <a:alpha val="30000"/>
              <a:alpha val="20000"/>
              <a:alpha val="20000"/>
            </a:srgbClr>
          </a:solidFill>
          <a:ln w="9525" cap="flat" cmpd="sng" algn="ctr">
            <a:solidFill>
              <a:srgbClr val="8A690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ASBUILT ASSET · Taxiway centreline light"/>
          <p:cNvSpPr/>
          <p:nvPr/>
        </p:nvSpPr>
        <p:spPr>
          <a:xfrm>
            <a:off x="6672172" y="8747836"/>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ASBUILT ASSET · Taxiway centreline light"/>
          <p:cNvSpPr/>
          <p:nvPr/>
        </p:nvSpPr>
        <p:spPr>
          <a:xfrm>
            <a:off x="6880227" y="9428425"/>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ASBUILT ASSET · Taxiway centreline light"/>
          <p:cNvSpPr/>
          <p:nvPr/>
        </p:nvSpPr>
        <p:spPr>
          <a:xfrm>
            <a:off x="7021048" y="10107713"/>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ASBUILT ASSET · Taxiway centreline light"/>
          <p:cNvSpPr/>
          <p:nvPr/>
        </p:nvSpPr>
        <p:spPr>
          <a:xfrm>
            <a:off x="9752357" y="8429023"/>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ASBUILT ASSET · Taxiway centreline light"/>
          <p:cNvSpPr/>
          <p:nvPr/>
        </p:nvSpPr>
        <p:spPr>
          <a:xfrm>
            <a:off x="9071900" y="8269176"/>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ASBUILT ASSET · Taxiway centreline light"/>
          <p:cNvSpPr/>
          <p:nvPr/>
        </p:nvSpPr>
        <p:spPr>
          <a:xfrm>
            <a:off x="8421193" y="8010502"/>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ASBUILT ASSET · Taxiway centreline light"/>
          <p:cNvSpPr/>
          <p:nvPr/>
        </p:nvSpPr>
        <p:spPr>
          <a:xfrm>
            <a:off x="2489691" y="3382836"/>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ASBUILT ASSET · Taxiway centreline light"/>
          <p:cNvSpPr/>
          <p:nvPr/>
        </p:nvSpPr>
        <p:spPr>
          <a:xfrm>
            <a:off x="1967516" y="2963540"/>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ASBUILT ASSET · Taxiway centreline light"/>
          <p:cNvSpPr/>
          <p:nvPr/>
        </p:nvSpPr>
        <p:spPr>
          <a:xfrm>
            <a:off x="1444030" y="2542840"/>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ASBUILT ASSET · Taxiway centreline light"/>
          <p:cNvSpPr/>
          <p:nvPr/>
        </p:nvSpPr>
        <p:spPr>
          <a:xfrm>
            <a:off x="922323" y="2124012"/>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ASBUILT ASSET · Taxiway centreline light"/>
          <p:cNvSpPr/>
          <p:nvPr/>
        </p:nvSpPr>
        <p:spPr>
          <a:xfrm>
            <a:off x="397639" y="1704828"/>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ASBUILT ASSET · Taxiway edge light"/>
          <p:cNvSpPr/>
          <p:nvPr/>
        </p:nvSpPr>
        <p:spPr>
          <a:xfrm>
            <a:off x="9270486" y="6249390"/>
            <a:ext cx="91440" cy="91440"/>
          </a:xfrm>
          <a:prstGeom prst="ellipse">
            <a:avLst/>
          </a:prstGeom>
          <a:solidFill>
            <a:srgbClr val="1A56DB">
              <a:alpha val="30000"/>
              <a:alpha val="20000"/>
              <a:alpha val="20000"/>
            </a:srgbClr>
          </a:solidFill>
          <a:ln w="9525" cap="flat" cmpd="sng" algn="ctr">
            <a:solidFill>
              <a:srgbClr val="0B2E7A">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ASBUILT ASSET · Runway guard light / RRM"/>
          <p:cNvSpPr/>
          <p:nvPr/>
        </p:nvSpPr>
        <p:spPr>
          <a:xfrm>
            <a:off x="3403556" y="5994015"/>
            <a:ext cx="100584" cy="100584"/>
          </a:xfrm>
          <a:prstGeom prst="ellipse">
            <a:avLst/>
          </a:prstGeom>
          <a:solidFill>
            <a:srgbClr val="E8B000">
              <a:alpha val="30000"/>
              <a:alpha val="20000"/>
              <a:alpha val="20000"/>
            </a:srgbClr>
          </a:solidFill>
          <a:ln w="9525" cap="flat" cmpd="sng" algn="ctr">
            <a:solidFill>
              <a:srgbClr val="8A690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ASBUILT ASSET · Runway guard light / RRM"/>
          <p:cNvSpPr/>
          <p:nvPr/>
        </p:nvSpPr>
        <p:spPr>
          <a:xfrm>
            <a:off x="2374277" y="5041402"/>
            <a:ext cx="100584" cy="100584"/>
          </a:xfrm>
          <a:prstGeom prst="ellipse">
            <a:avLst/>
          </a:prstGeom>
          <a:solidFill>
            <a:srgbClr val="E8B000">
              <a:alpha val="30000"/>
              <a:alpha val="20000"/>
              <a:alpha val="20000"/>
            </a:srgbClr>
          </a:solidFill>
          <a:ln w="9525" cap="flat" cmpd="sng" algn="ctr">
            <a:solidFill>
              <a:srgbClr val="8A690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ASBUILT ASSET · Runway guard light / RRM"/>
          <p:cNvSpPr/>
          <p:nvPr/>
        </p:nvSpPr>
        <p:spPr>
          <a:xfrm>
            <a:off x="972605" y="3797556"/>
            <a:ext cx="100584" cy="100584"/>
          </a:xfrm>
          <a:prstGeom prst="ellipse">
            <a:avLst/>
          </a:prstGeom>
          <a:solidFill>
            <a:srgbClr val="E8B000">
              <a:alpha val="30000"/>
              <a:alpha val="20000"/>
              <a:alpha val="20000"/>
            </a:srgbClr>
          </a:solidFill>
          <a:ln w="9525" cap="flat" cmpd="sng" algn="ctr">
            <a:solidFill>
              <a:srgbClr val="8A690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ASBUILT ASSET · Runway guard light / RRM"/>
          <p:cNvSpPr/>
          <p:nvPr/>
        </p:nvSpPr>
        <p:spPr>
          <a:xfrm>
            <a:off x="4998257" y="8296162"/>
            <a:ext cx="100584" cy="100584"/>
          </a:xfrm>
          <a:prstGeom prst="ellipse">
            <a:avLst/>
          </a:prstGeom>
          <a:solidFill>
            <a:srgbClr val="E8B000">
              <a:alpha val="30000"/>
              <a:alpha val="20000"/>
              <a:alpha val="20000"/>
            </a:srgbClr>
          </a:solidFill>
          <a:ln w="9525" cap="flat" cmpd="sng" algn="ctr">
            <a:solidFill>
              <a:srgbClr val="8A690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ASBUILT ASSET · Taxiway centreline light"/>
          <p:cNvSpPr/>
          <p:nvPr/>
        </p:nvSpPr>
        <p:spPr>
          <a:xfrm>
            <a:off x="9066750" y="8585215"/>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ASBUILT ASSET · Runway guard light / RRM"/>
          <p:cNvSpPr/>
          <p:nvPr/>
        </p:nvSpPr>
        <p:spPr>
          <a:xfrm>
            <a:off x="5485906" y="9607670"/>
            <a:ext cx="100584" cy="100584"/>
          </a:xfrm>
          <a:prstGeom prst="ellipse">
            <a:avLst/>
          </a:prstGeom>
          <a:solidFill>
            <a:srgbClr val="E8B000">
              <a:alpha val="30000"/>
              <a:alpha val="20000"/>
              <a:alpha val="20000"/>
            </a:srgbClr>
          </a:solidFill>
          <a:ln w="9525" cap="flat" cmpd="sng" algn="ctr">
            <a:solidFill>
              <a:srgbClr val="8A690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ASBUILT ASSET · Taxiway centreline light"/>
          <p:cNvSpPr/>
          <p:nvPr/>
        </p:nvSpPr>
        <p:spPr>
          <a:xfrm>
            <a:off x="7872599" y="7701108"/>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ASBUILT ASSET · Taxiway centreline light"/>
          <p:cNvSpPr/>
          <p:nvPr/>
        </p:nvSpPr>
        <p:spPr>
          <a:xfrm>
            <a:off x="5724688" y="5979588"/>
            <a:ext cx="91440" cy="91440"/>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390" name="ASBUILT ASSET · Taxiway centreline light"/>
          <p:cNvSpPr/>
          <p:nvPr/>
        </p:nvSpPr>
        <p:spPr>
          <a:xfrm>
            <a:off x="6811895" y="6858734"/>
            <a:ext cx="91440" cy="91440"/>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391" name="ASBUILT ASSET · Taxiway centreline light"/>
          <p:cNvSpPr/>
          <p:nvPr/>
        </p:nvSpPr>
        <p:spPr>
          <a:xfrm>
            <a:off x="7907133" y="7739293"/>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ASBUILT ASSET · Taxiway centreline light"/>
          <p:cNvSpPr/>
          <p:nvPr/>
        </p:nvSpPr>
        <p:spPr>
          <a:xfrm>
            <a:off x="9001895" y="8621247"/>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ASBUILT ASSET · Taxiway centreline light"/>
          <p:cNvSpPr/>
          <p:nvPr/>
        </p:nvSpPr>
        <p:spPr>
          <a:xfrm>
            <a:off x="6269574" y="6423187"/>
            <a:ext cx="91440" cy="91440"/>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395" name="ASBUILT ASSET · Taxiway centreline light"/>
          <p:cNvSpPr/>
          <p:nvPr/>
        </p:nvSpPr>
        <p:spPr>
          <a:xfrm>
            <a:off x="5177097" y="5540212"/>
            <a:ext cx="91440" cy="91440"/>
          </a:xfrm>
          <a:prstGeom prst="ellipse">
            <a:avLst/>
          </a:prstGeom>
          <a:solidFill>
            <a:srgbClr val="5B9BD5">
              <a:lumMod val="50000"/>
              <a:alpha val="30000"/>
              <a:alpha val="20000"/>
              <a:alpha val="20000"/>
              <a:alpha val="100000"/>
              <a:alpha val="100000"/>
            </a:srgbClr>
          </a:solidFill>
          <a:ln w="6350">
            <a:solidFill>
              <a:srgbClr val="9AA0A6">
                <a:alpha val="30000"/>
                <a:alpha val="20000"/>
                <a:alpha val="20000"/>
                <a:alpha val="10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396" name="ASBUILT ASSET · Sign foundation"/>
          <p:cNvSpPr/>
          <p:nvPr/>
        </p:nvSpPr>
        <p:spPr>
          <a:xfrm>
            <a:off x="1535656" y="6756549"/>
            <a:ext cx="100584" cy="100584"/>
          </a:xfrm>
          <a:prstGeom prst="rect">
            <a:avLst/>
          </a:prstGeom>
          <a:solidFill>
            <a:srgbClr val="5D4037">
              <a:alpha val="30000"/>
              <a:alpha val="20000"/>
              <a:alpha val="20000"/>
            </a:srgbClr>
          </a:solidFill>
          <a:ln w="9525" cap="flat" cmpd="sng" algn="ctr">
            <a:solidFill>
              <a:srgbClr val="3A252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ASBUILT ASSET · Sign foundation"/>
          <p:cNvSpPr/>
          <p:nvPr/>
        </p:nvSpPr>
        <p:spPr>
          <a:xfrm>
            <a:off x="5852531" y="2249489"/>
            <a:ext cx="100584" cy="100584"/>
          </a:xfrm>
          <a:prstGeom prst="rect">
            <a:avLst/>
          </a:prstGeom>
          <a:solidFill>
            <a:srgbClr val="5D4037">
              <a:alpha val="30000"/>
              <a:alpha val="20000"/>
              <a:alpha val="20000"/>
            </a:srgbClr>
          </a:solidFill>
          <a:ln w="9525" cap="flat" cmpd="sng" algn="ctr">
            <a:solidFill>
              <a:srgbClr val="3A252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ASBUILT ASSET · Taxiway edge light"/>
          <p:cNvSpPr/>
          <p:nvPr/>
        </p:nvSpPr>
        <p:spPr>
          <a:xfrm>
            <a:off x="6409202" y="4680805"/>
            <a:ext cx="91440" cy="91440"/>
          </a:xfrm>
          <a:prstGeom prst="ellipse">
            <a:avLst/>
          </a:prstGeom>
          <a:solidFill>
            <a:srgbClr val="1A56DB">
              <a:alpha val="30000"/>
              <a:alpha val="20000"/>
              <a:alpha val="20000"/>
            </a:srgbClr>
          </a:solidFill>
          <a:ln w="9525" cap="flat" cmpd="sng" algn="ctr">
            <a:solidFill>
              <a:srgbClr val="0B2E7A">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ASBUILT ASSET · Taxiway edge light"/>
          <p:cNvSpPr/>
          <p:nvPr/>
        </p:nvSpPr>
        <p:spPr>
          <a:xfrm>
            <a:off x="7575372" y="5460571"/>
            <a:ext cx="91440" cy="91440"/>
          </a:xfrm>
          <a:prstGeom prst="ellipse">
            <a:avLst/>
          </a:prstGeom>
          <a:solidFill>
            <a:srgbClr val="1A56DB">
              <a:alpha val="30000"/>
              <a:alpha val="20000"/>
              <a:alpha val="20000"/>
            </a:srgbClr>
          </a:solidFill>
          <a:ln w="9525" cap="flat" cmpd="sng" algn="ctr">
            <a:solidFill>
              <a:srgbClr val="0B2E7A">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ASBUILT ASSET · Taxiway edge light"/>
          <p:cNvSpPr/>
          <p:nvPr/>
        </p:nvSpPr>
        <p:spPr>
          <a:xfrm>
            <a:off x="8408194" y="5891532"/>
            <a:ext cx="91440" cy="91440"/>
          </a:xfrm>
          <a:prstGeom prst="ellipse">
            <a:avLst/>
          </a:prstGeom>
          <a:solidFill>
            <a:srgbClr val="1A56DB">
              <a:alpha val="30000"/>
              <a:alpha val="20000"/>
              <a:alpha val="20000"/>
            </a:srgbClr>
          </a:solidFill>
          <a:ln w="9525" cap="flat" cmpd="sng" algn="ctr">
            <a:solidFill>
              <a:srgbClr val="0B2E7A">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ASBUILT ASSET · Earthing point"/>
          <p:cNvSpPr/>
          <p:nvPr/>
        </p:nvSpPr>
        <p:spPr>
          <a:xfrm>
            <a:off x="5517596" y="3398873"/>
            <a:ext cx="82296" cy="82296"/>
          </a:xfrm>
          <a:prstGeom prst="triangle">
            <a:avLst/>
          </a:prstGeom>
          <a:solidFill>
            <a:srgbClr val="795548">
              <a:alpha val="30000"/>
              <a:alpha val="20000"/>
              <a:alpha val="20000"/>
              <a:alpha val="100000"/>
            </a:srgbClr>
          </a:solidFill>
          <a:ln w="9525" cap="flat" cmpd="sng" algn="ctr">
            <a:solidFill>
              <a:srgbClr val="3E2A23">
                <a:alpha val="30000"/>
                <a:alpha val="20000"/>
                <a:alpha val="20000"/>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ASBUILT ASSET · Earthing point"/>
          <p:cNvSpPr/>
          <p:nvPr/>
        </p:nvSpPr>
        <p:spPr>
          <a:xfrm>
            <a:off x="534513" y="7001522"/>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ASBUILT ASSET · Handhole"/>
          <p:cNvSpPr/>
          <p:nvPr/>
        </p:nvSpPr>
        <p:spPr>
          <a:xfrm>
            <a:off x="5575330" y="2483418"/>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ASBUILT ASSET · Handhole"/>
          <p:cNvSpPr/>
          <p:nvPr/>
        </p:nvSpPr>
        <p:spPr>
          <a:xfrm>
            <a:off x="5802548" y="2648478"/>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ASBUILT ASSET · Handhole"/>
          <p:cNvSpPr/>
          <p:nvPr/>
        </p:nvSpPr>
        <p:spPr>
          <a:xfrm>
            <a:off x="6808564" y="3379395"/>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ASBUILT ASSET · Handhole"/>
          <p:cNvSpPr/>
          <p:nvPr/>
        </p:nvSpPr>
        <p:spPr>
          <a:xfrm>
            <a:off x="7779026" y="4084644"/>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ASBUILT ASSET · Handhole"/>
          <p:cNvSpPr/>
          <p:nvPr/>
        </p:nvSpPr>
        <p:spPr>
          <a:xfrm>
            <a:off x="2880804" y="7306052"/>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ASBUILT ASSET · Handhole"/>
          <p:cNvSpPr/>
          <p:nvPr/>
        </p:nvSpPr>
        <p:spPr>
          <a:xfrm>
            <a:off x="3619740" y="8495386"/>
            <a:ext cx="128016" cy="128016"/>
          </a:xfrm>
          <a:prstGeom prst="rect">
            <a:avLst/>
          </a:prstGeom>
          <a:noFill/>
          <a:ln w="9525" cap="flat" cmpd="sng" algn="ctr">
            <a:solidFill>
              <a:srgbClr val="BB00BB">
                <a:alpha val="20000"/>
                <a:alpha val="20000"/>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ASBUILT ASSET · Handhole"/>
          <p:cNvSpPr/>
          <p:nvPr/>
        </p:nvSpPr>
        <p:spPr>
          <a:xfrm>
            <a:off x="4250326" y="10038718"/>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ASBUILT ASSET · Handhole"/>
          <p:cNvSpPr/>
          <p:nvPr/>
        </p:nvSpPr>
        <p:spPr>
          <a:xfrm>
            <a:off x="8247158" y="4424556"/>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ASBUILT ASSET · Handhole"/>
          <p:cNvSpPr/>
          <p:nvPr/>
        </p:nvSpPr>
        <p:spPr>
          <a:xfrm>
            <a:off x="9085550" y="4881055"/>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ASBUILT ASSET · Handhole"/>
          <p:cNvSpPr/>
          <p:nvPr/>
        </p:nvSpPr>
        <p:spPr>
          <a:xfrm>
            <a:off x="1747231" y="6095365"/>
            <a:ext cx="128016" cy="128016"/>
          </a:xfrm>
          <a:prstGeom prst="rect">
            <a:avLst/>
          </a:prstGeom>
          <a:noFill/>
          <a:ln w="9525" cap="flat" cmpd="sng" algn="ctr">
            <a:solidFill>
              <a:srgbClr val="BB00BB">
                <a:alpha val="20000"/>
                <a:alpha val="20000"/>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ASBUILT ASSET · Earthing pit"/>
          <p:cNvSpPr/>
          <p:nvPr/>
        </p:nvSpPr>
        <p:spPr>
          <a:xfrm>
            <a:off x="4284064" y="2610562"/>
            <a:ext cx="100584" cy="100584"/>
          </a:xfrm>
          <a:prstGeom prst="triangle">
            <a:avLst/>
          </a:prstGeom>
          <a:noFill/>
          <a:ln w="9525" cap="flat" cmpd="sng" algn="ctr">
            <a:solidFill>
              <a:srgbClr val="795548">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ASBUILT ASSET · Earthing point"/>
          <p:cNvSpPr/>
          <p:nvPr/>
        </p:nvSpPr>
        <p:spPr>
          <a:xfrm>
            <a:off x="6022584" y="3629987"/>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ASBUILT ASSET · Earthing point"/>
          <p:cNvSpPr/>
          <p:nvPr/>
        </p:nvSpPr>
        <p:spPr>
          <a:xfrm>
            <a:off x="4584009" y="2584536"/>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ASBUILT ASSET · Earthing point"/>
          <p:cNvSpPr/>
          <p:nvPr/>
        </p:nvSpPr>
        <p:spPr>
          <a:xfrm>
            <a:off x="3577983" y="1853628"/>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ASBUILT ASSET · Earthing point"/>
          <p:cNvSpPr/>
          <p:nvPr/>
        </p:nvSpPr>
        <p:spPr>
          <a:xfrm>
            <a:off x="3350774" y="1688568"/>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ASBUILT ASSET · Earthing point"/>
          <p:cNvSpPr/>
          <p:nvPr/>
        </p:nvSpPr>
        <p:spPr>
          <a:xfrm>
            <a:off x="1664075" y="9861399"/>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ASBUILT ASSET · Earthing point"/>
          <p:cNvSpPr/>
          <p:nvPr/>
        </p:nvSpPr>
        <p:spPr>
          <a:xfrm>
            <a:off x="9831504" y="3046942"/>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ASBUILT ASSET · Earthing point"/>
          <p:cNvSpPr/>
          <p:nvPr/>
        </p:nvSpPr>
        <p:spPr>
          <a:xfrm>
            <a:off x="9362416" y="3078648"/>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ASBUILT ASSET · Earthing point"/>
          <p:cNvSpPr/>
          <p:nvPr/>
        </p:nvSpPr>
        <p:spPr>
          <a:xfrm>
            <a:off x="6716014" y="4907626"/>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ASBUILT ASSET · Handhole"/>
          <p:cNvSpPr/>
          <p:nvPr/>
        </p:nvSpPr>
        <p:spPr>
          <a:xfrm>
            <a:off x="8549305" y="4409597"/>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ASBUILT ASSET · Existing transformer manhole"/>
          <p:cNvSpPr/>
          <p:nvPr/>
        </p:nvSpPr>
        <p:spPr>
          <a:xfrm>
            <a:off x="3348482" y="1718937"/>
            <a:ext cx="173736" cy="173736"/>
          </a:xfrm>
          <a:prstGeom prst="rect">
            <a:avLst/>
          </a:prstGeom>
          <a:noFill/>
          <a:ln w="9525" cap="flat" cmpd="sng" algn="ctr">
            <a:solidFill>
              <a:srgbClr val="00838F">
                <a:alpha val="30000"/>
                <a:alpha val="20000"/>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ASBUILT ASSET · Existing transformer manhole"/>
          <p:cNvSpPr/>
          <p:nvPr/>
        </p:nvSpPr>
        <p:spPr>
          <a:xfrm>
            <a:off x="913681" y="4744980"/>
            <a:ext cx="173736" cy="173736"/>
          </a:xfrm>
          <a:prstGeom prst="rect">
            <a:avLst/>
          </a:prstGeom>
          <a:noFill/>
          <a:ln w="9525" cap="flat" cmpd="sng" algn="ctr">
            <a:solidFill>
              <a:srgbClr val="00838F">
                <a:alpha val="30000"/>
                <a:alpha val="20000"/>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 name="ASBUILT ASSET · Manhole"/>
          <p:cNvSpPr/>
          <p:nvPr/>
        </p:nvSpPr>
        <p:spPr>
          <a:xfrm>
            <a:off x="823811" y="5305949"/>
            <a:ext cx="173736" cy="173736"/>
          </a:xfrm>
          <a:prstGeom prst="rect">
            <a:avLst/>
          </a:prstGeom>
          <a:noFill/>
          <a:ln w="9525" cap="flat" cmpd="sng" algn="ctr">
            <a:solidFill>
              <a:srgbClr val="7B1FA2">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ASBUILT ASSET · Manhole"/>
          <p:cNvSpPr/>
          <p:nvPr/>
        </p:nvSpPr>
        <p:spPr>
          <a:xfrm>
            <a:off x="4025439" y="1318245"/>
            <a:ext cx="173736" cy="173736"/>
          </a:xfrm>
          <a:prstGeom prst="rect">
            <a:avLst/>
          </a:prstGeom>
          <a:noFill/>
          <a:ln w="9525" cap="flat" cmpd="sng" algn="ctr">
            <a:solidFill>
              <a:srgbClr val="7B1FA2">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ASBUILT ASSET · Existing transformer handhole"/>
          <p:cNvSpPr/>
          <p:nvPr/>
        </p:nvSpPr>
        <p:spPr>
          <a:xfrm>
            <a:off x="5280597" y="3290723"/>
            <a:ext cx="146304" cy="146304"/>
          </a:xfrm>
          <a:prstGeom prst="rect">
            <a:avLst/>
          </a:prstGeom>
          <a:noFill/>
          <a:ln w="9525" cap="flat" cmpd="sng" algn="ctr">
            <a:solidFill>
              <a:srgbClr val="00838F">
                <a:alpha val="30000"/>
                <a:alpha val="20000"/>
                <a:alpha val="20000"/>
                <a:alpha val="10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ASBUILT ASSET · Existing transformer handhole"/>
          <p:cNvSpPr/>
          <p:nvPr/>
        </p:nvSpPr>
        <p:spPr>
          <a:xfrm>
            <a:off x="1972787" y="5613670"/>
            <a:ext cx="146304" cy="146304"/>
          </a:xfrm>
          <a:prstGeom prst="rect">
            <a:avLst/>
          </a:prstGeom>
          <a:noFill/>
          <a:ln w="9525" cap="flat" cmpd="sng" algn="ctr">
            <a:solidFill>
              <a:srgbClr val="00838F">
                <a:alpha val="30000"/>
                <a:alpha val="20000"/>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ASBUILT ASSET · Existing transformer handhole"/>
          <p:cNvSpPr/>
          <p:nvPr/>
        </p:nvSpPr>
        <p:spPr>
          <a:xfrm>
            <a:off x="4179523" y="8144310"/>
            <a:ext cx="146304" cy="146304"/>
          </a:xfrm>
          <a:prstGeom prst="rect">
            <a:avLst/>
          </a:prstGeom>
          <a:noFill/>
          <a:ln w="9525" cap="flat" cmpd="sng" algn="ctr">
            <a:solidFill>
              <a:srgbClr val="00838F">
                <a:alpha val="30000"/>
                <a:alpha val="20000"/>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ASBUILT ASSET · Existing transformer handhole"/>
          <p:cNvSpPr/>
          <p:nvPr/>
        </p:nvSpPr>
        <p:spPr>
          <a:xfrm>
            <a:off x="2329680" y="914478"/>
            <a:ext cx="146304" cy="146304"/>
          </a:xfrm>
          <a:prstGeom prst="rect">
            <a:avLst/>
          </a:prstGeom>
          <a:noFill/>
          <a:ln w="9525" cap="flat" cmpd="sng" algn="ctr">
            <a:solidFill>
              <a:srgbClr val="00838F">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ASBUILT ASSET · Existing transformer handhole"/>
          <p:cNvSpPr/>
          <p:nvPr/>
        </p:nvSpPr>
        <p:spPr>
          <a:xfrm>
            <a:off x="8549988" y="5809467"/>
            <a:ext cx="146304" cy="146304"/>
          </a:xfrm>
          <a:prstGeom prst="rect">
            <a:avLst/>
          </a:prstGeom>
          <a:noFill/>
          <a:ln w="9525" cap="flat" cmpd="sng" algn="ctr">
            <a:solidFill>
              <a:srgbClr val="00838F">
                <a:alpha val="30000"/>
                <a:alpha val="20000"/>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 2"/>
          <p:cNvSpPr/>
          <p:nvPr/>
        </p:nvSpPr>
        <p:spPr>
          <a:xfrm>
            <a:off x="393192" y="10058400"/>
            <a:ext cx="6858000" cy="228600"/>
          </a:xfrm>
          <a:prstGeom prst="rect">
            <a:avLst/>
          </a:prstGeom>
          <a:noFill/>
          <a:ln/>
        </p:spPr>
        <p:txBody>
          <a:bodyPr wrap="square" lIns="0" tIns="0" rIns="0" bIns="0" rtlCol="0" anchor="ctr"/>
          <a:lstStyle/>
          <a:p>
            <a:pPr marL="0" indent="0">
              <a:buNone/>
            </a:pPr>
            <a:endParaRPr lang="en-US" sz="700" dirty="0"/>
          </a:p>
        </p:txBody>
      </p:sp>
      <p:sp>
        <p:nvSpPr>
          <p:cNvPr id="5" name="Shape 3"/>
          <p:cNvSpPr/>
          <p:nvPr/>
        </p:nvSpPr>
        <p:spPr>
          <a:xfrm>
            <a:off x="951025" y="777240"/>
            <a:ext cx="166132" cy="134108"/>
          </a:xfrm>
          <a:prstGeom prst="line">
            <a:avLst/>
          </a:prstGeom>
          <a:noFill/>
          <a:ln w="12700">
            <a:solidFill>
              <a:srgbClr val="7A8288">
                <a:alpha val="20000"/>
              </a:srgbClr>
            </a:solidFill>
            <a:prstDash val="solid"/>
          </a:ln>
        </p:spPr>
        <p:txBody>
          <a:bodyPr/>
          <a:lstStyle/>
          <a:p>
            <a:endParaRPr lang="en-US"/>
          </a:p>
        </p:txBody>
      </p:sp>
      <p:sp>
        <p:nvSpPr>
          <p:cNvPr id="6" name="Shape 4"/>
          <p:cNvSpPr/>
          <p:nvPr/>
        </p:nvSpPr>
        <p:spPr>
          <a:xfrm>
            <a:off x="1117157" y="911348"/>
            <a:ext cx="522676" cy="417486"/>
          </a:xfrm>
          <a:prstGeom prst="line">
            <a:avLst/>
          </a:prstGeom>
          <a:noFill/>
          <a:ln w="12700">
            <a:solidFill>
              <a:srgbClr val="7A8288">
                <a:alpha val="20000"/>
              </a:srgbClr>
            </a:solidFill>
            <a:prstDash val="solid"/>
          </a:ln>
        </p:spPr>
        <p:txBody>
          <a:bodyPr/>
          <a:lstStyle/>
          <a:p>
            <a:endParaRPr lang="en-US"/>
          </a:p>
        </p:txBody>
      </p:sp>
      <p:sp>
        <p:nvSpPr>
          <p:cNvPr id="7" name="Shape 5"/>
          <p:cNvSpPr/>
          <p:nvPr/>
        </p:nvSpPr>
        <p:spPr>
          <a:xfrm>
            <a:off x="1639833" y="1328834"/>
            <a:ext cx="2059" cy="1685"/>
          </a:xfrm>
          <a:prstGeom prst="line">
            <a:avLst/>
          </a:prstGeom>
          <a:noFill/>
          <a:ln w="12700">
            <a:solidFill>
              <a:srgbClr val="7A8288">
                <a:alpha val="30000"/>
                <a:alpha val="20000"/>
                <a:alpha val="20000"/>
              </a:srgbClr>
            </a:solidFill>
            <a:prstDash val="solid"/>
          </a:ln>
        </p:spPr>
        <p:txBody>
          <a:bodyPr/>
          <a:lstStyle/>
          <a:p>
            <a:endParaRPr lang="en-US"/>
          </a:p>
        </p:txBody>
      </p:sp>
      <p:sp>
        <p:nvSpPr>
          <p:cNvPr id="8" name="Shape 6"/>
          <p:cNvSpPr/>
          <p:nvPr/>
        </p:nvSpPr>
        <p:spPr>
          <a:xfrm>
            <a:off x="1641892" y="1330519"/>
            <a:ext cx="521647" cy="418890"/>
          </a:xfrm>
          <a:prstGeom prst="line">
            <a:avLst/>
          </a:prstGeom>
          <a:noFill/>
          <a:ln w="12700">
            <a:solidFill>
              <a:srgbClr val="7A8288">
                <a:alpha val="30000"/>
                <a:alpha val="20000"/>
                <a:alpha val="20000"/>
              </a:srgbClr>
            </a:solidFill>
            <a:prstDash val="solid"/>
          </a:ln>
        </p:spPr>
        <p:txBody>
          <a:bodyPr/>
          <a:lstStyle/>
          <a:p>
            <a:endParaRPr lang="en-US"/>
          </a:p>
        </p:txBody>
      </p:sp>
      <p:sp>
        <p:nvSpPr>
          <p:cNvPr id="9" name="Shape 7"/>
          <p:cNvSpPr/>
          <p:nvPr/>
        </p:nvSpPr>
        <p:spPr>
          <a:xfrm>
            <a:off x="2163539" y="1749409"/>
            <a:ext cx="523612" cy="420762"/>
          </a:xfrm>
          <a:prstGeom prst="line">
            <a:avLst/>
          </a:prstGeom>
          <a:noFill/>
          <a:ln w="12700">
            <a:solidFill>
              <a:srgbClr val="7A8288">
                <a:alpha val="30000"/>
                <a:alpha val="20000"/>
                <a:alpha val="20000"/>
              </a:srgbClr>
            </a:solidFill>
            <a:prstDash val="solid"/>
          </a:ln>
        </p:spPr>
        <p:txBody>
          <a:bodyPr/>
          <a:lstStyle/>
          <a:p>
            <a:endParaRPr lang="en-US"/>
          </a:p>
        </p:txBody>
      </p:sp>
      <p:sp>
        <p:nvSpPr>
          <p:cNvPr id="10" name="Shape 8"/>
          <p:cNvSpPr/>
          <p:nvPr/>
        </p:nvSpPr>
        <p:spPr>
          <a:xfrm>
            <a:off x="2687151" y="2170170"/>
            <a:ext cx="522021" cy="419077"/>
          </a:xfrm>
          <a:prstGeom prst="line">
            <a:avLst/>
          </a:prstGeom>
          <a:noFill/>
          <a:ln w="12700">
            <a:solidFill>
              <a:srgbClr val="7A8288">
                <a:alpha val="30000"/>
                <a:alpha val="20000"/>
                <a:alpha val="20000"/>
              </a:srgbClr>
            </a:solidFill>
            <a:prstDash val="solid"/>
          </a:ln>
        </p:spPr>
        <p:txBody>
          <a:bodyPr/>
          <a:lstStyle/>
          <a:p>
            <a:endParaRPr lang="en-US"/>
          </a:p>
        </p:txBody>
      </p:sp>
      <p:sp>
        <p:nvSpPr>
          <p:cNvPr id="11" name="Shape 9"/>
          <p:cNvSpPr/>
          <p:nvPr/>
        </p:nvSpPr>
        <p:spPr>
          <a:xfrm>
            <a:off x="3209173" y="2589247"/>
            <a:ext cx="523987" cy="420668"/>
          </a:xfrm>
          <a:prstGeom prst="line">
            <a:avLst/>
          </a:prstGeom>
          <a:noFill/>
          <a:ln w="12700">
            <a:solidFill>
              <a:srgbClr val="7A8288">
                <a:alpha val="30000"/>
                <a:alpha val="20000"/>
                <a:alpha val="20000"/>
              </a:srgbClr>
            </a:solidFill>
            <a:prstDash val="solid"/>
          </a:ln>
        </p:spPr>
        <p:txBody>
          <a:bodyPr/>
          <a:lstStyle/>
          <a:p>
            <a:endParaRPr lang="en-US"/>
          </a:p>
        </p:txBody>
      </p:sp>
      <p:sp>
        <p:nvSpPr>
          <p:cNvPr id="12" name="Shape 10"/>
          <p:cNvSpPr/>
          <p:nvPr/>
        </p:nvSpPr>
        <p:spPr>
          <a:xfrm>
            <a:off x="3733159" y="3009915"/>
            <a:ext cx="522957" cy="419639"/>
          </a:xfrm>
          <a:prstGeom prst="line">
            <a:avLst/>
          </a:prstGeom>
          <a:noFill/>
          <a:ln w="12700">
            <a:solidFill>
              <a:srgbClr val="7A8288">
                <a:alpha val="30000"/>
                <a:alpha val="20000"/>
                <a:alpha val="20000"/>
              </a:srgbClr>
            </a:solidFill>
            <a:prstDash val="solid"/>
          </a:ln>
        </p:spPr>
        <p:txBody>
          <a:bodyPr/>
          <a:lstStyle/>
          <a:p>
            <a:endParaRPr lang="en-US"/>
          </a:p>
        </p:txBody>
      </p:sp>
      <p:sp>
        <p:nvSpPr>
          <p:cNvPr id="13" name="Shape 11"/>
          <p:cNvSpPr/>
          <p:nvPr/>
        </p:nvSpPr>
        <p:spPr>
          <a:xfrm>
            <a:off x="4256117" y="3429554"/>
            <a:ext cx="566381" cy="455108"/>
          </a:xfrm>
          <a:prstGeom prst="line">
            <a:avLst/>
          </a:prstGeom>
          <a:noFill/>
          <a:ln w="12700">
            <a:solidFill>
              <a:srgbClr val="7A8288">
                <a:alpha val="30000"/>
                <a:alpha val="20000"/>
                <a:alpha val="20000"/>
              </a:srgbClr>
            </a:solidFill>
            <a:prstDash val="solid"/>
          </a:ln>
        </p:spPr>
        <p:txBody>
          <a:bodyPr/>
          <a:lstStyle/>
          <a:p>
            <a:endParaRPr lang="en-US"/>
          </a:p>
        </p:txBody>
      </p:sp>
      <p:sp>
        <p:nvSpPr>
          <p:cNvPr id="14" name="Shape 12"/>
          <p:cNvSpPr/>
          <p:nvPr/>
        </p:nvSpPr>
        <p:spPr>
          <a:xfrm>
            <a:off x="4822497" y="3884661"/>
            <a:ext cx="522957" cy="413462"/>
          </a:xfrm>
          <a:prstGeom prst="line">
            <a:avLst/>
          </a:prstGeom>
          <a:noFill/>
          <a:ln w="12700">
            <a:solidFill>
              <a:srgbClr val="7A8288">
                <a:alpha val="30000"/>
                <a:alpha val="20000"/>
                <a:alpha val="20000"/>
              </a:srgbClr>
            </a:solidFill>
            <a:prstDash val="solid"/>
          </a:ln>
        </p:spPr>
        <p:txBody>
          <a:bodyPr/>
          <a:lstStyle/>
          <a:p>
            <a:endParaRPr lang="en-US"/>
          </a:p>
        </p:txBody>
      </p:sp>
      <p:sp>
        <p:nvSpPr>
          <p:cNvPr id="15" name="Shape 13"/>
          <p:cNvSpPr/>
          <p:nvPr/>
        </p:nvSpPr>
        <p:spPr>
          <a:xfrm>
            <a:off x="5345455" y="4298123"/>
            <a:ext cx="11885" cy="9546"/>
          </a:xfrm>
          <a:prstGeom prst="line">
            <a:avLst/>
          </a:prstGeom>
          <a:noFill/>
          <a:ln w="12700">
            <a:solidFill>
              <a:srgbClr val="7A8288">
                <a:alpha val="30000"/>
                <a:alpha val="20000"/>
                <a:alpha val="20000"/>
              </a:srgbClr>
            </a:solidFill>
            <a:prstDash val="solid"/>
          </a:ln>
        </p:spPr>
        <p:txBody>
          <a:bodyPr/>
          <a:lstStyle/>
          <a:p>
            <a:endParaRPr lang="en-US"/>
          </a:p>
        </p:txBody>
      </p:sp>
      <p:sp>
        <p:nvSpPr>
          <p:cNvPr id="16" name="Shape 14"/>
          <p:cNvSpPr/>
          <p:nvPr/>
        </p:nvSpPr>
        <p:spPr>
          <a:xfrm>
            <a:off x="5357340" y="4307669"/>
            <a:ext cx="544950" cy="443596"/>
          </a:xfrm>
          <a:prstGeom prst="line">
            <a:avLst/>
          </a:prstGeom>
          <a:noFill/>
          <a:ln w="12700">
            <a:solidFill>
              <a:srgbClr val="7A8288">
                <a:alpha val="30000"/>
                <a:alpha val="20000"/>
                <a:alpha val="20000"/>
              </a:srgbClr>
            </a:solidFill>
            <a:prstDash val="solid"/>
          </a:ln>
        </p:spPr>
        <p:txBody>
          <a:bodyPr/>
          <a:lstStyle/>
          <a:p>
            <a:endParaRPr lang="en-US"/>
          </a:p>
        </p:txBody>
      </p:sp>
      <p:sp>
        <p:nvSpPr>
          <p:cNvPr id="17" name="Shape 15"/>
          <p:cNvSpPr/>
          <p:nvPr/>
        </p:nvSpPr>
        <p:spPr>
          <a:xfrm>
            <a:off x="5902290" y="4751266"/>
            <a:ext cx="76927" cy="69066"/>
          </a:xfrm>
          <a:prstGeom prst="line">
            <a:avLst/>
          </a:prstGeom>
          <a:noFill/>
          <a:ln w="12700">
            <a:solidFill>
              <a:srgbClr val="7A8288">
                <a:alpha val="30000"/>
                <a:alpha val="20000"/>
                <a:alpha val="20000"/>
              </a:srgbClr>
            </a:solidFill>
            <a:prstDash val="solid"/>
          </a:ln>
        </p:spPr>
        <p:txBody>
          <a:bodyPr/>
          <a:lstStyle/>
          <a:p>
            <a:endParaRPr lang="en-US"/>
          </a:p>
        </p:txBody>
      </p:sp>
      <p:sp>
        <p:nvSpPr>
          <p:cNvPr id="18" name="Shape 16"/>
          <p:cNvSpPr/>
          <p:nvPr/>
        </p:nvSpPr>
        <p:spPr>
          <a:xfrm>
            <a:off x="5979217" y="4820332"/>
            <a:ext cx="69909" cy="76085"/>
          </a:xfrm>
          <a:prstGeom prst="line">
            <a:avLst/>
          </a:prstGeom>
          <a:noFill/>
          <a:ln w="12700">
            <a:solidFill>
              <a:srgbClr val="7A8288">
                <a:alpha val="30000"/>
                <a:alpha val="20000"/>
                <a:alpha val="20000"/>
              </a:srgbClr>
            </a:solidFill>
            <a:prstDash val="solid"/>
          </a:ln>
        </p:spPr>
        <p:txBody>
          <a:bodyPr/>
          <a:lstStyle/>
          <a:p>
            <a:endParaRPr lang="en-US"/>
          </a:p>
        </p:txBody>
      </p:sp>
      <p:sp>
        <p:nvSpPr>
          <p:cNvPr id="19" name="Shape 17"/>
          <p:cNvSpPr/>
          <p:nvPr/>
        </p:nvSpPr>
        <p:spPr>
          <a:xfrm>
            <a:off x="6049126" y="4896417"/>
            <a:ext cx="62328" cy="82355"/>
          </a:xfrm>
          <a:prstGeom prst="line">
            <a:avLst/>
          </a:prstGeom>
          <a:noFill/>
          <a:ln w="12700">
            <a:solidFill>
              <a:srgbClr val="7A8288">
                <a:alpha val="30000"/>
                <a:alpha val="20000"/>
                <a:alpha val="20000"/>
              </a:srgbClr>
            </a:solidFill>
            <a:prstDash val="solid"/>
          </a:ln>
        </p:spPr>
        <p:txBody>
          <a:bodyPr/>
          <a:lstStyle/>
          <a:p>
            <a:endParaRPr lang="en-US"/>
          </a:p>
        </p:txBody>
      </p:sp>
      <p:sp>
        <p:nvSpPr>
          <p:cNvPr id="20" name="Shape 18"/>
          <p:cNvSpPr/>
          <p:nvPr/>
        </p:nvSpPr>
        <p:spPr>
          <a:xfrm>
            <a:off x="6111454" y="4978773"/>
            <a:ext cx="21244" cy="34533"/>
          </a:xfrm>
          <a:prstGeom prst="line">
            <a:avLst/>
          </a:prstGeom>
          <a:noFill/>
          <a:ln w="12700">
            <a:solidFill>
              <a:srgbClr val="7A8288">
                <a:alpha val="30000"/>
                <a:alpha val="20000"/>
                <a:alpha val="20000"/>
              </a:srgbClr>
            </a:solidFill>
            <a:prstDash val="solid"/>
          </a:ln>
        </p:spPr>
        <p:txBody>
          <a:bodyPr/>
          <a:lstStyle/>
          <a:p>
            <a:endParaRPr lang="en-US"/>
          </a:p>
        </p:txBody>
      </p:sp>
      <p:sp>
        <p:nvSpPr>
          <p:cNvPr id="21" name="Shape 19"/>
          <p:cNvSpPr/>
          <p:nvPr/>
        </p:nvSpPr>
        <p:spPr>
          <a:xfrm>
            <a:off x="6132698" y="5013306"/>
            <a:ext cx="43237" cy="15161"/>
          </a:xfrm>
          <a:prstGeom prst="line">
            <a:avLst/>
          </a:prstGeom>
          <a:noFill/>
          <a:ln w="12700">
            <a:solidFill>
              <a:srgbClr val="7A8288">
                <a:alpha val="30000"/>
                <a:alpha val="20000"/>
                <a:alpha val="20000"/>
              </a:srgbClr>
            </a:solidFill>
            <a:prstDash val="solid"/>
          </a:ln>
        </p:spPr>
        <p:txBody>
          <a:bodyPr/>
          <a:lstStyle/>
          <a:p>
            <a:endParaRPr lang="en-US"/>
          </a:p>
        </p:txBody>
      </p:sp>
      <p:sp>
        <p:nvSpPr>
          <p:cNvPr id="22" name="Shape 20"/>
          <p:cNvSpPr/>
          <p:nvPr/>
        </p:nvSpPr>
        <p:spPr>
          <a:xfrm>
            <a:off x="6175935" y="5028467"/>
            <a:ext cx="96580" cy="44921"/>
          </a:xfrm>
          <a:prstGeom prst="line">
            <a:avLst/>
          </a:prstGeom>
          <a:noFill/>
          <a:ln w="12700">
            <a:solidFill>
              <a:srgbClr val="7A8288">
                <a:alpha val="30000"/>
                <a:alpha val="20000"/>
                <a:alpha val="20000"/>
              </a:srgbClr>
            </a:solidFill>
            <a:prstDash val="solid"/>
          </a:ln>
        </p:spPr>
        <p:txBody>
          <a:bodyPr/>
          <a:lstStyle/>
          <a:p>
            <a:endParaRPr lang="en-US"/>
          </a:p>
        </p:txBody>
      </p:sp>
      <p:sp>
        <p:nvSpPr>
          <p:cNvPr id="23" name="Shape 21"/>
          <p:cNvSpPr/>
          <p:nvPr/>
        </p:nvSpPr>
        <p:spPr>
          <a:xfrm>
            <a:off x="6272515" y="5073388"/>
            <a:ext cx="91620" cy="54280"/>
          </a:xfrm>
          <a:prstGeom prst="line">
            <a:avLst/>
          </a:prstGeom>
          <a:noFill/>
          <a:ln w="12700">
            <a:solidFill>
              <a:srgbClr val="7A8288">
                <a:alpha val="30000"/>
                <a:alpha val="20000"/>
                <a:alpha val="20000"/>
              </a:srgbClr>
            </a:solidFill>
            <a:prstDash val="solid"/>
          </a:ln>
        </p:spPr>
        <p:txBody>
          <a:bodyPr/>
          <a:lstStyle/>
          <a:p>
            <a:endParaRPr lang="en-US"/>
          </a:p>
        </p:txBody>
      </p:sp>
      <p:sp>
        <p:nvSpPr>
          <p:cNvPr id="24" name="Shape 22"/>
          <p:cNvSpPr/>
          <p:nvPr/>
        </p:nvSpPr>
        <p:spPr>
          <a:xfrm>
            <a:off x="6364136" y="5127667"/>
            <a:ext cx="85818" cy="63077"/>
          </a:xfrm>
          <a:prstGeom prst="line">
            <a:avLst/>
          </a:prstGeom>
          <a:noFill/>
          <a:ln w="12700">
            <a:solidFill>
              <a:srgbClr val="7A8288">
                <a:alpha val="30000"/>
                <a:alpha val="20000"/>
                <a:alpha val="20000"/>
              </a:srgbClr>
            </a:solidFill>
            <a:prstDash val="solid"/>
          </a:ln>
        </p:spPr>
        <p:txBody>
          <a:bodyPr/>
          <a:lstStyle/>
          <a:p>
            <a:endParaRPr lang="en-US"/>
          </a:p>
        </p:txBody>
      </p:sp>
      <p:sp>
        <p:nvSpPr>
          <p:cNvPr id="25" name="Shape 23"/>
          <p:cNvSpPr/>
          <p:nvPr/>
        </p:nvSpPr>
        <p:spPr>
          <a:xfrm>
            <a:off x="6449954" y="5190744"/>
            <a:ext cx="544856" cy="443596"/>
          </a:xfrm>
          <a:prstGeom prst="line">
            <a:avLst/>
          </a:prstGeom>
          <a:noFill/>
          <a:ln w="12700">
            <a:solidFill>
              <a:srgbClr val="7A8288">
                <a:alpha val="30000"/>
                <a:alpha val="20000"/>
                <a:alpha val="20000"/>
              </a:srgbClr>
            </a:solidFill>
            <a:prstDash val="solid"/>
          </a:ln>
        </p:spPr>
        <p:txBody>
          <a:bodyPr/>
          <a:lstStyle/>
          <a:p>
            <a:endParaRPr lang="en-US"/>
          </a:p>
        </p:txBody>
      </p:sp>
      <p:sp>
        <p:nvSpPr>
          <p:cNvPr id="26" name="Shape 24"/>
          <p:cNvSpPr/>
          <p:nvPr/>
        </p:nvSpPr>
        <p:spPr>
          <a:xfrm>
            <a:off x="6994810" y="5634341"/>
            <a:ext cx="79174" cy="71219"/>
          </a:xfrm>
          <a:prstGeom prst="line">
            <a:avLst/>
          </a:prstGeom>
          <a:noFill/>
          <a:ln w="12700">
            <a:solidFill>
              <a:srgbClr val="7A8288">
                <a:alpha val="30000"/>
                <a:alpha val="20000"/>
                <a:alpha val="20000"/>
              </a:srgbClr>
            </a:solidFill>
            <a:prstDash val="solid"/>
          </a:ln>
        </p:spPr>
        <p:txBody>
          <a:bodyPr/>
          <a:lstStyle/>
          <a:p>
            <a:endParaRPr lang="en-US"/>
          </a:p>
        </p:txBody>
      </p:sp>
      <p:sp>
        <p:nvSpPr>
          <p:cNvPr id="27" name="Shape 25"/>
          <p:cNvSpPr/>
          <p:nvPr/>
        </p:nvSpPr>
        <p:spPr>
          <a:xfrm>
            <a:off x="7073984" y="5705559"/>
            <a:ext cx="71780" cy="78799"/>
          </a:xfrm>
          <a:prstGeom prst="line">
            <a:avLst/>
          </a:prstGeom>
          <a:noFill/>
          <a:ln w="12700">
            <a:solidFill>
              <a:srgbClr val="7A8288">
                <a:alpha val="30000"/>
                <a:alpha val="20000"/>
                <a:alpha val="20000"/>
              </a:srgbClr>
            </a:solidFill>
            <a:prstDash val="solid"/>
          </a:ln>
        </p:spPr>
        <p:txBody>
          <a:bodyPr/>
          <a:lstStyle/>
          <a:p>
            <a:endParaRPr lang="en-US"/>
          </a:p>
        </p:txBody>
      </p:sp>
      <p:sp>
        <p:nvSpPr>
          <p:cNvPr id="28" name="Shape 26"/>
          <p:cNvSpPr/>
          <p:nvPr/>
        </p:nvSpPr>
        <p:spPr>
          <a:xfrm>
            <a:off x="7145764" y="5784359"/>
            <a:ext cx="63545" cy="85444"/>
          </a:xfrm>
          <a:prstGeom prst="line">
            <a:avLst/>
          </a:prstGeom>
          <a:noFill/>
          <a:ln w="12700">
            <a:solidFill>
              <a:srgbClr val="7A8288">
                <a:alpha val="30000"/>
                <a:alpha val="20000"/>
                <a:alpha val="20000"/>
              </a:srgbClr>
            </a:solidFill>
            <a:prstDash val="solid"/>
          </a:ln>
        </p:spPr>
        <p:txBody>
          <a:bodyPr/>
          <a:lstStyle/>
          <a:p>
            <a:endParaRPr lang="en-US"/>
          </a:p>
        </p:txBody>
      </p:sp>
      <p:sp>
        <p:nvSpPr>
          <p:cNvPr id="29" name="Shape 27"/>
          <p:cNvSpPr/>
          <p:nvPr/>
        </p:nvSpPr>
        <p:spPr>
          <a:xfrm>
            <a:off x="7209309" y="5869802"/>
            <a:ext cx="14225" cy="23677"/>
          </a:xfrm>
          <a:prstGeom prst="line">
            <a:avLst/>
          </a:prstGeom>
          <a:noFill/>
          <a:ln w="12700">
            <a:solidFill>
              <a:srgbClr val="7A8288">
                <a:alpha val="30000"/>
                <a:alpha val="20000"/>
                <a:alpha val="20000"/>
              </a:srgbClr>
            </a:solidFill>
            <a:prstDash val="solid"/>
          </a:ln>
        </p:spPr>
        <p:txBody>
          <a:bodyPr/>
          <a:lstStyle/>
          <a:p>
            <a:endParaRPr lang="en-US"/>
          </a:p>
        </p:txBody>
      </p:sp>
      <p:sp>
        <p:nvSpPr>
          <p:cNvPr id="30" name="Shape 28"/>
          <p:cNvSpPr/>
          <p:nvPr/>
        </p:nvSpPr>
        <p:spPr>
          <a:xfrm>
            <a:off x="9167403" y="7240459"/>
            <a:ext cx="91340" cy="7487"/>
          </a:xfrm>
          <a:prstGeom prst="line">
            <a:avLst/>
          </a:prstGeom>
          <a:noFill/>
          <a:ln w="12700">
            <a:solidFill>
              <a:srgbClr val="7A8288">
                <a:alpha val="30000"/>
                <a:alpha val="20000"/>
                <a:alpha val="20000"/>
              </a:srgbClr>
            </a:solidFill>
            <a:prstDash val="solid"/>
          </a:ln>
        </p:spPr>
        <p:txBody>
          <a:bodyPr/>
          <a:lstStyle/>
          <a:p>
            <a:endParaRPr lang="en-US"/>
          </a:p>
        </p:txBody>
      </p:sp>
      <p:sp>
        <p:nvSpPr>
          <p:cNvPr id="31" name="Shape 29"/>
          <p:cNvSpPr/>
          <p:nvPr/>
        </p:nvSpPr>
        <p:spPr>
          <a:xfrm>
            <a:off x="9258743" y="7247946"/>
            <a:ext cx="105003" cy="19279"/>
          </a:xfrm>
          <a:prstGeom prst="line">
            <a:avLst/>
          </a:prstGeom>
          <a:noFill/>
          <a:ln w="12700">
            <a:solidFill>
              <a:srgbClr val="7A8288">
                <a:alpha val="30000"/>
                <a:alpha val="20000"/>
                <a:alpha val="20000"/>
              </a:srgbClr>
            </a:solidFill>
            <a:prstDash val="solid"/>
          </a:ln>
        </p:spPr>
        <p:txBody>
          <a:bodyPr/>
          <a:lstStyle/>
          <a:p>
            <a:endParaRPr lang="en-US"/>
          </a:p>
        </p:txBody>
      </p:sp>
      <p:sp>
        <p:nvSpPr>
          <p:cNvPr id="32" name="Shape 30"/>
          <p:cNvSpPr/>
          <p:nvPr/>
        </p:nvSpPr>
        <p:spPr>
          <a:xfrm>
            <a:off x="9363746" y="7267225"/>
            <a:ext cx="338968" cy="79596"/>
          </a:xfrm>
          <a:prstGeom prst="line">
            <a:avLst/>
          </a:prstGeom>
          <a:noFill/>
          <a:ln w="12700">
            <a:solidFill>
              <a:srgbClr val="7A8288">
                <a:alpha val="30000"/>
                <a:alpha val="20000"/>
                <a:alpha val="20000"/>
              </a:srgbClr>
            </a:solidFill>
            <a:prstDash val="solid"/>
          </a:ln>
        </p:spPr>
        <p:txBody>
          <a:bodyPr/>
          <a:lstStyle/>
          <a:p>
            <a:endParaRPr lang="en-US"/>
          </a:p>
        </p:txBody>
      </p:sp>
      <p:sp>
        <p:nvSpPr>
          <p:cNvPr id="33" name="Shape 31"/>
          <p:cNvSpPr/>
          <p:nvPr/>
        </p:nvSpPr>
        <p:spPr>
          <a:xfrm>
            <a:off x="9206522" y="10155469"/>
            <a:ext cx="199079" cy="177251"/>
          </a:xfrm>
          <a:prstGeom prst="line">
            <a:avLst/>
          </a:prstGeom>
          <a:noFill/>
          <a:ln w="12700">
            <a:solidFill>
              <a:srgbClr val="7A8288">
                <a:alpha val="20000"/>
              </a:srgbClr>
            </a:solidFill>
            <a:prstDash val="solid"/>
          </a:ln>
        </p:spPr>
        <p:txBody>
          <a:bodyPr/>
          <a:lstStyle/>
          <a:p>
            <a:endParaRPr lang="en-US"/>
          </a:p>
        </p:txBody>
      </p:sp>
      <p:sp>
        <p:nvSpPr>
          <p:cNvPr id="34" name="Shape 32"/>
          <p:cNvSpPr/>
          <p:nvPr/>
        </p:nvSpPr>
        <p:spPr>
          <a:xfrm>
            <a:off x="492846" y="3168387"/>
            <a:ext cx="322871" cy="259295"/>
          </a:xfrm>
          <a:prstGeom prst="line">
            <a:avLst/>
          </a:prstGeom>
          <a:noFill/>
          <a:ln w="12700">
            <a:solidFill>
              <a:srgbClr val="7A8288">
                <a:alpha val="30000"/>
                <a:alpha val="20000"/>
                <a:alpha val="20000"/>
              </a:srgbClr>
            </a:solidFill>
            <a:prstDash val="solid"/>
          </a:ln>
        </p:spPr>
        <p:txBody>
          <a:bodyPr/>
          <a:lstStyle/>
          <a:p>
            <a:endParaRPr lang="en-US"/>
          </a:p>
        </p:txBody>
      </p:sp>
      <p:sp>
        <p:nvSpPr>
          <p:cNvPr id="35" name="Shape 33"/>
          <p:cNvSpPr/>
          <p:nvPr/>
        </p:nvSpPr>
        <p:spPr>
          <a:xfrm>
            <a:off x="815717" y="3427682"/>
            <a:ext cx="523706" cy="420762"/>
          </a:xfrm>
          <a:prstGeom prst="line">
            <a:avLst/>
          </a:prstGeom>
          <a:noFill/>
          <a:ln w="12700">
            <a:solidFill>
              <a:srgbClr val="7A8288">
                <a:alpha val="30000"/>
                <a:alpha val="20000"/>
                <a:alpha val="20000"/>
              </a:srgbClr>
            </a:solidFill>
            <a:prstDash val="solid"/>
          </a:ln>
        </p:spPr>
        <p:txBody>
          <a:bodyPr/>
          <a:lstStyle/>
          <a:p>
            <a:endParaRPr lang="en-US"/>
          </a:p>
        </p:txBody>
      </p:sp>
      <p:sp>
        <p:nvSpPr>
          <p:cNvPr id="36" name="Shape 34"/>
          <p:cNvSpPr/>
          <p:nvPr/>
        </p:nvSpPr>
        <p:spPr>
          <a:xfrm>
            <a:off x="1339423" y="3848444"/>
            <a:ext cx="522302" cy="419358"/>
          </a:xfrm>
          <a:prstGeom prst="line">
            <a:avLst/>
          </a:prstGeom>
          <a:noFill/>
          <a:ln w="12700">
            <a:solidFill>
              <a:srgbClr val="7A8288">
                <a:alpha val="30000"/>
                <a:alpha val="20000"/>
                <a:alpha val="20000"/>
              </a:srgbClr>
            </a:solidFill>
            <a:prstDash val="solid"/>
          </a:ln>
        </p:spPr>
        <p:txBody>
          <a:bodyPr/>
          <a:lstStyle/>
          <a:p>
            <a:endParaRPr lang="en-US"/>
          </a:p>
        </p:txBody>
      </p:sp>
      <p:sp>
        <p:nvSpPr>
          <p:cNvPr id="37" name="Shape 35"/>
          <p:cNvSpPr/>
          <p:nvPr/>
        </p:nvSpPr>
        <p:spPr>
          <a:xfrm>
            <a:off x="1861725" y="4267802"/>
            <a:ext cx="524174" cy="420762"/>
          </a:xfrm>
          <a:prstGeom prst="line">
            <a:avLst/>
          </a:prstGeom>
          <a:noFill/>
          <a:ln w="12700">
            <a:solidFill>
              <a:srgbClr val="7A8288">
                <a:alpha val="30000"/>
                <a:alpha val="20000"/>
                <a:alpha val="20000"/>
              </a:srgbClr>
            </a:solidFill>
            <a:prstDash val="solid"/>
          </a:ln>
        </p:spPr>
        <p:txBody>
          <a:bodyPr/>
          <a:lstStyle/>
          <a:p>
            <a:endParaRPr lang="en-US"/>
          </a:p>
        </p:txBody>
      </p:sp>
      <p:sp>
        <p:nvSpPr>
          <p:cNvPr id="38" name="Shape 36"/>
          <p:cNvSpPr/>
          <p:nvPr/>
        </p:nvSpPr>
        <p:spPr>
          <a:xfrm>
            <a:off x="2385899" y="4688563"/>
            <a:ext cx="522676" cy="419545"/>
          </a:xfrm>
          <a:prstGeom prst="line">
            <a:avLst/>
          </a:prstGeom>
          <a:noFill/>
          <a:ln w="12700">
            <a:solidFill>
              <a:srgbClr val="7A8288">
                <a:alpha val="30000"/>
                <a:alpha val="20000"/>
                <a:alpha val="20000"/>
              </a:srgbClr>
            </a:solidFill>
            <a:prstDash val="solid"/>
          </a:ln>
        </p:spPr>
        <p:txBody>
          <a:bodyPr/>
          <a:lstStyle/>
          <a:p>
            <a:endParaRPr lang="en-US"/>
          </a:p>
        </p:txBody>
      </p:sp>
      <p:sp>
        <p:nvSpPr>
          <p:cNvPr id="39" name="Shape 37"/>
          <p:cNvSpPr/>
          <p:nvPr/>
        </p:nvSpPr>
        <p:spPr>
          <a:xfrm>
            <a:off x="2908575" y="5108108"/>
            <a:ext cx="569001" cy="457166"/>
          </a:xfrm>
          <a:prstGeom prst="line">
            <a:avLst/>
          </a:prstGeom>
          <a:noFill/>
          <a:ln w="12700">
            <a:solidFill>
              <a:srgbClr val="7A8288">
                <a:alpha val="30000"/>
                <a:alpha val="20000"/>
                <a:alpha val="20000"/>
              </a:srgbClr>
            </a:solidFill>
            <a:prstDash val="solid"/>
          </a:ln>
        </p:spPr>
        <p:txBody>
          <a:bodyPr/>
          <a:lstStyle/>
          <a:p>
            <a:endParaRPr lang="en-US"/>
          </a:p>
        </p:txBody>
      </p:sp>
      <p:sp>
        <p:nvSpPr>
          <p:cNvPr id="40" name="Shape 38"/>
          <p:cNvSpPr/>
          <p:nvPr/>
        </p:nvSpPr>
        <p:spPr>
          <a:xfrm>
            <a:off x="3477577" y="5565274"/>
            <a:ext cx="6551" cy="5241"/>
          </a:xfrm>
          <a:prstGeom prst="line">
            <a:avLst/>
          </a:prstGeom>
          <a:noFill/>
          <a:ln w="12700">
            <a:solidFill>
              <a:srgbClr val="7A8288">
                <a:alpha val="30000"/>
                <a:alpha val="20000"/>
                <a:alpha val="20000"/>
              </a:srgbClr>
            </a:solidFill>
            <a:prstDash val="solid"/>
          </a:ln>
        </p:spPr>
        <p:txBody>
          <a:bodyPr/>
          <a:lstStyle/>
          <a:p>
            <a:endParaRPr lang="en-US"/>
          </a:p>
        </p:txBody>
      </p:sp>
      <p:sp>
        <p:nvSpPr>
          <p:cNvPr id="41" name="Shape 39"/>
          <p:cNvSpPr/>
          <p:nvPr/>
        </p:nvSpPr>
        <p:spPr>
          <a:xfrm>
            <a:off x="3484128" y="5570515"/>
            <a:ext cx="520243" cy="411309"/>
          </a:xfrm>
          <a:prstGeom prst="line">
            <a:avLst/>
          </a:prstGeom>
          <a:noFill/>
          <a:ln w="12700">
            <a:solidFill>
              <a:srgbClr val="7A8288">
                <a:alpha val="30000"/>
                <a:alpha val="20000"/>
                <a:alpha val="20000"/>
              </a:srgbClr>
            </a:solidFill>
            <a:prstDash val="solid"/>
          </a:ln>
        </p:spPr>
        <p:txBody>
          <a:bodyPr/>
          <a:lstStyle/>
          <a:p>
            <a:endParaRPr lang="en-US"/>
          </a:p>
        </p:txBody>
      </p:sp>
      <p:sp>
        <p:nvSpPr>
          <p:cNvPr id="42" name="Shape 40"/>
          <p:cNvSpPr/>
          <p:nvPr/>
        </p:nvSpPr>
        <p:spPr>
          <a:xfrm>
            <a:off x="4004371" y="5981825"/>
            <a:ext cx="8891" cy="7206"/>
          </a:xfrm>
          <a:prstGeom prst="line">
            <a:avLst/>
          </a:prstGeom>
          <a:noFill/>
          <a:ln w="12700">
            <a:solidFill>
              <a:srgbClr val="7A8288">
                <a:alpha val="30000"/>
                <a:alpha val="20000"/>
                <a:alpha val="20000"/>
              </a:srgbClr>
            </a:solidFill>
            <a:prstDash val="solid"/>
          </a:ln>
        </p:spPr>
        <p:txBody>
          <a:bodyPr/>
          <a:lstStyle/>
          <a:p>
            <a:endParaRPr lang="en-US"/>
          </a:p>
        </p:txBody>
      </p:sp>
      <p:sp>
        <p:nvSpPr>
          <p:cNvPr id="43" name="Shape 41"/>
          <p:cNvSpPr/>
          <p:nvPr/>
        </p:nvSpPr>
        <p:spPr>
          <a:xfrm>
            <a:off x="4013261" y="5989031"/>
            <a:ext cx="6457" cy="32287"/>
          </a:xfrm>
          <a:prstGeom prst="line">
            <a:avLst/>
          </a:prstGeom>
          <a:noFill/>
          <a:ln w="12700">
            <a:solidFill>
              <a:srgbClr val="7A8288">
                <a:alpha val="30000"/>
                <a:alpha val="20000"/>
                <a:alpha val="20000"/>
              </a:srgbClr>
            </a:solidFill>
            <a:prstDash val="solid"/>
          </a:ln>
        </p:spPr>
        <p:txBody>
          <a:bodyPr/>
          <a:lstStyle/>
          <a:p>
            <a:endParaRPr lang="en-US"/>
          </a:p>
        </p:txBody>
      </p:sp>
      <p:sp>
        <p:nvSpPr>
          <p:cNvPr id="44" name="Shape 42"/>
          <p:cNvSpPr/>
          <p:nvPr/>
        </p:nvSpPr>
        <p:spPr>
          <a:xfrm>
            <a:off x="4019719" y="6021318"/>
            <a:ext cx="31070" cy="102102"/>
          </a:xfrm>
          <a:prstGeom prst="line">
            <a:avLst/>
          </a:prstGeom>
          <a:noFill/>
          <a:ln w="12700">
            <a:solidFill>
              <a:srgbClr val="7A8288">
                <a:alpha val="30000"/>
                <a:alpha val="20000"/>
                <a:alpha val="20000"/>
              </a:srgbClr>
            </a:solidFill>
            <a:prstDash val="solid"/>
          </a:ln>
        </p:spPr>
        <p:txBody>
          <a:bodyPr/>
          <a:lstStyle/>
          <a:p>
            <a:endParaRPr lang="en-US"/>
          </a:p>
        </p:txBody>
      </p:sp>
      <p:sp>
        <p:nvSpPr>
          <p:cNvPr id="45" name="Shape 43"/>
          <p:cNvSpPr/>
          <p:nvPr/>
        </p:nvSpPr>
        <p:spPr>
          <a:xfrm>
            <a:off x="4050789" y="6123420"/>
            <a:ext cx="41084" cy="98452"/>
          </a:xfrm>
          <a:prstGeom prst="line">
            <a:avLst/>
          </a:prstGeom>
          <a:noFill/>
          <a:ln w="12700">
            <a:solidFill>
              <a:srgbClr val="7A8288">
                <a:alpha val="30000"/>
                <a:alpha val="20000"/>
                <a:alpha val="20000"/>
              </a:srgbClr>
            </a:solidFill>
            <a:prstDash val="solid"/>
          </a:ln>
        </p:spPr>
        <p:txBody>
          <a:bodyPr/>
          <a:lstStyle/>
          <a:p>
            <a:endParaRPr lang="en-US"/>
          </a:p>
        </p:txBody>
      </p:sp>
      <p:sp>
        <p:nvSpPr>
          <p:cNvPr id="46" name="Shape 44"/>
          <p:cNvSpPr/>
          <p:nvPr/>
        </p:nvSpPr>
        <p:spPr>
          <a:xfrm>
            <a:off x="4091874" y="6221872"/>
            <a:ext cx="50723" cy="93960"/>
          </a:xfrm>
          <a:prstGeom prst="line">
            <a:avLst/>
          </a:prstGeom>
          <a:noFill/>
          <a:ln w="12700">
            <a:solidFill>
              <a:srgbClr val="7A8288">
                <a:alpha val="30000"/>
                <a:alpha val="20000"/>
                <a:alpha val="20000"/>
              </a:srgbClr>
            </a:solidFill>
            <a:prstDash val="solid"/>
          </a:ln>
        </p:spPr>
        <p:txBody>
          <a:bodyPr/>
          <a:lstStyle/>
          <a:p>
            <a:endParaRPr lang="en-US"/>
          </a:p>
        </p:txBody>
      </p:sp>
      <p:sp>
        <p:nvSpPr>
          <p:cNvPr id="47" name="Shape 45"/>
          <p:cNvSpPr/>
          <p:nvPr/>
        </p:nvSpPr>
        <p:spPr>
          <a:xfrm>
            <a:off x="4142597" y="6315832"/>
            <a:ext cx="59708" cy="88439"/>
          </a:xfrm>
          <a:prstGeom prst="line">
            <a:avLst/>
          </a:prstGeom>
          <a:noFill/>
          <a:ln w="12700">
            <a:solidFill>
              <a:srgbClr val="7A8288">
                <a:alpha val="30000"/>
                <a:alpha val="20000"/>
                <a:alpha val="20000"/>
              </a:srgbClr>
            </a:solidFill>
            <a:prstDash val="solid"/>
          </a:ln>
        </p:spPr>
        <p:txBody>
          <a:bodyPr/>
          <a:lstStyle/>
          <a:p>
            <a:endParaRPr lang="en-US"/>
          </a:p>
        </p:txBody>
      </p:sp>
      <p:sp>
        <p:nvSpPr>
          <p:cNvPr id="48" name="Shape 46"/>
          <p:cNvSpPr/>
          <p:nvPr/>
        </p:nvSpPr>
        <p:spPr>
          <a:xfrm>
            <a:off x="4202305" y="6404271"/>
            <a:ext cx="421229" cy="561889"/>
          </a:xfrm>
          <a:prstGeom prst="line">
            <a:avLst/>
          </a:prstGeom>
          <a:noFill/>
          <a:ln w="12700">
            <a:solidFill>
              <a:srgbClr val="7A8288">
                <a:alpha val="30000"/>
                <a:alpha val="20000"/>
                <a:alpha val="20000"/>
              </a:srgbClr>
            </a:solidFill>
            <a:prstDash val="solid"/>
          </a:ln>
        </p:spPr>
        <p:txBody>
          <a:bodyPr/>
          <a:lstStyle/>
          <a:p>
            <a:endParaRPr lang="en-US"/>
          </a:p>
        </p:txBody>
      </p:sp>
      <p:sp>
        <p:nvSpPr>
          <p:cNvPr id="49" name="Shape 47"/>
          <p:cNvSpPr/>
          <p:nvPr/>
        </p:nvSpPr>
        <p:spPr>
          <a:xfrm>
            <a:off x="4623534" y="6966160"/>
            <a:ext cx="65884" cy="79641"/>
          </a:xfrm>
          <a:prstGeom prst="line">
            <a:avLst/>
          </a:prstGeom>
          <a:noFill/>
          <a:ln w="12700">
            <a:solidFill>
              <a:srgbClr val="7A8288">
                <a:alpha val="30000"/>
                <a:alpha val="20000"/>
                <a:alpha val="20000"/>
              </a:srgbClr>
            </a:solidFill>
            <a:prstDash val="solid"/>
          </a:ln>
        </p:spPr>
        <p:txBody>
          <a:bodyPr/>
          <a:lstStyle/>
          <a:p>
            <a:endParaRPr lang="en-US"/>
          </a:p>
        </p:txBody>
      </p:sp>
      <p:sp>
        <p:nvSpPr>
          <p:cNvPr id="50" name="Shape 48"/>
          <p:cNvSpPr/>
          <p:nvPr/>
        </p:nvSpPr>
        <p:spPr>
          <a:xfrm>
            <a:off x="4689419" y="7045801"/>
            <a:ext cx="73184" cy="72903"/>
          </a:xfrm>
          <a:prstGeom prst="line">
            <a:avLst/>
          </a:prstGeom>
          <a:noFill/>
          <a:ln w="12700">
            <a:solidFill>
              <a:srgbClr val="7A8288">
                <a:alpha val="30000"/>
                <a:alpha val="20000"/>
                <a:alpha val="20000"/>
              </a:srgbClr>
            </a:solidFill>
            <a:prstDash val="solid"/>
          </a:ln>
        </p:spPr>
        <p:txBody>
          <a:bodyPr/>
          <a:lstStyle/>
          <a:p>
            <a:endParaRPr lang="en-US"/>
          </a:p>
        </p:txBody>
      </p:sp>
      <p:sp>
        <p:nvSpPr>
          <p:cNvPr id="51" name="Shape 49"/>
          <p:cNvSpPr/>
          <p:nvPr/>
        </p:nvSpPr>
        <p:spPr>
          <a:xfrm>
            <a:off x="4762603" y="7118704"/>
            <a:ext cx="58398" cy="47916"/>
          </a:xfrm>
          <a:prstGeom prst="line">
            <a:avLst/>
          </a:prstGeom>
          <a:noFill/>
          <a:ln w="12700">
            <a:solidFill>
              <a:srgbClr val="7A8288">
                <a:alpha val="30000"/>
                <a:alpha val="20000"/>
                <a:alpha val="20000"/>
              </a:srgbClr>
            </a:solidFill>
            <a:prstDash val="solid"/>
          </a:ln>
        </p:spPr>
        <p:txBody>
          <a:bodyPr/>
          <a:lstStyle/>
          <a:p>
            <a:endParaRPr lang="en-US"/>
          </a:p>
        </p:txBody>
      </p:sp>
      <p:sp>
        <p:nvSpPr>
          <p:cNvPr id="52" name="Shape 50"/>
          <p:cNvSpPr/>
          <p:nvPr/>
        </p:nvSpPr>
        <p:spPr>
          <a:xfrm>
            <a:off x="4821000" y="7166620"/>
            <a:ext cx="16845" cy="64949"/>
          </a:xfrm>
          <a:prstGeom prst="line">
            <a:avLst/>
          </a:prstGeom>
          <a:noFill/>
          <a:ln w="12700">
            <a:solidFill>
              <a:srgbClr val="7A8288">
                <a:alpha val="30000"/>
                <a:alpha val="20000"/>
                <a:alpha val="20000"/>
              </a:srgbClr>
            </a:solidFill>
            <a:prstDash val="solid"/>
          </a:ln>
        </p:spPr>
        <p:txBody>
          <a:bodyPr/>
          <a:lstStyle/>
          <a:p>
            <a:endParaRPr lang="en-US"/>
          </a:p>
        </p:txBody>
      </p:sp>
      <p:sp>
        <p:nvSpPr>
          <p:cNvPr id="53" name="Shape 51"/>
          <p:cNvSpPr/>
          <p:nvPr/>
        </p:nvSpPr>
        <p:spPr>
          <a:xfrm>
            <a:off x="4837846" y="7231569"/>
            <a:ext cx="37247" cy="100885"/>
          </a:xfrm>
          <a:prstGeom prst="line">
            <a:avLst/>
          </a:prstGeom>
          <a:noFill/>
          <a:ln w="12700">
            <a:solidFill>
              <a:srgbClr val="7A8288">
                <a:alpha val="30000"/>
                <a:alpha val="20000"/>
                <a:alpha val="20000"/>
              </a:srgbClr>
            </a:solidFill>
            <a:prstDash val="solid"/>
          </a:ln>
        </p:spPr>
        <p:txBody>
          <a:bodyPr/>
          <a:lstStyle/>
          <a:p>
            <a:endParaRPr lang="en-US"/>
          </a:p>
        </p:txBody>
      </p:sp>
      <p:sp>
        <p:nvSpPr>
          <p:cNvPr id="54" name="Shape 52"/>
          <p:cNvSpPr/>
          <p:nvPr/>
        </p:nvSpPr>
        <p:spPr>
          <a:xfrm>
            <a:off x="4875093" y="7332454"/>
            <a:ext cx="47074" cy="96674"/>
          </a:xfrm>
          <a:prstGeom prst="line">
            <a:avLst/>
          </a:prstGeom>
          <a:noFill/>
          <a:ln w="12700">
            <a:solidFill>
              <a:srgbClr val="7A8288">
                <a:alpha val="30000"/>
                <a:alpha val="20000"/>
                <a:alpha val="20000"/>
              </a:srgbClr>
            </a:solidFill>
            <a:prstDash val="solid"/>
          </a:ln>
        </p:spPr>
        <p:txBody>
          <a:bodyPr/>
          <a:lstStyle/>
          <a:p>
            <a:endParaRPr lang="en-US"/>
          </a:p>
        </p:txBody>
      </p:sp>
      <p:sp>
        <p:nvSpPr>
          <p:cNvPr id="55" name="Shape 53"/>
          <p:cNvSpPr/>
          <p:nvPr/>
        </p:nvSpPr>
        <p:spPr>
          <a:xfrm>
            <a:off x="4922166" y="7429128"/>
            <a:ext cx="318940" cy="579109"/>
          </a:xfrm>
          <a:prstGeom prst="line">
            <a:avLst/>
          </a:prstGeom>
          <a:noFill/>
          <a:ln w="12700">
            <a:solidFill>
              <a:srgbClr val="7A8288">
                <a:alpha val="30000"/>
                <a:alpha val="20000"/>
                <a:alpha val="20000"/>
              </a:srgbClr>
            </a:solidFill>
            <a:prstDash val="solid"/>
          </a:ln>
        </p:spPr>
        <p:txBody>
          <a:bodyPr/>
          <a:lstStyle/>
          <a:p>
            <a:endParaRPr lang="en-US"/>
          </a:p>
        </p:txBody>
      </p:sp>
      <p:sp>
        <p:nvSpPr>
          <p:cNvPr id="56" name="Shape 54"/>
          <p:cNvSpPr/>
          <p:nvPr/>
        </p:nvSpPr>
        <p:spPr>
          <a:xfrm>
            <a:off x="5241107" y="8008237"/>
            <a:ext cx="253711" cy="557865"/>
          </a:xfrm>
          <a:prstGeom prst="line">
            <a:avLst/>
          </a:prstGeom>
          <a:noFill/>
          <a:ln w="12700">
            <a:solidFill>
              <a:srgbClr val="7A8288">
                <a:alpha val="30000"/>
                <a:alpha val="20000"/>
                <a:alpha val="20000"/>
              </a:srgbClr>
            </a:solidFill>
            <a:prstDash val="solid"/>
          </a:ln>
        </p:spPr>
        <p:txBody>
          <a:bodyPr/>
          <a:lstStyle/>
          <a:p>
            <a:endParaRPr lang="en-US"/>
          </a:p>
        </p:txBody>
      </p:sp>
      <p:sp>
        <p:nvSpPr>
          <p:cNvPr id="57" name="Shape 55"/>
          <p:cNvSpPr/>
          <p:nvPr/>
        </p:nvSpPr>
        <p:spPr>
          <a:xfrm>
            <a:off x="5494818" y="8566102"/>
            <a:ext cx="200929" cy="565164"/>
          </a:xfrm>
          <a:prstGeom prst="line">
            <a:avLst/>
          </a:prstGeom>
          <a:noFill/>
          <a:ln w="12700">
            <a:solidFill>
              <a:srgbClr val="7A8288">
                <a:alpha val="30000"/>
                <a:alpha val="20000"/>
                <a:alpha val="20000"/>
              </a:srgbClr>
            </a:solidFill>
            <a:prstDash val="solid"/>
          </a:ln>
        </p:spPr>
        <p:txBody>
          <a:bodyPr/>
          <a:lstStyle/>
          <a:p>
            <a:endParaRPr lang="en-US"/>
          </a:p>
        </p:txBody>
      </p:sp>
      <p:sp>
        <p:nvSpPr>
          <p:cNvPr id="58" name="Shape 56"/>
          <p:cNvSpPr/>
          <p:nvPr/>
        </p:nvSpPr>
        <p:spPr>
          <a:xfrm>
            <a:off x="5695746" y="9131266"/>
            <a:ext cx="186423" cy="609992"/>
          </a:xfrm>
          <a:prstGeom prst="line">
            <a:avLst/>
          </a:prstGeom>
          <a:noFill/>
          <a:ln w="12700">
            <a:solidFill>
              <a:srgbClr val="7A8288">
                <a:alpha val="30000"/>
                <a:alpha val="20000"/>
                <a:alpha val="20000"/>
              </a:srgbClr>
            </a:solidFill>
            <a:prstDash val="solid"/>
          </a:ln>
        </p:spPr>
        <p:txBody>
          <a:bodyPr/>
          <a:lstStyle/>
          <a:p>
            <a:endParaRPr lang="en-US"/>
          </a:p>
        </p:txBody>
      </p:sp>
      <p:sp>
        <p:nvSpPr>
          <p:cNvPr id="59" name="Shape 57"/>
          <p:cNvSpPr/>
          <p:nvPr/>
        </p:nvSpPr>
        <p:spPr>
          <a:xfrm>
            <a:off x="5882169" y="9741258"/>
            <a:ext cx="122674" cy="591462"/>
          </a:xfrm>
          <a:prstGeom prst="line">
            <a:avLst/>
          </a:prstGeom>
          <a:noFill/>
          <a:ln w="12700">
            <a:solidFill>
              <a:srgbClr val="7A8288">
                <a:alpha val="30000"/>
                <a:alpha val="20000"/>
                <a:alpha val="20000"/>
              </a:srgbClr>
            </a:solidFill>
            <a:prstDash val="solid"/>
          </a:ln>
        </p:spPr>
        <p:txBody>
          <a:bodyPr/>
          <a:lstStyle/>
          <a:p>
            <a:endParaRPr lang="en-US"/>
          </a:p>
        </p:txBody>
      </p:sp>
      <p:sp>
        <p:nvSpPr>
          <p:cNvPr id="60" name="Shape 58"/>
          <p:cNvSpPr/>
          <p:nvPr/>
        </p:nvSpPr>
        <p:spPr>
          <a:xfrm flipV="1">
            <a:off x="9050973" y="10155469"/>
            <a:ext cx="155549" cy="177251"/>
          </a:xfrm>
          <a:prstGeom prst="line">
            <a:avLst/>
          </a:prstGeom>
          <a:noFill/>
          <a:ln w="12700">
            <a:solidFill>
              <a:srgbClr val="7A8288">
                <a:alpha val="20000"/>
              </a:srgbClr>
            </a:solidFill>
            <a:prstDash val="solid"/>
          </a:ln>
        </p:spPr>
        <p:txBody>
          <a:bodyPr/>
          <a:lstStyle/>
          <a:p>
            <a:endParaRPr lang="en-US"/>
          </a:p>
        </p:txBody>
      </p:sp>
      <p:sp>
        <p:nvSpPr>
          <p:cNvPr id="61" name="Shape 59"/>
          <p:cNvSpPr/>
          <p:nvPr/>
        </p:nvSpPr>
        <p:spPr>
          <a:xfrm>
            <a:off x="9080275" y="7171861"/>
            <a:ext cx="87128" cy="68598"/>
          </a:xfrm>
          <a:prstGeom prst="line">
            <a:avLst/>
          </a:prstGeom>
          <a:noFill/>
          <a:ln w="12700">
            <a:solidFill>
              <a:srgbClr val="7A8288">
                <a:alpha val="30000"/>
                <a:alpha val="20000"/>
                <a:alpha val="20000"/>
              </a:srgbClr>
            </a:solidFill>
            <a:prstDash val="solid"/>
          </a:ln>
        </p:spPr>
        <p:txBody>
          <a:bodyPr/>
          <a:lstStyle/>
          <a:p>
            <a:endParaRPr lang="en-US"/>
          </a:p>
        </p:txBody>
      </p:sp>
      <p:sp>
        <p:nvSpPr>
          <p:cNvPr id="62" name="Shape 60"/>
          <p:cNvSpPr/>
          <p:nvPr/>
        </p:nvSpPr>
        <p:spPr>
          <a:xfrm>
            <a:off x="8969095" y="7104386"/>
            <a:ext cx="111180" cy="67475"/>
          </a:xfrm>
          <a:prstGeom prst="line">
            <a:avLst/>
          </a:prstGeom>
          <a:noFill/>
          <a:ln w="12700">
            <a:solidFill>
              <a:srgbClr val="7A8288">
                <a:alpha val="30000"/>
                <a:alpha val="20000"/>
                <a:alpha val="20000"/>
              </a:srgbClr>
            </a:solidFill>
            <a:prstDash val="solid"/>
          </a:ln>
        </p:spPr>
        <p:txBody>
          <a:bodyPr/>
          <a:lstStyle/>
          <a:p>
            <a:endParaRPr lang="en-US"/>
          </a:p>
        </p:txBody>
      </p:sp>
      <p:sp>
        <p:nvSpPr>
          <p:cNvPr id="63" name="Shape 61"/>
          <p:cNvSpPr/>
          <p:nvPr/>
        </p:nvSpPr>
        <p:spPr>
          <a:xfrm>
            <a:off x="8584177" y="6901305"/>
            <a:ext cx="384918" cy="203081"/>
          </a:xfrm>
          <a:prstGeom prst="line">
            <a:avLst/>
          </a:prstGeom>
          <a:noFill/>
          <a:ln w="12700">
            <a:solidFill>
              <a:srgbClr val="7A8288">
                <a:alpha val="30000"/>
                <a:alpha val="20000"/>
                <a:alpha val="20000"/>
              </a:srgbClr>
            </a:solidFill>
            <a:prstDash val="solid"/>
          </a:ln>
        </p:spPr>
        <p:txBody>
          <a:bodyPr/>
          <a:lstStyle/>
          <a:p>
            <a:endParaRPr lang="en-US"/>
          </a:p>
        </p:txBody>
      </p:sp>
      <p:sp>
        <p:nvSpPr>
          <p:cNvPr id="64" name="Shape 62"/>
          <p:cNvSpPr/>
          <p:nvPr/>
        </p:nvSpPr>
        <p:spPr>
          <a:xfrm>
            <a:off x="8081341" y="6499167"/>
            <a:ext cx="502836" cy="402138"/>
          </a:xfrm>
          <a:prstGeom prst="line">
            <a:avLst/>
          </a:prstGeom>
          <a:noFill/>
          <a:ln w="12700">
            <a:solidFill>
              <a:srgbClr val="7A8288">
                <a:alpha val="30000"/>
                <a:alpha val="20000"/>
                <a:alpha val="20000"/>
              </a:srgbClr>
            </a:solidFill>
            <a:prstDash val="solid"/>
          </a:ln>
        </p:spPr>
        <p:txBody>
          <a:bodyPr/>
          <a:lstStyle/>
          <a:p>
            <a:endParaRPr lang="en-US"/>
          </a:p>
        </p:txBody>
      </p:sp>
      <p:sp>
        <p:nvSpPr>
          <p:cNvPr id="65" name="Shape 63"/>
          <p:cNvSpPr/>
          <p:nvPr/>
        </p:nvSpPr>
        <p:spPr>
          <a:xfrm>
            <a:off x="8075913" y="6494862"/>
            <a:ext cx="5428" cy="4305"/>
          </a:xfrm>
          <a:prstGeom prst="line">
            <a:avLst/>
          </a:prstGeom>
          <a:noFill/>
          <a:ln w="12700">
            <a:solidFill>
              <a:srgbClr val="7A8288">
                <a:alpha val="30000"/>
                <a:alpha val="20000"/>
                <a:alpha val="20000"/>
              </a:srgbClr>
            </a:solidFill>
            <a:prstDash val="solid"/>
          </a:ln>
        </p:spPr>
        <p:txBody>
          <a:bodyPr/>
          <a:lstStyle/>
          <a:p>
            <a:endParaRPr lang="en-US"/>
          </a:p>
        </p:txBody>
      </p:sp>
      <p:sp>
        <p:nvSpPr>
          <p:cNvPr id="66" name="Shape 64"/>
          <p:cNvSpPr/>
          <p:nvPr/>
        </p:nvSpPr>
        <p:spPr>
          <a:xfrm>
            <a:off x="7524318" y="6059594"/>
            <a:ext cx="551594" cy="435267"/>
          </a:xfrm>
          <a:prstGeom prst="line">
            <a:avLst/>
          </a:prstGeom>
          <a:noFill/>
          <a:ln w="12700">
            <a:solidFill>
              <a:srgbClr val="7A8288">
                <a:alpha val="30000"/>
                <a:alpha val="20000"/>
                <a:alpha val="20000"/>
              </a:srgbClr>
            </a:solidFill>
            <a:prstDash val="solid"/>
          </a:ln>
        </p:spPr>
        <p:txBody>
          <a:bodyPr/>
          <a:lstStyle/>
          <a:p>
            <a:endParaRPr lang="en-US"/>
          </a:p>
        </p:txBody>
      </p:sp>
      <p:sp>
        <p:nvSpPr>
          <p:cNvPr id="67" name="Shape 65"/>
          <p:cNvSpPr/>
          <p:nvPr/>
        </p:nvSpPr>
        <p:spPr>
          <a:xfrm>
            <a:off x="492846" y="1790079"/>
            <a:ext cx="475228" cy="379623"/>
          </a:xfrm>
          <a:prstGeom prst="line">
            <a:avLst/>
          </a:prstGeom>
          <a:noFill/>
          <a:ln w="19050">
            <a:solidFill>
              <a:srgbClr val="C7A400">
                <a:alpha val="30000"/>
                <a:alpha val="20000"/>
                <a:alpha val="20000"/>
              </a:srgbClr>
            </a:solidFill>
            <a:prstDash val="dashDot"/>
          </a:ln>
        </p:spPr>
        <p:txBody>
          <a:bodyPr/>
          <a:lstStyle/>
          <a:p>
            <a:endParaRPr lang="en-US"/>
          </a:p>
        </p:txBody>
      </p:sp>
      <p:sp>
        <p:nvSpPr>
          <p:cNvPr id="68" name="Shape 66"/>
          <p:cNvSpPr/>
          <p:nvPr/>
        </p:nvSpPr>
        <p:spPr>
          <a:xfrm>
            <a:off x="968075" y="2169702"/>
            <a:ext cx="521647" cy="418890"/>
          </a:xfrm>
          <a:prstGeom prst="line">
            <a:avLst/>
          </a:prstGeom>
          <a:noFill/>
          <a:ln w="19050">
            <a:solidFill>
              <a:srgbClr val="C7A400">
                <a:alpha val="30000"/>
                <a:alpha val="20000"/>
                <a:alpha val="20000"/>
              </a:srgbClr>
            </a:solidFill>
            <a:prstDash val="dashDot"/>
          </a:ln>
        </p:spPr>
        <p:txBody>
          <a:bodyPr/>
          <a:lstStyle/>
          <a:p>
            <a:endParaRPr lang="en-US"/>
          </a:p>
        </p:txBody>
      </p:sp>
      <p:sp>
        <p:nvSpPr>
          <p:cNvPr id="69" name="Shape 67"/>
          <p:cNvSpPr/>
          <p:nvPr/>
        </p:nvSpPr>
        <p:spPr>
          <a:xfrm>
            <a:off x="1489722" y="2588592"/>
            <a:ext cx="523519" cy="420668"/>
          </a:xfrm>
          <a:prstGeom prst="line">
            <a:avLst/>
          </a:prstGeom>
          <a:noFill/>
          <a:ln w="19050">
            <a:solidFill>
              <a:srgbClr val="C7A400">
                <a:alpha val="30000"/>
                <a:alpha val="20000"/>
                <a:alpha val="20000"/>
              </a:srgbClr>
            </a:solidFill>
            <a:prstDash val="dashDot"/>
          </a:ln>
        </p:spPr>
        <p:txBody>
          <a:bodyPr/>
          <a:lstStyle/>
          <a:p>
            <a:endParaRPr lang="en-US"/>
          </a:p>
        </p:txBody>
      </p:sp>
      <p:sp>
        <p:nvSpPr>
          <p:cNvPr id="70" name="Shape 68"/>
          <p:cNvSpPr/>
          <p:nvPr/>
        </p:nvSpPr>
        <p:spPr>
          <a:xfrm>
            <a:off x="2013240" y="3009260"/>
            <a:ext cx="522209" cy="419264"/>
          </a:xfrm>
          <a:prstGeom prst="line">
            <a:avLst/>
          </a:prstGeom>
          <a:noFill/>
          <a:ln w="19050">
            <a:solidFill>
              <a:srgbClr val="C7A400">
                <a:alpha val="30000"/>
                <a:alpha val="20000"/>
                <a:alpha val="20000"/>
              </a:srgbClr>
            </a:solidFill>
            <a:prstDash val="dashDot"/>
          </a:ln>
        </p:spPr>
        <p:txBody>
          <a:bodyPr/>
          <a:lstStyle/>
          <a:p>
            <a:endParaRPr lang="en-US"/>
          </a:p>
        </p:txBody>
      </p:sp>
      <p:sp>
        <p:nvSpPr>
          <p:cNvPr id="71" name="Shape 69"/>
          <p:cNvSpPr/>
          <p:nvPr/>
        </p:nvSpPr>
        <p:spPr>
          <a:xfrm>
            <a:off x="2535449" y="3428524"/>
            <a:ext cx="524080" cy="420668"/>
          </a:xfrm>
          <a:prstGeom prst="line">
            <a:avLst/>
          </a:prstGeom>
          <a:noFill/>
          <a:ln w="19050">
            <a:solidFill>
              <a:srgbClr val="C7A400">
                <a:alpha val="30000"/>
                <a:alpha val="20000"/>
                <a:alpha val="20000"/>
              </a:srgbClr>
            </a:solidFill>
            <a:prstDash val="dashDot"/>
          </a:ln>
        </p:spPr>
        <p:txBody>
          <a:bodyPr/>
          <a:lstStyle/>
          <a:p>
            <a:endParaRPr lang="en-US"/>
          </a:p>
        </p:txBody>
      </p:sp>
      <p:sp>
        <p:nvSpPr>
          <p:cNvPr id="72" name="Shape 70"/>
          <p:cNvSpPr/>
          <p:nvPr/>
        </p:nvSpPr>
        <p:spPr>
          <a:xfrm>
            <a:off x="3059529" y="3849192"/>
            <a:ext cx="522957" cy="419732"/>
          </a:xfrm>
          <a:prstGeom prst="line">
            <a:avLst/>
          </a:prstGeom>
          <a:noFill/>
          <a:ln w="19050">
            <a:solidFill>
              <a:srgbClr val="C7A400">
                <a:alpha val="30000"/>
                <a:alpha val="20000"/>
                <a:alpha val="20000"/>
              </a:srgbClr>
            </a:solidFill>
            <a:prstDash val="dashDot"/>
          </a:ln>
        </p:spPr>
        <p:txBody>
          <a:bodyPr/>
          <a:lstStyle/>
          <a:p>
            <a:endParaRPr lang="en-US"/>
          </a:p>
        </p:txBody>
      </p:sp>
      <p:sp>
        <p:nvSpPr>
          <p:cNvPr id="73" name="Shape 71"/>
          <p:cNvSpPr/>
          <p:nvPr/>
        </p:nvSpPr>
        <p:spPr>
          <a:xfrm>
            <a:off x="3582486" y="4268925"/>
            <a:ext cx="569189" cy="457354"/>
          </a:xfrm>
          <a:prstGeom prst="line">
            <a:avLst/>
          </a:prstGeom>
          <a:noFill/>
          <a:ln w="19050">
            <a:solidFill>
              <a:srgbClr val="C7A400">
                <a:alpha val="30000"/>
                <a:alpha val="20000"/>
                <a:alpha val="20000"/>
              </a:srgbClr>
            </a:solidFill>
            <a:prstDash val="dashDot"/>
          </a:ln>
        </p:spPr>
        <p:txBody>
          <a:bodyPr/>
          <a:lstStyle/>
          <a:p>
            <a:endParaRPr lang="en-US"/>
          </a:p>
        </p:txBody>
      </p:sp>
      <p:sp>
        <p:nvSpPr>
          <p:cNvPr id="74" name="Shape 72"/>
          <p:cNvSpPr/>
          <p:nvPr/>
        </p:nvSpPr>
        <p:spPr>
          <a:xfrm>
            <a:off x="4151675" y="4726278"/>
            <a:ext cx="914" cy="914"/>
          </a:xfrm>
          <a:prstGeom prst="line">
            <a:avLst/>
          </a:prstGeom>
          <a:noFill/>
          <a:ln w="19050">
            <a:solidFill>
              <a:srgbClr val="C7A400">
                <a:alpha val="30000"/>
                <a:alpha val="20000"/>
                <a:alpha val="20000"/>
              </a:srgbClr>
            </a:solidFill>
            <a:prstDash val="dashDot"/>
          </a:ln>
        </p:spPr>
        <p:txBody>
          <a:bodyPr/>
          <a:lstStyle/>
          <a:p>
            <a:endParaRPr lang="en-US"/>
          </a:p>
        </p:txBody>
      </p:sp>
      <p:sp>
        <p:nvSpPr>
          <p:cNvPr id="76" name="Shape 74"/>
          <p:cNvSpPr/>
          <p:nvPr/>
        </p:nvSpPr>
        <p:spPr>
          <a:xfrm>
            <a:off x="4677908" y="5142360"/>
            <a:ext cx="914" cy="914"/>
          </a:xfrm>
          <a:prstGeom prst="line">
            <a:avLst/>
          </a:prstGeom>
          <a:noFill/>
          <a:ln w="19050">
            <a:solidFill>
              <a:srgbClr val="C7A400">
                <a:alpha val="30000"/>
                <a:alpha val="20000"/>
                <a:alpha val="20000"/>
              </a:srgbClr>
            </a:solidFill>
            <a:prstDash val="dashDot"/>
          </a:ln>
        </p:spPr>
        <p:txBody>
          <a:bodyPr/>
          <a:lstStyle/>
          <a:p>
            <a:endParaRPr lang="en-US"/>
          </a:p>
        </p:txBody>
      </p:sp>
      <p:sp>
        <p:nvSpPr>
          <p:cNvPr id="83" name="Shape 81"/>
          <p:cNvSpPr/>
          <p:nvPr/>
        </p:nvSpPr>
        <p:spPr>
          <a:xfrm>
            <a:off x="5864856" y="6909915"/>
            <a:ext cx="338874" cy="615233"/>
          </a:xfrm>
          <a:prstGeom prst="line">
            <a:avLst/>
          </a:prstGeom>
          <a:noFill/>
          <a:ln w="19050">
            <a:solidFill>
              <a:srgbClr val="C7A400">
                <a:alpha val="30000"/>
                <a:alpha val="20000"/>
                <a:alpha val="20000"/>
              </a:srgbClr>
            </a:solidFill>
            <a:prstDash val="dashDot"/>
          </a:ln>
        </p:spPr>
        <p:txBody>
          <a:bodyPr/>
          <a:lstStyle/>
          <a:p>
            <a:endParaRPr lang="en-US"/>
          </a:p>
        </p:txBody>
      </p:sp>
      <p:sp>
        <p:nvSpPr>
          <p:cNvPr id="84" name="Shape 82"/>
          <p:cNvSpPr/>
          <p:nvPr/>
        </p:nvSpPr>
        <p:spPr>
          <a:xfrm>
            <a:off x="6203730" y="7525147"/>
            <a:ext cx="289741" cy="637225"/>
          </a:xfrm>
          <a:prstGeom prst="line">
            <a:avLst/>
          </a:prstGeom>
          <a:noFill/>
          <a:ln w="19050">
            <a:solidFill>
              <a:srgbClr val="C7A400">
                <a:alpha val="30000"/>
                <a:alpha val="20000"/>
                <a:alpha val="20000"/>
              </a:srgbClr>
            </a:solidFill>
            <a:prstDash val="dashDot"/>
          </a:ln>
        </p:spPr>
        <p:txBody>
          <a:bodyPr/>
          <a:lstStyle/>
          <a:p>
            <a:endParaRPr lang="en-US"/>
          </a:p>
        </p:txBody>
      </p:sp>
      <p:sp>
        <p:nvSpPr>
          <p:cNvPr id="85" name="Shape 83"/>
          <p:cNvSpPr/>
          <p:nvPr/>
        </p:nvSpPr>
        <p:spPr>
          <a:xfrm>
            <a:off x="6493471" y="8162373"/>
            <a:ext cx="224419" cy="631142"/>
          </a:xfrm>
          <a:prstGeom prst="line">
            <a:avLst/>
          </a:prstGeom>
          <a:noFill/>
          <a:ln w="19050">
            <a:solidFill>
              <a:srgbClr val="C7A400">
                <a:alpha val="30000"/>
                <a:alpha val="20000"/>
                <a:alpha val="20000"/>
              </a:srgbClr>
            </a:solidFill>
            <a:prstDash val="dashDot"/>
          </a:ln>
        </p:spPr>
        <p:txBody>
          <a:bodyPr/>
          <a:lstStyle/>
          <a:p>
            <a:endParaRPr lang="en-US"/>
          </a:p>
        </p:txBody>
      </p:sp>
      <p:sp>
        <p:nvSpPr>
          <p:cNvPr id="86" name="Shape 84"/>
          <p:cNvSpPr/>
          <p:nvPr/>
        </p:nvSpPr>
        <p:spPr>
          <a:xfrm>
            <a:off x="6717890" y="8793515"/>
            <a:ext cx="208041" cy="680649"/>
          </a:xfrm>
          <a:prstGeom prst="line">
            <a:avLst/>
          </a:prstGeom>
          <a:noFill/>
          <a:ln w="19050">
            <a:solidFill>
              <a:srgbClr val="C7A400">
                <a:alpha val="30000"/>
                <a:alpha val="20000"/>
                <a:alpha val="20000"/>
              </a:srgbClr>
            </a:solidFill>
            <a:prstDash val="dashDot"/>
          </a:ln>
        </p:spPr>
        <p:txBody>
          <a:bodyPr/>
          <a:lstStyle/>
          <a:p>
            <a:endParaRPr lang="en-US"/>
          </a:p>
        </p:txBody>
      </p:sp>
      <p:sp>
        <p:nvSpPr>
          <p:cNvPr id="87" name="Shape 85"/>
          <p:cNvSpPr/>
          <p:nvPr/>
        </p:nvSpPr>
        <p:spPr>
          <a:xfrm>
            <a:off x="6925931" y="9474164"/>
            <a:ext cx="140847" cy="679245"/>
          </a:xfrm>
          <a:prstGeom prst="line">
            <a:avLst/>
          </a:prstGeom>
          <a:noFill/>
          <a:ln w="19050">
            <a:solidFill>
              <a:srgbClr val="C7A400">
                <a:alpha val="30000"/>
                <a:alpha val="20000"/>
                <a:alpha val="20000"/>
              </a:srgbClr>
            </a:solidFill>
            <a:prstDash val="dashDot"/>
          </a:ln>
        </p:spPr>
        <p:txBody>
          <a:bodyPr/>
          <a:lstStyle/>
          <a:p>
            <a:endParaRPr lang="en-US"/>
          </a:p>
        </p:txBody>
      </p:sp>
      <p:sp>
        <p:nvSpPr>
          <p:cNvPr id="88" name="Shape 86"/>
          <p:cNvSpPr/>
          <p:nvPr/>
        </p:nvSpPr>
        <p:spPr>
          <a:xfrm>
            <a:off x="7066778" y="10153410"/>
            <a:ext cx="25992" cy="179310"/>
          </a:xfrm>
          <a:prstGeom prst="line">
            <a:avLst/>
          </a:prstGeom>
          <a:noFill/>
          <a:ln w="19050">
            <a:solidFill>
              <a:srgbClr val="C7A400">
                <a:alpha val="20000"/>
              </a:srgbClr>
            </a:solidFill>
            <a:prstDash val="dashDot"/>
          </a:ln>
        </p:spPr>
        <p:txBody>
          <a:bodyPr/>
          <a:lstStyle/>
          <a:p>
            <a:endParaRPr lang="en-US"/>
          </a:p>
        </p:txBody>
      </p:sp>
      <p:sp>
        <p:nvSpPr>
          <p:cNvPr id="89" name="Shape 87"/>
          <p:cNvSpPr/>
          <p:nvPr/>
        </p:nvSpPr>
        <p:spPr>
          <a:xfrm flipV="1">
            <a:off x="7619078" y="8630957"/>
            <a:ext cx="1493390" cy="1701763"/>
          </a:xfrm>
          <a:prstGeom prst="line">
            <a:avLst/>
          </a:prstGeom>
          <a:noFill/>
          <a:ln w="19050">
            <a:solidFill>
              <a:srgbClr val="C7A400">
                <a:alpha val="30000"/>
                <a:alpha val="20000"/>
                <a:alpha val="20000"/>
              </a:srgbClr>
            </a:solidFill>
            <a:prstDash val="dashDot"/>
          </a:ln>
        </p:spPr>
        <p:txBody>
          <a:bodyPr/>
          <a:lstStyle/>
          <a:p>
            <a:endParaRPr lang="en-US"/>
          </a:p>
        </p:txBody>
      </p:sp>
      <p:sp>
        <p:nvSpPr>
          <p:cNvPr id="90" name="Shape 88"/>
          <p:cNvSpPr/>
          <p:nvPr/>
        </p:nvSpPr>
        <p:spPr>
          <a:xfrm>
            <a:off x="9112469" y="8630957"/>
            <a:ext cx="914" cy="914"/>
          </a:xfrm>
          <a:prstGeom prst="line">
            <a:avLst/>
          </a:prstGeom>
          <a:noFill/>
          <a:ln w="19050">
            <a:solidFill>
              <a:srgbClr val="C7A400">
                <a:alpha val="30000"/>
                <a:alpha val="20000"/>
                <a:alpha val="20000"/>
              </a:srgbClr>
            </a:solidFill>
            <a:prstDash val="dashDot"/>
          </a:ln>
        </p:spPr>
        <p:txBody>
          <a:bodyPr/>
          <a:lstStyle/>
          <a:p>
            <a:endParaRPr lang="en-US"/>
          </a:p>
        </p:txBody>
      </p:sp>
      <p:sp>
        <p:nvSpPr>
          <p:cNvPr id="91" name="Shape 89"/>
          <p:cNvSpPr/>
          <p:nvPr/>
        </p:nvSpPr>
        <p:spPr>
          <a:xfrm flipV="1">
            <a:off x="9112469" y="8314918"/>
            <a:ext cx="5147" cy="316039"/>
          </a:xfrm>
          <a:prstGeom prst="line">
            <a:avLst/>
          </a:prstGeom>
          <a:noFill/>
          <a:ln w="19050">
            <a:solidFill>
              <a:srgbClr val="C7A400">
                <a:alpha val="30000"/>
                <a:alpha val="20000"/>
                <a:alpha val="20000"/>
              </a:srgbClr>
            </a:solidFill>
            <a:prstDash val="dashDot"/>
          </a:ln>
        </p:spPr>
        <p:txBody>
          <a:bodyPr/>
          <a:lstStyle/>
          <a:p>
            <a:endParaRPr lang="en-US"/>
          </a:p>
        </p:txBody>
      </p:sp>
      <p:sp>
        <p:nvSpPr>
          <p:cNvPr id="92" name="Shape 90"/>
          <p:cNvSpPr/>
          <p:nvPr/>
        </p:nvSpPr>
        <p:spPr>
          <a:xfrm>
            <a:off x="9117616" y="8314918"/>
            <a:ext cx="585098" cy="137443"/>
          </a:xfrm>
          <a:prstGeom prst="line">
            <a:avLst/>
          </a:prstGeom>
          <a:noFill/>
          <a:ln w="19050">
            <a:solidFill>
              <a:srgbClr val="C7A400">
                <a:alpha val="30000"/>
                <a:alpha val="20000"/>
                <a:alpha val="20000"/>
              </a:srgbClr>
            </a:solidFill>
            <a:prstDash val="dashDot"/>
          </a:ln>
        </p:spPr>
        <p:txBody>
          <a:bodyPr/>
          <a:lstStyle/>
          <a:p>
            <a:endParaRPr lang="en-US"/>
          </a:p>
        </p:txBody>
      </p:sp>
      <p:sp>
        <p:nvSpPr>
          <p:cNvPr id="93" name="Shape 91"/>
          <p:cNvSpPr/>
          <p:nvPr/>
        </p:nvSpPr>
        <p:spPr>
          <a:xfrm>
            <a:off x="8466914" y="8056246"/>
            <a:ext cx="1235800" cy="1100085"/>
          </a:xfrm>
          <a:prstGeom prst="line">
            <a:avLst/>
          </a:prstGeom>
          <a:noFill/>
          <a:ln w="19050">
            <a:solidFill>
              <a:srgbClr val="C7A400">
                <a:alpha val="30000"/>
                <a:alpha val="20000"/>
                <a:alpha val="20000"/>
              </a:srgbClr>
            </a:solidFill>
            <a:prstDash val="dashDot"/>
          </a:ln>
        </p:spPr>
        <p:txBody>
          <a:bodyPr/>
          <a:lstStyle/>
          <a:p>
            <a:endParaRPr lang="en-US"/>
          </a:p>
        </p:txBody>
      </p:sp>
      <p:sp>
        <p:nvSpPr>
          <p:cNvPr id="94" name="Shape 92"/>
          <p:cNvSpPr/>
          <p:nvPr/>
        </p:nvSpPr>
        <p:spPr>
          <a:xfrm>
            <a:off x="7952847" y="7785035"/>
            <a:ext cx="514067" cy="271212"/>
          </a:xfrm>
          <a:prstGeom prst="line">
            <a:avLst/>
          </a:prstGeom>
          <a:noFill/>
          <a:ln w="19050">
            <a:solidFill>
              <a:srgbClr val="C7A400">
                <a:alpha val="30000"/>
                <a:alpha val="20000"/>
                <a:alpha val="20000"/>
              </a:srgbClr>
            </a:solidFill>
            <a:prstDash val="dashDot"/>
          </a:ln>
        </p:spPr>
        <p:txBody>
          <a:bodyPr/>
          <a:lstStyle/>
          <a:p>
            <a:endParaRPr lang="en-US"/>
          </a:p>
        </p:txBody>
      </p:sp>
      <p:sp>
        <p:nvSpPr>
          <p:cNvPr id="95" name="Shape 93"/>
          <p:cNvSpPr/>
          <p:nvPr/>
        </p:nvSpPr>
        <p:spPr>
          <a:xfrm>
            <a:off x="7918314" y="7746852"/>
            <a:ext cx="34533" cy="38183"/>
          </a:xfrm>
          <a:prstGeom prst="line">
            <a:avLst/>
          </a:prstGeom>
          <a:noFill/>
          <a:ln w="19050">
            <a:solidFill>
              <a:srgbClr val="C7A400">
                <a:alpha val="30000"/>
                <a:alpha val="20000"/>
                <a:alpha val="20000"/>
              </a:srgbClr>
            </a:solidFill>
            <a:prstDash val="dashDot"/>
          </a:ln>
        </p:spPr>
        <p:txBody>
          <a:bodyPr/>
          <a:lstStyle/>
          <a:p>
            <a:endParaRPr lang="en-US"/>
          </a:p>
        </p:txBody>
      </p:sp>
      <p:sp>
        <p:nvSpPr>
          <p:cNvPr id="96" name="Shape 94"/>
          <p:cNvSpPr/>
          <p:nvPr/>
        </p:nvSpPr>
        <p:spPr>
          <a:xfrm>
            <a:off x="7409208" y="7339754"/>
            <a:ext cx="509107" cy="407098"/>
          </a:xfrm>
          <a:prstGeom prst="line">
            <a:avLst/>
          </a:prstGeom>
          <a:noFill/>
          <a:ln w="19050">
            <a:solidFill>
              <a:srgbClr val="C7A400">
                <a:alpha val="30000"/>
                <a:alpha val="20000"/>
                <a:alpha val="20000"/>
              </a:srgbClr>
            </a:solidFill>
            <a:prstDash val="dashDot"/>
          </a:ln>
        </p:spPr>
        <p:txBody>
          <a:bodyPr/>
          <a:lstStyle/>
          <a:p>
            <a:endParaRPr lang="en-US"/>
          </a:p>
        </p:txBody>
      </p:sp>
      <p:sp>
        <p:nvSpPr>
          <p:cNvPr id="97" name="Shape 95"/>
          <p:cNvSpPr/>
          <p:nvPr/>
        </p:nvSpPr>
        <p:spPr>
          <a:xfrm>
            <a:off x="6857613" y="6904487"/>
            <a:ext cx="551594" cy="435267"/>
          </a:xfrm>
          <a:prstGeom prst="line">
            <a:avLst/>
          </a:prstGeom>
          <a:noFill/>
          <a:ln w="19050">
            <a:solidFill>
              <a:srgbClr val="C7A400">
                <a:alpha val="30000"/>
                <a:alpha val="20000"/>
                <a:alpha val="20000"/>
              </a:srgbClr>
            </a:solidFill>
            <a:prstDash val="dashDot"/>
          </a:ln>
        </p:spPr>
        <p:txBody>
          <a:bodyPr/>
          <a:lstStyle/>
          <a:p>
            <a:endParaRPr lang="en-US"/>
          </a:p>
        </p:txBody>
      </p:sp>
      <p:sp>
        <p:nvSpPr>
          <p:cNvPr id="98" name="Shape 96"/>
          <p:cNvSpPr/>
          <p:nvPr/>
        </p:nvSpPr>
        <p:spPr>
          <a:xfrm flipV="1">
            <a:off x="4384516" y="3796691"/>
            <a:ext cx="175848" cy="218991"/>
          </a:xfrm>
          <a:prstGeom prst="line">
            <a:avLst/>
          </a:prstGeom>
          <a:noFill/>
          <a:ln w="28575">
            <a:solidFill>
              <a:srgbClr val="8B0000">
                <a:alpha val="30000"/>
                <a:alpha val="20000"/>
                <a:alpha val="20000"/>
              </a:srgbClr>
            </a:solidFill>
            <a:prstDash val="solid"/>
          </a:ln>
        </p:spPr>
        <p:txBody>
          <a:bodyPr/>
          <a:lstStyle/>
          <a:p>
            <a:endParaRPr lang="en-US"/>
          </a:p>
        </p:txBody>
      </p:sp>
      <p:sp>
        <p:nvSpPr>
          <p:cNvPr id="99" name="Shape 97"/>
          <p:cNvSpPr/>
          <p:nvPr/>
        </p:nvSpPr>
        <p:spPr>
          <a:xfrm flipV="1">
            <a:off x="4208762" y="4015681"/>
            <a:ext cx="175754" cy="219084"/>
          </a:xfrm>
          <a:prstGeom prst="line">
            <a:avLst/>
          </a:prstGeom>
          <a:noFill/>
          <a:ln w="28575">
            <a:solidFill>
              <a:srgbClr val="8B0000">
                <a:alpha val="30000"/>
                <a:alpha val="20000"/>
                <a:alpha val="20000"/>
              </a:srgbClr>
            </a:solidFill>
            <a:prstDash val="solid"/>
          </a:ln>
        </p:spPr>
        <p:txBody>
          <a:bodyPr/>
          <a:lstStyle/>
          <a:p>
            <a:endParaRPr lang="en-US"/>
          </a:p>
        </p:txBody>
      </p:sp>
      <p:sp>
        <p:nvSpPr>
          <p:cNvPr id="100" name="Shape 98"/>
          <p:cNvSpPr/>
          <p:nvPr/>
        </p:nvSpPr>
        <p:spPr>
          <a:xfrm flipV="1">
            <a:off x="4032914" y="4234766"/>
            <a:ext cx="175848" cy="218991"/>
          </a:xfrm>
          <a:prstGeom prst="line">
            <a:avLst/>
          </a:prstGeom>
          <a:noFill/>
          <a:ln w="28575">
            <a:solidFill>
              <a:srgbClr val="8B0000">
                <a:alpha val="30000"/>
                <a:alpha val="20000"/>
                <a:alpha val="20000"/>
              </a:srgbClr>
            </a:solidFill>
            <a:prstDash val="solid"/>
          </a:ln>
        </p:spPr>
        <p:txBody>
          <a:bodyPr/>
          <a:lstStyle/>
          <a:p>
            <a:endParaRPr lang="en-US"/>
          </a:p>
        </p:txBody>
      </p:sp>
      <p:sp>
        <p:nvSpPr>
          <p:cNvPr id="101" name="Shape 99"/>
          <p:cNvSpPr/>
          <p:nvPr/>
        </p:nvSpPr>
        <p:spPr>
          <a:xfrm flipV="1">
            <a:off x="3857067" y="4453756"/>
            <a:ext cx="175848" cy="218991"/>
          </a:xfrm>
          <a:prstGeom prst="line">
            <a:avLst/>
          </a:prstGeom>
          <a:noFill/>
          <a:ln w="28575">
            <a:solidFill>
              <a:srgbClr val="8B0000">
                <a:alpha val="30000"/>
                <a:alpha val="20000"/>
                <a:alpha val="20000"/>
              </a:srgbClr>
            </a:solidFill>
            <a:prstDash val="solid"/>
          </a:ln>
        </p:spPr>
        <p:txBody>
          <a:bodyPr/>
          <a:lstStyle/>
          <a:p>
            <a:endParaRPr lang="en-US"/>
          </a:p>
        </p:txBody>
      </p:sp>
      <p:sp>
        <p:nvSpPr>
          <p:cNvPr id="102" name="Shape 100"/>
          <p:cNvSpPr/>
          <p:nvPr/>
        </p:nvSpPr>
        <p:spPr>
          <a:xfrm flipV="1">
            <a:off x="3681313" y="4672747"/>
            <a:ext cx="175754" cy="218991"/>
          </a:xfrm>
          <a:prstGeom prst="line">
            <a:avLst/>
          </a:prstGeom>
          <a:noFill/>
          <a:ln w="28575">
            <a:solidFill>
              <a:srgbClr val="8B0000">
                <a:alpha val="30000"/>
                <a:alpha val="20000"/>
                <a:alpha val="20000"/>
              </a:srgbClr>
            </a:solidFill>
            <a:prstDash val="solid"/>
          </a:ln>
        </p:spPr>
        <p:txBody>
          <a:bodyPr/>
          <a:lstStyle/>
          <a:p>
            <a:endParaRPr lang="en-US"/>
          </a:p>
        </p:txBody>
      </p:sp>
      <p:sp>
        <p:nvSpPr>
          <p:cNvPr id="103" name="Shape 101"/>
          <p:cNvSpPr/>
          <p:nvPr/>
        </p:nvSpPr>
        <p:spPr>
          <a:xfrm flipV="1">
            <a:off x="3505465" y="4891738"/>
            <a:ext cx="175848" cy="218991"/>
          </a:xfrm>
          <a:prstGeom prst="line">
            <a:avLst/>
          </a:prstGeom>
          <a:noFill/>
          <a:ln w="28575">
            <a:solidFill>
              <a:srgbClr val="8B0000">
                <a:alpha val="30000"/>
                <a:alpha val="20000"/>
                <a:alpha val="20000"/>
              </a:srgbClr>
            </a:solidFill>
            <a:prstDash val="solid"/>
          </a:ln>
        </p:spPr>
        <p:txBody>
          <a:bodyPr/>
          <a:lstStyle/>
          <a:p>
            <a:endParaRPr lang="en-US"/>
          </a:p>
        </p:txBody>
      </p:sp>
      <p:sp>
        <p:nvSpPr>
          <p:cNvPr id="104" name="Shape 102"/>
          <p:cNvSpPr/>
          <p:nvPr/>
        </p:nvSpPr>
        <p:spPr>
          <a:xfrm flipV="1">
            <a:off x="3334952" y="5110728"/>
            <a:ext cx="170513" cy="217587"/>
          </a:xfrm>
          <a:prstGeom prst="line">
            <a:avLst/>
          </a:prstGeom>
          <a:noFill/>
          <a:ln w="28575">
            <a:solidFill>
              <a:srgbClr val="8B0000">
                <a:alpha val="30000"/>
                <a:alpha val="20000"/>
                <a:alpha val="20000"/>
              </a:srgbClr>
            </a:solidFill>
            <a:prstDash val="solid"/>
          </a:ln>
        </p:spPr>
        <p:txBody>
          <a:bodyPr/>
          <a:lstStyle/>
          <a:p>
            <a:endParaRPr lang="en-US"/>
          </a:p>
        </p:txBody>
      </p:sp>
      <p:sp>
        <p:nvSpPr>
          <p:cNvPr id="149" name="Shape 147"/>
          <p:cNvSpPr/>
          <p:nvPr/>
        </p:nvSpPr>
        <p:spPr>
          <a:xfrm>
            <a:off x="1870241" y="5422837"/>
            <a:ext cx="131020" cy="131020"/>
          </a:xfrm>
          <a:prstGeom prst="rect">
            <a:avLst/>
          </a:prstGeom>
          <a:ln w="19050">
            <a:solidFill>
              <a:srgbClr val="BB00BB">
                <a:alpha val="20000"/>
                <a:alpha val="20000"/>
              </a:srgbClr>
            </a:solidFill>
            <a:prstDash val="solid"/>
          </a:ln>
        </p:spPr>
        <p:txBody>
          <a:bodyPr/>
          <a:lstStyle/>
          <a:p>
            <a:endParaRPr lang="en-US"/>
          </a:p>
        </p:txBody>
      </p:sp>
      <p:sp>
        <p:nvSpPr>
          <p:cNvPr id="150" name="Shape 148"/>
          <p:cNvSpPr/>
          <p:nvPr/>
        </p:nvSpPr>
        <p:spPr>
          <a:xfrm>
            <a:off x="5175784" y="3104250"/>
            <a:ext cx="131020" cy="131020"/>
          </a:xfrm>
          <a:prstGeom prst="rect">
            <a:avLst/>
          </a:prstGeom>
          <a:ln w="19050">
            <a:solidFill>
              <a:srgbClr val="BB00BB">
                <a:alpha val="20000"/>
                <a:alpha val="20000"/>
                <a:alpha val="100000"/>
              </a:srgbClr>
            </a:solidFill>
            <a:prstDash val="solid"/>
          </a:ln>
        </p:spPr>
        <p:txBody>
          <a:bodyPr/>
          <a:lstStyle/>
          <a:p>
            <a:endParaRPr lang="en-US"/>
          </a:p>
        </p:txBody>
      </p:sp>
      <p:sp>
        <p:nvSpPr>
          <p:cNvPr id="151" name="Shape 149"/>
          <p:cNvSpPr/>
          <p:nvPr/>
        </p:nvSpPr>
        <p:spPr>
          <a:xfrm>
            <a:off x="4067728" y="7959572"/>
            <a:ext cx="131020" cy="131020"/>
          </a:xfrm>
          <a:prstGeom prst="rect">
            <a:avLst/>
          </a:prstGeom>
          <a:ln w="19050">
            <a:solidFill>
              <a:srgbClr val="BB00BB">
                <a:alpha val="20000"/>
                <a:alpha val="20000"/>
              </a:srgbClr>
            </a:solidFill>
            <a:prstDash val="solid"/>
          </a:ln>
        </p:spPr>
        <p:txBody>
          <a:bodyPr/>
          <a:lstStyle/>
          <a:p>
            <a:endParaRPr lang="en-US"/>
          </a:p>
        </p:txBody>
      </p:sp>
      <p:sp>
        <p:nvSpPr>
          <p:cNvPr id="152" name="Shape 150"/>
          <p:cNvSpPr/>
          <p:nvPr/>
        </p:nvSpPr>
        <p:spPr>
          <a:xfrm>
            <a:off x="8437154" y="5617589"/>
            <a:ext cx="131020" cy="131020"/>
          </a:xfrm>
          <a:prstGeom prst="rect">
            <a:avLst/>
          </a:prstGeom>
          <a:ln w="19050">
            <a:solidFill>
              <a:srgbClr val="BB00BB">
                <a:alpha val="20000"/>
                <a:alpha val="20000"/>
              </a:srgbClr>
            </a:solidFill>
            <a:prstDash val="solid"/>
          </a:ln>
        </p:spPr>
        <p:txBody>
          <a:bodyPr/>
          <a:lstStyle/>
          <a:p>
            <a:endParaRPr lang="en-US"/>
          </a:p>
        </p:txBody>
      </p:sp>
      <p:sp>
        <p:nvSpPr>
          <p:cNvPr id="153" name="Text 151"/>
          <p:cNvSpPr/>
          <p:nvPr/>
        </p:nvSpPr>
        <p:spPr>
          <a:xfrm>
            <a:off x="2019978" y="5313109"/>
            <a:ext cx="1097280" cy="182880"/>
          </a:xfrm>
          <a:prstGeom prst="rect">
            <a:avLst/>
          </a:prstGeom>
          <a:noFill/>
          <a:ln/>
        </p:spPr>
        <p:txBody>
          <a:bodyPr wrap="square" lIns="0" tIns="0" rIns="0" bIns="0" rtlCol="0" anchor="ctr"/>
          <a:lstStyle/>
          <a:p>
            <a:pPr marL="0" indent="0">
              <a:buNone/>
            </a:pPr>
            <a:r>
              <a:rPr lang="en-US" sz="650" b="1" dirty="0">
                <a:solidFill>
                  <a:srgbClr val="C9CDD1"/>
                </a:solidFill>
                <a:latin typeface="Arial" pitchFamily="34" charset="0"/>
                <a:ea typeface="Arial" pitchFamily="34" charset="-122"/>
                <a:cs typeface="Arial" pitchFamily="34" charset="-120"/>
              </a:rPr>
              <a:t>X_CV_STH_PITS &amp;.27153</a:t>
            </a:r>
            <a:endParaRPr lang="en-US" sz="650" dirty="0">
              <a:solidFill>
                <a:srgbClr val="C9CDD1"/>
              </a:solidFill>
            </a:endParaRPr>
          </a:p>
        </p:txBody>
      </p:sp>
      <p:sp>
        <p:nvSpPr>
          <p:cNvPr id="154" name="Text 152"/>
          <p:cNvSpPr/>
          <p:nvPr/>
        </p:nvSpPr>
        <p:spPr>
          <a:xfrm>
            <a:off x="5325521" y="2994522"/>
            <a:ext cx="1097280" cy="182880"/>
          </a:xfrm>
          <a:prstGeom prst="rect">
            <a:avLst/>
          </a:prstGeom>
          <a:noFill/>
          <a:ln/>
        </p:spPr>
        <p:txBody>
          <a:bodyPr wrap="square" lIns="0" tIns="0" rIns="0" bIns="0" rtlCol="0" anchor="ctr"/>
          <a:lstStyle/>
          <a:p>
            <a:pPr marL="0" indent="0">
              <a:buNone/>
            </a:pPr>
            <a:r>
              <a:rPr lang="en-US" sz="650" b="1" dirty="0">
                <a:solidFill>
                  <a:srgbClr val="333333"/>
                </a:solidFill>
                <a:latin typeface="Arial" pitchFamily="34" charset="0"/>
                <a:ea typeface="Arial" pitchFamily="34" charset="-122"/>
                <a:cs typeface="Arial" pitchFamily="34" charset="-120"/>
              </a:rPr>
              <a:t>X_CV_STH_PITS &amp;.27152</a:t>
            </a:r>
            <a:endParaRPr lang="en-US" sz="650" dirty="0">
              <a:solidFill>
                <a:srgbClr val="333333"/>
              </a:solidFill>
            </a:endParaRPr>
          </a:p>
        </p:txBody>
      </p:sp>
      <p:sp>
        <p:nvSpPr>
          <p:cNvPr id="155" name="Text 153"/>
          <p:cNvSpPr/>
          <p:nvPr/>
        </p:nvSpPr>
        <p:spPr>
          <a:xfrm>
            <a:off x="4217466" y="7849844"/>
            <a:ext cx="1097280" cy="182880"/>
          </a:xfrm>
          <a:prstGeom prst="rect">
            <a:avLst/>
          </a:prstGeom>
          <a:noFill/>
          <a:ln/>
        </p:spPr>
        <p:txBody>
          <a:bodyPr wrap="square" lIns="0" tIns="0" rIns="0" bIns="0" rtlCol="0" anchor="ctr"/>
          <a:lstStyle/>
          <a:p>
            <a:pPr marL="0" indent="0">
              <a:buNone/>
            </a:pPr>
            <a:r>
              <a:rPr lang="en-US" sz="650" b="1" dirty="0">
                <a:solidFill>
                  <a:srgbClr val="C9CDD1"/>
                </a:solidFill>
                <a:latin typeface="Arial" pitchFamily="34" charset="0"/>
                <a:ea typeface="Arial" pitchFamily="34" charset="-122"/>
                <a:cs typeface="Arial" pitchFamily="34" charset="-120"/>
              </a:rPr>
              <a:t>X_CV_STH_PITS &amp;.27154</a:t>
            </a:r>
            <a:endParaRPr lang="en-US" sz="650" dirty="0">
              <a:solidFill>
                <a:srgbClr val="C9CDD1"/>
              </a:solidFill>
            </a:endParaRPr>
          </a:p>
        </p:txBody>
      </p:sp>
      <p:sp>
        <p:nvSpPr>
          <p:cNvPr id="156" name="Text 154"/>
          <p:cNvSpPr/>
          <p:nvPr/>
        </p:nvSpPr>
        <p:spPr>
          <a:xfrm>
            <a:off x="8586891" y="5507861"/>
            <a:ext cx="1097280" cy="182880"/>
          </a:xfrm>
          <a:prstGeom prst="rect">
            <a:avLst/>
          </a:prstGeom>
          <a:noFill/>
          <a:ln/>
        </p:spPr>
        <p:txBody>
          <a:bodyPr wrap="square" lIns="0" tIns="0" rIns="0" bIns="0" rtlCol="0" anchor="ctr"/>
          <a:lstStyle/>
          <a:p>
            <a:pPr marL="0" indent="0">
              <a:buNone/>
            </a:pPr>
            <a:r>
              <a:rPr lang="en-US" sz="650" b="1" dirty="0">
                <a:solidFill>
                  <a:srgbClr val="C9CDD1"/>
                </a:solidFill>
                <a:latin typeface="Arial" pitchFamily="34" charset="0"/>
                <a:ea typeface="Arial" pitchFamily="34" charset="-122"/>
                <a:cs typeface="Arial" pitchFamily="34" charset="-120"/>
              </a:rPr>
              <a:t>X_CV_STH_PITS &amp;.27162</a:t>
            </a:r>
            <a:endParaRPr lang="en-US" sz="650" dirty="0">
              <a:solidFill>
                <a:srgbClr val="C9CDD1"/>
              </a:solidFill>
            </a:endParaRPr>
          </a:p>
        </p:txBody>
      </p:sp>
      <p:sp>
        <p:nvSpPr>
          <p:cNvPr id="900" name="AGL WORKS AREA FILL 1"/>
          <p:cNvSpPr/>
          <p:nvPr/>
        </p:nvSpPr>
        <p:spPr>
          <a:xfrm>
            <a:off x="3221521" y="3741827"/>
            <a:ext cx="1460500" cy="1549400"/>
          </a:xfrm>
          <a:custGeom>
            <a:avLst/>
            <a:gdLst/>
            <a:ahLst/>
            <a:cxnLst/>
            <a:rect l="0" t="0" r="r" b="b"/>
            <a:pathLst>
              <a:path w="1460500" h="1549400">
                <a:moveTo>
                  <a:pt x="0" y="1244600"/>
                </a:moveTo>
                <a:lnTo>
                  <a:pt x="1117600" y="0"/>
                </a:lnTo>
                <a:lnTo>
                  <a:pt x="1460500" y="304800"/>
                </a:lnTo>
                <a:lnTo>
                  <a:pt x="342900" y="1549400"/>
                </a:lnTo>
                <a:close/>
              </a:path>
            </a:pathLst>
          </a:custGeom>
          <a:solidFill>
            <a:srgbClr val="CC0000">
              <a:alpha val="34000"/>
            </a:srgbClr>
          </a:solidFill>
          <a:ln>
            <a:noFill/>
          </a:ln>
        </p:spPr>
        <p:txBody>
          <a:bodyPr/>
          <a:lstStyle/>
          <a:p>
            <a:endParaRPr/>
          </a:p>
        </p:txBody>
      </p:sp>
      <p:sp>
        <p:nvSpPr>
          <p:cNvPr id="901" name="AGL WORKS AREA FILL 2"/>
          <p:cNvSpPr/>
          <p:nvPr/>
        </p:nvSpPr>
        <p:spPr>
          <a:xfrm>
            <a:off x="3522218" y="4677497"/>
            <a:ext cx="3352800" cy="3124200"/>
          </a:xfrm>
          <a:custGeom>
            <a:avLst/>
            <a:gdLst/>
            <a:ahLst/>
            <a:cxnLst/>
            <a:rect l="0" t="0" r="r" b="b"/>
            <a:pathLst>
              <a:path w="3352800" h="3124200">
                <a:moveTo>
                  <a:pt x="0" y="584200"/>
                </a:moveTo>
                <a:lnTo>
                  <a:pt x="520700" y="0"/>
                </a:lnTo>
                <a:lnTo>
                  <a:pt x="3340100" y="2540000"/>
                </a:lnTo>
                <a:lnTo>
                  <a:pt x="2832100" y="3124200"/>
                </a:lnTo>
                <a:close/>
              </a:path>
            </a:pathLst>
          </a:custGeom>
          <a:solidFill>
            <a:srgbClr val="CC0000">
              <a:alpha val="34000"/>
            </a:srgbClr>
          </a:solidFill>
          <a:ln>
            <a:noFill/>
          </a:ln>
        </p:spPr>
        <p:txBody>
          <a:bodyPr/>
          <a:lstStyle/>
          <a:p>
            <a:endParaRPr dirty="0"/>
          </a:p>
        </p:txBody>
      </p:sp>
      <p:sp>
        <p:nvSpPr>
          <p:cNvPr id="157" name="Shape 155"/>
          <p:cNvSpPr/>
          <p:nvPr/>
        </p:nvSpPr>
        <p:spPr>
          <a:xfrm flipV="1">
            <a:off x="3228323" y="3753233"/>
            <a:ext cx="1116291" cy="1243661"/>
          </a:xfrm>
          <a:prstGeom prst="line">
            <a:avLst/>
          </a:prstGeom>
          <a:noFill/>
          <a:ln w="31750">
            <a:solidFill>
              <a:srgbClr val="CC0000">
                <a:alpha val="34000"/>
              </a:srgbClr>
            </a:solidFill>
            <a:prstDash val="solid"/>
          </a:ln>
        </p:spPr>
        <p:txBody>
          <a:bodyPr/>
          <a:lstStyle/>
          <a:p>
            <a:endParaRPr lang="en-US"/>
          </a:p>
        </p:txBody>
      </p:sp>
      <p:sp>
        <p:nvSpPr>
          <p:cNvPr id="158" name="Shape 156"/>
          <p:cNvSpPr/>
          <p:nvPr/>
        </p:nvSpPr>
        <p:spPr>
          <a:xfrm>
            <a:off x="4327634" y="3741827"/>
            <a:ext cx="279990" cy="255511"/>
          </a:xfrm>
          <a:prstGeom prst="line">
            <a:avLst/>
          </a:prstGeom>
          <a:noFill/>
          <a:ln w="31750">
            <a:solidFill>
              <a:srgbClr val="CC0000">
                <a:alpha val="39000"/>
              </a:srgbClr>
            </a:solidFill>
            <a:prstDash val="solid"/>
          </a:ln>
        </p:spPr>
        <p:txBody>
          <a:bodyPr/>
          <a:lstStyle/>
          <a:p>
            <a:endParaRPr lang="en-US"/>
          </a:p>
        </p:txBody>
      </p:sp>
      <p:sp>
        <p:nvSpPr>
          <p:cNvPr id="159" name="Shape 157"/>
          <p:cNvSpPr/>
          <p:nvPr/>
        </p:nvSpPr>
        <p:spPr>
          <a:xfrm flipV="1">
            <a:off x="3491334" y="3997339"/>
            <a:ext cx="1116291" cy="1243568"/>
          </a:xfrm>
          <a:prstGeom prst="line">
            <a:avLst/>
          </a:prstGeom>
          <a:noFill/>
          <a:ln w="31750">
            <a:solidFill>
              <a:srgbClr val="CC0000">
                <a:alpha val="42000"/>
              </a:srgbClr>
            </a:solidFill>
            <a:prstDash val="solid"/>
          </a:ln>
        </p:spPr>
        <p:txBody>
          <a:bodyPr/>
          <a:lstStyle/>
          <a:p>
            <a:endParaRPr lang="en-US"/>
          </a:p>
        </p:txBody>
      </p:sp>
      <p:sp>
        <p:nvSpPr>
          <p:cNvPr id="160" name="Shape 158"/>
          <p:cNvSpPr/>
          <p:nvPr/>
        </p:nvSpPr>
        <p:spPr>
          <a:xfrm>
            <a:off x="3228323" y="4978772"/>
            <a:ext cx="263010" cy="262134"/>
          </a:xfrm>
          <a:prstGeom prst="line">
            <a:avLst/>
          </a:prstGeom>
          <a:noFill/>
          <a:ln w="31750">
            <a:solidFill>
              <a:srgbClr val="CC0000">
                <a:alpha val="34000"/>
              </a:srgbClr>
            </a:solidFill>
            <a:prstDash val="solid"/>
          </a:ln>
        </p:spPr>
        <p:txBody>
          <a:bodyPr/>
          <a:lstStyle/>
          <a:p>
            <a:endParaRPr lang="en-US"/>
          </a:p>
        </p:txBody>
      </p:sp>
      <p:sp>
        <p:nvSpPr>
          <p:cNvPr id="161" name="Shape 159"/>
          <p:cNvSpPr/>
          <p:nvPr/>
        </p:nvSpPr>
        <p:spPr>
          <a:xfrm flipV="1">
            <a:off x="3484128" y="4649912"/>
            <a:ext cx="522115" cy="581729"/>
          </a:xfrm>
          <a:prstGeom prst="line">
            <a:avLst/>
          </a:prstGeom>
          <a:noFill/>
          <a:ln w="31750">
            <a:solidFill>
              <a:srgbClr val="CC0000">
                <a:alpha val="34000"/>
              </a:srgbClr>
            </a:solidFill>
            <a:prstDash val="solid"/>
          </a:ln>
        </p:spPr>
        <p:txBody>
          <a:bodyPr/>
          <a:lstStyle/>
          <a:p>
            <a:endParaRPr lang="en-US"/>
          </a:p>
        </p:txBody>
      </p:sp>
      <p:sp>
        <p:nvSpPr>
          <p:cNvPr id="162" name="Shape 160"/>
          <p:cNvSpPr/>
          <p:nvPr/>
        </p:nvSpPr>
        <p:spPr>
          <a:xfrm>
            <a:off x="4006243" y="4649912"/>
            <a:ext cx="2822921" cy="2533928"/>
          </a:xfrm>
          <a:prstGeom prst="line">
            <a:avLst/>
          </a:prstGeom>
          <a:noFill/>
          <a:ln w="31750">
            <a:solidFill>
              <a:srgbClr val="CC0000">
                <a:alpha val="34000"/>
              </a:srgbClr>
            </a:solidFill>
            <a:prstDash val="solid"/>
          </a:ln>
        </p:spPr>
        <p:txBody>
          <a:bodyPr/>
          <a:lstStyle/>
          <a:p>
            <a:endParaRPr lang="en-US"/>
          </a:p>
        </p:txBody>
      </p:sp>
      <p:sp>
        <p:nvSpPr>
          <p:cNvPr id="163" name="Shape 161"/>
          <p:cNvSpPr/>
          <p:nvPr/>
        </p:nvSpPr>
        <p:spPr>
          <a:xfrm flipV="1">
            <a:off x="6307048" y="7183840"/>
            <a:ext cx="522115" cy="581635"/>
          </a:xfrm>
          <a:prstGeom prst="line">
            <a:avLst/>
          </a:prstGeom>
          <a:noFill/>
          <a:ln w="31750">
            <a:solidFill>
              <a:srgbClr val="CC0000">
                <a:alpha val="34000"/>
              </a:srgbClr>
            </a:solidFill>
            <a:prstDash val="solid"/>
          </a:ln>
        </p:spPr>
        <p:txBody>
          <a:bodyPr/>
          <a:lstStyle/>
          <a:p>
            <a:endParaRPr lang="en-US"/>
          </a:p>
        </p:txBody>
      </p:sp>
      <p:sp>
        <p:nvSpPr>
          <p:cNvPr id="164" name="Shape 162"/>
          <p:cNvSpPr/>
          <p:nvPr/>
        </p:nvSpPr>
        <p:spPr>
          <a:xfrm>
            <a:off x="3484128" y="5231641"/>
            <a:ext cx="2822921" cy="2533834"/>
          </a:xfrm>
          <a:prstGeom prst="line">
            <a:avLst/>
          </a:prstGeom>
          <a:noFill/>
          <a:ln w="31750">
            <a:solidFill>
              <a:srgbClr val="CC0000">
                <a:alpha val="34000"/>
              </a:srgbClr>
            </a:solidFill>
            <a:prstDash val="solid"/>
          </a:ln>
        </p:spPr>
        <p:txBody>
          <a:bodyPr/>
          <a:lstStyle/>
          <a:p>
            <a:endParaRPr lang="en-US"/>
          </a:p>
        </p:txBody>
      </p:sp>
      <p:sp>
        <p:nvSpPr>
          <p:cNvPr id="216" name="Text 214"/>
          <p:cNvSpPr/>
          <p:nvPr/>
        </p:nvSpPr>
        <p:spPr>
          <a:xfrm>
            <a:off x="5479294" y="934704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RRM.76</a:t>
            </a:r>
            <a:endParaRPr lang="en-US" sz="500" dirty="0">
              <a:solidFill>
                <a:srgbClr val="C9CDD1"/>
              </a:solidFill>
            </a:endParaRPr>
          </a:p>
        </p:txBody>
      </p:sp>
      <p:sp>
        <p:nvSpPr>
          <p:cNvPr id="217" name="Text 215"/>
          <p:cNvSpPr/>
          <p:nvPr/>
        </p:nvSpPr>
        <p:spPr>
          <a:xfrm>
            <a:off x="4297399" y="682752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RRM.282</a:t>
            </a:r>
            <a:endParaRPr lang="en-US" sz="500" dirty="0">
              <a:solidFill>
                <a:srgbClr val="C9CDD1"/>
              </a:solidFill>
            </a:endParaRPr>
          </a:p>
        </p:txBody>
      </p:sp>
      <p:sp>
        <p:nvSpPr>
          <p:cNvPr id="218" name="Text 216"/>
          <p:cNvSpPr/>
          <p:nvPr/>
        </p:nvSpPr>
        <p:spPr>
          <a:xfrm>
            <a:off x="7978501" y="7636480"/>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TCCECH.04.018</a:t>
            </a:r>
            <a:endParaRPr lang="en-US" sz="500" dirty="0">
              <a:solidFill>
                <a:srgbClr val="C9CDD1"/>
              </a:solidFill>
            </a:endParaRPr>
          </a:p>
        </p:txBody>
      </p:sp>
      <p:sp>
        <p:nvSpPr>
          <p:cNvPr id="219" name="Text 217"/>
          <p:cNvSpPr/>
          <p:nvPr/>
        </p:nvSpPr>
        <p:spPr>
          <a:xfrm>
            <a:off x="3394858" y="5743989"/>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RRM.539</a:t>
            </a:r>
            <a:endParaRPr lang="en-US" sz="500" dirty="0">
              <a:solidFill>
                <a:srgbClr val="C9CDD1"/>
              </a:solidFill>
            </a:endParaRPr>
          </a:p>
        </p:txBody>
      </p:sp>
      <p:sp>
        <p:nvSpPr>
          <p:cNvPr id="220" name="Text 218"/>
          <p:cNvSpPr/>
          <p:nvPr/>
        </p:nvSpPr>
        <p:spPr>
          <a:xfrm>
            <a:off x="2366819" y="4782770"/>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RRM.540</a:t>
            </a:r>
            <a:endParaRPr lang="en-US" sz="500" dirty="0">
              <a:solidFill>
                <a:srgbClr val="C9CDD1"/>
              </a:solidFill>
            </a:endParaRPr>
          </a:p>
        </p:txBody>
      </p:sp>
      <p:sp>
        <p:nvSpPr>
          <p:cNvPr id="221" name="Text 219"/>
          <p:cNvSpPr/>
          <p:nvPr/>
        </p:nvSpPr>
        <p:spPr>
          <a:xfrm>
            <a:off x="973233" y="3545660"/>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RRM.541</a:t>
            </a:r>
            <a:endParaRPr lang="en-US" sz="500" dirty="0">
              <a:solidFill>
                <a:srgbClr val="C9CDD1"/>
              </a:solidFill>
            </a:endParaRPr>
          </a:p>
        </p:txBody>
      </p:sp>
      <p:sp>
        <p:nvSpPr>
          <p:cNvPr id="222" name="Text 220"/>
          <p:cNvSpPr/>
          <p:nvPr/>
        </p:nvSpPr>
        <p:spPr>
          <a:xfrm>
            <a:off x="4988811" y="8042362"/>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RRM.636</a:t>
            </a:r>
            <a:endParaRPr lang="en-US" sz="500" dirty="0">
              <a:solidFill>
                <a:srgbClr val="C9CDD1"/>
              </a:solidFill>
            </a:endParaRPr>
          </a:p>
        </p:txBody>
      </p:sp>
      <p:sp>
        <p:nvSpPr>
          <p:cNvPr id="223" name="Text 221"/>
          <p:cNvSpPr/>
          <p:nvPr/>
        </p:nvSpPr>
        <p:spPr>
          <a:xfrm>
            <a:off x="8013034" y="767466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TCC103.12.019</a:t>
            </a:r>
            <a:endParaRPr lang="en-US" sz="500" dirty="0">
              <a:solidFill>
                <a:srgbClr val="C9CDD1"/>
              </a:solidFill>
            </a:endParaRPr>
          </a:p>
        </p:txBody>
      </p:sp>
      <p:sp>
        <p:nvSpPr>
          <p:cNvPr id="224" name="Text 222"/>
          <p:cNvSpPr/>
          <p:nvPr/>
        </p:nvSpPr>
        <p:spPr>
          <a:xfrm>
            <a:off x="9107801" y="855661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TCC103.11.019</a:t>
            </a:r>
            <a:endParaRPr lang="en-US" sz="500" dirty="0">
              <a:solidFill>
                <a:srgbClr val="C9CDD1"/>
              </a:solidFill>
            </a:endParaRPr>
          </a:p>
        </p:txBody>
      </p:sp>
      <p:sp>
        <p:nvSpPr>
          <p:cNvPr id="225" name="Text 223"/>
          <p:cNvSpPr/>
          <p:nvPr/>
        </p:nvSpPr>
        <p:spPr>
          <a:xfrm>
            <a:off x="7469395" y="7229382"/>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TCC103.11.020</a:t>
            </a:r>
            <a:endParaRPr lang="en-US" sz="500" dirty="0">
              <a:solidFill>
                <a:srgbClr val="C9CDD1"/>
              </a:solidFill>
            </a:endParaRPr>
          </a:p>
        </p:txBody>
      </p:sp>
      <p:sp>
        <p:nvSpPr>
          <p:cNvPr id="226" name="Text 224"/>
          <p:cNvSpPr/>
          <p:nvPr/>
        </p:nvSpPr>
        <p:spPr>
          <a:xfrm>
            <a:off x="6515101" y="4616187"/>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TEC102.02.047</a:t>
            </a:r>
            <a:endParaRPr lang="en-US" sz="500" dirty="0">
              <a:solidFill>
                <a:srgbClr val="C9CDD1"/>
              </a:solidFill>
            </a:endParaRPr>
          </a:p>
        </p:txBody>
      </p:sp>
      <p:sp>
        <p:nvSpPr>
          <p:cNvPr id="227" name="Text 225"/>
          <p:cNvSpPr/>
          <p:nvPr/>
        </p:nvSpPr>
        <p:spPr>
          <a:xfrm>
            <a:off x="7681273" y="5395944"/>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TEC102.02.048</a:t>
            </a:r>
            <a:endParaRPr lang="en-US" sz="500" dirty="0">
              <a:solidFill>
                <a:srgbClr val="C9CDD1"/>
              </a:solidFill>
            </a:endParaRPr>
          </a:p>
        </p:txBody>
      </p:sp>
      <p:sp>
        <p:nvSpPr>
          <p:cNvPr id="228" name="Text 226"/>
          <p:cNvSpPr/>
          <p:nvPr/>
        </p:nvSpPr>
        <p:spPr>
          <a:xfrm>
            <a:off x="8514093" y="5826906"/>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TEC102.02.049</a:t>
            </a:r>
            <a:endParaRPr lang="en-US" sz="500" dirty="0">
              <a:solidFill>
                <a:srgbClr val="C9CDD1"/>
              </a:solidFill>
            </a:endParaRPr>
          </a:p>
        </p:txBody>
      </p:sp>
      <p:sp>
        <p:nvSpPr>
          <p:cNvPr id="229" name="Text 227"/>
          <p:cNvSpPr/>
          <p:nvPr/>
        </p:nvSpPr>
        <p:spPr>
          <a:xfrm>
            <a:off x="8558171" y="417259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HH.E6.033</a:t>
            </a:r>
            <a:endParaRPr lang="en-US" sz="500" dirty="0">
              <a:solidFill>
                <a:srgbClr val="C9CDD1"/>
              </a:solidFill>
            </a:endParaRPr>
          </a:p>
        </p:txBody>
      </p:sp>
      <p:sp>
        <p:nvSpPr>
          <p:cNvPr id="230" name="Text 228"/>
          <p:cNvSpPr/>
          <p:nvPr/>
        </p:nvSpPr>
        <p:spPr>
          <a:xfrm>
            <a:off x="3119716" y="373882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TCCECH.03.017</a:t>
            </a:r>
            <a:endParaRPr lang="en-US" sz="500" dirty="0">
              <a:solidFill>
                <a:srgbClr val="C9CDD1"/>
              </a:solidFill>
            </a:endParaRPr>
          </a:p>
        </p:txBody>
      </p:sp>
      <p:sp>
        <p:nvSpPr>
          <p:cNvPr id="231" name="Text 229"/>
          <p:cNvSpPr/>
          <p:nvPr/>
        </p:nvSpPr>
        <p:spPr>
          <a:xfrm>
            <a:off x="2595636" y="331815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TCCECH.04.016</a:t>
            </a:r>
            <a:endParaRPr lang="en-US" sz="500" dirty="0">
              <a:solidFill>
                <a:srgbClr val="C9CDD1"/>
              </a:solidFill>
            </a:endParaRPr>
          </a:p>
        </p:txBody>
      </p:sp>
      <p:sp>
        <p:nvSpPr>
          <p:cNvPr id="232" name="Text 230"/>
          <p:cNvSpPr/>
          <p:nvPr/>
        </p:nvSpPr>
        <p:spPr>
          <a:xfrm>
            <a:off x="2073427" y="2898889"/>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TCCECH.03.016</a:t>
            </a:r>
            <a:endParaRPr lang="en-US" sz="500" dirty="0">
              <a:solidFill>
                <a:srgbClr val="C9CDD1"/>
              </a:solidFill>
            </a:endParaRPr>
          </a:p>
        </p:txBody>
      </p:sp>
      <p:sp>
        <p:nvSpPr>
          <p:cNvPr id="233" name="Text 231"/>
          <p:cNvSpPr/>
          <p:nvPr/>
        </p:nvSpPr>
        <p:spPr>
          <a:xfrm>
            <a:off x="1549909" y="247822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TCCECH.04.015</a:t>
            </a:r>
            <a:endParaRPr lang="en-US" sz="500" dirty="0">
              <a:solidFill>
                <a:srgbClr val="C9CDD1"/>
              </a:solidFill>
            </a:endParaRPr>
          </a:p>
        </p:txBody>
      </p:sp>
      <p:sp>
        <p:nvSpPr>
          <p:cNvPr id="234" name="Text 232"/>
          <p:cNvSpPr/>
          <p:nvPr/>
        </p:nvSpPr>
        <p:spPr>
          <a:xfrm>
            <a:off x="1028262" y="205933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TCCECH.03.015</a:t>
            </a:r>
            <a:endParaRPr lang="en-US" sz="500" dirty="0">
              <a:solidFill>
                <a:srgbClr val="C9CDD1"/>
              </a:solidFill>
            </a:endParaRPr>
          </a:p>
        </p:txBody>
      </p:sp>
      <p:sp>
        <p:nvSpPr>
          <p:cNvPr id="235" name="Text 233"/>
          <p:cNvSpPr/>
          <p:nvPr/>
        </p:nvSpPr>
        <p:spPr>
          <a:xfrm>
            <a:off x="3395139" y="5217944"/>
            <a:ext cx="1051560" cy="146304"/>
          </a:xfrm>
          <a:prstGeom prst="rect">
            <a:avLst/>
          </a:prstGeom>
          <a:noFill/>
          <a:ln/>
        </p:spPr>
        <p:txBody>
          <a:bodyPr wrap="square" lIns="0" tIns="0" rIns="0" bIns="0" rtlCol="0" anchor="ctr"/>
          <a:lstStyle/>
          <a:p>
            <a:pPr marL="0" indent="0">
              <a:buNone/>
            </a:pPr>
            <a:r>
              <a:rPr lang="en-US" sz="500" dirty="0">
                <a:solidFill>
                  <a:srgbClr val="333333"/>
                </a:solidFill>
                <a:latin typeface="Arial" pitchFamily="34" charset="0"/>
                <a:ea typeface="Arial" pitchFamily="34" charset="-122"/>
                <a:cs typeface="Arial" pitchFamily="34" charset="-120"/>
              </a:rPr>
              <a:t>SBC102.02.027</a:t>
            </a:r>
            <a:endParaRPr lang="en-US" sz="500" dirty="0">
              <a:solidFill>
                <a:srgbClr val="333333"/>
              </a:solidFill>
            </a:endParaRPr>
          </a:p>
        </p:txBody>
      </p:sp>
      <p:sp>
        <p:nvSpPr>
          <p:cNvPr id="236" name="Text 234"/>
          <p:cNvSpPr/>
          <p:nvPr/>
        </p:nvSpPr>
        <p:spPr>
          <a:xfrm>
            <a:off x="9172656" y="852058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TCC103.11.027</a:t>
            </a:r>
            <a:endParaRPr lang="en-US" sz="500" dirty="0">
              <a:solidFill>
                <a:srgbClr val="C9CDD1"/>
              </a:solidFill>
            </a:endParaRPr>
          </a:p>
        </p:txBody>
      </p:sp>
      <p:sp>
        <p:nvSpPr>
          <p:cNvPr id="237" name="Text 235"/>
          <p:cNvSpPr/>
          <p:nvPr/>
        </p:nvSpPr>
        <p:spPr>
          <a:xfrm>
            <a:off x="6553658" y="805200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TCCECH.03.038</a:t>
            </a:r>
            <a:endParaRPr lang="en-US" sz="500" dirty="0">
              <a:solidFill>
                <a:srgbClr val="C9CDD1"/>
              </a:solidFill>
            </a:endParaRPr>
          </a:p>
        </p:txBody>
      </p:sp>
      <p:sp>
        <p:nvSpPr>
          <p:cNvPr id="238" name="Text 236"/>
          <p:cNvSpPr/>
          <p:nvPr/>
        </p:nvSpPr>
        <p:spPr>
          <a:xfrm>
            <a:off x="6778077" y="868314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TCCECH.04.037</a:t>
            </a:r>
            <a:endParaRPr lang="en-US" sz="500" dirty="0">
              <a:solidFill>
                <a:srgbClr val="C9CDD1"/>
              </a:solidFill>
            </a:endParaRPr>
          </a:p>
        </p:txBody>
      </p:sp>
      <p:sp>
        <p:nvSpPr>
          <p:cNvPr id="239" name="Text 237"/>
          <p:cNvSpPr/>
          <p:nvPr/>
        </p:nvSpPr>
        <p:spPr>
          <a:xfrm>
            <a:off x="6986118" y="936379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TCCECH.03.039</a:t>
            </a:r>
            <a:endParaRPr lang="en-US" sz="500" dirty="0">
              <a:solidFill>
                <a:srgbClr val="C9CDD1"/>
              </a:solidFill>
            </a:endParaRPr>
          </a:p>
        </p:txBody>
      </p:sp>
      <p:sp>
        <p:nvSpPr>
          <p:cNvPr id="240" name="Text 238"/>
          <p:cNvSpPr/>
          <p:nvPr/>
        </p:nvSpPr>
        <p:spPr>
          <a:xfrm>
            <a:off x="7126965" y="1004303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TCCECH.04.038</a:t>
            </a:r>
            <a:endParaRPr lang="en-US" sz="500" dirty="0"/>
          </a:p>
        </p:txBody>
      </p:sp>
      <p:sp>
        <p:nvSpPr>
          <p:cNvPr id="241" name="Text 239"/>
          <p:cNvSpPr/>
          <p:nvPr/>
        </p:nvSpPr>
        <p:spPr>
          <a:xfrm>
            <a:off x="9177803" y="8204546"/>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TCCECH.04.019</a:t>
            </a:r>
            <a:endParaRPr lang="en-US" sz="500" dirty="0">
              <a:solidFill>
                <a:srgbClr val="C9CDD1"/>
              </a:solidFill>
            </a:endParaRPr>
          </a:p>
        </p:txBody>
      </p:sp>
      <p:sp>
        <p:nvSpPr>
          <p:cNvPr id="242" name="Text 240"/>
          <p:cNvSpPr/>
          <p:nvPr/>
        </p:nvSpPr>
        <p:spPr>
          <a:xfrm>
            <a:off x="8527101" y="794587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TCCECH.03.020</a:t>
            </a:r>
            <a:endParaRPr lang="en-US" sz="500" dirty="0">
              <a:solidFill>
                <a:srgbClr val="C9CDD1"/>
              </a:solidFill>
            </a:endParaRPr>
          </a:p>
        </p:txBody>
      </p:sp>
      <p:sp>
        <p:nvSpPr>
          <p:cNvPr id="243" name="Text 241"/>
          <p:cNvSpPr/>
          <p:nvPr/>
        </p:nvSpPr>
        <p:spPr>
          <a:xfrm>
            <a:off x="5301481" y="3059388"/>
            <a:ext cx="1051560" cy="146304"/>
          </a:xfrm>
          <a:prstGeom prst="rect">
            <a:avLst/>
          </a:prstGeom>
          <a:noFill/>
          <a:ln/>
        </p:spPr>
        <p:txBody>
          <a:bodyPr wrap="square" lIns="0" tIns="0" rIns="0" bIns="0" rtlCol="0" anchor="ctr"/>
          <a:lstStyle/>
          <a:p>
            <a:pPr marL="0" indent="0">
              <a:buNone/>
            </a:pPr>
            <a:r>
              <a:rPr lang="en-US" sz="500" dirty="0">
                <a:solidFill>
                  <a:srgbClr val="333333"/>
                </a:solidFill>
                <a:latin typeface="Arial" pitchFamily="34" charset="0"/>
                <a:ea typeface="Arial" pitchFamily="34" charset="-122"/>
                <a:cs typeface="Arial" pitchFamily="34" charset="-120"/>
              </a:rPr>
              <a:t>X_CV_STH_PITS &amp;.27152</a:t>
            </a:r>
            <a:endParaRPr lang="en-US" sz="500" dirty="0">
              <a:solidFill>
                <a:srgbClr val="333333"/>
              </a:solidFill>
            </a:endParaRPr>
          </a:p>
        </p:txBody>
      </p:sp>
      <p:sp>
        <p:nvSpPr>
          <p:cNvPr id="244" name="Text 242"/>
          <p:cNvSpPr/>
          <p:nvPr/>
        </p:nvSpPr>
        <p:spPr>
          <a:xfrm>
            <a:off x="1995938" y="537797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X_CV_STH_PITS &amp;.27153</a:t>
            </a:r>
            <a:endParaRPr lang="en-US" sz="500" dirty="0">
              <a:solidFill>
                <a:srgbClr val="C9CDD1"/>
              </a:solidFill>
            </a:endParaRPr>
          </a:p>
        </p:txBody>
      </p:sp>
      <p:sp>
        <p:nvSpPr>
          <p:cNvPr id="245" name="Text 243"/>
          <p:cNvSpPr/>
          <p:nvPr/>
        </p:nvSpPr>
        <p:spPr>
          <a:xfrm>
            <a:off x="4193425" y="791471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X_CV_STH_PITS &amp;.27154</a:t>
            </a:r>
            <a:endParaRPr lang="en-US" sz="500" dirty="0">
              <a:solidFill>
                <a:srgbClr val="C9CDD1"/>
              </a:solidFill>
            </a:endParaRPr>
          </a:p>
        </p:txBody>
      </p:sp>
      <p:sp>
        <p:nvSpPr>
          <p:cNvPr id="246" name="Text 244"/>
          <p:cNvSpPr/>
          <p:nvPr/>
        </p:nvSpPr>
        <p:spPr>
          <a:xfrm>
            <a:off x="8562851" y="5572727"/>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X_CV_STH_PITS &amp;.27162</a:t>
            </a:r>
            <a:endParaRPr lang="en-US" sz="500" dirty="0">
              <a:solidFill>
                <a:srgbClr val="C9CDD1"/>
              </a:solidFill>
            </a:endParaRPr>
          </a:p>
        </p:txBody>
      </p:sp>
      <p:sp>
        <p:nvSpPr>
          <p:cNvPr id="247" name="Text 245"/>
          <p:cNvSpPr/>
          <p:nvPr/>
        </p:nvSpPr>
        <p:spPr>
          <a:xfrm>
            <a:off x="5581209" y="2244818"/>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HH.E6.038</a:t>
            </a:r>
            <a:endParaRPr lang="en-US" sz="500" dirty="0">
              <a:solidFill>
                <a:srgbClr val="C9CDD1"/>
              </a:solidFill>
            </a:endParaRPr>
          </a:p>
        </p:txBody>
      </p:sp>
      <p:sp>
        <p:nvSpPr>
          <p:cNvPr id="248" name="Text 246"/>
          <p:cNvSpPr/>
          <p:nvPr/>
        </p:nvSpPr>
        <p:spPr>
          <a:xfrm>
            <a:off x="5806376" y="2404194"/>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HH.E6.037</a:t>
            </a:r>
            <a:endParaRPr lang="en-US" sz="500" dirty="0">
              <a:solidFill>
                <a:srgbClr val="C9CDD1"/>
              </a:solidFill>
            </a:endParaRPr>
          </a:p>
        </p:txBody>
      </p:sp>
      <p:sp>
        <p:nvSpPr>
          <p:cNvPr id="249" name="Text 247"/>
          <p:cNvSpPr/>
          <p:nvPr/>
        </p:nvSpPr>
        <p:spPr>
          <a:xfrm>
            <a:off x="6819255" y="3137064"/>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HH.E6.036</a:t>
            </a:r>
            <a:endParaRPr lang="en-US" sz="500" dirty="0">
              <a:solidFill>
                <a:srgbClr val="C9CDD1"/>
              </a:solidFill>
            </a:endParaRPr>
          </a:p>
        </p:txBody>
      </p:sp>
      <p:sp>
        <p:nvSpPr>
          <p:cNvPr id="250" name="Text 248"/>
          <p:cNvSpPr/>
          <p:nvPr/>
        </p:nvSpPr>
        <p:spPr>
          <a:xfrm>
            <a:off x="7785153" y="3848316"/>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HH.E6.035</a:t>
            </a:r>
            <a:endParaRPr lang="en-US" sz="500" dirty="0">
              <a:solidFill>
                <a:srgbClr val="C9CDD1"/>
              </a:solidFill>
            </a:endParaRPr>
          </a:p>
        </p:txBody>
      </p:sp>
      <p:sp>
        <p:nvSpPr>
          <p:cNvPr id="251" name="Text 249"/>
          <p:cNvSpPr/>
          <p:nvPr/>
        </p:nvSpPr>
        <p:spPr>
          <a:xfrm>
            <a:off x="2888185" y="7062800"/>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HH.E6.040</a:t>
            </a:r>
            <a:endParaRPr lang="en-US" sz="500" dirty="0">
              <a:solidFill>
                <a:srgbClr val="C9CDD1"/>
              </a:solidFill>
            </a:endParaRPr>
          </a:p>
        </p:txBody>
      </p:sp>
      <p:sp>
        <p:nvSpPr>
          <p:cNvPr id="252" name="Text 250"/>
          <p:cNvSpPr/>
          <p:nvPr/>
        </p:nvSpPr>
        <p:spPr>
          <a:xfrm>
            <a:off x="3627419" y="825770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HH.E6.041</a:t>
            </a:r>
            <a:endParaRPr lang="en-US" sz="500" dirty="0">
              <a:solidFill>
                <a:srgbClr val="C9CDD1"/>
              </a:solidFill>
            </a:endParaRPr>
          </a:p>
        </p:txBody>
      </p:sp>
      <p:sp>
        <p:nvSpPr>
          <p:cNvPr id="253" name="Text 251"/>
          <p:cNvSpPr/>
          <p:nvPr/>
        </p:nvSpPr>
        <p:spPr>
          <a:xfrm>
            <a:off x="4256409" y="979288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HH.E6.042</a:t>
            </a:r>
            <a:endParaRPr lang="en-US" sz="500" dirty="0">
              <a:solidFill>
                <a:srgbClr val="C9CDD1"/>
              </a:solidFill>
            </a:endParaRPr>
          </a:p>
        </p:txBody>
      </p:sp>
      <p:sp>
        <p:nvSpPr>
          <p:cNvPr id="254" name="Text 252"/>
          <p:cNvSpPr/>
          <p:nvPr/>
        </p:nvSpPr>
        <p:spPr>
          <a:xfrm>
            <a:off x="8254018" y="4188126"/>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HH.E6.034</a:t>
            </a:r>
            <a:endParaRPr lang="en-US" sz="500" dirty="0">
              <a:solidFill>
                <a:srgbClr val="C9CDD1"/>
              </a:solidFill>
            </a:endParaRPr>
          </a:p>
        </p:txBody>
      </p:sp>
      <p:sp>
        <p:nvSpPr>
          <p:cNvPr id="255" name="Text 253"/>
          <p:cNvSpPr/>
          <p:nvPr/>
        </p:nvSpPr>
        <p:spPr>
          <a:xfrm>
            <a:off x="9091423" y="463799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HH.E6.032</a:t>
            </a:r>
            <a:endParaRPr lang="en-US" sz="500" dirty="0">
              <a:solidFill>
                <a:srgbClr val="C9CDD1"/>
              </a:solidFill>
            </a:endParaRPr>
          </a:p>
        </p:txBody>
      </p:sp>
      <p:sp>
        <p:nvSpPr>
          <p:cNvPr id="256" name="Text 254"/>
          <p:cNvSpPr/>
          <p:nvPr/>
        </p:nvSpPr>
        <p:spPr>
          <a:xfrm>
            <a:off x="1760009" y="585105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HH.E6.039</a:t>
            </a:r>
            <a:endParaRPr lang="en-US" sz="500" dirty="0">
              <a:solidFill>
                <a:srgbClr val="C9CDD1"/>
              </a:solidFill>
            </a:endParaRPr>
          </a:p>
        </p:txBody>
      </p:sp>
      <p:sp>
        <p:nvSpPr>
          <p:cNvPr id="257" name="Text 255"/>
          <p:cNvSpPr/>
          <p:nvPr/>
        </p:nvSpPr>
        <p:spPr>
          <a:xfrm>
            <a:off x="3381663" y="150221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P6.009</a:t>
            </a:r>
            <a:endParaRPr lang="en-US" sz="500" dirty="0">
              <a:solidFill>
                <a:srgbClr val="C9CDD1"/>
              </a:solidFill>
            </a:endParaRPr>
          </a:p>
        </p:txBody>
      </p:sp>
      <p:sp>
        <p:nvSpPr>
          <p:cNvPr id="258" name="Text 256"/>
          <p:cNvSpPr/>
          <p:nvPr/>
        </p:nvSpPr>
        <p:spPr>
          <a:xfrm>
            <a:off x="947029" y="453046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P6.038</a:t>
            </a:r>
            <a:endParaRPr lang="en-US" sz="500" dirty="0">
              <a:solidFill>
                <a:srgbClr val="C9CDD1"/>
              </a:solidFill>
            </a:endParaRPr>
          </a:p>
        </p:txBody>
      </p:sp>
      <p:sp>
        <p:nvSpPr>
          <p:cNvPr id="259" name="Text 257"/>
          <p:cNvSpPr/>
          <p:nvPr/>
        </p:nvSpPr>
        <p:spPr>
          <a:xfrm>
            <a:off x="852040" y="5088889"/>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MH.E.024</a:t>
            </a:r>
            <a:endParaRPr lang="en-US" sz="500" dirty="0">
              <a:solidFill>
                <a:srgbClr val="C9CDD1"/>
              </a:solidFill>
            </a:endParaRPr>
          </a:p>
        </p:txBody>
      </p:sp>
      <p:sp>
        <p:nvSpPr>
          <p:cNvPr id="260" name="Text 258"/>
          <p:cNvSpPr/>
          <p:nvPr/>
        </p:nvSpPr>
        <p:spPr>
          <a:xfrm>
            <a:off x="4053140" y="1098767"/>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MH.E.014</a:t>
            </a:r>
            <a:endParaRPr lang="en-US" sz="500" dirty="0">
              <a:solidFill>
                <a:srgbClr val="C9CDD1"/>
              </a:solidFill>
            </a:endParaRPr>
          </a:p>
        </p:txBody>
      </p:sp>
      <p:sp>
        <p:nvSpPr>
          <p:cNvPr id="261" name="Text 259"/>
          <p:cNvSpPr/>
          <p:nvPr/>
        </p:nvSpPr>
        <p:spPr>
          <a:xfrm>
            <a:off x="4278588" y="235749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X_CV_STH_PITS &amp;.23918</a:t>
            </a:r>
            <a:endParaRPr lang="en-US" sz="500" dirty="0">
              <a:solidFill>
                <a:srgbClr val="C9CDD1"/>
              </a:solidFill>
            </a:endParaRPr>
          </a:p>
        </p:txBody>
      </p:sp>
      <p:sp>
        <p:nvSpPr>
          <p:cNvPr id="262" name="Text 260"/>
          <p:cNvSpPr/>
          <p:nvPr/>
        </p:nvSpPr>
        <p:spPr>
          <a:xfrm>
            <a:off x="1646115" y="669650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SGC102.02.017</a:t>
            </a:r>
            <a:endParaRPr lang="en-US" sz="500" dirty="0">
              <a:solidFill>
                <a:srgbClr val="C9CDD1"/>
              </a:solidFill>
            </a:endParaRPr>
          </a:p>
        </p:txBody>
      </p:sp>
      <p:sp>
        <p:nvSpPr>
          <p:cNvPr id="263" name="Text 261"/>
          <p:cNvSpPr/>
          <p:nvPr/>
        </p:nvSpPr>
        <p:spPr>
          <a:xfrm>
            <a:off x="5963038" y="218941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SGC102.02.016</a:t>
            </a:r>
            <a:endParaRPr lang="en-US" sz="500" dirty="0">
              <a:solidFill>
                <a:srgbClr val="C9CDD1"/>
              </a:solidFill>
            </a:endParaRPr>
          </a:p>
        </p:txBody>
      </p:sp>
      <p:sp>
        <p:nvSpPr>
          <p:cNvPr id="264" name="Text 262"/>
          <p:cNvSpPr/>
          <p:nvPr/>
        </p:nvSpPr>
        <p:spPr>
          <a:xfrm>
            <a:off x="9376392" y="6184684"/>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TEC102.02.050</a:t>
            </a:r>
            <a:endParaRPr lang="en-US" sz="500" dirty="0">
              <a:solidFill>
                <a:srgbClr val="C9CDD1"/>
              </a:solidFill>
            </a:endParaRPr>
          </a:p>
        </p:txBody>
      </p:sp>
      <p:sp>
        <p:nvSpPr>
          <p:cNvPr id="265" name="Shape 263"/>
          <p:cNvSpPr/>
          <p:nvPr/>
        </p:nvSpPr>
        <p:spPr>
          <a:xfrm>
            <a:off x="4279360" y="3910525"/>
            <a:ext cx="210312" cy="210312"/>
          </a:xfrm>
          <a:prstGeom prst="ellipse">
            <a:avLst/>
          </a:prstGeom>
          <a:noFill/>
          <a:ln w="28575">
            <a:solidFill>
              <a:srgbClr val="0070C0">
                <a:alpha val="100000"/>
              </a:srgbClr>
            </a:solidFill>
            <a:prstDash val="solid"/>
          </a:ln>
        </p:spPr>
        <p:txBody>
          <a:bodyPr/>
          <a:lstStyle/>
          <a:p>
            <a:endParaRPr lang="en-US"/>
          </a:p>
        </p:txBody>
      </p:sp>
      <p:sp>
        <p:nvSpPr>
          <p:cNvPr id="266" name="Shape 264"/>
          <p:cNvSpPr/>
          <p:nvPr/>
        </p:nvSpPr>
        <p:spPr>
          <a:xfrm>
            <a:off x="4329652" y="3960817"/>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67" name="Text 265"/>
          <p:cNvSpPr/>
          <p:nvPr/>
        </p:nvSpPr>
        <p:spPr>
          <a:xfrm>
            <a:off x="4503388" y="3796225"/>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SBC102-02/024</a:t>
            </a:r>
            <a:endParaRPr lang="en-US" sz="650" dirty="0"/>
          </a:p>
        </p:txBody>
      </p:sp>
      <p:sp>
        <p:nvSpPr>
          <p:cNvPr id="268" name="Shape 266"/>
          <p:cNvSpPr/>
          <p:nvPr/>
        </p:nvSpPr>
        <p:spPr>
          <a:xfrm>
            <a:off x="4103606" y="4129610"/>
            <a:ext cx="210312" cy="210312"/>
          </a:xfrm>
          <a:prstGeom prst="ellipse">
            <a:avLst/>
          </a:prstGeom>
          <a:noFill/>
          <a:ln w="28575">
            <a:solidFill>
              <a:srgbClr val="0070C0">
                <a:alpha val="100000"/>
              </a:srgbClr>
            </a:solidFill>
            <a:prstDash val="solid"/>
          </a:ln>
        </p:spPr>
        <p:txBody>
          <a:bodyPr/>
          <a:lstStyle/>
          <a:p>
            <a:endParaRPr lang="en-US"/>
          </a:p>
        </p:txBody>
      </p:sp>
      <p:sp>
        <p:nvSpPr>
          <p:cNvPr id="269" name="Shape 267"/>
          <p:cNvSpPr/>
          <p:nvPr/>
        </p:nvSpPr>
        <p:spPr>
          <a:xfrm>
            <a:off x="4153898" y="4179902"/>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70" name="Text 268"/>
          <p:cNvSpPr/>
          <p:nvPr/>
        </p:nvSpPr>
        <p:spPr>
          <a:xfrm>
            <a:off x="4327634" y="401531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SBC102-01/027</a:t>
            </a:r>
            <a:endParaRPr lang="en-US" sz="650" dirty="0"/>
          </a:p>
        </p:txBody>
      </p:sp>
      <p:sp>
        <p:nvSpPr>
          <p:cNvPr id="271" name="Shape 269"/>
          <p:cNvSpPr/>
          <p:nvPr/>
        </p:nvSpPr>
        <p:spPr>
          <a:xfrm>
            <a:off x="3927758" y="4348600"/>
            <a:ext cx="210312" cy="210312"/>
          </a:xfrm>
          <a:prstGeom prst="ellipse">
            <a:avLst/>
          </a:prstGeom>
          <a:noFill/>
          <a:ln w="28575">
            <a:solidFill>
              <a:srgbClr val="0070C0">
                <a:alpha val="100000"/>
              </a:srgbClr>
            </a:solidFill>
            <a:prstDash val="solid"/>
          </a:ln>
        </p:spPr>
        <p:txBody>
          <a:bodyPr/>
          <a:lstStyle/>
          <a:p>
            <a:endParaRPr lang="en-US"/>
          </a:p>
        </p:txBody>
      </p:sp>
      <p:sp>
        <p:nvSpPr>
          <p:cNvPr id="272" name="Shape 270"/>
          <p:cNvSpPr/>
          <p:nvPr/>
        </p:nvSpPr>
        <p:spPr>
          <a:xfrm>
            <a:off x="3978050" y="4398892"/>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73" name="Text 271"/>
          <p:cNvSpPr/>
          <p:nvPr/>
        </p:nvSpPr>
        <p:spPr>
          <a:xfrm>
            <a:off x="4151786" y="423430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SBC102-02/025</a:t>
            </a:r>
            <a:endParaRPr lang="en-US" sz="650" dirty="0"/>
          </a:p>
        </p:txBody>
      </p:sp>
      <p:sp>
        <p:nvSpPr>
          <p:cNvPr id="274" name="Shape 272"/>
          <p:cNvSpPr/>
          <p:nvPr/>
        </p:nvSpPr>
        <p:spPr>
          <a:xfrm>
            <a:off x="3751911" y="4567591"/>
            <a:ext cx="210312" cy="210312"/>
          </a:xfrm>
          <a:prstGeom prst="ellipse">
            <a:avLst/>
          </a:prstGeom>
          <a:noFill/>
          <a:ln w="28575">
            <a:solidFill>
              <a:srgbClr val="0070C0">
                <a:alpha val="100000"/>
              </a:srgbClr>
            </a:solidFill>
            <a:prstDash val="solid"/>
          </a:ln>
        </p:spPr>
        <p:txBody>
          <a:bodyPr/>
          <a:lstStyle/>
          <a:p>
            <a:endParaRPr lang="en-US"/>
          </a:p>
        </p:txBody>
      </p:sp>
      <p:sp>
        <p:nvSpPr>
          <p:cNvPr id="275" name="Shape 273"/>
          <p:cNvSpPr/>
          <p:nvPr/>
        </p:nvSpPr>
        <p:spPr>
          <a:xfrm>
            <a:off x="3802203" y="4617883"/>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76" name="Text 274"/>
          <p:cNvSpPr/>
          <p:nvPr/>
        </p:nvSpPr>
        <p:spPr>
          <a:xfrm>
            <a:off x="3975939" y="445329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SBC102-01/028</a:t>
            </a:r>
            <a:endParaRPr lang="en-US" sz="650" dirty="0"/>
          </a:p>
        </p:txBody>
      </p:sp>
      <p:sp>
        <p:nvSpPr>
          <p:cNvPr id="277" name="Shape 275"/>
          <p:cNvSpPr/>
          <p:nvPr/>
        </p:nvSpPr>
        <p:spPr>
          <a:xfrm>
            <a:off x="3576157" y="4786582"/>
            <a:ext cx="210312" cy="210312"/>
          </a:xfrm>
          <a:prstGeom prst="ellipse">
            <a:avLst/>
          </a:prstGeom>
          <a:noFill/>
          <a:ln w="28575">
            <a:solidFill>
              <a:srgbClr val="0070C0">
                <a:alpha val="100000"/>
              </a:srgbClr>
            </a:solidFill>
            <a:prstDash val="solid"/>
          </a:ln>
        </p:spPr>
        <p:txBody>
          <a:bodyPr/>
          <a:lstStyle/>
          <a:p>
            <a:endParaRPr lang="en-US"/>
          </a:p>
        </p:txBody>
      </p:sp>
      <p:sp>
        <p:nvSpPr>
          <p:cNvPr id="278" name="Shape 276"/>
          <p:cNvSpPr/>
          <p:nvPr/>
        </p:nvSpPr>
        <p:spPr>
          <a:xfrm>
            <a:off x="3626449" y="4836874"/>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79" name="Text 277"/>
          <p:cNvSpPr/>
          <p:nvPr/>
        </p:nvSpPr>
        <p:spPr>
          <a:xfrm>
            <a:off x="3800185" y="467228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SBC102-02/026</a:t>
            </a:r>
            <a:endParaRPr lang="en-US" sz="650" dirty="0"/>
          </a:p>
        </p:txBody>
      </p:sp>
      <p:sp>
        <p:nvSpPr>
          <p:cNvPr id="280" name="Shape 278"/>
          <p:cNvSpPr/>
          <p:nvPr/>
        </p:nvSpPr>
        <p:spPr>
          <a:xfrm>
            <a:off x="3400309" y="5005572"/>
            <a:ext cx="210312" cy="210312"/>
          </a:xfrm>
          <a:prstGeom prst="ellipse">
            <a:avLst/>
          </a:prstGeom>
          <a:noFill/>
          <a:ln w="28575">
            <a:solidFill>
              <a:srgbClr val="0070C0">
                <a:alpha val="100000"/>
              </a:srgbClr>
            </a:solidFill>
            <a:prstDash val="solid"/>
          </a:ln>
        </p:spPr>
        <p:txBody>
          <a:bodyPr/>
          <a:lstStyle/>
          <a:p>
            <a:endParaRPr lang="en-US"/>
          </a:p>
        </p:txBody>
      </p:sp>
      <p:sp>
        <p:nvSpPr>
          <p:cNvPr id="281" name="Shape 279"/>
          <p:cNvSpPr/>
          <p:nvPr/>
        </p:nvSpPr>
        <p:spPr>
          <a:xfrm>
            <a:off x="3450601" y="5055864"/>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82" name="Text 280"/>
          <p:cNvSpPr/>
          <p:nvPr/>
        </p:nvSpPr>
        <p:spPr>
          <a:xfrm>
            <a:off x="3624337" y="489127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SBC102-01/029</a:t>
            </a:r>
            <a:endParaRPr lang="en-US" sz="650" dirty="0"/>
          </a:p>
        </p:txBody>
      </p:sp>
      <p:sp>
        <p:nvSpPr>
          <p:cNvPr id="283" name="Shape 281"/>
          <p:cNvSpPr/>
          <p:nvPr/>
        </p:nvSpPr>
        <p:spPr>
          <a:xfrm>
            <a:off x="4499193" y="5122929"/>
            <a:ext cx="210312" cy="210312"/>
          </a:xfrm>
          <a:prstGeom prst="ellipse">
            <a:avLst/>
          </a:prstGeom>
          <a:noFill/>
          <a:ln w="28575">
            <a:solidFill>
              <a:srgbClr val="0070C0">
                <a:alpha val="100000"/>
              </a:srgbClr>
            </a:solidFill>
            <a:prstDash val="solid"/>
          </a:ln>
        </p:spPr>
        <p:txBody>
          <a:bodyPr/>
          <a:lstStyle/>
          <a:p>
            <a:endParaRPr lang="en-US"/>
          </a:p>
        </p:txBody>
      </p:sp>
      <p:sp>
        <p:nvSpPr>
          <p:cNvPr id="284" name="Shape 282"/>
          <p:cNvSpPr/>
          <p:nvPr/>
        </p:nvSpPr>
        <p:spPr>
          <a:xfrm>
            <a:off x="4549485" y="5173221"/>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85" name="Text 283"/>
          <p:cNvSpPr/>
          <p:nvPr/>
        </p:nvSpPr>
        <p:spPr>
          <a:xfrm>
            <a:off x="4723221" y="500862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TCCECH-04/034</a:t>
            </a:r>
            <a:endParaRPr lang="en-US" sz="650" dirty="0"/>
          </a:p>
        </p:txBody>
      </p:sp>
      <p:sp>
        <p:nvSpPr>
          <p:cNvPr id="286" name="Shape 284"/>
          <p:cNvSpPr/>
          <p:nvPr/>
        </p:nvSpPr>
        <p:spPr>
          <a:xfrm>
            <a:off x="4958231" y="5653560"/>
            <a:ext cx="210312" cy="210312"/>
          </a:xfrm>
          <a:prstGeom prst="ellipse">
            <a:avLst/>
          </a:prstGeom>
          <a:noFill/>
          <a:ln w="28575">
            <a:solidFill>
              <a:srgbClr val="0070C0">
                <a:alpha val="100000"/>
              </a:srgbClr>
            </a:solidFill>
            <a:prstDash val="solid"/>
          </a:ln>
        </p:spPr>
        <p:txBody>
          <a:bodyPr/>
          <a:lstStyle/>
          <a:p>
            <a:endParaRPr lang="en-US"/>
          </a:p>
        </p:txBody>
      </p:sp>
      <p:sp>
        <p:nvSpPr>
          <p:cNvPr id="287" name="Shape 285"/>
          <p:cNvSpPr/>
          <p:nvPr/>
        </p:nvSpPr>
        <p:spPr>
          <a:xfrm>
            <a:off x="5008523" y="5703852"/>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88" name="Text 286"/>
          <p:cNvSpPr/>
          <p:nvPr/>
        </p:nvSpPr>
        <p:spPr>
          <a:xfrm>
            <a:off x="5182259" y="553926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TCCECH-03/036</a:t>
            </a:r>
            <a:endParaRPr lang="en-US" sz="650" dirty="0"/>
          </a:p>
        </p:txBody>
      </p:sp>
      <p:sp>
        <p:nvSpPr>
          <p:cNvPr id="289" name="Shape 287"/>
          <p:cNvSpPr/>
          <p:nvPr/>
        </p:nvSpPr>
        <p:spPr>
          <a:xfrm>
            <a:off x="5379461" y="6215449"/>
            <a:ext cx="210312" cy="210312"/>
          </a:xfrm>
          <a:prstGeom prst="ellipse">
            <a:avLst/>
          </a:prstGeom>
          <a:noFill/>
          <a:ln w="28575">
            <a:solidFill>
              <a:srgbClr val="0070C0">
                <a:alpha val="100000"/>
              </a:srgbClr>
            </a:solidFill>
            <a:prstDash val="solid"/>
          </a:ln>
        </p:spPr>
        <p:txBody>
          <a:bodyPr/>
          <a:lstStyle/>
          <a:p>
            <a:endParaRPr lang="en-US"/>
          </a:p>
        </p:txBody>
      </p:sp>
      <p:sp>
        <p:nvSpPr>
          <p:cNvPr id="290" name="Shape 288"/>
          <p:cNvSpPr/>
          <p:nvPr/>
        </p:nvSpPr>
        <p:spPr>
          <a:xfrm>
            <a:off x="5429753" y="6265741"/>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91" name="Text 289"/>
          <p:cNvSpPr/>
          <p:nvPr/>
        </p:nvSpPr>
        <p:spPr>
          <a:xfrm>
            <a:off x="5603489" y="610114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TCCECH-04/035</a:t>
            </a:r>
            <a:endParaRPr lang="en-US" sz="650" dirty="0"/>
          </a:p>
        </p:txBody>
      </p:sp>
      <p:sp>
        <p:nvSpPr>
          <p:cNvPr id="292" name="Shape 290"/>
          <p:cNvSpPr/>
          <p:nvPr/>
        </p:nvSpPr>
        <p:spPr>
          <a:xfrm>
            <a:off x="5759700" y="6804759"/>
            <a:ext cx="210312" cy="210312"/>
          </a:xfrm>
          <a:prstGeom prst="ellipse">
            <a:avLst/>
          </a:prstGeom>
          <a:noFill/>
          <a:ln w="28575">
            <a:solidFill>
              <a:srgbClr val="0070C0">
                <a:alpha val="100000"/>
              </a:srgbClr>
            </a:solidFill>
            <a:prstDash val="solid"/>
          </a:ln>
        </p:spPr>
        <p:txBody>
          <a:bodyPr/>
          <a:lstStyle/>
          <a:p>
            <a:endParaRPr lang="en-US"/>
          </a:p>
        </p:txBody>
      </p:sp>
      <p:sp>
        <p:nvSpPr>
          <p:cNvPr id="293" name="Shape 291"/>
          <p:cNvSpPr/>
          <p:nvPr/>
        </p:nvSpPr>
        <p:spPr>
          <a:xfrm>
            <a:off x="5809992" y="6855051"/>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94" name="Text 292"/>
          <p:cNvSpPr/>
          <p:nvPr/>
        </p:nvSpPr>
        <p:spPr>
          <a:xfrm>
            <a:off x="5983728" y="669045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TCCECH-03/037</a:t>
            </a:r>
            <a:endParaRPr lang="en-US" sz="650" dirty="0"/>
          </a:p>
        </p:txBody>
      </p:sp>
      <p:sp>
        <p:nvSpPr>
          <p:cNvPr id="295" name="Shape 293"/>
          <p:cNvSpPr/>
          <p:nvPr/>
        </p:nvSpPr>
        <p:spPr>
          <a:xfrm>
            <a:off x="6098574" y="7419991"/>
            <a:ext cx="210312" cy="210312"/>
          </a:xfrm>
          <a:prstGeom prst="ellipse">
            <a:avLst/>
          </a:prstGeom>
          <a:noFill/>
          <a:ln w="28575">
            <a:solidFill>
              <a:srgbClr val="0070C0">
                <a:alpha val="100000"/>
              </a:srgbClr>
            </a:solidFill>
            <a:prstDash val="solid"/>
          </a:ln>
        </p:spPr>
        <p:txBody>
          <a:bodyPr/>
          <a:lstStyle/>
          <a:p>
            <a:endParaRPr lang="en-US"/>
          </a:p>
        </p:txBody>
      </p:sp>
      <p:sp>
        <p:nvSpPr>
          <p:cNvPr id="296" name="Shape 294"/>
          <p:cNvSpPr/>
          <p:nvPr/>
        </p:nvSpPr>
        <p:spPr>
          <a:xfrm>
            <a:off x="6148866" y="7470283"/>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97" name="Text 295"/>
          <p:cNvSpPr/>
          <p:nvPr/>
        </p:nvSpPr>
        <p:spPr>
          <a:xfrm>
            <a:off x="6322602" y="730569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TCCECH-04/036</a:t>
            </a:r>
            <a:endParaRPr lang="en-US" sz="650" dirty="0"/>
          </a:p>
        </p:txBody>
      </p:sp>
      <p:sp>
        <p:nvSpPr>
          <p:cNvPr id="299" name="Shape 297"/>
          <p:cNvSpPr/>
          <p:nvPr/>
        </p:nvSpPr>
        <p:spPr>
          <a:xfrm>
            <a:off x="3280088" y="5273451"/>
            <a:ext cx="109728" cy="109728"/>
          </a:xfrm>
          <a:prstGeom prst="ellipse">
            <a:avLst/>
          </a:prstGeom>
          <a:solidFill>
            <a:srgbClr val="70AD47"/>
          </a:solidFill>
          <a:ln w="6350">
            <a:solidFill>
              <a:srgbClr val="9AA0A6"/>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300" name="Text 298"/>
          <p:cNvSpPr/>
          <p:nvPr/>
        </p:nvSpPr>
        <p:spPr>
          <a:xfrm>
            <a:off x="3453824" y="5108859"/>
            <a:ext cx="1143000" cy="164592"/>
          </a:xfrm>
          <a:prstGeom prst="rect">
            <a:avLst/>
          </a:prstGeom>
          <a:noFill/>
          <a:ln/>
        </p:spPr>
        <p:txBody>
          <a:bodyPr wrap="square" lIns="0" tIns="0" rIns="0" bIns="0" rtlCol="0" anchor="ctr"/>
          <a:lstStyle/>
          <a:p>
            <a:pPr marL="0" indent="0">
              <a:buNone/>
            </a:pPr>
            <a:r>
              <a:rPr lang="en-US" sz="650" b="1" dirty="0">
                <a:solidFill>
                  <a:srgbClr val="333333"/>
                </a:solidFill>
                <a:latin typeface="Arial" pitchFamily="34" charset="0"/>
                <a:ea typeface="Arial" pitchFamily="34" charset="-122"/>
                <a:cs typeface="Arial" pitchFamily="34" charset="-120"/>
              </a:rPr>
              <a:t>SBC102-02/027</a:t>
            </a:r>
            <a:endParaRPr lang="en-US" sz="650" dirty="0">
              <a:solidFill>
                <a:srgbClr val="333333"/>
              </a:solidFill>
            </a:endParaRPr>
          </a:p>
        </p:txBody>
      </p:sp>
      <p:sp>
        <p:nvSpPr>
          <p:cNvPr id="302" name="Shape 300"/>
          <p:cNvSpPr/>
          <p:nvPr/>
        </p:nvSpPr>
        <p:spPr>
          <a:xfrm>
            <a:off x="4051609" y="4677497"/>
            <a:ext cx="109728" cy="109728"/>
          </a:xfrm>
          <a:prstGeom prst="ellipse">
            <a:avLst/>
          </a:prstGeom>
          <a:solidFill>
            <a:srgbClr val="70AD47"/>
          </a:solidFill>
          <a:ln w="6350">
            <a:solidFill>
              <a:srgbClr val="9AA0A6">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303" name="Text 301"/>
          <p:cNvSpPr/>
          <p:nvPr/>
        </p:nvSpPr>
        <p:spPr>
          <a:xfrm>
            <a:off x="4225345" y="4512905"/>
            <a:ext cx="1143000" cy="164592"/>
          </a:xfrm>
          <a:prstGeom prst="rect">
            <a:avLst/>
          </a:prstGeom>
          <a:noFill/>
          <a:ln/>
        </p:spPr>
        <p:txBody>
          <a:bodyPr wrap="square" lIns="0" tIns="0" rIns="0" bIns="0" rtlCol="0" anchor="ctr"/>
          <a:lstStyle/>
          <a:p>
            <a:pPr marL="0" indent="0">
              <a:buNone/>
            </a:pPr>
            <a:r>
              <a:rPr lang="en-US" sz="650" b="1" dirty="0">
                <a:solidFill>
                  <a:srgbClr val="C9CDD1"/>
                </a:solidFill>
                <a:latin typeface="Arial" pitchFamily="34" charset="0"/>
                <a:ea typeface="Arial" pitchFamily="34" charset="-122"/>
                <a:cs typeface="Arial" pitchFamily="34" charset="-120"/>
              </a:rPr>
              <a:t>TCCECH-03/035</a:t>
            </a:r>
            <a:endParaRPr lang="en-US" sz="650" dirty="0">
              <a:solidFill>
                <a:srgbClr val="C9CDD1"/>
              </a:solidFill>
            </a:endParaRPr>
          </a:p>
        </p:txBody>
      </p:sp>
      <p:sp>
        <p:nvSpPr>
          <p:cNvPr id="305" name="Shape 303"/>
          <p:cNvSpPr/>
          <p:nvPr/>
        </p:nvSpPr>
        <p:spPr>
          <a:xfrm>
            <a:off x="4096811" y="4671414"/>
            <a:ext cx="109728" cy="109728"/>
          </a:xfrm>
          <a:prstGeom prst="ellipse">
            <a:avLst/>
          </a:prstGeom>
          <a:solidFill>
            <a:srgbClr val="70AD47"/>
          </a:solidFill>
          <a:ln w="6350">
            <a:solidFill>
              <a:srgbClr val="9AA0A6">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306" name="Text 304"/>
          <p:cNvSpPr/>
          <p:nvPr/>
        </p:nvSpPr>
        <p:spPr>
          <a:xfrm>
            <a:off x="4270547" y="4506822"/>
            <a:ext cx="911712" cy="164592"/>
          </a:xfrm>
          <a:prstGeom prst="rect">
            <a:avLst/>
          </a:prstGeom>
          <a:noFill/>
          <a:ln/>
        </p:spPr>
        <p:txBody>
          <a:bodyPr wrap="square" lIns="0" tIns="0" rIns="0" bIns="0" rtlCol="0" anchor="ctr"/>
          <a:lstStyle/>
          <a:p>
            <a:pPr marL="0" indent="0">
              <a:buNone/>
            </a:pPr>
            <a:r>
              <a:rPr lang="en-US" sz="650" b="1" dirty="0">
                <a:solidFill>
                  <a:srgbClr val="C9CDD1"/>
                </a:solidFill>
                <a:latin typeface="Arial" pitchFamily="34" charset="0"/>
                <a:ea typeface="Arial" pitchFamily="34" charset="-122"/>
                <a:cs typeface="Arial" pitchFamily="34" charset="-120"/>
              </a:rPr>
              <a:t>TCCECH-03/018</a:t>
            </a:r>
            <a:endParaRPr lang="en-US" sz="650" dirty="0">
              <a:solidFill>
                <a:srgbClr val="C9CDD1"/>
              </a:solidFill>
            </a:endParaRPr>
          </a:p>
        </p:txBody>
      </p:sp>
      <p:sp>
        <p:nvSpPr>
          <p:cNvPr id="308" name="Text 306"/>
          <p:cNvSpPr/>
          <p:nvPr/>
        </p:nvSpPr>
        <p:spPr>
          <a:xfrm>
            <a:off x="4679236" y="3577235"/>
            <a:ext cx="1143000" cy="164592"/>
          </a:xfrm>
          <a:prstGeom prst="rect">
            <a:avLst/>
          </a:prstGeom>
          <a:noFill/>
          <a:ln/>
        </p:spPr>
        <p:txBody>
          <a:bodyPr wrap="square" lIns="0" tIns="0" rIns="0" bIns="0" rtlCol="0" anchor="ctr"/>
          <a:lstStyle/>
          <a:p>
            <a:pPr marL="0" indent="0">
              <a:buNone/>
            </a:pPr>
            <a:r>
              <a:rPr lang="en-US" sz="650" b="1" dirty="0">
                <a:solidFill>
                  <a:srgbClr val="333333"/>
                </a:solidFill>
                <a:latin typeface="Arial" pitchFamily="34" charset="0"/>
                <a:ea typeface="Arial" pitchFamily="34" charset="-122"/>
                <a:cs typeface="Arial" pitchFamily="34" charset="-120"/>
              </a:rPr>
              <a:t>SBC102-01/026</a:t>
            </a:r>
            <a:endParaRPr lang="en-US" sz="650" dirty="0">
              <a:solidFill>
                <a:srgbClr val="333333"/>
              </a:solidFill>
            </a:endParaRPr>
          </a:p>
        </p:txBody>
      </p:sp>
      <p:sp>
        <p:nvSpPr>
          <p:cNvPr id="309" name="Shape 307"/>
          <p:cNvSpPr/>
          <p:nvPr/>
        </p:nvSpPr>
        <p:spPr>
          <a:xfrm>
            <a:off x="10104120" y="777240"/>
            <a:ext cx="4709160" cy="1170432"/>
          </a:xfrm>
          <a:prstGeom prst="rect">
            <a:avLst/>
          </a:prstGeom>
          <a:solidFill>
            <a:srgbClr val="1E2761"/>
          </a:solidFill>
          <a:ln w="9525">
            <a:solidFill>
              <a:srgbClr val="D5DAE0"/>
            </a:solidFill>
            <a:prstDash val="solid"/>
          </a:ln>
        </p:spPr>
        <p:txBody>
          <a:bodyPr/>
          <a:lstStyle/>
          <a:p>
            <a:endParaRPr lang="en-US"/>
          </a:p>
        </p:txBody>
      </p:sp>
      <p:sp>
        <p:nvSpPr>
          <p:cNvPr id="310" name="Text 308"/>
          <p:cNvSpPr/>
          <p:nvPr/>
        </p:nvSpPr>
        <p:spPr>
          <a:xfrm>
            <a:off x="10241280" y="868680"/>
            <a:ext cx="4434840" cy="2743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LOCATION 1 — 1001  ·  REV P08 (FINAL SCOPE)</a:t>
            </a:r>
            <a:endParaRPr lang="en-US" sz="1250" dirty="0"/>
          </a:p>
        </p:txBody>
      </p:sp>
      <p:sp>
        <p:nvSpPr>
          <p:cNvPr id="311" name="Text 309"/>
          <p:cNvSpPr/>
          <p:nvPr/>
        </p:nvSpPr>
        <p:spPr>
          <a:xfrm>
            <a:off x="10241280" y="1179576"/>
            <a:ext cx="4434840" cy="384048"/>
          </a:xfrm>
          <a:prstGeom prst="rect">
            <a:avLst/>
          </a:prstGeom>
          <a:noFill/>
          <a:ln/>
        </p:spPr>
        <p:txBody>
          <a:bodyPr wrap="square" lIns="0" tIns="0" rIns="0" bIns="0" rtlCol="0" anchor="ctr"/>
          <a:lstStyle/>
          <a:p>
            <a:pPr marL="0" indent="0">
              <a:buNone/>
            </a:pPr>
            <a:r>
              <a:rPr sz="800">
                <a:solidFill>
                  <a:srgbClr val="CADCFC"/>
                </a:solidFill>
                <a:latin typeface="Arial"/>
              </a:rPr>
              <a:t>FINAL SCOPE OF WORK 30.07.2026 (supersedes the Rev P06/P07 quantities) — FIELD CONDITION GOVERNS</a:t>
            </a:r>
            <a:endParaRPr lang="en-US" sz="800" dirty="0"/>
          </a:p>
        </p:txBody>
      </p:sp>
      <p:sp>
        <p:nvSpPr>
          <p:cNvPr id="312" name="Text 310"/>
          <p:cNvSpPr/>
          <p:nvPr/>
        </p:nvSpPr>
        <p:spPr>
          <a:xfrm>
            <a:off x="10241280" y="1600200"/>
            <a:ext cx="4434840" cy="310896"/>
          </a:xfrm>
          <a:prstGeom prst="rect">
            <a:avLst/>
          </a:prstGeom>
          <a:noFill/>
          <a:ln/>
        </p:spPr>
        <p:txBody>
          <a:bodyPr wrap="square" lIns="0" tIns="0" rIns="0" bIns="0" rtlCol="0" anchor="ctr"/>
          <a:lstStyle/>
          <a:p>
            <a:pPr marL="0" indent="0">
              <a:buNone/>
            </a:pPr>
            <a:endParaRPr lang="en-US" sz="700" dirty="0"/>
          </a:p>
        </p:txBody>
      </p:sp>
      <p:sp>
        <p:nvSpPr>
          <p:cNvPr id="313" name="Shape 311"/>
          <p:cNvSpPr/>
          <p:nvPr/>
        </p:nvSpPr>
        <p:spPr>
          <a:xfrm>
            <a:off x="10104120" y="2084832"/>
            <a:ext cx="4709160" cy="2815431"/>
          </a:xfrm>
          <a:prstGeom prst="rect">
            <a:avLst/>
          </a:prstGeom>
          <a:solidFill>
            <a:srgbClr val="F4F6F8"/>
          </a:solidFill>
          <a:ln w="9525">
            <a:solidFill>
              <a:srgbClr val="D5DAE0"/>
            </a:solidFill>
            <a:prstDash val="solid"/>
          </a:ln>
        </p:spPr>
        <p:txBody>
          <a:bodyPr/>
          <a:lstStyle/>
          <a:p>
            <a:endParaRPr lang="en-US"/>
          </a:p>
        </p:txBody>
      </p:sp>
      <p:sp>
        <p:nvSpPr>
          <p:cNvPr id="314" name="Text 312"/>
          <p:cNvSpPr/>
          <p:nvPr/>
        </p:nvSpPr>
        <p:spPr>
          <a:xfrm>
            <a:off x="10241280" y="2221992"/>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SCOPE / QUANTITIES (PER FIELD VERIFICATION)</a:t>
            </a:r>
            <a:endParaRPr lang="en-US" sz="950" dirty="0"/>
          </a:p>
        </p:txBody>
      </p:sp>
      <p:sp>
        <p:nvSpPr>
          <p:cNvPr id="315" name="Text 313"/>
          <p:cNvSpPr/>
          <p:nvPr/>
        </p:nvSpPr>
        <p:spPr>
          <a:xfrm>
            <a:off x="10241280" y="2569464"/>
            <a:ext cx="4434840" cy="2193639"/>
          </a:xfrm>
          <a:prstGeom prst="rect">
            <a:avLst/>
          </a:prstGeom>
          <a:noFill/>
          <a:ln/>
        </p:spPr>
        <p:txBody>
          <a:bodyPr wrap="square" lIns="0" tIns="0" rIns="0" bIns="0" rtlCol="0" anchor="t"/>
          <a:lstStyle/>
          <a:p>
            <a:pPr marL="0" indent="0">
              <a:lnSpc>
                <a:spcPct val="112000"/>
              </a:lnSpc>
              <a:spcBef>
                <a:spcPts val="0"/>
              </a:spcBef>
              <a:spcAft>
                <a:spcPts val="0"/>
              </a:spcAft>
              <a:buNone/>
            </a:pPr>
            <a:r>
              <a:rPr sz="720">
                <a:solidFill>
                  <a:srgbClr val="1F2937"/>
                </a:solidFill>
                <a:latin typeface="Arial"/>
              </a:rPr>
              <a:t>FINAL SCOPE (REV P08) — 14 No. FITTINGS AFFECTED, ALL ROUTES SAW CUT</a:t>
            </a:r>
            <a:endParaRPr lang="en-US" sz="760" dirty="0"/>
          </a:p>
          <a:p>
            <a:pPr>
              <a:spcBef>
                <a:spcPts val="0"/>
              </a:spcBef>
              <a:spcAft>
                <a:spcPts val="0"/>
              </a:spcAft>
            </a:pPr>
            <a:r>
              <a:rPr sz="720">
                <a:solidFill>
                  <a:srgbClr val="1F2937"/>
                </a:solidFill>
                <a:latin typeface="Arial"/>
              </a:rPr>
              <a:t>CORE OUT 3 No. 12" + 6 No. 8" (9 No. cored); 2 No. 12" bases removed earlier — INSTALL 11 No. 8" SIDE-ENTRY SHALLOW BASE + NEW CABLE.</a:t>
            </a:r>
          </a:p>
          <a:p>
            <a:pPr>
              <a:spcBef>
                <a:spcPts val="0"/>
              </a:spcBef>
              <a:spcAft>
                <a:spcPts val="0"/>
              </a:spcAft>
            </a:pPr>
            <a:r>
              <a:rPr sz="720">
                <a:solidFill>
                  <a:srgbClr val="1F2937"/>
                </a:solidFill>
                <a:latin typeface="Arial"/>
              </a:rPr>
              <a:t>   • SBC (6 No.): SBC102-02/024, 01/027, 02/025, 01/028, 02/026, 01/029</a:t>
            </a:r>
          </a:p>
          <a:p>
            <a:pPr>
              <a:spcBef>
                <a:spcPts val="0"/>
              </a:spcBef>
              <a:spcAft>
                <a:spcPts val="0"/>
              </a:spcAft>
            </a:pPr>
            <a:r>
              <a:rPr sz="720">
                <a:solidFill>
                  <a:srgbClr val="1F2937"/>
                </a:solidFill>
                <a:latin typeface="Arial"/>
              </a:rPr>
              <a:t>   • TCC (5 No.): TCCECH-04/034, 03/036, 04/035, 03/037, 04/036</a:t>
            </a:r>
          </a:p>
          <a:p>
            <a:pPr>
              <a:spcBef>
                <a:spcPts val="0"/>
              </a:spcBef>
              <a:spcAft>
                <a:spcPts val="0"/>
              </a:spcAft>
            </a:pPr>
            <a:r>
              <a:rPr sz="720">
                <a:solidFill>
                  <a:srgbClr val="1F2937"/>
                </a:solidFill>
                <a:latin typeface="Arial"/>
              </a:rPr>
              <a:t>ROUTE: SAW CUT throughout — the Rev P06/P07 via-duct routes become saw cut secondary cable laying at Rev P08. Saw cut detail per the SAW CUT &amp; SIDE-ENTRY SHALLOW BASE DETAIL sheet; detail drawing to be issued.</a:t>
            </a:r>
          </a:p>
          <a:p>
            <a:pPr>
              <a:spcBef>
                <a:spcPts val="0"/>
              </a:spcBef>
              <a:spcAft>
                <a:spcPts val="0"/>
              </a:spcAft>
            </a:pPr>
            <a:r>
              <a:rPr sz="720">
                <a:solidFill>
                  <a:srgbClr val="1F2937"/>
                </a:solidFill>
                <a:latin typeface="Arial"/>
              </a:rPr>
              <a:t>SECONDARY CABLE ONLY — 3 No.: SBC102-02/027, TCCECH-03/035, TCCECH-03/018. New saw cut, NO CORING; existing base kept and protected by a dummy plate during milling.</a:t>
            </a:r>
          </a:p>
          <a:p>
            <a:pPr>
              <a:spcBef>
                <a:spcPts val="0"/>
              </a:spcBef>
              <a:spcAft>
                <a:spcPts val="0"/>
              </a:spcAft>
            </a:pPr>
            <a:r>
              <a:rPr sz="720">
                <a:solidFill>
                  <a:srgbClr val="1F2937"/>
                </a:solidFill>
                <a:latin typeface="Arial"/>
              </a:rPr>
              <a:t>FIELD VERIFIED NOT AFFECTED: SBC102-01/026 (no works)</a:t>
            </a:r>
          </a:p>
          <a:p>
            <a:pPr>
              <a:spcBef>
                <a:spcPts val="0"/>
              </a:spcBef>
              <a:spcAft>
                <a:spcPts val="0"/>
              </a:spcAft>
            </a:pPr>
            <a:r>
              <a:rPr sz="720">
                <a:solidFill>
                  <a:srgbClr val="1F2937"/>
                </a:solidFill>
                <a:latin typeface="Arial"/>
              </a:rPr>
              <a:t>TCC103 FITTINGS NOT IN THE FIELD SCOPE — SHOWN AS EXISTING ONLY</a:t>
            </a:r>
          </a:p>
          <a:p>
            <a:pPr>
              <a:spcBef>
                <a:spcPts val="0"/>
              </a:spcBef>
              <a:spcAft>
                <a:spcPts val="0"/>
              </a:spcAft>
            </a:pPr>
            <a:r>
              <a:rPr sz="720">
                <a:solidFill>
                  <a:srgbClr val="1F2937"/>
                </a:solidFill>
                <a:latin typeface="Arial"/>
              </a:rPr>
              <a:t>ISOLATE CIRCUITS: SBC102.01/.02, TCCECH.03/.04</a:t>
            </a:r>
          </a:p>
          <a:p>
            <a:pPr>
              <a:spcBef>
                <a:spcPts val="0"/>
              </a:spcBef>
              <a:spcAft>
                <a:spcPts val="0"/>
              </a:spcAft>
            </a:pPr>
            <a:r>
              <a:rPr sz="720">
                <a:solidFill>
                  <a:srgbClr val="1F2937"/>
                </a:solidFill>
                <a:latin typeface="Arial"/>
              </a:rPr>
              <a:t>SITE RECORD — 23.07.2026: 9 No. bases cored out, 2 No. removed. 30.07.2026: preparing installation, all 11 No. new bases 8".</a:t>
            </a:r>
          </a:p>
          <a:p>
            <a:pPr>
              <a:spcBef>
                <a:spcPts val="0"/>
              </a:spcBef>
              <a:spcAft>
                <a:spcPts val="0"/>
              </a:spcAft>
            </a:pPr>
            <a:r>
              <a:rPr sz="720">
                <a:solidFill>
                  <a:srgbClr val="1F2937"/>
                </a:solidFill>
                <a:latin typeface="Arial"/>
              </a:rPr>
              <a:t>Rev P08 supersedes the Rev P06/P07 quantities. Superseded = no works under this revision; it is not a field verification that the asset is unaffected.</a:t>
            </a:r>
          </a:p>
          <a:p>
            <a:pPr>
              <a:spcBef>
                <a:spcPts val="0"/>
              </a:spcBef>
              <a:spcAft>
                <a:spcPts val="0"/>
              </a:spcAft>
            </a:pPr>
            <a:r>
              <a:rPr sz="720">
                <a:solidFill>
                  <a:srgbClr val="1F2937"/>
                </a:solidFill>
                <a:latin typeface="Arial"/>
              </a:rPr>
              <a:t>RED AGL WORKS AREA = the Rev P05 field-condition milling extent, unchanged at Rev P08 — the civil milling limit.</a:t>
            </a:r>
          </a:p>
        </p:txBody>
      </p:sp>
      <p:sp>
        <p:nvSpPr>
          <p:cNvPr id="316" name="Shape 314"/>
          <p:cNvSpPr/>
          <p:nvPr/>
        </p:nvSpPr>
        <p:spPr>
          <a:xfrm>
            <a:off x="10104120" y="5037423"/>
            <a:ext cx="4709160" cy="2541898"/>
          </a:xfrm>
          <a:prstGeom prst="rect">
            <a:avLst/>
          </a:prstGeom>
          <a:solidFill>
            <a:srgbClr val="FFFFFF"/>
          </a:solidFill>
          <a:ln w="9525">
            <a:solidFill>
              <a:srgbClr val="D5DAE0"/>
            </a:solidFill>
            <a:prstDash val="solid"/>
          </a:ln>
        </p:spPr>
        <p:txBody>
          <a:bodyPr/>
          <a:lstStyle/>
          <a:p>
            <a:endParaRPr lang="en-US"/>
          </a:p>
        </p:txBody>
      </p:sp>
      <p:sp>
        <p:nvSpPr>
          <p:cNvPr id="317" name="Text 315"/>
          <p:cNvSpPr/>
          <p:nvPr/>
        </p:nvSpPr>
        <p:spPr>
          <a:xfrm>
            <a:off x="10241280" y="5174583"/>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GENERAL NOTES</a:t>
            </a:r>
            <a:endParaRPr lang="en-US" sz="950" dirty="0"/>
          </a:p>
        </p:txBody>
      </p:sp>
      <p:sp>
        <p:nvSpPr>
          <p:cNvPr id="318" name="Text 316"/>
          <p:cNvSpPr/>
          <p:nvPr/>
        </p:nvSpPr>
        <p:spPr>
          <a:xfrm>
            <a:off x="10241280" y="5522055"/>
            <a:ext cx="4434840" cy="1920106"/>
          </a:xfrm>
          <a:prstGeom prst="rect">
            <a:avLst/>
          </a:prstGeom>
          <a:noFill/>
          <a:ln/>
        </p:spPr>
        <p:txBody>
          <a:bodyPr wrap="square" lIns="0" tIns="0" rIns="0" bIns="0" rtlCol="0" anchor="t"/>
          <a:lstStyle/>
          <a:p>
            <a:pPr marL="0" indent="0">
              <a:lnSpc>
                <a:spcPct val="110000"/>
              </a:lnSpc>
              <a:buNone/>
            </a:pPr>
            <a:r>
              <a:rPr sz="700">
                <a:solidFill>
                  <a:srgbClr val="5F6368"/>
                </a:solidFill>
                <a:latin typeface="Arial"/>
              </a:rPr>
              <a:t>1.  Positions plotted are ZIA LOCAL PROJECT GRID metres. The EPSG:32640 reference carried on Rev P06 is withdrawn — no surveyed local-to-UTM transform is held, so no UTM coordinate is to be taken from this sheet.</a:t>
            </a:r>
            <a:endParaRPr lang="en-US" sz="680" dirty="0"/>
          </a:p>
          <a:p>
            <a:r>
              <a:rPr sz="700">
                <a:solidFill>
                  <a:srgbClr val="5F6368"/>
                </a:solidFill>
                <a:latin typeface="Arial"/>
              </a:rPr>
              <a:t>2.  AGL works area (red) is the Rev P05 field-condition milling extent, unchanged at Rev P08 — it is the civil milling limit and is not derived from the affected-asset positions.</a:t>
            </a:r>
          </a:p>
          <a:p>
            <a:r>
              <a:rPr sz="700">
                <a:solidFill>
                  <a:srgbClr val="5F6368"/>
                </a:solidFill>
                <a:latin typeface="Arial"/>
              </a:rPr>
              <a:t>3.  Duct / ductbank / conduit / saw cut lines are as-built geometry lifted from ADA drawing Z1-Z2-Z3-MTA_SEGMENTATION.dxf. The source layer name carries the duct size and way-count.</a:t>
            </a:r>
          </a:p>
          <a:p>
            <a:r>
              <a:rPr sz="700">
                <a:solidFill>
                  <a:srgbClr val="5F6368"/>
                </a:solidFill>
                <a:latin typeface="Arial"/>
              </a:rPr>
              <a:t>4.  Ducts are drawn as the separate segments they are in the source. Continuity is not proven — a continuous pull length is not to be taken from this sheet.</a:t>
            </a:r>
          </a:p>
          <a:p>
            <a:r>
              <a:rPr sz="700">
                <a:solidFill>
                  <a:srgbClr val="5F6368"/>
                </a:solidFill>
                <a:latin typeface="Arial"/>
              </a:rPr>
              <a:t>5.  Isolate, lock out and prove dead all listed circuits at the CCR under permit before cutting, coring or excavation.</a:t>
            </a:r>
          </a:p>
          <a:p>
            <a:r>
              <a:rPr sz="700">
                <a:solidFill>
                  <a:srgbClr val="5F6368"/>
                </a:solidFill>
                <a:latin typeface="Arial"/>
              </a:rPr>
              <a:t>6.  HH / MH / transformer-pit / RRM symbols sit approximately 2.1–2.3 m off the source insertion point; set out civil features from survey.</a:t>
            </a:r>
          </a:p>
          <a:p>
            <a:r>
              <a:rPr sz="700">
                <a:solidFill>
                  <a:srgbClr val="5F6368"/>
                </a:solidFill>
                <a:latin typeface="Arial"/>
              </a:rPr>
              <a:t>7.  Centreline and stop bar are taken from the as-built TCC / SBC fittings. Taxiway edge is indicative at 23 m — to be confirmed on site.</a:t>
            </a:r>
          </a:p>
          <a:p>
            <a:r>
              <a:rPr sz="700">
                <a:solidFill>
                  <a:srgbClr val="5F6368"/>
                </a:solidFill>
                <a:latin typeface="Arial"/>
              </a:rPr>
              <a:t>8.  Every asset in frame carries its own as-built symbol, legended right. Type is taken from the source layer, not from the label.</a:t>
            </a:r>
          </a:p>
        </p:txBody>
      </p:sp>
      <p:sp>
        <p:nvSpPr>
          <p:cNvPr id="319" name="Shape 317"/>
          <p:cNvSpPr/>
          <p:nvPr/>
        </p:nvSpPr>
        <p:spPr>
          <a:xfrm>
            <a:off x="10104120" y="7716481"/>
            <a:ext cx="4709160" cy="2361312"/>
          </a:xfrm>
          <a:prstGeom prst="rect">
            <a:avLst/>
          </a:prstGeom>
          <a:solidFill>
            <a:srgbClr val="F4F6F8"/>
          </a:solidFill>
          <a:ln w="9525">
            <a:solidFill>
              <a:srgbClr val="D5DAE0"/>
            </a:solidFill>
            <a:prstDash val="solid"/>
          </a:ln>
        </p:spPr>
        <p:txBody>
          <a:bodyPr/>
          <a:lstStyle/>
          <a:p>
            <a:endParaRPr lang="en-US"/>
          </a:p>
        </p:txBody>
      </p:sp>
      <p:sp>
        <p:nvSpPr>
          <p:cNvPr id="320" name="Text 318"/>
          <p:cNvSpPr/>
          <p:nvPr/>
        </p:nvSpPr>
        <p:spPr>
          <a:xfrm>
            <a:off x="10241280" y="7853641"/>
            <a:ext cx="218742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LEGEND — THIS SHEET</a:t>
            </a:r>
            <a:endParaRPr lang="en-US" sz="950" dirty="0"/>
          </a:p>
        </p:txBody>
      </p:sp>
      <p:sp>
        <p:nvSpPr>
          <p:cNvPr id="321" name="Shape 319"/>
          <p:cNvSpPr/>
          <p:nvPr/>
        </p:nvSpPr>
        <p:spPr>
          <a:xfrm>
            <a:off x="10241280" y="8417067"/>
            <a:ext cx="192024" cy="192024"/>
          </a:xfrm>
          <a:prstGeom prst="ellipse">
            <a:avLst/>
          </a:prstGeom>
          <a:noFill/>
          <a:ln w="28575">
            <a:solidFill>
              <a:srgbClr val="CC0000"/>
            </a:solidFill>
            <a:prstDash val="solid"/>
          </a:ln>
        </p:spPr>
        <p:txBody>
          <a:bodyPr/>
          <a:lstStyle/>
          <a:p>
            <a:endParaRPr lang="en-US"/>
          </a:p>
        </p:txBody>
      </p:sp>
      <p:sp>
        <p:nvSpPr>
          <p:cNvPr id="322" name="Shape 320"/>
          <p:cNvSpPr/>
          <p:nvPr/>
        </p:nvSpPr>
        <p:spPr>
          <a:xfrm>
            <a:off x="10287000" y="8462787"/>
            <a:ext cx="100584" cy="100584"/>
          </a:xfrm>
          <a:prstGeom prst="ellipse">
            <a:avLst/>
          </a:prstGeom>
          <a:solidFill>
            <a:srgbClr val="E8710A"/>
          </a:solidFill>
          <a:ln w="6350">
            <a:solidFill>
              <a:srgbClr val="E8710A"/>
            </a:solidFill>
            <a:prstDash val="solid"/>
          </a:ln>
        </p:spPr>
        <p:txBody>
          <a:bodyPr/>
          <a:lstStyle/>
          <a:p>
            <a:endParaRPr lang="en-US"/>
          </a:p>
        </p:txBody>
      </p:sp>
      <p:sp>
        <p:nvSpPr>
          <p:cNvPr id="323" name="Text 321"/>
          <p:cNvSpPr/>
          <p:nvPr/>
        </p:nvSpPr>
        <p:spPr>
          <a:xfrm>
            <a:off x="10552176" y="8403097"/>
            <a:ext cx="1876524" cy="302184"/>
          </a:xfrm>
          <a:prstGeom prst="rect">
            <a:avLst/>
          </a:prstGeom>
          <a:noFill/>
          <a:ln/>
        </p:spPr>
        <p:txBody>
          <a:bodyPr wrap="square" lIns="0" tIns="0" rIns="0" bIns="0" rtlCol="0" anchor="ctr"/>
          <a:lstStyle/>
          <a:p>
            <a:pPr marL="0" indent="0">
              <a:buNone/>
            </a:pPr>
            <a:r>
              <a:rPr sz="700" dirty="0">
                <a:solidFill>
                  <a:srgbClr val="1F2937"/>
                </a:solidFill>
                <a:latin typeface="Arial"/>
              </a:rPr>
              <a:t>CORE OUT 12" — NEW 8" SIDE-ENTRY BASE (SAW CUT)</a:t>
            </a:r>
            <a:endParaRPr lang="en-US" sz="740" dirty="0"/>
          </a:p>
        </p:txBody>
      </p:sp>
      <p:sp>
        <p:nvSpPr>
          <p:cNvPr id="326" name="Text 324"/>
          <p:cNvSpPr/>
          <p:nvPr/>
        </p:nvSpPr>
        <p:spPr>
          <a:xfrm>
            <a:off x="10552176" y="9007465"/>
            <a:ext cx="1876524" cy="302184"/>
          </a:xfrm>
          <a:prstGeom prst="rect">
            <a:avLst/>
          </a:prstGeom>
          <a:noFill/>
          <a:ln/>
        </p:spPr>
        <p:txBody>
          <a:bodyPr wrap="square" lIns="0" tIns="0" rIns="0" bIns="0" rtlCol="0" anchor="ctr"/>
          <a:lstStyle/>
          <a:p>
            <a:pPr marL="0" indent="0">
              <a:buNone/>
            </a:pPr>
            <a:r>
              <a:rPr lang="en-US" sz="740" dirty="0"/>
              <a:t>SECONDARY CABLE ONLY — NO CORING (DUMMY PLATE)</a:t>
            </a:r>
          </a:p>
        </p:txBody>
      </p:sp>
      <p:sp>
        <p:nvSpPr>
          <p:cNvPr id="337" name="Shape 335"/>
          <p:cNvSpPr/>
          <p:nvPr/>
        </p:nvSpPr>
        <p:spPr>
          <a:xfrm>
            <a:off x="10241280" y="9418869"/>
            <a:ext cx="274320" cy="914"/>
          </a:xfrm>
          <a:prstGeom prst="line">
            <a:avLst/>
          </a:prstGeom>
          <a:noFill/>
          <a:ln w="22225">
            <a:solidFill>
              <a:srgbClr val="0B3D91"/>
            </a:solidFill>
            <a:prstDash val="solid"/>
          </a:ln>
        </p:spPr>
        <p:txBody>
          <a:bodyPr/>
          <a:lstStyle/>
          <a:p>
            <a:endParaRPr lang="en-US"/>
          </a:p>
        </p:txBody>
      </p:sp>
      <p:sp>
        <p:nvSpPr>
          <p:cNvPr id="338" name="Text 336"/>
          <p:cNvSpPr/>
          <p:nvPr/>
        </p:nvSpPr>
        <p:spPr>
          <a:xfrm>
            <a:off x="10588752" y="9309649"/>
            <a:ext cx="1839948" cy="30218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SECONDARY CABLE — SAW CUT ROUTE (REV P08)</a:t>
            </a:r>
            <a:endParaRPr lang="en-US" sz="740" dirty="0"/>
          </a:p>
        </p:txBody>
      </p:sp>
      <p:sp>
        <p:nvSpPr>
          <p:cNvPr id="341" name="Shape 339"/>
          <p:cNvSpPr/>
          <p:nvPr/>
        </p:nvSpPr>
        <p:spPr>
          <a:xfrm>
            <a:off x="10241280" y="10023237"/>
            <a:ext cx="274320" cy="914"/>
          </a:xfrm>
          <a:prstGeom prst="line">
            <a:avLst/>
          </a:prstGeom>
          <a:noFill/>
          <a:ln w="31750">
            <a:solidFill>
              <a:srgbClr val="CC0000"/>
            </a:solidFill>
            <a:prstDash val="solid"/>
          </a:ln>
        </p:spPr>
        <p:txBody>
          <a:bodyPr/>
          <a:lstStyle/>
          <a:p>
            <a:endParaRPr lang="en-US"/>
          </a:p>
        </p:txBody>
      </p:sp>
      <p:sp>
        <p:nvSpPr>
          <p:cNvPr id="342" name="Text 340"/>
          <p:cNvSpPr/>
          <p:nvPr/>
        </p:nvSpPr>
        <p:spPr>
          <a:xfrm>
            <a:off x="10588752" y="9914017"/>
            <a:ext cx="1839948" cy="228600"/>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AGL WORKS AREA (GOVERNING)</a:t>
            </a:r>
            <a:endParaRPr lang="en-US" sz="740" dirty="0"/>
          </a:p>
        </p:txBody>
      </p:sp>
      <p:sp>
        <p:nvSpPr>
          <p:cNvPr id="432" name="TextBox 431"/>
          <p:cNvSpPr txBox="1"/>
          <p:nvPr/>
        </p:nvSpPr>
        <p:spPr>
          <a:xfrm>
            <a:off x="10241280" y="8110489"/>
            <a:ext cx="2187420" cy="200000"/>
          </a:xfrm>
          <a:prstGeom prst="rect">
            <a:avLst/>
          </a:prstGeom>
          <a:noFill/>
        </p:spPr>
        <p:txBody>
          <a:bodyPr wrap="square" lIns="0" tIns="0" rIns="0" bIns="0">
            <a:spAutoFit/>
          </a:bodyPr>
          <a:lstStyle/>
          <a:p>
            <a:r>
              <a:rPr sz="750" b="1">
                <a:solidFill>
                  <a:srgbClr val="5F6368"/>
                </a:solidFill>
              </a:rPr>
              <a:t>WORKS ACTIONS &amp; LINEWORK</a:t>
            </a:r>
          </a:p>
        </p:txBody>
      </p:sp>
      <p:sp>
        <p:nvSpPr>
          <p:cNvPr id="440" name="ASBUILT ASSET · Runway guard light / RRM"/>
          <p:cNvSpPr/>
          <p:nvPr/>
        </p:nvSpPr>
        <p:spPr>
          <a:xfrm>
            <a:off x="12548408" y="8467805"/>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TextBox 440"/>
          <p:cNvSpPr txBox="1"/>
          <p:nvPr/>
        </p:nvSpPr>
        <p:spPr>
          <a:xfrm>
            <a:off x="12738700" y="8403097"/>
            <a:ext cx="1937420" cy="230000"/>
          </a:xfrm>
          <a:prstGeom prst="rect">
            <a:avLst/>
          </a:prstGeom>
          <a:noFill/>
        </p:spPr>
        <p:txBody>
          <a:bodyPr wrap="square" lIns="0" tIns="0" rIns="0" bIns="0">
            <a:spAutoFit/>
          </a:bodyPr>
          <a:lstStyle/>
          <a:p>
            <a:r>
              <a:rPr sz="700">
                <a:solidFill>
                  <a:srgbClr val="20242A"/>
                </a:solidFill>
              </a:rPr>
              <a:t>RUNWAY GUARD LIGHT / RRM  (6)</a:t>
            </a:r>
          </a:p>
        </p:txBody>
      </p:sp>
      <p:sp>
        <p:nvSpPr>
          <p:cNvPr id="444" name="ASBUILT ASSET · Handhole"/>
          <p:cNvSpPr/>
          <p:nvPr/>
        </p:nvSpPr>
        <p:spPr>
          <a:xfrm>
            <a:off x="12534692" y="8728409"/>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TextBox 444"/>
          <p:cNvSpPr txBox="1"/>
          <p:nvPr/>
        </p:nvSpPr>
        <p:spPr>
          <a:xfrm>
            <a:off x="12738700" y="8677417"/>
            <a:ext cx="1937420" cy="230000"/>
          </a:xfrm>
          <a:prstGeom prst="rect">
            <a:avLst/>
          </a:prstGeom>
          <a:noFill/>
        </p:spPr>
        <p:txBody>
          <a:bodyPr wrap="square" lIns="0" tIns="0" rIns="0" bIns="0">
            <a:spAutoFit/>
          </a:bodyPr>
          <a:lstStyle/>
          <a:p>
            <a:r>
              <a:rPr sz="700">
                <a:solidFill>
                  <a:srgbClr val="20242A"/>
                </a:solidFill>
              </a:rPr>
              <a:t>HANDHOLE (HH)  (11)</a:t>
            </a:r>
          </a:p>
        </p:txBody>
      </p:sp>
      <p:sp>
        <p:nvSpPr>
          <p:cNvPr id="446" name="ASBUILT ASSET · Existing transformer handhole"/>
          <p:cNvSpPr/>
          <p:nvPr/>
        </p:nvSpPr>
        <p:spPr>
          <a:xfrm>
            <a:off x="12525548" y="8993585"/>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TextBox 446"/>
          <p:cNvSpPr txBox="1"/>
          <p:nvPr/>
        </p:nvSpPr>
        <p:spPr>
          <a:xfrm>
            <a:off x="12738700" y="8951737"/>
            <a:ext cx="1937420" cy="230000"/>
          </a:xfrm>
          <a:prstGeom prst="rect">
            <a:avLst/>
          </a:prstGeom>
          <a:noFill/>
        </p:spPr>
        <p:txBody>
          <a:bodyPr wrap="square" lIns="0" tIns="0" rIns="0" bIns="0">
            <a:spAutoFit/>
          </a:bodyPr>
          <a:lstStyle/>
          <a:p>
            <a:r>
              <a:rPr sz="700">
                <a:solidFill>
                  <a:srgbClr val="20242A"/>
                </a:solidFill>
              </a:rPr>
              <a:t>TRANSFORMER HH (SEC. FEED HUB)  (5)</a:t>
            </a:r>
          </a:p>
        </p:txBody>
      </p:sp>
      <p:sp>
        <p:nvSpPr>
          <p:cNvPr id="167" name="ASBUILT ASSET · Taxiway centreline light">
            <a:extLst>
              <a:ext uri="{FF2B5EF4-FFF2-40B4-BE49-F238E27FC236}">
                <a16:creationId xmlns:a16="http://schemas.microsoft.com/office/drawing/2014/main" id="{B81055BA-0682-4A6A-5083-B7F6714053A7}"/>
              </a:ext>
            </a:extLst>
          </p:cNvPr>
          <p:cNvSpPr/>
          <p:nvPr/>
        </p:nvSpPr>
        <p:spPr>
          <a:xfrm>
            <a:off x="4672170" y="5063139"/>
            <a:ext cx="91440" cy="91440"/>
          </a:xfrm>
          <a:prstGeom prst="ellipse">
            <a:avLst/>
          </a:prstGeom>
          <a:solidFill>
            <a:srgbClr val="5B9BD5">
              <a:lumMod val="50000"/>
              <a:alpha val="30000"/>
              <a:alpha val="20000"/>
              <a:alpha val="20000"/>
              <a:alpha val="100000"/>
              <a:alpha val="100000"/>
            </a:srgbClr>
          </a:solidFill>
          <a:ln w="6350">
            <a:solidFill>
              <a:srgbClr val="9AA0A6">
                <a:alpha val="30000"/>
                <a:alpha val="20000"/>
                <a:alpha val="20000"/>
                <a:alpha val="10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171" name="ASBUILT ASSET · Taxiway centreline light">
            <a:extLst>
              <a:ext uri="{FF2B5EF4-FFF2-40B4-BE49-F238E27FC236}">
                <a16:creationId xmlns:a16="http://schemas.microsoft.com/office/drawing/2014/main" id="{B8018824-6A6A-CC50-D0B8-CB12FCBCBCAD}"/>
              </a:ext>
            </a:extLst>
          </p:cNvPr>
          <p:cNvSpPr/>
          <p:nvPr/>
        </p:nvSpPr>
        <p:spPr>
          <a:xfrm>
            <a:off x="7355859" y="7294034"/>
            <a:ext cx="91440" cy="91440"/>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173" name="Shape 297">
            <a:extLst>
              <a:ext uri="{FF2B5EF4-FFF2-40B4-BE49-F238E27FC236}">
                <a16:creationId xmlns:a16="http://schemas.microsoft.com/office/drawing/2014/main" id="{EE56069B-EF84-3BA1-E8FE-1024D4FF04C5}"/>
              </a:ext>
            </a:extLst>
          </p:cNvPr>
          <p:cNvSpPr/>
          <p:nvPr/>
        </p:nvSpPr>
        <p:spPr>
          <a:xfrm>
            <a:off x="3523119" y="4201753"/>
            <a:ext cx="109728" cy="109728"/>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175" name="Shape 297">
            <a:extLst>
              <a:ext uri="{FF2B5EF4-FFF2-40B4-BE49-F238E27FC236}">
                <a16:creationId xmlns:a16="http://schemas.microsoft.com/office/drawing/2014/main" id="{525F8850-DA3E-016D-1224-6F77C367EE98}"/>
              </a:ext>
            </a:extLst>
          </p:cNvPr>
          <p:cNvSpPr/>
          <p:nvPr/>
        </p:nvSpPr>
        <p:spPr>
          <a:xfrm>
            <a:off x="3015259" y="3800797"/>
            <a:ext cx="109728" cy="109728"/>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177" name="Shape 297">
            <a:extLst>
              <a:ext uri="{FF2B5EF4-FFF2-40B4-BE49-F238E27FC236}">
                <a16:creationId xmlns:a16="http://schemas.microsoft.com/office/drawing/2014/main" id="{2828E62E-E190-8F8F-FD67-A8B30C94A617}"/>
              </a:ext>
            </a:extLst>
          </p:cNvPr>
          <p:cNvSpPr/>
          <p:nvPr/>
        </p:nvSpPr>
        <p:spPr>
          <a:xfrm>
            <a:off x="4513806" y="3738588"/>
            <a:ext cx="109728" cy="109728"/>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77" name="ASBUILT ASSET · Taxiway centreline light">
            <a:extLst>
              <a:ext uri="{FF2B5EF4-FFF2-40B4-BE49-F238E27FC236}">
                <a16:creationId xmlns:a16="http://schemas.microsoft.com/office/drawing/2014/main" id="{DCAF525D-FEA4-E048-55C8-3D9040C552E7}"/>
              </a:ext>
            </a:extLst>
          </p:cNvPr>
          <p:cNvSpPr/>
          <p:nvPr/>
        </p:nvSpPr>
        <p:spPr>
          <a:xfrm>
            <a:off x="6447751" y="8107626"/>
            <a:ext cx="91440" cy="91440"/>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79" name="Shape 297">
            <a:extLst>
              <a:ext uri="{FF2B5EF4-FFF2-40B4-BE49-F238E27FC236}">
                <a16:creationId xmlns:a16="http://schemas.microsoft.com/office/drawing/2014/main" id="{502F01DE-7AA1-6E79-4AF1-E9DD804EDE80}"/>
              </a:ext>
            </a:extLst>
          </p:cNvPr>
          <p:cNvSpPr/>
          <p:nvPr/>
        </p:nvSpPr>
        <p:spPr>
          <a:xfrm>
            <a:off x="10291259" y="9065885"/>
            <a:ext cx="109728" cy="109728"/>
          </a:xfrm>
          <a:prstGeom prst="ellipse">
            <a:avLst/>
          </a:prstGeom>
          <a:solidFill>
            <a:srgbClr val="70AD47"/>
          </a:solidFill>
          <a:ln w="6350">
            <a:solidFill>
              <a:srgbClr val="9AA0A6"/>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9107" name="P08 LEG 8IN RING"/>
          <p:cNvSpPr/>
          <p:nvPr/>
        </p:nvSpPr>
        <p:spPr>
          <a:xfrm>
            <a:off x="10241280" y="8719251"/>
            <a:ext cx="192024" cy="192024"/>
          </a:xfrm>
          <a:prstGeom prst="ellipse">
            <a:avLst/>
          </a:prstGeom>
          <a:noFill/>
          <a:ln w="28575">
            <a:solidFill>
              <a:srgbClr val="0070C0"/>
            </a:solidFill>
            <a:prstDash val="solid"/>
          </a:ln>
        </p:spPr>
        <p:txBody>
          <a:bodyPr/>
          <a:lstStyle/>
          <a:p>
            <a:endParaRPr lang="en-US"/>
          </a:p>
        </p:txBody>
      </p:sp>
      <p:sp>
        <p:nvSpPr>
          <p:cNvPr id="9108" name="P08 LEG 8IN DOT"/>
          <p:cNvSpPr/>
          <p:nvPr/>
        </p:nvSpPr>
        <p:spPr>
          <a:xfrm>
            <a:off x="10287000" y="8764971"/>
            <a:ext cx="100584" cy="100584"/>
          </a:xfrm>
          <a:prstGeom prst="ellipse">
            <a:avLst/>
          </a:prstGeom>
          <a:solidFill>
            <a:srgbClr val="E8710A"/>
          </a:solidFill>
          <a:ln w="6350">
            <a:solidFill>
              <a:srgbClr val="E8710A"/>
            </a:solidFill>
            <a:prstDash val="solid"/>
          </a:ln>
        </p:spPr>
        <p:txBody>
          <a:bodyPr/>
          <a:lstStyle/>
          <a:p>
            <a:endParaRPr lang="en-US"/>
          </a:p>
        </p:txBody>
      </p:sp>
      <p:sp>
        <p:nvSpPr>
          <p:cNvPr id="9109" name="P08 LEG 8IN TXT"/>
          <p:cNvSpPr/>
          <p:nvPr/>
        </p:nvSpPr>
        <p:spPr>
          <a:xfrm>
            <a:off x="10552430" y="8705281"/>
            <a:ext cx="1876524" cy="302184"/>
          </a:xfrm>
          <a:prstGeom prst="rect">
            <a:avLst/>
          </a:prstGeom>
          <a:noFill/>
          <a:ln/>
        </p:spPr>
        <p:txBody>
          <a:bodyPr wrap="square" lIns="0" tIns="0" rIns="0" bIns="0" rtlCol="0" anchor="ctr"/>
          <a:lstStyle/>
          <a:p>
            <a:pPr marL="0" indent="0">
              <a:buNone/>
            </a:pPr>
            <a:r>
              <a:rPr sz="700" dirty="0">
                <a:solidFill>
                  <a:srgbClr val="1F2937"/>
                </a:solidFill>
                <a:latin typeface="Arial"/>
              </a:rPr>
              <a:t>CORE OUT 8" — NEW 8" SIDE-ENTRY BASE (SAW CUT)</a:t>
            </a:r>
            <a:endParaRPr lang="en-US" sz="740" dirty="0"/>
          </a:p>
        </p:txBody>
      </p:sp>
      <p:sp>
        <p:nvSpPr>
          <p:cNvPr id="9201" name="P08 LEG NEWSC LINE"/>
          <p:cNvSpPr/>
          <p:nvPr/>
        </p:nvSpPr>
        <p:spPr>
          <a:xfrm>
            <a:off x="10241280" y="9721053"/>
            <a:ext cx="274320" cy="914"/>
          </a:xfrm>
          <a:prstGeom prst="line">
            <a:avLst/>
          </a:prstGeom>
          <a:noFill/>
          <a:ln w="31750">
            <a:solidFill>
              <a:srgbClr val="7030A0"/>
            </a:solidFill>
            <a:prstDash val="solid"/>
          </a:ln>
        </p:spPr>
        <p:txBody>
          <a:bodyPr/>
          <a:lstStyle/>
          <a:p>
            <a:endParaRPr lang="en-US"/>
          </a:p>
        </p:txBody>
      </p:sp>
      <p:sp>
        <p:nvSpPr>
          <p:cNvPr id="9202" name="P08 LEG NEWSC TXT"/>
          <p:cNvSpPr/>
          <p:nvPr/>
        </p:nvSpPr>
        <p:spPr>
          <a:xfrm>
            <a:off x="10589260" y="9611833"/>
            <a:ext cx="1839948" cy="30218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NEW SAW CUT — SECONDARY CABLE (REV P08)</a:t>
            </a:r>
            <a:endParaRPr lang="en-US" sz="740" dirty="0"/>
          </a:p>
        </p:txBody>
      </p:sp>
      <p:sp>
        <p:nvSpPr>
          <p:cNvPr id="9301" name="P08 ASBUILT HDR"/>
          <p:cNvSpPr txBox="1"/>
          <p:nvPr/>
        </p:nvSpPr>
        <p:spPr>
          <a:xfrm>
            <a:off x="12453620" y="8110489"/>
            <a:ext cx="2187420" cy="200000"/>
          </a:xfrm>
          <a:prstGeom prst="rect">
            <a:avLst/>
          </a:prstGeom>
          <a:noFill/>
        </p:spPr>
        <p:txBody>
          <a:bodyPr wrap="square" lIns="0" tIns="0" rIns="0" bIns="0">
            <a:spAutoFit/>
          </a:bodyPr>
          <a:lstStyle/>
          <a:p>
            <a:r>
              <a:rPr sz="750" b="1">
                <a:solidFill>
                  <a:srgbClr val="5F6368"/>
                </a:solidFill>
              </a:rPr>
              <a:t>AS-BUILT AGL ASSETS</a:t>
            </a:r>
          </a:p>
        </p:txBody>
      </p:sp>
      <p:sp>
        <p:nvSpPr>
          <p:cNvPr id="165" name="Text 163"/>
          <p:cNvSpPr/>
          <p:nvPr/>
        </p:nvSpPr>
        <p:spPr>
          <a:xfrm>
            <a:off x="1891779" y="3419239"/>
            <a:ext cx="3341727" cy="201168"/>
          </a:xfrm>
          <a:prstGeom prst="rect">
            <a:avLst/>
          </a:prstGeom>
          <a:solidFill>
            <a:srgbClr val="FFFFFF"/>
          </a:solidFill>
          <a:ln>
            <a:noFill/>
          </a:ln>
        </p:spPr>
        <p:txBody>
          <a:bodyPr wrap="square" lIns="0" tIns="0" rIns="0" bIns="0" rtlCol="0" anchor="ctr"/>
          <a:lstStyle/>
          <a:p>
            <a:pPr marL="0" indent="0">
              <a:buNone/>
            </a:pPr>
            <a:r>
              <a:rPr lang="en-US" sz="800" b="1" dirty="0">
                <a:solidFill>
                  <a:srgbClr val="CC0000"/>
                </a:solidFill>
                <a:latin typeface="Arial" pitchFamily="34" charset="0"/>
                <a:ea typeface="Arial" pitchFamily="34" charset="-122"/>
                <a:cs typeface="Arial" pitchFamily="34" charset="-120"/>
              </a:rPr>
              <a:t>AGL WORKS AREA — FIELD CONDITION (425.3 m² TOTAL)</a:t>
            </a:r>
            <a:endParaRPr lang="en-US" sz="800" dirty="0"/>
          </a:p>
        </p:txBody>
      </p:sp>
      <p:pic>
        <p:nvPicPr>
          <p:cNvPr id="9302" name="ADB SAFEGATE LOGO" descr="logo-adb.png"/>
          <p:cNvPicPr>
            <a:picLocks noChangeAspect="1"/>
          </p:cNvPicPr>
          <p:nvPr/>
        </p:nvPicPr>
        <p:blipFill>
          <a:blip r:embed="rId3"/>
          <a:stretch>
            <a:fillRect/>
          </a:stretch>
        </p:blipFill>
        <p:spPr>
          <a:xfrm>
            <a:off x="13554972" y="175260"/>
            <a:ext cx="1258308" cy="434340"/>
          </a:xfrm>
          <a:prstGeom prst="rect">
            <a:avLst/>
          </a:prstGeom>
        </p:spPr>
      </p:pic>
      <p:sp>
        <p:nvSpPr>
          <p:cNvPr id="9303" name="SHEET FOOTER"/>
          <p:cNvSpPr txBox="1"/>
          <p:nvPr/>
        </p:nvSpPr>
        <p:spPr>
          <a:xfrm>
            <a:off x="320040" y="10390000"/>
            <a:ext cx="14493240" cy="190500"/>
          </a:xfrm>
          <a:prstGeom prst="rect">
            <a:avLst/>
          </a:prstGeom>
          <a:noFill/>
        </p:spPr>
        <p:txBody>
          <a:bodyPr wrap="square" lIns="0" rIns="0" tIns="0" bIns="0">
            <a:spAutoFit/>
          </a:bodyPr>
          <a:lstStyle/>
          <a:p>
            <a:r>
              <a:rPr sz="700">
                <a:solidFill>
                  <a:srgbClr val="5F6368"/>
                </a:solidFill>
                <a:latin typeface="Arial"/>
              </a:rPr>
              <a:t>Field condition governs.  Quantities are per the Rev P08 final scope of work (30.07.2026) and are for check by the Engineer.     ·     AUH-SK-AGL-TWYE-001 REV P08 (FINAL SCOPE)  ·  Prepared: Mohammed Faheem, AGL Team Leader — ADB SAFEGATE  ·  Approved: Ragesh Menon, AGL Manager</a:t>
            </a:r>
          </a:p>
        </p:txBody>
      </p:sp>
    </p:spTree>
    <p:extLst>
      <p:ext uri="{BB962C8B-B14F-4D97-AF65-F5344CB8AC3E}">
        <p14:creationId xmlns:p14="http://schemas.microsoft.com/office/powerpoint/2010/main" val="2269112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0040" y="196000"/>
            <a:ext cx="13100000" cy="411480"/>
          </a:xfrm>
          <a:prstGeom prst="rect">
            <a:avLst/>
          </a:prstGeom>
          <a:noFill/>
          <a:ln/>
        </p:spPr>
        <p:txBody>
          <a:bodyPr wrap="none" lIns="0" tIns="0" rIns="0" bIns="0" rtlCol="0" anchor="ctr"/>
          <a:lstStyle/>
          <a:p>
            <a:pPr marL="0" indent="0">
              <a:buNone/>
            </a:pPr>
            <a:r>
              <a:rPr lang="en-US" sz="1325" b="1" dirty="0">
                <a:solidFill>
                  <a:srgbClr val="1E2761"/>
                </a:solidFill>
                <a:latin typeface="Arial" pitchFamily="34" charset="0"/>
                <a:ea typeface="Arial" pitchFamily="34" charset="-122"/>
                <a:cs typeface="Arial" pitchFamily="34" charset="-120"/>
              </a:rPr>
              <a:t>SHOP DRAWING — ELECTRICAL / AGL SCOPE (FIELD-GOVERNED)   ·   TAXIWAY E (E4–E6) — LOCATION 2   ·   DWG NO AUH-SK-AGL-TWYE-001-1002 REV P08</a:t>
            </a:r>
            <a:endParaRPr lang="en-US" sz="1500" dirty="0"/>
          </a:p>
        </p:txBody>
      </p:sp>
      <p:sp>
        <p:nvSpPr>
          <p:cNvPr id="3" name="Shape 1"/>
          <p:cNvSpPr/>
          <p:nvPr/>
        </p:nvSpPr>
        <p:spPr>
          <a:xfrm>
            <a:off x="320040" y="777240"/>
            <a:ext cx="9555480" cy="9555480"/>
          </a:xfrm>
          <a:prstGeom prst="rect">
            <a:avLst/>
          </a:prstGeom>
          <a:solidFill>
            <a:srgbClr val="FFFFFF"/>
          </a:solidFill>
          <a:ln w="12700">
            <a:solidFill>
              <a:srgbClr val="5F6368"/>
            </a:solidFill>
            <a:prstDash val="solid"/>
          </a:ln>
        </p:spPr>
        <p:txBody>
          <a:bodyPr/>
          <a:lstStyle/>
          <a:p>
            <a:endParaRPr lang="en-US"/>
          </a:p>
        </p:txBody>
      </p:sp>
      <p:sp>
        <p:nvSpPr>
          <p:cNvPr id="36" name="ASBUILT DUCT · CV-EX SEC CONDUIT · 34.9 m"/>
          <p:cNvSpPr/>
          <p:nvPr/>
        </p:nvSpPr>
        <p:spPr>
          <a:xfrm>
            <a:off x="808260" y="777240"/>
            <a:ext cx="1211595" cy="2807538"/>
          </a:xfrm>
          <a:custGeom>
            <a:avLst/>
            <a:gdLst/>
            <a:ahLst/>
            <a:cxnLst/>
            <a:rect l="l" t="t" r="r" b="b"/>
            <a:pathLst>
              <a:path w="1211595" h="2807538">
                <a:moveTo>
                  <a:pt x="1211595" y="2807538"/>
                </a:moveTo>
                <a:lnTo>
                  <a:pt x="0"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ASBUILT DUCT · CV-EX SEC CONDUIT · 2.3 m"/>
          <p:cNvSpPr/>
          <p:nvPr/>
        </p:nvSpPr>
        <p:spPr>
          <a:xfrm>
            <a:off x="320040" y="777240"/>
            <a:ext cx="68644" cy="188847"/>
          </a:xfrm>
          <a:custGeom>
            <a:avLst/>
            <a:gdLst/>
            <a:ahLst/>
            <a:cxnLst/>
            <a:rect l="l" t="t" r="r" b="b"/>
            <a:pathLst>
              <a:path w="68644" h="188847">
                <a:moveTo>
                  <a:pt x="0" y="188847"/>
                </a:moveTo>
                <a:lnTo>
                  <a:pt x="68644"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ASBUILT DUCT · CV-EX SEC CONDUIT · 22.9 m"/>
          <p:cNvSpPr/>
          <p:nvPr/>
        </p:nvSpPr>
        <p:spPr>
          <a:xfrm>
            <a:off x="667270" y="777240"/>
            <a:ext cx="326156" cy="1984003"/>
          </a:xfrm>
          <a:custGeom>
            <a:avLst/>
            <a:gdLst/>
            <a:ahLst/>
            <a:cxnLst/>
            <a:rect l="l" t="t" r="r" b="b"/>
            <a:pathLst>
              <a:path w="326156" h="1984003">
                <a:moveTo>
                  <a:pt x="0" y="0"/>
                </a:moveTo>
                <a:lnTo>
                  <a:pt x="326156" y="1984003"/>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ASBUILT DUCT · CV-EX SEC CONDUIT · 20.5 m"/>
          <p:cNvSpPr/>
          <p:nvPr/>
        </p:nvSpPr>
        <p:spPr>
          <a:xfrm>
            <a:off x="5097724" y="4360955"/>
            <a:ext cx="606439" cy="1694682"/>
          </a:xfrm>
          <a:custGeom>
            <a:avLst/>
            <a:gdLst/>
            <a:ahLst/>
            <a:cxnLst/>
            <a:rect l="l" t="t" r="r" b="b"/>
            <a:pathLst>
              <a:path w="606439" h="1694682">
                <a:moveTo>
                  <a:pt x="0" y="1694682"/>
                </a:moveTo>
                <a:lnTo>
                  <a:pt x="606439"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ASBUILT DUCT · CV-EX SEC CONDUIT · 21.1 m"/>
          <p:cNvSpPr/>
          <p:nvPr/>
        </p:nvSpPr>
        <p:spPr>
          <a:xfrm>
            <a:off x="4070812" y="4360955"/>
            <a:ext cx="1633351" cy="869656"/>
          </a:xfrm>
          <a:custGeom>
            <a:avLst/>
            <a:gdLst/>
            <a:ahLst/>
            <a:cxnLst/>
            <a:rect l="l" t="t" r="r" b="b"/>
            <a:pathLst>
              <a:path w="1633351" h="869656">
                <a:moveTo>
                  <a:pt x="1633351" y="0"/>
                </a:moveTo>
                <a:lnTo>
                  <a:pt x="0" y="869656"/>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ASBUILT DUCT · CV-EX SEC CONDUIT · 29.1 m"/>
          <p:cNvSpPr/>
          <p:nvPr/>
        </p:nvSpPr>
        <p:spPr>
          <a:xfrm>
            <a:off x="5704163" y="4360955"/>
            <a:ext cx="420561" cy="2518042"/>
          </a:xfrm>
          <a:custGeom>
            <a:avLst/>
            <a:gdLst/>
            <a:ahLst/>
            <a:cxnLst/>
            <a:rect l="l" t="t" r="r" b="b"/>
            <a:pathLst>
              <a:path w="420561" h="2518042">
                <a:moveTo>
                  <a:pt x="0" y="0"/>
                </a:moveTo>
                <a:lnTo>
                  <a:pt x="420561" y="2518042"/>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ASBUILT DUCT · CV-EX SEC CONDUIT · 30.3 m"/>
          <p:cNvSpPr/>
          <p:nvPr/>
        </p:nvSpPr>
        <p:spPr>
          <a:xfrm>
            <a:off x="3046364" y="4360955"/>
            <a:ext cx="2657799" cy="46121"/>
          </a:xfrm>
          <a:custGeom>
            <a:avLst/>
            <a:gdLst/>
            <a:ahLst/>
            <a:cxnLst/>
            <a:rect l="l" t="t" r="r" b="b"/>
            <a:pathLst>
              <a:path w="2657799" h="46121">
                <a:moveTo>
                  <a:pt x="0" y="46121"/>
                </a:moveTo>
                <a:lnTo>
                  <a:pt x="2657799"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ASBUILT DUCT · CV-EX SEC CONDUIT · 41.5 m"/>
          <p:cNvSpPr/>
          <p:nvPr/>
        </p:nvSpPr>
        <p:spPr>
          <a:xfrm>
            <a:off x="5661464" y="4207931"/>
            <a:ext cx="1445359" cy="3340866"/>
          </a:xfrm>
          <a:custGeom>
            <a:avLst/>
            <a:gdLst/>
            <a:ahLst/>
            <a:cxnLst/>
            <a:rect l="l" t="t" r="r" b="b"/>
            <a:pathLst>
              <a:path w="1445359" h="3340866">
                <a:moveTo>
                  <a:pt x="0" y="0"/>
                </a:moveTo>
                <a:lnTo>
                  <a:pt x="1445359" y="3340866"/>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ASBUILT DUCT · CV-EX SEC CONDUIT · 8.7 m"/>
          <p:cNvSpPr/>
          <p:nvPr/>
        </p:nvSpPr>
        <p:spPr>
          <a:xfrm>
            <a:off x="9203040" y="8993029"/>
            <a:ext cx="672480" cy="357976"/>
          </a:xfrm>
          <a:custGeom>
            <a:avLst/>
            <a:gdLst/>
            <a:ahLst/>
            <a:cxnLst/>
            <a:rect l="l" t="t" r="r" b="b"/>
            <a:pathLst>
              <a:path w="672480" h="357976">
                <a:moveTo>
                  <a:pt x="672480" y="0"/>
                </a:moveTo>
                <a:lnTo>
                  <a:pt x="0" y="357976"/>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ASBUILT DUCT · CV-EX SEC CONDUIT · 19.4 m"/>
          <p:cNvSpPr/>
          <p:nvPr/>
        </p:nvSpPr>
        <p:spPr>
          <a:xfrm>
            <a:off x="8176127" y="8503662"/>
            <a:ext cx="1699393" cy="23282"/>
          </a:xfrm>
          <a:custGeom>
            <a:avLst/>
            <a:gdLst/>
            <a:ahLst/>
            <a:cxnLst/>
            <a:rect l="l" t="t" r="r" b="b"/>
            <a:pathLst>
              <a:path w="1699393" h="23282">
                <a:moveTo>
                  <a:pt x="0" y="23282"/>
                </a:moveTo>
                <a:lnTo>
                  <a:pt x="1699393"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ASBUILT DUCT · CV-NEW SEC CONDUIT · 6.2 m"/>
          <p:cNvSpPr/>
          <p:nvPr/>
        </p:nvSpPr>
        <p:spPr>
          <a:xfrm>
            <a:off x="5704058" y="3935114"/>
            <a:ext cx="342064" cy="426043"/>
          </a:xfrm>
          <a:custGeom>
            <a:avLst/>
            <a:gdLst/>
            <a:ahLst/>
            <a:cxnLst/>
            <a:rect l="l" t="t" r="r" b="b"/>
            <a:pathLst>
              <a:path w="342064" h="426043">
                <a:moveTo>
                  <a:pt x="342064" y="0"/>
                </a:moveTo>
                <a:lnTo>
                  <a:pt x="0" y="426043"/>
                </a:lnTo>
              </a:path>
            </a:pathLst>
          </a:custGeom>
          <a:noFill/>
          <a:ln w="15875" cap="flat" cmpd="sng" algn="ctr">
            <a:solidFill>
              <a:srgbClr val="1E8E3E">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ASBUILT DUCT · CV_OUTER DUCT 4x110mm dia · 110.8 m"/>
          <p:cNvSpPr/>
          <p:nvPr/>
        </p:nvSpPr>
        <p:spPr>
          <a:xfrm>
            <a:off x="2306059" y="777240"/>
            <a:ext cx="7569461" cy="6098335"/>
          </a:xfrm>
          <a:custGeom>
            <a:avLst/>
            <a:gdLst/>
            <a:ahLst/>
            <a:cxnLst/>
            <a:rect l="l" t="t" r="r" b="b"/>
            <a:pathLst>
              <a:path w="7569461" h="6098335">
                <a:moveTo>
                  <a:pt x="7569461" y="6098335"/>
                </a:moveTo>
                <a:lnTo>
                  <a:pt x="2595392" y="2099489"/>
                </a:lnTo>
                <a:lnTo>
                  <a:pt x="0" y="0"/>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ASBUILT DUCT · CV_GRND DUCT · 1.6 m"/>
          <p:cNvSpPr/>
          <p:nvPr/>
        </p:nvSpPr>
        <p:spPr>
          <a:xfrm>
            <a:off x="5467164" y="3219750"/>
            <a:ext cx="90102" cy="112241"/>
          </a:xfrm>
          <a:custGeom>
            <a:avLst/>
            <a:gdLst/>
            <a:ahLst/>
            <a:cxnLst/>
            <a:rect l="l" t="t" r="r" b="b"/>
            <a:pathLst>
              <a:path w="90102" h="112241">
                <a:moveTo>
                  <a:pt x="90102" y="0"/>
                </a:moveTo>
                <a:lnTo>
                  <a:pt x="0" y="112241"/>
                </a:lnTo>
              </a:path>
            </a:pathLst>
          </a:custGeom>
          <a:noFill/>
          <a:ln w="9525" cap="flat" cmpd="sng" algn="ctr">
            <a:solidFill>
              <a:srgbClr val="795548">
                <a:alpha val="20000"/>
              </a:srgbClr>
            </a:solidFill>
            <a:prstDash val="sysDot"/>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ASBUILT ASSET · Taxiway centreline light"/>
          <p:cNvSpPr/>
          <p:nvPr/>
        </p:nvSpPr>
        <p:spPr>
          <a:xfrm>
            <a:off x="9157293" y="9305311"/>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ASBUILT ASSET · Taxiway centreline light"/>
          <p:cNvSpPr/>
          <p:nvPr/>
        </p:nvSpPr>
        <p:spPr>
          <a:xfrm>
            <a:off x="8130407" y="8481223"/>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ASBUILT ASSET · Taxiway centreline light"/>
          <p:cNvSpPr/>
          <p:nvPr/>
        </p:nvSpPr>
        <p:spPr>
          <a:xfrm>
            <a:off x="1974056" y="3539154"/>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ASBUILT ASSET · Taxiway centreline light"/>
          <p:cNvSpPr/>
          <p:nvPr/>
        </p:nvSpPr>
        <p:spPr>
          <a:xfrm>
            <a:off x="947644" y="2715593"/>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ASBUILT ASSET · Runway guard light / RRM"/>
          <p:cNvSpPr/>
          <p:nvPr/>
        </p:nvSpPr>
        <p:spPr>
          <a:xfrm>
            <a:off x="5856458" y="8038161"/>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ASBUILT ASSET · Runway guard light / RRM"/>
          <p:cNvSpPr/>
          <p:nvPr/>
        </p:nvSpPr>
        <p:spPr>
          <a:xfrm>
            <a:off x="2437920" y="5289156"/>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ASBUILT ASSET · Runway guard light / RRM"/>
          <p:cNvSpPr/>
          <p:nvPr/>
        </p:nvSpPr>
        <p:spPr>
          <a:xfrm>
            <a:off x="7200173" y="6358759"/>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ASBUILT ASSET · Runway guard light / RRM"/>
          <p:cNvSpPr/>
          <p:nvPr/>
        </p:nvSpPr>
        <p:spPr>
          <a:xfrm>
            <a:off x="3781284" y="3613351"/>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ASBUILT ASSET · Runway guard light / RRM"/>
          <p:cNvSpPr/>
          <p:nvPr/>
        </p:nvSpPr>
        <p:spPr>
          <a:xfrm>
            <a:off x="1724179" y="1965263"/>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ASBUILT ASSET · Earthing point"/>
          <p:cNvSpPr/>
          <p:nvPr/>
        </p:nvSpPr>
        <p:spPr>
          <a:xfrm>
            <a:off x="3898949" y="3127998"/>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ASBUILT ASSET · Handhole"/>
          <p:cNvSpPr/>
          <p:nvPr/>
        </p:nvSpPr>
        <p:spPr>
          <a:xfrm>
            <a:off x="5982113" y="3871105"/>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ASBUILT ASSET · Handhole"/>
          <p:cNvSpPr/>
          <p:nvPr/>
        </p:nvSpPr>
        <p:spPr>
          <a:xfrm>
            <a:off x="4837443" y="2812721"/>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ASBUILT ASSET · Earthing point"/>
          <p:cNvSpPr/>
          <p:nvPr/>
        </p:nvSpPr>
        <p:spPr>
          <a:xfrm>
            <a:off x="2754279" y="2069614"/>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ASBUILT ASSET · Earthing point"/>
          <p:cNvSpPr/>
          <p:nvPr/>
        </p:nvSpPr>
        <p:spPr>
          <a:xfrm>
            <a:off x="9029949" y="7267119"/>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ASBUILT ASSET · Earthing pit"/>
          <p:cNvSpPr/>
          <p:nvPr/>
        </p:nvSpPr>
        <p:spPr>
          <a:xfrm>
            <a:off x="2555134" y="2152571"/>
            <a:ext cx="100584" cy="100584"/>
          </a:xfrm>
          <a:prstGeom prst="triangle">
            <a:avLst/>
          </a:prstGeom>
          <a:noFill/>
          <a:ln w="9525" cap="flat" cmpd="sng" algn="ctr">
            <a:solidFill>
              <a:srgbClr val="795548">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ASBUILT ASSET · Existing transformer handhole"/>
          <p:cNvSpPr/>
          <p:nvPr/>
        </p:nvSpPr>
        <p:spPr>
          <a:xfrm>
            <a:off x="5630923" y="4287733"/>
            <a:ext cx="146304" cy="146304"/>
          </a:xfrm>
          <a:prstGeom prst="rect">
            <a:avLst/>
          </a:prstGeom>
          <a:noFill/>
          <a:ln w="9525" cap="flat" cmpd="sng" algn="ctr">
            <a:solidFill>
              <a:srgbClr val="00838F">
                <a:alpha val="20000"/>
                <a:alpha val="10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 2"/>
          <p:cNvSpPr/>
          <p:nvPr/>
        </p:nvSpPr>
        <p:spPr>
          <a:xfrm>
            <a:off x="393192" y="10058400"/>
            <a:ext cx="6858000" cy="228600"/>
          </a:xfrm>
          <a:prstGeom prst="rect">
            <a:avLst/>
          </a:prstGeom>
          <a:noFill/>
          <a:ln/>
        </p:spPr>
        <p:txBody>
          <a:bodyPr wrap="square" lIns="0" tIns="0" rIns="0" bIns="0" rtlCol="0" anchor="ctr"/>
          <a:lstStyle/>
          <a:p>
            <a:pPr marL="0" indent="0">
              <a:buNone/>
            </a:pPr>
            <a:endParaRPr lang="en-US" sz="700" dirty="0"/>
          </a:p>
        </p:txBody>
      </p:sp>
      <p:sp>
        <p:nvSpPr>
          <p:cNvPr id="5" name="Shape 3"/>
          <p:cNvSpPr/>
          <p:nvPr/>
        </p:nvSpPr>
        <p:spPr>
          <a:xfrm>
            <a:off x="8571627" y="10137349"/>
            <a:ext cx="243215" cy="195371"/>
          </a:xfrm>
          <a:prstGeom prst="line">
            <a:avLst/>
          </a:prstGeom>
          <a:noFill/>
          <a:ln w="12700">
            <a:solidFill>
              <a:srgbClr val="7A8288">
                <a:alpha val="20000"/>
              </a:srgbClr>
            </a:solidFill>
            <a:prstDash val="solid"/>
          </a:ln>
        </p:spPr>
        <p:txBody>
          <a:bodyPr/>
          <a:lstStyle/>
          <a:p>
            <a:endParaRPr lang="en-US"/>
          </a:p>
        </p:txBody>
      </p:sp>
      <p:sp>
        <p:nvSpPr>
          <p:cNvPr id="6" name="Shape 4"/>
          <p:cNvSpPr/>
          <p:nvPr/>
        </p:nvSpPr>
        <p:spPr>
          <a:xfrm>
            <a:off x="7544963" y="9313422"/>
            <a:ext cx="1026664" cy="823927"/>
          </a:xfrm>
          <a:prstGeom prst="line">
            <a:avLst/>
          </a:prstGeom>
          <a:noFill/>
          <a:ln w="12700">
            <a:solidFill>
              <a:srgbClr val="7A8288">
                <a:alpha val="20000"/>
              </a:srgbClr>
            </a:solidFill>
            <a:prstDash val="solid"/>
          </a:ln>
        </p:spPr>
        <p:txBody>
          <a:bodyPr/>
          <a:lstStyle/>
          <a:p>
            <a:endParaRPr lang="en-US"/>
          </a:p>
        </p:txBody>
      </p:sp>
      <p:sp>
        <p:nvSpPr>
          <p:cNvPr id="7" name="Shape 5"/>
          <p:cNvSpPr/>
          <p:nvPr/>
        </p:nvSpPr>
        <p:spPr>
          <a:xfrm>
            <a:off x="6517861" y="8488268"/>
            <a:ext cx="1027102" cy="825154"/>
          </a:xfrm>
          <a:prstGeom prst="line">
            <a:avLst/>
          </a:prstGeom>
          <a:noFill/>
          <a:ln w="12700">
            <a:solidFill>
              <a:srgbClr val="7A8288">
                <a:alpha val="20000"/>
              </a:srgbClr>
            </a:solidFill>
            <a:prstDash val="solid"/>
          </a:ln>
        </p:spPr>
        <p:txBody>
          <a:bodyPr/>
          <a:lstStyle/>
          <a:p>
            <a:endParaRPr lang="en-US"/>
          </a:p>
        </p:txBody>
      </p:sp>
      <p:sp>
        <p:nvSpPr>
          <p:cNvPr id="8" name="Shape 6"/>
          <p:cNvSpPr/>
          <p:nvPr/>
        </p:nvSpPr>
        <p:spPr>
          <a:xfrm>
            <a:off x="5493477" y="7665744"/>
            <a:ext cx="1024384" cy="822524"/>
          </a:xfrm>
          <a:prstGeom prst="line">
            <a:avLst/>
          </a:prstGeom>
          <a:noFill/>
          <a:ln w="12700">
            <a:solidFill>
              <a:srgbClr val="7A8288">
                <a:alpha val="20000"/>
              </a:srgbClr>
            </a:solidFill>
            <a:prstDash val="solid"/>
          </a:ln>
        </p:spPr>
        <p:txBody>
          <a:bodyPr/>
          <a:lstStyle/>
          <a:p>
            <a:endParaRPr lang="en-US"/>
          </a:p>
        </p:txBody>
      </p:sp>
      <p:sp>
        <p:nvSpPr>
          <p:cNvPr id="9" name="Shape 7"/>
          <p:cNvSpPr/>
          <p:nvPr/>
        </p:nvSpPr>
        <p:spPr>
          <a:xfrm>
            <a:off x="4466813" y="6842694"/>
            <a:ext cx="1026664" cy="823050"/>
          </a:xfrm>
          <a:prstGeom prst="line">
            <a:avLst/>
          </a:prstGeom>
          <a:noFill/>
          <a:ln w="12700">
            <a:solidFill>
              <a:srgbClr val="7A8288">
                <a:alpha val="20000"/>
              </a:srgbClr>
            </a:solidFill>
            <a:prstDash val="solid"/>
          </a:ln>
        </p:spPr>
        <p:txBody>
          <a:bodyPr/>
          <a:lstStyle/>
          <a:p>
            <a:endParaRPr lang="en-US"/>
          </a:p>
        </p:txBody>
      </p:sp>
      <p:sp>
        <p:nvSpPr>
          <p:cNvPr id="10" name="Shape 8"/>
          <p:cNvSpPr/>
          <p:nvPr/>
        </p:nvSpPr>
        <p:spPr>
          <a:xfrm>
            <a:off x="4465936" y="6841993"/>
            <a:ext cx="914" cy="914"/>
          </a:xfrm>
          <a:prstGeom prst="line">
            <a:avLst/>
          </a:prstGeom>
          <a:noFill/>
          <a:ln w="12700">
            <a:solidFill>
              <a:srgbClr val="7A8288">
                <a:alpha val="20000"/>
              </a:srgbClr>
            </a:solidFill>
            <a:prstDash val="solid"/>
          </a:ln>
        </p:spPr>
        <p:txBody>
          <a:bodyPr/>
          <a:lstStyle/>
          <a:p>
            <a:endParaRPr lang="en-US"/>
          </a:p>
        </p:txBody>
      </p:sp>
      <p:sp>
        <p:nvSpPr>
          <p:cNvPr id="11" name="Shape 9"/>
          <p:cNvSpPr/>
          <p:nvPr/>
        </p:nvSpPr>
        <p:spPr>
          <a:xfrm>
            <a:off x="3439097" y="6016926"/>
            <a:ext cx="1026839" cy="825067"/>
          </a:xfrm>
          <a:prstGeom prst="line">
            <a:avLst/>
          </a:prstGeom>
          <a:noFill/>
          <a:ln w="12700">
            <a:solidFill>
              <a:srgbClr val="7A8288">
                <a:alpha val="20000"/>
              </a:srgbClr>
            </a:solidFill>
            <a:prstDash val="solid"/>
          </a:ln>
        </p:spPr>
        <p:txBody>
          <a:bodyPr/>
          <a:lstStyle/>
          <a:p>
            <a:endParaRPr lang="en-US"/>
          </a:p>
        </p:txBody>
      </p:sp>
      <p:sp>
        <p:nvSpPr>
          <p:cNvPr id="12" name="Shape 10"/>
          <p:cNvSpPr/>
          <p:nvPr/>
        </p:nvSpPr>
        <p:spPr>
          <a:xfrm>
            <a:off x="2415064" y="5193701"/>
            <a:ext cx="1024033" cy="823225"/>
          </a:xfrm>
          <a:prstGeom prst="line">
            <a:avLst/>
          </a:prstGeom>
          <a:noFill/>
          <a:ln w="12700">
            <a:solidFill>
              <a:srgbClr val="7A8288">
                <a:alpha val="20000"/>
              </a:srgbClr>
            </a:solidFill>
            <a:prstDash val="solid"/>
          </a:ln>
        </p:spPr>
        <p:txBody>
          <a:bodyPr/>
          <a:lstStyle/>
          <a:p>
            <a:endParaRPr lang="en-US"/>
          </a:p>
        </p:txBody>
      </p:sp>
      <p:sp>
        <p:nvSpPr>
          <p:cNvPr id="13" name="Shape 11"/>
          <p:cNvSpPr/>
          <p:nvPr/>
        </p:nvSpPr>
        <p:spPr>
          <a:xfrm>
            <a:off x="1389277" y="4371879"/>
            <a:ext cx="1025787" cy="821822"/>
          </a:xfrm>
          <a:prstGeom prst="line">
            <a:avLst/>
          </a:prstGeom>
          <a:noFill/>
          <a:ln w="12700">
            <a:solidFill>
              <a:srgbClr val="7A8288">
                <a:alpha val="20000"/>
              </a:srgbClr>
            </a:solidFill>
            <a:prstDash val="solid"/>
          </a:ln>
        </p:spPr>
        <p:txBody>
          <a:bodyPr/>
          <a:lstStyle/>
          <a:p>
            <a:endParaRPr lang="en-US"/>
          </a:p>
        </p:txBody>
      </p:sp>
      <p:sp>
        <p:nvSpPr>
          <p:cNvPr id="14" name="Shape 12"/>
          <p:cNvSpPr/>
          <p:nvPr/>
        </p:nvSpPr>
        <p:spPr>
          <a:xfrm>
            <a:off x="415577" y="3590641"/>
            <a:ext cx="973700" cy="781238"/>
          </a:xfrm>
          <a:prstGeom prst="line">
            <a:avLst/>
          </a:prstGeom>
          <a:noFill/>
          <a:ln w="12700">
            <a:solidFill>
              <a:srgbClr val="7A8288">
                <a:alpha val="20000"/>
              </a:srgbClr>
            </a:solidFill>
            <a:prstDash val="solid"/>
          </a:ln>
        </p:spPr>
        <p:txBody>
          <a:bodyPr/>
          <a:lstStyle/>
          <a:p>
            <a:endParaRPr lang="en-US"/>
          </a:p>
        </p:txBody>
      </p:sp>
      <p:sp>
        <p:nvSpPr>
          <p:cNvPr id="15" name="Shape 13"/>
          <p:cNvSpPr/>
          <p:nvPr/>
        </p:nvSpPr>
        <p:spPr>
          <a:xfrm>
            <a:off x="8807511" y="7740631"/>
            <a:ext cx="972472" cy="780436"/>
          </a:xfrm>
          <a:prstGeom prst="line">
            <a:avLst/>
          </a:prstGeom>
          <a:noFill/>
          <a:ln w="12700">
            <a:solidFill>
              <a:srgbClr val="7A8288">
                <a:alpha val="20000"/>
              </a:srgbClr>
            </a:solidFill>
            <a:prstDash val="solid"/>
          </a:ln>
        </p:spPr>
        <p:txBody>
          <a:bodyPr/>
          <a:lstStyle/>
          <a:p>
            <a:endParaRPr lang="en-US"/>
          </a:p>
        </p:txBody>
      </p:sp>
      <p:sp>
        <p:nvSpPr>
          <p:cNvPr id="16" name="Shape 14"/>
          <p:cNvSpPr/>
          <p:nvPr/>
        </p:nvSpPr>
        <p:spPr>
          <a:xfrm>
            <a:off x="7780672" y="6915739"/>
            <a:ext cx="1026839" cy="824891"/>
          </a:xfrm>
          <a:prstGeom prst="line">
            <a:avLst/>
          </a:prstGeom>
          <a:noFill/>
          <a:ln w="12700">
            <a:solidFill>
              <a:srgbClr val="7A8288">
                <a:alpha val="20000"/>
              </a:srgbClr>
            </a:solidFill>
            <a:prstDash val="solid"/>
          </a:ln>
        </p:spPr>
        <p:txBody>
          <a:bodyPr/>
          <a:lstStyle/>
          <a:p>
            <a:endParaRPr lang="en-US"/>
          </a:p>
        </p:txBody>
      </p:sp>
      <p:sp>
        <p:nvSpPr>
          <p:cNvPr id="17" name="Shape 15"/>
          <p:cNvSpPr/>
          <p:nvPr/>
        </p:nvSpPr>
        <p:spPr>
          <a:xfrm>
            <a:off x="6755323" y="6092339"/>
            <a:ext cx="1025349" cy="823401"/>
          </a:xfrm>
          <a:prstGeom prst="line">
            <a:avLst/>
          </a:prstGeom>
          <a:noFill/>
          <a:ln w="12700">
            <a:solidFill>
              <a:srgbClr val="7A8288">
                <a:alpha val="20000"/>
              </a:srgbClr>
            </a:solidFill>
            <a:prstDash val="solid"/>
          </a:ln>
        </p:spPr>
        <p:txBody>
          <a:bodyPr/>
          <a:lstStyle/>
          <a:p>
            <a:endParaRPr lang="en-US"/>
          </a:p>
        </p:txBody>
      </p:sp>
      <p:sp>
        <p:nvSpPr>
          <p:cNvPr id="18" name="Shape 16"/>
          <p:cNvSpPr/>
          <p:nvPr/>
        </p:nvSpPr>
        <p:spPr>
          <a:xfrm>
            <a:off x="5728747" y="5269377"/>
            <a:ext cx="1026576" cy="822962"/>
          </a:xfrm>
          <a:prstGeom prst="line">
            <a:avLst/>
          </a:prstGeom>
          <a:noFill/>
          <a:ln w="12700">
            <a:solidFill>
              <a:srgbClr val="7A8288">
                <a:alpha val="20000"/>
              </a:srgbClr>
            </a:solidFill>
            <a:prstDash val="solid"/>
          </a:ln>
        </p:spPr>
        <p:txBody>
          <a:bodyPr/>
          <a:lstStyle/>
          <a:p>
            <a:endParaRPr lang="en-US"/>
          </a:p>
        </p:txBody>
      </p:sp>
      <p:sp>
        <p:nvSpPr>
          <p:cNvPr id="19" name="Shape 17"/>
          <p:cNvSpPr/>
          <p:nvPr/>
        </p:nvSpPr>
        <p:spPr>
          <a:xfrm>
            <a:off x="4702434" y="4444748"/>
            <a:ext cx="1026313" cy="824628"/>
          </a:xfrm>
          <a:prstGeom prst="line">
            <a:avLst/>
          </a:prstGeom>
          <a:noFill/>
          <a:ln w="12700">
            <a:solidFill>
              <a:srgbClr val="7A8288">
                <a:alpha val="20000"/>
              </a:srgbClr>
            </a:solidFill>
            <a:prstDash val="solid"/>
          </a:ln>
        </p:spPr>
        <p:txBody>
          <a:bodyPr/>
          <a:lstStyle/>
          <a:p>
            <a:endParaRPr lang="en-US"/>
          </a:p>
        </p:txBody>
      </p:sp>
      <p:sp>
        <p:nvSpPr>
          <p:cNvPr id="20" name="Shape 18"/>
          <p:cNvSpPr/>
          <p:nvPr/>
        </p:nvSpPr>
        <p:spPr>
          <a:xfrm>
            <a:off x="4837443" y="4033004"/>
            <a:ext cx="1024384" cy="823488"/>
          </a:xfrm>
          <a:prstGeom prst="line">
            <a:avLst/>
          </a:prstGeom>
          <a:noFill/>
          <a:ln w="12700">
            <a:solidFill>
              <a:srgbClr val="7A8288">
                <a:alpha val="20000"/>
              </a:srgbClr>
            </a:solidFill>
            <a:prstDash val="solid"/>
          </a:ln>
        </p:spPr>
        <p:txBody>
          <a:bodyPr/>
          <a:lstStyle/>
          <a:p>
            <a:endParaRPr lang="en-US"/>
          </a:p>
        </p:txBody>
      </p:sp>
      <p:sp>
        <p:nvSpPr>
          <p:cNvPr id="21" name="Shape 19"/>
          <p:cNvSpPr/>
          <p:nvPr/>
        </p:nvSpPr>
        <p:spPr>
          <a:xfrm>
            <a:off x="3676734" y="3620208"/>
            <a:ext cx="1315" cy="1052"/>
          </a:xfrm>
          <a:prstGeom prst="line">
            <a:avLst/>
          </a:prstGeom>
          <a:noFill/>
          <a:ln w="12700">
            <a:solidFill>
              <a:srgbClr val="7A8288">
                <a:alpha val="20000"/>
              </a:srgbClr>
            </a:solidFill>
            <a:prstDash val="solid"/>
          </a:ln>
        </p:spPr>
        <p:txBody>
          <a:bodyPr/>
          <a:lstStyle/>
          <a:p>
            <a:endParaRPr lang="en-US"/>
          </a:p>
        </p:txBody>
      </p:sp>
      <p:sp>
        <p:nvSpPr>
          <p:cNvPr id="22" name="Shape 20"/>
          <p:cNvSpPr/>
          <p:nvPr/>
        </p:nvSpPr>
        <p:spPr>
          <a:xfrm>
            <a:off x="2650597" y="2798123"/>
            <a:ext cx="1026138" cy="822085"/>
          </a:xfrm>
          <a:prstGeom prst="line">
            <a:avLst/>
          </a:prstGeom>
          <a:noFill/>
          <a:ln w="12700">
            <a:solidFill>
              <a:srgbClr val="7A8288">
                <a:alpha val="20000"/>
              </a:srgbClr>
            </a:solidFill>
            <a:prstDash val="solid"/>
          </a:ln>
        </p:spPr>
        <p:txBody>
          <a:bodyPr/>
          <a:lstStyle/>
          <a:p>
            <a:endParaRPr lang="en-US"/>
          </a:p>
        </p:txBody>
      </p:sp>
      <p:sp>
        <p:nvSpPr>
          <p:cNvPr id="23" name="Shape 21"/>
          <p:cNvSpPr/>
          <p:nvPr/>
        </p:nvSpPr>
        <p:spPr>
          <a:xfrm>
            <a:off x="1624722" y="1974898"/>
            <a:ext cx="1025875" cy="823225"/>
          </a:xfrm>
          <a:prstGeom prst="line">
            <a:avLst/>
          </a:prstGeom>
          <a:noFill/>
          <a:ln w="12700">
            <a:solidFill>
              <a:srgbClr val="7A8288">
                <a:alpha val="20000"/>
              </a:srgbClr>
            </a:solidFill>
            <a:prstDash val="solid"/>
          </a:ln>
        </p:spPr>
        <p:txBody>
          <a:bodyPr/>
          <a:lstStyle/>
          <a:p>
            <a:endParaRPr lang="en-US"/>
          </a:p>
        </p:txBody>
      </p:sp>
      <p:sp>
        <p:nvSpPr>
          <p:cNvPr id="24" name="Shape 22"/>
          <p:cNvSpPr/>
          <p:nvPr/>
        </p:nvSpPr>
        <p:spPr>
          <a:xfrm>
            <a:off x="599198" y="1151146"/>
            <a:ext cx="1025524" cy="823751"/>
          </a:xfrm>
          <a:prstGeom prst="line">
            <a:avLst/>
          </a:prstGeom>
          <a:noFill/>
          <a:ln w="12700">
            <a:solidFill>
              <a:srgbClr val="7A8288">
                <a:alpha val="20000"/>
              </a:srgbClr>
            </a:solidFill>
            <a:prstDash val="solid"/>
          </a:ln>
        </p:spPr>
        <p:txBody>
          <a:bodyPr/>
          <a:lstStyle/>
          <a:p>
            <a:endParaRPr lang="en-US"/>
          </a:p>
        </p:txBody>
      </p:sp>
      <p:sp>
        <p:nvSpPr>
          <p:cNvPr id="25" name="Shape 23"/>
          <p:cNvSpPr/>
          <p:nvPr/>
        </p:nvSpPr>
        <p:spPr>
          <a:xfrm>
            <a:off x="415577" y="1003267"/>
            <a:ext cx="183621" cy="147879"/>
          </a:xfrm>
          <a:prstGeom prst="line">
            <a:avLst/>
          </a:prstGeom>
          <a:noFill/>
          <a:ln w="12700">
            <a:solidFill>
              <a:srgbClr val="7A8288">
                <a:alpha val="20000"/>
              </a:srgbClr>
            </a:solidFill>
            <a:prstDash val="solid"/>
          </a:ln>
        </p:spPr>
        <p:txBody>
          <a:bodyPr/>
          <a:lstStyle/>
          <a:p>
            <a:endParaRPr lang="en-US"/>
          </a:p>
        </p:txBody>
      </p:sp>
      <p:sp>
        <p:nvSpPr>
          <p:cNvPr id="26" name="Shape 24"/>
          <p:cNvSpPr/>
          <p:nvPr/>
        </p:nvSpPr>
        <p:spPr>
          <a:xfrm>
            <a:off x="9202989" y="9351041"/>
            <a:ext cx="576994" cy="463511"/>
          </a:xfrm>
          <a:prstGeom prst="line">
            <a:avLst/>
          </a:prstGeom>
          <a:noFill/>
          <a:ln w="19050">
            <a:solidFill>
              <a:srgbClr val="C7A400">
                <a:alpha val="20000"/>
              </a:srgbClr>
            </a:solidFill>
            <a:prstDash val="dashDot"/>
          </a:ln>
        </p:spPr>
        <p:txBody>
          <a:bodyPr/>
          <a:lstStyle/>
          <a:p>
            <a:endParaRPr lang="en-US"/>
          </a:p>
        </p:txBody>
      </p:sp>
      <p:sp>
        <p:nvSpPr>
          <p:cNvPr id="27" name="Shape 25"/>
          <p:cNvSpPr/>
          <p:nvPr/>
        </p:nvSpPr>
        <p:spPr>
          <a:xfrm>
            <a:off x="8176149" y="8526939"/>
            <a:ext cx="1026839" cy="824102"/>
          </a:xfrm>
          <a:prstGeom prst="line">
            <a:avLst/>
          </a:prstGeom>
          <a:noFill/>
          <a:ln w="19050">
            <a:solidFill>
              <a:srgbClr val="C7A400">
                <a:alpha val="20000"/>
              </a:srgbClr>
            </a:solidFill>
            <a:prstDash val="dashDot"/>
          </a:ln>
        </p:spPr>
        <p:txBody>
          <a:bodyPr/>
          <a:lstStyle/>
          <a:p>
            <a:endParaRPr lang="en-US"/>
          </a:p>
        </p:txBody>
      </p:sp>
      <p:sp>
        <p:nvSpPr>
          <p:cNvPr id="28" name="Shape 26"/>
          <p:cNvSpPr/>
          <p:nvPr/>
        </p:nvSpPr>
        <p:spPr>
          <a:xfrm>
            <a:off x="7149310" y="7702047"/>
            <a:ext cx="1026839" cy="824891"/>
          </a:xfrm>
          <a:prstGeom prst="line">
            <a:avLst/>
          </a:prstGeom>
          <a:noFill/>
          <a:ln w="19050">
            <a:solidFill>
              <a:srgbClr val="C7A400">
                <a:alpha val="20000"/>
              </a:srgbClr>
            </a:solidFill>
            <a:prstDash val="dashDot"/>
          </a:ln>
        </p:spPr>
        <p:txBody>
          <a:bodyPr/>
          <a:lstStyle/>
          <a:p>
            <a:endParaRPr lang="en-US"/>
          </a:p>
        </p:txBody>
      </p:sp>
      <p:sp>
        <p:nvSpPr>
          <p:cNvPr id="29" name="Shape 27"/>
          <p:cNvSpPr/>
          <p:nvPr/>
        </p:nvSpPr>
        <p:spPr>
          <a:xfrm>
            <a:off x="6124575" y="6879173"/>
            <a:ext cx="1024735" cy="822874"/>
          </a:xfrm>
          <a:prstGeom prst="line">
            <a:avLst/>
          </a:prstGeom>
          <a:noFill/>
          <a:ln w="19050">
            <a:solidFill>
              <a:srgbClr val="C7A400">
                <a:alpha val="20000"/>
              </a:srgbClr>
            </a:solidFill>
            <a:prstDash val="dashDot"/>
          </a:ln>
        </p:spPr>
        <p:txBody>
          <a:bodyPr/>
          <a:lstStyle/>
          <a:p>
            <a:endParaRPr lang="en-US"/>
          </a:p>
        </p:txBody>
      </p:sp>
      <p:sp>
        <p:nvSpPr>
          <p:cNvPr id="30" name="Shape 28"/>
          <p:cNvSpPr/>
          <p:nvPr/>
        </p:nvSpPr>
        <p:spPr>
          <a:xfrm>
            <a:off x="5097561" y="6055860"/>
            <a:ext cx="1027015" cy="823313"/>
          </a:xfrm>
          <a:prstGeom prst="line">
            <a:avLst/>
          </a:prstGeom>
          <a:noFill/>
          <a:ln w="19050">
            <a:solidFill>
              <a:srgbClr val="C7A400">
                <a:alpha val="20000"/>
              </a:srgbClr>
            </a:solidFill>
            <a:prstDash val="dashDot"/>
          </a:ln>
        </p:spPr>
        <p:txBody>
          <a:bodyPr/>
          <a:lstStyle/>
          <a:p>
            <a:endParaRPr lang="en-US"/>
          </a:p>
        </p:txBody>
      </p:sp>
      <p:sp>
        <p:nvSpPr>
          <p:cNvPr id="31" name="Shape 29"/>
          <p:cNvSpPr/>
          <p:nvPr/>
        </p:nvSpPr>
        <p:spPr>
          <a:xfrm>
            <a:off x="4070722" y="5230793"/>
            <a:ext cx="1026839" cy="825067"/>
          </a:xfrm>
          <a:prstGeom prst="line">
            <a:avLst/>
          </a:prstGeom>
          <a:noFill/>
          <a:ln w="19050">
            <a:solidFill>
              <a:srgbClr val="C7A400">
                <a:alpha val="20000"/>
              </a:srgbClr>
            </a:solidFill>
            <a:prstDash val="dashDot"/>
          </a:ln>
        </p:spPr>
        <p:txBody>
          <a:bodyPr/>
          <a:lstStyle/>
          <a:p>
            <a:endParaRPr lang="en-US"/>
          </a:p>
        </p:txBody>
      </p:sp>
      <p:sp>
        <p:nvSpPr>
          <p:cNvPr id="32" name="Shape 30"/>
          <p:cNvSpPr/>
          <p:nvPr/>
        </p:nvSpPr>
        <p:spPr>
          <a:xfrm>
            <a:off x="3046250" y="4407218"/>
            <a:ext cx="1024472" cy="823576"/>
          </a:xfrm>
          <a:prstGeom prst="line">
            <a:avLst/>
          </a:prstGeom>
          <a:noFill/>
          <a:ln w="19050">
            <a:solidFill>
              <a:srgbClr val="C7A400">
                <a:alpha val="20000"/>
              </a:srgbClr>
            </a:solidFill>
            <a:prstDash val="dashDot"/>
          </a:ln>
        </p:spPr>
        <p:txBody>
          <a:bodyPr/>
          <a:lstStyle/>
          <a:p>
            <a:endParaRPr lang="en-US"/>
          </a:p>
        </p:txBody>
      </p:sp>
      <p:sp>
        <p:nvSpPr>
          <p:cNvPr id="33" name="Shape 31"/>
          <p:cNvSpPr/>
          <p:nvPr/>
        </p:nvSpPr>
        <p:spPr>
          <a:xfrm>
            <a:off x="2019761" y="3584869"/>
            <a:ext cx="1026488" cy="822348"/>
          </a:xfrm>
          <a:prstGeom prst="line">
            <a:avLst/>
          </a:prstGeom>
          <a:noFill/>
          <a:ln w="19050">
            <a:solidFill>
              <a:srgbClr val="C7A400">
                <a:alpha val="20000"/>
              </a:srgbClr>
            </a:solidFill>
            <a:prstDash val="dashDot"/>
          </a:ln>
        </p:spPr>
        <p:txBody>
          <a:bodyPr/>
          <a:lstStyle/>
          <a:p>
            <a:endParaRPr lang="en-US"/>
          </a:p>
        </p:txBody>
      </p:sp>
      <p:sp>
        <p:nvSpPr>
          <p:cNvPr id="34" name="Shape 32"/>
          <p:cNvSpPr/>
          <p:nvPr/>
        </p:nvSpPr>
        <p:spPr>
          <a:xfrm>
            <a:off x="993361" y="2761293"/>
            <a:ext cx="1026401" cy="823576"/>
          </a:xfrm>
          <a:prstGeom prst="line">
            <a:avLst/>
          </a:prstGeom>
          <a:noFill/>
          <a:ln w="19050">
            <a:solidFill>
              <a:srgbClr val="C7A400">
                <a:alpha val="20000"/>
              </a:srgbClr>
            </a:solidFill>
            <a:prstDash val="dashDot"/>
          </a:ln>
        </p:spPr>
        <p:txBody>
          <a:bodyPr/>
          <a:lstStyle/>
          <a:p>
            <a:endParaRPr lang="en-US"/>
          </a:p>
        </p:txBody>
      </p:sp>
      <p:sp>
        <p:nvSpPr>
          <p:cNvPr id="35" name="Shape 33"/>
          <p:cNvSpPr/>
          <p:nvPr/>
        </p:nvSpPr>
        <p:spPr>
          <a:xfrm>
            <a:off x="415577" y="2297161"/>
            <a:ext cx="577783" cy="464132"/>
          </a:xfrm>
          <a:prstGeom prst="line">
            <a:avLst/>
          </a:prstGeom>
          <a:noFill/>
          <a:ln w="19050">
            <a:solidFill>
              <a:srgbClr val="C7A400">
                <a:alpha val="20000"/>
              </a:srgbClr>
            </a:solidFill>
            <a:prstDash val="dashDot"/>
          </a:ln>
        </p:spPr>
        <p:txBody>
          <a:bodyPr/>
          <a:lstStyle/>
          <a:p>
            <a:endParaRPr lang="en-US"/>
          </a:p>
        </p:txBody>
      </p:sp>
      <p:sp>
        <p:nvSpPr>
          <p:cNvPr id="47" name="Shape 45"/>
          <p:cNvSpPr/>
          <p:nvPr/>
        </p:nvSpPr>
        <p:spPr>
          <a:xfrm>
            <a:off x="5538286" y="4125648"/>
            <a:ext cx="122765" cy="122765"/>
          </a:xfrm>
          <a:prstGeom prst="rect">
            <a:avLst/>
          </a:prstGeom>
          <a:ln w="19050">
            <a:solidFill>
              <a:srgbClr val="BB00BB">
                <a:alpha val="20000"/>
                <a:alpha val="100000"/>
              </a:srgbClr>
            </a:solidFill>
            <a:prstDash val="solid"/>
          </a:ln>
        </p:spPr>
        <p:txBody>
          <a:bodyPr/>
          <a:lstStyle/>
          <a:p>
            <a:endParaRPr lang="en-US"/>
          </a:p>
        </p:txBody>
      </p:sp>
      <p:sp>
        <p:nvSpPr>
          <p:cNvPr id="48" name="Text 46"/>
          <p:cNvSpPr/>
          <p:nvPr/>
        </p:nvSpPr>
        <p:spPr>
          <a:xfrm>
            <a:off x="5678589" y="4015920"/>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P2.002</a:t>
            </a:r>
            <a:endParaRPr lang="en-US" sz="650" dirty="0"/>
          </a:p>
        </p:txBody>
      </p:sp>
      <p:sp>
        <p:nvSpPr>
          <p:cNvPr id="71" name="Text 69"/>
          <p:cNvSpPr/>
          <p:nvPr/>
        </p:nvSpPr>
        <p:spPr>
          <a:xfrm>
            <a:off x="5861230" y="780354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RRM.545</a:t>
            </a:r>
            <a:endParaRPr lang="en-US" sz="500" dirty="0"/>
          </a:p>
        </p:txBody>
      </p:sp>
      <p:sp>
        <p:nvSpPr>
          <p:cNvPr id="72" name="Text 70"/>
          <p:cNvSpPr/>
          <p:nvPr/>
        </p:nvSpPr>
        <p:spPr>
          <a:xfrm>
            <a:off x="2447494" y="50537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RRM.546</a:t>
            </a:r>
            <a:endParaRPr lang="en-US" sz="500" dirty="0"/>
          </a:p>
        </p:txBody>
      </p:sp>
      <p:sp>
        <p:nvSpPr>
          <p:cNvPr id="73" name="Text 71"/>
          <p:cNvSpPr/>
          <p:nvPr/>
        </p:nvSpPr>
        <p:spPr>
          <a:xfrm>
            <a:off x="7206469" y="612596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RRM.554</a:t>
            </a:r>
            <a:endParaRPr lang="en-US" sz="500" dirty="0"/>
          </a:p>
        </p:txBody>
      </p:sp>
      <p:sp>
        <p:nvSpPr>
          <p:cNvPr id="74" name="Text 72"/>
          <p:cNvSpPr/>
          <p:nvPr/>
        </p:nvSpPr>
        <p:spPr>
          <a:xfrm>
            <a:off x="1730110" y="172800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RRM.556</a:t>
            </a:r>
            <a:endParaRPr lang="en-US" sz="500" dirty="0"/>
          </a:p>
        </p:txBody>
      </p:sp>
      <p:sp>
        <p:nvSpPr>
          <p:cNvPr id="75" name="Text 73"/>
          <p:cNvSpPr/>
          <p:nvPr/>
        </p:nvSpPr>
        <p:spPr>
          <a:xfrm>
            <a:off x="2563156" y="19170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&amp;.24043</a:t>
            </a:r>
            <a:endParaRPr lang="en-US" sz="500" dirty="0"/>
          </a:p>
        </p:txBody>
      </p:sp>
      <p:sp>
        <p:nvSpPr>
          <p:cNvPr id="76" name="Text 74"/>
          <p:cNvSpPr/>
          <p:nvPr/>
        </p:nvSpPr>
        <p:spPr>
          <a:xfrm>
            <a:off x="9261112" y="924243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TCCECH.03.010</a:t>
            </a:r>
            <a:endParaRPr lang="en-US" sz="500" dirty="0"/>
          </a:p>
        </p:txBody>
      </p:sp>
      <p:sp>
        <p:nvSpPr>
          <p:cNvPr id="77" name="Text 75"/>
          <p:cNvSpPr/>
          <p:nvPr/>
        </p:nvSpPr>
        <p:spPr>
          <a:xfrm>
            <a:off x="8234272" y="841833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TCCECH.04.009</a:t>
            </a:r>
            <a:endParaRPr lang="en-US" sz="500" dirty="0"/>
          </a:p>
        </p:txBody>
      </p:sp>
      <p:sp>
        <p:nvSpPr>
          <p:cNvPr id="78" name="Text 76"/>
          <p:cNvSpPr/>
          <p:nvPr/>
        </p:nvSpPr>
        <p:spPr>
          <a:xfrm>
            <a:off x="4128845" y="51221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TCCECH.04.007</a:t>
            </a:r>
            <a:endParaRPr lang="en-US" sz="500" dirty="0"/>
          </a:p>
        </p:txBody>
      </p:sp>
      <p:sp>
        <p:nvSpPr>
          <p:cNvPr id="79" name="Text 77"/>
          <p:cNvSpPr/>
          <p:nvPr/>
        </p:nvSpPr>
        <p:spPr>
          <a:xfrm>
            <a:off x="3104373" y="429861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TCCECH.03.007</a:t>
            </a:r>
            <a:endParaRPr lang="en-US" sz="500" dirty="0"/>
          </a:p>
        </p:txBody>
      </p:sp>
      <p:sp>
        <p:nvSpPr>
          <p:cNvPr id="80" name="Text 78"/>
          <p:cNvSpPr/>
          <p:nvPr/>
        </p:nvSpPr>
        <p:spPr>
          <a:xfrm>
            <a:off x="2077885" y="34762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TCCECH.04.006</a:t>
            </a:r>
            <a:endParaRPr lang="en-US" sz="500" dirty="0"/>
          </a:p>
        </p:txBody>
      </p:sp>
      <p:sp>
        <p:nvSpPr>
          <p:cNvPr id="81" name="Text 79"/>
          <p:cNvSpPr/>
          <p:nvPr/>
        </p:nvSpPr>
        <p:spPr>
          <a:xfrm>
            <a:off x="1051484" y="26526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TCCECH.03.006</a:t>
            </a:r>
            <a:endParaRPr lang="en-US" sz="500" dirty="0"/>
          </a:p>
        </p:txBody>
      </p:sp>
      <p:sp>
        <p:nvSpPr>
          <p:cNvPr id="82" name="Text 80"/>
          <p:cNvSpPr/>
          <p:nvPr/>
        </p:nvSpPr>
        <p:spPr>
          <a:xfrm>
            <a:off x="5155684" y="594725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TCCECH.03.008</a:t>
            </a:r>
            <a:endParaRPr lang="en-US" sz="500" dirty="0"/>
          </a:p>
        </p:txBody>
      </p:sp>
      <p:sp>
        <p:nvSpPr>
          <p:cNvPr id="83" name="Text 81"/>
          <p:cNvSpPr/>
          <p:nvPr/>
        </p:nvSpPr>
        <p:spPr>
          <a:xfrm>
            <a:off x="6182699" y="677057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TCCECH.04.008</a:t>
            </a:r>
            <a:endParaRPr lang="en-US" sz="500" dirty="0"/>
          </a:p>
        </p:txBody>
      </p:sp>
      <p:sp>
        <p:nvSpPr>
          <p:cNvPr id="84" name="Text 82"/>
          <p:cNvSpPr/>
          <p:nvPr/>
        </p:nvSpPr>
        <p:spPr>
          <a:xfrm>
            <a:off x="7207433" y="759344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TCCECH.03.009</a:t>
            </a:r>
            <a:endParaRPr lang="en-US" sz="500" dirty="0"/>
          </a:p>
        </p:txBody>
      </p:sp>
      <p:sp>
        <p:nvSpPr>
          <p:cNvPr id="85" name="Text 83"/>
          <p:cNvSpPr/>
          <p:nvPr/>
        </p:nvSpPr>
        <p:spPr>
          <a:xfrm>
            <a:off x="5657792" y="407842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P2.002</a:t>
            </a:r>
            <a:endParaRPr lang="en-US" sz="500" dirty="0"/>
          </a:p>
        </p:txBody>
      </p:sp>
      <p:sp>
        <p:nvSpPr>
          <p:cNvPr id="86" name="Text 84"/>
          <p:cNvSpPr/>
          <p:nvPr/>
        </p:nvSpPr>
        <p:spPr>
          <a:xfrm>
            <a:off x="6003199" y="364699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HH.E.055</a:t>
            </a:r>
            <a:endParaRPr lang="en-US" sz="500" dirty="0"/>
          </a:p>
        </p:txBody>
      </p:sp>
      <p:sp>
        <p:nvSpPr>
          <p:cNvPr id="87" name="Text 85"/>
          <p:cNvSpPr/>
          <p:nvPr/>
        </p:nvSpPr>
        <p:spPr>
          <a:xfrm>
            <a:off x="4855875" y="258771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HH.E.056</a:t>
            </a:r>
            <a:endParaRPr lang="en-US" sz="500" dirty="0"/>
          </a:p>
        </p:txBody>
      </p:sp>
      <p:sp>
        <p:nvSpPr>
          <p:cNvPr id="88" name="Shape 86"/>
          <p:cNvSpPr/>
          <p:nvPr/>
        </p:nvSpPr>
        <p:spPr>
          <a:xfrm>
            <a:off x="2941094" y="4302062"/>
            <a:ext cx="210312" cy="210312"/>
          </a:xfrm>
          <a:prstGeom prst="ellipse">
            <a:avLst/>
          </a:prstGeom>
          <a:noFill/>
          <a:ln w="28575">
            <a:solidFill>
              <a:srgbClr val="9AA0A6">
                <a:alpha val="20000"/>
              </a:srgbClr>
            </a:solidFill>
            <a:prstDash val="solid"/>
          </a:ln>
        </p:spPr>
        <p:txBody>
          <a:bodyPr/>
          <a:lstStyle/>
          <a:p>
            <a:endParaRPr lang="en-US"/>
          </a:p>
        </p:txBody>
      </p:sp>
      <p:sp>
        <p:nvSpPr>
          <p:cNvPr id="89" name="Shape 87"/>
          <p:cNvSpPr/>
          <p:nvPr/>
        </p:nvSpPr>
        <p:spPr>
          <a:xfrm>
            <a:off x="2991386" y="4352354"/>
            <a:ext cx="109728" cy="109728"/>
          </a:xfrm>
          <a:prstGeom prst="ellipse">
            <a:avLst/>
          </a:prstGeom>
          <a:solidFill>
            <a:srgbClr val="9AA0A6">
              <a:alpha val="20000"/>
            </a:srgbClr>
          </a:solidFill>
          <a:ln w="6350">
            <a:solidFill>
              <a:srgbClr val="9AA0A6">
                <a:alpha val="20000"/>
              </a:srgbClr>
            </a:solidFill>
            <a:prstDash val="solid"/>
          </a:ln>
        </p:spPr>
        <p:txBody>
          <a:bodyPr/>
          <a:lstStyle/>
          <a:p>
            <a:endParaRPr lang="en-US"/>
          </a:p>
        </p:txBody>
      </p:sp>
      <p:sp>
        <p:nvSpPr>
          <p:cNvPr id="90" name="Text 88"/>
          <p:cNvSpPr/>
          <p:nvPr/>
        </p:nvSpPr>
        <p:spPr>
          <a:xfrm>
            <a:off x="3165122" y="418776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TCCECH-03/007</a:t>
            </a:r>
            <a:endParaRPr lang="en-US" sz="650" dirty="0"/>
          </a:p>
        </p:txBody>
      </p:sp>
      <p:sp>
        <p:nvSpPr>
          <p:cNvPr id="91" name="Shape 89"/>
          <p:cNvSpPr/>
          <p:nvPr/>
        </p:nvSpPr>
        <p:spPr>
          <a:xfrm>
            <a:off x="3965566" y="5125637"/>
            <a:ext cx="210312" cy="210312"/>
          </a:xfrm>
          <a:prstGeom prst="ellipse">
            <a:avLst/>
          </a:prstGeom>
          <a:noFill/>
          <a:ln w="28575">
            <a:solidFill>
              <a:srgbClr val="9AA0A6">
                <a:alpha val="20000"/>
              </a:srgbClr>
            </a:solidFill>
            <a:prstDash val="solid"/>
          </a:ln>
        </p:spPr>
        <p:txBody>
          <a:bodyPr/>
          <a:lstStyle/>
          <a:p>
            <a:endParaRPr lang="en-US"/>
          </a:p>
        </p:txBody>
      </p:sp>
      <p:sp>
        <p:nvSpPr>
          <p:cNvPr id="92" name="Shape 90"/>
          <p:cNvSpPr/>
          <p:nvPr/>
        </p:nvSpPr>
        <p:spPr>
          <a:xfrm>
            <a:off x="4015858" y="5175929"/>
            <a:ext cx="109728" cy="109728"/>
          </a:xfrm>
          <a:prstGeom prst="ellipse">
            <a:avLst/>
          </a:prstGeom>
          <a:solidFill>
            <a:srgbClr val="9AA0A6">
              <a:alpha val="20000"/>
            </a:srgbClr>
          </a:solidFill>
          <a:ln w="6350">
            <a:solidFill>
              <a:srgbClr val="9AA0A6">
                <a:alpha val="20000"/>
              </a:srgbClr>
            </a:solidFill>
            <a:prstDash val="solid"/>
          </a:ln>
        </p:spPr>
        <p:txBody>
          <a:bodyPr/>
          <a:lstStyle/>
          <a:p>
            <a:endParaRPr lang="en-US"/>
          </a:p>
        </p:txBody>
      </p:sp>
      <p:sp>
        <p:nvSpPr>
          <p:cNvPr id="93" name="Text 91"/>
          <p:cNvSpPr/>
          <p:nvPr/>
        </p:nvSpPr>
        <p:spPr>
          <a:xfrm>
            <a:off x="4189594" y="5011337"/>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TCCECH-04/007</a:t>
            </a:r>
            <a:endParaRPr lang="en-US" sz="650" dirty="0"/>
          </a:p>
        </p:txBody>
      </p:sp>
      <p:sp>
        <p:nvSpPr>
          <p:cNvPr id="94" name="Shape 92"/>
          <p:cNvSpPr/>
          <p:nvPr/>
        </p:nvSpPr>
        <p:spPr>
          <a:xfrm>
            <a:off x="4992405" y="5950704"/>
            <a:ext cx="210312" cy="210312"/>
          </a:xfrm>
          <a:prstGeom prst="ellipse">
            <a:avLst/>
          </a:prstGeom>
          <a:noFill/>
          <a:ln w="28575">
            <a:solidFill>
              <a:srgbClr val="CC0000">
                <a:alpha val="100000"/>
              </a:srgbClr>
            </a:solidFill>
            <a:prstDash val="solid"/>
          </a:ln>
        </p:spPr>
        <p:txBody>
          <a:bodyPr/>
          <a:lstStyle/>
          <a:p>
            <a:endParaRPr lang="en-US"/>
          </a:p>
        </p:txBody>
      </p:sp>
      <p:sp>
        <p:nvSpPr>
          <p:cNvPr id="95" name="Shape 93"/>
          <p:cNvSpPr/>
          <p:nvPr/>
        </p:nvSpPr>
        <p:spPr>
          <a:xfrm>
            <a:off x="5042697" y="6000996"/>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96" name="Text 94"/>
          <p:cNvSpPr/>
          <p:nvPr/>
        </p:nvSpPr>
        <p:spPr>
          <a:xfrm>
            <a:off x="5216433" y="5836404"/>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TCCECH-03/008</a:t>
            </a:r>
            <a:endParaRPr lang="en-US" sz="650" dirty="0"/>
          </a:p>
        </p:txBody>
      </p:sp>
      <p:sp>
        <p:nvSpPr>
          <p:cNvPr id="97" name="Shape 95"/>
          <p:cNvSpPr/>
          <p:nvPr/>
        </p:nvSpPr>
        <p:spPr>
          <a:xfrm>
            <a:off x="6019419" y="6774017"/>
            <a:ext cx="210312" cy="210312"/>
          </a:xfrm>
          <a:prstGeom prst="ellipse">
            <a:avLst/>
          </a:prstGeom>
          <a:noFill/>
          <a:ln w="28575">
            <a:solidFill>
              <a:srgbClr val="9AA0A6">
                <a:alpha val="20000"/>
              </a:srgbClr>
            </a:solidFill>
            <a:prstDash val="solid"/>
          </a:ln>
        </p:spPr>
        <p:txBody>
          <a:bodyPr/>
          <a:lstStyle/>
          <a:p>
            <a:endParaRPr lang="en-US"/>
          </a:p>
        </p:txBody>
      </p:sp>
      <p:sp>
        <p:nvSpPr>
          <p:cNvPr id="98" name="Shape 96"/>
          <p:cNvSpPr/>
          <p:nvPr/>
        </p:nvSpPr>
        <p:spPr>
          <a:xfrm>
            <a:off x="6069711" y="6824309"/>
            <a:ext cx="109728" cy="109728"/>
          </a:xfrm>
          <a:prstGeom prst="ellipse">
            <a:avLst/>
          </a:prstGeom>
          <a:solidFill>
            <a:srgbClr val="9AA0A6">
              <a:alpha val="20000"/>
            </a:srgbClr>
          </a:solidFill>
          <a:ln w="6350">
            <a:solidFill>
              <a:srgbClr val="9AA0A6">
                <a:alpha val="20000"/>
              </a:srgbClr>
            </a:solidFill>
            <a:prstDash val="solid"/>
          </a:ln>
        </p:spPr>
        <p:txBody>
          <a:bodyPr/>
          <a:lstStyle/>
          <a:p>
            <a:endParaRPr lang="en-US"/>
          </a:p>
        </p:txBody>
      </p:sp>
      <p:sp>
        <p:nvSpPr>
          <p:cNvPr id="99" name="Text 97"/>
          <p:cNvSpPr/>
          <p:nvPr/>
        </p:nvSpPr>
        <p:spPr>
          <a:xfrm>
            <a:off x="6243447" y="6659717"/>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TCCECH-04/008</a:t>
            </a:r>
            <a:endParaRPr lang="en-US" sz="650" dirty="0"/>
          </a:p>
        </p:txBody>
      </p:sp>
      <p:sp>
        <p:nvSpPr>
          <p:cNvPr id="100" name="Shape 98"/>
          <p:cNvSpPr/>
          <p:nvPr/>
        </p:nvSpPr>
        <p:spPr>
          <a:xfrm>
            <a:off x="7044154" y="7596891"/>
            <a:ext cx="210312" cy="210312"/>
          </a:xfrm>
          <a:prstGeom prst="ellipse">
            <a:avLst/>
          </a:prstGeom>
          <a:noFill/>
          <a:ln w="28575">
            <a:solidFill>
              <a:srgbClr val="9AA0A6">
                <a:alpha val="20000"/>
              </a:srgbClr>
            </a:solidFill>
            <a:prstDash val="solid"/>
          </a:ln>
        </p:spPr>
        <p:txBody>
          <a:bodyPr/>
          <a:lstStyle/>
          <a:p>
            <a:endParaRPr lang="en-US"/>
          </a:p>
        </p:txBody>
      </p:sp>
      <p:sp>
        <p:nvSpPr>
          <p:cNvPr id="101" name="Shape 99"/>
          <p:cNvSpPr/>
          <p:nvPr/>
        </p:nvSpPr>
        <p:spPr>
          <a:xfrm>
            <a:off x="7094446" y="7647183"/>
            <a:ext cx="109728" cy="109728"/>
          </a:xfrm>
          <a:prstGeom prst="ellipse">
            <a:avLst/>
          </a:prstGeom>
          <a:solidFill>
            <a:srgbClr val="9AA0A6">
              <a:alpha val="20000"/>
            </a:srgbClr>
          </a:solidFill>
          <a:ln w="6350">
            <a:solidFill>
              <a:srgbClr val="9AA0A6">
                <a:alpha val="20000"/>
              </a:srgbClr>
            </a:solidFill>
            <a:prstDash val="solid"/>
          </a:ln>
        </p:spPr>
        <p:txBody>
          <a:bodyPr/>
          <a:lstStyle/>
          <a:p>
            <a:endParaRPr lang="en-US"/>
          </a:p>
        </p:txBody>
      </p:sp>
      <p:sp>
        <p:nvSpPr>
          <p:cNvPr id="102" name="Text 100"/>
          <p:cNvSpPr/>
          <p:nvPr/>
        </p:nvSpPr>
        <p:spPr>
          <a:xfrm>
            <a:off x="7268182" y="748259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TCCECH-03/009</a:t>
            </a:r>
            <a:endParaRPr lang="en-US" sz="650" dirty="0"/>
          </a:p>
        </p:txBody>
      </p:sp>
      <p:sp>
        <p:nvSpPr>
          <p:cNvPr id="103" name="Shape 101"/>
          <p:cNvSpPr/>
          <p:nvPr/>
        </p:nvSpPr>
        <p:spPr>
          <a:xfrm>
            <a:off x="3620509" y="3379485"/>
            <a:ext cx="210312" cy="210312"/>
          </a:xfrm>
          <a:prstGeom prst="ellipse">
            <a:avLst/>
          </a:prstGeom>
          <a:ln w="28575">
            <a:solidFill>
              <a:srgbClr val="BB00BB"/>
            </a:solidFill>
            <a:prstDash val="solid"/>
          </a:ln>
        </p:spPr>
        <p:txBody>
          <a:bodyPr/>
          <a:lstStyle/>
          <a:p>
            <a:endParaRPr lang="en-US"/>
          </a:p>
        </p:txBody>
      </p:sp>
      <p:sp>
        <p:nvSpPr>
          <p:cNvPr id="104" name="Shape 102"/>
          <p:cNvSpPr/>
          <p:nvPr/>
        </p:nvSpPr>
        <p:spPr>
          <a:xfrm>
            <a:off x="3670801" y="3429777"/>
            <a:ext cx="109728" cy="109728"/>
          </a:xfrm>
          <a:prstGeom prst="ellipse">
            <a:avLst/>
          </a:prstGeom>
          <a:solidFill>
            <a:srgbClr val="FFFFFF"/>
          </a:solidFill>
          <a:ln w="6350">
            <a:solidFill>
              <a:srgbClr val="FFFFFF"/>
            </a:solidFill>
            <a:prstDash val="solid"/>
          </a:ln>
        </p:spPr>
        <p:txBody>
          <a:bodyPr/>
          <a:lstStyle/>
          <a:p>
            <a:endParaRPr lang="en-US"/>
          </a:p>
        </p:txBody>
      </p:sp>
      <p:sp>
        <p:nvSpPr>
          <p:cNvPr id="105" name="Text 103"/>
          <p:cNvSpPr/>
          <p:nvPr/>
        </p:nvSpPr>
        <p:spPr>
          <a:xfrm>
            <a:off x="3844537" y="3265185"/>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RRM.555</a:t>
            </a:r>
            <a:endParaRPr lang="en-US" sz="650" dirty="0"/>
          </a:p>
        </p:txBody>
      </p:sp>
      <p:sp>
        <p:nvSpPr>
          <p:cNvPr id="106" name="Shape 104"/>
          <p:cNvSpPr/>
          <p:nvPr/>
        </p:nvSpPr>
        <p:spPr>
          <a:xfrm>
            <a:off x="10104120" y="777240"/>
            <a:ext cx="4709160" cy="1170432"/>
          </a:xfrm>
          <a:prstGeom prst="rect">
            <a:avLst/>
          </a:prstGeom>
          <a:solidFill>
            <a:srgbClr val="1E2761"/>
          </a:solidFill>
          <a:ln w="9525">
            <a:solidFill>
              <a:srgbClr val="D5DAE0"/>
            </a:solidFill>
            <a:prstDash val="solid"/>
          </a:ln>
        </p:spPr>
        <p:txBody>
          <a:bodyPr/>
          <a:lstStyle/>
          <a:p>
            <a:endParaRPr lang="en-US"/>
          </a:p>
        </p:txBody>
      </p:sp>
      <p:sp>
        <p:nvSpPr>
          <p:cNvPr id="107" name="Text 105"/>
          <p:cNvSpPr/>
          <p:nvPr/>
        </p:nvSpPr>
        <p:spPr>
          <a:xfrm>
            <a:off x="10241280" y="868680"/>
            <a:ext cx="4434840" cy="2743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LOCATION 2 — 1002  ·  REV P08 (FINAL SCOPE)</a:t>
            </a:r>
            <a:endParaRPr lang="en-US" sz="1250" dirty="0"/>
          </a:p>
        </p:txBody>
      </p:sp>
      <p:sp>
        <p:nvSpPr>
          <p:cNvPr id="108" name="Text 106"/>
          <p:cNvSpPr/>
          <p:nvPr/>
        </p:nvSpPr>
        <p:spPr>
          <a:xfrm>
            <a:off x="10241280" y="1179576"/>
            <a:ext cx="4434840" cy="384048"/>
          </a:xfrm>
          <a:prstGeom prst="rect">
            <a:avLst/>
          </a:prstGeom>
          <a:noFill/>
          <a:ln/>
        </p:spPr>
        <p:txBody>
          <a:bodyPr wrap="square" lIns="0" tIns="0" rIns="0" bIns="0" rtlCol="0" anchor="ctr"/>
          <a:lstStyle/>
          <a:p>
            <a:pPr marL="0" indent="0">
              <a:buNone/>
            </a:pPr>
            <a:r>
              <a:rPr sz="800">
                <a:solidFill>
                  <a:srgbClr val="CADCFC"/>
                </a:solidFill>
                <a:latin typeface="Arial"/>
              </a:rPr>
              <a:t>FINAL SCOPE OF WORK 30.07.2026 (supersedes the Rev P06/P07 quantities) — FIELD CONDITION GOVERNS</a:t>
            </a:r>
            <a:endParaRPr lang="en-US" sz="800" dirty="0"/>
          </a:p>
        </p:txBody>
      </p:sp>
      <p:sp>
        <p:nvSpPr>
          <p:cNvPr id="109" name="Text 107"/>
          <p:cNvSpPr/>
          <p:nvPr/>
        </p:nvSpPr>
        <p:spPr>
          <a:xfrm>
            <a:off x="10241280" y="1600200"/>
            <a:ext cx="4434840" cy="310896"/>
          </a:xfrm>
          <a:prstGeom prst="rect">
            <a:avLst/>
          </a:prstGeom>
          <a:noFill/>
          <a:ln/>
        </p:spPr>
        <p:txBody>
          <a:bodyPr wrap="square" lIns="0" tIns="0" rIns="0" bIns="0" rtlCol="0" anchor="ctr"/>
          <a:lstStyle/>
          <a:p>
            <a:pPr marL="0" indent="0">
              <a:buNone/>
            </a:pPr>
            <a:endParaRPr lang="en-US" sz="700" dirty="0"/>
          </a:p>
        </p:txBody>
      </p:sp>
      <p:sp>
        <p:nvSpPr>
          <p:cNvPr id="110" name="Shape 108"/>
          <p:cNvSpPr/>
          <p:nvPr/>
        </p:nvSpPr>
        <p:spPr>
          <a:xfrm>
            <a:off x="10104120" y="2084832"/>
            <a:ext cx="4709160" cy="2372863"/>
          </a:xfrm>
          <a:prstGeom prst="rect">
            <a:avLst/>
          </a:prstGeom>
          <a:solidFill>
            <a:srgbClr val="F4F6F8"/>
          </a:solidFill>
          <a:ln w="9525">
            <a:solidFill>
              <a:srgbClr val="D5DAE0"/>
            </a:solidFill>
            <a:prstDash val="solid"/>
          </a:ln>
        </p:spPr>
        <p:txBody>
          <a:bodyPr/>
          <a:lstStyle/>
          <a:p>
            <a:endParaRPr lang="en-US"/>
          </a:p>
        </p:txBody>
      </p:sp>
      <p:sp>
        <p:nvSpPr>
          <p:cNvPr id="111" name="Text 109"/>
          <p:cNvSpPr/>
          <p:nvPr/>
        </p:nvSpPr>
        <p:spPr>
          <a:xfrm>
            <a:off x="10241280" y="2221992"/>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SCOPE / QUANTITIES (PER FIELD VERIFICATION)</a:t>
            </a:r>
            <a:endParaRPr lang="en-US" sz="950" dirty="0"/>
          </a:p>
        </p:txBody>
      </p:sp>
      <p:sp>
        <p:nvSpPr>
          <p:cNvPr id="112" name="Text 110"/>
          <p:cNvSpPr/>
          <p:nvPr/>
        </p:nvSpPr>
        <p:spPr>
          <a:xfrm>
            <a:off x="10241280" y="2569464"/>
            <a:ext cx="4434840" cy="1751071"/>
          </a:xfrm>
          <a:prstGeom prst="rect">
            <a:avLst/>
          </a:prstGeom>
          <a:noFill/>
          <a:ln/>
        </p:spPr>
        <p:txBody>
          <a:bodyPr wrap="square" lIns="0" tIns="0" rIns="0" bIns="0" rtlCol="0" anchor="t"/>
          <a:lstStyle/>
          <a:p>
            <a:pPr marL="0" indent="0">
              <a:lnSpc>
                <a:spcPct val="112000"/>
              </a:lnSpc>
              <a:spcBef>
                <a:spcPts val="0"/>
              </a:spcBef>
              <a:spcAft>
                <a:spcPts val="0"/>
              </a:spcAft>
              <a:buNone/>
            </a:pPr>
            <a:r>
              <a:rPr sz="720">
                <a:solidFill>
                  <a:srgbClr val="1F2937"/>
                </a:solidFill>
                <a:latin typeface="Arial"/>
              </a:rPr>
              <a:t>FINAL SCOPE (REV P08) — 1 No. FITTING AFFECTED, SAW CUT</a:t>
            </a:r>
            <a:endParaRPr lang="en-US" sz="760" dirty="0"/>
          </a:p>
          <a:p>
            <a:pPr>
              <a:spcBef>
                <a:spcPts val="0"/>
              </a:spcBef>
              <a:spcAft>
                <a:spcPts val="0"/>
              </a:spcAft>
            </a:pPr>
            <a:r>
              <a:rPr sz="720">
                <a:solidFill>
                  <a:srgbClr val="1F2937"/>
                </a:solidFill>
                <a:latin typeface="Arial"/>
              </a:rPr>
              <a:t>CORE OUT 12" EXISTING SHALLOW BASE + INSTALL NEW 12" SIDE-ENTRY SHALLOW BASE + NEW CABLE: 1 No.</a:t>
            </a:r>
          </a:p>
          <a:p>
            <a:pPr>
              <a:spcBef>
                <a:spcPts val="0"/>
              </a:spcBef>
              <a:spcAft>
                <a:spcPts val="0"/>
              </a:spcAft>
            </a:pPr>
            <a:r>
              <a:rPr sz="720">
                <a:solidFill>
                  <a:srgbClr val="1F2937"/>
                </a:solidFill>
                <a:latin typeface="Arial"/>
              </a:rPr>
              <a:t>   • TCCECH-03/008 — 12" coring of the existing shallow base; new 12" side-entry base installed; secondary cable via SAW CUT. Saw cut detail per the SAW CUT &amp; SIDE-ENTRY SHALLOW BASE DETAIL sheet; detail drawing to be issued.</a:t>
            </a:r>
          </a:p>
          <a:p>
            <a:pPr>
              <a:spcBef>
                <a:spcPts val="0"/>
              </a:spcBef>
              <a:spcAft>
                <a:spcPts val="0"/>
              </a:spcAft>
            </a:pPr>
            <a:r>
              <a:rPr sz="720">
                <a:solidFill>
                  <a:srgbClr val="1F2937"/>
                </a:solidFill>
                <a:latin typeface="Arial"/>
              </a:rPr>
              <a:t>DUCTS: the remaining ducts in frame are not affected during milling — no duct works at Location 2.</a:t>
            </a:r>
          </a:p>
          <a:p>
            <a:pPr>
              <a:spcBef>
                <a:spcPts val="0"/>
              </a:spcBef>
              <a:spcAft>
                <a:spcPts val="0"/>
              </a:spcAft>
            </a:pPr>
            <a:r>
              <a:rPr sz="720">
                <a:solidFill>
                  <a:srgbClr val="1F2937"/>
                </a:solidFill>
                <a:latin typeface="Arial"/>
              </a:rPr>
              <a:t>NOT IN THE REV P08 SCOPE — no works: TCCECH-03/007, 04/007, 04/008, 03/009</a:t>
            </a:r>
          </a:p>
          <a:p>
            <a:pPr>
              <a:spcBef>
                <a:spcPts val="0"/>
              </a:spcBef>
              <a:spcAft>
                <a:spcPts val="0"/>
              </a:spcAft>
            </a:pPr>
            <a:r>
              <a:rPr sz="720">
                <a:solidFill>
                  <a:srgbClr val="1F2937"/>
                </a:solidFill>
                <a:latin typeface="Arial"/>
              </a:rPr>
              <a:t>   Rev P06/P07 carried all 5 No. as new-secondary-cable-only via duct; the final scope names 03/008 only.</a:t>
            </a:r>
          </a:p>
          <a:p>
            <a:pPr>
              <a:spcBef>
                <a:spcPts val="0"/>
              </a:spcBef>
              <a:spcAft>
                <a:spcPts val="0"/>
              </a:spcAft>
            </a:pPr>
            <a:r>
              <a:rPr sz="720">
                <a:solidFill>
                  <a:srgbClr val="1F2937"/>
                </a:solidFill>
                <a:latin typeface="Arial"/>
              </a:rPr>
              <a:t>RRM.555 (0.41 m from the cut): REMOVE / PROTECT BEFORE SAW CUT, RE-FIX AFTER PAVING</a:t>
            </a:r>
          </a:p>
          <a:p>
            <a:pPr>
              <a:spcBef>
                <a:spcPts val="0"/>
              </a:spcBef>
              <a:spcAft>
                <a:spcPts val="0"/>
              </a:spcAft>
            </a:pPr>
            <a:r>
              <a:rPr sz="720">
                <a:solidFill>
                  <a:srgbClr val="1F2937"/>
                </a:solidFill>
                <a:latin typeface="Arial"/>
              </a:rPr>
              <a:t>ISOLATE CIRCUITS: TCCECH.03, TCCECH.04</a:t>
            </a:r>
          </a:p>
          <a:p>
            <a:pPr>
              <a:spcBef>
                <a:spcPts val="0"/>
              </a:spcBef>
              <a:spcAft>
                <a:spcPts val="0"/>
              </a:spcAft>
            </a:pPr>
            <a:r>
              <a:rPr sz="720">
                <a:solidFill>
                  <a:srgbClr val="1F2937"/>
                </a:solidFill>
                <a:latin typeface="Arial"/>
              </a:rPr>
              <a:t>Rev P08 supersedes the Rev P06/P07 quantities. Superseded = no works under this revision; it is not a field verification that the asset is unaffected.</a:t>
            </a:r>
          </a:p>
          <a:p>
            <a:pPr>
              <a:spcBef>
                <a:spcPts val="0"/>
              </a:spcBef>
              <a:spcAft>
                <a:spcPts val="0"/>
              </a:spcAft>
            </a:pPr>
            <a:r>
              <a:rPr sz="720">
                <a:solidFill>
                  <a:srgbClr val="1F2937"/>
                </a:solidFill>
                <a:latin typeface="Arial"/>
              </a:rPr>
              <a:t>RED AGL WORKS AREA = the Rev P05 field-condition milling extent, unchanged at Rev P08 — the civil milling limit.</a:t>
            </a:r>
          </a:p>
        </p:txBody>
      </p:sp>
      <p:sp>
        <p:nvSpPr>
          <p:cNvPr id="113" name="Shape 111"/>
          <p:cNvSpPr/>
          <p:nvPr/>
        </p:nvSpPr>
        <p:spPr>
          <a:xfrm>
            <a:off x="10104120" y="4594855"/>
            <a:ext cx="4709160" cy="2541898"/>
          </a:xfrm>
          <a:prstGeom prst="rect">
            <a:avLst/>
          </a:prstGeom>
          <a:solidFill>
            <a:srgbClr val="FFFFFF"/>
          </a:solidFill>
          <a:ln w="9525">
            <a:solidFill>
              <a:srgbClr val="D5DAE0"/>
            </a:solidFill>
            <a:prstDash val="solid"/>
          </a:ln>
        </p:spPr>
        <p:txBody>
          <a:bodyPr/>
          <a:lstStyle/>
          <a:p>
            <a:endParaRPr lang="en-US"/>
          </a:p>
        </p:txBody>
      </p:sp>
      <p:sp>
        <p:nvSpPr>
          <p:cNvPr id="114" name="Text 112"/>
          <p:cNvSpPr/>
          <p:nvPr/>
        </p:nvSpPr>
        <p:spPr>
          <a:xfrm>
            <a:off x="10241280" y="4732015"/>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GENERAL NOTES</a:t>
            </a:r>
            <a:endParaRPr lang="en-US" sz="950" dirty="0"/>
          </a:p>
        </p:txBody>
      </p:sp>
      <p:sp>
        <p:nvSpPr>
          <p:cNvPr id="115" name="Text 113"/>
          <p:cNvSpPr/>
          <p:nvPr/>
        </p:nvSpPr>
        <p:spPr>
          <a:xfrm>
            <a:off x="10241280" y="5079487"/>
            <a:ext cx="4434840" cy="1920106"/>
          </a:xfrm>
          <a:prstGeom prst="rect">
            <a:avLst/>
          </a:prstGeom>
          <a:noFill/>
          <a:ln/>
        </p:spPr>
        <p:txBody>
          <a:bodyPr wrap="square" lIns="0" tIns="0" rIns="0" bIns="0" rtlCol="0" anchor="t"/>
          <a:lstStyle/>
          <a:p>
            <a:pPr marL="0" indent="0">
              <a:lnSpc>
                <a:spcPct val="110000"/>
              </a:lnSpc>
              <a:buNone/>
            </a:pPr>
            <a:r>
              <a:rPr sz="700">
                <a:solidFill>
                  <a:srgbClr val="5F6368"/>
                </a:solidFill>
                <a:latin typeface="Arial"/>
              </a:rPr>
              <a:t>1.  Positions plotted are ZIA LOCAL PROJECT GRID metres. The EPSG:32640 reference carried on Rev P06 is withdrawn — no surveyed local-to-UTM transform is held, so no UTM coordinate is to be taken from this sheet.</a:t>
            </a:r>
            <a:endParaRPr lang="en-US" sz="680" dirty="0"/>
          </a:p>
          <a:p>
            <a:r>
              <a:rPr sz="700">
                <a:solidFill>
                  <a:srgbClr val="5F6368"/>
                </a:solidFill>
                <a:latin typeface="Arial"/>
              </a:rPr>
              <a:t>2.  AGL works area (red) is the Rev P05 field-condition milling extent, unchanged at Rev P08 — it is the civil milling limit and is not derived from the affected-asset positions.</a:t>
            </a:r>
          </a:p>
          <a:p>
            <a:r>
              <a:rPr sz="700">
                <a:solidFill>
                  <a:srgbClr val="5F6368"/>
                </a:solidFill>
                <a:latin typeface="Arial"/>
              </a:rPr>
              <a:t>3.  Duct / ductbank / conduit / saw cut lines are as-built geometry lifted from ADA drawing Z1-Z2-Z3-MTA_SEGMENTATION.dxf. The source layer name carries the duct size and way-count.</a:t>
            </a:r>
          </a:p>
          <a:p>
            <a:r>
              <a:rPr sz="700">
                <a:solidFill>
                  <a:srgbClr val="5F6368"/>
                </a:solidFill>
                <a:latin typeface="Arial"/>
              </a:rPr>
              <a:t>4.  Ducts are drawn as the separate segments they are in the source. Continuity is not proven — a continuous pull length is not to be taken from this sheet.</a:t>
            </a:r>
          </a:p>
          <a:p>
            <a:r>
              <a:rPr sz="700">
                <a:solidFill>
                  <a:srgbClr val="5F6368"/>
                </a:solidFill>
                <a:latin typeface="Arial"/>
              </a:rPr>
              <a:t>5.  Isolate, lock out and prove dead all listed circuits at the CCR under permit before cutting, coring or excavation.</a:t>
            </a:r>
          </a:p>
          <a:p>
            <a:r>
              <a:rPr sz="700">
                <a:solidFill>
                  <a:srgbClr val="5F6368"/>
                </a:solidFill>
                <a:latin typeface="Arial"/>
              </a:rPr>
              <a:t>6.  HH / MH / transformer-pit / RRM symbols sit approximately 2.1–2.3 m off the source insertion point; set out civil features from survey.</a:t>
            </a:r>
          </a:p>
          <a:p>
            <a:r>
              <a:rPr sz="700">
                <a:solidFill>
                  <a:srgbClr val="5F6368"/>
                </a:solidFill>
                <a:latin typeface="Arial"/>
              </a:rPr>
              <a:t>7.  Centreline and stop bar are taken from the as-built TCC / SBC fittings. Taxiway edge is indicative at 23 m — to be confirmed on site.</a:t>
            </a:r>
          </a:p>
          <a:p>
            <a:r>
              <a:rPr sz="700">
                <a:solidFill>
                  <a:srgbClr val="5F6368"/>
                </a:solidFill>
                <a:latin typeface="Arial"/>
              </a:rPr>
              <a:t>8.  Every asset in frame carries its own as-built symbol, legended right. Type is taken from the source layer, not from the label.</a:t>
            </a:r>
          </a:p>
        </p:txBody>
      </p:sp>
      <p:sp>
        <p:nvSpPr>
          <p:cNvPr id="116" name="Shape 114"/>
          <p:cNvSpPr/>
          <p:nvPr/>
        </p:nvSpPr>
        <p:spPr>
          <a:xfrm>
            <a:off x="10104120" y="7273913"/>
            <a:ext cx="4709160" cy="2481072"/>
          </a:xfrm>
          <a:prstGeom prst="rect">
            <a:avLst/>
          </a:prstGeom>
          <a:solidFill>
            <a:srgbClr val="F4F6F8"/>
          </a:solidFill>
          <a:ln w="9525">
            <a:solidFill>
              <a:srgbClr val="D5DAE0"/>
            </a:solidFill>
            <a:prstDash val="solid"/>
          </a:ln>
        </p:spPr>
        <p:txBody>
          <a:bodyPr/>
          <a:lstStyle/>
          <a:p>
            <a:endParaRPr lang="en-US"/>
          </a:p>
        </p:txBody>
      </p:sp>
      <p:sp>
        <p:nvSpPr>
          <p:cNvPr id="117" name="Text 115"/>
          <p:cNvSpPr/>
          <p:nvPr/>
        </p:nvSpPr>
        <p:spPr>
          <a:xfrm>
            <a:off x="10241280" y="7411073"/>
            <a:ext cx="218742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LEGEND — THIS SHEET</a:t>
            </a:r>
            <a:endParaRPr lang="en-US" sz="950" dirty="0"/>
          </a:p>
        </p:txBody>
      </p:sp>
      <p:sp>
        <p:nvSpPr>
          <p:cNvPr id="118" name="Shape 116"/>
          <p:cNvSpPr/>
          <p:nvPr/>
        </p:nvSpPr>
        <p:spPr>
          <a:xfrm>
            <a:off x="10241280" y="7973229"/>
            <a:ext cx="192024" cy="192024"/>
          </a:xfrm>
          <a:prstGeom prst="ellipse">
            <a:avLst/>
          </a:prstGeom>
          <a:noFill/>
          <a:ln w="28575">
            <a:solidFill>
              <a:srgbClr val="CC0000"/>
            </a:solidFill>
            <a:prstDash val="solid"/>
          </a:ln>
        </p:spPr>
        <p:txBody>
          <a:bodyPr/>
          <a:lstStyle/>
          <a:p>
            <a:endParaRPr lang="en-US"/>
          </a:p>
        </p:txBody>
      </p:sp>
      <p:sp>
        <p:nvSpPr>
          <p:cNvPr id="170" name="P08 170"/>
          <p:cNvSpPr/>
          <p:nvPr/>
        </p:nvSpPr>
        <p:spPr>
          <a:xfrm>
            <a:off x="10241280" y="8369469"/>
            <a:ext cx="192024" cy="192024"/>
          </a:xfrm>
          <a:prstGeom prst="ellipse">
            <a:avLst/>
          </a:prstGeom>
          <a:noFill/>
          <a:ln w="28575">
            <a:solidFill>
              <a:srgbClr val="BB00BB"/>
            </a:solidFill>
            <a:prstDash val="solid"/>
          </a:ln>
        </p:spPr>
        <p:txBody>
          <a:bodyPr/>
          <a:lstStyle/>
          <a:p>
            <a:endParaRPr lang="en-US"/>
          </a:p>
        </p:txBody>
      </p:sp>
      <p:sp>
        <p:nvSpPr>
          <p:cNvPr id="119" name="Shape 117"/>
          <p:cNvSpPr/>
          <p:nvPr/>
        </p:nvSpPr>
        <p:spPr>
          <a:xfrm>
            <a:off x="10287000" y="8018949"/>
            <a:ext cx="100584" cy="100584"/>
          </a:xfrm>
          <a:prstGeom prst="ellipse">
            <a:avLst/>
          </a:prstGeom>
          <a:solidFill>
            <a:srgbClr val="E8710A"/>
          </a:solidFill>
          <a:ln w="6350">
            <a:solidFill>
              <a:srgbClr val="E8710A"/>
            </a:solidFill>
            <a:prstDash val="solid"/>
          </a:ln>
        </p:spPr>
        <p:txBody>
          <a:bodyPr/>
          <a:lstStyle/>
          <a:p>
            <a:endParaRPr lang="en-US"/>
          </a:p>
        </p:txBody>
      </p:sp>
      <p:sp>
        <p:nvSpPr>
          <p:cNvPr id="171" name="P08 171"/>
          <p:cNvSpPr/>
          <p:nvPr/>
        </p:nvSpPr>
        <p:spPr>
          <a:xfrm>
            <a:off x="10287000" y="8415189"/>
            <a:ext cx="100584" cy="100584"/>
          </a:xfrm>
          <a:prstGeom prst="ellipse">
            <a:avLst/>
          </a:prstGeom>
          <a:solidFill>
            <a:srgbClr val="FFFFFF"/>
          </a:solidFill>
          <a:ln w="6350">
            <a:solidFill>
              <a:srgbClr val="FFFFFF"/>
            </a:solidFill>
            <a:prstDash val="solid"/>
          </a:ln>
        </p:spPr>
        <p:txBody>
          <a:bodyPr/>
          <a:lstStyle/>
          <a:p>
            <a:endParaRPr lang="en-US"/>
          </a:p>
        </p:txBody>
      </p:sp>
      <p:sp>
        <p:nvSpPr>
          <p:cNvPr id="120" name="Text 118"/>
          <p:cNvSpPr/>
          <p:nvPr/>
        </p:nvSpPr>
        <p:spPr>
          <a:xfrm>
            <a:off x="10552176" y="7960529"/>
            <a:ext cx="1876524" cy="396240"/>
          </a:xfrm>
          <a:prstGeom prst="rect">
            <a:avLst/>
          </a:prstGeom>
          <a:noFill/>
          <a:ln/>
        </p:spPr>
        <p:txBody>
          <a:bodyPr wrap="square" lIns="0" tIns="0" rIns="0" bIns="0" rtlCol="0" anchor="ctr"/>
          <a:lstStyle/>
          <a:p>
            <a:pPr marL="0" indent="0">
              <a:buNone/>
            </a:pPr>
            <a:r>
              <a:rPr sz="700">
                <a:solidFill>
                  <a:srgbClr val="1F2937"/>
                </a:solidFill>
                <a:latin typeface="Arial"/>
              </a:rPr>
              <a:t>CORE OUT 12" — NEW 12" SIDE-ENTRY BASE (SAW CUT)</a:t>
            </a:r>
            <a:endParaRPr lang="en-US" sz="740" dirty="0"/>
          </a:p>
        </p:txBody>
      </p:sp>
      <p:sp>
        <p:nvSpPr>
          <p:cNvPr id="172" name="P08 172"/>
          <p:cNvSpPr/>
          <p:nvPr/>
        </p:nvSpPr>
        <p:spPr>
          <a:xfrm>
            <a:off x="10552176" y="8356769"/>
            <a:ext cx="1876524" cy="396240"/>
          </a:xfrm>
          <a:prstGeom prst="rect">
            <a:avLst/>
          </a:prstGeom>
          <a:noFill/>
          <a:ln/>
        </p:spPr>
        <p:txBody>
          <a:bodyPr wrap="square" lIns="0" tIns="0" rIns="0" bIns="0" rtlCol="0" anchor="ctr"/>
          <a:lstStyle/>
          <a:p>
            <a:pPr marL="0" indent="0">
              <a:buNone/>
            </a:pPr>
            <a:r>
              <a:rPr sz="700">
                <a:solidFill>
                  <a:srgbClr val="1F2937"/>
                </a:solidFill>
                <a:latin typeface="Arial"/>
              </a:rPr>
              <a:t>RRM — REMOVE / PROTECT / RE-FIX</a:t>
            </a:r>
            <a:endParaRPr lang="en-US" sz="740" dirty="0"/>
          </a:p>
        </p:txBody>
      </p:sp>
      <p:sp>
        <p:nvSpPr>
          <p:cNvPr id="126" name="Shape 124"/>
          <p:cNvSpPr/>
          <p:nvPr/>
        </p:nvSpPr>
        <p:spPr>
          <a:xfrm>
            <a:off x="10241280" y="8862229"/>
            <a:ext cx="274320" cy="914"/>
          </a:xfrm>
          <a:prstGeom prst="line">
            <a:avLst/>
          </a:prstGeom>
          <a:noFill/>
          <a:ln w="22225">
            <a:solidFill>
              <a:srgbClr val="0B3D91"/>
            </a:solidFill>
            <a:prstDash val="solid"/>
          </a:ln>
        </p:spPr>
        <p:txBody>
          <a:bodyPr/>
          <a:lstStyle/>
          <a:p>
            <a:endParaRPr lang="en-US"/>
          </a:p>
        </p:txBody>
      </p:sp>
      <p:sp>
        <p:nvSpPr>
          <p:cNvPr id="127" name="Text 125"/>
          <p:cNvSpPr/>
          <p:nvPr/>
        </p:nvSpPr>
        <p:spPr>
          <a:xfrm>
            <a:off x="10588752" y="8753009"/>
            <a:ext cx="1839948" cy="396240"/>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SECONDARY CABLE — SAW CUT ROUTE (REV P08)</a:t>
            </a:r>
            <a:endParaRPr lang="en-US" sz="740" dirty="0"/>
          </a:p>
        </p:txBody>
      </p:sp>
      <p:sp>
        <p:nvSpPr>
          <p:cNvPr id="130" name="Shape 128"/>
          <p:cNvSpPr/>
          <p:nvPr/>
        </p:nvSpPr>
        <p:spPr>
          <a:xfrm>
            <a:off x="10241280" y="9654709"/>
            <a:ext cx="274320" cy="914"/>
          </a:xfrm>
          <a:prstGeom prst="line">
            <a:avLst/>
          </a:prstGeom>
          <a:noFill/>
          <a:ln w="31750">
            <a:solidFill>
              <a:srgbClr val="CC0000"/>
            </a:solidFill>
            <a:prstDash val="solid"/>
          </a:ln>
        </p:spPr>
        <p:txBody>
          <a:bodyPr/>
          <a:lstStyle/>
          <a:p>
            <a:endParaRPr lang="en-US"/>
          </a:p>
        </p:txBody>
      </p:sp>
      <p:sp>
        <p:nvSpPr>
          <p:cNvPr id="131" name="Text 129"/>
          <p:cNvSpPr/>
          <p:nvPr/>
        </p:nvSpPr>
        <p:spPr>
          <a:xfrm>
            <a:off x="10588752" y="9545489"/>
            <a:ext cx="1839948" cy="274320"/>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AGL WORKS AREA (GOVERNING)</a:t>
            </a:r>
            <a:endParaRPr lang="en-US" sz="740" dirty="0"/>
          </a:p>
        </p:txBody>
      </p:sp>
      <p:sp>
        <p:nvSpPr>
          <p:cNvPr id="156" name="TextBox 155"/>
          <p:cNvSpPr txBox="1"/>
          <p:nvPr/>
        </p:nvSpPr>
        <p:spPr>
          <a:xfrm>
            <a:off x="10241280" y="7667921"/>
            <a:ext cx="2187420" cy="200000"/>
          </a:xfrm>
          <a:prstGeom prst="rect">
            <a:avLst/>
          </a:prstGeom>
          <a:noFill/>
        </p:spPr>
        <p:txBody>
          <a:bodyPr wrap="square" lIns="0" tIns="0" rIns="0" bIns="0">
            <a:spAutoFit/>
          </a:bodyPr>
          <a:lstStyle/>
          <a:p>
            <a:r>
              <a:rPr sz="750" b="1">
                <a:solidFill>
                  <a:srgbClr val="5F6368"/>
                </a:solidFill>
              </a:rPr>
              <a:t>WORKS ACTIONS &amp; LINEWORK</a:t>
            </a:r>
          </a:p>
        </p:txBody>
      </p:sp>
      <p:sp>
        <p:nvSpPr>
          <p:cNvPr id="157" name="TextBox 156"/>
          <p:cNvSpPr txBox="1"/>
          <p:nvPr/>
        </p:nvSpPr>
        <p:spPr>
          <a:xfrm>
            <a:off x="12488700" y="7667921"/>
            <a:ext cx="2187420" cy="200000"/>
          </a:xfrm>
          <a:prstGeom prst="rect">
            <a:avLst/>
          </a:prstGeom>
          <a:noFill/>
        </p:spPr>
        <p:txBody>
          <a:bodyPr wrap="square" lIns="0" tIns="0" rIns="0" bIns="0">
            <a:spAutoFit/>
          </a:bodyPr>
          <a:lstStyle/>
          <a:p>
            <a:r>
              <a:rPr sz="750" b="1">
                <a:solidFill>
                  <a:srgbClr val="5F6368"/>
                </a:solidFill>
              </a:rPr>
              <a:t>AS-BUILT AGL ASSETS</a:t>
            </a:r>
          </a:p>
        </p:txBody>
      </p:sp>
      <p:sp>
        <p:nvSpPr>
          <p:cNvPr id="160" name="ASBUILT ASSET · Runway guard light / RRM"/>
          <p:cNvSpPr/>
          <p:nvPr/>
        </p:nvSpPr>
        <p:spPr>
          <a:xfrm>
            <a:off x="12548408" y="8025237"/>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p:cNvSpPr txBox="1"/>
          <p:nvPr/>
        </p:nvSpPr>
        <p:spPr>
          <a:xfrm>
            <a:off x="12738700" y="7960529"/>
            <a:ext cx="1937420" cy="230000"/>
          </a:xfrm>
          <a:prstGeom prst="rect">
            <a:avLst/>
          </a:prstGeom>
          <a:noFill/>
        </p:spPr>
        <p:txBody>
          <a:bodyPr wrap="square" lIns="0" tIns="0" rIns="0" bIns="0">
            <a:spAutoFit/>
          </a:bodyPr>
          <a:lstStyle/>
          <a:p>
            <a:r>
              <a:rPr sz="700">
                <a:solidFill>
                  <a:srgbClr val="20242A"/>
                </a:solidFill>
              </a:rPr>
              <a:t>RUNWAY GUARD LIGHT / RRM  (5)</a:t>
            </a:r>
          </a:p>
        </p:txBody>
      </p:sp>
      <p:sp>
        <p:nvSpPr>
          <p:cNvPr id="162" name="ASBUILT ASSET · Handhole"/>
          <p:cNvSpPr/>
          <p:nvPr/>
        </p:nvSpPr>
        <p:spPr>
          <a:xfrm>
            <a:off x="12534692" y="8285841"/>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162"/>
          <p:cNvSpPr txBox="1"/>
          <p:nvPr/>
        </p:nvSpPr>
        <p:spPr>
          <a:xfrm>
            <a:off x="12738700" y="8234849"/>
            <a:ext cx="1937420" cy="230000"/>
          </a:xfrm>
          <a:prstGeom prst="rect">
            <a:avLst/>
          </a:prstGeom>
          <a:noFill/>
        </p:spPr>
        <p:txBody>
          <a:bodyPr wrap="square" lIns="0" tIns="0" rIns="0" bIns="0">
            <a:spAutoFit/>
          </a:bodyPr>
          <a:lstStyle/>
          <a:p>
            <a:r>
              <a:rPr sz="700">
                <a:solidFill>
                  <a:srgbClr val="20242A"/>
                </a:solidFill>
              </a:rPr>
              <a:t>HANDHOLE (HH)  (2)</a:t>
            </a:r>
          </a:p>
        </p:txBody>
      </p:sp>
      <p:sp>
        <p:nvSpPr>
          <p:cNvPr id="164" name="ASBUILT ASSET · Existing transformer handhole"/>
          <p:cNvSpPr/>
          <p:nvPr/>
        </p:nvSpPr>
        <p:spPr>
          <a:xfrm>
            <a:off x="12525548" y="8551017"/>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TextBox 164"/>
          <p:cNvSpPr txBox="1"/>
          <p:nvPr/>
        </p:nvSpPr>
        <p:spPr>
          <a:xfrm>
            <a:off x="12738700" y="8509169"/>
            <a:ext cx="1937420" cy="230000"/>
          </a:xfrm>
          <a:prstGeom prst="rect">
            <a:avLst/>
          </a:prstGeom>
          <a:noFill/>
        </p:spPr>
        <p:txBody>
          <a:bodyPr wrap="square" lIns="0" tIns="0" rIns="0" bIns="0">
            <a:spAutoFit/>
          </a:bodyPr>
          <a:lstStyle/>
          <a:p>
            <a:r>
              <a:rPr sz="700">
                <a:solidFill>
                  <a:srgbClr val="20242A"/>
                </a:solidFill>
              </a:rPr>
              <a:t>TRANSFORMER HH (SEC. FEED HUB)  (1)</a:t>
            </a:r>
          </a:p>
        </p:txBody>
      </p:sp>
      <p:sp>
        <p:nvSpPr>
          <p:cNvPr id="9201" name="P08 LEG NEWSC LINE"/>
          <p:cNvSpPr/>
          <p:nvPr/>
        </p:nvSpPr>
        <p:spPr>
          <a:xfrm>
            <a:off x="10241280" y="9258469"/>
            <a:ext cx="274320" cy="914"/>
          </a:xfrm>
          <a:prstGeom prst="line">
            <a:avLst/>
          </a:prstGeom>
          <a:noFill/>
          <a:ln w="31750">
            <a:solidFill>
              <a:srgbClr val="7030A0"/>
            </a:solidFill>
            <a:prstDash val="solid"/>
          </a:ln>
        </p:spPr>
        <p:txBody>
          <a:bodyPr/>
          <a:lstStyle/>
          <a:p>
            <a:endParaRPr lang="en-US"/>
          </a:p>
        </p:txBody>
      </p:sp>
      <p:sp>
        <p:nvSpPr>
          <p:cNvPr id="9202" name="P08 LEG NEWSC TXT"/>
          <p:cNvSpPr/>
          <p:nvPr/>
        </p:nvSpPr>
        <p:spPr>
          <a:xfrm>
            <a:off x="10589260" y="9149249"/>
            <a:ext cx="1839948" cy="396240"/>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NEW SAW CUT — SECONDARY CABLE (REV P08)</a:t>
            </a:r>
            <a:endParaRPr lang="en-US" sz="740" dirty="0"/>
          </a:p>
        </p:txBody>
      </p:sp>
      <p:sp>
        <p:nvSpPr>
          <p:cNvPr id="49" name="AGL WORKS AREA FILL"/>
          <p:cNvSpPr/>
          <p:nvPr/>
        </p:nvSpPr>
        <p:spPr>
          <a:xfrm>
            <a:off x="2796862" y="4158882"/>
            <a:ext cx="4601134" cy="3792290"/>
          </a:xfrm>
          <a:custGeom>
            <a:avLst/>
            <a:gdLst/>
            <a:ahLst/>
            <a:cxnLst/>
            <a:rect l="l" t="t" r="r" b="b"/>
            <a:pathLst>
              <a:path w="4601134" h="3792290">
                <a:moveTo>
                  <a:pt x="220275" y="0"/>
                </a:moveTo>
                <a:lnTo>
                  <a:pt x="4601134" y="3517999"/>
                </a:lnTo>
                <a:lnTo>
                  <a:pt x="4380859" y="3792290"/>
                </a:lnTo>
                <a:lnTo>
                  <a:pt x="0" y="274379"/>
                </a:lnTo>
                <a:close/>
              </a:path>
            </a:pathLst>
          </a:custGeom>
          <a:solidFill>
            <a:srgbClr val="CC0000">
              <a:alpha val="34000"/>
            </a:srgbClr>
          </a:solidFill>
          <a:ln w="19050">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 AREA CAPTION"/>
          <p:cNvSpPr/>
          <p:nvPr/>
        </p:nvSpPr>
        <p:spPr>
          <a:xfrm>
            <a:off x="2130000" y="3900000"/>
            <a:ext cx="3341727" cy="201168"/>
          </a:xfrm>
          <a:prstGeom prst="rect">
            <a:avLst/>
          </a:prstGeom>
          <a:solidFill>
            <a:srgbClr val="FFFFFF"/>
          </a:solidFill>
          <a:ln>
            <a:noFill/>
          </a:ln>
        </p:spPr>
        <p:txBody>
          <a:bodyPr wrap="square" lIns="0" tIns="0" rIns="0" bIns="0" rtlCol="0" anchor="ctr"/>
          <a:lstStyle/>
          <a:p>
            <a:pPr marL="0" indent="0">
              <a:buNone/>
            </a:pPr>
            <a:r>
              <a:rPr lang="en-US" sz="800" b="1" dirty="0">
                <a:solidFill>
                  <a:srgbClr val="CC0000"/>
                </a:solidFill>
                <a:latin typeface="Arial" pitchFamily="34" charset="0"/>
                <a:ea typeface="Arial" pitchFamily="34" charset="-122"/>
                <a:cs typeface="Arial" pitchFamily="34" charset="-120"/>
              </a:rPr>
              <a:t>AGL WORKS AREA — FIELD CONDITION (257.1 m² TOTAL)</a:t>
            </a:r>
            <a:endParaRPr lang="en-US" sz="800" dirty="0"/>
          </a:p>
        </p:txBody>
      </p:sp>
      <p:pic>
        <p:nvPicPr>
          <p:cNvPr id="9203" name="ADB SAFEGATE LOGO" descr="logo-adb.png"/>
          <p:cNvPicPr>
            <a:picLocks noChangeAspect="1"/>
          </p:cNvPicPr>
          <p:nvPr/>
        </p:nvPicPr>
        <p:blipFill>
          <a:blip r:embed="rId3"/>
          <a:stretch>
            <a:fillRect/>
          </a:stretch>
        </p:blipFill>
        <p:spPr>
          <a:xfrm>
            <a:off x="13554972" y="175260"/>
            <a:ext cx="1258308" cy="434340"/>
          </a:xfrm>
          <a:prstGeom prst="rect">
            <a:avLst/>
          </a:prstGeom>
        </p:spPr>
      </p:pic>
      <p:sp>
        <p:nvSpPr>
          <p:cNvPr id="9204" name="SHEET FOOTER"/>
          <p:cNvSpPr txBox="1"/>
          <p:nvPr/>
        </p:nvSpPr>
        <p:spPr>
          <a:xfrm>
            <a:off x="320040" y="10390000"/>
            <a:ext cx="14493240" cy="190500"/>
          </a:xfrm>
          <a:prstGeom prst="rect">
            <a:avLst/>
          </a:prstGeom>
          <a:noFill/>
        </p:spPr>
        <p:txBody>
          <a:bodyPr wrap="square" lIns="0" rIns="0" tIns="0" bIns="0">
            <a:spAutoFit/>
          </a:bodyPr>
          <a:lstStyle/>
          <a:p>
            <a:r>
              <a:rPr sz="700">
                <a:solidFill>
                  <a:srgbClr val="5F6368"/>
                </a:solidFill>
                <a:latin typeface="Arial"/>
              </a:rPr>
              <a:t>Field condition governs.  Quantities are per the Rev P08 final scope of work (30.07.2026) and are for check by the Engineer.     ·     AUH-SK-AGL-TWYE-001 REV P08 (FINAL SCOPE)  ·  Prepared: Mohammed Faheem, AGL Team Leader — ADB SAFEGATE  ·  Approved: Ragesh Menon, AGL Manager</a:t>
            </a:r>
          </a:p>
        </p:txBody>
      </p:sp>
    </p:spTree>
    <p:extLst>
      <p:ext uri="{BB962C8B-B14F-4D97-AF65-F5344CB8AC3E}">
        <p14:creationId xmlns:p14="http://schemas.microsoft.com/office/powerpoint/2010/main" val="2437106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96000"/>
            <a:ext cx="13100000" cy="411480"/>
          </a:xfrm>
          <a:prstGeom prst="rect">
            <a:avLst/>
          </a:prstGeom>
          <a:noFill/>
          <a:ln/>
        </p:spPr>
        <p:txBody>
          <a:bodyPr wrap="none" lIns="0" tIns="0" rIns="0" bIns="0" rtlCol="0" anchor="ctr"/>
          <a:lstStyle/>
          <a:p>
            <a:pPr marL="0" indent="0">
              <a:buNone/>
            </a:pPr>
            <a:r>
              <a:rPr lang="en-US" sz="1325" b="1" dirty="0">
                <a:solidFill>
                  <a:srgbClr val="1E2761"/>
                </a:solidFill>
                <a:latin typeface="Arial" pitchFamily="34" charset="0"/>
                <a:ea typeface="Arial" pitchFamily="34" charset="-122"/>
                <a:cs typeface="Arial" pitchFamily="34" charset="-120"/>
              </a:rPr>
              <a:t>SHOP DRAWING — ELECTRICAL / AGL SCOPE (FIELD-GOVERNED)   ·   TAXIWAY E (E4–E6) — LOCATION 3   ·   DWG NO AUH-SK-AGL-TWYE-001-1003 REV P08</a:t>
            </a:r>
            <a:endParaRPr lang="en-US" sz="1500" dirty="0"/>
          </a:p>
        </p:txBody>
      </p:sp>
      <p:sp>
        <p:nvSpPr>
          <p:cNvPr id="3" name="Shape 1"/>
          <p:cNvSpPr/>
          <p:nvPr/>
        </p:nvSpPr>
        <p:spPr>
          <a:xfrm>
            <a:off x="320040" y="777240"/>
            <a:ext cx="9555480" cy="9555480"/>
          </a:xfrm>
          <a:prstGeom prst="rect">
            <a:avLst/>
          </a:pr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lt1"/>
              </a:solidFill>
            </a:endParaRPr>
          </a:p>
        </p:txBody>
      </p:sp>
      <p:sp>
        <p:nvSpPr>
          <p:cNvPr id="113" name="ASBUILT DUCT · CV-EX SEC CONDUIT · 3.8 m"/>
          <p:cNvSpPr/>
          <p:nvPr/>
        </p:nvSpPr>
        <p:spPr>
          <a:xfrm>
            <a:off x="320037" y="776809"/>
            <a:ext cx="378241" cy="68678"/>
          </a:xfrm>
          <a:custGeom>
            <a:avLst/>
            <a:gdLst/>
            <a:ahLst/>
            <a:cxnLst/>
            <a:rect l="l" t="t" r="r" b="b"/>
            <a:pathLst>
              <a:path w="378241" h="68678">
                <a:moveTo>
                  <a:pt x="378241" y="0"/>
                </a:moveTo>
                <a:lnTo>
                  <a:pt x="0" y="68678"/>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ASBUILT DUCT · CV-EX SEC CONDUIT · 19.5 m"/>
          <p:cNvSpPr/>
          <p:nvPr/>
        </p:nvSpPr>
        <p:spPr>
          <a:xfrm>
            <a:off x="319991" y="776869"/>
            <a:ext cx="1653130" cy="1046796"/>
          </a:xfrm>
          <a:custGeom>
            <a:avLst/>
            <a:gdLst/>
            <a:ahLst/>
            <a:cxnLst/>
            <a:rect l="l" t="t" r="r" b="b"/>
            <a:pathLst>
              <a:path w="1653130" h="1046796">
                <a:moveTo>
                  <a:pt x="0" y="1046796"/>
                </a:moveTo>
                <a:lnTo>
                  <a:pt x="165313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ASBUILT DUCT · CV-EX SEC CONDUIT · 18.4 m"/>
          <p:cNvSpPr/>
          <p:nvPr/>
        </p:nvSpPr>
        <p:spPr>
          <a:xfrm>
            <a:off x="924668" y="776879"/>
            <a:ext cx="1258208" cy="1348502"/>
          </a:xfrm>
          <a:custGeom>
            <a:avLst/>
            <a:gdLst/>
            <a:ahLst/>
            <a:cxnLst/>
            <a:rect l="l" t="t" r="r" b="b"/>
            <a:pathLst>
              <a:path w="1258208" h="1348502">
                <a:moveTo>
                  <a:pt x="1258208" y="0"/>
                </a:moveTo>
                <a:lnTo>
                  <a:pt x="0" y="1348502"/>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ASBUILT DUCT · CV-EX SEC CONDUIT · 25.5 m"/>
          <p:cNvSpPr/>
          <p:nvPr/>
        </p:nvSpPr>
        <p:spPr>
          <a:xfrm>
            <a:off x="1085699" y="776885"/>
            <a:ext cx="1223250" cy="2245867"/>
          </a:xfrm>
          <a:custGeom>
            <a:avLst/>
            <a:gdLst/>
            <a:ahLst/>
            <a:cxnLst/>
            <a:rect l="l" t="t" r="r" b="b"/>
            <a:pathLst>
              <a:path w="1223250" h="2245867">
                <a:moveTo>
                  <a:pt x="0" y="2245867"/>
                </a:moveTo>
                <a:lnTo>
                  <a:pt x="1223250"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ASBUILT DUCT · CV-EX SEC CONDUIT · 22.0 m"/>
          <p:cNvSpPr/>
          <p:nvPr/>
        </p:nvSpPr>
        <p:spPr>
          <a:xfrm>
            <a:off x="1342419" y="776886"/>
            <a:ext cx="982055" cy="1976592"/>
          </a:xfrm>
          <a:custGeom>
            <a:avLst/>
            <a:gdLst/>
            <a:ahLst/>
            <a:cxnLst/>
            <a:rect l="l" t="t" r="r" b="b"/>
            <a:pathLst>
              <a:path w="982055" h="1976592">
                <a:moveTo>
                  <a:pt x="982055" y="0"/>
                </a:moveTo>
                <a:lnTo>
                  <a:pt x="0" y="1976592"/>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ASBUILT DUCT · CV-EX SEC CONDUIT · 26.3 m"/>
          <p:cNvSpPr/>
          <p:nvPr/>
        </p:nvSpPr>
        <p:spPr>
          <a:xfrm>
            <a:off x="1803778" y="776890"/>
            <a:ext cx="605543" cy="2571530"/>
          </a:xfrm>
          <a:custGeom>
            <a:avLst/>
            <a:gdLst/>
            <a:ahLst/>
            <a:cxnLst/>
            <a:rect l="l" t="t" r="r" b="b"/>
            <a:pathLst>
              <a:path w="605543" h="2571530">
                <a:moveTo>
                  <a:pt x="0" y="2571530"/>
                </a:moveTo>
                <a:lnTo>
                  <a:pt x="605543"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ASBUILT DUCT · CV-EX SEC CONDUIT · 31.2 m"/>
          <p:cNvSpPr/>
          <p:nvPr/>
        </p:nvSpPr>
        <p:spPr>
          <a:xfrm>
            <a:off x="2309047" y="776892"/>
            <a:ext cx="160111" cy="3129697"/>
          </a:xfrm>
          <a:custGeom>
            <a:avLst/>
            <a:gdLst/>
            <a:ahLst/>
            <a:cxnLst/>
            <a:rect l="l" t="t" r="r" b="b"/>
            <a:pathLst>
              <a:path w="160111" h="3129697">
                <a:moveTo>
                  <a:pt x="160111" y="0"/>
                </a:moveTo>
                <a:lnTo>
                  <a:pt x="0" y="3129697"/>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ASBUILT DUCT · CV-NEW SEC SAWCUT · 30.1 m"/>
          <p:cNvSpPr/>
          <p:nvPr/>
        </p:nvSpPr>
        <p:spPr>
          <a:xfrm>
            <a:off x="3236505" y="1966772"/>
            <a:ext cx="1181340" cy="2783058"/>
          </a:xfrm>
          <a:custGeom>
            <a:avLst/>
            <a:gdLst/>
            <a:ahLst/>
            <a:cxnLst/>
            <a:rect l="l" t="t" r="r" b="b"/>
            <a:pathLst>
              <a:path w="1181340" h="2783058">
                <a:moveTo>
                  <a:pt x="0" y="2783058"/>
                </a:moveTo>
                <a:lnTo>
                  <a:pt x="1181340"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ASBUILT DUCT · CV-NEW SEC SAWCUT · 10.4 m"/>
          <p:cNvSpPr/>
          <p:nvPr/>
        </p:nvSpPr>
        <p:spPr>
          <a:xfrm>
            <a:off x="584900" y="3338817"/>
            <a:ext cx="328742" cy="990742"/>
          </a:xfrm>
          <a:custGeom>
            <a:avLst/>
            <a:gdLst/>
            <a:ahLst/>
            <a:cxnLst/>
            <a:rect l="l" t="t" r="r" b="b"/>
            <a:pathLst>
              <a:path w="328742" h="990742">
                <a:moveTo>
                  <a:pt x="0" y="0"/>
                </a:moveTo>
                <a:lnTo>
                  <a:pt x="328742" y="990742"/>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ASBUILT DUCT · CV-NEW SEC SAWCUT · 24.5 m"/>
          <p:cNvSpPr/>
          <p:nvPr/>
        </p:nvSpPr>
        <p:spPr>
          <a:xfrm>
            <a:off x="319805" y="3948874"/>
            <a:ext cx="1640085" cy="1833041"/>
          </a:xfrm>
          <a:custGeom>
            <a:avLst/>
            <a:gdLst/>
            <a:ahLst/>
            <a:cxnLst/>
            <a:rect l="l" t="t" r="r" b="b"/>
            <a:pathLst>
              <a:path w="1640085" h="1833041">
                <a:moveTo>
                  <a:pt x="0" y="1833041"/>
                </a:moveTo>
                <a:lnTo>
                  <a:pt x="1640085"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ASBUILT DUCT · CV-NEW SEC SAWCUT · 27.8 m"/>
          <p:cNvSpPr/>
          <p:nvPr/>
        </p:nvSpPr>
        <p:spPr>
          <a:xfrm>
            <a:off x="319798" y="4329408"/>
            <a:ext cx="2291965" cy="1599046"/>
          </a:xfrm>
          <a:custGeom>
            <a:avLst/>
            <a:gdLst/>
            <a:ahLst/>
            <a:cxnLst/>
            <a:rect l="l" t="t" r="r" b="b"/>
            <a:pathLst>
              <a:path w="2291965" h="1599046">
                <a:moveTo>
                  <a:pt x="2291965" y="0"/>
                </a:moveTo>
                <a:lnTo>
                  <a:pt x="0" y="159904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ASBUILT DUCT · CV-NEW SEC SAWCUT · 20.8 m"/>
          <p:cNvSpPr/>
          <p:nvPr/>
        </p:nvSpPr>
        <p:spPr>
          <a:xfrm>
            <a:off x="319820" y="3618375"/>
            <a:ext cx="964181" cy="1851476"/>
          </a:xfrm>
          <a:custGeom>
            <a:avLst/>
            <a:gdLst/>
            <a:ahLst/>
            <a:cxnLst/>
            <a:rect l="l" t="t" r="r" b="b"/>
            <a:pathLst>
              <a:path w="964181" h="1851476">
                <a:moveTo>
                  <a:pt x="964181" y="0"/>
                </a:moveTo>
                <a:lnTo>
                  <a:pt x="0" y="185147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ASBUILT DUCT · CV-EX SEC CONDUIT · 23.1 m"/>
          <p:cNvSpPr/>
          <p:nvPr/>
        </p:nvSpPr>
        <p:spPr>
          <a:xfrm>
            <a:off x="5201446" y="4034168"/>
            <a:ext cx="396447" cy="2290420"/>
          </a:xfrm>
          <a:custGeom>
            <a:avLst/>
            <a:gdLst/>
            <a:ahLst/>
            <a:cxnLst/>
            <a:rect l="l" t="t" r="r" b="b"/>
            <a:pathLst>
              <a:path w="396447" h="2290420">
                <a:moveTo>
                  <a:pt x="0" y="2290420"/>
                </a:moveTo>
                <a:lnTo>
                  <a:pt x="396447"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ASBUILT DUCT · CV-EX SEC CONDUIT · 20.6 m"/>
          <p:cNvSpPr/>
          <p:nvPr/>
        </p:nvSpPr>
        <p:spPr>
          <a:xfrm>
            <a:off x="4612577" y="4034168"/>
            <a:ext cx="985316" cy="1816244"/>
          </a:xfrm>
          <a:custGeom>
            <a:avLst/>
            <a:gdLst/>
            <a:ahLst/>
            <a:cxnLst/>
            <a:rect l="l" t="t" r="r" b="b"/>
            <a:pathLst>
              <a:path w="985316" h="1816244">
                <a:moveTo>
                  <a:pt x="985316" y="0"/>
                </a:moveTo>
                <a:lnTo>
                  <a:pt x="0" y="1816244"/>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ASBUILT DUCT · CV-EX SEC CONDUIT · 20.7 m"/>
          <p:cNvSpPr/>
          <p:nvPr/>
        </p:nvSpPr>
        <p:spPr>
          <a:xfrm>
            <a:off x="4020452" y="4034168"/>
            <a:ext cx="1577441" cy="1352267"/>
          </a:xfrm>
          <a:custGeom>
            <a:avLst/>
            <a:gdLst/>
            <a:ahLst/>
            <a:cxnLst/>
            <a:rect l="l" t="t" r="r" b="b"/>
            <a:pathLst>
              <a:path w="1577441" h="1352267">
                <a:moveTo>
                  <a:pt x="0" y="1352267"/>
                </a:moveTo>
                <a:lnTo>
                  <a:pt x="1577441" y="0"/>
                </a:lnTo>
              </a:path>
            </a:pathLst>
          </a:custGeom>
          <a:noFill/>
          <a:ln w="3175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10" name="P08 NEW SAWCUT RUN 9210"/>
          <p:cNvSpPr/>
          <p:nvPr/>
        </p:nvSpPr>
        <p:spPr>
          <a:xfrm flipH="1">
            <a:off x="4610100" y="4038600"/>
            <a:ext cx="990600" cy="1816100"/>
          </a:xfrm>
          <a:prstGeom prst="line">
            <a:avLst/>
          </a:prstGeom>
          <a:ln w="31750" cap="rnd">
            <a:solidFill>
              <a:srgbClr val="7030A0"/>
            </a:solidFill>
          </a:ln>
        </p:spPr>
        <p:txBody>
          <a:bodyPr/>
          <a:lstStyle/>
          <a:p>
            <a:endParaRPr lang="en-US"/>
          </a:p>
        </p:txBody>
      </p:sp>
      <p:sp>
        <p:nvSpPr>
          <p:cNvPr id="9211" name="P08 NEW SAWCUT RUN 9211"/>
          <p:cNvSpPr/>
          <p:nvPr/>
        </p:nvSpPr>
        <p:spPr>
          <a:xfrm flipH="1">
            <a:off x="5207000" y="4038600"/>
            <a:ext cx="393700" cy="2286000"/>
          </a:xfrm>
          <a:prstGeom prst="line">
            <a:avLst/>
          </a:prstGeom>
          <a:ln w="31750" cap="rnd">
            <a:solidFill>
              <a:srgbClr val="7030A0"/>
            </a:solidFill>
          </a:ln>
        </p:spPr>
        <p:txBody>
          <a:bodyPr/>
          <a:lstStyle/>
          <a:p>
            <a:endParaRPr lang="en-US"/>
          </a:p>
        </p:txBody>
      </p:sp>
      <p:sp>
        <p:nvSpPr>
          <p:cNvPr id="9212" name="P08 NEW SAWCUT RUN 9212"/>
          <p:cNvSpPr/>
          <p:nvPr/>
        </p:nvSpPr>
        <p:spPr>
          <a:xfrm>
            <a:off x="5600700" y="4038600"/>
            <a:ext cx="190500" cy="2755900"/>
          </a:xfrm>
          <a:prstGeom prst="line">
            <a:avLst/>
          </a:prstGeom>
          <a:ln w="31750" cap="rnd">
            <a:solidFill>
              <a:srgbClr val="7030A0"/>
            </a:solidFill>
          </a:ln>
        </p:spPr>
        <p:txBody>
          <a:bodyPr/>
          <a:lstStyle/>
          <a:p>
            <a:endParaRPr lang="en-US"/>
          </a:p>
        </p:txBody>
      </p:sp>
      <p:sp>
        <p:nvSpPr>
          <p:cNvPr id="128" name="ASBUILT DUCT · CV-EX SEC CONDUIT · 27.6 m"/>
          <p:cNvSpPr/>
          <p:nvPr/>
        </p:nvSpPr>
        <p:spPr>
          <a:xfrm>
            <a:off x="5597893" y="4034168"/>
            <a:ext cx="188525" cy="2763329"/>
          </a:xfrm>
          <a:custGeom>
            <a:avLst/>
            <a:gdLst/>
            <a:ahLst/>
            <a:cxnLst/>
            <a:rect l="l" t="t" r="r" b="b"/>
            <a:pathLst>
              <a:path w="188525" h="2763329">
                <a:moveTo>
                  <a:pt x="0" y="0"/>
                </a:moveTo>
                <a:lnTo>
                  <a:pt x="188525" y="2763329"/>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ASBUILT DUCT · CV-EX SEC CONDUIT · 26.0 m"/>
          <p:cNvSpPr/>
          <p:nvPr/>
        </p:nvSpPr>
        <p:spPr>
          <a:xfrm>
            <a:off x="8840910" y="6749381"/>
            <a:ext cx="1034666" cy="2397861"/>
          </a:xfrm>
          <a:custGeom>
            <a:avLst/>
            <a:gdLst/>
            <a:ahLst/>
            <a:cxnLst/>
            <a:rect l="l" t="t" r="r" b="b"/>
            <a:pathLst>
              <a:path w="1034666" h="2397861">
                <a:moveTo>
                  <a:pt x="1034666" y="2397861"/>
                </a:moveTo>
                <a:lnTo>
                  <a:pt x="0"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ASBUILT DUCT · CV-EX SEC CONDUIT · 20.5 m"/>
          <p:cNvSpPr/>
          <p:nvPr/>
        </p:nvSpPr>
        <p:spPr>
          <a:xfrm>
            <a:off x="8138229" y="6749381"/>
            <a:ext cx="702681" cy="1932861"/>
          </a:xfrm>
          <a:custGeom>
            <a:avLst/>
            <a:gdLst/>
            <a:ahLst/>
            <a:cxnLst/>
            <a:rect l="l" t="t" r="r" b="b"/>
            <a:pathLst>
              <a:path w="702681" h="1932861">
                <a:moveTo>
                  <a:pt x="0" y="1932861"/>
                </a:moveTo>
                <a:lnTo>
                  <a:pt x="702681"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ASBUILT DUCT · CV-EX SEC CONDUIT · 29.0 m"/>
          <p:cNvSpPr/>
          <p:nvPr/>
        </p:nvSpPr>
        <p:spPr>
          <a:xfrm>
            <a:off x="8840910" y="6749381"/>
            <a:ext cx="472848" cy="2877172"/>
          </a:xfrm>
          <a:custGeom>
            <a:avLst/>
            <a:gdLst/>
            <a:ahLst/>
            <a:cxnLst/>
            <a:rect l="l" t="t" r="r" b="b"/>
            <a:pathLst>
              <a:path w="472848" h="2877172">
                <a:moveTo>
                  <a:pt x="0" y="0"/>
                </a:moveTo>
                <a:lnTo>
                  <a:pt x="472848" y="2877172"/>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ASBUILT DUCT · CV-EX SEC CONDUIT · 21.1 m"/>
          <p:cNvSpPr/>
          <p:nvPr/>
        </p:nvSpPr>
        <p:spPr>
          <a:xfrm>
            <a:off x="6964740" y="6749452"/>
            <a:ext cx="1876180" cy="990829"/>
          </a:xfrm>
          <a:custGeom>
            <a:avLst/>
            <a:gdLst/>
            <a:ahLst/>
            <a:cxnLst/>
            <a:rect l="l" t="t" r="r" b="b"/>
            <a:pathLst>
              <a:path w="1876180" h="990829">
                <a:moveTo>
                  <a:pt x="1876180" y="0"/>
                </a:moveTo>
                <a:lnTo>
                  <a:pt x="0" y="990829"/>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ASBUILT DUCT · CV-EX SEC CONDUIT · 25.1 m"/>
          <p:cNvSpPr/>
          <p:nvPr/>
        </p:nvSpPr>
        <p:spPr>
          <a:xfrm>
            <a:off x="6376272" y="6749452"/>
            <a:ext cx="2464648" cy="518161"/>
          </a:xfrm>
          <a:custGeom>
            <a:avLst/>
            <a:gdLst/>
            <a:ahLst/>
            <a:cxnLst/>
            <a:rect l="l" t="t" r="r" b="b"/>
            <a:pathLst>
              <a:path w="2464648" h="518161">
                <a:moveTo>
                  <a:pt x="0" y="518161"/>
                </a:moveTo>
                <a:lnTo>
                  <a:pt x="2464648"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ASBUILT DUCT · CV-NEW SEC SAWCUT · 20.3 m"/>
          <p:cNvSpPr/>
          <p:nvPr/>
        </p:nvSpPr>
        <p:spPr>
          <a:xfrm>
            <a:off x="7552012" y="6735833"/>
            <a:ext cx="1414354" cy="1474333"/>
          </a:xfrm>
          <a:custGeom>
            <a:avLst/>
            <a:gdLst/>
            <a:ahLst/>
            <a:cxnLst/>
            <a:rect l="l" t="t" r="r" b="b"/>
            <a:pathLst>
              <a:path w="1414354" h="1474333">
                <a:moveTo>
                  <a:pt x="0" y="1474333"/>
                </a:moveTo>
                <a:lnTo>
                  <a:pt x="1414354"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ASBUILT DUCT · CV-NEW SEC SAWCUT · 5.4 m"/>
          <p:cNvSpPr/>
          <p:nvPr/>
        </p:nvSpPr>
        <p:spPr>
          <a:xfrm>
            <a:off x="8966366" y="6286547"/>
            <a:ext cx="300144" cy="449286"/>
          </a:xfrm>
          <a:custGeom>
            <a:avLst/>
            <a:gdLst/>
            <a:ahLst/>
            <a:cxnLst/>
            <a:rect l="l" t="t" r="r" b="b"/>
            <a:pathLst>
              <a:path w="300144" h="449286">
                <a:moveTo>
                  <a:pt x="0" y="449286"/>
                </a:moveTo>
                <a:lnTo>
                  <a:pt x="300144"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ASBUILT DUCT · CV-NEW SEC SAWCUT · 30.1 m"/>
          <p:cNvSpPr/>
          <p:nvPr/>
        </p:nvSpPr>
        <p:spPr>
          <a:xfrm>
            <a:off x="3237057" y="1966772"/>
            <a:ext cx="1180788" cy="2783922"/>
          </a:xfrm>
          <a:custGeom>
            <a:avLst/>
            <a:gdLst/>
            <a:ahLst/>
            <a:cxnLst/>
            <a:rect l="l" t="t" r="r" b="b"/>
            <a:pathLst>
              <a:path w="1180788" h="2783922">
                <a:moveTo>
                  <a:pt x="0" y="2783922"/>
                </a:moveTo>
                <a:lnTo>
                  <a:pt x="1180788"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ASBUILT DUCT · CV-NEW SEC CONDUIT · 6.8 m"/>
          <p:cNvSpPr/>
          <p:nvPr/>
        </p:nvSpPr>
        <p:spPr>
          <a:xfrm>
            <a:off x="5597893" y="3567157"/>
            <a:ext cx="498495" cy="467011"/>
          </a:xfrm>
          <a:custGeom>
            <a:avLst/>
            <a:gdLst/>
            <a:ahLst/>
            <a:cxnLst/>
            <a:rect l="l" t="t" r="r" b="b"/>
            <a:pathLst>
              <a:path w="498495" h="467011">
                <a:moveTo>
                  <a:pt x="498495" y="0"/>
                </a:moveTo>
                <a:lnTo>
                  <a:pt x="0" y="467011"/>
                </a:lnTo>
              </a:path>
            </a:pathLst>
          </a:custGeom>
          <a:noFill/>
          <a:ln w="15875" cap="flat" cmpd="sng" algn="ctr">
            <a:solidFill>
              <a:srgbClr val="1E8E3E">
                <a:alpha val="20000"/>
                <a:alpha val="10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ASBUILT DUCT · CV-NEW SEC CONDUIT · 7.0 m"/>
          <p:cNvSpPr/>
          <p:nvPr/>
        </p:nvSpPr>
        <p:spPr>
          <a:xfrm>
            <a:off x="5597893" y="3392419"/>
            <a:ext cx="288568" cy="641749"/>
          </a:xfrm>
          <a:custGeom>
            <a:avLst/>
            <a:gdLst/>
            <a:ahLst/>
            <a:cxnLst/>
            <a:rect l="l" t="t" r="r" b="b"/>
            <a:pathLst>
              <a:path w="288568" h="641749">
                <a:moveTo>
                  <a:pt x="0" y="641749"/>
                </a:moveTo>
                <a:lnTo>
                  <a:pt x="288568" y="0"/>
                </a:lnTo>
              </a:path>
            </a:pathLst>
          </a:custGeom>
          <a:noFill/>
          <a:ln w="15875" cap="flat" cmpd="sng" algn="ctr">
            <a:solidFill>
              <a:srgbClr val="1E8E3E">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ASBUILT DUCT · CV-NEW SEC CONDUIT · 6.3 m"/>
          <p:cNvSpPr/>
          <p:nvPr/>
        </p:nvSpPr>
        <p:spPr>
          <a:xfrm>
            <a:off x="8840910" y="6286547"/>
            <a:ext cx="425600" cy="462834"/>
          </a:xfrm>
          <a:custGeom>
            <a:avLst/>
            <a:gdLst/>
            <a:ahLst/>
            <a:cxnLst/>
            <a:rect l="l" t="t" r="r" b="b"/>
            <a:pathLst>
              <a:path w="425600" h="462834">
                <a:moveTo>
                  <a:pt x="0" y="462834"/>
                </a:moveTo>
                <a:lnTo>
                  <a:pt x="425600" y="0"/>
                </a:lnTo>
              </a:path>
            </a:pathLst>
          </a:custGeom>
          <a:noFill/>
          <a:ln w="15875" cap="flat" cmpd="sng" algn="ctr">
            <a:solidFill>
              <a:srgbClr val="1E8E3E">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ASBUILT DUCT · CV-NEW SEC SAWCUT · 30.8 m"/>
          <p:cNvSpPr/>
          <p:nvPr/>
        </p:nvSpPr>
        <p:spPr>
          <a:xfrm>
            <a:off x="3435903" y="1966772"/>
            <a:ext cx="981942" cy="2934184"/>
          </a:xfrm>
          <a:custGeom>
            <a:avLst/>
            <a:gdLst/>
            <a:ahLst/>
            <a:cxnLst/>
            <a:rect l="l" t="t" r="r" b="b"/>
            <a:pathLst>
              <a:path w="981942" h="2934184">
                <a:moveTo>
                  <a:pt x="0" y="2934184"/>
                </a:moveTo>
                <a:lnTo>
                  <a:pt x="981942"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ASBUILT DUCT · CV-EX SEC CONDUIT · 13.5 m"/>
          <p:cNvSpPr/>
          <p:nvPr/>
        </p:nvSpPr>
        <p:spPr>
          <a:xfrm>
            <a:off x="4458899" y="4034168"/>
            <a:ext cx="1138994" cy="728279"/>
          </a:xfrm>
          <a:custGeom>
            <a:avLst/>
            <a:gdLst/>
            <a:ahLst/>
            <a:cxnLst/>
            <a:rect l="l" t="t" r="r" b="b"/>
            <a:pathLst>
              <a:path w="1138994" h="728279">
                <a:moveTo>
                  <a:pt x="1138994" y="0"/>
                </a:moveTo>
                <a:lnTo>
                  <a:pt x="0" y="728279"/>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ASBUILT DUCT · CV-EX SEC CONDUIT · 10.6 m"/>
          <p:cNvSpPr/>
          <p:nvPr/>
        </p:nvSpPr>
        <p:spPr>
          <a:xfrm>
            <a:off x="4648107" y="4034168"/>
            <a:ext cx="949786" cy="491867"/>
          </a:xfrm>
          <a:custGeom>
            <a:avLst/>
            <a:gdLst/>
            <a:ahLst/>
            <a:cxnLst/>
            <a:rect l="l" t="t" r="r" b="b"/>
            <a:pathLst>
              <a:path w="949786" h="491867">
                <a:moveTo>
                  <a:pt x="0" y="491867"/>
                </a:moveTo>
                <a:lnTo>
                  <a:pt x="949786"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ASBUILT DUCT · CV-EX SEC CONDUIT · 16.3 m"/>
          <p:cNvSpPr/>
          <p:nvPr/>
        </p:nvSpPr>
        <p:spPr>
          <a:xfrm>
            <a:off x="4269993" y="4034168"/>
            <a:ext cx="1327900" cy="965093"/>
          </a:xfrm>
          <a:custGeom>
            <a:avLst/>
            <a:gdLst/>
            <a:ahLst/>
            <a:cxnLst/>
            <a:rect l="l" t="t" r="r" b="b"/>
            <a:pathLst>
              <a:path w="1327900" h="965093">
                <a:moveTo>
                  <a:pt x="0" y="965093"/>
                </a:moveTo>
                <a:lnTo>
                  <a:pt x="1327900"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ASBUILT DUCT · CV-EX SEC CONDUIT · 19.2 m"/>
          <p:cNvSpPr/>
          <p:nvPr/>
        </p:nvSpPr>
        <p:spPr>
          <a:xfrm>
            <a:off x="4082794" y="4034168"/>
            <a:ext cx="1515099" cy="1200601"/>
          </a:xfrm>
          <a:custGeom>
            <a:avLst/>
            <a:gdLst/>
            <a:ahLst/>
            <a:cxnLst/>
            <a:rect l="l" t="t" r="r" b="b"/>
            <a:pathLst>
              <a:path w="1515099" h="1200601">
                <a:moveTo>
                  <a:pt x="1515099" y="0"/>
                </a:moveTo>
                <a:lnTo>
                  <a:pt x="0" y="1200601"/>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ASBUILT DUCT · CV-EX SEC CONDUIT · 19.2 m"/>
          <p:cNvSpPr/>
          <p:nvPr/>
        </p:nvSpPr>
        <p:spPr>
          <a:xfrm>
            <a:off x="4175233" y="4036522"/>
            <a:ext cx="1411443" cy="1313863"/>
          </a:xfrm>
          <a:custGeom>
            <a:avLst/>
            <a:gdLst/>
            <a:ahLst/>
            <a:cxnLst/>
            <a:rect l="l" t="t" r="r" b="b"/>
            <a:pathLst>
              <a:path w="1411443" h="1313863">
                <a:moveTo>
                  <a:pt x="1411443" y="0"/>
                </a:moveTo>
                <a:lnTo>
                  <a:pt x="0" y="1313863"/>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40" name="ASBUILT DUCT · CV-EX SEC CONDUIT · 20.2 m"/>
          <p:cNvSpPr/>
          <p:nvPr/>
        </p:nvSpPr>
        <p:spPr>
          <a:xfrm>
            <a:off x="4137675" y="4034168"/>
            <a:ext cx="1460218" cy="1407997"/>
          </a:xfrm>
          <a:custGeom>
            <a:avLst/>
            <a:gdLst/>
            <a:ahLst/>
            <a:cxnLst/>
            <a:rect l="l" t="t" r="r" b="b"/>
            <a:pathLst>
              <a:path w="1460218" h="1407997">
                <a:moveTo>
                  <a:pt x="0" y="1407997"/>
                </a:moveTo>
                <a:lnTo>
                  <a:pt x="1460218"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ASBUILT DUCT · CV-EX SEC CONDUIT · 20.0 m"/>
          <p:cNvSpPr/>
          <p:nvPr/>
        </p:nvSpPr>
        <p:spPr>
          <a:xfrm>
            <a:off x="4182698" y="4034168"/>
            <a:ext cx="1415195" cy="1420980"/>
          </a:xfrm>
          <a:custGeom>
            <a:avLst/>
            <a:gdLst/>
            <a:ahLst/>
            <a:cxnLst/>
            <a:rect l="l" t="t" r="r" b="b"/>
            <a:pathLst>
              <a:path w="1415195" h="1420980">
                <a:moveTo>
                  <a:pt x="0" y="1420980"/>
                </a:moveTo>
                <a:lnTo>
                  <a:pt x="1415195"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ASBUILT DUCT · CV-EX SEC CONDUIT · 20.0 m"/>
          <p:cNvSpPr/>
          <p:nvPr/>
        </p:nvSpPr>
        <p:spPr>
          <a:xfrm>
            <a:off x="4208749" y="4034168"/>
            <a:ext cx="1389144" cy="1455445"/>
          </a:xfrm>
          <a:custGeom>
            <a:avLst/>
            <a:gdLst/>
            <a:ahLst/>
            <a:cxnLst/>
            <a:rect l="l" t="t" r="r" b="b"/>
            <a:pathLst>
              <a:path w="1389144" h="1455445">
                <a:moveTo>
                  <a:pt x="0" y="1455445"/>
                </a:moveTo>
                <a:lnTo>
                  <a:pt x="1389144"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ASBUILT DUCT · CV-EX SEC CONDUIT · 3.1 m"/>
          <p:cNvSpPr/>
          <p:nvPr/>
        </p:nvSpPr>
        <p:spPr>
          <a:xfrm>
            <a:off x="3893888" y="5348031"/>
            <a:ext cx="292562" cy="120236"/>
          </a:xfrm>
          <a:custGeom>
            <a:avLst/>
            <a:gdLst/>
            <a:ahLst/>
            <a:cxnLst/>
            <a:rect l="l" t="t" r="r" b="b"/>
            <a:pathLst>
              <a:path w="292562" h="120236">
                <a:moveTo>
                  <a:pt x="292562" y="0"/>
                </a:moveTo>
                <a:lnTo>
                  <a:pt x="0" y="120236"/>
                </a:lnTo>
              </a:path>
            </a:pathLst>
          </a:custGeom>
          <a:noFill/>
          <a:ln w="15875" cap="flat" cmpd="sng" algn="ctr">
            <a:solidFill>
              <a:srgbClr val="00838F">
                <a:alpha val="20000"/>
                <a:alpha val="10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ASBUILT DUCT · CV-EX SEC CONDUIT · 5.0 m"/>
          <p:cNvSpPr/>
          <p:nvPr/>
        </p:nvSpPr>
        <p:spPr>
          <a:xfrm>
            <a:off x="3703876" y="5442165"/>
            <a:ext cx="433799" cy="260906"/>
          </a:xfrm>
          <a:custGeom>
            <a:avLst/>
            <a:gdLst/>
            <a:ahLst/>
            <a:cxnLst/>
            <a:rect l="l" t="t" r="r" b="b"/>
            <a:pathLst>
              <a:path w="433799" h="260906">
                <a:moveTo>
                  <a:pt x="0" y="260906"/>
                </a:moveTo>
                <a:lnTo>
                  <a:pt x="433799" y="0"/>
                </a:lnTo>
              </a:path>
            </a:pathLst>
          </a:custGeom>
          <a:noFill/>
          <a:ln w="15875" cap="flat" cmpd="sng" algn="ctr">
            <a:solidFill>
              <a:srgbClr val="00838F">
                <a:alpha val="20000"/>
                <a:alpha val="10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ASBUILT DUCT · CV-EX SEC CONDUIT · 8.2 m"/>
          <p:cNvSpPr/>
          <p:nvPr/>
        </p:nvSpPr>
        <p:spPr>
          <a:xfrm>
            <a:off x="3515371" y="5455148"/>
            <a:ext cx="667327" cy="483431"/>
          </a:xfrm>
          <a:custGeom>
            <a:avLst/>
            <a:gdLst/>
            <a:ahLst/>
            <a:cxnLst/>
            <a:rect l="l" t="t" r="r" b="b"/>
            <a:pathLst>
              <a:path w="667327" h="483431">
                <a:moveTo>
                  <a:pt x="0" y="483431"/>
                </a:moveTo>
                <a:lnTo>
                  <a:pt x="667327"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ASBUILT DUCT · CV-EX SEC CONDUIT · 11.1 m"/>
          <p:cNvSpPr/>
          <p:nvPr/>
        </p:nvSpPr>
        <p:spPr>
          <a:xfrm>
            <a:off x="3327570" y="5489613"/>
            <a:ext cx="881179" cy="684172"/>
          </a:xfrm>
          <a:custGeom>
            <a:avLst/>
            <a:gdLst/>
            <a:ahLst/>
            <a:cxnLst/>
            <a:rect l="l" t="t" r="r" b="b"/>
            <a:pathLst>
              <a:path w="881179" h="684172">
                <a:moveTo>
                  <a:pt x="0" y="684172"/>
                </a:moveTo>
                <a:lnTo>
                  <a:pt x="881179"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ASBUILT DUCT · CV-NEW SEC CONDUIT · 12.7 m"/>
          <p:cNvSpPr/>
          <p:nvPr/>
        </p:nvSpPr>
        <p:spPr>
          <a:xfrm>
            <a:off x="1662554" y="8046874"/>
            <a:ext cx="1208585" cy="327456"/>
          </a:xfrm>
          <a:custGeom>
            <a:avLst/>
            <a:gdLst/>
            <a:ahLst/>
            <a:cxnLst/>
            <a:rect l="l" t="t" r="r" b="b"/>
            <a:pathLst>
              <a:path w="1208585" h="327456">
                <a:moveTo>
                  <a:pt x="0" y="327456"/>
                </a:moveTo>
                <a:lnTo>
                  <a:pt x="1118875" y="103104"/>
                </a:lnTo>
                <a:lnTo>
                  <a:pt x="1208585" y="0"/>
                </a:lnTo>
              </a:path>
            </a:pathLst>
          </a:custGeom>
          <a:noFill/>
          <a:ln w="15875" cap="flat" cmpd="sng" algn="ctr">
            <a:solidFill>
              <a:srgbClr val="1E8E3E">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ASBUILT DUCT · CV-NEW SEC CONDUIT · 13.8 m"/>
          <p:cNvSpPr/>
          <p:nvPr/>
        </p:nvSpPr>
        <p:spPr>
          <a:xfrm>
            <a:off x="4485378" y="1909815"/>
            <a:ext cx="1297671" cy="456213"/>
          </a:xfrm>
          <a:custGeom>
            <a:avLst/>
            <a:gdLst/>
            <a:ahLst/>
            <a:cxnLst/>
            <a:rect l="l" t="t" r="r" b="b"/>
            <a:pathLst>
              <a:path w="1297671" h="456213">
                <a:moveTo>
                  <a:pt x="0" y="9314"/>
                </a:moveTo>
                <a:lnTo>
                  <a:pt x="224946" y="0"/>
                </a:lnTo>
                <a:lnTo>
                  <a:pt x="1297671" y="456213"/>
                </a:lnTo>
              </a:path>
            </a:pathLst>
          </a:custGeom>
          <a:noFill/>
          <a:ln w="15875" cap="flat" cmpd="sng" algn="ctr">
            <a:solidFill>
              <a:srgbClr val="1E8E3E">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ASBUILT DUCT · CV-NEW SEC SAWCUT · 29.1 m"/>
          <p:cNvSpPr/>
          <p:nvPr/>
        </p:nvSpPr>
        <p:spPr>
          <a:xfrm>
            <a:off x="2851595" y="1966772"/>
            <a:ext cx="1566250" cy="2472769"/>
          </a:xfrm>
          <a:custGeom>
            <a:avLst/>
            <a:gdLst/>
            <a:ahLst/>
            <a:cxnLst/>
            <a:rect l="l" t="t" r="r" b="b"/>
            <a:pathLst>
              <a:path w="1566250" h="2472769">
                <a:moveTo>
                  <a:pt x="0" y="2472769"/>
                </a:moveTo>
                <a:lnTo>
                  <a:pt x="1566250"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ASBUILT DUCT · CV-NEW SEC SAWCUT · 29.8 m"/>
          <p:cNvSpPr/>
          <p:nvPr/>
        </p:nvSpPr>
        <p:spPr>
          <a:xfrm>
            <a:off x="2263137" y="1966772"/>
            <a:ext cx="2154708" cy="2004130"/>
          </a:xfrm>
          <a:custGeom>
            <a:avLst/>
            <a:gdLst/>
            <a:ahLst/>
            <a:cxnLst/>
            <a:rect l="l" t="t" r="r" b="b"/>
            <a:pathLst>
              <a:path w="2154708" h="2004130">
                <a:moveTo>
                  <a:pt x="0" y="2004130"/>
                </a:moveTo>
                <a:lnTo>
                  <a:pt x="420138" y="1873079"/>
                </a:lnTo>
                <a:lnTo>
                  <a:pt x="2154708"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ASBUILT DUCT · CV-EX SEC CONDUIT · 14.8 m"/>
          <p:cNvSpPr/>
          <p:nvPr/>
        </p:nvSpPr>
        <p:spPr>
          <a:xfrm>
            <a:off x="554795" y="776864"/>
            <a:ext cx="1313363" cy="690299"/>
          </a:xfrm>
          <a:custGeom>
            <a:avLst/>
            <a:gdLst/>
            <a:ahLst/>
            <a:cxnLst/>
            <a:rect l="l" t="t" r="r" b="b"/>
            <a:pathLst>
              <a:path w="1313363" h="690299">
                <a:moveTo>
                  <a:pt x="0" y="690299"/>
                </a:moveTo>
                <a:lnTo>
                  <a:pt x="1313363"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ASBUILT DUCT · CV_DUCT CROSSING 6x110mm dia · 57.8 m"/>
          <p:cNvSpPr/>
          <p:nvPr/>
        </p:nvSpPr>
        <p:spPr>
          <a:xfrm>
            <a:off x="1131007" y="2324144"/>
            <a:ext cx="3673113" cy="4495289"/>
          </a:xfrm>
          <a:custGeom>
            <a:avLst/>
            <a:gdLst/>
            <a:ahLst/>
            <a:cxnLst/>
            <a:rect l="l" t="t" r="r" b="b"/>
            <a:pathLst>
              <a:path w="3673113" h="4495289">
                <a:moveTo>
                  <a:pt x="3673113" y="0"/>
                </a:moveTo>
                <a:lnTo>
                  <a:pt x="0" y="4495289"/>
                </a:lnTo>
              </a:path>
            </a:pathLst>
          </a:custGeom>
          <a:noFill/>
          <a:ln w="22225" cap="flat" cmpd="sng" algn="ctr">
            <a:solidFill>
              <a:srgbClr val="C2185B">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ASBUILT DUCT · CV_GRND DUCT · 1.4 m"/>
          <p:cNvSpPr/>
          <p:nvPr/>
        </p:nvSpPr>
        <p:spPr>
          <a:xfrm>
            <a:off x="4175233" y="1280764"/>
            <a:ext cx="110659" cy="78456"/>
          </a:xfrm>
          <a:custGeom>
            <a:avLst/>
            <a:gdLst/>
            <a:ahLst/>
            <a:cxnLst/>
            <a:rect l="l" t="t" r="r" b="b"/>
            <a:pathLst>
              <a:path w="110659" h="78456">
                <a:moveTo>
                  <a:pt x="110659" y="0"/>
                </a:moveTo>
                <a:lnTo>
                  <a:pt x="0" y="78456"/>
                </a:lnTo>
              </a:path>
            </a:pathLst>
          </a:custGeom>
          <a:noFill/>
          <a:ln w="9525" cap="flat" cmpd="sng" algn="ctr">
            <a:solidFill>
              <a:srgbClr val="795548">
                <a:alpha val="20000"/>
              </a:srgbClr>
            </a:solidFill>
            <a:prstDash val="sysDot"/>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ASBUILT DUCT · CV_GRND DUCT · 1.0 m"/>
          <p:cNvSpPr/>
          <p:nvPr/>
        </p:nvSpPr>
        <p:spPr>
          <a:xfrm>
            <a:off x="319771" y="6406902"/>
            <a:ext cx="46851" cy="92772"/>
          </a:xfrm>
          <a:custGeom>
            <a:avLst/>
            <a:gdLst/>
            <a:ahLst/>
            <a:cxnLst/>
            <a:rect l="l" t="t" r="r" b="b"/>
            <a:pathLst>
              <a:path w="46851" h="92772">
                <a:moveTo>
                  <a:pt x="0" y="92772"/>
                </a:moveTo>
                <a:lnTo>
                  <a:pt x="46851" y="0"/>
                </a:lnTo>
              </a:path>
            </a:pathLst>
          </a:custGeom>
          <a:noFill/>
          <a:ln w="9525">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ASBUILT DUCT · CV_INNER DUCT 4x110mm dia · 66.6 m"/>
          <p:cNvSpPr/>
          <p:nvPr/>
        </p:nvSpPr>
        <p:spPr>
          <a:xfrm>
            <a:off x="4836208" y="2399704"/>
            <a:ext cx="5039478" cy="4389855"/>
          </a:xfrm>
          <a:custGeom>
            <a:avLst/>
            <a:gdLst/>
            <a:ahLst/>
            <a:cxnLst/>
            <a:rect l="l" t="t" r="r" b="b"/>
            <a:pathLst>
              <a:path w="5039478" h="4389855">
                <a:moveTo>
                  <a:pt x="5039478" y="4389855"/>
                </a:moveTo>
                <a:lnTo>
                  <a:pt x="3319165" y="3007241"/>
                </a:lnTo>
                <a:lnTo>
                  <a:pt x="2258067" y="2096524"/>
                </a:lnTo>
                <a:lnTo>
                  <a:pt x="1050253" y="992715"/>
                </a:lnTo>
                <a:lnTo>
                  <a:pt x="0" y="0"/>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ASBUILT DUCT · CV_OUTER DUCT 4x110mm dia · 65.3 m"/>
          <p:cNvSpPr/>
          <p:nvPr/>
        </p:nvSpPr>
        <p:spPr>
          <a:xfrm>
            <a:off x="4917197" y="2298759"/>
            <a:ext cx="4958499" cy="4293338"/>
          </a:xfrm>
          <a:custGeom>
            <a:avLst/>
            <a:gdLst/>
            <a:ahLst/>
            <a:cxnLst/>
            <a:rect l="l" t="t" r="r" b="b"/>
            <a:pathLst>
              <a:path w="4958499" h="4293338">
                <a:moveTo>
                  <a:pt x="4958499" y="4293338"/>
                </a:moveTo>
                <a:lnTo>
                  <a:pt x="2307006" y="2148262"/>
                </a:lnTo>
                <a:lnTo>
                  <a:pt x="2250400" y="2099277"/>
                </a:lnTo>
                <a:lnTo>
                  <a:pt x="0" y="0"/>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ASBUILT DUCT · CV_STH DUCT 6x110mm dia · 30.4 m"/>
          <p:cNvSpPr/>
          <p:nvPr/>
        </p:nvSpPr>
        <p:spPr>
          <a:xfrm>
            <a:off x="319777" y="6379430"/>
            <a:ext cx="2551362" cy="1667444"/>
          </a:xfrm>
          <a:custGeom>
            <a:avLst/>
            <a:gdLst/>
            <a:ahLst/>
            <a:cxnLst/>
            <a:rect l="l" t="t" r="r" b="b"/>
            <a:pathLst>
              <a:path w="2551362" h="1667444">
                <a:moveTo>
                  <a:pt x="2551362" y="1667444"/>
                </a:moveTo>
                <a:lnTo>
                  <a:pt x="2493429" y="1620840"/>
                </a:lnTo>
                <a:lnTo>
                  <a:pt x="913280" y="521947"/>
                </a:lnTo>
                <a:lnTo>
                  <a:pt x="709190" y="358070"/>
                </a:lnTo>
                <a:lnTo>
                  <a:pt x="0" y="0"/>
                </a:lnTo>
              </a:path>
            </a:pathLst>
          </a:custGeom>
          <a:noFill/>
          <a:ln w="22225">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ASBUILT DUCT · CV_INNER DUCT 4x110mm dia · 17.6 m"/>
          <p:cNvSpPr/>
          <p:nvPr/>
        </p:nvSpPr>
        <p:spPr>
          <a:xfrm>
            <a:off x="3625220" y="776947"/>
            <a:ext cx="1010827" cy="1453977"/>
          </a:xfrm>
          <a:custGeom>
            <a:avLst/>
            <a:gdLst/>
            <a:ahLst/>
            <a:cxnLst/>
            <a:rect l="l" t="t" r="r" b="b"/>
            <a:pathLst>
              <a:path w="1010827" h="1453977">
                <a:moveTo>
                  <a:pt x="0" y="0"/>
                </a:moveTo>
                <a:lnTo>
                  <a:pt x="792625" y="1189825"/>
                </a:lnTo>
                <a:lnTo>
                  <a:pt x="1010827" y="1453977"/>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ASBUILT DUCT · CV_OUTER DUCT 4x110mm dia · 16.4 m"/>
          <p:cNvSpPr/>
          <p:nvPr/>
        </p:nvSpPr>
        <p:spPr>
          <a:xfrm>
            <a:off x="3783650" y="776954"/>
            <a:ext cx="929387" cy="1358009"/>
          </a:xfrm>
          <a:custGeom>
            <a:avLst/>
            <a:gdLst/>
            <a:ahLst/>
            <a:cxnLst/>
            <a:rect l="l" t="t" r="r" b="b"/>
            <a:pathLst>
              <a:path w="929387" h="1358009">
                <a:moveTo>
                  <a:pt x="0" y="0"/>
                </a:moveTo>
                <a:lnTo>
                  <a:pt x="830494" y="1234911"/>
                </a:lnTo>
                <a:lnTo>
                  <a:pt x="929387" y="1358009"/>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ASBUILT ASSET · Existing light base"/>
          <p:cNvSpPr/>
          <p:nvPr/>
        </p:nvSpPr>
        <p:spPr>
          <a:xfrm>
            <a:off x="906444" y="3434474"/>
            <a:ext cx="100584" cy="100584"/>
          </a:xfrm>
          <a:prstGeom prst="ellipse">
            <a:avLst/>
          </a:prstGeom>
          <a:noFill/>
          <a:ln w="9525" cap="flat" cmpd="sng" algn="ctr">
            <a:solidFill>
              <a:srgbClr val="5F6368">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ASBUILT ASSET · Existing light base"/>
          <p:cNvSpPr/>
          <p:nvPr/>
        </p:nvSpPr>
        <p:spPr>
          <a:xfrm>
            <a:off x="1591778" y="3739050"/>
            <a:ext cx="100584" cy="100584"/>
          </a:xfrm>
          <a:prstGeom prst="ellipse">
            <a:avLst/>
          </a:prstGeom>
          <a:noFill/>
          <a:ln w="9525" cap="flat" cmpd="sng" algn="ctr">
            <a:solidFill>
              <a:srgbClr val="5F6368">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ASBUILT ASSET · Existing light base"/>
          <p:cNvSpPr/>
          <p:nvPr/>
        </p:nvSpPr>
        <p:spPr>
          <a:xfrm>
            <a:off x="2257518" y="4095672"/>
            <a:ext cx="100584" cy="100584"/>
          </a:xfrm>
          <a:prstGeom prst="ellipse">
            <a:avLst/>
          </a:prstGeom>
          <a:noFill/>
          <a:ln w="9525" cap="flat" cmpd="sng" algn="ctr">
            <a:solidFill>
              <a:srgbClr val="5F6368">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ASBUILT ASSET · Existing light base"/>
          <p:cNvSpPr/>
          <p:nvPr/>
        </p:nvSpPr>
        <p:spPr>
          <a:xfrm>
            <a:off x="2895825" y="4499315"/>
            <a:ext cx="100584" cy="100584"/>
          </a:xfrm>
          <a:prstGeom prst="ellipse">
            <a:avLst/>
          </a:prstGeom>
          <a:noFill/>
          <a:ln w="9525" cap="flat" cmpd="sng" algn="ctr">
            <a:solidFill>
              <a:srgbClr val="5F6368">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ASBUILT ASSET · Taxiway centreline light"/>
          <p:cNvSpPr/>
          <p:nvPr/>
        </p:nvSpPr>
        <p:spPr>
          <a:xfrm>
            <a:off x="539180" y="3293097"/>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ASBUILT ASSET · Taxiway centreline light"/>
          <p:cNvSpPr/>
          <p:nvPr/>
        </p:nvSpPr>
        <p:spPr>
          <a:xfrm>
            <a:off x="1914170" y="3903153"/>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ASBUILT ASSET · Taxiway centreline light"/>
          <p:cNvSpPr/>
          <p:nvPr/>
        </p:nvSpPr>
        <p:spPr>
          <a:xfrm>
            <a:off x="2566042" y="4283688"/>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ASBUILT ASSET · Taxiway centreline light"/>
          <p:cNvSpPr/>
          <p:nvPr/>
        </p:nvSpPr>
        <p:spPr>
          <a:xfrm>
            <a:off x="1238281" y="3572655"/>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ASBUILT ASSET · Taxiway centreline light"/>
          <p:cNvSpPr/>
          <p:nvPr/>
        </p:nvSpPr>
        <p:spPr>
          <a:xfrm>
            <a:off x="3190784" y="4704110"/>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ASBUILT ASSET · Taxiway centreline light"/>
          <p:cNvSpPr/>
          <p:nvPr/>
        </p:nvSpPr>
        <p:spPr>
          <a:xfrm>
            <a:off x="510330" y="1424688"/>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ASBUILT ASSET · Taxiway centreline light"/>
          <p:cNvSpPr/>
          <p:nvPr/>
        </p:nvSpPr>
        <p:spPr>
          <a:xfrm>
            <a:off x="1296698" y="2707757"/>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ASBUILT ASSET · Taxiway centreline light"/>
          <p:cNvSpPr/>
          <p:nvPr/>
        </p:nvSpPr>
        <p:spPr>
          <a:xfrm>
            <a:off x="2805874" y="4393821"/>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ASBUILT ASSET · Taxiway centreline light"/>
          <p:cNvSpPr/>
          <p:nvPr/>
        </p:nvSpPr>
        <p:spPr>
          <a:xfrm>
            <a:off x="878947" y="2079660"/>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ASBUILT ASSET · Taxiway centreline light"/>
          <p:cNvSpPr/>
          <p:nvPr/>
        </p:nvSpPr>
        <p:spPr>
          <a:xfrm>
            <a:off x="1758058" y="3302699"/>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ASBUILT ASSET · Taxiway centreline light"/>
          <p:cNvSpPr/>
          <p:nvPr/>
        </p:nvSpPr>
        <p:spPr>
          <a:xfrm>
            <a:off x="3395045" y="4867092"/>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ASBUILT ASSET · Taxiway centreline light"/>
          <p:cNvSpPr/>
          <p:nvPr/>
        </p:nvSpPr>
        <p:spPr>
          <a:xfrm>
            <a:off x="2263327" y="3860869"/>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ASBUILT ASSET · Runway guard light / RRM"/>
          <p:cNvSpPr/>
          <p:nvPr/>
        </p:nvSpPr>
        <p:spPr>
          <a:xfrm>
            <a:off x="8201575" y="7144362"/>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ASBUILT ASSET · Taxiway centreline light"/>
          <p:cNvSpPr/>
          <p:nvPr/>
        </p:nvSpPr>
        <p:spPr>
          <a:xfrm>
            <a:off x="9267967" y="9580913"/>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ASBUILT ASSET · Taxiway centreline light"/>
          <p:cNvSpPr/>
          <p:nvPr/>
        </p:nvSpPr>
        <p:spPr>
          <a:xfrm>
            <a:off x="6330551" y="7221893"/>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ASBUILT ASSET · Taxiway centreline light"/>
          <p:cNvSpPr/>
          <p:nvPr/>
        </p:nvSpPr>
        <p:spPr>
          <a:xfrm>
            <a:off x="8092468" y="8636571"/>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ASBUILT ASSET · Taxiway centreline light"/>
          <p:cNvSpPr/>
          <p:nvPr/>
        </p:nvSpPr>
        <p:spPr>
          <a:xfrm>
            <a:off x="6919019" y="7694561"/>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ASBUILT ASSET · Runway guard light / RRM"/>
          <p:cNvSpPr/>
          <p:nvPr/>
        </p:nvSpPr>
        <p:spPr>
          <a:xfrm>
            <a:off x="4339061" y="7200649"/>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ASBUILT ASSET · Runway guard light / RRM"/>
          <p:cNvSpPr/>
          <p:nvPr/>
        </p:nvSpPr>
        <p:spPr>
          <a:xfrm>
            <a:off x="2642573" y="6018968"/>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ASBUILT ASSET · Runway guard light / RRM"/>
          <p:cNvSpPr/>
          <p:nvPr/>
        </p:nvSpPr>
        <p:spPr>
          <a:xfrm>
            <a:off x="6684343" y="5826142"/>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ASBUILT ASSET · Runway guard light / RRM"/>
          <p:cNvSpPr/>
          <p:nvPr/>
        </p:nvSpPr>
        <p:spPr>
          <a:xfrm>
            <a:off x="3343246" y="2781954"/>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ASBUILT ASSET · Runway guard light / RRM"/>
          <p:cNvSpPr/>
          <p:nvPr/>
        </p:nvSpPr>
        <p:spPr>
          <a:xfrm>
            <a:off x="2385962" y="1619298"/>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ASBUILT ASSET · Runway guard light / RRM"/>
          <p:cNvSpPr/>
          <p:nvPr/>
        </p:nvSpPr>
        <p:spPr>
          <a:xfrm>
            <a:off x="1333702" y="5297787"/>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ASBUILT ASSET · Runway guard light / RRM"/>
          <p:cNvSpPr/>
          <p:nvPr/>
        </p:nvSpPr>
        <p:spPr>
          <a:xfrm>
            <a:off x="4423619" y="3833992"/>
            <a:ext cx="100584" cy="100584"/>
          </a:xfrm>
          <a:prstGeom prst="ellipse">
            <a:avLst/>
          </a:prstGeom>
          <a:solidFill>
            <a:srgbClr val="E8B000">
              <a:alpha val="20000"/>
              <a:alpha val="100000"/>
            </a:srgbClr>
          </a:solidFill>
          <a:ln w="9525" cap="flat" cmpd="sng" algn="ctr">
            <a:solidFill>
              <a:srgbClr val="8A6900">
                <a:alpha val="20000"/>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ASBUILT ASSET · Runway guard light / RRM"/>
          <p:cNvSpPr/>
          <p:nvPr/>
        </p:nvSpPr>
        <p:spPr>
          <a:xfrm>
            <a:off x="5555639" y="4831775"/>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ASBUILT ASSET · Taxiway centreline light"/>
          <p:cNvSpPr/>
          <p:nvPr/>
        </p:nvSpPr>
        <p:spPr>
          <a:xfrm>
            <a:off x="1039979" y="2977032"/>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 name="ASBUILT ASSET · Taxiway centreline light"/>
          <p:cNvSpPr/>
          <p:nvPr/>
        </p:nvSpPr>
        <p:spPr>
          <a:xfrm>
            <a:off x="2217416" y="3925182"/>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ASBUILT ASSET · Sign foundation"/>
          <p:cNvSpPr/>
          <p:nvPr/>
        </p:nvSpPr>
        <p:spPr>
          <a:xfrm>
            <a:off x="1612261" y="8324037"/>
            <a:ext cx="100584" cy="100584"/>
          </a:xfrm>
          <a:prstGeom prst="rect">
            <a:avLst/>
          </a:prstGeom>
          <a:solidFill>
            <a:srgbClr val="5D4037">
              <a:alpha val="20000"/>
            </a:srgbClr>
          </a:solidFill>
          <a:ln w="9525" cap="flat" cmpd="sng" algn="ctr">
            <a:solidFill>
              <a:srgbClr val="3A252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 name="ASBUILT ASSET · Sign foundation"/>
          <p:cNvSpPr/>
          <p:nvPr/>
        </p:nvSpPr>
        <p:spPr>
          <a:xfrm>
            <a:off x="5732756" y="2315736"/>
            <a:ext cx="100584" cy="100584"/>
          </a:xfrm>
          <a:prstGeom prst="rect">
            <a:avLst/>
          </a:prstGeom>
          <a:solidFill>
            <a:srgbClr val="5D4037">
              <a:alpha val="20000"/>
            </a:srgbClr>
          </a:solidFill>
          <a:ln w="9525" cap="flat" cmpd="sng" algn="ctr">
            <a:solidFill>
              <a:srgbClr val="3A252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ASBUILT ASSET · Handhole"/>
          <p:cNvSpPr/>
          <p:nvPr/>
        </p:nvSpPr>
        <p:spPr>
          <a:xfrm>
            <a:off x="9202501" y="6222539"/>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 name="ASBUILT ASSET · Handhole"/>
          <p:cNvSpPr/>
          <p:nvPr/>
        </p:nvSpPr>
        <p:spPr>
          <a:xfrm>
            <a:off x="5822452" y="3328411"/>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ASBUILT ASSET · Handhole"/>
          <p:cNvSpPr/>
          <p:nvPr/>
        </p:nvSpPr>
        <p:spPr>
          <a:xfrm>
            <a:off x="6032379" y="3503149"/>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ASBUILT ASSET · Handhole"/>
          <p:cNvSpPr/>
          <p:nvPr/>
        </p:nvSpPr>
        <p:spPr>
          <a:xfrm>
            <a:off x="4353837" y="1902763"/>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ASBUILT ASSET · Handhole"/>
          <p:cNvSpPr/>
          <p:nvPr/>
        </p:nvSpPr>
        <p:spPr>
          <a:xfrm>
            <a:off x="8091365" y="5342937"/>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ASBUILT ASSET · Handhole"/>
          <p:cNvSpPr/>
          <p:nvPr/>
        </p:nvSpPr>
        <p:spPr>
          <a:xfrm>
            <a:off x="7129018" y="4358003"/>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ASBUILT ASSET · Earthing point"/>
          <p:cNvSpPr/>
          <p:nvPr/>
        </p:nvSpPr>
        <p:spPr>
          <a:xfrm>
            <a:off x="6812996" y="5367896"/>
            <a:ext cx="82296" cy="82296"/>
          </a:xfrm>
          <a:prstGeom prst="triangle">
            <a:avLst/>
          </a:prstGeom>
          <a:solidFill>
            <a:srgbClr val="795548">
              <a:alpha val="20000"/>
              <a:alpha val="100000"/>
            </a:srgbClr>
          </a:solidFill>
          <a:ln w="9525" cap="flat" cmpd="sng" algn="ctr">
            <a:solidFill>
              <a:srgbClr val="3E2A23">
                <a:alpha val="20000"/>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ASBUILT ASSET · Earthing point"/>
          <p:cNvSpPr/>
          <p:nvPr/>
        </p:nvSpPr>
        <p:spPr>
          <a:xfrm>
            <a:off x="5701859" y="4488294"/>
            <a:ext cx="82296" cy="82296"/>
          </a:xfrm>
          <a:prstGeom prst="triangle">
            <a:avLst/>
          </a:prstGeom>
          <a:solidFill>
            <a:srgbClr val="795548">
              <a:alpha val="20000"/>
              <a:alpha val="100000"/>
            </a:srgbClr>
          </a:solidFill>
          <a:ln w="9525" cap="flat" cmpd="sng" algn="ctr">
            <a:solidFill>
              <a:srgbClr val="3E2A23">
                <a:alpha val="20000"/>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ASBUILT ASSET · Earthing point"/>
          <p:cNvSpPr/>
          <p:nvPr/>
        </p:nvSpPr>
        <p:spPr>
          <a:xfrm>
            <a:off x="4741472" y="3504927"/>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ASBUILT ASSET · Earthing point"/>
          <p:cNvSpPr/>
          <p:nvPr/>
        </p:nvSpPr>
        <p:spPr>
          <a:xfrm>
            <a:off x="3642874" y="2648506"/>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ASBUILT ASSET · Earthing point"/>
          <p:cNvSpPr/>
          <p:nvPr/>
        </p:nvSpPr>
        <p:spPr>
          <a:xfrm>
            <a:off x="3432947" y="2473768"/>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ASBUILT ASSET · Earthing point"/>
          <p:cNvSpPr/>
          <p:nvPr/>
        </p:nvSpPr>
        <p:spPr>
          <a:xfrm>
            <a:off x="2042752" y="856878"/>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ASBUILT ASSET · Handhole"/>
          <p:cNvSpPr/>
          <p:nvPr/>
        </p:nvSpPr>
        <p:spPr>
          <a:xfrm>
            <a:off x="2807170" y="7982815"/>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ASBUILT ASSET · Earthing point"/>
          <p:cNvSpPr/>
          <p:nvPr/>
        </p:nvSpPr>
        <p:spPr>
          <a:xfrm>
            <a:off x="417625" y="7128212"/>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ASBUILT ASSET · Existing transformer manhole"/>
          <p:cNvSpPr/>
          <p:nvPr/>
        </p:nvSpPr>
        <p:spPr>
          <a:xfrm>
            <a:off x="1695903" y="6411473"/>
            <a:ext cx="173736" cy="173736"/>
          </a:xfrm>
          <a:prstGeom prst="rect">
            <a:avLst/>
          </a:prstGeom>
          <a:noFill/>
          <a:ln w="9525" cap="flat" cmpd="sng" algn="ctr">
            <a:solidFill>
              <a:srgbClr val="00838F">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ASBUILT ASSET · Existing transformer manhole"/>
          <p:cNvSpPr/>
          <p:nvPr/>
        </p:nvSpPr>
        <p:spPr>
          <a:xfrm>
            <a:off x="4532435" y="2880346"/>
            <a:ext cx="173736" cy="173736"/>
          </a:xfrm>
          <a:prstGeom prst="rect">
            <a:avLst/>
          </a:prstGeom>
          <a:noFill/>
          <a:ln w="9525" cap="flat" cmpd="sng" algn="ctr">
            <a:solidFill>
              <a:srgbClr val="00838F">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ASBUILT ASSET · Manhole"/>
          <p:cNvSpPr/>
          <p:nvPr/>
        </p:nvSpPr>
        <p:spPr>
          <a:xfrm>
            <a:off x="4690718" y="2176778"/>
            <a:ext cx="173736" cy="173736"/>
          </a:xfrm>
          <a:prstGeom prst="rect">
            <a:avLst/>
          </a:prstGeom>
          <a:noFill/>
          <a:ln w="9525" cap="flat" cmpd="sng" algn="ctr">
            <a:solidFill>
              <a:srgbClr val="7B1FA2">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ASBUILT ASSET · Manhole"/>
          <p:cNvSpPr/>
          <p:nvPr/>
        </p:nvSpPr>
        <p:spPr>
          <a:xfrm>
            <a:off x="1044138" y="6732565"/>
            <a:ext cx="173736" cy="173736"/>
          </a:xfrm>
          <a:prstGeom prst="rect">
            <a:avLst/>
          </a:prstGeom>
          <a:noFill/>
          <a:ln w="9525" cap="flat" cmpd="sng" algn="ctr">
            <a:solidFill>
              <a:srgbClr val="7B1FA2">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ASBUILT ASSET · Existing transformer handhole"/>
          <p:cNvSpPr/>
          <p:nvPr/>
        </p:nvSpPr>
        <p:spPr>
          <a:xfrm>
            <a:off x="5524740" y="3961015"/>
            <a:ext cx="146304" cy="146304"/>
          </a:xfrm>
          <a:prstGeom prst="rect">
            <a:avLst/>
          </a:prstGeom>
          <a:noFill/>
          <a:ln w="9525" cap="flat" cmpd="sng" algn="ctr">
            <a:solidFill>
              <a:srgbClr val="00838F">
                <a:alpha val="20000"/>
                <a:alpha val="10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ASBUILT ASSET · Existing transformer handhole"/>
          <p:cNvSpPr/>
          <p:nvPr/>
        </p:nvSpPr>
        <p:spPr>
          <a:xfrm>
            <a:off x="8767657" y="6676148"/>
            <a:ext cx="146304" cy="146304"/>
          </a:xfrm>
          <a:prstGeom prst="rect">
            <a:avLst/>
          </a:prstGeom>
          <a:noFill/>
          <a:ln w="9525" cap="flat" cmpd="sng" algn="ctr">
            <a:solidFill>
              <a:srgbClr val="00838F">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 2"/>
          <p:cNvSpPr/>
          <p:nvPr/>
        </p:nvSpPr>
        <p:spPr>
          <a:xfrm>
            <a:off x="393192" y="10058400"/>
            <a:ext cx="6858000" cy="228600"/>
          </a:xfrm>
          <a:prstGeom prst="rect">
            <a:avLst/>
          </a:prstGeom>
          <a:noFill/>
          <a:ln/>
        </p:spPr>
        <p:txBody>
          <a:bodyPr wrap="square" lIns="0" tIns="0" rIns="0" bIns="0" rtlCol="0" anchor="ctr"/>
          <a:lstStyle/>
          <a:p>
            <a:pPr marL="0" indent="0">
              <a:buNone/>
            </a:pPr>
            <a:endParaRPr lang="en-US" sz="700" dirty="0"/>
          </a:p>
        </p:txBody>
      </p:sp>
      <p:sp>
        <p:nvSpPr>
          <p:cNvPr id="5" name="Shape 3"/>
          <p:cNvSpPr/>
          <p:nvPr/>
        </p:nvSpPr>
        <p:spPr>
          <a:xfrm>
            <a:off x="7415709" y="9583565"/>
            <a:ext cx="283772" cy="227954"/>
          </a:xfrm>
          <a:prstGeom prst="line">
            <a:avLst/>
          </a:prstGeom>
          <a:noFill/>
          <a:ln w="12700">
            <a:solidFill>
              <a:srgbClr val="7A8288">
                <a:alpha val="20000"/>
              </a:srgbClr>
            </a:solidFill>
            <a:prstDash val="solid"/>
          </a:ln>
        </p:spPr>
        <p:txBody>
          <a:bodyPr/>
          <a:lstStyle/>
          <a:p>
            <a:endParaRPr lang="en-US"/>
          </a:p>
        </p:txBody>
      </p:sp>
      <p:sp>
        <p:nvSpPr>
          <p:cNvPr id="6" name="Shape 4"/>
          <p:cNvSpPr/>
          <p:nvPr/>
        </p:nvSpPr>
        <p:spPr>
          <a:xfrm>
            <a:off x="7414605" y="9582661"/>
            <a:ext cx="1104" cy="914"/>
          </a:xfrm>
          <a:prstGeom prst="line">
            <a:avLst/>
          </a:prstGeom>
          <a:noFill/>
          <a:ln w="12700">
            <a:solidFill>
              <a:srgbClr val="7A8288">
                <a:alpha val="20000"/>
              </a:srgbClr>
            </a:solidFill>
            <a:prstDash val="solid"/>
          </a:ln>
        </p:spPr>
        <p:txBody>
          <a:bodyPr/>
          <a:lstStyle/>
          <a:p>
            <a:endParaRPr lang="en-US"/>
          </a:p>
        </p:txBody>
      </p:sp>
      <p:sp>
        <p:nvSpPr>
          <p:cNvPr id="7" name="Shape 5"/>
          <p:cNvSpPr/>
          <p:nvPr/>
        </p:nvSpPr>
        <p:spPr>
          <a:xfrm>
            <a:off x="6830317" y="9112099"/>
            <a:ext cx="584288" cy="470562"/>
          </a:xfrm>
          <a:prstGeom prst="line">
            <a:avLst/>
          </a:prstGeom>
          <a:noFill/>
          <a:ln w="12700">
            <a:solidFill>
              <a:srgbClr val="7A8288">
                <a:alpha val="20000"/>
              </a:srgbClr>
            </a:solidFill>
            <a:prstDash val="solid"/>
          </a:ln>
        </p:spPr>
        <p:txBody>
          <a:bodyPr/>
          <a:lstStyle/>
          <a:p>
            <a:endParaRPr lang="en-US"/>
          </a:p>
        </p:txBody>
      </p:sp>
      <p:sp>
        <p:nvSpPr>
          <p:cNvPr id="8" name="Shape 6"/>
          <p:cNvSpPr/>
          <p:nvPr/>
        </p:nvSpPr>
        <p:spPr>
          <a:xfrm>
            <a:off x="6244925" y="8643746"/>
            <a:ext cx="585392" cy="468354"/>
          </a:xfrm>
          <a:prstGeom prst="line">
            <a:avLst/>
          </a:prstGeom>
          <a:noFill/>
          <a:ln w="12700">
            <a:solidFill>
              <a:srgbClr val="7A8288">
                <a:alpha val="20000"/>
              </a:srgbClr>
            </a:solidFill>
            <a:prstDash val="solid"/>
          </a:ln>
        </p:spPr>
        <p:txBody>
          <a:bodyPr/>
          <a:lstStyle/>
          <a:p>
            <a:endParaRPr lang="en-US"/>
          </a:p>
        </p:txBody>
      </p:sp>
      <p:sp>
        <p:nvSpPr>
          <p:cNvPr id="9" name="Shape 7"/>
          <p:cNvSpPr/>
          <p:nvPr/>
        </p:nvSpPr>
        <p:spPr>
          <a:xfrm>
            <a:off x="6243018" y="8642240"/>
            <a:ext cx="1907" cy="1506"/>
          </a:xfrm>
          <a:prstGeom prst="line">
            <a:avLst/>
          </a:prstGeom>
          <a:noFill/>
          <a:ln w="12700">
            <a:solidFill>
              <a:srgbClr val="7A8288">
                <a:alpha val="20000"/>
              </a:srgbClr>
            </a:solidFill>
            <a:prstDash val="solid"/>
          </a:ln>
        </p:spPr>
        <p:txBody>
          <a:bodyPr/>
          <a:lstStyle/>
          <a:p>
            <a:endParaRPr lang="en-US"/>
          </a:p>
        </p:txBody>
      </p:sp>
      <p:sp>
        <p:nvSpPr>
          <p:cNvPr id="10" name="Shape 8"/>
          <p:cNvSpPr/>
          <p:nvPr/>
        </p:nvSpPr>
        <p:spPr>
          <a:xfrm>
            <a:off x="5656723" y="8171377"/>
            <a:ext cx="586295" cy="470863"/>
          </a:xfrm>
          <a:prstGeom prst="line">
            <a:avLst/>
          </a:prstGeom>
          <a:noFill/>
          <a:ln w="12700">
            <a:solidFill>
              <a:srgbClr val="7A8288">
                <a:alpha val="20000"/>
              </a:srgbClr>
            </a:solidFill>
            <a:prstDash val="solid"/>
          </a:ln>
        </p:spPr>
        <p:txBody>
          <a:bodyPr/>
          <a:lstStyle/>
          <a:p>
            <a:endParaRPr lang="en-US"/>
          </a:p>
        </p:txBody>
      </p:sp>
      <p:sp>
        <p:nvSpPr>
          <p:cNvPr id="11" name="Shape 9"/>
          <p:cNvSpPr/>
          <p:nvPr/>
        </p:nvSpPr>
        <p:spPr>
          <a:xfrm>
            <a:off x="5069022" y="7703023"/>
            <a:ext cx="587701" cy="468354"/>
          </a:xfrm>
          <a:prstGeom prst="line">
            <a:avLst/>
          </a:prstGeom>
          <a:noFill/>
          <a:ln w="12700">
            <a:solidFill>
              <a:srgbClr val="7A8288">
                <a:alpha val="20000"/>
              </a:srgbClr>
            </a:solidFill>
            <a:prstDash val="solid"/>
          </a:ln>
        </p:spPr>
        <p:txBody>
          <a:bodyPr/>
          <a:lstStyle/>
          <a:p>
            <a:endParaRPr lang="en-US"/>
          </a:p>
        </p:txBody>
      </p:sp>
      <p:sp>
        <p:nvSpPr>
          <p:cNvPr id="12" name="Shape 10"/>
          <p:cNvSpPr/>
          <p:nvPr/>
        </p:nvSpPr>
        <p:spPr>
          <a:xfrm>
            <a:off x="5062799" y="7698004"/>
            <a:ext cx="6223" cy="5019"/>
          </a:xfrm>
          <a:prstGeom prst="line">
            <a:avLst/>
          </a:prstGeom>
          <a:noFill/>
          <a:ln w="12700">
            <a:solidFill>
              <a:srgbClr val="7A8288">
                <a:alpha val="20000"/>
              </a:srgbClr>
            </a:solidFill>
            <a:prstDash val="solid"/>
          </a:ln>
        </p:spPr>
        <p:txBody>
          <a:bodyPr/>
          <a:lstStyle/>
          <a:p>
            <a:endParaRPr lang="en-US"/>
          </a:p>
        </p:txBody>
      </p:sp>
      <p:sp>
        <p:nvSpPr>
          <p:cNvPr id="13" name="Shape 11"/>
          <p:cNvSpPr/>
          <p:nvPr/>
        </p:nvSpPr>
        <p:spPr>
          <a:xfrm>
            <a:off x="4479013" y="7226138"/>
            <a:ext cx="583786" cy="471867"/>
          </a:xfrm>
          <a:prstGeom prst="line">
            <a:avLst/>
          </a:prstGeom>
          <a:noFill/>
          <a:ln w="12700">
            <a:solidFill>
              <a:srgbClr val="7A8288">
                <a:alpha val="20000"/>
              </a:srgbClr>
            </a:solidFill>
            <a:prstDash val="solid"/>
          </a:ln>
        </p:spPr>
        <p:txBody>
          <a:bodyPr/>
          <a:lstStyle/>
          <a:p>
            <a:endParaRPr lang="en-US"/>
          </a:p>
        </p:txBody>
      </p:sp>
      <p:sp>
        <p:nvSpPr>
          <p:cNvPr id="14" name="Shape 12"/>
          <p:cNvSpPr/>
          <p:nvPr/>
        </p:nvSpPr>
        <p:spPr>
          <a:xfrm>
            <a:off x="3893521" y="6754572"/>
            <a:ext cx="585492" cy="471566"/>
          </a:xfrm>
          <a:prstGeom prst="line">
            <a:avLst/>
          </a:prstGeom>
          <a:noFill/>
          <a:ln w="12700">
            <a:solidFill>
              <a:srgbClr val="7A8288">
                <a:alpha val="20000"/>
              </a:srgbClr>
            </a:solidFill>
            <a:prstDash val="solid"/>
          </a:ln>
        </p:spPr>
        <p:txBody>
          <a:bodyPr/>
          <a:lstStyle/>
          <a:p>
            <a:endParaRPr lang="en-US"/>
          </a:p>
        </p:txBody>
      </p:sp>
      <p:sp>
        <p:nvSpPr>
          <p:cNvPr id="15" name="Shape 13"/>
          <p:cNvSpPr/>
          <p:nvPr/>
        </p:nvSpPr>
        <p:spPr>
          <a:xfrm>
            <a:off x="3307928" y="6287523"/>
            <a:ext cx="585593" cy="467049"/>
          </a:xfrm>
          <a:prstGeom prst="line">
            <a:avLst/>
          </a:prstGeom>
          <a:noFill/>
          <a:ln w="12700">
            <a:solidFill>
              <a:srgbClr val="7A8288">
                <a:alpha val="20000"/>
              </a:srgbClr>
            </a:solidFill>
            <a:prstDash val="solid"/>
          </a:ln>
        </p:spPr>
        <p:txBody>
          <a:bodyPr/>
          <a:lstStyle/>
          <a:p>
            <a:endParaRPr lang="en-US"/>
          </a:p>
        </p:txBody>
      </p:sp>
      <p:sp>
        <p:nvSpPr>
          <p:cNvPr id="16" name="Shape 14"/>
          <p:cNvSpPr/>
          <p:nvPr/>
        </p:nvSpPr>
        <p:spPr>
          <a:xfrm>
            <a:off x="3305419" y="6285515"/>
            <a:ext cx="2509" cy="2008"/>
          </a:xfrm>
          <a:prstGeom prst="line">
            <a:avLst/>
          </a:prstGeom>
          <a:noFill/>
          <a:ln w="12700">
            <a:solidFill>
              <a:srgbClr val="7A8288">
                <a:alpha val="20000"/>
              </a:srgbClr>
            </a:solidFill>
            <a:prstDash val="solid"/>
          </a:ln>
        </p:spPr>
        <p:txBody>
          <a:bodyPr/>
          <a:lstStyle/>
          <a:p>
            <a:endParaRPr lang="en-US"/>
          </a:p>
        </p:txBody>
      </p:sp>
      <p:sp>
        <p:nvSpPr>
          <p:cNvPr id="17" name="Shape 15"/>
          <p:cNvSpPr/>
          <p:nvPr/>
        </p:nvSpPr>
        <p:spPr>
          <a:xfrm>
            <a:off x="2723339" y="5818366"/>
            <a:ext cx="582080" cy="467149"/>
          </a:xfrm>
          <a:prstGeom prst="line">
            <a:avLst/>
          </a:prstGeom>
          <a:noFill/>
          <a:ln w="12700">
            <a:solidFill>
              <a:srgbClr val="7A8288">
                <a:alpha val="20000"/>
              </a:srgbClr>
            </a:solidFill>
            <a:prstDash val="solid"/>
          </a:ln>
        </p:spPr>
        <p:txBody>
          <a:bodyPr/>
          <a:lstStyle/>
          <a:p>
            <a:endParaRPr lang="en-US"/>
          </a:p>
        </p:txBody>
      </p:sp>
      <p:sp>
        <p:nvSpPr>
          <p:cNvPr id="18" name="Shape 16"/>
          <p:cNvSpPr/>
          <p:nvPr/>
        </p:nvSpPr>
        <p:spPr>
          <a:xfrm>
            <a:off x="2520479" y="5656661"/>
            <a:ext cx="202860" cy="161705"/>
          </a:xfrm>
          <a:prstGeom prst="line">
            <a:avLst/>
          </a:prstGeom>
          <a:noFill/>
          <a:ln w="12700">
            <a:solidFill>
              <a:srgbClr val="7A8288">
                <a:alpha val="20000"/>
              </a:srgbClr>
            </a:solidFill>
            <a:prstDash val="solid"/>
          </a:ln>
        </p:spPr>
        <p:txBody>
          <a:bodyPr/>
          <a:lstStyle/>
          <a:p>
            <a:endParaRPr lang="en-US"/>
          </a:p>
        </p:txBody>
      </p:sp>
      <p:sp>
        <p:nvSpPr>
          <p:cNvPr id="19" name="Shape 17"/>
          <p:cNvSpPr/>
          <p:nvPr/>
        </p:nvSpPr>
        <p:spPr>
          <a:xfrm>
            <a:off x="2515762" y="5652846"/>
            <a:ext cx="4718" cy="3814"/>
          </a:xfrm>
          <a:prstGeom prst="line">
            <a:avLst/>
          </a:prstGeom>
          <a:noFill/>
          <a:ln w="12700">
            <a:solidFill>
              <a:srgbClr val="7A8288">
                <a:alpha val="20000"/>
              </a:srgbClr>
            </a:solidFill>
            <a:prstDash val="solid"/>
          </a:ln>
        </p:spPr>
        <p:txBody>
          <a:bodyPr/>
          <a:lstStyle/>
          <a:p>
            <a:endParaRPr lang="en-US"/>
          </a:p>
        </p:txBody>
      </p:sp>
      <p:sp>
        <p:nvSpPr>
          <p:cNvPr id="20" name="Shape 18"/>
          <p:cNvSpPr/>
          <p:nvPr/>
        </p:nvSpPr>
        <p:spPr>
          <a:xfrm>
            <a:off x="2243141" y="5433124"/>
            <a:ext cx="272621" cy="219723"/>
          </a:xfrm>
          <a:prstGeom prst="line">
            <a:avLst/>
          </a:prstGeom>
          <a:noFill/>
          <a:ln w="12700">
            <a:solidFill>
              <a:srgbClr val="7A8288">
                <a:alpha val="20000"/>
              </a:srgbClr>
            </a:solidFill>
            <a:prstDash val="solid"/>
          </a:ln>
        </p:spPr>
        <p:txBody>
          <a:bodyPr/>
          <a:lstStyle/>
          <a:p>
            <a:endParaRPr lang="en-US"/>
          </a:p>
        </p:txBody>
      </p:sp>
      <p:sp>
        <p:nvSpPr>
          <p:cNvPr id="21" name="Shape 19"/>
          <p:cNvSpPr/>
          <p:nvPr/>
        </p:nvSpPr>
        <p:spPr>
          <a:xfrm>
            <a:off x="2134233" y="5383137"/>
            <a:ext cx="108908" cy="49987"/>
          </a:xfrm>
          <a:prstGeom prst="line">
            <a:avLst/>
          </a:prstGeom>
          <a:noFill/>
          <a:ln w="12700">
            <a:solidFill>
              <a:srgbClr val="7A8288">
                <a:alpha val="20000"/>
              </a:srgbClr>
            </a:solidFill>
            <a:prstDash val="solid"/>
          </a:ln>
        </p:spPr>
        <p:txBody>
          <a:bodyPr/>
          <a:lstStyle/>
          <a:p>
            <a:endParaRPr lang="en-US"/>
          </a:p>
        </p:txBody>
      </p:sp>
      <p:sp>
        <p:nvSpPr>
          <p:cNvPr id="22" name="Shape 20"/>
          <p:cNvSpPr/>
          <p:nvPr/>
        </p:nvSpPr>
        <p:spPr>
          <a:xfrm>
            <a:off x="2028136" y="5327629"/>
            <a:ext cx="106097" cy="55508"/>
          </a:xfrm>
          <a:prstGeom prst="line">
            <a:avLst/>
          </a:prstGeom>
          <a:noFill/>
          <a:ln w="12700">
            <a:solidFill>
              <a:srgbClr val="7A8288">
                <a:alpha val="20000"/>
              </a:srgbClr>
            </a:solidFill>
            <a:prstDash val="solid"/>
          </a:ln>
        </p:spPr>
        <p:txBody>
          <a:bodyPr/>
          <a:lstStyle/>
          <a:p>
            <a:endParaRPr lang="en-US"/>
          </a:p>
        </p:txBody>
      </p:sp>
      <p:sp>
        <p:nvSpPr>
          <p:cNvPr id="23" name="Shape 21"/>
          <p:cNvSpPr/>
          <p:nvPr/>
        </p:nvSpPr>
        <p:spPr>
          <a:xfrm>
            <a:off x="1928362" y="5261280"/>
            <a:ext cx="99774" cy="66348"/>
          </a:xfrm>
          <a:prstGeom prst="line">
            <a:avLst/>
          </a:prstGeom>
          <a:noFill/>
          <a:ln w="12700">
            <a:solidFill>
              <a:srgbClr val="7A8288">
                <a:alpha val="20000"/>
              </a:srgbClr>
            </a:solidFill>
            <a:prstDash val="solid"/>
          </a:ln>
        </p:spPr>
        <p:txBody>
          <a:bodyPr/>
          <a:lstStyle/>
          <a:p>
            <a:endParaRPr lang="en-US"/>
          </a:p>
        </p:txBody>
      </p:sp>
      <p:sp>
        <p:nvSpPr>
          <p:cNvPr id="24" name="Shape 22"/>
          <p:cNvSpPr/>
          <p:nvPr/>
        </p:nvSpPr>
        <p:spPr>
          <a:xfrm>
            <a:off x="1836016" y="5185095"/>
            <a:ext cx="92346" cy="76185"/>
          </a:xfrm>
          <a:prstGeom prst="line">
            <a:avLst/>
          </a:prstGeom>
          <a:noFill/>
          <a:ln w="12700">
            <a:solidFill>
              <a:srgbClr val="7A8288">
                <a:alpha val="20000"/>
              </a:srgbClr>
            </a:solidFill>
            <a:prstDash val="solid"/>
          </a:ln>
        </p:spPr>
        <p:txBody>
          <a:bodyPr/>
          <a:lstStyle/>
          <a:p>
            <a:endParaRPr lang="en-US"/>
          </a:p>
        </p:txBody>
      </p:sp>
      <p:sp>
        <p:nvSpPr>
          <p:cNvPr id="25" name="Shape 23"/>
          <p:cNvSpPr/>
          <p:nvPr/>
        </p:nvSpPr>
        <p:spPr>
          <a:xfrm>
            <a:off x="1752002" y="5099675"/>
            <a:ext cx="84015" cy="85420"/>
          </a:xfrm>
          <a:prstGeom prst="line">
            <a:avLst/>
          </a:prstGeom>
          <a:noFill/>
          <a:ln w="12700">
            <a:solidFill>
              <a:srgbClr val="7A8288">
                <a:alpha val="20000"/>
              </a:srgbClr>
            </a:solidFill>
            <a:prstDash val="solid"/>
          </a:ln>
        </p:spPr>
        <p:txBody>
          <a:bodyPr/>
          <a:lstStyle/>
          <a:p>
            <a:endParaRPr lang="en-US"/>
          </a:p>
        </p:txBody>
      </p:sp>
      <p:sp>
        <p:nvSpPr>
          <p:cNvPr id="26" name="Shape 24"/>
          <p:cNvSpPr/>
          <p:nvPr/>
        </p:nvSpPr>
        <p:spPr>
          <a:xfrm>
            <a:off x="1740358" y="5085121"/>
            <a:ext cx="11644" cy="14554"/>
          </a:xfrm>
          <a:prstGeom prst="line">
            <a:avLst/>
          </a:prstGeom>
          <a:noFill/>
          <a:ln w="12700">
            <a:solidFill>
              <a:srgbClr val="7A8288">
                <a:alpha val="20000"/>
              </a:srgbClr>
            </a:solidFill>
            <a:prstDash val="solid"/>
          </a:ln>
        </p:spPr>
        <p:txBody>
          <a:bodyPr/>
          <a:lstStyle/>
          <a:p>
            <a:endParaRPr lang="en-US"/>
          </a:p>
        </p:txBody>
      </p:sp>
      <p:sp>
        <p:nvSpPr>
          <p:cNvPr id="27" name="Shape 25"/>
          <p:cNvSpPr/>
          <p:nvPr/>
        </p:nvSpPr>
        <p:spPr>
          <a:xfrm>
            <a:off x="1665076" y="5068659"/>
            <a:ext cx="75282" cy="16462"/>
          </a:xfrm>
          <a:prstGeom prst="line">
            <a:avLst/>
          </a:prstGeom>
          <a:noFill/>
          <a:ln w="12700">
            <a:solidFill>
              <a:srgbClr val="7A8288">
                <a:alpha val="20000"/>
              </a:srgbClr>
            </a:solidFill>
            <a:prstDash val="solid"/>
          </a:ln>
        </p:spPr>
        <p:txBody>
          <a:bodyPr/>
          <a:lstStyle/>
          <a:p>
            <a:endParaRPr lang="en-US"/>
          </a:p>
        </p:txBody>
      </p:sp>
      <p:sp>
        <p:nvSpPr>
          <p:cNvPr id="28" name="Shape 26"/>
          <p:cNvSpPr/>
          <p:nvPr/>
        </p:nvSpPr>
        <p:spPr>
          <a:xfrm>
            <a:off x="1559782" y="5034933"/>
            <a:ext cx="105294" cy="33726"/>
          </a:xfrm>
          <a:prstGeom prst="line">
            <a:avLst/>
          </a:prstGeom>
          <a:noFill/>
          <a:ln w="12700">
            <a:solidFill>
              <a:srgbClr val="7A8288">
                <a:alpha val="20000"/>
              </a:srgbClr>
            </a:solidFill>
            <a:prstDash val="solid"/>
          </a:ln>
        </p:spPr>
        <p:txBody>
          <a:bodyPr/>
          <a:lstStyle/>
          <a:p>
            <a:endParaRPr lang="en-US"/>
          </a:p>
        </p:txBody>
      </p:sp>
      <p:sp>
        <p:nvSpPr>
          <p:cNvPr id="29" name="Shape 27"/>
          <p:cNvSpPr/>
          <p:nvPr/>
        </p:nvSpPr>
        <p:spPr>
          <a:xfrm>
            <a:off x="1458202" y="4991269"/>
            <a:ext cx="101580" cy="43663"/>
          </a:xfrm>
          <a:prstGeom prst="line">
            <a:avLst/>
          </a:prstGeom>
          <a:noFill/>
          <a:ln w="12700">
            <a:solidFill>
              <a:srgbClr val="7A8288">
                <a:alpha val="20000"/>
              </a:srgbClr>
            </a:solidFill>
            <a:prstDash val="solid"/>
          </a:ln>
        </p:spPr>
        <p:txBody>
          <a:bodyPr/>
          <a:lstStyle/>
          <a:p>
            <a:endParaRPr lang="en-US"/>
          </a:p>
        </p:txBody>
      </p:sp>
      <p:sp>
        <p:nvSpPr>
          <p:cNvPr id="30" name="Shape 28"/>
          <p:cNvSpPr/>
          <p:nvPr/>
        </p:nvSpPr>
        <p:spPr>
          <a:xfrm>
            <a:off x="1361339" y="4938070"/>
            <a:ext cx="96863" cy="53199"/>
          </a:xfrm>
          <a:prstGeom prst="line">
            <a:avLst/>
          </a:prstGeom>
          <a:noFill/>
          <a:ln w="12700">
            <a:solidFill>
              <a:srgbClr val="7A8288">
                <a:alpha val="20000"/>
              </a:srgbClr>
            </a:solidFill>
            <a:prstDash val="solid"/>
          </a:ln>
        </p:spPr>
        <p:txBody>
          <a:bodyPr/>
          <a:lstStyle/>
          <a:p>
            <a:endParaRPr lang="en-US"/>
          </a:p>
        </p:txBody>
      </p:sp>
      <p:sp>
        <p:nvSpPr>
          <p:cNvPr id="31" name="Shape 29"/>
          <p:cNvSpPr/>
          <p:nvPr/>
        </p:nvSpPr>
        <p:spPr>
          <a:xfrm>
            <a:off x="1269897" y="4875837"/>
            <a:ext cx="91442" cy="62233"/>
          </a:xfrm>
          <a:prstGeom prst="line">
            <a:avLst/>
          </a:prstGeom>
          <a:noFill/>
          <a:ln w="12700">
            <a:solidFill>
              <a:srgbClr val="7A8288">
                <a:alpha val="20000"/>
              </a:srgbClr>
            </a:solidFill>
            <a:prstDash val="solid"/>
          </a:ln>
        </p:spPr>
        <p:txBody>
          <a:bodyPr/>
          <a:lstStyle/>
          <a:p>
            <a:endParaRPr lang="en-US"/>
          </a:p>
        </p:txBody>
      </p:sp>
      <p:sp>
        <p:nvSpPr>
          <p:cNvPr id="32" name="Shape 30"/>
          <p:cNvSpPr/>
          <p:nvPr/>
        </p:nvSpPr>
        <p:spPr>
          <a:xfrm>
            <a:off x="1184878" y="4805172"/>
            <a:ext cx="85018" cy="70665"/>
          </a:xfrm>
          <a:prstGeom prst="line">
            <a:avLst/>
          </a:prstGeom>
          <a:noFill/>
          <a:ln w="12700">
            <a:solidFill>
              <a:srgbClr val="7A8288">
                <a:alpha val="20000"/>
              </a:srgbClr>
            </a:solidFill>
            <a:prstDash val="solid"/>
          </a:ln>
        </p:spPr>
        <p:txBody>
          <a:bodyPr/>
          <a:lstStyle/>
          <a:p>
            <a:endParaRPr lang="en-US"/>
          </a:p>
        </p:txBody>
      </p:sp>
      <p:sp>
        <p:nvSpPr>
          <p:cNvPr id="33" name="Shape 31"/>
          <p:cNvSpPr/>
          <p:nvPr/>
        </p:nvSpPr>
        <p:spPr>
          <a:xfrm>
            <a:off x="1148342" y="4768334"/>
            <a:ext cx="36537" cy="36838"/>
          </a:xfrm>
          <a:prstGeom prst="line">
            <a:avLst/>
          </a:prstGeom>
          <a:noFill/>
          <a:ln w="12700">
            <a:solidFill>
              <a:srgbClr val="7A8288">
                <a:alpha val="20000"/>
              </a:srgbClr>
            </a:solidFill>
            <a:prstDash val="solid"/>
          </a:ln>
        </p:spPr>
        <p:txBody>
          <a:bodyPr/>
          <a:lstStyle/>
          <a:p>
            <a:endParaRPr lang="en-US"/>
          </a:p>
        </p:txBody>
      </p:sp>
      <p:sp>
        <p:nvSpPr>
          <p:cNvPr id="34" name="Shape 32"/>
          <p:cNvSpPr/>
          <p:nvPr/>
        </p:nvSpPr>
        <p:spPr>
          <a:xfrm>
            <a:off x="1067639" y="4756490"/>
            <a:ext cx="80702" cy="11844"/>
          </a:xfrm>
          <a:prstGeom prst="line">
            <a:avLst/>
          </a:prstGeom>
          <a:noFill/>
          <a:ln w="12700">
            <a:solidFill>
              <a:srgbClr val="7A8288">
                <a:alpha val="20000"/>
              </a:srgbClr>
            </a:solidFill>
            <a:prstDash val="solid"/>
          </a:ln>
        </p:spPr>
        <p:txBody>
          <a:bodyPr/>
          <a:lstStyle/>
          <a:p>
            <a:endParaRPr lang="en-US"/>
          </a:p>
        </p:txBody>
      </p:sp>
      <p:sp>
        <p:nvSpPr>
          <p:cNvPr id="35" name="Shape 33"/>
          <p:cNvSpPr/>
          <p:nvPr/>
        </p:nvSpPr>
        <p:spPr>
          <a:xfrm>
            <a:off x="960036" y="4730091"/>
            <a:ext cx="107603" cy="26399"/>
          </a:xfrm>
          <a:prstGeom prst="line">
            <a:avLst/>
          </a:prstGeom>
          <a:noFill/>
          <a:ln w="12700">
            <a:solidFill>
              <a:srgbClr val="7A8288">
                <a:alpha val="20000"/>
              </a:srgbClr>
            </a:solidFill>
            <a:prstDash val="solid"/>
          </a:ln>
        </p:spPr>
        <p:txBody>
          <a:bodyPr/>
          <a:lstStyle/>
          <a:p>
            <a:endParaRPr lang="en-US"/>
          </a:p>
        </p:txBody>
      </p:sp>
      <p:sp>
        <p:nvSpPr>
          <p:cNvPr id="36" name="Shape 34"/>
          <p:cNvSpPr/>
          <p:nvPr/>
        </p:nvSpPr>
        <p:spPr>
          <a:xfrm>
            <a:off x="855445" y="4693454"/>
            <a:ext cx="104592" cy="36637"/>
          </a:xfrm>
          <a:prstGeom prst="line">
            <a:avLst/>
          </a:prstGeom>
          <a:noFill/>
          <a:ln w="12700">
            <a:solidFill>
              <a:srgbClr val="7A8288">
                <a:alpha val="20000"/>
              </a:srgbClr>
            </a:solidFill>
            <a:prstDash val="solid"/>
          </a:ln>
        </p:spPr>
        <p:txBody>
          <a:bodyPr/>
          <a:lstStyle/>
          <a:p>
            <a:endParaRPr lang="en-US"/>
          </a:p>
        </p:txBody>
      </p:sp>
      <p:sp>
        <p:nvSpPr>
          <p:cNvPr id="37" name="Shape 35"/>
          <p:cNvSpPr/>
          <p:nvPr/>
        </p:nvSpPr>
        <p:spPr>
          <a:xfrm>
            <a:off x="754868" y="4646980"/>
            <a:ext cx="100577" cy="46474"/>
          </a:xfrm>
          <a:prstGeom prst="line">
            <a:avLst/>
          </a:prstGeom>
          <a:noFill/>
          <a:ln w="12700">
            <a:solidFill>
              <a:srgbClr val="7A8288">
                <a:alpha val="20000"/>
              </a:srgbClr>
            </a:solidFill>
            <a:prstDash val="solid"/>
          </a:ln>
        </p:spPr>
        <p:txBody>
          <a:bodyPr/>
          <a:lstStyle/>
          <a:p>
            <a:endParaRPr lang="en-US"/>
          </a:p>
        </p:txBody>
      </p:sp>
      <p:sp>
        <p:nvSpPr>
          <p:cNvPr id="38" name="Shape 36"/>
          <p:cNvSpPr/>
          <p:nvPr/>
        </p:nvSpPr>
        <p:spPr>
          <a:xfrm>
            <a:off x="659210" y="4590970"/>
            <a:ext cx="95658" cy="56010"/>
          </a:xfrm>
          <a:prstGeom prst="line">
            <a:avLst/>
          </a:prstGeom>
          <a:noFill/>
          <a:ln w="12700">
            <a:solidFill>
              <a:srgbClr val="7A8288">
                <a:alpha val="20000"/>
              </a:srgbClr>
            </a:solidFill>
            <a:prstDash val="solid"/>
          </a:ln>
        </p:spPr>
        <p:txBody>
          <a:bodyPr/>
          <a:lstStyle/>
          <a:p>
            <a:endParaRPr lang="en-US"/>
          </a:p>
        </p:txBody>
      </p:sp>
      <p:sp>
        <p:nvSpPr>
          <p:cNvPr id="39" name="Shape 37"/>
          <p:cNvSpPr/>
          <p:nvPr/>
        </p:nvSpPr>
        <p:spPr>
          <a:xfrm>
            <a:off x="569374" y="4526128"/>
            <a:ext cx="89836" cy="64843"/>
          </a:xfrm>
          <a:prstGeom prst="line">
            <a:avLst/>
          </a:prstGeom>
          <a:noFill/>
          <a:ln w="12700">
            <a:solidFill>
              <a:srgbClr val="7A8288">
                <a:alpha val="20000"/>
              </a:srgbClr>
            </a:solidFill>
            <a:prstDash val="solid"/>
          </a:ln>
        </p:spPr>
        <p:txBody>
          <a:bodyPr/>
          <a:lstStyle/>
          <a:p>
            <a:endParaRPr lang="en-US"/>
          </a:p>
        </p:txBody>
      </p:sp>
      <p:sp>
        <p:nvSpPr>
          <p:cNvPr id="40" name="Shape 38"/>
          <p:cNvSpPr/>
          <p:nvPr/>
        </p:nvSpPr>
        <p:spPr>
          <a:xfrm>
            <a:off x="535145" y="4496115"/>
            <a:ext cx="34228" cy="30012"/>
          </a:xfrm>
          <a:prstGeom prst="line">
            <a:avLst/>
          </a:prstGeom>
          <a:noFill/>
          <a:ln w="12700">
            <a:solidFill>
              <a:srgbClr val="7A8288">
                <a:alpha val="20000"/>
              </a:srgbClr>
            </a:solidFill>
            <a:prstDash val="solid"/>
          </a:ln>
        </p:spPr>
        <p:txBody>
          <a:bodyPr/>
          <a:lstStyle/>
          <a:p>
            <a:endParaRPr lang="en-US"/>
          </a:p>
        </p:txBody>
      </p:sp>
      <p:sp>
        <p:nvSpPr>
          <p:cNvPr id="41" name="Shape 39"/>
          <p:cNvSpPr/>
          <p:nvPr/>
        </p:nvSpPr>
        <p:spPr>
          <a:xfrm>
            <a:off x="496300" y="4494810"/>
            <a:ext cx="38845" cy="1305"/>
          </a:xfrm>
          <a:prstGeom prst="line">
            <a:avLst/>
          </a:prstGeom>
          <a:noFill/>
          <a:ln w="12700">
            <a:solidFill>
              <a:srgbClr val="7A8288">
                <a:alpha val="20000"/>
              </a:srgbClr>
            </a:solidFill>
            <a:prstDash val="solid"/>
          </a:ln>
        </p:spPr>
        <p:txBody>
          <a:bodyPr/>
          <a:lstStyle/>
          <a:p>
            <a:endParaRPr lang="en-US"/>
          </a:p>
        </p:txBody>
      </p:sp>
      <p:sp>
        <p:nvSpPr>
          <p:cNvPr id="42" name="Shape 40"/>
          <p:cNvSpPr/>
          <p:nvPr/>
        </p:nvSpPr>
        <p:spPr>
          <a:xfrm>
            <a:off x="385284" y="4480256"/>
            <a:ext cx="111016" cy="14554"/>
          </a:xfrm>
          <a:prstGeom prst="line">
            <a:avLst/>
          </a:prstGeom>
          <a:noFill/>
          <a:ln w="12700">
            <a:solidFill>
              <a:srgbClr val="7A8288">
                <a:alpha val="20000"/>
              </a:srgbClr>
            </a:solidFill>
            <a:prstDash val="solid"/>
          </a:ln>
        </p:spPr>
        <p:txBody>
          <a:bodyPr/>
          <a:lstStyle/>
          <a:p>
            <a:endParaRPr lang="en-US"/>
          </a:p>
        </p:txBody>
      </p:sp>
      <p:sp>
        <p:nvSpPr>
          <p:cNvPr id="43" name="Shape 41"/>
          <p:cNvSpPr/>
          <p:nvPr/>
        </p:nvSpPr>
        <p:spPr>
          <a:xfrm>
            <a:off x="320040" y="4465190"/>
            <a:ext cx="65244" cy="15066"/>
          </a:xfrm>
          <a:prstGeom prst="line">
            <a:avLst/>
          </a:prstGeom>
          <a:noFill/>
          <a:ln w="12700">
            <a:solidFill>
              <a:srgbClr val="7A8288"/>
            </a:solidFill>
            <a:prstDash val="solid"/>
          </a:ln>
        </p:spPr>
        <p:txBody>
          <a:bodyPr/>
          <a:lstStyle/>
          <a:p>
            <a:endParaRPr lang="en-US"/>
          </a:p>
        </p:txBody>
      </p:sp>
      <p:sp>
        <p:nvSpPr>
          <p:cNvPr id="44" name="Shape 42"/>
          <p:cNvSpPr/>
          <p:nvPr/>
        </p:nvSpPr>
        <p:spPr>
          <a:xfrm>
            <a:off x="8862125" y="7784127"/>
            <a:ext cx="1013395" cy="814008"/>
          </a:xfrm>
          <a:prstGeom prst="line">
            <a:avLst/>
          </a:prstGeom>
          <a:noFill/>
          <a:ln w="12700">
            <a:solidFill>
              <a:srgbClr val="7A8288">
                <a:alpha val="20000"/>
              </a:srgbClr>
            </a:solidFill>
            <a:prstDash val="solid"/>
          </a:ln>
        </p:spPr>
        <p:txBody>
          <a:bodyPr/>
          <a:lstStyle/>
          <a:p>
            <a:endParaRPr lang="en-US"/>
          </a:p>
        </p:txBody>
      </p:sp>
      <p:sp>
        <p:nvSpPr>
          <p:cNvPr id="45" name="Shape 43"/>
          <p:cNvSpPr/>
          <p:nvPr/>
        </p:nvSpPr>
        <p:spPr>
          <a:xfrm>
            <a:off x="8276834" y="7312762"/>
            <a:ext cx="585292" cy="471365"/>
          </a:xfrm>
          <a:prstGeom prst="line">
            <a:avLst/>
          </a:prstGeom>
          <a:noFill/>
          <a:ln w="12700">
            <a:solidFill>
              <a:srgbClr val="7A8288">
                <a:alpha val="20000"/>
              </a:srgbClr>
            </a:solidFill>
            <a:prstDash val="solid"/>
          </a:ln>
        </p:spPr>
        <p:txBody>
          <a:bodyPr/>
          <a:lstStyle/>
          <a:p>
            <a:endParaRPr lang="en-US"/>
          </a:p>
        </p:txBody>
      </p:sp>
      <p:sp>
        <p:nvSpPr>
          <p:cNvPr id="46" name="Shape 44"/>
          <p:cNvSpPr/>
          <p:nvPr/>
        </p:nvSpPr>
        <p:spPr>
          <a:xfrm>
            <a:off x="8273823" y="7310453"/>
            <a:ext cx="3011" cy="2309"/>
          </a:xfrm>
          <a:prstGeom prst="line">
            <a:avLst/>
          </a:prstGeom>
          <a:noFill/>
          <a:ln w="12700">
            <a:solidFill>
              <a:srgbClr val="7A8288">
                <a:alpha val="20000"/>
              </a:srgbClr>
            </a:solidFill>
            <a:prstDash val="solid"/>
          </a:ln>
        </p:spPr>
        <p:txBody>
          <a:bodyPr/>
          <a:lstStyle/>
          <a:p>
            <a:endParaRPr lang="en-US"/>
          </a:p>
        </p:txBody>
      </p:sp>
      <p:sp>
        <p:nvSpPr>
          <p:cNvPr id="47" name="Shape 45"/>
          <p:cNvSpPr/>
          <p:nvPr/>
        </p:nvSpPr>
        <p:spPr>
          <a:xfrm>
            <a:off x="7687929" y="6841698"/>
            <a:ext cx="585894" cy="468755"/>
          </a:xfrm>
          <a:prstGeom prst="line">
            <a:avLst/>
          </a:prstGeom>
          <a:noFill/>
          <a:ln w="12700">
            <a:solidFill>
              <a:srgbClr val="7A8288">
                <a:alpha val="20000"/>
              </a:srgbClr>
            </a:solidFill>
            <a:prstDash val="solid"/>
          </a:ln>
        </p:spPr>
        <p:txBody>
          <a:bodyPr/>
          <a:lstStyle/>
          <a:p>
            <a:endParaRPr lang="en-US"/>
          </a:p>
        </p:txBody>
      </p:sp>
      <p:sp>
        <p:nvSpPr>
          <p:cNvPr id="48" name="Shape 46"/>
          <p:cNvSpPr/>
          <p:nvPr/>
        </p:nvSpPr>
        <p:spPr>
          <a:xfrm>
            <a:off x="7100830" y="6370132"/>
            <a:ext cx="587098" cy="471566"/>
          </a:xfrm>
          <a:prstGeom prst="line">
            <a:avLst/>
          </a:prstGeom>
          <a:noFill/>
          <a:ln w="12700">
            <a:solidFill>
              <a:srgbClr val="7A8288">
                <a:alpha val="20000"/>
              </a:srgbClr>
            </a:solidFill>
            <a:prstDash val="solid"/>
          </a:ln>
        </p:spPr>
        <p:txBody>
          <a:bodyPr/>
          <a:lstStyle/>
          <a:p>
            <a:endParaRPr lang="en-US"/>
          </a:p>
        </p:txBody>
      </p:sp>
      <p:sp>
        <p:nvSpPr>
          <p:cNvPr id="49" name="Shape 47"/>
          <p:cNvSpPr/>
          <p:nvPr/>
        </p:nvSpPr>
        <p:spPr>
          <a:xfrm>
            <a:off x="7097317" y="6367221"/>
            <a:ext cx="3513" cy="2911"/>
          </a:xfrm>
          <a:prstGeom prst="line">
            <a:avLst/>
          </a:prstGeom>
          <a:noFill/>
          <a:ln w="12700">
            <a:solidFill>
              <a:srgbClr val="7A8288">
                <a:alpha val="20000"/>
              </a:srgbClr>
            </a:solidFill>
            <a:prstDash val="solid"/>
          </a:ln>
        </p:spPr>
        <p:txBody>
          <a:bodyPr/>
          <a:lstStyle/>
          <a:p>
            <a:endParaRPr lang="en-US"/>
          </a:p>
        </p:txBody>
      </p:sp>
      <p:sp>
        <p:nvSpPr>
          <p:cNvPr id="50" name="Shape 48"/>
          <p:cNvSpPr/>
          <p:nvPr/>
        </p:nvSpPr>
        <p:spPr>
          <a:xfrm>
            <a:off x="6510921" y="5899972"/>
            <a:ext cx="586396" cy="467250"/>
          </a:xfrm>
          <a:prstGeom prst="line">
            <a:avLst/>
          </a:prstGeom>
          <a:noFill/>
          <a:ln w="12700">
            <a:solidFill>
              <a:srgbClr val="7A8288">
                <a:alpha val="20000"/>
              </a:srgbClr>
            </a:solidFill>
            <a:prstDash val="solid"/>
          </a:ln>
        </p:spPr>
        <p:txBody>
          <a:bodyPr/>
          <a:lstStyle/>
          <a:p>
            <a:endParaRPr lang="en-US"/>
          </a:p>
        </p:txBody>
      </p:sp>
      <p:sp>
        <p:nvSpPr>
          <p:cNvPr id="51" name="Shape 49"/>
          <p:cNvSpPr/>
          <p:nvPr/>
        </p:nvSpPr>
        <p:spPr>
          <a:xfrm>
            <a:off x="5929444" y="5430012"/>
            <a:ext cx="581477" cy="469960"/>
          </a:xfrm>
          <a:prstGeom prst="line">
            <a:avLst/>
          </a:prstGeom>
          <a:noFill/>
          <a:ln w="12700">
            <a:solidFill>
              <a:srgbClr val="7A8288">
                <a:alpha val="20000"/>
              </a:srgbClr>
            </a:solidFill>
            <a:prstDash val="solid"/>
          </a:ln>
        </p:spPr>
        <p:txBody>
          <a:bodyPr/>
          <a:lstStyle/>
          <a:p>
            <a:endParaRPr lang="en-US"/>
          </a:p>
        </p:txBody>
      </p:sp>
      <p:sp>
        <p:nvSpPr>
          <p:cNvPr id="52" name="Shape 50"/>
          <p:cNvSpPr/>
          <p:nvPr/>
        </p:nvSpPr>
        <p:spPr>
          <a:xfrm>
            <a:off x="5927838" y="5428707"/>
            <a:ext cx="1606" cy="1305"/>
          </a:xfrm>
          <a:prstGeom prst="line">
            <a:avLst/>
          </a:prstGeom>
          <a:noFill/>
          <a:ln w="12700">
            <a:solidFill>
              <a:srgbClr val="7A8288">
                <a:alpha val="20000"/>
              </a:srgbClr>
            </a:solidFill>
            <a:prstDash val="solid"/>
          </a:ln>
        </p:spPr>
        <p:txBody>
          <a:bodyPr/>
          <a:lstStyle/>
          <a:p>
            <a:endParaRPr lang="en-US"/>
          </a:p>
        </p:txBody>
      </p:sp>
      <p:sp>
        <p:nvSpPr>
          <p:cNvPr id="53" name="Shape 51"/>
          <p:cNvSpPr/>
          <p:nvPr/>
        </p:nvSpPr>
        <p:spPr>
          <a:xfrm>
            <a:off x="5339435" y="4954833"/>
            <a:ext cx="588403" cy="473874"/>
          </a:xfrm>
          <a:prstGeom prst="line">
            <a:avLst/>
          </a:prstGeom>
          <a:noFill/>
          <a:ln w="12700">
            <a:solidFill>
              <a:srgbClr val="7A8288">
                <a:alpha val="20000"/>
              </a:srgbClr>
            </a:solidFill>
            <a:prstDash val="solid"/>
          </a:ln>
        </p:spPr>
        <p:txBody>
          <a:bodyPr/>
          <a:lstStyle/>
          <a:p>
            <a:endParaRPr lang="en-US"/>
          </a:p>
        </p:txBody>
      </p:sp>
      <p:sp>
        <p:nvSpPr>
          <p:cNvPr id="54" name="Shape 52"/>
          <p:cNvSpPr/>
          <p:nvPr/>
        </p:nvSpPr>
        <p:spPr>
          <a:xfrm>
            <a:off x="5335319" y="4951520"/>
            <a:ext cx="4115" cy="3312"/>
          </a:xfrm>
          <a:prstGeom prst="line">
            <a:avLst/>
          </a:prstGeom>
          <a:noFill/>
          <a:ln w="12700">
            <a:solidFill>
              <a:srgbClr val="7A8288">
                <a:alpha val="20000"/>
              </a:srgbClr>
            </a:solidFill>
            <a:prstDash val="solid"/>
          </a:ln>
        </p:spPr>
        <p:txBody>
          <a:bodyPr/>
          <a:lstStyle/>
          <a:p>
            <a:endParaRPr lang="en-US"/>
          </a:p>
        </p:txBody>
      </p:sp>
      <p:sp>
        <p:nvSpPr>
          <p:cNvPr id="55" name="Shape 53"/>
          <p:cNvSpPr/>
          <p:nvPr/>
        </p:nvSpPr>
        <p:spPr>
          <a:xfrm>
            <a:off x="4748924" y="4483769"/>
            <a:ext cx="586396" cy="467751"/>
          </a:xfrm>
          <a:prstGeom prst="line">
            <a:avLst/>
          </a:prstGeom>
          <a:noFill/>
          <a:ln w="12700">
            <a:solidFill>
              <a:srgbClr val="7A8288">
                <a:alpha val="20000"/>
              </a:srgbClr>
            </a:solidFill>
            <a:prstDash val="solid"/>
          </a:ln>
        </p:spPr>
        <p:txBody>
          <a:bodyPr/>
          <a:lstStyle/>
          <a:p>
            <a:endParaRPr lang="en-US"/>
          </a:p>
        </p:txBody>
      </p:sp>
      <p:sp>
        <p:nvSpPr>
          <p:cNvPr id="56" name="Shape 54"/>
          <p:cNvSpPr/>
          <p:nvPr/>
        </p:nvSpPr>
        <p:spPr>
          <a:xfrm>
            <a:off x="4166744" y="4016620"/>
            <a:ext cx="582180" cy="467149"/>
          </a:xfrm>
          <a:prstGeom prst="line">
            <a:avLst/>
          </a:prstGeom>
          <a:noFill/>
          <a:ln w="12700">
            <a:solidFill>
              <a:srgbClr val="7A8288">
                <a:alpha val="20000"/>
              </a:srgbClr>
            </a:solidFill>
            <a:prstDash val="solid"/>
          </a:ln>
        </p:spPr>
        <p:txBody>
          <a:bodyPr/>
          <a:lstStyle/>
          <a:p>
            <a:endParaRPr lang="en-US"/>
          </a:p>
        </p:txBody>
      </p:sp>
      <p:sp>
        <p:nvSpPr>
          <p:cNvPr id="57" name="Shape 55"/>
          <p:cNvSpPr/>
          <p:nvPr/>
        </p:nvSpPr>
        <p:spPr>
          <a:xfrm>
            <a:off x="4164034" y="4014512"/>
            <a:ext cx="2710" cy="2108"/>
          </a:xfrm>
          <a:prstGeom prst="line">
            <a:avLst/>
          </a:prstGeom>
          <a:noFill/>
          <a:ln w="12700">
            <a:solidFill>
              <a:srgbClr val="7A8288">
                <a:alpha val="20000"/>
              </a:srgbClr>
            </a:solidFill>
            <a:prstDash val="solid"/>
          </a:ln>
        </p:spPr>
        <p:txBody>
          <a:bodyPr/>
          <a:lstStyle/>
          <a:p>
            <a:endParaRPr lang="en-US"/>
          </a:p>
        </p:txBody>
      </p:sp>
      <p:sp>
        <p:nvSpPr>
          <p:cNvPr id="58" name="Shape 56"/>
          <p:cNvSpPr/>
          <p:nvPr/>
        </p:nvSpPr>
        <p:spPr>
          <a:xfrm>
            <a:off x="3962278" y="3853609"/>
            <a:ext cx="201755" cy="160902"/>
          </a:xfrm>
          <a:prstGeom prst="line">
            <a:avLst/>
          </a:prstGeom>
          <a:noFill/>
          <a:ln w="12700">
            <a:solidFill>
              <a:srgbClr val="7A8288">
                <a:alpha val="20000"/>
              </a:srgbClr>
            </a:solidFill>
            <a:prstDash val="solid"/>
          </a:ln>
        </p:spPr>
        <p:txBody>
          <a:bodyPr/>
          <a:lstStyle/>
          <a:p>
            <a:endParaRPr lang="en-US"/>
          </a:p>
        </p:txBody>
      </p:sp>
      <p:sp>
        <p:nvSpPr>
          <p:cNvPr id="59" name="Shape 57"/>
          <p:cNvSpPr/>
          <p:nvPr/>
        </p:nvSpPr>
        <p:spPr>
          <a:xfrm>
            <a:off x="3579947" y="3545455"/>
            <a:ext cx="382332" cy="308154"/>
          </a:xfrm>
          <a:prstGeom prst="line">
            <a:avLst/>
          </a:prstGeom>
          <a:noFill/>
          <a:ln w="12700">
            <a:solidFill>
              <a:srgbClr val="7A8288">
                <a:alpha val="20000"/>
              </a:srgbClr>
            </a:solidFill>
            <a:prstDash val="solid"/>
          </a:ln>
        </p:spPr>
        <p:txBody>
          <a:bodyPr/>
          <a:lstStyle/>
          <a:p>
            <a:endParaRPr lang="en-US"/>
          </a:p>
        </p:txBody>
      </p:sp>
      <p:sp>
        <p:nvSpPr>
          <p:cNvPr id="60" name="Shape 58"/>
          <p:cNvSpPr/>
          <p:nvPr/>
        </p:nvSpPr>
        <p:spPr>
          <a:xfrm>
            <a:off x="3503259" y="3488643"/>
            <a:ext cx="76687" cy="56813"/>
          </a:xfrm>
          <a:prstGeom prst="line">
            <a:avLst/>
          </a:prstGeom>
          <a:noFill/>
          <a:ln w="12700">
            <a:solidFill>
              <a:srgbClr val="7A8288">
                <a:alpha val="20000"/>
              </a:srgbClr>
            </a:solidFill>
            <a:prstDash val="solid"/>
          </a:ln>
        </p:spPr>
        <p:txBody>
          <a:bodyPr/>
          <a:lstStyle/>
          <a:p>
            <a:endParaRPr lang="en-US"/>
          </a:p>
        </p:txBody>
      </p:sp>
      <p:sp>
        <p:nvSpPr>
          <p:cNvPr id="61" name="Shape 59"/>
          <p:cNvSpPr/>
          <p:nvPr/>
        </p:nvSpPr>
        <p:spPr>
          <a:xfrm>
            <a:off x="3422156" y="3438455"/>
            <a:ext cx="81104" cy="50188"/>
          </a:xfrm>
          <a:prstGeom prst="line">
            <a:avLst/>
          </a:prstGeom>
          <a:noFill/>
          <a:ln w="12700">
            <a:solidFill>
              <a:srgbClr val="7A8288">
                <a:alpha val="20000"/>
              </a:srgbClr>
            </a:solidFill>
            <a:prstDash val="solid"/>
          </a:ln>
        </p:spPr>
        <p:txBody>
          <a:bodyPr/>
          <a:lstStyle/>
          <a:p>
            <a:endParaRPr lang="en-US"/>
          </a:p>
        </p:txBody>
      </p:sp>
      <p:sp>
        <p:nvSpPr>
          <p:cNvPr id="62" name="Shape 60"/>
          <p:cNvSpPr/>
          <p:nvPr/>
        </p:nvSpPr>
        <p:spPr>
          <a:xfrm>
            <a:off x="3378392" y="3416071"/>
            <a:ext cx="43764" cy="22384"/>
          </a:xfrm>
          <a:prstGeom prst="line">
            <a:avLst/>
          </a:prstGeom>
          <a:noFill/>
          <a:ln w="12700">
            <a:solidFill>
              <a:srgbClr val="7A8288">
                <a:alpha val="20000"/>
              </a:srgbClr>
            </a:solidFill>
            <a:prstDash val="solid"/>
          </a:ln>
        </p:spPr>
        <p:txBody>
          <a:bodyPr/>
          <a:lstStyle/>
          <a:p>
            <a:endParaRPr lang="en-US"/>
          </a:p>
        </p:txBody>
      </p:sp>
      <p:sp>
        <p:nvSpPr>
          <p:cNvPr id="63" name="Shape 61"/>
          <p:cNvSpPr/>
          <p:nvPr/>
        </p:nvSpPr>
        <p:spPr>
          <a:xfrm>
            <a:off x="3252019" y="3239610"/>
            <a:ext cx="126373" cy="176461"/>
          </a:xfrm>
          <a:prstGeom prst="line">
            <a:avLst/>
          </a:prstGeom>
          <a:noFill/>
          <a:ln w="12700">
            <a:solidFill>
              <a:srgbClr val="7A8288">
                <a:alpha val="20000"/>
              </a:srgbClr>
            </a:solidFill>
            <a:prstDash val="solid"/>
          </a:ln>
        </p:spPr>
        <p:txBody>
          <a:bodyPr/>
          <a:lstStyle/>
          <a:p>
            <a:endParaRPr lang="en-US"/>
          </a:p>
        </p:txBody>
      </p:sp>
      <p:sp>
        <p:nvSpPr>
          <p:cNvPr id="64" name="Shape 62"/>
          <p:cNvSpPr/>
          <p:nvPr/>
        </p:nvSpPr>
        <p:spPr>
          <a:xfrm>
            <a:off x="3182257" y="3151581"/>
            <a:ext cx="69761" cy="88030"/>
          </a:xfrm>
          <a:prstGeom prst="line">
            <a:avLst/>
          </a:prstGeom>
          <a:noFill/>
          <a:ln w="12700">
            <a:solidFill>
              <a:srgbClr val="7A8288">
                <a:alpha val="20000"/>
              </a:srgbClr>
            </a:solidFill>
            <a:prstDash val="solid"/>
          </a:ln>
        </p:spPr>
        <p:txBody>
          <a:bodyPr/>
          <a:lstStyle/>
          <a:p>
            <a:endParaRPr lang="en-US"/>
          </a:p>
        </p:txBody>
      </p:sp>
      <p:sp>
        <p:nvSpPr>
          <p:cNvPr id="65" name="Shape 63"/>
          <p:cNvSpPr/>
          <p:nvPr/>
        </p:nvSpPr>
        <p:spPr>
          <a:xfrm>
            <a:off x="3104366" y="3070778"/>
            <a:ext cx="77892" cy="80803"/>
          </a:xfrm>
          <a:prstGeom prst="line">
            <a:avLst/>
          </a:prstGeom>
          <a:noFill/>
          <a:ln w="12700">
            <a:solidFill>
              <a:srgbClr val="7A8288">
                <a:alpha val="20000"/>
              </a:srgbClr>
            </a:solidFill>
            <a:prstDash val="solid"/>
          </a:ln>
        </p:spPr>
        <p:txBody>
          <a:bodyPr/>
          <a:lstStyle/>
          <a:p>
            <a:endParaRPr lang="en-US"/>
          </a:p>
        </p:txBody>
      </p:sp>
      <p:sp>
        <p:nvSpPr>
          <p:cNvPr id="66" name="Shape 64"/>
          <p:cNvSpPr/>
          <p:nvPr/>
        </p:nvSpPr>
        <p:spPr>
          <a:xfrm>
            <a:off x="3018946" y="2997905"/>
            <a:ext cx="85420" cy="72873"/>
          </a:xfrm>
          <a:prstGeom prst="line">
            <a:avLst/>
          </a:prstGeom>
          <a:noFill/>
          <a:ln w="12700">
            <a:solidFill>
              <a:srgbClr val="7A8288">
                <a:alpha val="20000"/>
              </a:srgbClr>
            </a:solidFill>
            <a:prstDash val="solid"/>
          </a:ln>
        </p:spPr>
        <p:txBody>
          <a:bodyPr/>
          <a:lstStyle/>
          <a:p>
            <a:endParaRPr lang="en-US"/>
          </a:p>
        </p:txBody>
      </p:sp>
      <p:sp>
        <p:nvSpPr>
          <p:cNvPr id="67" name="Shape 65"/>
          <p:cNvSpPr/>
          <p:nvPr/>
        </p:nvSpPr>
        <p:spPr>
          <a:xfrm>
            <a:off x="2926801" y="2933665"/>
            <a:ext cx="92145" cy="64241"/>
          </a:xfrm>
          <a:prstGeom prst="line">
            <a:avLst/>
          </a:prstGeom>
          <a:noFill/>
          <a:ln w="12700">
            <a:solidFill>
              <a:srgbClr val="7A8288">
                <a:alpha val="20000"/>
              </a:srgbClr>
            </a:solidFill>
            <a:prstDash val="solid"/>
          </a:ln>
        </p:spPr>
        <p:txBody>
          <a:bodyPr/>
          <a:lstStyle/>
          <a:p>
            <a:endParaRPr lang="en-US"/>
          </a:p>
        </p:txBody>
      </p:sp>
      <p:sp>
        <p:nvSpPr>
          <p:cNvPr id="68" name="Shape 66"/>
          <p:cNvSpPr/>
          <p:nvPr/>
        </p:nvSpPr>
        <p:spPr>
          <a:xfrm>
            <a:off x="2868683" y="2901042"/>
            <a:ext cx="58118" cy="32622"/>
          </a:xfrm>
          <a:prstGeom prst="line">
            <a:avLst/>
          </a:prstGeom>
          <a:noFill/>
          <a:ln w="12700">
            <a:solidFill>
              <a:srgbClr val="7A8288">
                <a:alpha val="20000"/>
              </a:srgbClr>
            </a:solidFill>
            <a:prstDash val="solid"/>
          </a:ln>
        </p:spPr>
        <p:txBody>
          <a:bodyPr/>
          <a:lstStyle/>
          <a:p>
            <a:endParaRPr lang="en-US"/>
          </a:p>
        </p:txBody>
      </p:sp>
      <p:sp>
        <p:nvSpPr>
          <p:cNvPr id="69" name="Shape 67"/>
          <p:cNvSpPr/>
          <p:nvPr/>
        </p:nvSpPr>
        <p:spPr>
          <a:xfrm>
            <a:off x="2845798" y="2847643"/>
            <a:ext cx="22886" cy="53400"/>
          </a:xfrm>
          <a:prstGeom prst="line">
            <a:avLst/>
          </a:prstGeom>
          <a:noFill/>
          <a:ln w="12700">
            <a:solidFill>
              <a:srgbClr val="7A8288">
                <a:alpha val="20000"/>
              </a:srgbClr>
            </a:solidFill>
            <a:prstDash val="solid"/>
          </a:ln>
        </p:spPr>
        <p:txBody>
          <a:bodyPr/>
          <a:lstStyle/>
          <a:p>
            <a:endParaRPr lang="en-US"/>
          </a:p>
        </p:txBody>
      </p:sp>
      <p:sp>
        <p:nvSpPr>
          <p:cNvPr id="70" name="Shape 68"/>
          <p:cNvSpPr/>
          <p:nvPr/>
        </p:nvSpPr>
        <p:spPr>
          <a:xfrm>
            <a:off x="2790290" y="2746865"/>
            <a:ext cx="55508" cy="100777"/>
          </a:xfrm>
          <a:prstGeom prst="line">
            <a:avLst/>
          </a:prstGeom>
          <a:noFill/>
          <a:ln w="12700">
            <a:solidFill>
              <a:srgbClr val="7A8288">
                <a:alpha val="20000"/>
              </a:srgbClr>
            </a:solidFill>
            <a:prstDash val="solid"/>
          </a:ln>
        </p:spPr>
        <p:txBody>
          <a:bodyPr/>
          <a:lstStyle/>
          <a:p>
            <a:endParaRPr lang="en-US"/>
          </a:p>
        </p:txBody>
      </p:sp>
      <p:sp>
        <p:nvSpPr>
          <p:cNvPr id="71" name="Shape 69"/>
          <p:cNvSpPr/>
          <p:nvPr/>
        </p:nvSpPr>
        <p:spPr>
          <a:xfrm>
            <a:off x="2724945" y="2652110"/>
            <a:ext cx="65345" cy="94755"/>
          </a:xfrm>
          <a:prstGeom prst="line">
            <a:avLst/>
          </a:prstGeom>
          <a:noFill/>
          <a:ln w="12700">
            <a:solidFill>
              <a:srgbClr val="7A8288">
                <a:alpha val="20000"/>
              </a:srgbClr>
            </a:solidFill>
            <a:prstDash val="solid"/>
          </a:ln>
        </p:spPr>
        <p:txBody>
          <a:bodyPr/>
          <a:lstStyle/>
          <a:p>
            <a:endParaRPr lang="en-US"/>
          </a:p>
        </p:txBody>
      </p:sp>
      <p:sp>
        <p:nvSpPr>
          <p:cNvPr id="72" name="Shape 70"/>
          <p:cNvSpPr/>
          <p:nvPr/>
        </p:nvSpPr>
        <p:spPr>
          <a:xfrm>
            <a:off x="2650466" y="2564281"/>
            <a:ext cx="74479" cy="87829"/>
          </a:xfrm>
          <a:prstGeom prst="line">
            <a:avLst/>
          </a:prstGeom>
          <a:noFill/>
          <a:ln w="12700">
            <a:solidFill>
              <a:srgbClr val="7A8288">
                <a:alpha val="20000"/>
              </a:srgbClr>
            </a:solidFill>
            <a:prstDash val="solid"/>
          </a:ln>
        </p:spPr>
        <p:txBody>
          <a:bodyPr/>
          <a:lstStyle/>
          <a:p>
            <a:endParaRPr lang="en-US"/>
          </a:p>
        </p:txBody>
      </p:sp>
      <p:sp>
        <p:nvSpPr>
          <p:cNvPr id="73" name="Shape 71"/>
          <p:cNvSpPr/>
          <p:nvPr/>
        </p:nvSpPr>
        <p:spPr>
          <a:xfrm>
            <a:off x="2567656" y="2484382"/>
            <a:ext cx="82810" cy="79899"/>
          </a:xfrm>
          <a:prstGeom prst="line">
            <a:avLst/>
          </a:prstGeom>
          <a:noFill/>
          <a:ln w="12700">
            <a:solidFill>
              <a:srgbClr val="7A8288">
                <a:alpha val="20000"/>
              </a:srgbClr>
            </a:solidFill>
            <a:prstDash val="solid"/>
          </a:ln>
        </p:spPr>
        <p:txBody>
          <a:bodyPr/>
          <a:lstStyle/>
          <a:p>
            <a:endParaRPr lang="en-US"/>
          </a:p>
        </p:txBody>
      </p:sp>
      <p:sp>
        <p:nvSpPr>
          <p:cNvPr id="74" name="Shape 72"/>
          <p:cNvSpPr/>
          <p:nvPr/>
        </p:nvSpPr>
        <p:spPr>
          <a:xfrm>
            <a:off x="2477318" y="2413115"/>
            <a:ext cx="90338" cy="71267"/>
          </a:xfrm>
          <a:prstGeom prst="line">
            <a:avLst/>
          </a:prstGeom>
          <a:noFill/>
          <a:ln w="12700">
            <a:solidFill>
              <a:srgbClr val="7A8288">
                <a:alpha val="20000"/>
              </a:srgbClr>
            </a:solidFill>
            <a:prstDash val="solid"/>
          </a:ln>
        </p:spPr>
        <p:txBody>
          <a:bodyPr/>
          <a:lstStyle/>
          <a:p>
            <a:endParaRPr lang="en-US"/>
          </a:p>
        </p:txBody>
      </p:sp>
      <p:sp>
        <p:nvSpPr>
          <p:cNvPr id="75" name="Shape 73"/>
          <p:cNvSpPr/>
          <p:nvPr/>
        </p:nvSpPr>
        <p:spPr>
          <a:xfrm>
            <a:off x="2439476" y="2388925"/>
            <a:ext cx="37842" cy="24191"/>
          </a:xfrm>
          <a:prstGeom prst="line">
            <a:avLst/>
          </a:prstGeom>
          <a:noFill/>
          <a:ln w="12700">
            <a:solidFill>
              <a:srgbClr val="7A8288">
                <a:alpha val="20000"/>
              </a:srgbClr>
            </a:solidFill>
            <a:prstDash val="solid"/>
          </a:ln>
        </p:spPr>
        <p:txBody>
          <a:bodyPr/>
          <a:lstStyle/>
          <a:p>
            <a:endParaRPr lang="en-US"/>
          </a:p>
        </p:txBody>
      </p:sp>
      <p:sp>
        <p:nvSpPr>
          <p:cNvPr id="76" name="Shape 74"/>
          <p:cNvSpPr/>
          <p:nvPr/>
        </p:nvSpPr>
        <p:spPr>
          <a:xfrm>
            <a:off x="2413178" y="2315851"/>
            <a:ext cx="26298" cy="73074"/>
          </a:xfrm>
          <a:prstGeom prst="line">
            <a:avLst/>
          </a:prstGeom>
          <a:noFill/>
          <a:ln w="12700">
            <a:solidFill>
              <a:srgbClr val="7A8288">
                <a:alpha val="20000"/>
              </a:srgbClr>
            </a:solidFill>
            <a:prstDash val="solid"/>
          </a:ln>
        </p:spPr>
        <p:txBody>
          <a:bodyPr/>
          <a:lstStyle/>
          <a:p>
            <a:endParaRPr lang="en-US"/>
          </a:p>
        </p:txBody>
      </p:sp>
      <p:sp>
        <p:nvSpPr>
          <p:cNvPr id="77" name="Shape 75"/>
          <p:cNvSpPr/>
          <p:nvPr/>
        </p:nvSpPr>
        <p:spPr>
          <a:xfrm>
            <a:off x="2365599" y="2215475"/>
            <a:ext cx="47578" cy="100376"/>
          </a:xfrm>
          <a:prstGeom prst="line">
            <a:avLst/>
          </a:prstGeom>
          <a:noFill/>
          <a:ln w="12700">
            <a:solidFill>
              <a:srgbClr val="7A8288">
                <a:alpha val="20000"/>
              </a:srgbClr>
            </a:solidFill>
            <a:prstDash val="solid"/>
          </a:ln>
        </p:spPr>
        <p:txBody>
          <a:bodyPr/>
          <a:lstStyle/>
          <a:p>
            <a:endParaRPr lang="en-US"/>
          </a:p>
        </p:txBody>
      </p:sp>
      <p:sp>
        <p:nvSpPr>
          <p:cNvPr id="78" name="Shape 76"/>
          <p:cNvSpPr/>
          <p:nvPr/>
        </p:nvSpPr>
        <p:spPr>
          <a:xfrm>
            <a:off x="2308486" y="2120018"/>
            <a:ext cx="57114" cy="95457"/>
          </a:xfrm>
          <a:prstGeom prst="line">
            <a:avLst/>
          </a:prstGeom>
          <a:noFill/>
          <a:ln w="12700">
            <a:solidFill>
              <a:srgbClr val="7A8288">
                <a:alpha val="20000"/>
              </a:srgbClr>
            </a:solidFill>
            <a:prstDash val="solid"/>
          </a:ln>
        </p:spPr>
        <p:txBody>
          <a:bodyPr/>
          <a:lstStyle/>
          <a:p>
            <a:endParaRPr lang="en-US"/>
          </a:p>
        </p:txBody>
      </p:sp>
      <p:sp>
        <p:nvSpPr>
          <p:cNvPr id="79" name="Shape 77"/>
          <p:cNvSpPr/>
          <p:nvPr/>
        </p:nvSpPr>
        <p:spPr>
          <a:xfrm>
            <a:off x="1914812" y="1528102"/>
            <a:ext cx="393674" cy="591916"/>
          </a:xfrm>
          <a:prstGeom prst="line">
            <a:avLst/>
          </a:prstGeom>
          <a:noFill/>
          <a:ln w="12700">
            <a:solidFill>
              <a:srgbClr val="7A8288">
                <a:alpha val="20000"/>
              </a:srgbClr>
            </a:solidFill>
            <a:prstDash val="solid"/>
          </a:ln>
        </p:spPr>
        <p:txBody>
          <a:bodyPr/>
          <a:lstStyle/>
          <a:p>
            <a:endParaRPr lang="en-US"/>
          </a:p>
        </p:txBody>
      </p:sp>
      <p:sp>
        <p:nvSpPr>
          <p:cNvPr id="80" name="Shape 78"/>
          <p:cNvSpPr/>
          <p:nvPr/>
        </p:nvSpPr>
        <p:spPr>
          <a:xfrm>
            <a:off x="1785546" y="1298442"/>
            <a:ext cx="129266" cy="229660"/>
          </a:xfrm>
          <a:prstGeom prst="line">
            <a:avLst/>
          </a:prstGeom>
          <a:noFill/>
          <a:ln w="12700">
            <a:solidFill>
              <a:srgbClr val="7A8288">
                <a:alpha val="20000"/>
              </a:srgbClr>
            </a:solidFill>
            <a:prstDash val="solid"/>
          </a:ln>
        </p:spPr>
        <p:txBody>
          <a:bodyPr/>
          <a:lstStyle/>
          <a:p>
            <a:endParaRPr lang="en-US"/>
          </a:p>
        </p:txBody>
      </p:sp>
      <p:sp>
        <p:nvSpPr>
          <p:cNvPr id="81" name="Shape 79"/>
          <p:cNvSpPr/>
          <p:nvPr/>
        </p:nvSpPr>
        <p:spPr>
          <a:xfrm>
            <a:off x="9313315" y="9627228"/>
            <a:ext cx="229676" cy="184290"/>
          </a:xfrm>
          <a:prstGeom prst="line">
            <a:avLst/>
          </a:prstGeom>
          <a:noFill/>
          <a:ln w="19050">
            <a:solidFill>
              <a:srgbClr val="C7A400">
                <a:alpha val="20000"/>
              </a:srgbClr>
            </a:solidFill>
            <a:prstDash val="dashDot"/>
          </a:ln>
        </p:spPr>
        <p:txBody>
          <a:bodyPr/>
          <a:lstStyle/>
          <a:p>
            <a:endParaRPr lang="en-US"/>
          </a:p>
        </p:txBody>
      </p:sp>
      <p:sp>
        <p:nvSpPr>
          <p:cNvPr id="82" name="Shape 80"/>
          <p:cNvSpPr/>
          <p:nvPr/>
        </p:nvSpPr>
        <p:spPr>
          <a:xfrm>
            <a:off x="8138616" y="8683595"/>
            <a:ext cx="1174699" cy="943633"/>
          </a:xfrm>
          <a:prstGeom prst="line">
            <a:avLst/>
          </a:prstGeom>
          <a:noFill/>
          <a:ln w="19050">
            <a:solidFill>
              <a:srgbClr val="C7A400">
                <a:alpha val="20000"/>
              </a:srgbClr>
            </a:solidFill>
            <a:prstDash val="dashDot"/>
          </a:ln>
        </p:spPr>
        <p:txBody>
          <a:bodyPr/>
          <a:lstStyle/>
          <a:p>
            <a:endParaRPr lang="en-US"/>
          </a:p>
        </p:txBody>
      </p:sp>
      <p:sp>
        <p:nvSpPr>
          <p:cNvPr id="83" name="Shape 81"/>
          <p:cNvSpPr/>
          <p:nvPr/>
        </p:nvSpPr>
        <p:spPr>
          <a:xfrm>
            <a:off x="7552823" y="8211828"/>
            <a:ext cx="585793" cy="471767"/>
          </a:xfrm>
          <a:prstGeom prst="line">
            <a:avLst/>
          </a:prstGeom>
          <a:noFill/>
          <a:ln w="19050">
            <a:solidFill>
              <a:srgbClr val="C7A400">
                <a:alpha val="20000"/>
              </a:srgbClr>
            </a:solidFill>
            <a:prstDash val="dashDot"/>
          </a:ln>
        </p:spPr>
        <p:txBody>
          <a:bodyPr/>
          <a:lstStyle/>
          <a:p>
            <a:endParaRPr lang="en-US"/>
          </a:p>
        </p:txBody>
      </p:sp>
      <p:sp>
        <p:nvSpPr>
          <p:cNvPr id="84" name="Shape 82"/>
          <p:cNvSpPr/>
          <p:nvPr/>
        </p:nvSpPr>
        <p:spPr>
          <a:xfrm>
            <a:off x="6965925" y="7742371"/>
            <a:ext cx="586898" cy="469458"/>
          </a:xfrm>
          <a:prstGeom prst="line">
            <a:avLst/>
          </a:prstGeom>
          <a:noFill/>
          <a:ln w="19050">
            <a:solidFill>
              <a:srgbClr val="C7A400">
                <a:alpha val="20000"/>
              </a:srgbClr>
            </a:solidFill>
            <a:prstDash val="dashDot"/>
          </a:ln>
        </p:spPr>
        <p:txBody>
          <a:bodyPr/>
          <a:lstStyle/>
          <a:p>
            <a:endParaRPr lang="en-US"/>
          </a:p>
        </p:txBody>
      </p:sp>
      <p:sp>
        <p:nvSpPr>
          <p:cNvPr id="85" name="Shape 83"/>
          <p:cNvSpPr/>
          <p:nvPr/>
        </p:nvSpPr>
        <p:spPr>
          <a:xfrm>
            <a:off x="6377923" y="7270002"/>
            <a:ext cx="588002" cy="472369"/>
          </a:xfrm>
          <a:prstGeom prst="line">
            <a:avLst/>
          </a:prstGeom>
          <a:noFill/>
          <a:ln w="19050">
            <a:solidFill>
              <a:srgbClr val="C7A400">
                <a:alpha val="20000"/>
              </a:srgbClr>
            </a:solidFill>
            <a:prstDash val="dashDot"/>
          </a:ln>
        </p:spPr>
        <p:txBody>
          <a:bodyPr/>
          <a:lstStyle/>
          <a:p>
            <a:endParaRPr lang="en-US"/>
          </a:p>
        </p:txBody>
      </p:sp>
      <p:sp>
        <p:nvSpPr>
          <p:cNvPr id="86" name="Shape 84"/>
          <p:cNvSpPr/>
          <p:nvPr/>
        </p:nvSpPr>
        <p:spPr>
          <a:xfrm>
            <a:off x="5788416" y="6800243"/>
            <a:ext cx="589507" cy="469759"/>
          </a:xfrm>
          <a:prstGeom prst="line">
            <a:avLst/>
          </a:prstGeom>
          <a:noFill/>
          <a:ln w="19050">
            <a:solidFill>
              <a:srgbClr val="C7A400">
                <a:alpha val="20000"/>
              </a:srgbClr>
            </a:solidFill>
            <a:prstDash val="dashDot"/>
          </a:ln>
        </p:spPr>
        <p:txBody>
          <a:bodyPr/>
          <a:lstStyle/>
          <a:p>
            <a:endParaRPr lang="en-US"/>
          </a:p>
        </p:txBody>
      </p:sp>
      <p:sp>
        <p:nvSpPr>
          <p:cNvPr id="87" name="Shape 85"/>
          <p:cNvSpPr/>
          <p:nvPr/>
        </p:nvSpPr>
        <p:spPr>
          <a:xfrm>
            <a:off x="5203827" y="6327774"/>
            <a:ext cx="584589" cy="472469"/>
          </a:xfrm>
          <a:prstGeom prst="line">
            <a:avLst/>
          </a:prstGeom>
          <a:noFill/>
          <a:ln w="19050">
            <a:solidFill>
              <a:srgbClr val="C7A400">
                <a:alpha val="20000"/>
              </a:srgbClr>
            </a:solidFill>
            <a:prstDash val="dashDot"/>
          </a:ln>
        </p:spPr>
        <p:txBody>
          <a:bodyPr/>
          <a:lstStyle/>
          <a:p>
            <a:endParaRPr lang="en-US"/>
          </a:p>
        </p:txBody>
      </p:sp>
      <p:sp>
        <p:nvSpPr>
          <p:cNvPr id="88" name="Shape 86"/>
          <p:cNvSpPr/>
          <p:nvPr/>
        </p:nvSpPr>
        <p:spPr>
          <a:xfrm>
            <a:off x="4615424" y="5853899"/>
            <a:ext cx="588403" cy="473874"/>
          </a:xfrm>
          <a:prstGeom prst="line">
            <a:avLst/>
          </a:prstGeom>
          <a:noFill/>
          <a:ln w="19050">
            <a:solidFill>
              <a:srgbClr val="C7A400">
                <a:alpha val="20000"/>
              </a:srgbClr>
            </a:solidFill>
            <a:prstDash val="dashDot"/>
          </a:ln>
        </p:spPr>
        <p:txBody>
          <a:bodyPr/>
          <a:lstStyle/>
          <a:p>
            <a:endParaRPr lang="en-US"/>
          </a:p>
        </p:txBody>
      </p:sp>
      <p:sp>
        <p:nvSpPr>
          <p:cNvPr id="89" name="Shape 87"/>
          <p:cNvSpPr/>
          <p:nvPr/>
        </p:nvSpPr>
        <p:spPr>
          <a:xfrm>
            <a:off x="4027824" y="5385144"/>
            <a:ext cx="587600" cy="468755"/>
          </a:xfrm>
          <a:prstGeom prst="line">
            <a:avLst/>
          </a:prstGeom>
          <a:noFill/>
          <a:ln w="19050">
            <a:solidFill>
              <a:srgbClr val="C7A400">
                <a:alpha val="20000"/>
              </a:srgbClr>
            </a:solidFill>
            <a:prstDash val="dashDot"/>
          </a:ln>
        </p:spPr>
        <p:txBody>
          <a:bodyPr/>
          <a:lstStyle/>
          <a:p>
            <a:endParaRPr lang="en-US"/>
          </a:p>
        </p:txBody>
      </p:sp>
      <p:sp>
        <p:nvSpPr>
          <p:cNvPr id="90" name="Shape 88"/>
          <p:cNvSpPr/>
          <p:nvPr/>
        </p:nvSpPr>
        <p:spPr>
          <a:xfrm>
            <a:off x="3444339" y="4916991"/>
            <a:ext cx="583485" cy="468153"/>
          </a:xfrm>
          <a:prstGeom prst="line">
            <a:avLst/>
          </a:prstGeom>
          <a:noFill/>
          <a:ln w="19050">
            <a:solidFill>
              <a:srgbClr val="C7A400">
                <a:alpha val="20000"/>
              </a:srgbClr>
            </a:solidFill>
            <a:prstDash val="dashDot"/>
          </a:ln>
        </p:spPr>
        <p:txBody>
          <a:bodyPr/>
          <a:lstStyle/>
          <a:p>
            <a:endParaRPr lang="en-US"/>
          </a:p>
        </p:txBody>
      </p:sp>
      <p:sp>
        <p:nvSpPr>
          <p:cNvPr id="91" name="Shape 89"/>
          <p:cNvSpPr/>
          <p:nvPr/>
        </p:nvSpPr>
        <p:spPr>
          <a:xfrm>
            <a:off x="3240174" y="4754181"/>
            <a:ext cx="204164" cy="162810"/>
          </a:xfrm>
          <a:prstGeom prst="line">
            <a:avLst/>
          </a:prstGeom>
          <a:noFill/>
          <a:ln w="19050">
            <a:solidFill>
              <a:srgbClr val="C7A400">
                <a:alpha val="20000"/>
              </a:srgbClr>
            </a:solidFill>
            <a:prstDash val="dashDot"/>
          </a:ln>
        </p:spPr>
        <p:txBody>
          <a:bodyPr/>
          <a:lstStyle/>
          <a:p>
            <a:endParaRPr lang="en-US"/>
          </a:p>
        </p:txBody>
      </p:sp>
      <p:sp>
        <p:nvSpPr>
          <p:cNvPr id="92" name="Shape 90"/>
          <p:cNvSpPr/>
          <p:nvPr/>
        </p:nvSpPr>
        <p:spPr>
          <a:xfrm>
            <a:off x="2855534" y="4444120"/>
            <a:ext cx="384640" cy="310061"/>
          </a:xfrm>
          <a:prstGeom prst="line">
            <a:avLst/>
          </a:prstGeom>
          <a:noFill/>
          <a:ln w="19050">
            <a:solidFill>
              <a:srgbClr val="C7A400">
                <a:alpha val="20000"/>
              </a:srgbClr>
            </a:solidFill>
            <a:prstDash val="dashDot"/>
          </a:ln>
        </p:spPr>
        <p:txBody>
          <a:bodyPr/>
          <a:lstStyle/>
          <a:p>
            <a:endParaRPr lang="en-US"/>
          </a:p>
        </p:txBody>
      </p:sp>
      <p:sp>
        <p:nvSpPr>
          <p:cNvPr id="93" name="Shape 91"/>
          <p:cNvSpPr/>
          <p:nvPr/>
        </p:nvSpPr>
        <p:spPr>
          <a:xfrm>
            <a:off x="2615937" y="4334109"/>
            <a:ext cx="239597" cy="110012"/>
          </a:xfrm>
          <a:prstGeom prst="line">
            <a:avLst/>
          </a:prstGeom>
          <a:noFill/>
          <a:ln w="19050">
            <a:solidFill>
              <a:srgbClr val="C7A400">
                <a:alpha val="20000"/>
              </a:srgbClr>
            </a:solidFill>
            <a:prstDash val="dashDot"/>
          </a:ln>
        </p:spPr>
        <p:txBody>
          <a:bodyPr/>
          <a:lstStyle/>
          <a:p>
            <a:endParaRPr lang="en-US"/>
          </a:p>
        </p:txBody>
      </p:sp>
      <p:sp>
        <p:nvSpPr>
          <p:cNvPr id="94" name="Shape 92"/>
          <p:cNvSpPr/>
          <p:nvPr/>
        </p:nvSpPr>
        <p:spPr>
          <a:xfrm>
            <a:off x="2313404" y="3911526"/>
            <a:ext cx="302533" cy="422582"/>
          </a:xfrm>
          <a:prstGeom prst="line">
            <a:avLst/>
          </a:prstGeom>
          <a:noFill/>
          <a:ln w="19050">
            <a:solidFill>
              <a:srgbClr val="C7A400">
                <a:alpha val="20000"/>
              </a:srgbClr>
            </a:solidFill>
            <a:prstDash val="dashDot"/>
          </a:ln>
        </p:spPr>
        <p:txBody>
          <a:bodyPr/>
          <a:lstStyle/>
          <a:p>
            <a:endParaRPr lang="en-US"/>
          </a:p>
        </p:txBody>
      </p:sp>
      <p:sp>
        <p:nvSpPr>
          <p:cNvPr id="95" name="Shape 93"/>
          <p:cNvSpPr/>
          <p:nvPr/>
        </p:nvSpPr>
        <p:spPr>
          <a:xfrm>
            <a:off x="2313404" y="3911526"/>
            <a:ext cx="914" cy="914"/>
          </a:xfrm>
          <a:prstGeom prst="line">
            <a:avLst/>
          </a:prstGeom>
          <a:noFill/>
          <a:ln w="19050">
            <a:solidFill>
              <a:srgbClr val="C7A400">
                <a:alpha val="20000"/>
              </a:srgbClr>
            </a:solidFill>
            <a:prstDash val="dashDot"/>
          </a:ln>
        </p:spPr>
        <p:txBody>
          <a:bodyPr/>
          <a:lstStyle/>
          <a:p>
            <a:endParaRPr lang="en-US"/>
          </a:p>
        </p:txBody>
      </p:sp>
      <p:sp>
        <p:nvSpPr>
          <p:cNvPr id="96" name="Shape 94"/>
          <p:cNvSpPr/>
          <p:nvPr/>
        </p:nvSpPr>
        <p:spPr>
          <a:xfrm flipV="1">
            <a:off x="1964498" y="3911526"/>
            <a:ext cx="348906" cy="42359"/>
          </a:xfrm>
          <a:prstGeom prst="line">
            <a:avLst/>
          </a:prstGeom>
          <a:noFill/>
          <a:ln w="19050">
            <a:solidFill>
              <a:srgbClr val="C7A400">
                <a:alpha val="20000"/>
              </a:srgbClr>
            </a:solidFill>
            <a:prstDash val="dashDot"/>
          </a:ln>
        </p:spPr>
        <p:txBody>
          <a:bodyPr/>
          <a:lstStyle/>
          <a:p>
            <a:endParaRPr lang="en-US"/>
          </a:p>
        </p:txBody>
      </p:sp>
      <p:sp>
        <p:nvSpPr>
          <p:cNvPr id="97" name="Shape 95"/>
          <p:cNvSpPr/>
          <p:nvPr/>
        </p:nvSpPr>
        <p:spPr>
          <a:xfrm>
            <a:off x="1808413" y="3353838"/>
            <a:ext cx="156084" cy="600047"/>
          </a:xfrm>
          <a:prstGeom prst="line">
            <a:avLst/>
          </a:prstGeom>
          <a:noFill/>
          <a:ln w="19050">
            <a:solidFill>
              <a:srgbClr val="C7A400">
                <a:alpha val="20000"/>
              </a:srgbClr>
            </a:solidFill>
            <a:prstDash val="dashDot"/>
          </a:ln>
        </p:spPr>
        <p:txBody>
          <a:bodyPr/>
          <a:lstStyle/>
          <a:p>
            <a:endParaRPr lang="en-US"/>
          </a:p>
        </p:txBody>
      </p:sp>
      <p:sp>
        <p:nvSpPr>
          <p:cNvPr id="98" name="Shape 96"/>
          <p:cNvSpPr/>
          <p:nvPr/>
        </p:nvSpPr>
        <p:spPr>
          <a:xfrm flipV="1">
            <a:off x="1289068" y="3353838"/>
            <a:ext cx="519345" cy="269810"/>
          </a:xfrm>
          <a:prstGeom prst="line">
            <a:avLst/>
          </a:prstGeom>
          <a:noFill/>
          <a:ln w="19050">
            <a:solidFill>
              <a:srgbClr val="C7A400">
                <a:alpha val="20000"/>
              </a:srgbClr>
            </a:solidFill>
            <a:prstDash val="dashDot"/>
          </a:ln>
        </p:spPr>
        <p:txBody>
          <a:bodyPr/>
          <a:lstStyle/>
          <a:p>
            <a:endParaRPr lang="en-US"/>
          </a:p>
        </p:txBody>
      </p:sp>
      <p:sp>
        <p:nvSpPr>
          <p:cNvPr id="99" name="Shape 97"/>
          <p:cNvSpPr/>
          <p:nvPr/>
        </p:nvSpPr>
        <p:spPr>
          <a:xfrm>
            <a:off x="1090826" y="3028419"/>
            <a:ext cx="198242" cy="595229"/>
          </a:xfrm>
          <a:prstGeom prst="line">
            <a:avLst/>
          </a:prstGeom>
          <a:noFill/>
          <a:ln w="19050">
            <a:solidFill>
              <a:srgbClr val="C7A400">
                <a:alpha val="20000"/>
              </a:srgbClr>
            </a:solidFill>
            <a:prstDash val="dashDot"/>
          </a:ln>
        </p:spPr>
        <p:txBody>
          <a:bodyPr/>
          <a:lstStyle/>
          <a:p>
            <a:endParaRPr lang="en-US"/>
          </a:p>
        </p:txBody>
      </p:sp>
      <p:sp>
        <p:nvSpPr>
          <p:cNvPr id="100" name="Shape 98"/>
          <p:cNvSpPr/>
          <p:nvPr/>
        </p:nvSpPr>
        <p:spPr>
          <a:xfrm flipV="1">
            <a:off x="1090826" y="2759312"/>
            <a:ext cx="256561" cy="269108"/>
          </a:xfrm>
          <a:prstGeom prst="line">
            <a:avLst/>
          </a:prstGeom>
          <a:noFill/>
          <a:ln w="19050">
            <a:solidFill>
              <a:srgbClr val="C7A400">
                <a:alpha val="20000"/>
              </a:srgbClr>
            </a:solidFill>
            <a:prstDash val="dashDot"/>
          </a:ln>
        </p:spPr>
        <p:txBody>
          <a:bodyPr/>
          <a:lstStyle/>
          <a:p>
            <a:endParaRPr lang="en-US"/>
          </a:p>
        </p:txBody>
      </p:sp>
      <p:sp>
        <p:nvSpPr>
          <p:cNvPr id="101" name="Shape 99"/>
          <p:cNvSpPr/>
          <p:nvPr/>
        </p:nvSpPr>
        <p:spPr>
          <a:xfrm>
            <a:off x="929924" y="2131662"/>
            <a:ext cx="417463" cy="627650"/>
          </a:xfrm>
          <a:prstGeom prst="line">
            <a:avLst/>
          </a:prstGeom>
          <a:noFill/>
          <a:ln w="19050">
            <a:solidFill>
              <a:srgbClr val="C7A400">
                <a:alpha val="20000"/>
              </a:srgbClr>
            </a:solidFill>
            <a:prstDash val="dashDot"/>
          </a:ln>
        </p:spPr>
        <p:txBody>
          <a:bodyPr/>
          <a:lstStyle/>
          <a:p>
            <a:endParaRPr lang="en-US"/>
          </a:p>
        </p:txBody>
      </p:sp>
      <p:sp>
        <p:nvSpPr>
          <p:cNvPr id="102" name="Shape 100"/>
          <p:cNvSpPr/>
          <p:nvPr/>
        </p:nvSpPr>
        <p:spPr>
          <a:xfrm>
            <a:off x="561544" y="1477211"/>
            <a:ext cx="368379" cy="654451"/>
          </a:xfrm>
          <a:prstGeom prst="line">
            <a:avLst/>
          </a:prstGeom>
          <a:noFill/>
          <a:ln w="19050">
            <a:solidFill>
              <a:srgbClr val="C7A400">
                <a:alpha val="20000"/>
              </a:srgbClr>
            </a:solidFill>
            <a:prstDash val="dashDot"/>
          </a:ln>
        </p:spPr>
        <p:txBody>
          <a:bodyPr/>
          <a:lstStyle/>
          <a:p>
            <a:endParaRPr lang="en-US"/>
          </a:p>
        </p:txBody>
      </p:sp>
      <p:sp>
        <p:nvSpPr>
          <p:cNvPr id="103" name="Shape 101"/>
          <p:cNvSpPr/>
          <p:nvPr/>
        </p:nvSpPr>
        <p:spPr>
          <a:xfrm>
            <a:off x="478115" y="1298442"/>
            <a:ext cx="83429" cy="178769"/>
          </a:xfrm>
          <a:prstGeom prst="line">
            <a:avLst/>
          </a:prstGeom>
          <a:noFill/>
          <a:ln w="19050">
            <a:solidFill>
              <a:srgbClr val="C7A400">
                <a:alpha val="20000"/>
              </a:srgbClr>
            </a:solidFill>
            <a:prstDash val="dashDot"/>
          </a:ln>
        </p:spPr>
        <p:txBody>
          <a:bodyPr/>
          <a:lstStyle/>
          <a:p>
            <a:endParaRPr lang="en-US"/>
          </a:p>
        </p:txBody>
      </p:sp>
      <p:sp>
        <p:nvSpPr>
          <p:cNvPr id="104" name="Shape 102"/>
          <p:cNvSpPr/>
          <p:nvPr/>
        </p:nvSpPr>
        <p:spPr>
          <a:xfrm>
            <a:off x="320040" y="3256882"/>
            <a:ext cx="270413" cy="87421"/>
          </a:xfrm>
          <a:prstGeom prst="line">
            <a:avLst/>
          </a:prstGeom>
          <a:noFill/>
          <a:ln w="19050">
            <a:solidFill>
              <a:srgbClr val="C7A400"/>
            </a:solidFill>
            <a:prstDash val="dashDot"/>
          </a:ln>
        </p:spPr>
        <p:txBody>
          <a:bodyPr/>
          <a:lstStyle/>
          <a:p>
            <a:endParaRPr lang="en-US"/>
          </a:p>
        </p:txBody>
      </p:sp>
      <p:sp>
        <p:nvSpPr>
          <p:cNvPr id="105" name="Shape 103"/>
          <p:cNvSpPr/>
          <p:nvPr/>
        </p:nvSpPr>
        <p:spPr>
          <a:xfrm>
            <a:off x="320040" y="3267801"/>
            <a:ext cx="270413" cy="76501"/>
          </a:xfrm>
          <a:prstGeom prst="line">
            <a:avLst/>
          </a:prstGeom>
          <a:noFill/>
          <a:ln w="19050">
            <a:solidFill>
              <a:srgbClr val="C7A400"/>
            </a:solidFill>
            <a:prstDash val="dashDot"/>
          </a:ln>
        </p:spPr>
        <p:txBody>
          <a:bodyPr/>
          <a:lstStyle/>
          <a:p>
            <a:endParaRPr lang="en-US"/>
          </a:p>
        </p:txBody>
      </p:sp>
      <p:sp>
        <p:nvSpPr>
          <p:cNvPr id="106" name="Shape 104"/>
          <p:cNvSpPr/>
          <p:nvPr/>
        </p:nvSpPr>
        <p:spPr>
          <a:xfrm flipV="1">
            <a:off x="4461748" y="4530444"/>
            <a:ext cx="189108" cy="236285"/>
          </a:xfrm>
          <a:prstGeom prst="line">
            <a:avLst/>
          </a:prstGeom>
          <a:noFill/>
          <a:ln w="28575">
            <a:solidFill>
              <a:srgbClr val="8B0000">
                <a:alpha val="20000"/>
              </a:srgbClr>
            </a:solidFill>
            <a:prstDash val="solid"/>
          </a:ln>
        </p:spPr>
        <p:txBody>
          <a:bodyPr/>
          <a:lstStyle/>
          <a:p>
            <a:endParaRPr lang="en-US"/>
          </a:p>
        </p:txBody>
      </p:sp>
      <p:sp>
        <p:nvSpPr>
          <p:cNvPr id="107" name="Shape 105"/>
          <p:cNvSpPr/>
          <p:nvPr/>
        </p:nvSpPr>
        <p:spPr>
          <a:xfrm flipV="1">
            <a:off x="4273042" y="4766728"/>
            <a:ext cx="188707" cy="236686"/>
          </a:xfrm>
          <a:prstGeom prst="line">
            <a:avLst/>
          </a:prstGeom>
          <a:noFill/>
          <a:ln w="28575">
            <a:solidFill>
              <a:srgbClr val="8B0000">
                <a:alpha val="20000"/>
              </a:srgbClr>
            </a:solidFill>
            <a:prstDash val="solid"/>
          </a:ln>
        </p:spPr>
        <p:txBody>
          <a:bodyPr/>
          <a:lstStyle/>
          <a:p>
            <a:endParaRPr lang="en-US"/>
          </a:p>
        </p:txBody>
      </p:sp>
      <p:sp>
        <p:nvSpPr>
          <p:cNvPr id="108" name="Shape 106"/>
          <p:cNvSpPr/>
          <p:nvPr/>
        </p:nvSpPr>
        <p:spPr>
          <a:xfrm flipV="1">
            <a:off x="4085941" y="5003415"/>
            <a:ext cx="187101" cy="235281"/>
          </a:xfrm>
          <a:prstGeom prst="line">
            <a:avLst/>
          </a:prstGeom>
          <a:noFill/>
          <a:ln w="28575">
            <a:solidFill>
              <a:srgbClr val="8B0000">
                <a:alpha val="20000"/>
              </a:srgbClr>
            </a:solidFill>
            <a:prstDash val="solid"/>
          </a:ln>
        </p:spPr>
        <p:txBody>
          <a:bodyPr/>
          <a:lstStyle/>
          <a:p>
            <a:endParaRPr lang="en-US"/>
          </a:p>
        </p:txBody>
      </p:sp>
      <p:sp>
        <p:nvSpPr>
          <p:cNvPr id="109" name="Shape 107"/>
          <p:cNvSpPr/>
          <p:nvPr/>
        </p:nvSpPr>
        <p:spPr>
          <a:xfrm flipV="1">
            <a:off x="3897134" y="5238696"/>
            <a:ext cx="188807" cy="233374"/>
          </a:xfrm>
          <a:prstGeom prst="line">
            <a:avLst/>
          </a:prstGeom>
          <a:noFill/>
          <a:ln w="28575">
            <a:solidFill>
              <a:srgbClr val="8B0000">
                <a:alpha val="20000"/>
              </a:srgbClr>
            </a:solidFill>
            <a:prstDash val="solid"/>
          </a:ln>
        </p:spPr>
        <p:txBody>
          <a:bodyPr/>
          <a:lstStyle/>
          <a:p>
            <a:endParaRPr lang="en-US"/>
          </a:p>
        </p:txBody>
      </p:sp>
      <p:sp>
        <p:nvSpPr>
          <p:cNvPr id="110" name="Shape 108"/>
          <p:cNvSpPr/>
          <p:nvPr/>
        </p:nvSpPr>
        <p:spPr>
          <a:xfrm flipV="1">
            <a:off x="3707324" y="5472070"/>
            <a:ext cx="189811" cy="234679"/>
          </a:xfrm>
          <a:prstGeom prst="line">
            <a:avLst/>
          </a:prstGeom>
          <a:noFill/>
          <a:ln w="28575">
            <a:solidFill>
              <a:srgbClr val="8B0000">
                <a:alpha val="20000"/>
              </a:srgbClr>
            </a:solidFill>
            <a:prstDash val="solid"/>
          </a:ln>
        </p:spPr>
        <p:txBody>
          <a:bodyPr/>
          <a:lstStyle/>
          <a:p>
            <a:endParaRPr lang="en-US"/>
          </a:p>
        </p:txBody>
      </p:sp>
      <p:sp>
        <p:nvSpPr>
          <p:cNvPr id="111" name="Shape 109"/>
          <p:cNvSpPr/>
          <p:nvPr/>
        </p:nvSpPr>
        <p:spPr>
          <a:xfrm flipV="1">
            <a:off x="3518918" y="5706748"/>
            <a:ext cx="188405" cy="235281"/>
          </a:xfrm>
          <a:prstGeom prst="line">
            <a:avLst/>
          </a:prstGeom>
          <a:noFill/>
          <a:ln w="28575">
            <a:solidFill>
              <a:srgbClr val="8B0000">
                <a:alpha val="20000"/>
              </a:srgbClr>
            </a:solidFill>
            <a:prstDash val="solid"/>
          </a:ln>
        </p:spPr>
        <p:txBody>
          <a:bodyPr/>
          <a:lstStyle/>
          <a:p>
            <a:endParaRPr lang="en-US"/>
          </a:p>
        </p:txBody>
      </p:sp>
      <p:sp>
        <p:nvSpPr>
          <p:cNvPr id="112" name="Shape 110"/>
          <p:cNvSpPr/>
          <p:nvPr/>
        </p:nvSpPr>
        <p:spPr>
          <a:xfrm flipV="1">
            <a:off x="3331316" y="5942029"/>
            <a:ext cx="187602" cy="235080"/>
          </a:xfrm>
          <a:prstGeom prst="line">
            <a:avLst/>
          </a:prstGeom>
          <a:noFill/>
          <a:ln w="28575">
            <a:solidFill>
              <a:srgbClr val="8B0000">
                <a:alpha val="20000"/>
              </a:srgbClr>
            </a:solidFill>
            <a:prstDash val="solid"/>
          </a:ln>
        </p:spPr>
        <p:txBody>
          <a:bodyPr/>
          <a:lstStyle/>
          <a:p>
            <a:endParaRPr lang="en-US"/>
          </a:p>
        </p:txBody>
      </p:sp>
      <p:sp>
        <p:nvSpPr>
          <p:cNvPr id="144" name="Shape 142"/>
          <p:cNvSpPr/>
          <p:nvPr/>
        </p:nvSpPr>
        <p:spPr>
          <a:xfrm>
            <a:off x="5416222" y="3770598"/>
            <a:ext cx="140526" cy="140526"/>
          </a:xfrm>
          <a:prstGeom prst="rect">
            <a:avLst/>
          </a:prstGeom>
          <a:ln w="19050">
            <a:solidFill>
              <a:srgbClr val="BB00BB">
                <a:alpha val="20000"/>
                <a:alpha val="100000"/>
              </a:srgbClr>
            </a:solidFill>
            <a:prstDash val="solid"/>
          </a:ln>
        </p:spPr>
        <p:txBody>
          <a:bodyPr/>
          <a:lstStyle/>
          <a:p>
            <a:endParaRPr lang="en-US"/>
          </a:p>
        </p:txBody>
      </p:sp>
      <p:sp>
        <p:nvSpPr>
          <p:cNvPr id="145" name="Shape 143"/>
          <p:cNvSpPr/>
          <p:nvPr/>
        </p:nvSpPr>
        <p:spPr>
          <a:xfrm>
            <a:off x="7969282" y="5137718"/>
            <a:ext cx="140526" cy="140526"/>
          </a:xfrm>
          <a:prstGeom prst="rect">
            <a:avLst/>
          </a:prstGeom>
          <a:ln w="19050">
            <a:solidFill>
              <a:srgbClr val="BB00BB">
                <a:alpha val="20000"/>
              </a:srgbClr>
            </a:solidFill>
            <a:prstDash val="solid"/>
          </a:ln>
        </p:spPr>
        <p:txBody>
          <a:bodyPr/>
          <a:lstStyle/>
          <a:p>
            <a:endParaRPr lang="en-US"/>
          </a:p>
        </p:txBody>
      </p:sp>
      <p:sp>
        <p:nvSpPr>
          <p:cNvPr id="146" name="Text 144"/>
          <p:cNvSpPr/>
          <p:nvPr/>
        </p:nvSpPr>
        <p:spPr>
          <a:xfrm>
            <a:off x="5576824" y="3660870"/>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P4.037</a:t>
            </a:r>
            <a:endParaRPr lang="en-US" sz="650" dirty="0"/>
          </a:p>
        </p:txBody>
      </p:sp>
      <p:sp>
        <p:nvSpPr>
          <p:cNvPr id="147" name="Text 145"/>
          <p:cNvSpPr/>
          <p:nvPr/>
        </p:nvSpPr>
        <p:spPr>
          <a:xfrm>
            <a:off x="8129884" y="5027990"/>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HH.E.058</a:t>
            </a:r>
            <a:endParaRPr lang="en-US" sz="650" dirty="0"/>
          </a:p>
        </p:txBody>
      </p:sp>
      <p:sp>
        <p:nvSpPr>
          <p:cNvPr id="206" name="Text 204"/>
          <p:cNvSpPr/>
          <p:nvPr/>
        </p:nvSpPr>
        <p:spPr>
          <a:xfrm>
            <a:off x="8193953" y="687684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RRM.283</a:t>
            </a:r>
            <a:endParaRPr lang="en-US" sz="500" dirty="0"/>
          </a:p>
        </p:txBody>
      </p:sp>
      <p:sp>
        <p:nvSpPr>
          <p:cNvPr id="207" name="Text 205"/>
          <p:cNvSpPr/>
          <p:nvPr/>
        </p:nvSpPr>
        <p:spPr>
          <a:xfrm>
            <a:off x="4569381" y="265503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P4.036.399</a:t>
            </a:r>
            <a:endParaRPr lang="en-US" sz="500" dirty="0"/>
          </a:p>
        </p:txBody>
      </p:sp>
      <p:sp>
        <p:nvSpPr>
          <p:cNvPr id="208" name="Text 206"/>
          <p:cNvSpPr/>
          <p:nvPr/>
        </p:nvSpPr>
        <p:spPr>
          <a:xfrm>
            <a:off x="8201180" y="857118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TCCECH.04.005</a:t>
            </a:r>
            <a:endParaRPr lang="en-US" sz="500" dirty="0"/>
          </a:p>
        </p:txBody>
      </p:sp>
      <p:sp>
        <p:nvSpPr>
          <p:cNvPr id="209" name="Text 207"/>
          <p:cNvSpPr/>
          <p:nvPr/>
        </p:nvSpPr>
        <p:spPr>
          <a:xfrm>
            <a:off x="7028489" y="762996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TCCECH.04.004</a:t>
            </a:r>
            <a:endParaRPr lang="en-US" sz="500" dirty="0"/>
          </a:p>
        </p:txBody>
      </p:sp>
      <p:sp>
        <p:nvSpPr>
          <p:cNvPr id="210" name="Text 208"/>
          <p:cNvSpPr/>
          <p:nvPr/>
        </p:nvSpPr>
        <p:spPr>
          <a:xfrm>
            <a:off x="4343736" y="693355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RRM.547</a:t>
            </a:r>
            <a:endParaRPr lang="en-US" sz="500" dirty="0"/>
          </a:p>
        </p:txBody>
      </p:sp>
      <p:sp>
        <p:nvSpPr>
          <p:cNvPr id="211" name="Text 209"/>
          <p:cNvSpPr/>
          <p:nvPr/>
        </p:nvSpPr>
        <p:spPr>
          <a:xfrm>
            <a:off x="2642767" y="575885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RRM.548</a:t>
            </a:r>
            <a:endParaRPr lang="en-US" sz="500" dirty="0"/>
          </a:p>
        </p:txBody>
      </p:sp>
      <p:sp>
        <p:nvSpPr>
          <p:cNvPr id="212" name="Text 210"/>
          <p:cNvSpPr/>
          <p:nvPr/>
        </p:nvSpPr>
        <p:spPr>
          <a:xfrm>
            <a:off x="3339475" y="252283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RRM.558</a:t>
            </a:r>
            <a:endParaRPr lang="en-US" sz="500" dirty="0"/>
          </a:p>
        </p:txBody>
      </p:sp>
      <p:sp>
        <p:nvSpPr>
          <p:cNvPr id="213" name="Text 211"/>
          <p:cNvSpPr/>
          <p:nvPr/>
        </p:nvSpPr>
        <p:spPr>
          <a:xfrm>
            <a:off x="2391827" y="136098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RRM.559</a:t>
            </a:r>
            <a:endParaRPr lang="en-US" sz="500" dirty="0"/>
          </a:p>
        </p:txBody>
      </p:sp>
      <p:sp>
        <p:nvSpPr>
          <p:cNvPr id="214" name="Text 212"/>
          <p:cNvSpPr/>
          <p:nvPr/>
        </p:nvSpPr>
        <p:spPr>
          <a:xfrm>
            <a:off x="1341394" y="503594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RRM.655</a:t>
            </a:r>
            <a:endParaRPr lang="en-US" sz="500" dirty="0"/>
          </a:p>
        </p:txBody>
      </p:sp>
      <p:sp>
        <p:nvSpPr>
          <p:cNvPr id="215" name="Text 213"/>
          <p:cNvSpPr/>
          <p:nvPr/>
        </p:nvSpPr>
        <p:spPr>
          <a:xfrm>
            <a:off x="4421326" y="357568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RRM.669</a:t>
            </a:r>
            <a:endParaRPr lang="en-US" sz="500" dirty="0"/>
          </a:p>
        </p:txBody>
      </p:sp>
      <p:sp>
        <p:nvSpPr>
          <p:cNvPr id="216" name="Text 214"/>
          <p:cNvSpPr/>
          <p:nvPr/>
        </p:nvSpPr>
        <p:spPr>
          <a:xfrm>
            <a:off x="2822941" y="773073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HH.E.144</a:t>
            </a:r>
            <a:endParaRPr lang="en-US" sz="500" dirty="0"/>
          </a:p>
        </p:txBody>
      </p:sp>
      <p:sp>
        <p:nvSpPr>
          <p:cNvPr id="217" name="Text 215"/>
          <p:cNvSpPr/>
          <p:nvPr/>
        </p:nvSpPr>
        <p:spPr>
          <a:xfrm>
            <a:off x="9375878" y="951482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TCCECH.03.006</a:t>
            </a:r>
            <a:endParaRPr lang="en-US" sz="500" dirty="0"/>
          </a:p>
        </p:txBody>
      </p:sp>
      <p:sp>
        <p:nvSpPr>
          <p:cNvPr id="218" name="Text 216"/>
          <p:cNvSpPr/>
          <p:nvPr/>
        </p:nvSpPr>
        <p:spPr>
          <a:xfrm>
            <a:off x="6440487" y="71575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TCCECH.03.004</a:t>
            </a:r>
            <a:endParaRPr lang="en-US" sz="500" dirty="0"/>
          </a:p>
        </p:txBody>
      </p:sp>
      <p:sp>
        <p:nvSpPr>
          <p:cNvPr id="219" name="Text 217"/>
          <p:cNvSpPr/>
          <p:nvPr/>
        </p:nvSpPr>
        <p:spPr>
          <a:xfrm>
            <a:off x="5850980" y="668783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TCCECH.04.003</a:t>
            </a:r>
            <a:endParaRPr lang="en-US" sz="500" dirty="0"/>
          </a:p>
        </p:txBody>
      </p:sp>
      <p:sp>
        <p:nvSpPr>
          <p:cNvPr id="220" name="Text 218"/>
          <p:cNvSpPr/>
          <p:nvPr/>
        </p:nvSpPr>
        <p:spPr>
          <a:xfrm>
            <a:off x="5266391" y="621536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TCCECH.03.003</a:t>
            </a:r>
            <a:endParaRPr lang="en-US" sz="500" dirty="0"/>
          </a:p>
        </p:txBody>
      </p:sp>
      <p:sp>
        <p:nvSpPr>
          <p:cNvPr id="221" name="Text 219"/>
          <p:cNvSpPr/>
          <p:nvPr/>
        </p:nvSpPr>
        <p:spPr>
          <a:xfrm>
            <a:off x="4677987" y="57414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TCCECH.04.002</a:t>
            </a:r>
            <a:endParaRPr lang="en-US" sz="500" dirty="0"/>
          </a:p>
        </p:txBody>
      </p:sp>
      <p:sp>
        <p:nvSpPr>
          <p:cNvPr id="222" name="Text 220"/>
          <p:cNvSpPr/>
          <p:nvPr/>
        </p:nvSpPr>
        <p:spPr>
          <a:xfrm>
            <a:off x="7615386" y="809942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TCCECH.03.005</a:t>
            </a:r>
            <a:endParaRPr lang="en-US" sz="500" dirty="0"/>
          </a:p>
        </p:txBody>
      </p:sp>
      <p:sp>
        <p:nvSpPr>
          <p:cNvPr id="223" name="Text 221"/>
          <p:cNvSpPr/>
          <p:nvPr/>
        </p:nvSpPr>
        <p:spPr>
          <a:xfrm>
            <a:off x="653016" y="32318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TCCECH.05.034</a:t>
            </a:r>
            <a:endParaRPr lang="en-US" sz="500" dirty="0"/>
          </a:p>
        </p:txBody>
      </p:sp>
      <p:sp>
        <p:nvSpPr>
          <p:cNvPr id="224" name="Text 222"/>
          <p:cNvSpPr/>
          <p:nvPr/>
        </p:nvSpPr>
        <p:spPr>
          <a:xfrm>
            <a:off x="2027061" y="384147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TCCECH.05.033</a:t>
            </a:r>
            <a:endParaRPr lang="en-US" sz="500" dirty="0"/>
          </a:p>
        </p:txBody>
      </p:sp>
      <p:sp>
        <p:nvSpPr>
          <p:cNvPr id="225" name="Text 223"/>
          <p:cNvSpPr/>
          <p:nvPr/>
        </p:nvSpPr>
        <p:spPr>
          <a:xfrm>
            <a:off x="2678500" y="422170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TCCECH.06.035</a:t>
            </a:r>
            <a:endParaRPr lang="en-US" sz="500" dirty="0"/>
          </a:p>
        </p:txBody>
      </p:sp>
      <p:sp>
        <p:nvSpPr>
          <p:cNvPr id="226" name="Text 224"/>
          <p:cNvSpPr/>
          <p:nvPr/>
        </p:nvSpPr>
        <p:spPr>
          <a:xfrm>
            <a:off x="1351632" y="351123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TCCECH.06.036</a:t>
            </a:r>
            <a:endParaRPr lang="en-US" sz="500" dirty="0"/>
          </a:p>
        </p:txBody>
      </p:sp>
      <p:sp>
        <p:nvSpPr>
          <p:cNvPr id="227" name="Text 225"/>
          <p:cNvSpPr/>
          <p:nvPr/>
        </p:nvSpPr>
        <p:spPr>
          <a:xfrm>
            <a:off x="914997" y="317116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EL.EBASE.13328</a:t>
            </a:r>
            <a:endParaRPr lang="en-US" sz="500" dirty="0"/>
          </a:p>
        </p:txBody>
      </p:sp>
      <p:sp>
        <p:nvSpPr>
          <p:cNvPr id="228" name="Text 226"/>
          <p:cNvSpPr/>
          <p:nvPr/>
        </p:nvSpPr>
        <p:spPr>
          <a:xfrm>
            <a:off x="1591932" y="348303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EL.EBASE.13329</a:t>
            </a:r>
            <a:endParaRPr lang="en-US" sz="500" dirty="0"/>
          </a:p>
        </p:txBody>
      </p:sp>
      <p:sp>
        <p:nvSpPr>
          <p:cNvPr id="229" name="Text 227"/>
          <p:cNvSpPr/>
          <p:nvPr/>
        </p:nvSpPr>
        <p:spPr>
          <a:xfrm>
            <a:off x="2257926" y="38391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EL.EBASE.13330</a:t>
            </a:r>
            <a:endParaRPr lang="en-US" sz="500" dirty="0"/>
          </a:p>
        </p:txBody>
      </p:sp>
      <p:sp>
        <p:nvSpPr>
          <p:cNvPr id="230" name="Text 228"/>
          <p:cNvSpPr/>
          <p:nvPr/>
        </p:nvSpPr>
        <p:spPr>
          <a:xfrm>
            <a:off x="2892702" y="423926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EL.EBASE.13331</a:t>
            </a:r>
            <a:endParaRPr lang="en-US" sz="500" dirty="0"/>
          </a:p>
        </p:txBody>
      </p:sp>
      <p:sp>
        <p:nvSpPr>
          <p:cNvPr id="231" name="Text 229"/>
          <p:cNvSpPr/>
          <p:nvPr/>
        </p:nvSpPr>
        <p:spPr>
          <a:xfrm>
            <a:off x="4090387" y="527273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TCCECH.03.002</a:t>
            </a:r>
            <a:endParaRPr lang="en-US" sz="500" dirty="0"/>
          </a:p>
        </p:txBody>
      </p:sp>
      <p:sp>
        <p:nvSpPr>
          <p:cNvPr id="232" name="Text 230"/>
          <p:cNvSpPr/>
          <p:nvPr/>
        </p:nvSpPr>
        <p:spPr>
          <a:xfrm>
            <a:off x="3959698" y="535966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SBC102.01.040</a:t>
            </a:r>
            <a:endParaRPr lang="en-US" sz="500" dirty="0"/>
          </a:p>
        </p:txBody>
      </p:sp>
      <p:sp>
        <p:nvSpPr>
          <p:cNvPr id="233" name="Text 231"/>
          <p:cNvSpPr/>
          <p:nvPr/>
        </p:nvSpPr>
        <p:spPr>
          <a:xfrm>
            <a:off x="3769887" y="559434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SBC102.02.037</a:t>
            </a:r>
            <a:endParaRPr lang="en-US" sz="500" dirty="0"/>
          </a:p>
        </p:txBody>
      </p:sp>
      <p:sp>
        <p:nvSpPr>
          <p:cNvPr id="234" name="Text 232"/>
          <p:cNvSpPr/>
          <p:nvPr/>
        </p:nvSpPr>
        <p:spPr>
          <a:xfrm>
            <a:off x="3581482" y="582962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SBC102.01.041</a:t>
            </a:r>
            <a:endParaRPr lang="en-US" sz="500" dirty="0"/>
          </a:p>
        </p:txBody>
      </p:sp>
      <p:sp>
        <p:nvSpPr>
          <p:cNvPr id="235" name="Text 233"/>
          <p:cNvSpPr/>
          <p:nvPr/>
        </p:nvSpPr>
        <p:spPr>
          <a:xfrm>
            <a:off x="3393879" y="606470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SBC102.02.038</a:t>
            </a:r>
            <a:endParaRPr lang="en-US" sz="500" dirty="0"/>
          </a:p>
        </p:txBody>
      </p:sp>
      <p:sp>
        <p:nvSpPr>
          <p:cNvPr id="236" name="Text 234"/>
          <p:cNvSpPr/>
          <p:nvPr/>
        </p:nvSpPr>
        <p:spPr>
          <a:xfrm>
            <a:off x="1153390" y="291601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TCC102.01.052</a:t>
            </a:r>
            <a:endParaRPr lang="en-US" sz="500" dirty="0"/>
          </a:p>
        </p:txBody>
      </p:sp>
      <p:sp>
        <p:nvSpPr>
          <p:cNvPr id="237" name="Text 235"/>
          <p:cNvSpPr/>
          <p:nvPr/>
        </p:nvSpPr>
        <p:spPr>
          <a:xfrm>
            <a:off x="2330096" y="386345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TCC102.02.050</a:t>
            </a:r>
            <a:endParaRPr lang="en-US" sz="500" dirty="0"/>
          </a:p>
        </p:txBody>
      </p:sp>
      <p:sp>
        <p:nvSpPr>
          <p:cNvPr id="238" name="Text 236"/>
          <p:cNvSpPr/>
          <p:nvPr/>
        </p:nvSpPr>
        <p:spPr>
          <a:xfrm>
            <a:off x="3302738" y="464177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TCCECH.03.001</a:t>
            </a:r>
            <a:endParaRPr lang="en-US" sz="500" dirty="0"/>
          </a:p>
        </p:txBody>
      </p:sp>
      <p:sp>
        <p:nvSpPr>
          <p:cNvPr id="239" name="Text 237"/>
          <p:cNvSpPr/>
          <p:nvPr/>
        </p:nvSpPr>
        <p:spPr>
          <a:xfrm>
            <a:off x="624108" y="136480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TCCECH.05.016</a:t>
            </a:r>
            <a:endParaRPr lang="en-US" sz="500" dirty="0"/>
          </a:p>
        </p:txBody>
      </p:sp>
      <p:sp>
        <p:nvSpPr>
          <p:cNvPr id="240" name="Text 238"/>
          <p:cNvSpPr/>
          <p:nvPr/>
        </p:nvSpPr>
        <p:spPr>
          <a:xfrm>
            <a:off x="1409950" y="264690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TCCECH.05.017</a:t>
            </a:r>
            <a:endParaRPr lang="en-US" sz="500" dirty="0"/>
          </a:p>
        </p:txBody>
      </p:sp>
      <p:sp>
        <p:nvSpPr>
          <p:cNvPr id="241" name="Text 239"/>
          <p:cNvSpPr/>
          <p:nvPr/>
        </p:nvSpPr>
        <p:spPr>
          <a:xfrm>
            <a:off x="2918098" y="433171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TCCECH.06.019</a:t>
            </a:r>
            <a:endParaRPr lang="en-US" sz="500" dirty="0"/>
          </a:p>
        </p:txBody>
      </p:sp>
      <p:sp>
        <p:nvSpPr>
          <p:cNvPr id="242" name="Text 240"/>
          <p:cNvSpPr/>
          <p:nvPr/>
        </p:nvSpPr>
        <p:spPr>
          <a:xfrm>
            <a:off x="992487" y="20192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TCCECH.06.017</a:t>
            </a:r>
            <a:endParaRPr lang="en-US" sz="500" dirty="0"/>
          </a:p>
        </p:txBody>
      </p:sp>
      <p:sp>
        <p:nvSpPr>
          <p:cNvPr id="243" name="Text 241"/>
          <p:cNvSpPr/>
          <p:nvPr/>
        </p:nvSpPr>
        <p:spPr>
          <a:xfrm>
            <a:off x="1870977" y="324142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TCCECH.06.018</a:t>
            </a:r>
            <a:endParaRPr lang="en-US" sz="500" dirty="0"/>
          </a:p>
        </p:txBody>
      </p:sp>
      <p:sp>
        <p:nvSpPr>
          <p:cNvPr id="244" name="Text 242"/>
          <p:cNvSpPr/>
          <p:nvPr/>
        </p:nvSpPr>
        <p:spPr>
          <a:xfrm>
            <a:off x="3506902" y="480458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TCCECH.04.001</a:t>
            </a:r>
            <a:endParaRPr lang="en-US" sz="500" dirty="0"/>
          </a:p>
        </p:txBody>
      </p:sp>
      <p:sp>
        <p:nvSpPr>
          <p:cNvPr id="245" name="Text 243"/>
          <p:cNvSpPr/>
          <p:nvPr/>
        </p:nvSpPr>
        <p:spPr>
          <a:xfrm>
            <a:off x="2375968" y="379911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TCCECH.05.018</a:t>
            </a:r>
            <a:endParaRPr lang="en-US" sz="500" dirty="0"/>
          </a:p>
        </p:txBody>
      </p:sp>
      <p:sp>
        <p:nvSpPr>
          <p:cNvPr id="246" name="Text 244"/>
          <p:cNvSpPr/>
          <p:nvPr/>
        </p:nvSpPr>
        <p:spPr>
          <a:xfrm>
            <a:off x="5549049" y="37284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P4.037</a:t>
            </a:r>
            <a:endParaRPr lang="en-US" sz="500" dirty="0"/>
          </a:p>
        </p:txBody>
      </p:sp>
      <p:sp>
        <p:nvSpPr>
          <p:cNvPr id="247" name="Text 245"/>
          <p:cNvSpPr/>
          <p:nvPr/>
        </p:nvSpPr>
        <p:spPr>
          <a:xfrm>
            <a:off x="8781754" y="644191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P4.039</a:t>
            </a:r>
            <a:endParaRPr lang="en-US" sz="500" dirty="0"/>
          </a:p>
        </p:txBody>
      </p:sp>
      <p:sp>
        <p:nvSpPr>
          <p:cNvPr id="248" name="Text 246"/>
          <p:cNvSpPr/>
          <p:nvPr/>
        </p:nvSpPr>
        <p:spPr>
          <a:xfrm>
            <a:off x="9207347" y="597084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HH.E.057</a:t>
            </a:r>
            <a:endParaRPr lang="en-US" sz="500" dirty="0"/>
          </a:p>
        </p:txBody>
      </p:sp>
      <p:sp>
        <p:nvSpPr>
          <p:cNvPr id="249" name="Text 247"/>
          <p:cNvSpPr/>
          <p:nvPr/>
        </p:nvSpPr>
        <p:spPr>
          <a:xfrm>
            <a:off x="5834919" y="308815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HH.E.061</a:t>
            </a:r>
            <a:endParaRPr lang="en-US" sz="500" dirty="0"/>
          </a:p>
        </p:txBody>
      </p:sp>
      <p:sp>
        <p:nvSpPr>
          <p:cNvPr id="250" name="Text 248"/>
          <p:cNvSpPr/>
          <p:nvPr/>
        </p:nvSpPr>
        <p:spPr>
          <a:xfrm>
            <a:off x="6045809" y="32585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HH.E.060</a:t>
            </a:r>
            <a:endParaRPr lang="en-US" sz="500" dirty="0"/>
          </a:p>
        </p:txBody>
      </p:sp>
      <p:sp>
        <p:nvSpPr>
          <p:cNvPr id="251" name="Text 249"/>
          <p:cNvSpPr/>
          <p:nvPr/>
        </p:nvSpPr>
        <p:spPr>
          <a:xfrm>
            <a:off x="4372443" y="166171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HH.E4.010</a:t>
            </a:r>
            <a:endParaRPr lang="en-US" sz="500" dirty="0"/>
          </a:p>
        </p:txBody>
      </p:sp>
      <p:sp>
        <p:nvSpPr>
          <p:cNvPr id="252" name="Text 250"/>
          <p:cNvSpPr/>
          <p:nvPr/>
        </p:nvSpPr>
        <p:spPr>
          <a:xfrm>
            <a:off x="8102109" y="509557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HH.E.058</a:t>
            </a:r>
            <a:endParaRPr lang="en-US" sz="500" dirty="0"/>
          </a:p>
        </p:txBody>
      </p:sp>
      <p:sp>
        <p:nvSpPr>
          <p:cNvPr id="253" name="Text 251"/>
          <p:cNvSpPr/>
          <p:nvPr/>
        </p:nvSpPr>
        <p:spPr>
          <a:xfrm>
            <a:off x="7141211" y="411148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HH.E.059</a:t>
            </a:r>
            <a:endParaRPr lang="en-US" sz="500" dirty="0"/>
          </a:p>
        </p:txBody>
      </p:sp>
      <p:sp>
        <p:nvSpPr>
          <p:cNvPr id="254" name="Text 252"/>
          <p:cNvSpPr/>
          <p:nvPr/>
        </p:nvSpPr>
        <p:spPr>
          <a:xfrm>
            <a:off x="1739284" y="618846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P4.041</a:t>
            </a:r>
            <a:endParaRPr lang="en-US" sz="500" dirty="0"/>
          </a:p>
        </p:txBody>
      </p:sp>
      <p:sp>
        <p:nvSpPr>
          <p:cNvPr id="255" name="Text 253"/>
          <p:cNvSpPr/>
          <p:nvPr/>
        </p:nvSpPr>
        <p:spPr>
          <a:xfrm>
            <a:off x="4723859" y="195691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MH.E.015</a:t>
            </a:r>
            <a:endParaRPr lang="en-US" sz="500" dirty="0"/>
          </a:p>
        </p:txBody>
      </p:sp>
      <p:sp>
        <p:nvSpPr>
          <p:cNvPr id="256" name="Text 254"/>
          <p:cNvSpPr/>
          <p:nvPr/>
        </p:nvSpPr>
        <p:spPr>
          <a:xfrm>
            <a:off x="1082123" y="651087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MH.E.023</a:t>
            </a:r>
            <a:endParaRPr lang="en-US" sz="500" dirty="0"/>
          </a:p>
        </p:txBody>
      </p:sp>
      <p:sp>
        <p:nvSpPr>
          <p:cNvPr id="257" name="Text 255"/>
          <p:cNvSpPr/>
          <p:nvPr/>
        </p:nvSpPr>
        <p:spPr>
          <a:xfrm>
            <a:off x="1730149" y="826383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SGC102.02.015</a:t>
            </a:r>
            <a:endParaRPr lang="en-US" sz="500" dirty="0"/>
          </a:p>
        </p:txBody>
      </p:sp>
      <p:sp>
        <p:nvSpPr>
          <p:cNvPr id="258" name="Text 256"/>
          <p:cNvSpPr/>
          <p:nvPr/>
        </p:nvSpPr>
        <p:spPr>
          <a:xfrm>
            <a:off x="5847466" y="22595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SGC102.02.014</a:t>
            </a:r>
            <a:endParaRPr lang="en-US" sz="500" dirty="0"/>
          </a:p>
        </p:txBody>
      </p:sp>
      <p:sp>
        <p:nvSpPr>
          <p:cNvPr id="261" name="Text 259"/>
          <p:cNvSpPr/>
          <p:nvPr/>
        </p:nvSpPr>
        <p:spPr>
          <a:xfrm>
            <a:off x="4769729" y="4310988"/>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SBC102-01/038</a:t>
            </a:r>
            <a:endParaRPr lang="en-US" sz="650" dirty="0"/>
          </a:p>
        </p:txBody>
      </p:sp>
      <p:sp>
        <p:nvSpPr>
          <p:cNvPr id="263" name="Shape 261"/>
          <p:cNvSpPr/>
          <p:nvPr/>
        </p:nvSpPr>
        <p:spPr>
          <a:xfrm>
            <a:off x="4218178" y="4948551"/>
            <a:ext cx="109728" cy="109728"/>
          </a:xfrm>
          <a:prstGeom prst="ellipse">
            <a:avLst/>
          </a:prstGeom>
          <a:solidFill>
            <a:srgbClr val="5B9BD5">
              <a:lumMod val="50000"/>
              <a:alpha val="20000"/>
              <a:alpha val="100000"/>
            </a:srgbClr>
          </a:solidFill>
          <a:ln w="6350">
            <a:solidFill>
              <a:srgbClr val="9AA0A6">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64" name="Text 262"/>
          <p:cNvSpPr/>
          <p:nvPr/>
        </p:nvSpPr>
        <p:spPr>
          <a:xfrm>
            <a:off x="4391914" y="478395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SBC102-01/039</a:t>
            </a:r>
            <a:endParaRPr lang="en-US" sz="650" dirty="0"/>
          </a:p>
        </p:txBody>
      </p:sp>
      <p:sp>
        <p:nvSpPr>
          <p:cNvPr id="266" name="Shape 264"/>
          <p:cNvSpPr/>
          <p:nvPr/>
        </p:nvSpPr>
        <p:spPr>
          <a:xfrm>
            <a:off x="4406884" y="4711864"/>
            <a:ext cx="109728" cy="109728"/>
          </a:xfrm>
          <a:prstGeom prst="ellipse">
            <a:avLst/>
          </a:prstGeom>
          <a:solidFill>
            <a:srgbClr val="5B9BD5">
              <a:lumMod val="50000"/>
              <a:alpha val="20000"/>
              <a:alpha val="100000"/>
            </a:srgbClr>
          </a:solidFill>
          <a:ln w="6350">
            <a:solidFill>
              <a:srgbClr val="9AA0A6">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67" name="Text 265"/>
          <p:cNvSpPr/>
          <p:nvPr/>
        </p:nvSpPr>
        <p:spPr>
          <a:xfrm>
            <a:off x="4580620" y="454727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SBC102-02/035</a:t>
            </a:r>
            <a:endParaRPr lang="en-US" sz="650" dirty="0"/>
          </a:p>
        </p:txBody>
      </p:sp>
      <p:sp>
        <p:nvSpPr>
          <p:cNvPr id="269" name="Shape 267"/>
          <p:cNvSpPr/>
          <p:nvPr/>
        </p:nvSpPr>
        <p:spPr>
          <a:xfrm>
            <a:off x="4031077" y="5183832"/>
            <a:ext cx="109728" cy="109728"/>
          </a:xfrm>
          <a:prstGeom prst="ellipse">
            <a:avLst/>
          </a:prstGeom>
          <a:solidFill>
            <a:srgbClr val="5B9BD5">
              <a:lumMod val="50000"/>
              <a:alpha val="20000"/>
              <a:alpha val="100000"/>
              <a:alpha val="100000"/>
            </a:srgbClr>
          </a:solidFill>
          <a:ln w="6350">
            <a:solidFill>
              <a:srgbClr val="9AA0A6">
                <a:alpha val="20000"/>
                <a:alpha val="10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70" name="Text 268"/>
          <p:cNvSpPr/>
          <p:nvPr/>
        </p:nvSpPr>
        <p:spPr>
          <a:xfrm>
            <a:off x="4204813" y="501924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SBC102-02/036</a:t>
            </a:r>
            <a:endParaRPr lang="en-US" sz="650" dirty="0"/>
          </a:p>
        </p:txBody>
      </p:sp>
      <p:sp>
        <p:nvSpPr>
          <p:cNvPr id="272" name="Shape 270"/>
          <p:cNvSpPr/>
          <p:nvPr/>
        </p:nvSpPr>
        <p:spPr>
          <a:xfrm>
            <a:off x="3842270" y="5417206"/>
            <a:ext cx="109728" cy="109728"/>
          </a:xfrm>
          <a:prstGeom prst="ellipse">
            <a:avLst/>
          </a:prstGeom>
          <a:solidFill>
            <a:srgbClr val="5B9BD5">
              <a:lumMod val="50000"/>
              <a:alpha val="20000"/>
              <a:alpha val="100000"/>
              <a:alpha val="100000"/>
            </a:srgbClr>
          </a:solidFill>
          <a:ln w="6350">
            <a:solidFill>
              <a:srgbClr val="9AA0A6">
                <a:alpha val="20000"/>
                <a:alpha val="10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73" name="Text 271"/>
          <p:cNvSpPr/>
          <p:nvPr/>
        </p:nvSpPr>
        <p:spPr>
          <a:xfrm>
            <a:off x="4016006" y="5252614"/>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SBC102-01/040</a:t>
            </a:r>
            <a:endParaRPr lang="en-US" sz="650" dirty="0"/>
          </a:p>
        </p:txBody>
      </p:sp>
      <p:sp>
        <p:nvSpPr>
          <p:cNvPr id="275" name="Shape 273"/>
          <p:cNvSpPr/>
          <p:nvPr/>
        </p:nvSpPr>
        <p:spPr>
          <a:xfrm>
            <a:off x="3464054" y="5887165"/>
            <a:ext cx="109728" cy="109728"/>
          </a:xfrm>
          <a:prstGeom prst="ellipse">
            <a:avLst/>
          </a:prstGeom>
          <a:solidFill>
            <a:srgbClr val="5B9BD5">
              <a:lumMod val="50000"/>
              <a:alpha val="20000"/>
              <a:alpha val="100000"/>
            </a:srgbClr>
          </a:solidFill>
          <a:ln w="6350">
            <a:solidFill>
              <a:srgbClr val="9AA0A6">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76" name="Text 274"/>
          <p:cNvSpPr/>
          <p:nvPr/>
        </p:nvSpPr>
        <p:spPr>
          <a:xfrm>
            <a:off x="3637790" y="5722573"/>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SBC102-01/041</a:t>
            </a:r>
            <a:endParaRPr lang="en-US" sz="650" dirty="0"/>
          </a:p>
        </p:txBody>
      </p:sp>
      <p:sp>
        <p:nvSpPr>
          <p:cNvPr id="278" name="Shape 276"/>
          <p:cNvSpPr/>
          <p:nvPr/>
        </p:nvSpPr>
        <p:spPr>
          <a:xfrm>
            <a:off x="3652460" y="5651884"/>
            <a:ext cx="109728" cy="109728"/>
          </a:xfrm>
          <a:prstGeom prst="ellipse">
            <a:avLst/>
          </a:prstGeom>
          <a:solidFill>
            <a:srgbClr val="5B9BD5">
              <a:lumMod val="50000"/>
              <a:alpha val="20000"/>
              <a:alpha val="100000"/>
            </a:srgbClr>
          </a:solidFill>
          <a:ln w="6350">
            <a:solidFill>
              <a:srgbClr val="9AA0A6">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79" name="Text 277"/>
          <p:cNvSpPr/>
          <p:nvPr/>
        </p:nvSpPr>
        <p:spPr>
          <a:xfrm>
            <a:off x="3826196" y="548729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SBC102-02/037</a:t>
            </a:r>
            <a:endParaRPr lang="en-US" sz="650" dirty="0"/>
          </a:p>
        </p:txBody>
      </p:sp>
      <p:sp>
        <p:nvSpPr>
          <p:cNvPr id="281" name="Shape 279"/>
          <p:cNvSpPr/>
          <p:nvPr/>
        </p:nvSpPr>
        <p:spPr>
          <a:xfrm>
            <a:off x="3276452" y="6122246"/>
            <a:ext cx="109728" cy="109728"/>
          </a:xfrm>
          <a:prstGeom prst="ellipse">
            <a:avLst/>
          </a:prstGeom>
          <a:solidFill>
            <a:srgbClr val="5B9BD5">
              <a:lumMod val="50000"/>
              <a:alpha val="20000"/>
              <a:alpha val="100000"/>
            </a:srgbClr>
          </a:solidFill>
          <a:ln w="6350">
            <a:solidFill>
              <a:srgbClr val="9AA0A6">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82" name="Text 280"/>
          <p:cNvSpPr/>
          <p:nvPr/>
        </p:nvSpPr>
        <p:spPr>
          <a:xfrm>
            <a:off x="3450188" y="5957654"/>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SBC102-02/038</a:t>
            </a:r>
            <a:endParaRPr lang="en-US" sz="650" dirty="0"/>
          </a:p>
        </p:txBody>
      </p:sp>
      <p:sp>
        <p:nvSpPr>
          <p:cNvPr id="284" name="Shape 282"/>
          <p:cNvSpPr/>
          <p:nvPr/>
        </p:nvSpPr>
        <p:spPr>
          <a:xfrm>
            <a:off x="3972960" y="5330280"/>
            <a:ext cx="109728" cy="109728"/>
          </a:xfrm>
          <a:prstGeom prst="ellipse">
            <a:avLst/>
          </a:prstGeom>
          <a:solidFill>
            <a:srgbClr val="70AD47">
              <a:alpha val="100000"/>
            </a:srgbClr>
          </a:solidFill>
          <a:ln w="6350">
            <a:solidFill>
              <a:srgbClr val="9AA0A6">
                <a:alpha val="100000"/>
              </a:srgbClr>
            </a:solidFill>
            <a:prstDash val="solid"/>
          </a:ln>
        </p:spPr>
        <p:txBody>
          <a:bodyPr/>
          <a:lstStyle/>
          <a:p>
            <a:endParaRPr lang="en-US"/>
          </a:p>
        </p:txBody>
      </p:sp>
      <p:sp>
        <p:nvSpPr>
          <p:cNvPr id="285" name="Text 283"/>
          <p:cNvSpPr/>
          <p:nvPr/>
        </p:nvSpPr>
        <p:spPr>
          <a:xfrm>
            <a:off x="4146696" y="5165688"/>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TCCECH-03/002</a:t>
            </a:r>
            <a:endParaRPr lang="en-US" sz="650" dirty="0"/>
          </a:p>
        </p:txBody>
      </p:sp>
      <p:sp>
        <p:nvSpPr>
          <p:cNvPr id="287" name="Shape 285"/>
          <p:cNvSpPr/>
          <p:nvPr/>
        </p:nvSpPr>
        <p:spPr>
          <a:xfrm>
            <a:off x="4560560" y="5799035"/>
            <a:ext cx="109728" cy="109728"/>
          </a:xfrm>
          <a:prstGeom prst="ellipse">
            <a:avLst/>
          </a:prstGeom>
          <a:solidFill>
            <a:srgbClr val="70AD47">
              <a:alpha val="100000"/>
            </a:srgbClr>
          </a:solidFill>
          <a:ln w="6350">
            <a:solidFill>
              <a:srgbClr val="9AA0A6">
                <a:alpha val="100000"/>
              </a:srgbClr>
            </a:solidFill>
            <a:prstDash val="solid"/>
          </a:ln>
        </p:spPr>
        <p:txBody>
          <a:bodyPr/>
          <a:lstStyle/>
          <a:p>
            <a:endParaRPr lang="en-US"/>
          </a:p>
        </p:txBody>
      </p:sp>
      <p:sp>
        <p:nvSpPr>
          <p:cNvPr id="288" name="Text 286"/>
          <p:cNvSpPr/>
          <p:nvPr/>
        </p:nvSpPr>
        <p:spPr>
          <a:xfrm>
            <a:off x="4734296" y="5634443"/>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TCCECH-04/002</a:t>
            </a:r>
            <a:endParaRPr lang="en-US" sz="650" dirty="0"/>
          </a:p>
        </p:txBody>
      </p:sp>
      <p:sp>
        <p:nvSpPr>
          <p:cNvPr id="289" name="Shape 287"/>
          <p:cNvSpPr/>
          <p:nvPr/>
        </p:nvSpPr>
        <p:spPr>
          <a:xfrm>
            <a:off x="5098671" y="6222618"/>
            <a:ext cx="210312" cy="210312"/>
          </a:xfrm>
          <a:prstGeom prst="ellipse">
            <a:avLst/>
          </a:prstGeom>
          <a:noFill/>
          <a:ln w="28575">
            <a:solidFill>
              <a:srgbClr val="CC0000">
                <a:alpha val="100000"/>
              </a:srgbClr>
            </a:solidFill>
            <a:prstDash val="solid"/>
          </a:ln>
        </p:spPr>
        <p:txBody>
          <a:bodyPr/>
          <a:lstStyle/>
          <a:p>
            <a:endParaRPr lang="en-US"/>
          </a:p>
        </p:txBody>
      </p:sp>
      <p:sp>
        <p:nvSpPr>
          <p:cNvPr id="290" name="Shape 288"/>
          <p:cNvSpPr/>
          <p:nvPr/>
        </p:nvSpPr>
        <p:spPr>
          <a:xfrm>
            <a:off x="5148963" y="6294642"/>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91" name="Text 289"/>
          <p:cNvSpPr/>
          <p:nvPr/>
        </p:nvSpPr>
        <p:spPr>
          <a:xfrm>
            <a:off x="5322699" y="6108318"/>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TCCECH-03/003</a:t>
            </a:r>
            <a:endParaRPr lang="en-US" sz="650" dirty="0"/>
          </a:p>
        </p:txBody>
      </p:sp>
      <p:sp>
        <p:nvSpPr>
          <p:cNvPr id="293" name="Shape 291"/>
          <p:cNvSpPr/>
          <p:nvPr/>
        </p:nvSpPr>
        <p:spPr>
          <a:xfrm>
            <a:off x="5733552" y="6745379"/>
            <a:ext cx="109728" cy="109728"/>
          </a:xfrm>
          <a:prstGeom prst="ellipse">
            <a:avLst/>
          </a:prstGeom>
          <a:solidFill>
            <a:srgbClr val="70AD47">
              <a:alpha val="100000"/>
            </a:srgbClr>
          </a:solidFill>
          <a:ln w="6350">
            <a:solidFill>
              <a:srgbClr val="9AA0A6">
                <a:alpha val="100000"/>
              </a:srgbClr>
            </a:solidFill>
            <a:prstDash val="solid"/>
          </a:ln>
        </p:spPr>
        <p:txBody>
          <a:bodyPr/>
          <a:lstStyle/>
          <a:p>
            <a:endParaRPr lang="en-US"/>
          </a:p>
        </p:txBody>
      </p:sp>
      <p:sp>
        <p:nvSpPr>
          <p:cNvPr id="294" name="Text 292"/>
          <p:cNvSpPr/>
          <p:nvPr/>
        </p:nvSpPr>
        <p:spPr>
          <a:xfrm>
            <a:off x="5907288" y="6580787"/>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TCCECH-04/003</a:t>
            </a:r>
            <a:endParaRPr lang="en-US" sz="650" dirty="0"/>
          </a:p>
        </p:txBody>
      </p:sp>
      <p:sp>
        <p:nvSpPr>
          <p:cNvPr id="296" name="Shape 294"/>
          <p:cNvSpPr/>
          <p:nvPr/>
        </p:nvSpPr>
        <p:spPr>
          <a:xfrm>
            <a:off x="6561251" y="5618258"/>
            <a:ext cx="109728" cy="109728"/>
          </a:xfrm>
          <a:prstGeom prst="ellipse">
            <a:avLst/>
          </a:prstGeom>
          <a:solidFill>
            <a:srgbClr val="FFFFFF"/>
          </a:solidFill>
          <a:ln w="6350">
            <a:solidFill>
              <a:srgbClr val="FFFFFF"/>
            </a:solidFill>
            <a:prstDash val="solid"/>
          </a:ln>
        </p:spPr>
        <p:txBody>
          <a:bodyPr/>
          <a:lstStyle/>
          <a:p>
            <a:endParaRPr lang="en-US"/>
          </a:p>
        </p:txBody>
      </p:sp>
      <p:sp>
        <p:nvSpPr>
          <p:cNvPr id="297" name="Text 295"/>
          <p:cNvSpPr/>
          <p:nvPr/>
        </p:nvSpPr>
        <p:spPr>
          <a:xfrm>
            <a:off x="6734987" y="5453666"/>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RRM.557</a:t>
            </a:r>
            <a:endParaRPr lang="en-US" sz="650" dirty="0"/>
          </a:p>
        </p:txBody>
      </p:sp>
      <p:sp>
        <p:nvSpPr>
          <p:cNvPr id="300" name="Text 298"/>
          <p:cNvSpPr/>
          <p:nvPr/>
        </p:nvSpPr>
        <p:spPr>
          <a:xfrm>
            <a:off x="5611280" y="446677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RRM.670</a:t>
            </a:r>
            <a:endParaRPr lang="en-US" sz="650" dirty="0"/>
          </a:p>
        </p:txBody>
      </p:sp>
      <p:sp>
        <p:nvSpPr>
          <p:cNvPr id="301" name="Shape 299"/>
          <p:cNvSpPr/>
          <p:nvPr/>
        </p:nvSpPr>
        <p:spPr>
          <a:xfrm>
            <a:off x="10104120" y="777240"/>
            <a:ext cx="4709160" cy="1170432"/>
          </a:xfrm>
          <a:prstGeom prst="rect">
            <a:avLst/>
          </a:prstGeom>
          <a:solidFill>
            <a:srgbClr val="1E2761"/>
          </a:solidFill>
          <a:ln w="9525">
            <a:solidFill>
              <a:srgbClr val="D5DAE0"/>
            </a:solidFill>
            <a:prstDash val="solid"/>
          </a:ln>
        </p:spPr>
        <p:txBody>
          <a:bodyPr/>
          <a:lstStyle/>
          <a:p>
            <a:endParaRPr lang="en-US"/>
          </a:p>
        </p:txBody>
      </p:sp>
      <p:sp>
        <p:nvSpPr>
          <p:cNvPr id="302" name="Text 300"/>
          <p:cNvSpPr/>
          <p:nvPr/>
        </p:nvSpPr>
        <p:spPr>
          <a:xfrm>
            <a:off x="10241280" y="868680"/>
            <a:ext cx="4434840" cy="2743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LOCATION 3 — 1003  ·  REV P08 (FINAL SCOPE)</a:t>
            </a:r>
            <a:endParaRPr lang="en-US" sz="1250" dirty="0"/>
          </a:p>
        </p:txBody>
      </p:sp>
      <p:sp>
        <p:nvSpPr>
          <p:cNvPr id="303" name="Text 301"/>
          <p:cNvSpPr/>
          <p:nvPr/>
        </p:nvSpPr>
        <p:spPr>
          <a:xfrm>
            <a:off x="10241280" y="1179576"/>
            <a:ext cx="4434840" cy="384048"/>
          </a:xfrm>
          <a:prstGeom prst="rect">
            <a:avLst/>
          </a:prstGeom>
          <a:noFill/>
          <a:ln/>
        </p:spPr>
        <p:txBody>
          <a:bodyPr wrap="square" lIns="0" tIns="0" rIns="0" bIns="0" rtlCol="0" anchor="ctr"/>
          <a:lstStyle/>
          <a:p>
            <a:pPr marL="0" indent="0">
              <a:buNone/>
            </a:pPr>
            <a:r>
              <a:rPr sz="800">
                <a:solidFill>
                  <a:srgbClr val="CADCFC"/>
                </a:solidFill>
                <a:latin typeface="Arial"/>
              </a:rPr>
              <a:t>FINAL SCOPE OF WORK 30.07.2026 (supersedes the Rev P06/P07 quantities) — FIELD CONDITION GOVERNS</a:t>
            </a:r>
            <a:endParaRPr lang="en-US" sz="800" dirty="0"/>
          </a:p>
        </p:txBody>
      </p:sp>
      <p:sp>
        <p:nvSpPr>
          <p:cNvPr id="304" name="Text 302"/>
          <p:cNvSpPr/>
          <p:nvPr/>
        </p:nvSpPr>
        <p:spPr>
          <a:xfrm>
            <a:off x="10241280" y="1600200"/>
            <a:ext cx="4434840" cy="310896"/>
          </a:xfrm>
          <a:prstGeom prst="rect">
            <a:avLst/>
          </a:prstGeom>
          <a:noFill/>
          <a:ln/>
        </p:spPr>
        <p:txBody>
          <a:bodyPr wrap="square" lIns="0" tIns="0" rIns="0" bIns="0" rtlCol="0" anchor="ctr"/>
          <a:lstStyle/>
          <a:p>
            <a:pPr marL="0" indent="0">
              <a:buNone/>
            </a:pPr>
            <a:endParaRPr lang="en-US" sz="700" dirty="0"/>
          </a:p>
        </p:txBody>
      </p:sp>
      <p:sp>
        <p:nvSpPr>
          <p:cNvPr id="305" name="Shape 303"/>
          <p:cNvSpPr/>
          <p:nvPr/>
        </p:nvSpPr>
        <p:spPr>
          <a:xfrm>
            <a:off x="10104120" y="2084832"/>
            <a:ext cx="4709160" cy="2489653"/>
          </a:xfrm>
          <a:prstGeom prst="rect">
            <a:avLst/>
          </a:prstGeom>
          <a:solidFill>
            <a:srgbClr val="F4F6F8"/>
          </a:solidFill>
          <a:ln w="9525">
            <a:solidFill>
              <a:srgbClr val="D5DAE0"/>
            </a:solidFill>
            <a:prstDash val="solid"/>
          </a:ln>
        </p:spPr>
        <p:txBody>
          <a:bodyPr/>
          <a:lstStyle/>
          <a:p>
            <a:endParaRPr lang="en-US"/>
          </a:p>
        </p:txBody>
      </p:sp>
      <p:sp>
        <p:nvSpPr>
          <p:cNvPr id="306" name="Text 304"/>
          <p:cNvSpPr/>
          <p:nvPr/>
        </p:nvSpPr>
        <p:spPr>
          <a:xfrm>
            <a:off x="10241280" y="2221992"/>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SCOPE / QUANTITIES (PER FIELD VERIFICATION)</a:t>
            </a:r>
            <a:endParaRPr lang="en-US" sz="950" dirty="0"/>
          </a:p>
        </p:txBody>
      </p:sp>
      <p:sp>
        <p:nvSpPr>
          <p:cNvPr id="307" name="Text 305"/>
          <p:cNvSpPr/>
          <p:nvPr/>
        </p:nvSpPr>
        <p:spPr>
          <a:xfrm>
            <a:off x="10241280" y="2569464"/>
            <a:ext cx="4434840" cy="1867861"/>
          </a:xfrm>
          <a:prstGeom prst="rect">
            <a:avLst/>
          </a:prstGeom>
          <a:noFill/>
          <a:ln/>
        </p:spPr>
        <p:txBody>
          <a:bodyPr wrap="square" lIns="0" tIns="0" rIns="0" bIns="0" rtlCol="0" anchor="t"/>
          <a:lstStyle/>
          <a:p>
            <a:pPr marL="0" indent="0">
              <a:lnSpc>
                <a:spcPct val="112000"/>
              </a:lnSpc>
              <a:spcBef>
                <a:spcPts val="0"/>
              </a:spcBef>
              <a:spcAft>
                <a:spcPts val="0"/>
              </a:spcAft>
              <a:buNone/>
            </a:pPr>
            <a:r>
              <a:rPr sz="680">
                <a:solidFill>
                  <a:srgbClr val="1F2937"/>
                </a:solidFill>
                <a:latin typeface="Arial"/>
              </a:rPr>
              <a:t>FINAL SCOPE (REV P08) — 4 No. TCC, SAW CUT + NEW CABLE; CORE OUT 12" AT 1 No. ONLY</a:t>
            </a:r>
            <a:endParaRPr lang="en-US" sz="760" dirty="0"/>
          </a:p>
          <a:p>
            <a:pPr>
              <a:spcBef>
                <a:spcPts val="0"/>
              </a:spcBef>
              <a:spcAft>
                <a:spcPts val="0"/>
              </a:spcAft>
            </a:pPr>
            <a:r>
              <a:rPr sz="680">
                <a:solidFill>
                  <a:srgbClr val="1F2937"/>
                </a:solidFill>
                <a:latin typeface="Arial"/>
              </a:rPr>
              <a:t>   • TCCECH-03/003 — CORE OUT 12" + INSTALL NEW 12" SIDE-ENTRY SHALLOW BASE (no side-entry provision in the existing base).</a:t>
            </a:r>
            <a:endParaRPr lang="en-US" sz="760" dirty="0"/>
          </a:p>
          <a:p>
            <a:pPr>
              <a:spcBef>
                <a:spcPts val="0"/>
              </a:spcBef>
              <a:spcAft>
                <a:spcPts val="0"/>
              </a:spcAft>
            </a:pPr>
            <a:r>
              <a:rPr sz="680">
                <a:solidFill>
                  <a:srgbClr val="1F2937"/>
                </a:solidFill>
                <a:latin typeface="Arial"/>
              </a:rPr>
              <a:t>   • TCCECH-03/002, 04/002, 04/003 — SECONDARY CABLE ONLY; the existing 12" shallow base accommodates side entry — NO CORING.</a:t>
            </a:r>
          </a:p>
          <a:p>
            <a:pPr>
              <a:spcBef>
                <a:spcPts val="0"/>
              </a:spcBef>
              <a:spcAft>
                <a:spcPts val="0"/>
              </a:spcAft>
            </a:pPr>
            <a:r>
              <a:rPr sz="680">
                <a:solidFill>
                  <a:srgbClr val="1F2937"/>
                </a:solidFill>
                <a:latin typeface="Arial"/>
              </a:rPr>
              <a:t>ROUTE: SAW CUT — these 4 No. were carried as via-duct on Rev P06/P07. Saw cut detail per the SAW CUT &amp; SIDE-ENTRY SHALLOW BASE DETAIL sheet; detail drawing to be issued.</a:t>
            </a:r>
          </a:p>
          <a:p>
            <a:pPr>
              <a:spcBef>
                <a:spcPts val="0"/>
              </a:spcBef>
              <a:spcAft>
                <a:spcPts val="0"/>
              </a:spcAft>
            </a:pPr>
            <a:r>
              <a:rPr sz="680">
                <a:solidFill>
                  <a:srgbClr val="1F2937"/>
                </a:solidFill>
                <a:latin typeface="Arial"/>
              </a:rPr>
              <a:t>NOT IN THE REV P08 SCOPE — no works, 8 No. SBC:</a:t>
            </a:r>
          </a:p>
          <a:p>
            <a:pPr>
              <a:spcBef>
                <a:spcPts val="0"/>
              </a:spcBef>
              <a:spcAft>
                <a:spcPts val="0"/>
              </a:spcAft>
            </a:pPr>
            <a:r>
              <a:rPr sz="680">
                <a:solidFill>
                  <a:srgbClr val="1F2937"/>
                </a:solidFill>
                <a:latin typeface="Arial"/>
              </a:rPr>
              <a:t>   • SBC102-01/038, 01/039, 02/035, 02/036 (EP7 stop bar — was saw cut, base protect)</a:t>
            </a:r>
          </a:p>
          <a:p>
            <a:pPr>
              <a:spcBef>
                <a:spcPts val="0"/>
              </a:spcBef>
              <a:spcAft>
                <a:spcPts val="0"/>
              </a:spcAft>
            </a:pPr>
            <a:r>
              <a:rPr sz="680">
                <a:solidFill>
                  <a:srgbClr val="1F2937"/>
                </a:solidFill>
                <a:latin typeface="Arial"/>
              </a:rPr>
              <a:t>   • SBC102-01/040, 01/041, 02/037, 02/038 (was new cable only, via duct)</a:t>
            </a:r>
          </a:p>
          <a:p>
            <a:pPr>
              <a:spcBef>
                <a:spcPts val="0"/>
              </a:spcBef>
              <a:spcAft>
                <a:spcPts val="0"/>
              </a:spcAft>
            </a:pPr>
            <a:r>
              <a:rPr sz="680">
                <a:solidFill>
                  <a:srgbClr val="1F2937"/>
                </a:solidFill>
                <a:latin typeface="Arial"/>
              </a:rPr>
              <a:t>RRM.557 (0.07 m — treat as within the works) and RRM.670: REMOVE / PROTECT / RE-FIX</a:t>
            </a:r>
          </a:p>
          <a:p>
            <a:pPr>
              <a:spcBef>
                <a:spcPts val="0"/>
              </a:spcBef>
              <a:spcAft>
                <a:spcPts val="0"/>
              </a:spcAft>
            </a:pPr>
            <a:r>
              <a:rPr sz="680">
                <a:solidFill>
                  <a:srgbClr val="1F2937"/>
                </a:solidFill>
                <a:latin typeface="Arial"/>
              </a:rPr>
              <a:t>ISOLATE CIRCUITS: TCCECH.03/.04 — SBC102.01/.02 carries no AGL works here at Rev P08; confirm isolation against the saw cut alignment before works.</a:t>
            </a:r>
          </a:p>
          <a:p>
            <a:pPr>
              <a:spcBef>
                <a:spcPts val="0"/>
              </a:spcBef>
              <a:spcAft>
                <a:spcPts val="0"/>
              </a:spcAft>
            </a:pPr>
            <a:r>
              <a:rPr sz="680">
                <a:solidFill>
                  <a:srgbClr val="1F2937"/>
                </a:solidFill>
                <a:latin typeface="Arial"/>
              </a:rPr>
              <a:t>Rev P08 supersedes the Rev P06/P07 quantities. Superseded = no works under this revision; it is not a field verification that the asset is unaffected.</a:t>
            </a:r>
          </a:p>
          <a:p>
            <a:pPr>
              <a:spcBef>
                <a:spcPts val="0"/>
              </a:spcBef>
              <a:spcAft>
                <a:spcPts val="0"/>
              </a:spcAft>
            </a:pPr>
            <a:r>
              <a:rPr sz="680">
                <a:solidFill>
                  <a:srgbClr val="1F2937"/>
                </a:solidFill>
                <a:latin typeface="Arial"/>
              </a:rPr>
              <a:t>RED AGL WORKS AREA = the Rev P05 field-condition milling extent, unchanged at Rev P08 — the civil milling limit.</a:t>
            </a:r>
          </a:p>
        </p:txBody>
      </p:sp>
      <p:sp>
        <p:nvSpPr>
          <p:cNvPr id="308" name="Shape 306"/>
          <p:cNvSpPr/>
          <p:nvPr/>
        </p:nvSpPr>
        <p:spPr>
          <a:xfrm>
            <a:off x="10104120" y="4711645"/>
            <a:ext cx="4709160" cy="2541898"/>
          </a:xfrm>
          <a:prstGeom prst="rect">
            <a:avLst/>
          </a:prstGeom>
          <a:solidFill>
            <a:srgbClr val="FFFFFF"/>
          </a:solidFill>
          <a:ln w="9525">
            <a:solidFill>
              <a:srgbClr val="D5DAE0"/>
            </a:solidFill>
            <a:prstDash val="solid"/>
          </a:ln>
        </p:spPr>
        <p:txBody>
          <a:bodyPr/>
          <a:lstStyle/>
          <a:p>
            <a:endParaRPr lang="en-US"/>
          </a:p>
        </p:txBody>
      </p:sp>
      <p:sp>
        <p:nvSpPr>
          <p:cNvPr id="309" name="Text 307"/>
          <p:cNvSpPr/>
          <p:nvPr/>
        </p:nvSpPr>
        <p:spPr>
          <a:xfrm>
            <a:off x="10241280" y="4848805"/>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GENERAL NOTES</a:t>
            </a:r>
            <a:endParaRPr lang="en-US" sz="950" dirty="0"/>
          </a:p>
        </p:txBody>
      </p:sp>
      <p:sp>
        <p:nvSpPr>
          <p:cNvPr id="310" name="Text 308"/>
          <p:cNvSpPr/>
          <p:nvPr/>
        </p:nvSpPr>
        <p:spPr>
          <a:xfrm>
            <a:off x="10241280" y="5196277"/>
            <a:ext cx="4434840" cy="1920106"/>
          </a:xfrm>
          <a:prstGeom prst="rect">
            <a:avLst/>
          </a:prstGeom>
          <a:noFill/>
          <a:ln/>
        </p:spPr>
        <p:txBody>
          <a:bodyPr wrap="square" lIns="0" tIns="0" rIns="0" bIns="0" rtlCol="0" anchor="t"/>
          <a:lstStyle/>
          <a:p>
            <a:pPr marL="0" indent="0">
              <a:lnSpc>
                <a:spcPct val="110000"/>
              </a:lnSpc>
              <a:buNone/>
            </a:pPr>
            <a:r>
              <a:rPr sz="700">
                <a:solidFill>
                  <a:srgbClr val="5F6368"/>
                </a:solidFill>
                <a:latin typeface="Arial"/>
              </a:rPr>
              <a:t>1.  Positions plotted are ZIA LOCAL PROJECT GRID metres. The EPSG:32640 reference carried on Rev P06 is withdrawn — no surveyed local-to-UTM transform is held, so no UTM coordinate is to be taken from this sheet.</a:t>
            </a:r>
            <a:endParaRPr lang="en-US" sz="680" dirty="0"/>
          </a:p>
          <a:p>
            <a:r>
              <a:rPr sz="700">
                <a:solidFill>
                  <a:srgbClr val="5F6368"/>
                </a:solidFill>
                <a:latin typeface="Arial"/>
              </a:rPr>
              <a:t>2.  AGL works area (red) is the Rev P05 field-condition milling extent, unchanged at Rev P08 — it is the civil milling limit and is not derived from the affected-asset positions.</a:t>
            </a:r>
          </a:p>
          <a:p>
            <a:r>
              <a:rPr sz="700">
                <a:solidFill>
                  <a:srgbClr val="5F6368"/>
                </a:solidFill>
                <a:latin typeface="Arial"/>
              </a:rPr>
              <a:t>3.  Duct / ductbank / conduit / saw cut lines are as-built geometry lifted from ADA drawing Z1-Z2-Z3-MTA_SEGMENTATION.dxf. The source layer name carries the duct size and way-count.</a:t>
            </a:r>
          </a:p>
          <a:p>
            <a:r>
              <a:rPr sz="700">
                <a:solidFill>
                  <a:srgbClr val="5F6368"/>
                </a:solidFill>
                <a:latin typeface="Arial"/>
              </a:rPr>
              <a:t>4.  Ducts are drawn as the separate segments they are in the source. Continuity is not proven — a continuous pull length is not to be taken from this sheet.</a:t>
            </a:r>
          </a:p>
          <a:p>
            <a:r>
              <a:rPr sz="700">
                <a:solidFill>
                  <a:srgbClr val="5F6368"/>
                </a:solidFill>
                <a:latin typeface="Arial"/>
              </a:rPr>
              <a:t>5.  Isolate, lock out and prove dead all listed circuits at the CCR under permit before cutting, coring or excavation.</a:t>
            </a:r>
          </a:p>
          <a:p>
            <a:r>
              <a:rPr sz="700">
                <a:solidFill>
                  <a:srgbClr val="5F6368"/>
                </a:solidFill>
                <a:latin typeface="Arial"/>
              </a:rPr>
              <a:t>6.  HH / MH / transformer-pit / RRM symbols sit approximately 2.1–2.3 m off the source insertion point; set out civil features from survey.</a:t>
            </a:r>
          </a:p>
          <a:p>
            <a:r>
              <a:rPr sz="700">
                <a:solidFill>
                  <a:srgbClr val="5F6368"/>
                </a:solidFill>
                <a:latin typeface="Arial"/>
              </a:rPr>
              <a:t>7.  Centreline and stop bar are taken from the as-built TCC / SBC fittings. Taxiway edge is indicative at 23 m — to be confirmed on site.</a:t>
            </a:r>
          </a:p>
          <a:p>
            <a:r>
              <a:rPr sz="700">
                <a:solidFill>
                  <a:srgbClr val="5F6368"/>
                </a:solidFill>
                <a:latin typeface="Arial"/>
              </a:rPr>
              <a:t>8.  Every asset in frame carries its own as-built symbol, legended right. Type is taken from the source layer, not from the label.</a:t>
            </a:r>
          </a:p>
        </p:txBody>
      </p:sp>
      <p:sp>
        <p:nvSpPr>
          <p:cNvPr id="311" name="Shape 309"/>
          <p:cNvSpPr/>
          <p:nvPr/>
        </p:nvSpPr>
        <p:spPr>
          <a:xfrm>
            <a:off x="10104120" y="7390703"/>
            <a:ext cx="4709160" cy="2667693"/>
          </a:xfrm>
          <a:prstGeom prst="rect">
            <a:avLst/>
          </a:prstGeom>
          <a:solidFill>
            <a:srgbClr val="F4F6F8"/>
          </a:solidFill>
          <a:ln w="9525">
            <a:solidFill>
              <a:srgbClr val="D5DAE0"/>
            </a:solidFill>
            <a:prstDash val="solid"/>
          </a:ln>
        </p:spPr>
        <p:txBody>
          <a:bodyPr/>
          <a:lstStyle/>
          <a:p>
            <a:endParaRPr lang="en-US"/>
          </a:p>
        </p:txBody>
      </p:sp>
      <p:sp>
        <p:nvSpPr>
          <p:cNvPr id="312" name="Text 310"/>
          <p:cNvSpPr/>
          <p:nvPr/>
        </p:nvSpPr>
        <p:spPr>
          <a:xfrm>
            <a:off x="10241280" y="7527863"/>
            <a:ext cx="218742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LEGEND — THIS SHEET</a:t>
            </a:r>
            <a:endParaRPr lang="en-US" sz="950" dirty="0"/>
          </a:p>
        </p:txBody>
      </p:sp>
      <p:sp>
        <p:nvSpPr>
          <p:cNvPr id="313" name="Shape 311"/>
          <p:cNvSpPr/>
          <p:nvPr/>
        </p:nvSpPr>
        <p:spPr>
          <a:xfrm>
            <a:off x="10241280" y="8090019"/>
            <a:ext cx="192024" cy="192024"/>
          </a:xfrm>
          <a:prstGeom prst="ellipse">
            <a:avLst/>
          </a:prstGeom>
          <a:noFill/>
          <a:ln w="28575">
            <a:solidFill>
              <a:srgbClr val="CC0000"/>
            </a:solidFill>
            <a:prstDash val="solid"/>
          </a:ln>
        </p:spPr>
        <p:txBody>
          <a:bodyPr/>
          <a:lstStyle/>
          <a:p>
            <a:endParaRPr lang="en-US"/>
          </a:p>
        </p:txBody>
      </p:sp>
      <p:sp>
        <p:nvSpPr>
          <p:cNvPr id="314" name="Shape 312"/>
          <p:cNvSpPr/>
          <p:nvPr/>
        </p:nvSpPr>
        <p:spPr>
          <a:xfrm>
            <a:off x="10287000" y="8135739"/>
            <a:ext cx="100584" cy="100584"/>
          </a:xfrm>
          <a:prstGeom prst="ellipse">
            <a:avLst/>
          </a:prstGeom>
          <a:solidFill>
            <a:srgbClr val="E8710A"/>
          </a:solidFill>
          <a:ln w="6350">
            <a:solidFill>
              <a:srgbClr val="E8710A"/>
            </a:solidFill>
            <a:prstDash val="solid"/>
          </a:ln>
        </p:spPr>
        <p:txBody>
          <a:bodyPr/>
          <a:lstStyle/>
          <a:p>
            <a:endParaRPr lang="en-US"/>
          </a:p>
        </p:txBody>
      </p:sp>
      <p:sp>
        <p:nvSpPr>
          <p:cNvPr id="315" name="Text 313"/>
          <p:cNvSpPr/>
          <p:nvPr/>
        </p:nvSpPr>
        <p:spPr>
          <a:xfrm>
            <a:off x="10552176" y="8077319"/>
            <a:ext cx="1876524" cy="359415"/>
          </a:xfrm>
          <a:prstGeom prst="rect">
            <a:avLst/>
          </a:prstGeom>
          <a:noFill/>
          <a:ln/>
        </p:spPr>
        <p:txBody>
          <a:bodyPr wrap="square" lIns="0" tIns="0" rIns="0" bIns="0" rtlCol="0" anchor="ctr"/>
          <a:lstStyle/>
          <a:p>
            <a:pPr marL="0" indent="0">
              <a:buNone/>
            </a:pPr>
            <a:r>
              <a:rPr sz="700">
                <a:solidFill>
                  <a:srgbClr val="1F2937"/>
                </a:solidFill>
                <a:latin typeface="Arial"/>
              </a:rPr>
              <a:t>CORE OUT 12" — NEW 12" SIDE-ENTRY BASE (SAW CUT)</a:t>
            </a:r>
            <a:endParaRPr lang="en-US" sz="740" dirty="0"/>
          </a:p>
        </p:txBody>
      </p:sp>
      <p:sp>
        <p:nvSpPr>
          <p:cNvPr id="319" name="Shape 317"/>
          <p:cNvSpPr/>
          <p:nvPr/>
        </p:nvSpPr>
        <p:spPr>
          <a:xfrm>
            <a:off x="10241280" y="8808849"/>
            <a:ext cx="192024" cy="192024"/>
          </a:xfrm>
          <a:prstGeom prst="ellipse">
            <a:avLst/>
          </a:prstGeom>
          <a:noFill/>
          <a:ln w="28575">
            <a:solidFill>
              <a:srgbClr val="BB00BB"/>
            </a:solidFill>
            <a:prstDash val="solid"/>
          </a:ln>
        </p:spPr>
        <p:txBody>
          <a:bodyPr/>
          <a:lstStyle/>
          <a:p>
            <a:endParaRPr lang="en-US"/>
          </a:p>
        </p:txBody>
      </p:sp>
      <p:sp>
        <p:nvSpPr>
          <p:cNvPr id="320" name="Shape 318"/>
          <p:cNvSpPr/>
          <p:nvPr/>
        </p:nvSpPr>
        <p:spPr>
          <a:xfrm>
            <a:off x="10287000" y="8854569"/>
            <a:ext cx="100584" cy="100584"/>
          </a:xfrm>
          <a:prstGeom prst="ellipse">
            <a:avLst/>
          </a:prstGeom>
          <a:solidFill>
            <a:srgbClr val="FFFFFF"/>
          </a:solidFill>
          <a:ln w="6350">
            <a:solidFill>
              <a:srgbClr val="FFFFFF"/>
            </a:solidFill>
            <a:prstDash val="solid"/>
          </a:ln>
        </p:spPr>
        <p:txBody>
          <a:bodyPr/>
          <a:lstStyle/>
          <a:p>
            <a:endParaRPr lang="en-US"/>
          </a:p>
        </p:txBody>
      </p:sp>
      <p:sp>
        <p:nvSpPr>
          <p:cNvPr id="321" name="Text 319"/>
          <p:cNvSpPr/>
          <p:nvPr/>
        </p:nvSpPr>
        <p:spPr>
          <a:xfrm>
            <a:off x="10552176" y="8796149"/>
            <a:ext cx="1876524" cy="359415"/>
          </a:xfrm>
          <a:prstGeom prst="rect">
            <a:avLst/>
          </a:prstGeom>
          <a:noFill/>
          <a:ln/>
        </p:spPr>
        <p:txBody>
          <a:bodyPr wrap="square" lIns="0" tIns="0" rIns="0" bIns="0" rtlCol="0" anchor="ctr"/>
          <a:lstStyle/>
          <a:p>
            <a:pPr marL="0" indent="0">
              <a:buNone/>
            </a:pPr>
            <a:r>
              <a:rPr sz="700">
                <a:solidFill>
                  <a:srgbClr val="1F2937"/>
                </a:solidFill>
                <a:latin typeface="Arial"/>
              </a:rPr>
              <a:t>RRM — REMOVE / PROTECT / RE-FIX</a:t>
            </a:r>
            <a:endParaRPr lang="en-US" sz="740" dirty="0"/>
          </a:p>
        </p:txBody>
      </p:sp>
      <p:sp>
        <p:nvSpPr>
          <p:cNvPr id="324" name="Shape 322"/>
          <p:cNvSpPr/>
          <p:nvPr/>
        </p:nvSpPr>
        <p:spPr>
          <a:xfrm>
            <a:off x="10241280" y="9264784"/>
            <a:ext cx="274320" cy="914"/>
          </a:xfrm>
          <a:prstGeom prst="line">
            <a:avLst/>
          </a:prstGeom>
          <a:noFill/>
          <a:ln w="22225">
            <a:solidFill>
              <a:srgbClr val="0B3D91"/>
            </a:solidFill>
            <a:prstDash val="solid"/>
          </a:ln>
        </p:spPr>
        <p:txBody>
          <a:bodyPr/>
          <a:lstStyle/>
          <a:p>
            <a:endParaRPr lang="en-US"/>
          </a:p>
        </p:txBody>
      </p:sp>
      <p:sp>
        <p:nvSpPr>
          <p:cNvPr id="325" name="Text 323"/>
          <p:cNvSpPr/>
          <p:nvPr/>
        </p:nvSpPr>
        <p:spPr>
          <a:xfrm>
            <a:off x="10588752" y="9155564"/>
            <a:ext cx="1839948" cy="359415"/>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SECONDARY CABLE — SAW CUT ROUTE (REV P08)</a:t>
            </a:r>
            <a:endParaRPr lang="en-US" sz="740" dirty="0"/>
          </a:p>
        </p:txBody>
      </p:sp>
      <p:sp>
        <p:nvSpPr>
          <p:cNvPr id="328" name="Shape 326"/>
          <p:cNvSpPr/>
          <p:nvPr/>
        </p:nvSpPr>
        <p:spPr>
          <a:xfrm>
            <a:off x="10241280" y="9983614"/>
            <a:ext cx="274320" cy="914"/>
          </a:xfrm>
          <a:prstGeom prst="line">
            <a:avLst/>
          </a:prstGeom>
          <a:noFill/>
          <a:ln w="31750">
            <a:solidFill>
              <a:srgbClr val="CC0000"/>
            </a:solidFill>
            <a:prstDash val="solid"/>
          </a:ln>
        </p:spPr>
        <p:txBody>
          <a:bodyPr/>
          <a:lstStyle/>
          <a:p>
            <a:endParaRPr lang="en-US"/>
          </a:p>
        </p:txBody>
      </p:sp>
      <p:sp>
        <p:nvSpPr>
          <p:cNvPr id="329" name="Text 327"/>
          <p:cNvSpPr/>
          <p:nvPr/>
        </p:nvSpPr>
        <p:spPr>
          <a:xfrm>
            <a:off x="10588752" y="9874394"/>
            <a:ext cx="1839948" cy="248826"/>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AGL WORKS AREA (GOVERNING)</a:t>
            </a:r>
            <a:endParaRPr lang="en-US" sz="740" dirty="0"/>
          </a:p>
        </p:txBody>
      </p:sp>
      <p:sp>
        <p:nvSpPr>
          <p:cNvPr id="414" name="TextBox 413"/>
          <p:cNvSpPr txBox="1"/>
          <p:nvPr/>
        </p:nvSpPr>
        <p:spPr>
          <a:xfrm>
            <a:off x="10241280" y="7784711"/>
            <a:ext cx="2187420" cy="200000"/>
          </a:xfrm>
          <a:prstGeom prst="rect">
            <a:avLst/>
          </a:prstGeom>
          <a:noFill/>
        </p:spPr>
        <p:txBody>
          <a:bodyPr wrap="square" lIns="0" tIns="0" rIns="0" bIns="0">
            <a:spAutoFit/>
          </a:bodyPr>
          <a:lstStyle/>
          <a:p>
            <a:r>
              <a:rPr sz="750" b="1">
                <a:solidFill>
                  <a:srgbClr val="5F6368"/>
                </a:solidFill>
              </a:rPr>
              <a:t>WORKS ACTIONS &amp; LINEWORK</a:t>
            </a:r>
          </a:p>
        </p:txBody>
      </p:sp>
      <p:sp>
        <p:nvSpPr>
          <p:cNvPr id="415" name="TextBox 414"/>
          <p:cNvSpPr txBox="1"/>
          <p:nvPr/>
        </p:nvSpPr>
        <p:spPr>
          <a:xfrm>
            <a:off x="12488700" y="7784711"/>
            <a:ext cx="2187420" cy="200000"/>
          </a:xfrm>
          <a:prstGeom prst="rect">
            <a:avLst/>
          </a:prstGeom>
          <a:noFill/>
        </p:spPr>
        <p:txBody>
          <a:bodyPr wrap="square" lIns="0" tIns="0" rIns="0" bIns="0">
            <a:spAutoFit/>
          </a:bodyPr>
          <a:lstStyle/>
          <a:p>
            <a:r>
              <a:rPr sz="750" b="1">
                <a:solidFill>
                  <a:srgbClr val="5F6368"/>
                </a:solidFill>
              </a:rPr>
              <a:t>AS-BUILT AGL ASSETS</a:t>
            </a:r>
          </a:p>
        </p:txBody>
      </p:sp>
      <p:sp>
        <p:nvSpPr>
          <p:cNvPr id="420" name="ASBUILT ASSET · Runway guard light / RRM"/>
          <p:cNvSpPr/>
          <p:nvPr/>
        </p:nvSpPr>
        <p:spPr>
          <a:xfrm>
            <a:off x="12548408" y="8142027"/>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TextBox 420"/>
          <p:cNvSpPr txBox="1"/>
          <p:nvPr/>
        </p:nvSpPr>
        <p:spPr>
          <a:xfrm>
            <a:off x="12738700" y="8077319"/>
            <a:ext cx="1937420" cy="230000"/>
          </a:xfrm>
          <a:prstGeom prst="rect">
            <a:avLst/>
          </a:prstGeom>
          <a:noFill/>
        </p:spPr>
        <p:txBody>
          <a:bodyPr wrap="square" lIns="0" tIns="0" rIns="0" bIns="0">
            <a:spAutoFit/>
          </a:bodyPr>
          <a:lstStyle/>
          <a:p>
            <a:r>
              <a:rPr sz="700">
                <a:solidFill>
                  <a:srgbClr val="20242A"/>
                </a:solidFill>
              </a:rPr>
              <a:t>RUNWAY GUARD LIGHT / RRM  (9)</a:t>
            </a:r>
          </a:p>
        </p:txBody>
      </p:sp>
      <p:sp>
        <p:nvSpPr>
          <p:cNvPr id="426" name="ASBUILT ASSET · Handhole"/>
          <p:cNvSpPr/>
          <p:nvPr/>
        </p:nvSpPr>
        <p:spPr>
          <a:xfrm>
            <a:off x="12534692" y="8402631"/>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TextBox 426"/>
          <p:cNvSpPr txBox="1"/>
          <p:nvPr/>
        </p:nvSpPr>
        <p:spPr>
          <a:xfrm>
            <a:off x="12738700" y="8351639"/>
            <a:ext cx="1937420" cy="230000"/>
          </a:xfrm>
          <a:prstGeom prst="rect">
            <a:avLst/>
          </a:prstGeom>
          <a:noFill/>
        </p:spPr>
        <p:txBody>
          <a:bodyPr wrap="square" lIns="0" tIns="0" rIns="0" bIns="0">
            <a:spAutoFit/>
          </a:bodyPr>
          <a:lstStyle/>
          <a:p>
            <a:r>
              <a:rPr sz="700">
                <a:solidFill>
                  <a:srgbClr val="20242A"/>
                </a:solidFill>
              </a:rPr>
              <a:t>HANDHOLE (HH)  (7)</a:t>
            </a:r>
          </a:p>
        </p:txBody>
      </p:sp>
      <p:sp>
        <p:nvSpPr>
          <p:cNvPr id="428" name="ASBUILT ASSET · Existing transformer handhole"/>
          <p:cNvSpPr/>
          <p:nvPr/>
        </p:nvSpPr>
        <p:spPr>
          <a:xfrm>
            <a:off x="12525548" y="8667807"/>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TextBox 428"/>
          <p:cNvSpPr txBox="1"/>
          <p:nvPr/>
        </p:nvSpPr>
        <p:spPr>
          <a:xfrm>
            <a:off x="12738700" y="8625959"/>
            <a:ext cx="1937420" cy="230000"/>
          </a:xfrm>
          <a:prstGeom prst="rect">
            <a:avLst/>
          </a:prstGeom>
          <a:noFill/>
        </p:spPr>
        <p:txBody>
          <a:bodyPr wrap="square" lIns="0" tIns="0" rIns="0" bIns="0">
            <a:spAutoFit/>
          </a:bodyPr>
          <a:lstStyle/>
          <a:p>
            <a:r>
              <a:rPr sz="700">
                <a:solidFill>
                  <a:srgbClr val="20242A"/>
                </a:solidFill>
              </a:rPr>
              <a:t>TRANSFORMER HH (SEC. FEED HUB)  (2)</a:t>
            </a:r>
          </a:p>
        </p:txBody>
      </p:sp>
      <p:sp>
        <p:nvSpPr>
          <p:cNvPr id="154" name="Shape 303">
            <a:extLst>
              <a:ext uri="{FF2B5EF4-FFF2-40B4-BE49-F238E27FC236}">
                <a16:creationId xmlns:a16="http://schemas.microsoft.com/office/drawing/2014/main" id="{12C259F2-BF1F-8D7F-413C-CB7F1D6345F3}"/>
              </a:ext>
            </a:extLst>
          </p:cNvPr>
          <p:cNvSpPr/>
          <p:nvPr/>
        </p:nvSpPr>
        <p:spPr>
          <a:xfrm>
            <a:off x="4523314" y="6248331"/>
            <a:ext cx="109728" cy="109728"/>
          </a:xfrm>
          <a:prstGeom prst="ellipse">
            <a:avLst/>
          </a:prstGeom>
          <a:solidFill>
            <a:schemeClr val="accent6">
              <a:lumMod val="40000"/>
              <a:lumOff val="60000"/>
            </a:schemeClr>
          </a:solidFill>
          <a:ln w="6350">
            <a:solidFill>
              <a:srgbClr val="9AA0A6"/>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192" name="ASBUILT ASSET · Taxiway centreline light">
            <a:extLst>
              <a:ext uri="{FF2B5EF4-FFF2-40B4-BE49-F238E27FC236}">
                <a16:creationId xmlns:a16="http://schemas.microsoft.com/office/drawing/2014/main" id="{9A7BD354-D4DA-5045-BA37-3FCB8B885CD0}"/>
              </a:ext>
            </a:extLst>
          </p:cNvPr>
          <p:cNvSpPr/>
          <p:nvPr/>
        </p:nvSpPr>
        <p:spPr>
          <a:xfrm>
            <a:off x="4590327" y="4479150"/>
            <a:ext cx="91440" cy="91440"/>
          </a:xfrm>
          <a:prstGeom prst="ellipse">
            <a:avLst/>
          </a:prstGeom>
          <a:solidFill>
            <a:srgbClr val="5B9BD5">
              <a:lumMod val="50000"/>
              <a:alpha val="20000"/>
              <a:alpha val="100000"/>
            </a:srgbClr>
          </a:solidFill>
          <a:ln w="6350">
            <a:solidFill>
              <a:srgbClr val="9AA0A6">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a:p>
        </p:txBody>
      </p:sp>
      <p:sp>
        <p:nvSpPr>
          <p:cNvPr id="148" name="AGL WORKS AREA FILL"/>
          <p:cNvSpPr/>
          <p:nvPr/>
        </p:nvSpPr>
        <p:spPr>
          <a:xfrm>
            <a:off x="3087402" y="4071626"/>
            <a:ext cx="3417095" cy="2972530"/>
          </a:xfrm>
          <a:custGeom>
            <a:avLst/>
            <a:gdLst/>
            <a:ahLst/>
            <a:cxnLst/>
            <a:rect l="l" t="t" r="r" b="b"/>
            <a:pathLst>
              <a:path w="3417095" h="2972530">
                <a:moveTo>
                  <a:pt x="0" y="2250727"/>
                </a:moveTo>
                <a:lnTo>
                  <a:pt x="2846258" y="2972530"/>
                </a:lnTo>
                <a:lnTo>
                  <a:pt x="3417095" y="721802"/>
                </a:lnTo>
                <a:lnTo>
                  <a:pt x="570737" y="0"/>
                </a:lnTo>
                <a:close/>
              </a:path>
            </a:pathLst>
          </a:custGeom>
          <a:solidFill>
            <a:srgbClr val="CC0000">
              <a:alpha val="34000"/>
            </a:srgbClr>
          </a:solidFill>
          <a:ln w="19050">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ASBUILT ASSET · Taxiway centreline light">
            <a:extLst>
              <a:ext uri="{FF2B5EF4-FFF2-40B4-BE49-F238E27FC236}">
                <a16:creationId xmlns:a16="http://schemas.microsoft.com/office/drawing/2014/main" id="{E54385DB-718F-D336-802B-27B4A91AA4B5}"/>
              </a:ext>
            </a:extLst>
          </p:cNvPr>
          <p:cNvSpPr/>
          <p:nvPr/>
        </p:nvSpPr>
        <p:spPr>
          <a:xfrm>
            <a:off x="7491037" y="8150434"/>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01" name="P08 LEG GREEN DOT"/>
          <p:cNvSpPr/>
          <p:nvPr/>
        </p:nvSpPr>
        <p:spPr>
          <a:xfrm>
            <a:off x="10287000" y="8495154"/>
            <a:ext cx="100584" cy="100584"/>
          </a:xfrm>
          <a:prstGeom prst="ellipse">
            <a:avLst/>
          </a:prstGeom>
          <a:solidFill>
            <a:srgbClr val="70AD47"/>
          </a:solidFill>
          <a:ln w="6350">
            <a:solidFill>
              <a:srgbClr val="9AA0A6"/>
            </a:solidFill>
            <a:prstDash val="solid"/>
          </a:ln>
        </p:spPr>
        <p:txBody>
          <a:bodyPr/>
          <a:lstStyle/>
          <a:p>
            <a:endParaRPr lang="en-US"/>
          </a:p>
        </p:txBody>
      </p:sp>
      <p:sp>
        <p:nvSpPr>
          <p:cNvPr id="9002" name="P08 LEG GREEN TXT"/>
          <p:cNvSpPr/>
          <p:nvPr/>
        </p:nvSpPr>
        <p:spPr>
          <a:xfrm>
            <a:off x="10552430" y="8436734"/>
            <a:ext cx="1876524" cy="359415"/>
          </a:xfrm>
          <a:prstGeom prst="rect">
            <a:avLst/>
          </a:prstGeom>
          <a:noFill/>
          <a:ln/>
        </p:spPr>
        <p:txBody>
          <a:bodyPr wrap="square" lIns="0" tIns="0" rIns="0" bIns="0" rtlCol="0" anchor="ctr"/>
          <a:lstStyle/>
          <a:p>
            <a:pPr marL="0" indent="0">
              <a:buNone/>
            </a:pPr>
            <a:r>
              <a:rPr sz="700">
                <a:solidFill>
                  <a:srgbClr val="1F2937"/>
                </a:solidFill>
                <a:latin typeface="Arial"/>
              </a:rPr>
              <a:t>SECONDARY CABLE ONLY — EXISTING BASE (SAW CUT)</a:t>
            </a:r>
            <a:endParaRPr lang="en-US" sz="740" dirty="0"/>
          </a:p>
        </p:txBody>
      </p:sp>
      <p:sp>
        <p:nvSpPr>
          <p:cNvPr id="9201" name="P08 LEG NEWSC LINE"/>
          <p:cNvSpPr/>
          <p:nvPr/>
        </p:nvSpPr>
        <p:spPr>
          <a:xfrm>
            <a:off x="10241280" y="9624199"/>
            <a:ext cx="274320" cy="914"/>
          </a:xfrm>
          <a:prstGeom prst="line">
            <a:avLst/>
          </a:prstGeom>
          <a:noFill/>
          <a:ln w="31750">
            <a:solidFill>
              <a:srgbClr val="7030A0"/>
            </a:solidFill>
            <a:prstDash val="solid"/>
          </a:ln>
        </p:spPr>
        <p:txBody>
          <a:bodyPr/>
          <a:lstStyle/>
          <a:p>
            <a:endParaRPr lang="en-US"/>
          </a:p>
        </p:txBody>
      </p:sp>
      <p:sp>
        <p:nvSpPr>
          <p:cNvPr id="9202" name="P08 LEG NEWSC TXT"/>
          <p:cNvSpPr/>
          <p:nvPr/>
        </p:nvSpPr>
        <p:spPr>
          <a:xfrm>
            <a:off x="10589260" y="9514979"/>
            <a:ext cx="1839948" cy="359415"/>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NEW SAW CUT — SECONDARY CABLE (REV P08)</a:t>
            </a:r>
            <a:endParaRPr lang="en-US" sz="740" dirty="0"/>
          </a:p>
        </p:txBody>
      </p:sp>
      <p:sp>
        <p:nvSpPr>
          <p:cNvPr id="9213" name="P08 RRM RING 557"/>
          <p:cNvSpPr/>
          <p:nvPr/>
        </p:nvSpPr>
        <p:spPr>
          <a:xfrm>
            <a:off x="6510959" y="5567966"/>
            <a:ext cx="210312" cy="210312"/>
          </a:xfrm>
          <a:prstGeom prst="ellipse">
            <a:avLst/>
          </a:prstGeom>
          <a:noFill/>
          <a:ln w="19050">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4" name="P08 RRM RING 670"/>
          <p:cNvSpPr/>
          <p:nvPr/>
        </p:nvSpPr>
        <p:spPr>
          <a:xfrm>
            <a:off x="5387252" y="4581071"/>
            <a:ext cx="210312" cy="210312"/>
          </a:xfrm>
          <a:prstGeom prst="ellipse">
            <a:avLst/>
          </a:prstGeom>
          <a:noFill/>
          <a:ln w="19050">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 150"/>
          <p:cNvSpPr/>
          <p:nvPr/>
        </p:nvSpPr>
        <p:spPr>
          <a:xfrm>
            <a:off x="1280699" y="3797306"/>
            <a:ext cx="3341727" cy="201168"/>
          </a:xfrm>
          <a:prstGeom prst="rect">
            <a:avLst/>
          </a:prstGeom>
          <a:solidFill>
            <a:srgbClr val="FFFFFF"/>
          </a:solidFill>
          <a:ln>
            <a:noFill/>
          </a:ln>
        </p:spPr>
        <p:txBody>
          <a:bodyPr wrap="square" lIns="0" tIns="0" rIns="0" bIns="0" rtlCol="0" anchor="ctr"/>
          <a:lstStyle/>
          <a:p>
            <a:pPr marL="0" indent="0">
              <a:buNone/>
            </a:pPr>
            <a:r>
              <a:rPr lang="en-US" sz="800" b="1" dirty="0">
                <a:solidFill>
                  <a:srgbClr val="CC0000"/>
                </a:solidFill>
                <a:latin typeface="Arial" pitchFamily="34" charset="0"/>
                <a:ea typeface="Arial" pitchFamily="34" charset="-122"/>
                <a:cs typeface="Arial" pitchFamily="34" charset="-120"/>
              </a:rPr>
              <a:t>AGL WORKS AREA — FIELD CONDITION (676.7 m² TOTAL)</a:t>
            </a:r>
            <a:endParaRPr lang="en-US" sz="800" dirty="0"/>
          </a:p>
        </p:txBody>
      </p:sp>
      <p:pic>
        <p:nvPicPr>
          <p:cNvPr id="9215" name="ADB SAFEGATE LOGO" descr="logo-adb.png"/>
          <p:cNvPicPr>
            <a:picLocks noChangeAspect="1"/>
          </p:cNvPicPr>
          <p:nvPr/>
        </p:nvPicPr>
        <p:blipFill>
          <a:blip r:embed="rId3"/>
          <a:stretch>
            <a:fillRect/>
          </a:stretch>
        </p:blipFill>
        <p:spPr>
          <a:xfrm>
            <a:off x="13554972" y="175260"/>
            <a:ext cx="1258308" cy="434340"/>
          </a:xfrm>
          <a:prstGeom prst="rect">
            <a:avLst/>
          </a:prstGeom>
        </p:spPr>
      </p:pic>
      <p:sp>
        <p:nvSpPr>
          <p:cNvPr id="9216" name="SHEET FOOTER"/>
          <p:cNvSpPr txBox="1"/>
          <p:nvPr/>
        </p:nvSpPr>
        <p:spPr>
          <a:xfrm>
            <a:off x="320040" y="10390000"/>
            <a:ext cx="14493240" cy="190500"/>
          </a:xfrm>
          <a:prstGeom prst="rect">
            <a:avLst/>
          </a:prstGeom>
          <a:noFill/>
        </p:spPr>
        <p:txBody>
          <a:bodyPr wrap="square" lIns="0" rIns="0" tIns="0" bIns="0">
            <a:spAutoFit/>
          </a:bodyPr>
          <a:lstStyle/>
          <a:p>
            <a:r>
              <a:rPr sz="700">
                <a:solidFill>
                  <a:srgbClr val="5F6368"/>
                </a:solidFill>
                <a:latin typeface="Arial"/>
              </a:rPr>
              <a:t>Field condition governs.  Quantities are per the Rev P08 final scope of work (30.07.2026) and are for check by the Engineer.     ·     AUH-SK-AGL-TWYE-001 REV P08 (FINAL SCOPE)  ·  Prepared: Mohammed Faheem, AGL Team Leader — ADB SAFEGATE  ·  Approved: Ragesh Menon, AGL Manager</a:t>
            </a:r>
          </a:p>
        </p:txBody>
      </p:sp>
    </p:spTree>
    <p:extLst>
      <p:ext uri="{BB962C8B-B14F-4D97-AF65-F5344CB8AC3E}">
        <p14:creationId xmlns:p14="http://schemas.microsoft.com/office/powerpoint/2010/main" val="1526166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2473200" cy="502920"/>
          </a:xfrm>
          <a:prstGeom prst="rect">
            <a:avLst/>
          </a:prstGeom>
          <a:noFill/>
          <a:ln/>
        </p:spPr>
        <p:txBody>
          <a:bodyPr wrap="square" lIns="0" tIns="0" rIns="0" bIns="0" rtlCol="0" anchor="ctr"/>
          <a:lstStyle/>
          <a:p>
            <a:pPr marL="0" indent="0">
              <a:buNone/>
            </a:pPr>
            <a:r>
              <a:rPr lang="en-US" sz="2000" b="1" dirty="0">
                <a:solidFill>
                  <a:srgbClr val="1E2761"/>
                </a:solidFill>
                <a:latin typeface="Arial" pitchFamily="34" charset="0"/>
                <a:ea typeface="Arial" pitchFamily="34" charset="-122"/>
                <a:cs typeface="Arial" pitchFamily="34" charset="-120"/>
              </a:rPr>
              <a:t>CONSOLIDATED FIELD-GOVERNED SCOPE — TWY E (E4–E6) · REV P08 (FINAL SCOPE)</a:t>
            </a:r>
            <a:endParaRPr lang="en-US" sz="2000" dirty="0"/>
          </a:p>
        </p:txBody>
      </p:sp>
      <p:graphicFrame>
        <p:nvGraphicFramePr>
          <p:cNvPr id="6" name="Table 0"/>
          <p:cNvGraphicFramePr>
            <a:graphicFrameLocks noGrp="1"/>
          </p:cNvGraphicFramePr>
          <p:nvPr/>
        </p:nvGraphicFramePr>
        <p:xfrm>
          <a:off x="457200" y="960120"/>
          <a:ext cx="14173200" cy="8641080"/>
        </p:xfrm>
        <a:graphic>
          <a:graphicData uri="http://schemas.openxmlformats.org/drawingml/2006/table">
            <a:tbl>
              <a:tblPr/>
              <a:tblGrid>
                <a:gridCol w="9601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6537960">
                  <a:extLst>
                    <a:ext uri="{9D8B030D-6E8A-4147-A177-3AD203B41FA5}">
                      <a16:colId xmlns:a16="http://schemas.microsoft.com/office/drawing/2014/main" val="20004"/>
                    </a:ext>
                  </a:extLst>
                </a:gridCol>
              </a:tblGrid>
              <a:tr h="240030">
                <a:tc>
                  <a:txBody>
                    <a:bodyPr/>
                    <a:lstStyle/>
                    <a:p>
                      <a:pPr marL="0" indent="0">
                        <a:buNone/>
                      </a:pPr>
                      <a:r>
                        <a:rPr lang="en-US" sz="900" b="1" dirty="0">
                          <a:solidFill>
                            <a:srgbClr val="FFFFFF"/>
                          </a:solidFill>
                          <a:latin typeface="Arial" pitchFamily="34" charset="0"/>
                          <a:ea typeface="Arial" pitchFamily="34" charset="-122"/>
                          <a:cs typeface="Arial" pitchFamily="34" charset="-120"/>
                        </a:rPr>
                        <a:t>Loc</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Asset</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Works Action</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Route</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Remarks</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SBC102-02/024</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8" SIDE-ENTRY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1"/>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SBC102-01/027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8" SIDE-ENTRY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2"/>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SBC102-02/025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8" SIDE-ENTRY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3"/>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SBC102-01/028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8" SIDE-ENTRY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4"/>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SBC102-02/026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8" SIDE-ENTRY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5"/>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SBC102-01/029</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8" SIDE-ENTRY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6"/>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TCCECH-04/034</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12" / REMOVED EARLIER → NEW 8" BASE +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12" base cored (3 No.) or removed earlier (2 No.); new 8" base;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7"/>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TCCECH-03/036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12" / REMOVED EARLIER → NEW 8" BASE +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12" base cored (3 No.) or removed earlier (2 No.); new 8" base;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8"/>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TCCECH-04/035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12" / REMOVED EARLIER → NEW 8" BASE +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12" base cored (3 No.) or removed earlier (2 No.); new 8" base;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9"/>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TCCECH-03/037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12" / REMOVED EARLIER → NEW 8" BASE +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12" base cored (3 No.) or removed earlier (2 No.); new 8" base;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0"/>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TCCECH-04/036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12" / REMOVED EARLIER → NEW 8" BASE +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12" base cored (3 No.) or removed earlier (2 No.); new 8" base;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1"/>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SBC102-02/027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SECONDARY CABLE ONLY — NEW SAW CUT, NO CORING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Existing base kept, no coring; protected by dummy plate during milling; new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2"/>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TCCECH-03/035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SECONDARY CABLE ONLY — NEW SAW CUT, NO CORING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Existing base kept, no coring; protected by dummy plate during milling; new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3"/>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TCCECH-03/018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SECONDARY CABLE ONLY — NEW SAW CUT, NO CORING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Existing base kept, no coring; protected by dummy plate during milling; new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4"/>
                  </a:ext>
                </a:extLst>
              </a:tr>
              <a:tr h="240030">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SBC102-01/026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Field verified — no works</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5"/>
                  </a:ext>
                </a:extLst>
              </a:tr>
              <a:tr h="240030">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EXISTING → NEW 12" SIDE-ENTRY BASE +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Existing shallow base cored out; new 12" side-entry base; full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6"/>
                  </a:ext>
                </a:extLst>
              </a:tr>
              <a:tr h="240030">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THE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Carried in Rev P06/P07; not named in the final scope of work 30.07.2026 — no works at this revision</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7"/>
                  </a:ext>
                </a:extLst>
              </a:tr>
              <a:tr h="240030">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TCCECH-04/007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THE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Carried in Rev P06/P07; not named in the final scope of work 30.07.2026 — no works at this revision</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8"/>
                  </a:ext>
                </a:extLst>
              </a:tr>
              <a:tr h="240030">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TCCECH-04/008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THE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Carried in Rev P06/P07; not named in the final scope of work 30.07.2026 — no works at this revision</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9"/>
                  </a:ext>
                </a:extLst>
              </a:tr>
              <a:tr h="240030">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TCCECH-03/009</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THE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Carried in Rev P06/P07; not named in the final scope of work 30.07.2026 — no works at this revision</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0"/>
                  </a:ext>
                </a:extLst>
              </a:tr>
              <a:tr h="240030">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RRM.555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RRM — REMOVE / PROTECT / RE-FIX</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Remove and protect before saw cut; re-fix after paving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1"/>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SECONDARY CABLE ONLY — EXISTING 12" BASE KEPT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Existing 12" base accepts the new side-entry cable — no coring;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2"/>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SECONDARY CABLE ONLY — EXISTING 12" BASE KEPT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Existing 12" base accepts the new side-entry cable — no coring;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3"/>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12" → NEW 12" SIDE-ENTRY BASE +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 side-entry provision in the existing base; 12" core; new 12" base;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4"/>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SECONDARY CABLE ONLY — EXISTING 12" BASE KEPT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Existing 12" base accepts the new side-entry cable — no coring;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5"/>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SBC102-01/038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THE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Carried in Rev P06/P07; not named in the final scope of work 30.07.2026 — no works at this revision</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6"/>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SBC102-01/039</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THE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Carried in Rev P06/P07; not named in the final scope of work 30.07.2026 — no works at this revision</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7"/>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SBC102-02/035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THE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Carried in Rev P06/P07; not named in the final scope of work 30.07.2026 — no works at this revision</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8"/>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SBC102-02/036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THE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Carried in Rev P06/P07; not named in the final scope of work 30.07.2026 — no works at this revision</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9"/>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SBC102-01/040</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THE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Carried in Rev P06/P07; not named in the final scope of work 30.07.2026 — no works at this revision</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0"/>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SBC102-01/041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THE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Carried in Rev P06/P07; not named in the final scope of work 30.07.2026 — no works at this revision</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1"/>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SBC102-02/037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THE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Carried in Rev P06/P07; not named in the final scope of work 30.07.2026 — no works at this revision</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2"/>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SBC102-02/038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THE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Carried in Rev P06/P07; not named in the final scope of work 30.07.2026 — no works at this revision</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3"/>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RRM.557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RRM — REMOVE / PROTECT / RE-FIX</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Remove and protect before saw cut; re-fix after paving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4"/>
                  </a:ext>
                </a:extLst>
              </a:tr>
              <a:tr h="240030">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RRM.670</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RRM — REMOVE / PROTECT / RE-FIX</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Remove and protect before saw cut; re-fix after paving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5"/>
                  </a:ext>
                </a:extLst>
              </a:tr>
            </a:tbl>
          </a:graphicData>
        </a:graphic>
      </p:graphicFrame>
      <p:sp>
        <p:nvSpPr>
          <p:cNvPr id="4" name="Text 1"/>
          <p:cNvSpPr/>
          <p:nvPr/>
        </p:nvSpPr>
        <p:spPr>
          <a:xfrm>
            <a:off x="457200" y="9784080"/>
            <a:ext cx="14173200" cy="365760"/>
          </a:xfrm>
          <a:prstGeom prst="rect">
            <a:avLst/>
          </a:prstGeom>
          <a:noFill/>
          <a:ln/>
        </p:spPr>
        <p:txBody>
          <a:bodyPr wrap="square" lIns="0" tIns="0" rIns="0" bIns="0" rtlCol="0" anchor="ctr"/>
          <a:lstStyle/>
          <a:p>
            <a:pPr marL="0" indent="0">
              <a:buNone/>
            </a:pPr>
            <a:r>
              <a:rPr sz="900">
                <a:solidFill>
                  <a:srgbClr val="5F6368"/>
                </a:solidFill>
                <a:latin typeface="Arial"/>
              </a:rPr>
              <a:t>Totals (Rev P08 final scope): 19 No. fittings — LOC-01 14 No. (9 No. cored: 3 No. 12" + 6 No. 8"; 2 No. 12" removed earlier; 11 No. new 8" bases; balance 3 No. secondary cable only, no coring); LOC-02 1 No. (12" core, new 12" base); LOC-03 4 No. (12" core at 03/003 only, balance 3 No. secondary cable only) — all new cable via SAW CUT.   ·   Coring 11 No. (6 @ 8" · 5 @ 12")   ·   New side-entry bases 13 No.   ·   12 No. not in the Rev P08 scope   ·   3 No. RRM remove / protect / re-fix   ·   1 No. field verified not affected.</a:t>
            </a:r>
            <a:endParaRPr lang="en-US" sz="1000" dirty="0"/>
          </a:p>
        </p:txBody>
      </p:sp>
      <p:pic>
        <p:nvPicPr>
          <p:cNvPr id="7" name="ADB SAFEGATE LOGO" descr="logo-adb.png"/>
          <p:cNvPicPr>
            <a:picLocks noChangeAspect="1"/>
          </p:cNvPicPr>
          <p:nvPr/>
        </p:nvPicPr>
        <p:blipFill>
          <a:blip r:embed="rId3"/>
          <a:stretch>
            <a:fillRect/>
          </a:stretch>
        </p:blipFill>
        <p:spPr>
          <a:xfrm>
            <a:off x="13372092" y="265430"/>
            <a:ext cx="1258308" cy="434340"/>
          </a:xfrm>
          <a:prstGeom prst="rect">
            <a:avLst/>
          </a:prstGeom>
        </p:spPr>
      </p:pic>
      <p:sp>
        <p:nvSpPr>
          <p:cNvPr id="8" name="SHEET FOOTER"/>
          <p:cNvSpPr txBox="1"/>
          <p:nvPr/>
        </p:nvSpPr>
        <p:spPr>
          <a:xfrm>
            <a:off x="457200" y="10240000"/>
            <a:ext cx="14173200" cy="190500"/>
          </a:xfrm>
          <a:prstGeom prst="rect">
            <a:avLst/>
          </a:prstGeom>
          <a:noFill/>
        </p:spPr>
        <p:txBody>
          <a:bodyPr wrap="square" lIns="0" rIns="0" tIns="0" bIns="0">
            <a:spAutoFit/>
          </a:bodyPr>
          <a:lstStyle/>
          <a:p>
            <a:r>
              <a:rPr sz="750">
                <a:solidFill>
                  <a:srgbClr val="5F6368"/>
                </a:solidFill>
                <a:latin typeface="Arial"/>
              </a:rPr>
              <a:t>AUH-SK-AGL-TWYE-001 REV P08 (FINAL SCOPE)  ·  Prepared: Mohammed Faheem, AGL Team Leader — ADB SAFEGATE  ·  Approved: Ragesh Menon, AGL Manager</a:t>
            </a:r>
          </a:p>
        </p:txBody>
      </p:sp>
    </p:spTree>
    <p:extLst>
      <p:ext uri="{BB962C8B-B14F-4D97-AF65-F5344CB8AC3E}">
        <p14:creationId xmlns:p14="http://schemas.microsoft.com/office/powerpoint/2010/main" val="3166251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2473200" cy="502920"/>
          </a:xfrm>
          <a:prstGeom prst="rect">
            <a:avLst/>
          </a:prstGeom>
          <a:noFill/>
        </p:spPr>
        <p:txBody>
          <a:bodyPr wrap="square" lIns="0" rIns="0" anchor="ctr">
            <a:spAutoFit/>
          </a:bodyPr>
          <a:lstStyle/>
          <a:p>
            <a:r>
              <a:rPr sz="2000" b="1">
                <a:solidFill>
                  <a:srgbClr val="1E2761"/>
                </a:solidFill>
                <a:latin typeface="Arial"/>
              </a:rPr>
              <a:t>SAW CUT &amp; SIDE-ENTRY SHALLOW BASE DETAIL — TWY E (E4–E6)  ·  REV P08  ·  HOLD</a:t>
            </a:r>
          </a:p>
        </p:txBody>
      </p:sp>
      <p:sp>
        <p:nvSpPr>
          <p:cNvPr id="3" name="P08 PANEL · DETAIL — HELD FOR ISSUE"/>
          <p:cNvSpPr/>
          <p:nvPr/>
        </p:nvSpPr>
        <p:spPr>
          <a:xfrm>
            <a:off x="457200" y="914400"/>
            <a:ext cx="6958584" cy="5997887"/>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3504" y="1024128"/>
            <a:ext cx="6665976" cy="237744"/>
          </a:xfrm>
          <a:prstGeom prst="rect">
            <a:avLst/>
          </a:prstGeom>
          <a:noFill/>
        </p:spPr>
        <p:txBody>
          <a:bodyPr wrap="square" lIns="0" tIns="0" rIns="0" bIns="0">
            <a:spAutoFit/>
          </a:bodyPr>
          <a:lstStyle/>
          <a:p>
            <a:r>
              <a:rPr sz="950" b="1">
                <a:solidFill>
                  <a:srgbClr val="1E2761"/>
                </a:solidFill>
                <a:latin typeface="Arial"/>
              </a:rPr>
              <a:t>DETAIL — HELD FOR ISSUE</a:t>
            </a:r>
          </a:p>
        </p:txBody>
      </p:sp>
      <p:sp>
        <p:nvSpPr>
          <p:cNvPr id="5" name="P08 PANEL · SAW CUT &amp; CORING SCHEDULE — "/>
          <p:cNvSpPr/>
          <p:nvPr/>
        </p:nvSpPr>
        <p:spPr>
          <a:xfrm>
            <a:off x="457200" y="7058591"/>
            <a:ext cx="6958584" cy="1709928"/>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3504" y="7168319"/>
            <a:ext cx="6665976" cy="237744"/>
          </a:xfrm>
          <a:prstGeom prst="rect">
            <a:avLst/>
          </a:prstGeom>
          <a:noFill/>
        </p:spPr>
        <p:txBody>
          <a:bodyPr wrap="square" lIns="0" tIns="0" rIns="0" bIns="0">
            <a:spAutoFit/>
          </a:bodyPr>
          <a:lstStyle/>
          <a:p>
            <a:r>
              <a:rPr sz="950" b="1">
                <a:solidFill>
                  <a:srgbClr val="1E2761"/>
                </a:solidFill>
                <a:latin typeface="Arial"/>
              </a:rPr>
              <a:t>SAW CUT &amp; CORING SCHEDULE — REV P08 FINAL SCOPE</a:t>
            </a:r>
          </a:p>
        </p:txBody>
      </p:sp>
      <p:sp>
        <p:nvSpPr>
          <p:cNvPr id="7" name="P08 PANEL · SIDE-ENTRY SHALLOW BASE — WH"/>
          <p:cNvSpPr/>
          <p:nvPr/>
        </p:nvSpPr>
        <p:spPr>
          <a:xfrm>
            <a:off x="7699248" y="6639111"/>
            <a:ext cx="6958584" cy="2129408"/>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45552" y="6748839"/>
            <a:ext cx="6665976" cy="237744"/>
          </a:xfrm>
          <a:prstGeom prst="rect">
            <a:avLst/>
          </a:prstGeom>
          <a:noFill/>
        </p:spPr>
        <p:txBody>
          <a:bodyPr wrap="square" lIns="0" tIns="0" rIns="0" bIns="0">
            <a:spAutoFit/>
          </a:bodyPr>
          <a:lstStyle/>
          <a:p>
            <a:r>
              <a:rPr sz="950" b="1">
                <a:solidFill>
                  <a:srgbClr val="1E2761"/>
                </a:solidFill>
                <a:latin typeface="Arial"/>
              </a:rPr>
              <a:t>SIDE-ENTRY SHALLOW BASE — WHAT THE DETAIL MUST ALSO SHOW</a:t>
            </a:r>
          </a:p>
        </p:txBody>
      </p:sp>
      <p:sp>
        <p:nvSpPr>
          <p:cNvPr id="9" name="TextBox 8"/>
          <p:cNvSpPr txBox="1"/>
          <p:nvPr/>
        </p:nvSpPr>
        <p:spPr>
          <a:xfrm>
            <a:off x="7845552" y="7114599"/>
            <a:ext cx="6665976" cy="804672"/>
          </a:xfrm>
          <a:prstGeom prst="rect">
            <a:avLst/>
          </a:prstGeom>
          <a:noFill/>
        </p:spPr>
        <p:txBody>
          <a:bodyPr wrap="square" lIns="0" tIns="0" rIns="0" bIns="0">
            <a:spAutoFit/>
          </a:bodyPr>
          <a:lstStyle/>
          <a:p>
            <a:pPr>
              <a:spcAft>
                <a:spcPts val="900"/>
              </a:spcAft>
            </a:pPr>
            <a:r>
              <a:rPr sz="1050" b="0">
                <a:solidFill>
                  <a:srgbClr val="1F2937"/>
                </a:solidFill>
                <a:latin typeface="Arial"/>
              </a:rPr>
              <a:t>10.  Side-entry shallow base — depth, entry height above the base floor, entry bore and the seal at the entry.</a:t>
            </a:r>
          </a:p>
          <a:p>
            <a:pPr>
              <a:spcAft>
                <a:spcPts val="900"/>
              </a:spcAft>
            </a:pPr>
            <a:r>
              <a:rPr sz="1050" b="0">
                <a:solidFill>
                  <a:srgbClr val="1F2937"/>
                </a:solidFill>
                <a:latin typeface="Arial"/>
              </a:rPr>
              <a:t>11.  Core diameter and core depth for 8" and for 12", and the grout / bedding specification for each.</a:t>
            </a:r>
          </a:p>
          <a:p>
            <a:pPr>
              <a:spcAft>
                <a:spcPts val="900"/>
              </a:spcAft>
            </a:pPr>
            <a:r>
              <a:rPr sz="1050" b="0">
                <a:solidFill>
                  <a:srgbClr val="1F2937"/>
                </a:solidFill>
                <a:latin typeface="Arial"/>
              </a:rPr>
              <a:t>12.  At Location 2, the method for coring out the existing shallow base and making good before the new 12" base is set.</a:t>
            </a:r>
          </a:p>
          <a:p>
            <a:pPr>
              <a:spcAft>
                <a:spcPts val="900"/>
              </a:spcAft>
            </a:pPr>
            <a:r>
              <a:rPr sz="1050" b="0">
                <a:solidFill>
                  <a:srgbClr val="1F2937"/>
                </a:solidFill>
                <a:latin typeface="Arial"/>
              </a:rPr>
              <a:t>13.  Setting-out tolerance of the base relative to the as-built fitting position, and the level tolerance to finished pavement.</a:t>
            </a:r>
          </a:p>
        </p:txBody>
      </p:sp>
      <p:sp>
        <p:nvSpPr>
          <p:cNvPr id="10" name="P08 HOLD · SAW CUT DETAIL FRAME"/>
          <p:cNvSpPr/>
          <p:nvPr/>
        </p:nvSpPr>
        <p:spPr>
          <a:xfrm>
            <a:off x="603504" y="1389888"/>
            <a:ext cx="6665976" cy="5385239"/>
          </a:xfrm>
          <a:prstGeom prst="rect">
            <a:avLst/>
          </a:prstGeom>
          <a:solidFill>
            <a:srgbClr val="FBFCFD"/>
          </a:solidFill>
          <a:ln w="19050">
            <a:solidFill>
              <a:srgbClr val="B326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3305267"/>
            <a:ext cx="5934456" cy="1554480"/>
          </a:xfrm>
          <a:prstGeom prst="rect">
            <a:avLst/>
          </a:prstGeom>
          <a:noFill/>
        </p:spPr>
        <p:txBody>
          <a:bodyPr wrap="square" lIns="0" tIns="0" rIns="0" bIns="0" anchor="ctr">
            <a:spAutoFit/>
          </a:bodyPr>
          <a:lstStyle/>
          <a:p>
            <a:pPr algn="ctr">
              <a:spcAft>
                <a:spcPts val="800"/>
              </a:spcAft>
            </a:pPr>
            <a:r>
              <a:rPr sz="1500" b="1">
                <a:solidFill>
                  <a:srgbClr val="B3261E"/>
                </a:solidFill>
                <a:latin typeface="Arial"/>
              </a:rPr>
              <a:t>SAW CUT DETAIL DRAWING TO BE ISSUED</a:t>
            </a:r>
          </a:p>
          <a:p>
            <a:pPr algn="ctr">
              <a:spcAft>
                <a:spcPts val="800"/>
              </a:spcAft>
            </a:pPr>
            <a:r>
              <a:rPr sz="950" b="0">
                <a:solidFill>
                  <a:srgbClr val="1F2937"/>
                </a:solidFill>
                <a:latin typeface="Arial"/>
              </a:rPr>
              <a:t>The final scope of work records that the saw cut detail drawing will be provided. It had not been issued at the date of this revision.</a:t>
            </a:r>
          </a:p>
          <a:p>
            <a:pPr algn="ctr">
              <a:spcAft>
                <a:spcPts val="800"/>
              </a:spcAft>
            </a:pPr>
            <a:r>
              <a:rPr sz="950" b="1">
                <a:solidFill>
                  <a:srgbClr val="B3261E"/>
                </a:solidFill>
                <a:latin typeface="Arial"/>
              </a:rPr>
              <a:t>Until it is issued and accepted, saw cutting is not to commence — hold point H5.</a:t>
            </a:r>
          </a:p>
        </p:txBody>
      </p:sp>
      <p:graphicFrame>
        <p:nvGraphicFramePr>
          <p:cNvPr id="12" name="Table 11"/>
          <p:cNvGraphicFramePr>
            <a:graphicFrameLocks noGrp="1"/>
          </p:cNvGraphicFramePr>
          <p:nvPr/>
        </p:nvGraphicFramePr>
        <p:xfrm>
          <a:off x="603504" y="7534079"/>
          <a:ext cx="6665976" cy="1097280"/>
        </p:xfrm>
        <a:graphic>
          <a:graphicData uri="http://schemas.openxmlformats.org/drawingml/2006/table">
            <a:tbl>
              <a:tblPr firstRow="1" bandRow="1">
                <a:tableStyleId>{5C22544A-7EE6-4342-B048-85BDC9FD1C3A}</a:tableStyleId>
              </a:tblPr>
              <a:tblGrid>
                <a:gridCol w="738008">
                  <a:extLst>
                    <a:ext uri="{9D8B030D-6E8A-4147-A177-3AD203B41FA5}">
                      <a16:colId xmlns:a16="http://schemas.microsoft.com/office/drawing/2014/main" val="20000"/>
                    </a:ext>
                  </a:extLst>
                </a:gridCol>
                <a:gridCol w="1396771">
                  <a:extLst>
                    <a:ext uri="{9D8B030D-6E8A-4147-A177-3AD203B41FA5}">
                      <a16:colId xmlns:a16="http://schemas.microsoft.com/office/drawing/2014/main" val="20001"/>
                    </a:ext>
                  </a:extLst>
                </a:gridCol>
                <a:gridCol w="1545847">
                  <a:extLst>
                    <a:ext uri="{9D8B030D-6E8A-4147-A177-3AD203B41FA5}">
                      <a16:colId xmlns:a16="http://schemas.microsoft.com/office/drawing/2014/main" val="20002"/>
                    </a:ext>
                  </a:extLst>
                </a:gridCol>
                <a:gridCol w="1788933">
                  <a:extLst>
                    <a:ext uri="{9D8B030D-6E8A-4147-A177-3AD203B41FA5}">
                      <a16:colId xmlns:a16="http://schemas.microsoft.com/office/drawing/2014/main" val="20003"/>
                    </a:ext>
                  </a:extLst>
                </a:gridCol>
                <a:gridCol w="623311">
                  <a:extLst>
                    <a:ext uri="{9D8B030D-6E8A-4147-A177-3AD203B41FA5}">
                      <a16:colId xmlns:a16="http://schemas.microsoft.com/office/drawing/2014/main" val="20004"/>
                    </a:ext>
                  </a:extLst>
                </a:gridCol>
                <a:gridCol w="573106">
                  <a:extLst>
                    <a:ext uri="{9D8B030D-6E8A-4147-A177-3AD203B41FA5}">
                      <a16:colId xmlns:a16="http://schemas.microsoft.com/office/drawing/2014/main" val="20005"/>
                    </a:ext>
                  </a:extLst>
                </a:gridCol>
              </a:tblGrid>
              <a:tr h="219456">
                <a:tc>
                  <a:txBody>
                    <a:bodyPr/>
                    <a:lstStyle/>
                    <a:p>
                      <a:r>
                        <a:rPr sz="950" b="1">
                          <a:solidFill>
                            <a:srgbClr val="FFFFFF"/>
                          </a:solidFill>
                          <a:latin typeface="Arial"/>
                        </a:rPr>
                        <a:t>Location</a:t>
                      </a:r>
                    </a:p>
                  </a:txBody>
                  <a:tcPr marL="45720" marR="45720" marT="18000" marB="18000" anchor="ctr">
                    <a:solidFill>
                      <a:srgbClr val="1E2761"/>
                    </a:solidFill>
                  </a:tcPr>
                </a:tc>
                <a:tc>
                  <a:txBody>
                    <a:bodyPr/>
                    <a:lstStyle/>
                    <a:p>
                      <a:r>
                        <a:rPr sz="950" b="1">
                          <a:solidFill>
                            <a:srgbClr val="FFFFFF"/>
                          </a:solidFill>
                          <a:latin typeface="Arial"/>
                        </a:rPr>
                        <a:t>Fittings</a:t>
                      </a:r>
                    </a:p>
                  </a:txBody>
                  <a:tcPr marL="45720" marR="45720" marT="18000" marB="18000" anchor="ctr">
                    <a:solidFill>
                      <a:srgbClr val="1E2761"/>
                    </a:solidFill>
                  </a:tcPr>
                </a:tc>
                <a:tc>
                  <a:txBody>
                    <a:bodyPr/>
                    <a:lstStyle/>
                    <a:p>
                      <a:r>
                        <a:rPr sz="950" b="1">
                          <a:solidFill>
                            <a:srgbClr val="FFFFFF"/>
                          </a:solidFill>
                          <a:latin typeface="Arial"/>
                        </a:rPr>
                        <a:t>Core</a:t>
                      </a:r>
                    </a:p>
                  </a:txBody>
                  <a:tcPr marL="45720" marR="45720" marT="18000" marB="18000" anchor="ctr">
                    <a:solidFill>
                      <a:srgbClr val="1E2761"/>
                    </a:solidFill>
                  </a:tcPr>
                </a:tc>
                <a:tc>
                  <a:txBody>
                    <a:bodyPr/>
                    <a:lstStyle/>
                    <a:p>
                      <a:r>
                        <a:rPr sz="950" b="1">
                          <a:solidFill>
                            <a:srgbClr val="FFFFFF"/>
                          </a:solidFill>
                          <a:latin typeface="Arial"/>
                        </a:rPr>
                        <a:t>New base</a:t>
                      </a:r>
                    </a:p>
                  </a:txBody>
                  <a:tcPr marL="45720" marR="45720" marT="18000" marB="18000" anchor="ctr">
                    <a:solidFill>
                      <a:srgbClr val="1E2761"/>
                    </a:solidFill>
                  </a:tcPr>
                </a:tc>
                <a:tc>
                  <a:txBody>
                    <a:bodyPr/>
                    <a:lstStyle/>
                    <a:p>
                      <a:r>
                        <a:rPr sz="950" b="1">
                          <a:solidFill>
                            <a:srgbClr val="FFFFFF"/>
                          </a:solidFill>
                          <a:latin typeface="Arial"/>
                        </a:rPr>
                        <a:t>Route</a:t>
                      </a:r>
                    </a:p>
                  </a:txBody>
                  <a:tcPr marL="45720" marR="45720" marT="18000" marB="18000" anchor="ctr">
                    <a:solidFill>
                      <a:srgbClr val="1E2761"/>
                    </a:solidFill>
                  </a:tcPr>
                </a:tc>
                <a:tc>
                  <a:txBody>
                    <a:bodyPr/>
                    <a:lstStyle/>
                    <a:p>
                      <a:r>
                        <a:rPr sz="950" b="1">
                          <a:solidFill>
                            <a:srgbClr val="FFFFFF"/>
                          </a:solidFill>
                          <a:latin typeface="Arial"/>
                        </a:rPr>
                        <a:t>Sheet</a:t>
                      </a:r>
                    </a:p>
                  </a:txBody>
                  <a:tcPr marL="45720" marR="45720" marT="18000" marB="18000" anchor="ctr">
                    <a:solidFill>
                      <a:srgbClr val="1E2761"/>
                    </a:solidFill>
                  </a:tcPr>
                </a:tc>
                <a:extLst>
                  <a:ext uri="{0D108BD9-81ED-4DB2-BD59-A6C34878D82A}">
                    <a16:rowId xmlns:a16="http://schemas.microsoft.com/office/drawing/2014/main" val="10000"/>
                  </a:ext>
                </a:extLst>
              </a:tr>
              <a:tr h="219456">
                <a:tc>
                  <a:txBody>
                    <a:bodyPr/>
                    <a:lstStyle/>
                    <a:p>
                      <a:r>
                        <a:rPr sz="900" b="0">
                          <a:solidFill>
                            <a:srgbClr val="1F2937"/>
                          </a:solidFill>
                          <a:latin typeface="Arial"/>
                        </a:rPr>
                        <a:t>LOC-01</a:t>
                      </a:r>
                    </a:p>
                  </a:txBody>
                  <a:tcPr marL="45720" marR="45720" marT="18000" marB="18000" anchor="ctr">
                    <a:noFill/>
                  </a:tcPr>
                </a:tc>
                <a:tc>
                  <a:txBody>
                    <a:bodyPr/>
                    <a:lstStyle/>
                    <a:p>
                      <a:r>
                        <a:rPr sz="900" b="0">
                          <a:solidFill>
                            <a:srgbClr val="1F2937"/>
                          </a:solidFill>
                          <a:latin typeface="Arial"/>
                        </a:rPr>
                        <a:t>14 No.  (7 SBC · 7 TCC)</a:t>
                      </a:r>
                    </a:p>
                  </a:txBody>
                  <a:tcPr marL="45720" marR="45720" marT="18000" marB="18000" anchor="ctr">
                    <a:noFill/>
                  </a:tcPr>
                </a:tc>
                <a:tc>
                  <a:txBody>
                    <a:bodyPr/>
                    <a:lstStyle/>
                    <a:p>
                      <a:r>
                        <a:rPr sz="900" b="0">
                          <a:solidFill>
                            <a:srgbClr val="1F2937"/>
                          </a:solidFill>
                          <a:latin typeface="Arial"/>
                        </a:rPr>
                        <a:t>9 No. — 3 @ 12" · 6 @ 8"</a:t>
                      </a:r>
                    </a:p>
                  </a:txBody>
                  <a:tcPr marL="45720" marR="45720" marT="18000" marB="18000" anchor="ctr">
                    <a:noFill/>
                  </a:tcPr>
                </a:tc>
                <a:tc>
                  <a:txBody>
                    <a:bodyPr/>
                    <a:lstStyle/>
                    <a:p>
                      <a:r>
                        <a:rPr sz="900" b="0">
                          <a:solidFill>
                            <a:srgbClr val="1F2937"/>
                          </a:solidFill>
                          <a:latin typeface="Arial"/>
                        </a:rPr>
                        <a:t>11 No. 8" new; 3 No. existing kept</a:t>
                      </a:r>
                    </a:p>
                  </a:txBody>
                  <a:tcPr marL="45720" marR="45720" marT="18000" marB="18000" anchor="ctr">
                    <a:noFill/>
                  </a:tcPr>
                </a:tc>
                <a:tc>
                  <a:txBody>
                    <a:bodyPr/>
                    <a:lstStyle/>
                    <a:p>
                      <a:r>
                        <a:rPr sz="900" b="0">
                          <a:solidFill>
                            <a:srgbClr val="1F2937"/>
                          </a:solidFill>
                          <a:latin typeface="Arial"/>
                        </a:rPr>
                        <a:t>Saw cut</a:t>
                      </a:r>
                    </a:p>
                  </a:txBody>
                  <a:tcPr marL="45720" marR="45720" marT="18000" marB="18000" anchor="ctr">
                    <a:noFill/>
                  </a:tcPr>
                </a:tc>
                <a:tc>
                  <a:txBody>
                    <a:bodyPr/>
                    <a:lstStyle/>
                    <a:p>
                      <a:r>
                        <a:rPr sz="900" b="0">
                          <a:solidFill>
                            <a:srgbClr val="1F2937"/>
                          </a:solidFill>
                          <a:latin typeface="Arial"/>
                        </a:rPr>
                        <a:t>1001</a:t>
                      </a:r>
                    </a:p>
                  </a:txBody>
                  <a:tcPr marL="45720" marR="45720" marT="18000" marB="18000" anchor="ctr">
                    <a:noFill/>
                  </a:tcPr>
                </a:tc>
                <a:extLst>
                  <a:ext uri="{0D108BD9-81ED-4DB2-BD59-A6C34878D82A}">
                    <a16:rowId xmlns:a16="http://schemas.microsoft.com/office/drawing/2014/main" val="10001"/>
                  </a:ext>
                </a:extLst>
              </a:tr>
              <a:tr h="219456">
                <a:tc>
                  <a:txBody>
                    <a:bodyPr/>
                    <a:lstStyle/>
                    <a:p>
                      <a:r>
                        <a:rPr sz="900" b="0">
                          <a:solidFill>
                            <a:srgbClr val="1F2937"/>
                          </a:solidFill>
                          <a:latin typeface="Arial"/>
                        </a:rPr>
                        <a:t>LOC-02</a:t>
                      </a:r>
                    </a:p>
                  </a:txBody>
                  <a:tcPr marL="45720" marR="45720" marT="18000" marB="18000" anchor="ctr">
                    <a:noFill/>
                  </a:tcPr>
                </a:tc>
                <a:tc>
                  <a:txBody>
                    <a:bodyPr/>
                    <a:lstStyle/>
                    <a:p>
                      <a:r>
                        <a:rPr sz="900" b="0">
                          <a:solidFill>
                            <a:srgbClr val="1F2937"/>
                          </a:solidFill>
                          <a:latin typeface="Arial"/>
                        </a:rPr>
                        <a:t>1 No.  (TCCECH-03/008)</a:t>
                      </a:r>
                    </a:p>
                  </a:txBody>
                  <a:tcPr marL="45720" marR="45720" marT="18000" marB="18000" anchor="ctr">
                    <a:noFill/>
                  </a:tcPr>
                </a:tc>
                <a:tc>
                  <a:txBody>
                    <a:bodyPr/>
                    <a:lstStyle/>
                    <a:p>
                      <a:r>
                        <a:rPr sz="900" b="0">
                          <a:solidFill>
                            <a:srgbClr val="1F2937"/>
                          </a:solidFill>
                          <a:latin typeface="Arial"/>
                        </a:rPr>
                        <a:t>1 No. 12" (existing base)</a:t>
                      </a:r>
                    </a:p>
                  </a:txBody>
                  <a:tcPr marL="45720" marR="45720" marT="18000" marB="18000" anchor="ctr">
                    <a:noFill/>
                  </a:tcPr>
                </a:tc>
                <a:tc>
                  <a:txBody>
                    <a:bodyPr/>
                    <a:lstStyle/>
                    <a:p>
                      <a:r>
                        <a:rPr sz="900" b="0">
                          <a:solidFill>
                            <a:srgbClr val="1F2937"/>
                          </a:solidFill>
                          <a:latin typeface="Arial"/>
                        </a:rPr>
                        <a:t>1 No. 12" side-entry base</a:t>
                      </a:r>
                    </a:p>
                  </a:txBody>
                  <a:tcPr marL="45720" marR="45720" marT="18000" marB="18000" anchor="ctr">
                    <a:noFill/>
                  </a:tcPr>
                </a:tc>
                <a:tc>
                  <a:txBody>
                    <a:bodyPr/>
                    <a:lstStyle/>
                    <a:p>
                      <a:r>
                        <a:rPr sz="900" b="0">
                          <a:solidFill>
                            <a:srgbClr val="1F2937"/>
                          </a:solidFill>
                          <a:latin typeface="Arial"/>
                        </a:rPr>
                        <a:t>Saw cut</a:t>
                      </a:r>
                    </a:p>
                  </a:txBody>
                  <a:tcPr marL="45720" marR="45720" marT="18000" marB="18000" anchor="ctr">
                    <a:noFill/>
                  </a:tcPr>
                </a:tc>
                <a:tc>
                  <a:txBody>
                    <a:bodyPr/>
                    <a:lstStyle/>
                    <a:p>
                      <a:r>
                        <a:rPr sz="900" b="0">
                          <a:solidFill>
                            <a:srgbClr val="1F2937"/>
                          </a:solidFill>
                          <a:latin typeface="Arial"/>
                        </a:rPr>
                        <a:t>1002</a:t>
                      </a:r>
                    </a:p>
                  </a:txBody>
                  <a:tcPr marL="45720" marR="45720" marT="18000" marB="18000" anchor="ctr">
                    <a:noFill/>
                  </a:tcPr>
                </a:tc>
                <a:extLst>
                  <a:ext uri="{0D108BD9-81ED-4DB2-BD59-A6C34878D82A}">
                    <a16:rowId xmlns:a16="http://schemas.microsoft.com/office/drawing/2014/main" val="10002"/>
                  </a:ext>
                </a:extLst>
              </a:tr>
              <a:tr h="219456">
                <a:tc>
                  <a:txBody>
                    <a:bodyPr/>
                    <a:lstStyle/>
                    <a:p>
                      <a:r>
                        <a:rPr sz="900" b="0">
                          <a:solidFill>
                            <a:srgbClr val="1F2937"/>
                          </a:solidFill>
                          <a:latin typeface="Arial"/>
                        </a:rPr>
                        <a:t>LOC-03</a:t>
                      </a:r>
                    </a:p>
                  </a:txBody>
                  <a:tcPr marL="45720" marR="45720" marT="18000" marB="18000" anchor="ctr">
                    <a:noFill/>
                  </a:tcPr>
                </a:tc>
                <a:tc>
                  <a:txBody>
                    <a:bodyPr/>
                    <a:lstStyle/>
                    <a:p>
                      <a:r>
                        <a:rPr sz="900" b="0" dirty="0">
                          <a:solidFill>
                            <a:srgbClr val="1F2937"/>
                          </a:solidFill>
                          <a:latin typeface="Arial"/>
                        </a:rPr>
                        <a:t>4 No.  (TCC only)</a:t>
                      </a:r>
                    </a:p>
                  </a:txBody>
                  <a:tcPr marL="45720" marR="45720" marT="18000" marB="18000" anchor="ctr">
                    <a:noFill/>
                  </a:tcPr>
                </a:tc>
                <a:tc>
                  <a:txBody>
                    <a:bodyPr/>
                    <a:lstStyle/>
                    <a:p>
                      <a:r>
                        <a:rPr sz="900" b="0">
                          <a:solidFill>
                            <a:srgbClr val="1F2937"/>
                          </a:solidFill>
                          <a:latin typeface="Arial"/>
                        </a:rPr>
                        <a:t>1 No. 12" (TCCECH-03/003)</a:t>
                      </a:r>
                    </a:p>
                  </a:txBody>
                  <a:tcPr marL="45720" marR="45720" marT="18000" marB="18000" anchor="ctr">
                    <a:noFill/>
                  </a:tcPr>
                </a:tc>
                <a:tc>
                  <a:txBody>
                    <a:bodyPr/>
                    <a:lstStyle/>
                    <a:p>
                      <a:r>
                        <a:rPr sz="900" b="0">
                          <a:solidFill>
                            <a:srgbClr val="1F2937"/>
                          </a:solidFill>
                          <a:latin typeface="Arial"/>
                        </a:rPr>
                        <a:t>1 No. 12" new; 3 No. existing kept</a:t>
                      </a:r>
                    </a:p>
                  </a:txBody>
                  <a:tcPr marL="45720" marR="45720" marT="18000" marB="18000" anchor="ctr">
                    <a:noFill/>
                  </a:tcPr>
                </a:tc>
                <a:tc>
                  <a:txBody>
                    <a:bodyPr/>
                    <a:lstStyle/>
                    <a:p>
                      <a:r>
                        <a:rPr sz="900" b="0">
                          <a:solidFill>
                            <a:srgbClr val="1F2937"/>
                          </a:solidFill>
                          <a:latin typeface="Arial"/>
                        </a:rPr>
                        <a:t>Saw cut</a:t>
                      </a:r>
                    </a:p>
                  </a:txBody>
                  <a:tcPr marL="45720" marR="45720" marT="18000" marB="18000" anchor="ctr">
                    <a:noFill/>
                  </a:tcPr>
                </a:tc>
                <a:tc>
                  <a:txBody>
                    <a:bodyPr/>
                    <a:lstStyle/>
                    <a:p>
                      <a:r>
                        <a:rPr sz="900" b="0">
                          <a:solidFill>
                            <a:srgbClr val="1F2937"/>
                          </a:solidFill>
                          <a:latin typeface="Arial"/>
                        </a:rPr>
                        <a:t>1003</a:t>
                      </a:r>
                    </a:p>
                  </a:txBody>
                  <a:tcPr marL="45720" marR="45720" marT="18000" marB="18000" anchor="ctr">
                    <a:noFill/>
                  </a:tcPr>
                </a:tc>
                <a:extLst>
                  <a:ext uri="{0D108BD9-81ED-4DB2-BD59-A6C34878D82A}">
                    <a16:rowId xmlns:a16="http://schemas.microsoft.com/office/drawing/2014/main" val="10003"/>
                  </a:ext>
                </a:extLst>
              </a:tr>
              <a:tr h="219456">
                <a:tc>
                  <a:txBody>
                    <a:bodyPr/>
                    <a:lstStyle/>
                    <a:p>
                      <a:r>
                        <a:rPr sz="900" b="0">
                          <a:solidFill>
                            <a:srgbClr val="1F2937"/>
                          </a:solidFill>
                          <a:latin typeface="Arial"/>
                        </a:rPr>
                        <a:t>TOTAL</a:t>
                      </a:r>
                    </a:p>
                  </a:txBody>
                  <a:tcPr marL="45720" marR="45720" marT="18000" marB="18000" anchor="ctr">
                    <a:noFill/>
                  </a:tcPr>
                </a:tc>
                <a:tc>
                  <a:txBody>
                    <a:bodyPr/>
                    <a:lstStyle/>
                    <a:p>
                      <a:r>
                        <a:rPr sz="900" b="0">
                          <a:solidFill>
                            <a:srgbClr val="1F2937"/>
                          </a:solidFill>
                          <a:latin typeface="Arial"/>
                        </a:rPr>
                        <a:t>19 No.</a:t>
                      </a:r>
                    </a:p>
                  </a:txBody>
                  <a:tcPr marL="45720" marR="45720" marT="18000" marB="18000" anchor="ctr">
                    <a:noFill/>
                  </a:tcPr>
                </a:tc>
                <a:tc>
                  <a:txBody>
                    <a:bodyPr/>
                    <a:lstStyle/>
                    <a:p>
                      <a:r>
                        <a:rPr sz="900" b="0">
                          <a:solidFill>
                            <a:srgbClr val="1F2937"/>
                          </a:solidFill>
                          <a:latin typeface="Arial"/>
                        </a:rPr>
                        <a:t>11 No. — 6 @ 8" · 5 @ 12"</a:t>
                      </a:r>
                    </a:p>
                  </a:txBody>
                  <a:tcPr marL="45720" marR="45720" marT="18000" marB="18000" anchor="ctr">
                    <a:noFill/>
                  </a:tcPr>
                </a:tc>
                <a:tc>
                  <a:txBody>
                    <a:bodyPr/>
                    <a:lstStyle/>
                    <a:p>
                      <a:r>
                        <a:rPr sz="900" b="0">
                          <a:solidFill>
                            <a:srgbClr val="1F2937"/>
                          </a:solidFill>
                          <a:latin typeface="Arial"/>
                        </a:rPr>
                        <a:t>13 No. new side-entry bases</a:t>
                      </a:r>
                    </a:p>
                  </a:txBody>
                  <a:tcPr marL="45720" marR="45720" marT="18000" marB="18000" anchor="ctr">
                    <a:noFill/>
                  </a:tcPr>
                </a:tc>
                <a:tc>
                  <a:txBody>
                    <a:bodyPr/>
                    <a:lstStyle/>
                    <a:p>
                      <a:r>
                        <a:rPr sz="900" b="0">
                          <a:solidFill>
                            <a:srgbClr val="1F2937"/>
                          </a:solidFill>
                          <a:latin typeface="Arial"/>
                        </a:rPr>
                        <a:t>Saw cut</a:t>
                      </a:r>
                    </a:p>
                  </a:txBody>
                  <a:tcPr marL="45720" marR="45720" marT="18000" marB="18000" anchor="ctr">
                    <a:noFill/>
                  </a:tcPr>
                </a:tc>
                <a:tc>
                  <a:txBody>
                    <a:bodyPr/>
                    <a:lstStyle/>
                    <a:p>
                      <a:r>
                        <a:rPr sz="900" b="0" dirty="0">
                          <a:solidFill>
                            <a:srgbClr val="1F2937"/>
                          </a:solidFill>
                          <a:latin typeface="Arial"/>
                        </a:rPr>
                        <a:t>—</a:t>
                      </a:r>
                    </a:p>
                  </a:txBody>
                  <a:tcPr marL="45720" marR="45720" marT="18000" marB="18000" anchor="ctr">
                    <a:noFill/>
                  </a:tcPr>
                </a:tc>
                <a:extLst>
                  <a:ext uri="{0D108BD9-81ED-4DB2-BD59-A6C34878D82A}">
                    <a16:rowId xmlns:a16="http://schemas.microsoft.com/office/drawing/2014/main" val="10004"/>
                  </a:ext>
                </a:extLst>
              </a:tr>
            </a:tbl>
          </a:graphicData>
        </a:graphic>
      </p:graphicFrame>
      <p:sp>
        <p:nvSpPr>
          <p:cNvPr id="13" name="P08 PANEL · WHAT THE SAW CUT DETAIL MUST"/>
          <p:cNvSpPr/>
          <p:nvPr/>
        </p:nvSpPr>
        <p:spPr>
          <a:xfrm>
            <a:off x="7699248" y="914400"/>
            <a:ext cx="6958584" cy="5578407"/>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45552" y="1024128"/>
            <a:ext cx="6665976" cy="237744"/>
          </a:xfrm>
          <a:prstGeom prst="rect">
            <a:avLst/>
          </a:prstGeom>
          <a:noFill/>
        </p:spPr>
        <p:txBody>
          <a:bodyPr wrap="square" lIns="0" tIns="0" rIns="0" bIns="0">
            <a:spAutoFit/>
          </a:bodyPr>
          <a:lstStyle/>
          <a:p>
            <a:r>
              <a:rPr sz="950" b="1">
                <a:solidFill>
                  <a:srgbClr val="1E2761"/>
                </a:solidFill>
                <a:latin typeface="Arial"/>
              </a:rPr>
              <a:t>WHAT THE SAW CUT DETAIL MUST ANSWER BEFORE IT CAN BE BUILT TO</a:t>
            </a:r>
          </a:p>
        </p:txBody>
      </p:sp>
      <p:sp>
        <p:nvSpPr>
          <p:cNvPr id="15" name="TextBox 14"/>
          <p:cNvSpPr txBox="1"/>
          <p:nvPr/>
        </p:nvSpPr>
        <p:spPr>
          <a:xfrm>
            <a:off x="7845552" y="1389888"/>
            <a:ext cx="6665976" cy="2615184"/>
          </a:xfrm>
          <a:prstGeom prst="rect">
            <a:avLst/>
          </a:prstGeom>
          <a:noFill/>
        </p:spPr>
        <p:txBody>
          <a:bodyPr wrap="square" lIns="0" tIns="0" rIns="0" bIns="0">
            <a:spAutoFit/>
          </a:bodyPr>
          <a:lstStyle/>
          <a:p>
            <a:pPr>
              <a:spcAft>
                <a:spcPts val="900"/>
              </a:spcAft>
            </a:pPr>
            <a:r>
              <a:rPr sz="1050" b="1">
                <a:solidFill>
                  <a:srgbClr val="1E2761"/>
                </a:solidFill>
                <a:latin typeface="Arial"/>
              </a:rPr>
              <a:t>Cut geometry</a:t>
            </a:r>
          </a:p>
          <a:p>
            <a:pPr>
              <a:spcAft>
                <a:spcPts val="900"/>
              </a:spcAft>
            </a:pPr>
            <a:r>
              <a:rPr sz="1050" b="0">
                <a:solidFill>
                  <a:srgbClr val="1F2937"/>
                </a:solidFill>
                <a:latin typeface="Arial"/>
              </a:rPr>
              <a:t>1.  Saw cut width and depth, and the tolerance on each.</a:t>
            </a:r>
          </a:p>
          <a:p>
            <a:pPr>
              <a:spcAft>
                <a:spcPts val="900"/>
              </a:spcAft>
            </a:pPr>
            <a:r>
              <a:rPr sz="1050" b="0">
                <a:solidFill>
                  <a:srgbClr val="1F2937"/>
                </a:solidFill>
                <a:latin typeface="Arial"/>
              </a:rPr>
              <a:t>2.  Minimum cover from finished pavement surface to the top of the new secondary cable.</a:t>
            </a:r>
          </a:p>
          <a:p>
            <a:pPr>
              <a:spcAft>
                <a:spcPts val="900"/>
              </a:spcAft>
            </a:pPr>
            <a:r>
              <a:rPr sz="1050" b="0">
                <a:solidFill>
                  <a:srgbClr val="1F2937"/>
                </a:solidFill>
                <a:latin typeface="Arial"/>
              </a:rPr>
              <a:t>3.  Cut termination at the light base — how the cut meets the side entry, and the radius or chamfer at the entry.</a:t>
            </a:r>
          </a:p>
          <a:p>
            <a:pPr>
              <a:spcAft>
                <a:spcPts val="900"/>
              </a:spcAft>
            </a:pPr>
            <a:r>
              <a:rPr sz="1050" b="0">
                <a:solidFill>
                  <a:srgbClr val="1F2937"/>
                </a:solidFill>
                <a:latin typeface="Arial"/>
              </a:rPr>
              <a:t>4.  Minimum offset from slab joints, existing cuts and the milling edge, and what to do where the cut would run within that offset.</a:t>
            </a:r>
          </a:p>
          <a:p>
            <a:pPr>
              <a:spcAft>
                <a:spcPts val="900"/>
              </a:spcAft>
            </a:pPr>
            <a:r>
              <a:rPr sz="1050" b="1">
                <a:solidFill>
                  <a:srgbClr val="1E2761"/>
                </a:solidFill>
                <a:latin typeface="Arial"/>
              </a:rPr>
              <a:t>Cable and backfill</a:t>
            </a:r>
          </a:p>
          <a:p>
            <a:pPr>
              <a:spcAft>
                <a:spcPts val="900"/>
              </a:spcAft>
            </a:pPr>
            <a:r>
              <a:rPr sz="1050" b="0">
                <a:solidFill>
                  <a:srgbClr val="1F2937"/>
                </a:solidFill>
                <a:latin typeface="Arial"/>
              </a:rPr>
              <a:t>5.  Cable protection within the cut — sleeve, tape or direct — and its fixing.</a:t>
            </a:r>
          </a:p>
          <a:p>
            <a:pPr>
              <a:spcAft>
                <a:spcPts val="900"/>
              </a:spcAft>
            </a:pPr>
            <a:r>
              <a:rPr sz="1050" b="0">
                <a:solidFill>
                  <a:srgbClr val="1F2937"/>
                </a:solidFill>
                <a:latin typeface="Arial"/>
              </a:rPr>
              <a:t>6.  Backfill and sealant specification, layer by layer, with cure time before the area returns to operational service.</a:t>
            </a:r>
          </a:p>
          <a:p>
            <a:pPr>
              <a:spcAft>
                <a:spcPts val="900"/>
              </a:spcAft>
            </a:pPr>
            <a:r>
              <a:rPr sz="1050" b="0">
                <a:solidFill>
                  <a:srgbClr val="1F2937"/>
                </a:solidFill>
                <a:latin typeface="Arial"/>
              </a:rPr>
              <a:t>7.  Reinstatement of the pavement surface and the finished surface tolerance.</a:t>
            </a:r>
          </a:p>
          <a:p>
            <a:pPr>
              <a:spcAft>
                <a:spcPts val="900"/>
              </a:spcAft>
            </a:pPr>
            <a:r>
              <a:rPr sz="1050" b="1">
                <a:solidFill>
                  <a:srgbClr val="1E2761"/>
                </a:solidFill>
                <a:latin typeface="Arial"/>
              </a:rPr>
              <a:t>Transition</a:t>
            </a:r>
          </a:p>
          <a:p>
            <a:pPr>
              <a:spcAft>
                <a:spcPts val="900"/>
              </a:spcAft>
            </a:pPr>
            <a:r>
              <a:rPr sz="1050" b="0">
                <a:solidFill>
                  <a:srgbClr val="B3261E"/>
                </a:solidFill>
                <a:latin typeface="Arial"/>
              </a:rPr>
              <a:t>8.  How the saw cut route terminates at the edge of the milling area, where the existing 4 x 19 mm duct continues into the non-construction area. Saw cut for the full affected length is agreed, so no duct transition is made; the detail is to show the termination and the seal at that point.</a:t>
            </a:r>
          </a:p>
          <a:p>
            <a:pPr>
              <a:spcAft>
                <a:spcPts val="900"/>
              </a:spcAft>
            </a:pPr>
            <a:r>
              <a:rPr sz="1050" b="0">
                <a:solidFill>
                  <a:srgbClr val="B3261E"/>
                </a:solidFill>
                <a:latin typeface="Arial"/>
              </a:rPr>
              <a:t>9.  Treatment where the saw cut crosses the existing 4 x 19 mm secondary duct bank exposed at 50 mm milling depth, which is left in place.</a:t>
            </a:r>
          </a:p>
          <a:p>
            <a:pPr>
              <a:spcAft>
                <a:spcPts val="900"/>
              </a:spcAft>
            </a:pPr>
            <a:r>
              <a:rPr sz="1050" b="0">
                <a:solidFill>
                  <a:srgbClr val="B3261E"/>
                </a:solidFill>
                <a:latin typeface="Arial"/>
              </a:rPr>
              <a:t>Items 8 and 9 are the two that go beyond plain detailing. Item 8 follows from the agreed saw cut arrangement and governs the ends of every run. Item 9 is a physical clash with a duct bank already found in the field at 50 mm. Both are to be resolved in the detail rather than on site.</a:t>
            </a:r>
          </a:p>
        </p:txBody>
      </p:sp>
      <p:sp>
        <p:nvSpPr>
          <p:cNvPr id="16" name="TextBox 15"/>
          <p:cNvSpPr txBox="1"/>
          <p:nvPr/>
        </p:nvSpPr>
        <p:spPr>
          <a:xfrm>
            <a:off x="457200" y="10149840"/>
            <a:ext cx="14173200" cy="365760"/>
          </a:xfrm>
          <a:prstGeom prst="rect">
            <a:avLst/>
          </a:prstGeom>
          <a:noFill/>
        </p:spPr>
        <p:txBody>
          <a:bodyPr wrap="square" lIns="0" tIns="0" rIns="0" bIns="0">
            <a:spAutoFit/>
          </a:bodyPr>
          <a:lstStyle/>
          <a:p>
            <a:r>
              <a:rPr sz="750">
                <a:solidFill>
                  <a:srgbClr val="5F6368"/>
                </a:solidFill>
                <a:latin typeface="Arial"/>
              </a:rPr>
              <a:t>This sheet is a HOLD. It states what the awaited detail has to resolve and the quantities that depend on it; it does not show a section, because none has been issued yet. Quantities are per the Rev P08 final scope of work (30.07.2026) and are for check by the Engineer.     ·     AUH-SK-AGL-TWYE-001 REV P08 (FINAL SCOPE)  ·  Prepared: Mohammed Faheem, AGL Team Leader — ADB SAFEGATE  ·  Approved: Ragesh Menon, AGL Manager</a:t>
            </a:r>
          </a:p>
        </p:txBody>
      </p:sp>
      <p:pic>
        <p:nvPicPr>
          <p:cNvPr id="17" name="ADB SAFEGATE LOGO" descr="logo-adb.png"/>
          <p:cNvPicPr>
            <a:picLocks noChangeAspect="1"/>
          </p:cNvPicPr>
          <p:nvPr/>
        </p:nvPicPr>
        <p:blipFill>
          <a:blip r:embed="rId2"/>
          <a:stretch>
            <a:fillRect/>
          </a:stretch>
        </p:blipFill>
        <p:spPr>
          <a:xfrm>
            <a:off x="13372092" y="265430"/>
            <a:ext cx="1258308" cy="4343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74320"/>
            <a:ext cx="12473200" cy="502920"/>
          </a:xfrm>
          <a:prstGeom prst="rect">
            <a:avLst/>
          </a:prstGeom>
          <a:noFill/>
        </p:spPr>
        <p:txBody>
          <a:bodyPr wrap="square" lIns="0" rIns="0" tIns="0" bIns="0">
            <a:spAutoFit/>
          </a:bodyPr>
          <a:lstStyle/>
          <a:p>
            <a:pPr>
              <a:spcAft>
                <a:spcPts val="400"/>
              </a:spcAft>
            </a:pPr>
            <a:r>
              <a:rPr sz="2000" b="1" i="0">
                <a:solidFill>
                  <a:srgbClr val="1E2761"/>
                </a:solidFill>
                <a:latin typeface="Arial"/>
              </a:rPr>
              <a:t>AGL INSTALLATION — 5-DAY WORK SCHEDULE  ·  TWY E (E4–E6)  ·  REV P08 (FINAL SCOPE)</a:t>
            </a:r>
          </a:p>
        </p:txBody>
      </p:sp>
      <p:pic>
        <p:nvPicPr>
          <p:cNvPr id="3" name="ADB SAFEGATE LOGO" descr="logo-adb.png"/>
          <p:cNvPicPr>
            <a:picLocks noChangeAspect="1"/>
          </p:cNvPicPr>
          <p:nvPr/>
        </p:nvPicPr>
        <p:blipFill>
          <a:blip r:embed="rId2"/>
          <a:stretch>
            <a:fillRect/>
          </a:stretch>
        </p:blipFill>
        <p:spPr>
          <a:xfrm>
            <a:off x="13372092" y="265430"/>
            <a:ext cx="1258308" cy="434340"/>
          </a:xfrm>
          <a:prstGeom prst="rect">
            <a:avLst/>
          </a:prstGeom>
        </p:spPr>
      </p:pic>
      <p:sp>
        <p:nvSpPr>
          <p:cNvPr id="4" name="DAY BOX 1"/>
          <p:cNvSpPr/>
          <p:nvPr/>
        </p:nvSpPr>
        <p:spPr>
          <a:xfrm>
            <a:off x="457200" y="914400"/>
            <a:ext cx="2724912" cy="94107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DAY BAR 1"/>
          <p:cNvSpPr/>
          <p:nvPr/>
        </p:nvSpPr>
        <p:spPr>
          <a:xfrm>
            <a:off x="457200" y="914400"/>
            <a:ext cx="2724912" cy="320040"/>
          </a:xfrm>
          <a:prstGeom prst="rect">
            <a:avLst/>
          </a:prstGeom>
          <a:solidFill>
            <a:srgbClr val="1E2761"/>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Arial"/>
              </a:rPr>
              <a:t>DAY 1</a:t>
            </a:r>
          </a:p>
        </p:txBody>
      </p:sp>
      <p:sp>
        <p:nvSpPr>
          <p:cNvPr id="6" name="DAY TXT 1"/>
          <p:cNvSpPr txBox="1"/>
          <p:nvPr/>
        </p:nvSpPr>
        <p:spPr>
          <a:xfrm>
            <a:off x="594360" y="1362456"/>
            <a:ext cx="2450592" cy="640080"/>
          </a:xfrm>
          <a:prstGeom prst="rect">
            <a:avLst/>
          </a:prstGeom>
          <a:noFill/>
        </p:spPr>
        <p:txBody>
          <a:bodyPr wrap="square" lIns="0" rIns="0" tIns="0" bIns="0">
            <a:spAutoFit/>
          </a:bodyPr>
          <a:lstStyle/>
          <a:p>
            <a:pPr>
              <a:spcAft>
                <a:spcPts val="400"/>
              </a:spcAft>
            </a:pPr>
            <a:r>
              <a:rPr sz="950" b="1" i="0">
                <a:solidFill>
                  <a:srgbClr val="1E2761"/>
                </a:solidFill>
                <a:latin typeface="Arial"/>
              </a:rPr>
              <a:t>SETTING-OUT &amp; SAW CUT START</a:t>
            </a:r>
          </a:p>
          <a:p>
            <a:pPr>
              <a:spcAft>
                <a:spcPts val="400"/>
              </a:spcAft>
            </a:pPr>
            <a:r>
              <a:rPr sz="850" b="0" i="0">
                <a:solidFill>
                  <a:srgbClr val="5F6368"/>
                </a:solidFill>
                <a:latin typeface="Arial"/>
              </a:rPr>
              <a:t>LOCATION 1  ·  SHEET 1001</a:t>
            </a:r>
          </a:p>
        </p:txBody>
      </p:sp>
      <p:sp>
        <p:nvSpPr>
          <p:cNvPr id="7" name="DAY BOX 2"/>
          <p:cNvSpPr/>
          <p:nvPr/>
        </p:nvSpPr>
        <p:spPr>
          <a:xfrm>
            <a:off x="3319272" y="914400"/>
            <a:ext cx="2724912" cy="94107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DAY BAR 2"/>
          <p:cNvSpPr/>
          <p:nvPr/>
        </p:nvSpPr>
        <p:spPr>
          <a:xfrm>
            <a:off x="3319272" y="914400"/>
            <a:ext cx="2724912" cy="320040"/>
          </a:xfrm>
          <a:prstGeom prst="rect">
            <a:avLst/>
          </a:prstGeom>
          <a:solidFill>
            <a:srgbClr val="1E2761"/>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Arial"/>
              </a:rPr>
              <a:t>DAY 2</a:t>
            </a:r>
          </a:p>
        </p:txBody>
      </p:sp>
      <p:sp>
        <p:nvSpPr>
          <p:cNvPr id="9" name="DAY TXT 2"/>
          <p:cNvSpPr txBox="1"/>
          <p:nvPr/>
        </p:nvSpPr>
        <p:spPr>
          <a:xfrm>
            <a:off x="3456432" y="1362456"/>
            <a:ext cx="2450592" cy="640080"/>
          </a:xfrm>
          <a:prstGeom prst="rect">
            <a:avLst/>
          </a:prstGeom>
          <a:noFill/>
        </p:spPr>
        <p:txBody>
          <a:bodyPr wrap="square" lIns="0" rIns="0" tIns="0" bIns="0">
            <a:spAutoFit/>
          </a:bodyPr>
          <a:lstStyle/>
          <a:p>
            <a:pPr>
              <a:spcAft>
                <a:spcPts val="400"/>
              </a:spcAft>
            </a:pPr>
            <a:r>
              <a:rPr sz="950" b="1" i="0">
                <a:solidFill>
                  <a:srgbClr val="1E2761"/>
                </a:solidFill>
                <a:latin typeface="Arial"/>
              </a:rPr>
              <a:t>SAW CUT COMPLETE · NEW BASES</a:t>
            </a:r>
          </a:p>
          <a:p>
            <a:pPr>
              <a:spcAft>
                <a:spcPts val="400"/>
              </a:spcAft>
            </a:pPr>
            <a:r>
              <a:rPr sz="850" b="0" i="0">
                <a:solidFill>
                  <a:srgbClr val="5F6368"/>
                </a:solidFill>
                <a:latin typeface="Arial"/>
              </a:rPr>
              <a:t>LOCATION 1  ·  SHEET 1001</a:t>
            </a:r>
          </a:p>
        </p:txBody>
      </p:sp>
      <p:sp>
        <p:nvSpPr>
          <p:cNvPr id="10" name="DAY BOX 3"/>
          <p:cNvSpPr/>
          <p:nvPr/>
        </p:nvSpPr>
        <p:spPr>
          <a:xfrm>
            <a:off x="6181344" y="914400"/>
            <a:ext cx="2724912" cy="94107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DAY BAR 3"/>
          <p:cNvSpPr/>
          <p:nvPr/>
        </p:nvSpPr>
        <p:spPr>
          <a:xfrm>
            <a:off x="6181344" y="914400"/>
            <a:ext cx="2724912" cy="320040"/>
          </a:xfrm>
          <a:prstGeom prst="rect">
            <a:avLst/>
          </a:prstGeom>
          <a:solidFill>
            <a:srgbClr val="1E2761"/>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Arial"/>
              </a:rPr>
              <a:t>DAY 3</a:t>
            </a:r>
          </a:p>
        </p:txBody>
      </p:sp>
      <p:sp>
        <p:nvSpPr>
          <p:cNvPr id="12" name="DAY TXT 3"/>
          <p:cNvSpPr txBox="1"/>
          <p:nvPr/>
        </p:nvSpPr>
        <p:spPr>
          <a:xfrm>
            <a:off x="6318504" y="1362456"/>
            <a:ext cx="2450592" cy="640080"/>
          </a:xfrm>
          <a:prstGeom prst="rect">
            <a:avLst/>
          </a:prstGeom>
          <a:noFill/>
        </p:spPr>
        <p:txBody>
          <a:bodyPr wrap="square" lIns="0" rIns="0" tIns="0" bIns="0">
            <a:spAutoFit/>
          </a:bodyPr>
          <a:lstStyle/>
          <a:p>
            <a:pPr>
              <a:spcAft>
                <a:spcPts val="400"/>
              </a:spcAft>
            </a:pPr>
            <a:r>
              <a:rPr sz="950" b="1" i="0">
                <a:solidFill>
                  <a:srgbClr val="1E2761"/>
                </a:solidFill>
                <a:latin typeface="Arial"/>
              </a:rPr>
              <a:t>CABLE, TEST &amp; REINSTATEMENT</a:t>
            </a:r>
          </a:p>
          <a:p>
            <a:pPr>
              <a:spcAft>
                <a:spcPts val="400"/>
              </a:spcAft>
            </a:pPr>
            <a:r>
              <a:rPr sz="850" b="0" i="0">
                <a:solidFill>
                  <a:srgbClr val="5F6368"/>
                </a:solidFill>
                <a:latin typeface="Arial"/>
              </a:rPr>
              <a:t>LOCATION 1  ·  SHEET 1001</a:t>
            </a:r>
          </a:p>
        </p:txBody>
      </p:sp>
      <p:sp>
        <p:nvSpPr>
          <p:cNvPr id="13" name="DAY BOX 4"/>
          <p:cNvSpPr/>
          <p:nvPr/>
        </p:nvSpPr>
        <p:spPr>
          <a:xfrm>
            <a:off x="9043416" y="914400"/>
            <a:ext cx="2724912" cy="94107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DAY BAR 4"/>
          <p:cNvSpPr/>
          <p:nvPr/>
        </p:nvSpPr>
        <p:spPr>
          <a:xfrm>
            <a:off x="9043416" y="914400"/>
            <a:ext cx="2724912" cy="320040"/>
          </a:xfrm>
          <a:prstGeom prst="rect">
            <a:avLst/>
          </a:prstGeom>
          <a:solidFill>
            <a:srgbClr val="1E2761"/>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Arial"/>
              </a:rPr>
              <a:t>DAY 4</a:t>
            </a:r>
          </a:p>
        </p:txBody>
      </p:sp>
      <p:sp>
        <p:nvSpPr>
          <p:cNvPr id="15" name="DAY TXT 4"/>
          <p:cNvSpPr txBox="1"/>
          <p:nvPr/>
        </p:nvSpPr>
        <p:spPr>
          <a:xfrm>
            <a:off x="9180576" y="1362456"/>
            <a:ext cx="2450592" cy="640080"/>
          </a:xfrm>
          <a:prstGeom prst="rect">
            <a:avLst/>
          </a:prstGeom>
          <a:noFill/>
        </p:spPr>
        <p:txBody>
          <a:bodyPr wrap="square" lIns="0" rIns="0" tIns="0" bIns="0">
            <a:spAutoFit/>
          </a:bodyPr>
          <a:lstStyle/>
          <a:p>
            <a:pPr>
              <a:spcAft>
                <a:spcPts val="400"/>
              </a:spcAft>
            </a:pPr>
            <a:r>
              <a:rPr sz="950" b="1" i="0">
                <a:solidFill>
                  <a:srgbClr val="1E2761"/>
                </a:solidFill>
                <a:latin typeface="Arial"/>
              </a:rPr>
              <a:t>FULL CYCLE — CUT TO SEALED</a:t>
            </a:r>
          </a:p>
          <a:p>
            <a:pPr>
              <a:spcAft>
                <a:spcPts val="400"/>
              </a:spcAft>
            </a:pPr>
            <a:r>
              <a:rPr sz="850" b="0" i="0">
                <a:solidFill>
                  <a:srgbClr val="5F6368"/>
                </a:solidFill>
                <a:latin typeface="Arial"/>
              </a:rPr>
              <a:t>LOCATION 3  ·  SHEET 1003</a:t>
            </a:r>
          </a:p>
        </p:txBody>
      </p:sp>
      <p:sp>
        <p:nvSpPr>
          <p:cNvPr id="16" name="DAY BOX 5"/>
          <p:cNvSpPr/>
          <p:nvPr/>
        </p:nvSpPr>
        <p:spPr>
          <a:xfrm>
            <a:off x="11905488" y="914400"/>
            <a:ext cx="2724912" cy="94107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DAY BAR 5"/>
          <p:cNvSpPr/>
          <p:nvPr/>
        </p:nvSpPr>
        <p:spPr>
          <a:xfrm>
            <a:off x="11905488" y="914400"/>
            <a:ext cx="2724912" cy="320040"/>
          </a:xfrm>
          <a:prstGeom prst="rect">
            <a:avLst/>
          </a:prstGeom>
          <a:solidFill>
            <a:srgbClr val="1E2761"/>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Arial"/>
              </a:rPr>
              <a:t>DAY 5</a:t>
            </a:r>
          </a:p>
        </p:txBody>
      </p:sp>
      <p:sp>
        <p:nvSpPr>
          <p:cNvPr id="18" name="DAY TXT 5"/>
          <p:cNvSpPr txBox="1"/>
          <p:nvPr/>
        </p:nvSpPr>
        <p:spPr>
          <a:xfrm>
            <a:off x="12042648" y="1362456"/>
            <a:ext cx="2450592" cy="640080"/>
          </a:xfrm>
          <a:prstGeom prst="rect">
            <a:avLst/>
          </a:prstGeom>
          <a:noFill/>
        </p:spPr>
        <p:txBody>
          <a:bodyPr wrap="square" lIns="0" rIns="0" tIns="0" bIns="0">
            <a:spAutoFit/>
          </a:bodyPr>
          <a:lstStyle/>
          <a:p>
            <a:pPr>
              <a:spcAft>
                <a:spcPts val="400"/>
              </a:spcAft>
            </a:pPr>
            <a:r>
              <a:rPr sz="950" b="1" i="0">
                <a:solidFill>
                  <a:srgbClr val="1E2761"/>
                </a:solidFill>
                <a:latin typeface="Arial"/>
              </a:rPr>
              <a:t>FULL CYCLE + T&amp;C &amp; HANDOVER</a:t>
            </a:r>
          </a:p>
          <a:p>
            <a:pPr>
              <a:spcAft>
                <a:spcPts val="400"/>
              </a:spcAft>
            </a:pPr>
            <a:r>
              <a:rPr sz="850" b="0" i="0">
                <a:solidFill>
                  <a:srgbClr val="5F6368"/>
                </a:solidFill>
                <a:latin typeface="Arial"/>
              </a:rPr>
              <a:t>LOCATION 2  ·  SHEET 1002</a:t>
            </a:r>
          </a:p>
        </p:txBody>
      </p:sp>
      <p:sp>
        <p:nvSpPr>
          <p:cNvPr id="19" name="P08 PANEL · FIVE-DAY PROGRAMME"/>
          <p:cNvSpPr/>
          <p:nvPr/>
        </p:nvSpPr>
        <p:spPr>
          <a:xfrm>
            <a:off x="457200" y="2129790"/>
            <a:ext cx="14173200" cy="447572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SCHED HDR"/>
          <p:cNvSpPr txBox="1"/>
          <p:nvPr/>
        </p:nvSpPr>
        <p:spPr>
          <a:xfrm>
            <a:off x="603504" y="2239518"/>
            <a:ext cx="13880592" cy="237744"/>
          </a:xfrm>
          <a:prstGeom prst="rect">
            <a:avLst/>
          </a:prstGeom>
          <a:noFill/>
        </p:spPr>
        <p:txBody>
          <a:bodyPr wrap="square" lIns="0" rIns="0" tIns="0" bIns="0">
            <a:spAutoFit/>
          </a:bodyPr>
          <a:lstStyle/>
          <a:p>
            <a:pPr>
              <a:spcAft>
                <a:spcPts val="400"/>
              </a:spcAft>
            </a:pPr>
            <a:r>
              <a:rPr sz="950" b="1" i="0">
                <a:solidFill>
                  <a:srgbClr val="1E2761"/>
                </a:solidFill>
                <a:latin typeface="Arial"/>
              </a:rPr>
              <a:t>FIVE-DAY PROGRAMME — PHASE 3 AGL INSTALLATION</a:t>
            </a:r>
          </a:p>
        </p:txBody>
      </p:sp>
      <p:graphicFrame>
        <p:nvGraphicFramePr>
          <p:cNvPr id="21" name="Table SCHEDULE"/>
          <p:cNvGraphicFramePr>
            <a:graphicFrameLocks noGrp="1"/>
          </p:cNvGraphicFramePr>
          <p:nvPr/>
        </p:nvGraphicFramePr>
        <p:xfrm>
          <a:off x="603504" y="2605278"/>
          <a:ext cx="13880592" cy="3863072"/>
        </p:xfrm>
        <a:graphic>
          <a:graphicData uri="http://schemas.openxmlformats.org/drawingml/2006/table">
            <a:tbl>
              <a:tblPr>
                <a:tableStyleId>{5C22544A-7EE6-4342-B048-85BDC9FD1C3A}</a:tableStyleId>
              </a:tblPr>
              <a:tblGrid>
                <a:gridCol w="640080"/>
                <a:gridCol w="4297680"/>
                <a:gridCol w="1371600"/>
                <a:gridCol w="1600200"/>
                <a:gridCol w="1828800"/>
                <a:gridCol w="4142232"/>
              </a:tblGrid>
              <a:tr h="241442">
                <a:tc>
                  <a:txBody>
                    <a:bodyPr/>
                    <a:lstStyle/>
                    <a:p>
                      <a:r>
                        <a:rPr sz="900" b="1" i="0">
                          <a:solidFill>
                            <a:srgbClr val="FFFFFF"/>
                          </a:solidFill>
                          <a:latin typeface="Arial"/>
                        </a:rPr>
                        <a:t>Day</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Phase 3 activity</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Location</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Quantity</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Hold point / witness</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Output at the end of the shift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r>
              <a:tr h="241442">
                <a:tc>
                  <a:txBody>
                    <a:bodyPr/>
                    <a:lstStyle/>
                    <a:p>
                      <a:r>
                        <a:rPr sz="800" b="1" i="0">
                          <a:solidFill>
                            <a:srgbClr val="1F2937"/>
                          </a:solidFill>
                          <a:latin typeface="Arial"/>
                        </a:rPr>
                        <a:t>1</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Setting-out from the civil survey points — all three locations in one visit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LOC-01 / 02 / 03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3 No. locations</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H2 — civil survey</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Field points confirmed and marked at all three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241442">
                <a:tc>
                  <a:txBody>
                    <a:bodyPr/>
                    <a:lstStyle/>
                    <a:p>
                      <a:r>
                        <a:rPr sz="800" b="1" i="0">
                          <a:solidFill>
                            <a:srgbClr val="1F2937"/>
                          </a:solidFill>
                          <a:latin typeface="Arial"/>
                        </a:rPr>
                        <a:t>1</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Saw cutting — first part of the secondary cable route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LOC-01 · 1001</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approx. 150 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H5 — detail accepted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Half the LOC-01 route cut and covered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241442">
                <a:tc>
                  <a:txBody>
                    <a:bodyPr/>
                    <a:lstStyle/>
                    <a:p>
                      <a:r>
                        <a:rPr sz="800" b="1" i="0">
                          <a:solidFill>
                            <a:srgbClr val="1F2937"/>
                          </a:solidFill>
                          <a:latin typeface="Arial"/>
                        </a:rPr>
                        <a:t>2</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Saw cutting — balance of the route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LOC-01 · 1001</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approx. 150 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H5 — detail accepted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LOC-01 route cut in full</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r>
              <a:tr h="241442">
                <a:tc>
                  <a:txBody>
                    <a:bodyPr/>
                    <a:lstStyle/>
                    <a:p>
                      <a:r>
                        <a:rPr sz="800" b="1" i="0">
                          <a:solidFill>
                            <a:srgbClr val="1F2937"/>
                          </a:solidFill>
                          <a:latin typeface="Arial"/>
                        </a:rPr>
                        <a:t>2</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Set the new side-entry shallow bases in the cored positions</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LOC-01 · 1001</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11 No. 8"</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11 No. bases set and levelled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r>
              <a:tr h="241442">
                <a:tc>
                  <a:txBody>
                    <a:bodyPr/>
                    <a:lstStyle/>
                    <a:p>
                      <a:r>
                        <a:rPr sz="800" b="1" i="0">
                          <a:solidFill>
                            <a:srgbClr val="1F2937"/>
                          </a:solidFill>
                          <a:latin typeface="Arial"/>
                        </a:rPr>
                        <a:t>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Lay new secondary cable through the saw cut — no joints, manhole to light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LOC-01 · 1001</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14 No. runs</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LOC-01 cabled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241442">
                <a:tc>
                  <a:txBody>
                    <a:bodyPr/>
                    <a:lstStyle/>
                    <a:p>
                      <a:r>
                        <a:rPr sz="800" b="1" i="0">
                          <a:solidFill>
                            <a:srgbClr val="1F2937"/>
                          </a:solidFill>
                          <a:latin typeface="Arial"/>
                        </a:rPr>
                        <a:t>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Termination, insulation resistance and continuity testing</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LOC-01 · 1001</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14 No. fittings</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LOC-01 test records issued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241442">
                <a:tc>
                  <a:txBody>
                    <a:bodyPr/>
                    <a:lstStyle/>
                    <a:p>
                      <a:r>
                        <a:rPr sz="800" b="1" i="0">
                          <a:solidFill>
                            <a:srgbClr val="1F2937"/>
                          </a:solidFill>
                          <a:latin typeface="Arial"/>
                        </a:rPr>
                        <a:t>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Backfill, sealant and pavement reinstatement of the saw cut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LOC-01 · 1001</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approx. 300 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Per the awaited detail</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LOC-01 cut sealed; cure period started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241442">
                <a:tc>
                  <a:txBody>
                    <a:bodyPr/>
                    <a:lstStyle/>
                    <a:p>
                      <a:r>
                        <a:rPr sz="800" b="1" i="0">
                          <a:solidFill>
                            <a:srgbClr val="1F2937"/>
                          </a:solidFill>
                          <a:latin typeface="Arial"/>
                        </a:rPr>
                        <a:t>4</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Saw cutting — full route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LOC-03 · 1003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approx. 95 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H5 — detail accepted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LOC-03 route cut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r>
              <a:tr h="241442">
                <a:tc>
                  <a:txBody>
                    <a:bodyPr/>
                    <a:lstStyle/>
                    <a:p>
                      <a:r>
                        <a:rPr sz="800" b="1" i="0">
                          <a:solidFill>
                            <a:srgbClr val="1F2937"/>
                          </a:solidFill>
                          <a:latin typeface="Arial"/>
                        </a:rPr>
                        <a:t>4</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Set 1 No. new base; the balance takes side entry into its existing base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LOC-03 · 1003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1 No. 12" + 3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Bases ready to receive cable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r>
              <a:tr h="241442">
                <a:tc>
                  <a:txBody>
                    <a:bodyPr/>
                    <a:lstStyle/>
                    <a:p>
                      <a:r>
                        <a:rPr sz="800" b="1" i="0">
                          <a:solidFill>
                            <a:srgbClr val="1F2937"/>
                          </a:solidFill>
                          <a:latin typeface="Arial"/>
                        </a:rPr>
                        <a:t>4</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Cable, termination, insulation resistance and continuity testing</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LOC-03 · 1003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4 No. runs</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LOC-03 test records issued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r>
              <a:tr h="241442">
                <a:tc>
                  <a:txBody>
                    <a:bodyPr/>
                    <a:lstStyle/>
                    <a:p>
                      <a:r>
                        <a:rPr sz="800" b="1" i="0">
                          <a:solidFill>
                            <a:srgbClr val="1F2937"/>
                          </a:solidFill>
                          <a:latin typeface="Arial"/>
                        </a:rPr>
                        <a:t>4</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Reinstatement of the cut; re-fix RRM.557 and RRM.670</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LOC-03 · 1003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approx. 95 m · 2 No. RRM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Per the awaited detail</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00" b="0" i="0">
                          <a:solidFill>
                            <a:srgbClr val="1F2937"/>
                          </a:solidFill>
                          <a:latin typeface="Arial"/>
                        </a:rPr>
                        <a:t>LOC-03 sealed; RRMs re-fixed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r>
              <a:tr h="241442">
                <a:tc>
                  <a:txBody>
                    <a:bodyPr/>
                    <a:lstStyle/>
                    <a:p>
                      <a:r>
                        <a:rPr sz="800" b="1" i="0">
                          <a:solidFill>
                            <a:srgbClr val="1F2937"/>
                          </a:solidFill>
                          <a:latin typeface="Arial"/>
                        </a:rPr>
                        <a:t>5</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Saw cut, new base, cable, termination and testing</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LOC-02 · 1002</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approx. 24 m · 1 No. 12"</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H5 — detail accepted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LOC-02 complete and tested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241442">
                <a:tc>
                  <a:txBody>
                    <a:bodyPr/>
                    <a:lstStyle/>
                    <a:p>
                      <a:r>
                        <a:rPr sz="800" b="1" i="0">
                          <a:solidFill>
                            <a:srgbClr val="1F2937"/>
                          </a:solidFill>
                          <a:latin typeface="Arial"/>
                        </a:rPr>
                        <a:t>5</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Reinstatement of the cut; re-fix RRM.555</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LOC-02 · 1002</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approx. 24 m · 1 No. RRM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Per the awaited detail</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LOC-02 sealed; RRM re-fixed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241442">
                <a:tc>
                  <a:txBody>
                    <a:bodyPr/>
                    <a:lstStyle/>
                    <a:p>
                      <a:r>
                        <a:rPr sz="800" b="1" i="0">
                          <a:solidFill>
                            <a:srgbClr val="1F2937"/>
                          </a:solidFill>
                          <a:latin typeface="Arial"/>
                        </a:rPr>
                        <a:t>5</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Testing and commissioning at circuit level — affected and unaffected fittings alike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LOC-01 / 02 / 03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4 No. circuits</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Circuits energised and proved end to end</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241442">
                <a:tc>
                  <a:txBody>
                    <a:bodyPr/>
                    <a:lstStyle/>
                    <a:p>
                      <a:r>
                        <a:rPr sz="800" b="1" i="0">
                          <a:solidFill>
                            <a:srgbClr val="1F2937"/>
                          </a:solidFill>
                          <a:latin typeface="Arial"/>
                        </a:rPr>
                        <a:t>5</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Final functionality check, then handover to Operations</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LOC-01 / 02 / 03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19 No. fittings</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H4 — AGL / Operations</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00" b="0" i="0">
                          <a:solidFill>
                            <a:srgbClr val="1F2937"/>
                          </a:solidFill>
                          <a:latin typeface="Arial"/>
                        </a:rPr>
                        <a:t>Area returned to operational service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bl>
          </a:graphicData>
        </a:graphic>
      </p:graphicFrame>
      <p:sp>
        <p:nvSpPr>
          <p:cNvPr id="22" name="P08 PANEL · HOLD POINTS GOVERNING"/>
          <p:cNvSpPr/>
          <p:nvPr/>
        </p:nvSpPr>
        <p:spPr>
          <a:xfrm>
            <a:off x="457200" y="6788404"/>
            <a:ext cx="6958584" cy="3231896"/>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P08 PANEL · HOLD POINTS GOVERNING HDR"/>
          <p:cNvSpPr txBox="1"/>
          <p:nvPr/>
        </p:nvSpPr>
        <p:spPr>
          <a:xfrm>
            <a:off x="603504" y="6898132"/>
            <a:ext cx="6665976" cy="237744"/>
          </a:xfrm>
          <a:prstGeom prst="rect">
            <a:avLst/>
          </a:prstGeom>
          <a:noFill/>
        </p:spPr>
        <p:txBody>
          <a:bodyPr wrap="square" lIns="0" rIns="0" tIns="0" bIns="0">
            <a:spAutoFit/>
          </a:bodyPr>
          <a:lstStyle/>
          <a:p>
            <a:pPr>
              <a:spcAft>
                <a:spcPts val="400"/>
              </a:spcAft>
            </a:pPr>
            <a:r>
              <a:rPr sz="950" b="1" i="0">
                <a:solidFill>
                  <a:srgbClr val="1E2761"/>
                </a:solidFill>
                <a:latin typeface="Arial"/>
              </a:rPr>
              <a:t>HOLD POINTS GOVERNING THE PROGRAMME</a:t>
            </a:r>
          </a:p>
        </p:txBody>
      </p:sp>
      <p:sp>
        <p:nvSpPr>
          <p:cNvPr id="24" name="P08 PANEL · HOLD POINTS GOVERNING BODY"/>
          <p:cNvSpPr txBox="1"/>
          <p:nvPr/>
        </p:nvSpPr>
        <p:spPr>
          <a:xfrm>
            <a:off x="603504" y="7263892"/>
            <a:ext cx="6665976" cy="2619248"/>
          </a:xfrm>
          <a:prstGeom prst="rect">
            <a:avLst/>
          </a:prstGeom>
          <a:noFill/>
        </p:spPr>
        <p:txBody>
          <a:bodyPr wrap="square" lIns="0" rIns="0" tIns="0" bIns="0">
            <a:spAutoFit/>
          </a:bodyPr>
          <a:lstStyle/>
          <a:p>
            <a:pPr>
              <a:spcAft>
                <a:spcPts val="400"/>
              </a:spcAft>
            </a:pPr>
            <a:r>
              <a:rPr sz="950" b="0" i="0">
                <a:solidFill>
                  <a:srgbClr val="1F2937"/>
                </a:solidFill>
                <a:latin typeface="Arial"/>
              </a:rPr>
              <a:t>H1   Curing complete — Civil.  Written confirmation of the asphalt curing period. Required before Day 1 starts.</a:t>
            </a:r>
          </a:p>
          <a:p>
            <a:pPr>
              <a:spcAft>
                <a:spcPts val="400"/>
              </a:spcAft>
            </a:pPr>
            <a:r>
              <a:rPr sz="950" b="0" i="0">
                <a:solidFill>
                  <a:srgbClr val="1F2937"/>
                </a:solidFill>
                <a:latin typeface="Arial"/>
              </a:rPr>
              <a:t>H5   Saw cut detail — AGL / Engineer.  Detail drawing issued and accepted. Required before any cutting on Day 1.</a:t>
            </a:r>
          </a:p>
          <a:p>
            <a:pPr>
              <a:spcAft>
                <a:spcPts val="400"/>
              </a:spcAft>
            </a:pPr>
            <a:r>
              <a:rPr sz="950" b="0" i="0">
                <a:solidFill>
                  <a:srgbClr val="1F2937"/>
                </a:solidFill>
                <a:latin typeface="Arial"/>
              </a:rPr>
              <a:t>H2   Setting-out — Civil survey.  Coordinates issued and field points confirmed in the field. Day 1.</a:t>
            </a:r>
          </a:p>
          <a:p>
            <a:pPr>
              <a:spcAft>
                <a:spcPts val="400"/>
              </a:spcAft>
            </a:pPr>
            <a:r>
              <a:rPr sz="950" b="0" i="0">
                <a:solidFill>
                  <a:srgbClr val="1F2937"/>
                </a:solidFill>
                <a:latin typeface="Arial"/>
              </a:rPr>
              <a:t>H4   Functionality check — AGL / Operations.  Witnessed before handover. Day 5.</a:t>
            </a:r>
          </a:p>
          <a:p>
            <a:pPr>
              <a:spcAft>
                <a:spcPts val="400"/>
              </a:spcAft>
            </a:pPr>
            <a:r>
              <a:rPr sz="900" b="0" i="0">
                <a:solidFill>
                  <a:srgbClr val="1F2937"/>
                </a:solidFill>
                <a:latin typeface="Arial"/>
              </a:rPr>
              <a:t>H3 (mandrel test) sits in Phase 2 civil works and falls outside these five days.</a:t>
            </a:r>
          </a:p>
        </p:txBody>
      </p:sp>
      <p:sp>
        <p:nvSpPr>
          <p:cNvPr id="25" name="P08 PANEL · BASIS AND ASSUMPTIONS"/>
          <p:cNvSpPr/>
          <p:nvPr/>
        </p:nvSpPr>
        <p:spPr>
          <a:xfrm>
            <a:off x="7699248" y="6788404"/>
            <a:ext cx="6958584" cy="3231896"/>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P08 PANEL · BASIS AND ASSUMPTIONS HDR"/>
          <p:cNvSpPr txBox="1"/>
          <p:nvPr/>
        </p:nvSpPr>
        <p:spPr>
          <a:xfrm>
            <a:off x="7845552" y="6898132"/>
            <a:ext cx="6665976" cy="237744"/>
          </a:xfrm>
          <a:prstGeom prst="rect">
            <a:avLst/>
          </a:prstGeom>
          <a:noFill/>
        </p:spPr>
        <p:txBody>
          <a:bodyPr wrap="square" lIns="0" rIns="0" tIns="0" bIns="0">
            <a:spAutoFit/>
          </a:bodyPr>
          <a:lstStyle/>
          <a:p>
            <a:pPr>
              <a:spcAft>
                <a:spcPts val="400"/>
              </a:spcAft>
            </a:pPr>
            <a:r>
              <a:rPr sz="950" b="1" i="0">
                <a:solidFill>
                  <a:srgbClr val="1E2761"/>
                </a:solidFill>
                <a:latin typeface="Arial"/>
              </a:rPr>
              <a:t>BASIS, ASSUMPTIONS &amp; INDICATIVE RESOURCES</a:t>
            </a:r>
          </a:p>
        </p:txBody>
      </p:sp>
      <p:sp>
        <p:nvSpPr>
          <p:cNvPr id="27" name="P08 PANEL · BASIS AND ASSUMPTIONS BODY"/>
          <p:cNvSpPr txBox="1"/>
          <p:nvPr/>
        </p:nvSpPr>
        <p:spPr>
          <a:xfrm>
            <a:off x="7845552" y="7263892"/>
            <a:ext cx="6665976" cy="2619248"/>
          </a:xfrm>
          <a:prstGeom prst="rect">
            <a:avLst/>
          </a:prstGeom>
          <a:noFill/>
        </p:spPr>
        <p:txBody>
          <a:bodyPr wrap="square" lIns="0" rIns="0" tIns="0" bIns="0">
            <a:spAutoFit/>
          </a:bodyPr>
          <a:lstStyle/>
          <a:p>
            <a:pPr>
              <a:spcAft>
                <a:spcPts val="400"/>
              </a:spcAft>
            </a:pPr>
            <a:r>
              <a:rPr sz="900" b="0" i="0">
                <a:solidFill>
                  <a:srgbClr val="1F2937"/>
                </a:solidFill>
                <a:latin typeface="Arial"/>
              </a:rPr>
              <a:t>Covers Phase 3 AGL installation only. Phase 1 asset removal and coring is recorded complete (site record 23.07.2026); Phase 2 civil attendance sits outside these five days.</a:t>
            </a:r>
          </a:p>
          <a:p>
            <a:pPr>
              <a:spcAft>
                <a:spcPts val="400"/>
              </a:spcAft>
            </a:pPr>
            <a:r>
              <a:rPr sz="900" b="0" i="0">
                <a:solidFill>
                  <a:srgbClr val="1F2937"/>
                </a:solidFill>
                <a:latin typeface="Arial"/>
              </a:rPr>
              <a:t>The three locations are worked one front at a time — LOC-01 over Days 1–3, LOC-03 on Day 4, LOC-02 on Day 5 — so each is cut, cabled, tested and sealed before the next is opened. Days are allocated to the work each location carries: 14 No. fittings and approx. 300 m of cut at LOC-01, 4 No. and approx. 95 m at LOC-03, 1 No. and approx. 24 m at LOC-02.</a:t>
            </a:r>
          </a:p>
          <a:p>
            <a:pPr>
              <a:spcAft>
                <a:spcPts val="400"/>
              </a:spcAft>
            </a:pPr>
            <a:r>
              <a:rPr sz="900" b="0" i="0">
                <a:solidFill>
                  <a:srgbClr val="1F2937"/>
                </a:solidFill>
                <a:latin typeface="Arial"/>
              </a:rPr>
              <a:t>Only two items span all three locations: the setting-out on Day 1, taken in one survey visit, and the circuit testing and commissioning on Day 5, which cannot complete until every location is cabled because the circuits run through all three.</a:t>
            </a:r>
          </a:p>
          <a:p>
            <a:pPr>
              <a:spcAft>
                <a:spcPts val="400"/>
              </a:spcAft>
            </a:pPr>
            <a:r>
              <a:rPr sz="900" b="0" i="0">
                <a:solidFill>
                  <a:srgbClr val="1F2937"/>
                </a:solidFill>
                <a:latin typeface="Arial"/>
              </a:rPr>
              <a:t>One day = one approved working shift under the AWAN / PTW. The sequence holds for a day or a night closure; shift hours to be set against the approved airside window.</a:t>
            </a:r>
          </a:p>
          <a:p>
            <a:pPr>
              <a:spcAft>
                <a:spcPts val="400"/>
              </a:spcAft>
            </a:pPr>
            <a:r>
              <a:rPr sz="900" b="0" i="0">
                <a:solidFill>
                  <a:srgbClr val="1F2937"/>
                </a:solidFill>
                <a:latin typeface="Arial"/>
              </a:rPr>
              <a:t>The five days run consecutively from the release of H1 and H5. Neither is released at the date of this revision.</a:t>
            </a:r>
          </a:p>
          <a:p>
            <a:pPr>
              <a:spcAft>
                <a:spcPts val="400"/>
              </a:spcAft>
            </a:pPr>
            <a:r>
              <a:rPr sz="900" b="0" i="0">
                <a:solidFill>
                  <a:srgbClr val="1F2937"/>
                </a:solidFill>
                <a:latin typeface="Arial"/>
              </a:rPr>
              <a:t>Saw cut lengths scaled from sheets 1001–1003 — approx. 300 m, 24 m and 95 m, approx. 420 m in total. For programme only; confirm on site.</a:t>
            </a:r>
          </a:p>
          <a:p>
            <a:pPr>
              <a:spcAft>
                <a:spcPts val="400"/>
              </a:spcAft>
            </a:pPr>
            <a:r>
              <a:rPr sz="900" b="0" i="0">
                <a:solidFill>
                  <a:srgbClr val="1F2937"/>
                </a:solidFill>
                <a:latin typeface="Arial"/>
              </a:rPr>
              <a:t>Sealant cure time before the area returns to operational service is per the awaited saw cut detail. If it exceeds the Day 5 shift, handover moves to the following shift.</a:t>
            </a:r>
          </a:p>
          <a:p>
            <a:pPr>
              <a:spcAft>
                <a:spcPts val="400"/>
              </a:spcAft>
            </a:pPr>
            <a:r>
              <a:rPr sz="900" b="0" i="0">
                <a:solidFill>
                  <a:srgbClr val="1F2937"/>
                </a:solidFill>
                <a:latin typeface="Arial"/>
              </a:rPr>
              <a:t>Indicative resourcing per shift: 1 No. AGL supervisor, 4 No. AGL technicians, 2 No. saw cut operatives, 1 No. safety banksman; survey attendance Day 1, Operations attendance Day 5. To be confirmed against the approved AWAN.</a:t>
            </a:r>
          </a:p>
        </p:txBody>
      </p:sp>
      <p:sp>
        <p:nvSpPr>
          <p:cNvPr id="28" name="SHEET FOOTER"/>
          <p:cNvSpPr txBox="1"/>
          <p:nvPr/>
        </p:nvSpPr>
        <p:spPr>
          <a:xfrm>
            <a:off x="457200" y="10149840"/>
            <a:ext cx="14173200" cy="365760"/>
          </a:xfrm>
          <a:prstGeom prst="rect">
            <a:avLst/>
          </a:prstGeom>
          <a:noFill/>
        </p:spPr>
        <p:txBody>
          <a:bodyPr wrap="square" lIns="0" rIns="0" tIns="0" bIns="0">
            <a:spAutoFit/>
          </a:bodyPr>
          <a:lstStyle/>
          <a:p>
            <a:pPr>
              <a:spcAft>
                <a:spcPts val="400"/>
              </a:spcAft>
            </a:pPr>
            <a:r>
              <a:rPr sz="750" b="0" i="0">
                <a:solidFill>
                  <a:srgbClr val="5F6368"/>
                </a:solidFill>
                <a:latin typeface="Arial"/>
              </a:rPr>
              <a:t>Programme for the AGL installation phase. It is issued for planning and for co-ordination with the civil programme; it is not a construction instruction until the hold points above are released.     ·     AUH-SK-AGL-TWYE-001 REV P08 (FINAL SCOPE)  ·  Prepared: Mohammed Faheem, AGL Team Leader — ADB SAFEGATE  ·  Approved: Ragesh Menon, AGL Manager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74320"/>
            <a:ext cx="12473200" cy="502920"/>
          </a:xfrm>
          <a:prstGeom prst="rect">
            <a:avLst/>
          </a:prstGeom>
          <a:noFill/>
        </p:spPr>
        <p:txBody>
          <a:bodyPr wrap="none" lIns="0" rIns="0" tIns="0" bIns="0">
            <a:spAutoFit/>
          </a:bodyPr>
          <a:lstStyle/>
          <a:p>
            <a:pPr>
              <a:spcAft>
                <a:spcPts val="400"/>
              </a:spcAft>
            </a:pPr>
            <a:r>
              <a:rPr sz="2000" b="1" i="0">
                <a:solidFill>
                  <a:srgbClr val="1E2761"/>
                </a:solidFill>
                <a:latin typeface="Arial"/>
              </a:rPr>
              <a:t>WORKS QUANTITIES — CORING, SAW CUT &amp; SECONDARY CABLE  ·  TWY E (E4–E6)  ·  REV P08</a:t>
            </a:r>
          </a:p>
        </p:txBody>
      </p:sp>
      <p:pic>
        <p:nvPicPr>
          <p:cNvPr id="3" name="ADB SAFEGATE LOGO" descr="logo-adb.png"/>
          <p:cNvPicPr>
            <a:picLocks noChangeAspect="1"/>
          </p:cNvPicPr>
          <p:nvPr/>
        </p:nvPicPr>
        <p:blipFill>
          <a:blip r:embed="rId2"/>
          <a:stretch>
            <a:fillRect/>
          </a:stretch>
        </p:blipFill>
        <p:spPr>
          <a:xfrm>
            <a:off x="13372092" y="265430"/>
            <a:ext cx="1258308" cy="434340"/>
          </a:xfrm>
          <a:prstGeom prst="rect">
            <a:avLst/>
          </a:prstGeom>
        </p:spPr>
      </p:pic>
      <p:sp>
        <p:nvSpPr>
          <p:cNvPr id="4" name="QTY TILE 1"/>
          <p:cNvSpPr/>
          <p:nvPr/>
        </p:nvSpPr>
        <p:spPr>
          <a:xfrm>
            <a:off x="457200" y="914400"/>
            <a:ext cx="2724912" cy="100584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QTY TILE TXT 1"/>
          <p:cNvSpPr txBox="1"/>
          <p:nvPr/>
        </p:nvSpPr>
        <p:spPr>
          <a:xfrm>
            <a:off x="594360" y="1005840"/>
            <a:ext cx="2450592" cy="640080"/>
          </a:xfrm>
          <a:prstGeom prst="rect">
            <a:avLst/>
          </a:prstGeom>
          <a:noFill/>
        </p:spPr>
        <p:txBody>
          <a:bodyPr wrap="square" lIns="0" rIns="0" tIns="0" bIns="0">
            <a:spAutoFit/>
          </a:bodyPr>
          <a:lstStyle/>
          <a:p>
            <a:pPr>
              <a:spcAft>
                <a:spcPts val="400"/>
              </a:spcAft>
            </a:pPr>
            <a:r>
              <a:rPr sz="1800" b="1" i="0">
                <a:solidFill>
                  <a:srgbClr val="1E2761"/>
                </a:solidFill>
                <a:latin typeface="Arial"/>
              </a:rPr>
              <a:t>19 No.</a:t>
            </a:r>
          </a:p>
          <a:p>
            <a:pPr>
              <a:spcAft>
                <a:spcPts val="400"/>
              </a:spcAft>
            </a:pPr>
            <a:r>
              <a:rPr sz="850" b="1" i="0">
                <a:solidFill>
                  <a:srgbClr val="1F2937"/>
                </a:solidFill>
                <a:latin typeface="Arial"/>
              </a:rPr>
              <a:t>AFFECTED FITTINGS</a:t>
            </a:r>
          </a:p>
          <a:p>
            <a:pPr>
              <a:spcAft>
                <a:spcPts val="400"/>
              </a:spcAft>
            </a:pPr>
            <a:r>
              <a:rPr sz="800" b="0" i="0">
                <a:solidFill>
                  <a:srgbClr val="5F6368"/>
                </a:solidFill>
                <a:latin typeface="Arial"/>
              </a:rPr>
              <a:t>14 · 1 · 4 across LOC-01 / 02 / 03</a:t>
            </a:r>
          </a:p>
        </p:txBody>
      </p:sp>
      <p:sp>
        <p:nvSpPr>
          <p:cNvPr id="6" name="QTY TILE 2"/>
          <p:cNvSpPr/>
          <p:nvPr/>
        </p:nvSpPr>
        <p:spPr>
          <a:xfrm>
            <a:off x="3319272" y="914400"/>
            <a:ext cx="2724912" cy="100584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QTY TILE TXT 2"/>
          <p:cNvSpPr txBox="1"/>
          <p:nvPr/>
        </p:nvSpPr>
        <p:spPr>
          <a:xfrm>
            <a:off x="3456432" y="1005840"/>
            <a:ext cx="2450592" cy="640080"/>
          </a:xfrm>
          <a:prstGeom prst="rect">
            <a:avLst/>
          </a:prstGeom>
          <a:noFill/>
        </p:spPr>
        <p:txBody>
          <a:bodyPr wrap="square" lIns="0" rIns="0" tIns="0" bIns="0">
            <a:spAutoFit/>
          </a:bodyPr>
          <a:lstStyle/>
          <a:p>
            <a:pPr>
              <a:spcAft>
                <a:spcPts val="400"/>
              </a:spcAft>
            </a:pPr>
            <a:r>
              <a:rPr sz="1800" b="1" i="0">
                <a:solidFill>
                  <a:srgbClr val="1E2761"/>
                </a:solidFill>
                <a:latin typeface="Arial"/>
              </a:rPr>
              <a:t>11 No.</a:t>
            </a:r>
          </a:p>
          <a:p>
            <a:pPr>
              <a:spcAft>
                <a:spcPts val="400"/>
              </a:spcAft>
            </a:pPr>
            <a:r>
              <a:rPr sz="850" b="1" i="0">
                <a:solidFill>
                  <a:srgbClr val="1F2937"/>
                </a:solidFill>
                <a:latin typeface="Arial"/>
              </a:rPr>
              <a:t>EXISTING BASES CORED OUT</a:t>
            </a:r>
          </a:p>
          <a:p>
            <a:pPr>
              <a:spcAft>
                <a:spcPts val="400"/>
              </a:spcAft>
            </a:pPr>
            <a:r>
              <a:rPr sz="800" b="0" i="0">
                <a:solidFill>
                  <a:srgbClr val="5F6368"/>
                </a:solidFill>
                <a:latin typeface="Arial"/>
              </a:rPr>
              <a:t>6 @ 8"  ·  5 @ 12"</a:t>
            </a:r>
          </a:p>
        </p:txBody>
      </p:sp>
      <p:sp>
        <p:nvSpPr>
          <p:cNvPr id="8" name="QTY TILE 3"/>
          <p:cNvSpPr/>
          <p:nvPr/>
        </p:nvSpPr>
        <p:spPr>
          <a:xfrm>
            <a:off x="6181344" y="914400"/>
            <a:ext cx="2724912" cy="100584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QTY TILE TXT 3"/>
          <p:cNvSpPr txBox="1"/>
          <p:nvPr/>
        </p:nvSpPr>
        <p:spPr>
          <a:xfrm>
            <a:off x="6318504" y="1005840"/>
            <a:ext cx="2450592" cy="640080"/>
          </a:xfrm>
          <a:prstGeom prst="rect">
            <a:avLst/>
          </a:prstGeom>
          <a:noFill/>
        </p:spPr>
        <p:txBody>
          <a:bodyPr wrap="square" lIns="0" rIns="0" tIns="0" bIns="0">
            <a:spAutoFit/>
          </a:bodyPr>
          <a:lstStyle/>
          <a:p>
            <a:pPr>
              <a:spcAft>
                <a:spcPts val="400"/>
              </a:spcAft>
            </a:pPr>
            <a:r>
              <a:rPr sz="1800" b="1" i="0">
                <a:solidFill>
                  <a:srgbClr val="1E2761"/>
                </a:solidFill>
                <a:latin typeface="Arial"/>
              </a:rPr>
              <a:t>13 No.</a:t>
            </a:r>
          </a:p>
          <a:p>
            <a:pPr>
              <a:spcAft>
                <a:spcPts val="400"/>
              </a:spcAft>
            </a:pPr>
            <a:r>
              <a:rPr sz="850" b="1" i="0">
                <a:solidFill>
                  <a:srgbClr val="1F2937"/>
                </a:solidFill>
                <a:latin typeface="Arial"/>
              </a:rPr>
              <a:t>NEW SIDE-ENTRY BASES</a:t>
            </a:r>
          </a:p>
          <a:p>
            <a:pPr>
              <a:spcAft>
                <a:spcPts val="400"/>
              </a:spcAft>
            </a:pPr>
            <a:r>
              <a:rPr sz="800" b="0" i="0">
                <a:solidFill>
                  <a:srgbClr val="5F6368"/>
                </a:solidFill>
                <a:latin typeface="Arial"/>
              </a:rPr>
              <a:t>11 @ 8"  ·  2 @ 12"</a:t>
            </a:r>
          </a:p>
        </p:txBody>
      </p:sp>
      <p:sp>
        <p:nvSpPr>
          <p:cNvPr id="10" name="QTY TILE 4"/>
          <p:cNvSpPr/>
          <p:nvPr/>
        </p:nvSpPr>
        <p:spPr>
          <a:xfrm>
            <a:off x="9043416" y="914400"/>
            <a:ext cx="2724912" cy="100584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QTY TILE TXT 4"/>
          <p:cNvSpPr txBox="1"/>
          <p:nvPr/>
        </p:nvSpPr>
        <p:spPr>
          <a:xfrm>
            <a:off x="9180576" y="1005840"/>
            <a:ext cx="2450592" cy="640080"/>
          </a:xfrm>
          <a:prstGeom prst="rect">
            <a:avLst/>
          </a:prstGeom>
          <a:noFill/>
        </p:spPr>
        <p:txBody>
          <a:bodyPr wrap="square" lIns="0" rIns="0" tIns="0" bIns="0">
            <a:spAutoFit/>
          </a:bodyPr>
          <a:lstStyle/>
          <a:p>
            <a:pPr>
              <a:spcAft>
                <a:spcPts val="400"/>
              </a:spcAft>
            </a:pPr>
            <a:r>
              <a:rPr sz="1800" b="1" i="0">
                <a:solidFill>
                  <a:srgbClr val="1E2761"/>
                </a:solidFill>
                <a:latin typeface="Arial"/>
              </a:rPr>
              <a:t>approx. 420 m</a:t>
            </a:r>
          </a:p>
          <a:p>
            <a:pPr>
              <a:spcAft>
                <a:spcPts val="400"/>
              </a:spcAft>
            </a:pPr>
            <a:r>
              <a:rPr sz="850" b="1" i="0">
                <a:solidFill>
                  <a:srgbClr val="1F2937"/>
                </a:solidFill>
                <a:latin typeface="Arial"/>
              </a:rPr>
              <a:t>SAW CUTTING</a:t>
            </a:r>
          </a:p>
          <a:p>
            <a:pPr>
              <a:spcAft>
                <a:spcPts val="400"/>
              </a:spcAft>
            </a:pPr>
            <a:r>
              <a:rPr sz="800" b="0" i="0">
                <a:solidFill>
                  <a:srgbClr val="5F6368"/>
                </a:solidFill>
                <a:latin typeface="Arial"/>
              </a:rPr>
              <a:t>300 m  ·  24 m  ·  95 m</a:t>
            </a:r>
          </a:p>
        </p:txBody>
      </p:sp>
      <p:sp>
        <p:nvSpPr>
          <p:cNvPr id="12" name="QTY TILE 5"/>
          <p:cNvSpPr/>
          <p:nvPr/>
        </p:nvSpPr>
        <p:spPr>
          <a:xfrm>
            <a:off x="11905488" y="914400"/>
            <a:ext cx="2724912" cy="100584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QTY TILE TXT 5"/>
          <p:cNvSpPr txBox="1"/>
          <p:nvPr/>
        </p:nvSpPr>
        <p:spPr>
          <a:xfrm>
            <a:off x="12042648" y="1005840"/>
            <a:ext cx="2450592" cy="640080"/>
          </a:xfrm>
          <a:prstGeom prst="rect">
            <a:avLst/>
          </a:prstGeom>
          <a:noFill/>
        </p:spPr>
        <p:txBody>
          <a:bodyPr wrap="square" lIns="0" rIns="0" tIns="0" bIns="0">
            <a:spAutoFit/>
          </a:bodyPr>
          <a:lstStyle/>
          <a:p>
            <a:pPr>
              <a:spcAft>
                <a:spcPts val="400"/>
              </a:spcAft>
            </a:pPr>
            <a:r>
              <a:rPr sz="1800" b="1" i="0">
                <a:solidFill>
                  <a:srgbClr val="1E2761"/>
                </a:solidFill>
                <a:latin typeface="Arial"/>
              </a:rPr>
              <a:t>19 No.</a:t>
            </a:r>
          </a:p>
          <a:p>
            <a:pPr>
              <a:spcAft>
                <a:spcPts val="400"/>
              </a:spcAft>
            </a:pPr>
            <a:r>
              <a:rPr sz="850" b="1" i="0">
                <a:solidFill>
                  <a:srgbClr val="1F2937"/>
                </a:solidFill>
                <a:latin typeface="Arial"/>
              </a:rPr>
              <a:t>SECONDARY CABLE RUNS</a:t>
            </a:r>
          </a:p>
          <a:p>
            <a:pPr>
              <a:spcAft>
                <a:spcPts val="400"/>
              </a:spcAft>
            </a:pPr>
            <a:r>
              <a:rPr sz="800" b="0" i="0">
                <a:solidFill>
                  <a:srgbClr val="5F6368"/>
                </a:solidFill>
                <a:latin typeface="Arial"/>
              </a:rPr>
              <a:t>no joints — manhole to light</a:t>
            </a:r>
          </a:p>
        </p:txBody>
      </p:sp>
      <p:sp>
        <p:nvSpPr>
          <p:cNvPr id="14" name="P08 PANEL · WORKS QUANTITIES"/>
          <p:cNvSpPr/>
          <p:nvPr/>
        </p:nvSpPr>
        <p:spPr>
          <a:xfrm>
            <a:off x="457200" y="2194560"/>
            <a:ext cx="14173200" cy="2907792"/>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QTY HDR"/>
          <p:cNvSpPr txBox="1"/>
          <p:nvPr/>
        </p:nvSpPr>
        <p:spPr>
          <a:xfrm>
            <a:off x="603504" y="2304288"/>
            <a:ext cx="13880592" cy="237744"/>
          </a:xfrm>
          <a:prstGeom prst="rect">
            <a:avLst/>
          </a:prstGeom>
          <a:noFill/>
        </p:spPr>
        <p:txBody>
          <a:bodyPr wrap="square" lIns="0" rIns="0" tIns="0" bIns="0">
            <a:spAutoFit/>
          </a:bodyPr>
          <a:lstStyle/>
          <a:p>
            <a:pPr>
              <a:spcAft>
                <a:spcPts val="400"/>
              </a:spcAft>
            </a:pPr>
            <a:r>
              <a:rPr sz="950" b="1" i="0">
                <a:solidFill>
                  <a:srgbClr val="1E2761"/>
                </a:solidFill>
                <a:latin typeface="Arial"/>
              </a:rPr>
              <a:t>WORKS QUANTITIES BY LOCATION — REV P08 FINAL SCOPE</a:t>
            </a:r>
          </a:p>
        </p:txBody>
      </p:sp>
      <p:graphicFrame>
        <p:nvGraphicFramePr>
          <p:cNvPr id="16" name="Table QUANTITIES"/>
          <p:cNvGraphicFramePr>
            <a:graphicFrameLocks noGrp="1"/>
          </p:cNvGraphicFramePr>
          <p:nvPr/>
        </p:nvGraphicFramePr>
        <p:xfrm>
          <a:off x="603504" y="2670048"/>
          <a:ext cx="13880592" cy="2057400"/>
        </p:xfrm>
        <a:graphic>
          <a:graphicData uri="http://schemas.openxmlformats.org/drawingml/2006/table">
            <a:tbl>
              <a:tblPr>
                <a:tableStyleId>{5C22544A-7EE6-4342-B048-85BDC9FD1C3A}</a:tableStyleId>
              </a:tblPr>
              <a:tblGrid>
                <a:gridCol w="2024867"/>
                <a:gridCol w="1715899"/>
                <a:gridCol w="1452474"/>
                <a:gridCol w="1516023"/>
                <a:gridCol w="1487151"/>
                <a:gridCol w="1487151"/>
                <a:gridCol w="1682760"/>
                <a:gridCol w="2514267"/>
              </a:tblGrid>
              <a:tr h="411480">
                <a:tc>
                  <a:txBody>
                    <a:bodyPr/>
                    <a:lstStyle/>
                    <a:p>
                      <a:r>
                        <a:rPr sz="900" b="1" i="0">
                          <a:solidFill>
                            <a:srgbClr val="FFFFFF"/>
                          </a:solidFill>
                          <a:latin typeface="Arial"/>
                        </a:rPr>
                        <a:t>Location</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Affected assets</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Core out</a:t>
                      </a:r>
                    </a:p>
                    <a:p>
                      <a:r>
                        <a:rPr sz="900" b="1" i="0">
                          <a:solidFill>
                            <a:srgbClr val="FFFFFF"/>
                          </a:solidFill>
                          <a:latin typeface="Arial"/>
                        </a:rPr>
                        <a:t>existing 8"</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Core out</a:t>
                      </a:r>
                    </a:p>
                    <a:p>
                      <a:r>
                        <a:rPr sz="900" b="1" i="0">
                          <a:solidFill>
                            <a:srgbClr val="FFFFFF"/>
                          </a:solidFill>
                          <a:latin typeface="Arial"/>
                        </a:rPr>
                        <a:t>existing 12"</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New coring</a:t>
                      </a:r>
                    </a:p>
                    <a:p>
                      <a:r>
                        <a:rPr sz="900" b="1" i="0">
                          <a:solidFill>
                            <a:srgbClr val="FFFFFF"/>
                          </a:solidFill>
                          <a:latin typeface="Arial"/>
                        </a:rPr>
                        <a:t>8" base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New coring</a:t>
                      </a:r>
                    </a:p>
                    <a:p>
                      <a:r>
                        <a:rPr sz="900" b="1" i="0">
                          <a:solidFill>
                            <a:srgbClr val="FFFFFF"/>
                          </a:solidFill>
                          <a:latin typeface="Arial"/>
                        </a:rPr>
                        <a:t>12" base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Saw cutting</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Secondary cable required</a:t>
                      </a:r>
                    </a:p>
                    <a:p>
                      <a:r>
                        <a:rPr sz="900" b="1" i="0">
                          <a:solidFill>
                            <a:srgbClr val="FFFFFF"/>
                          </a:solidFill>
                          <a:latin typeface="Arial"/>
                        </a:rPr>
                        <a:t>(2c x 4 sq.mm)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r>
              <a:tr h="411480">
                <a:tc>
                  <a:txBody>
                    <a:bodyPr/>
                    <a:lstStyle/>
                    <a:p>
                      <a:r>
                        <a:rPr sz="950" b="1" i="0">
                          <a:solidFill>
                            <a:srgbClr val="1F2937"/>
                          </a:solidFill>
                          <a:latin typeface="Arial"/>
                        </a:rPr>
                        <a:t>LOC-01 · sheet 1001</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14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6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3 No. †</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11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approx. 300 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14 No. runs  ·  approx. 300 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411480">
                <a:tc>
                  <a:txBody>
                    <a:bodyPr/>
                    <a:lstStyle/>
                    <a:p>
                      <a:r>
                        <a:rPr sz="950" b="1" i="0">
                          <a:solidFill>
                            <a:srgbClr val="1F2937"/>
                          </a:solidFill>
                          <a:latin typeface="Arial"/>
                        </a:rPr>
                        <a:t>LOC-02 · sheet 1002</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1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1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1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approx. 24 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1 No. run  ·  approx. 24 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411480">
                <a:tc>
                  <a:txBody>
                    <a:bodyPr/>
                    <a:lstStyle/>
                    <a:p>
                      <a:r>
                        <a:rPr sz="950" b="1" i="0">
                          <a:solidFill>
                            <a:srgbClr val="1F2937"/>
                          </a:solidFill>
                          <a:latin typeface="Arial"/>
                        </a:rPr>
                        <a:t>LOC-03 · sheet 1003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4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1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1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approx. 95 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950" b="0" i="0">
                          <a:solidFill>
                            <a:srgbClr val="1F2937"/>
                          </a:solidFill>
                          <a:latin typeface="Arial"/>
                        </a:rPr>
                        <a:t>4 No. runs  ·  approx. 95 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411480">
                <a:tc>
                  <a:txBody>
                    <a:bodyPr/>
                    <a:lstStyle/>
                    <a:p>
                      <a:r>
                        <a:rPr sz="950" b="1" i="0">
                          <a:solidFill>
                            <a:srgbClr val="1F2937"/>
                          </a:solidFill>
                          <a:latin typeface="Arial"/>
                        </a:rPr>
                        <a:t>TOTAL</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950" b="1" i="0">
                          <a:solidFill>
                            <a:srgbClr val="1F2937"/>
                          </a:solidFill>
                          <a:latin typeface="Arial"/>
                        </a:rPr>
                        <a:t>19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950" b="1" i="0">
                          <a:solidFill>
                            <a:srgbClr val="1F2937"/>
                          </a:solidFill>
                          <a:latin typeface="Arial"/>
                        </a:rPr>
                        <a:t>6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950" b="1" i="0">
                          <a:solidFill>
                            <a:srgbClr val="1F2937"/>
                          </a:solidFill>
                          <a:latin typeface="Arial"/>
                        </a:rPr>
                        <a:t>5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950" b="1" i="0">
                          <a:solidFill>
                            <a:srgbClr val="1F2937"/>
                          </a:solidFill>
                          <a:latin typeface="Arial"/>
                        </a:rPr>
                        <a:t>11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950" b="1" i="0">
                          <a:solidFill>
                            <a:srgbClr val="1F2937"/>
                          </a:solidFill>
                          <a:latin typeface="Arial"/>
                        </a:rPr>
                        <a:t>2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950" b="1" i="0">
                          <a:solidFill>
                            <a:srgbClr val="1F2937"/>
                          </a:solidFill>
                          <a:latin typeface="Arial"/>
                        </a:rPr>
                        <a:t>approx. 420 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950" b="1" i="0">
                          <a:solidFill>
                            <a:srgbClr val="1F2937"/>
                          </a:solidFill>
                          <a:latin typeface="Arial"/>
                        </a:rPr>
                        <a:t>19 No. runs  ·  approx. 420 m</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r>
            </a:tbl>
          </a:graphicData>
        </a:graphic>
      </p:graphicFrame>
      <p:sp>
        <p:nvSpPr>
          <p:cNvPr id="17" name="QTY FOOTNOTE"/>
          <p:cNvSpPr txBox="1"/>
          <p:nvPr/>
        </p:nvSpPr>
        <p:spPr>
          <a:xfrm>
            <a:off x="603504" y="4773168"/>
            <a:ext cx="13880592" cy="192024"/>
          </a:xfrm>
          <a:prstGeom prst="rect">
            <a:avLst/>
          </a:prstGeom>
          <a:noFill/>
        </p:spPr>
        <p:txBody>
          <a:bodyPr wrap="square" lIns="0" rIns="0" tIns="0" bIns="0">
            <a:spAutoFit/>
          </a:bodyPr>
          <a:lstStyle/>
          <a:p>
            <a:pPr>
              <a:spcAft>
                <a:spcPts val="400"/>
              </a:spcAft>
            </a:pPr>
            <a:r>
              <a:rPr sz="850" b="0" i="0">
                <a:solidFill>
                  <a:srgbClr val="5F6368"/>
                </a:solidFill>
                <a:latin typeface="Arial"/>
              </a:rPr>
              <a:t>†  A further 2 No. 12" bases at LOC-01 were removed earlier and need no coring out; all 11 No. LOC-01 positions still take a new 8" coring, which is why the core-out and new-coring counts differ.</a:t>
            </a:r>
          </a:p>
        </p:txBody>
      </p:sp>
      <p:sp>
        <p:nvSpPr>
          <p:cNvPr id="18" name="P08 PANEL · WORKS ACTION BREAKDOWN"/>
          <p:cNvSpPr/>
          <p:nvPr/>
        </p:nvSpPr>
        <p:spPr>
          <a:xfrm>
            <a:off x="457200" y="5285232"/>
            <a:ext cx="14173200" cy="2212848"/>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CT HDR"/>
          <p:cNvSpPr txBox="1"/>
          <p:nvPr/>
        </p:nvSpPr>
        <p:spPr>
          <a:xfrm>
            <a:off x="603504" y="5394960"/>
            <a:ext cx="13880592" cy="237744"/>
          </a:xfrm>
          <a:prstGeom prst="rect">
            <a:avLst/>
          </a:prstGeom>
          <a:noFill/>
        </p:spPr>
        <p:txBody>
          <a:bodyPr wrap="square" lIns="0" rIns="0" tIns="0" bIns="0">
            <a:spAutoFit/>
          </a:bodyPr>
          <a:lstStyle/>
          <a:p>
            <a:pPr>
              <a:spcAft>
                <a:spcPts val="400"/>
              </a:spcAft>
            </a:pPr>
            <a:r>
              <a:rPr sz="950" b="1" i="0">
                <a:solidFill>
                  <a:srgbClr val="1E2761"/>
                </a:solidFill>
                <a:latin typeface="Arial"/>
              </a:rPr>
              <a:t>AFFECTED ASSETS BEHIND THE COUNTS — BY WORKS ACTION</a:t>
            </a:r>
          </a:p>
        </p:txBody>
      </p:sp>
      <p:graphicFrame>
        <p:nvGraphicFramePr>
          <p:cNvPr id="20" name="Table ACTIONS"/>
          <p:cNvGraphicFramePr>
            <a:graphicFrameLocks noGrp="1"/>
          </p:cNvGraphicFramePr>
          <p:nvPr/>
        </p:nvGraphicFramePr>
        <p:xfrm>
          <a:off x="603504" y="5760720"/>
          <a:ext cx="13880592" cy="1600200"/>
        </p:xfrm>
        <a:graphic>
          <a:graphicData uri="http://schemas.openxmlformats.org/drawingml/2006/table">
            <a:tbl>
              <a:tblPr>
                <a:tableStyleId>{5C22544A-7EE6-4342-B048-85BDC9FD1C3A}</a:tableStyleId>
              </a:tblPr>
              <a:tblGrid>
                <a:gridCol w="1298953"/>
                <a:gridCol w="5085388"/>
                <a:gridCol w="3541842"/>
                <a:gridCol w="1152853"/>
                <a:gridCol w="1350050"/>
                <a:gridCol w="1451506"/>
              </a:tblGrid>
              <a:tr h="228600">
                <a:tc>
                  <a:txBody>
                    <a:bodyPr/>
                    <a:lstStyle/>
                    <a:p>
                      <a:r>
                        <a:rPr sz="900" b="1" i="0">
                          <a:solidFill>
                            <a:srgbClr val="FFFFFF"/>
                          </a:solidFill>
                          <a:latin typeface="Arial"/>
                        </a:rPr>
                        <a:t>Location</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Works action</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Assets</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Count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New base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c>
                  <a:txBody>
                    <a:bodyPr/>
                    <a:lstStyle/>
                    <a:p>
                      <a:r>
                        <a:rPr sz="900" b="1" i="0">
                          <a:solidFill>
                            <a:srgbClr val="FFFFFF"/>
                          </a:solidFill>
                          <a:latin typeface="Arial"/>
                        </a:rPr>
                        <a:t>Cable route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1E2761"/>
                    </a:solidFill>
                  </a:tcPr>
                </a:tc>
              </a:tr>
              <a:tr h="228600">
                <a:tc>
                  <a:txBody>
                    <a:bodyPr/>
                    <a:lstStyle/>
                    <a:p>
                      <a:r>
                        <a:rPr sz="850" b="1" i="0">
                          <a:solidFill>
                            <a:srgbClr val="1F2937"/>
                          </a:solidFill>
                          <a:latin typeface="Arial"/>
                        </a:rPr>
                        <a:t>LOC-01</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Core out existing 8" → new side-entry shallow base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SBC102-02/024, 01/027, 02/025, 01/028, 02/026, 01/029</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6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8"</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Saw cut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228600">
                <a:tc>
                  <a:txBody>
                    <a:bodyPr/>
                    <a:lstStyle/>
                    <a:p>
                      <a:r>
                        <a:rPr sz="850" b="1" i="0">
                          <a:solidFill>
                            <a:srgbClr val="1F2937"/>
                          </a:solidFill>
                          <a:latin typeface="Arial"/>
                        </a:rPr>
                        <a:t>LOC-01</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Core out existing 12" (3 No.) or removed earlier (2 No.) → new base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TCCECH-04/034, 03/036, 04/035, 03/037, 04/036</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5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8"</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Saw cut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228600">
                <a:tc>
                  <a:txBody>
                    <a:bodyPr/>
                    <a:lstStyle/>
                    <a:p>
                      <a:r>
                        <a:rPr sz="850" b="1" i="0">
                          <a:solidFill>
                            <a:srgbClr val="1F2937"/>
                          </a:solidFill>
                          <a:latin typeface="Arial"/>
                        </a:rPr>
                        <a:t>LOC-02</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Core out existing shallow base → new side-entry shallow base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TCCECH-03/008</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1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12"</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Saw cut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228600">
                <a:tc>
                  <a:txBody>
                    <a:bodyPr/>
                    <a:lstStyle/>
                    <a:p>
                      <a:r>
                        <a:rPr sz="850" b="1" i="0">
                          <a:solidFill>
                            <a:srgbClr val="1F2937"/>
                          </a:solidFill>
                          <a:latin typeface="Arial"/>
                        </a:rPr>
                        <a:t>LOC-03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50" b="0" i="0">
                          <a:solidFill>
                            <a:srgbClr val="1F2937"/>
                          </a:solidFill>
                          <a:latin typeface="Arial"/>
                        </a:rPr>
                        <a:t>Core out existing 12" → new side-entry shallow base — no side entry in the existing base</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50" b="0" i="0">
                          <a:solidFill>
                            <a:srgbClr val="1F2937"/>
                          </a:solidFill>
                          <a:latin typeface="Arial"/>
                        </a:rPr>
                        <a:t>TCCECH-03/003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50" b="0" i="0">
                          <a:solidFill>
                            <a:srgbClr val="1F2937"/>
                          </a:solidFill>
                          <a:latin typeface="Arial"/>
                        </a:rPr>
                        <a:t>1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50" b="0" i="0">
                          <a:solidFill>
                            <a:srgbClr val="1F2937"/>
                          </a:solidFill>
                          <a:latin typeface="Arial"/>
                        </a:rPr>
                        <a:t>12"</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50" b="0" i="0">
                          <a:solidFill>
                            <a:srgbClr val="1F2937"/>
                          </a:solidFill>
                          <a:latin typeface="Arial"/>
                        </a:rPr>
                        <a:t>Saw cut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r>
              <a:tr h="228600">
                <a:tc>
                  <a:txBody>
                    <a:bodyPr/>
                    <a:lstStyle/>
                    <a:p>
                      <a:r>
                        <a:rPr sz="850" b="1" i="0">
                          <a:solidFill>
                            <a:srgbClr val="1F2937"/>
                          </a:solidFill>
                          <a:latin typeface="Arial"/>
                        </a:rPr>
                        <a:t>LOC-01</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No coring — secondary cable only; dummy plate protection during milling</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SBC102-02/027, TCCECH-03/035, TCCECH-03/018</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3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existing</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c>
                  <a:txBody>
                    <a:bodyPr/>
                    <a:lstStyle/>
                    <a:p>
                      <a:r>
                        <a:rPr sz="850" b="0" i="0">
                          <a:solidFill>
                            <a:srgbClr val="1F2937"/>
                          </a:solidFill>
                          <a:latin typeface="Arial"/>
                        </a:rPr>
                        <a:t>Saw cut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FFFFF"/>
                    </a:solidFill>
                  </a:tcPr>
                </a:tc>
              </a:tr>
              <a:tr h="228600">
                <a:tc>
                  <a:txBody>
                    <a:bodyPr/>
                    <a:lstStyle/>
                    <a:p>
                      <a:r>
                        <a:rPr sz="850" b="1" i="0">
                          <a:solidFill>
                            <a:srgbClr val="1F2937"/>
                          </a:solidFill>
                          <a:latin typeface="Arial"/>
                        </a:rPr>
                        <a:t>LOC-03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50" b="0" i="0">
                          <a:solidFill>
                            <a:srgbClr val="1F2937"/>
                          </a:solidFill>
                          <a:latin typeface="Arial"/>
                        </a:rPr>
                        <a:t>No coring — the existing 12" shallow base takes the new side entry</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50" b="0" i="0">
                          <a:solidFill>
                            <a:srgbClr val="1F2937"/>
                          </a:solidFill>
                          <a:latin typeface="Arial"/>
                        </a:rPr>
                        <a:t>TCCECH-03/002, 04/002, 04/003</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50" b="0" i="0">
                          <a:solidFill>
                            <a:srgbClr val="1F2937"/>
                          </a:solidFill>
                          <a:latin typeface="Arial"/>
                        </a:rPr>
                        <a:t>3 No.</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50" b="0" i="0">
                          <a:solidFill>
                            <a:srgbClr val="1F2937"/>
                          </a:solidFill>
                          <a:latin typeface="Arial"/>
                        </a:rPr>
                        <a:t>existing</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c>
                  <a:txBody>
                    <a:bodyPr/>
                    <a:lstStyle/>
                    <a:p>
                      <a:r>
                        <a:rPr sz="850" b="0" i="0">
                          <a:solidFill>
                            <a:srgbClr val="1F2937"/>
                          </a:solidFill>
                          <a:latin typeface="Arial"/>
                        </a:rPr>
                        <a:t>Saw cut</a:t>
                      </a:r>
                    </a:p>
                  </a:txBody>
                  <a:tcPr marL="91440" marR="91440" marT="45720" marB="45720">
                    <a:lnB w="6350" cap="flat" cmpd="sng" algn="ctr">
                      <a:solidFill>
                        <a:srgbClr val="C8CDD3"/>
                      </a:solidFill>
                    </a:lnB>
                    <a:lnT w="6350" cap="flat" cmpd="sng" algn="ctr">
                      <a:solidFill>
                        <a:srgbClr val="C8CDD3"/>
                      </a:solidFill>
                    </a:lnT>
                    <a:lnR w="6350" cap="flat" cmpd="sng" algn="ctr">
                      <a:solidFill>
                        <a:srgbClr val="C8CDD3"/>
                      </a:solidFill>
                    </a:lnR>
                    <a:lnL w="6350" cap="flat" cmpd="sng" algn="ctr">
                      <a:solidFill>
                        <a:srgbClr val="C8CDD3"/>
                      </a:solidFill>
                    </a:lnL>
                    <a:solidFill>
                      <a:srgbClr val="F4F6F8"/>
                    </a:solidFill>
                  </a:tcPr>
                </a:tc>
              </a:tr>
            </a:tbl>
          </a:graphicData>
        </a:graphic>
      </p:graphicFrame>
      <p:sp>
        <p:nvSpPr>
          <p:cNvPr id="21" name="P08 PANEL · BASIS OF QUANTITIES"/>
          <p:cNvSpPr/>
          <p:nvPr/>
        </p:nvSpPr>
        <p:spPr>
          <a:xfrm>
            <a:off x="457200" y="7494016"/>
            <a:ext cx="6958584" cy="2526284"/>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P08 PANEL · BASIS OF QUANTITIES HDR"/>
          <p:cNvSpPr txBox="1"/>
          <p:nvPr/>
        </p:nvSpPr>
        <p:spPr>
          <a:xfrm>
            <a:off x="603504" y="7603744"/>
            <a:ext cx="6665976" cy="237744"/>
          </a:xfrm>
          <a:prstGeom prst="rect">
            <a:avLst/>
          </a:prstGeom>
          <a:noFill/>
        </p:spPr>
        <p:txBody>
          <a:bodyPr wrap="square" lIns="0" rIns="0" tIns="0" bIns="0">
            <a:spAutoFit/>
          </a:bodyPr>
          <a:lstStyle/>
          <a:p>
            <a:pPr>
              <a:spcAft>
                <a:spcPts val="400"/>
              </a:spcAft>
            </a:pPr>
            <a:r>
              <a:rPr sz="950" b="1" i="0">
                <a:solidFill>
                  <a:srgbClr val="1E2761"/>
                </a:solidFill>
                <a:latin typeface="Arial"/>
              </a:rPr>
              <a:t>BASIS OF THE QUANTITIES</a:t>
            </a:r>
          </a:p>
        </p:txBody>
      </p:sp>
      <p:sp>
        <p:nvSpPr>
          <p:cNvPr id="23" name="P08 PANEL · BASIS OF QUANTITIES BODY"/>
          <p:cNvSpPr txBox="1"/>
          <p:nvPr/>
        </p:nvSpPr>
        <p:spPr>
          <a:xfrm>
            <a:off x="603504" y="7969504"/>
            <a:ext cx="6665976" cy="1913636"/>
          </a:xfrm>
          <a:prstGeom prst="rect">
            <a:avLst/>
          </a:prstGeom>
          <a:noFill/>
        </p:spPr>
        <p:txBody>
          <a:bodyPr wrap="square" lIns="0" rIns="0" tIns="0" bIns="0">
            <a:spAutoFit/>
          </a:bodyPr>
          <a:lstStyle/>
          <a:p>
            <a:pPr>
              <a:spcAft>
                <a:spcPts val="400"/>
              </a:spcAft>
            </a:pPr>
            <a:r>
              <a:rPr sz="900" b="0" i="0">
                <a:solidFill>
                  <a:srgbClr val="1F2937"/>
                </a:solidFill>
                <a:latin typeface="Arial"/>
              </a:rPr>
              <a:t>Quantities are the Rev P08 final scope of work (30.07.2026) and reconcile with the consolidated field-governed scope sheet and the saw cut &amp; coring schedule.</a:t>
            </a:r>
          </a:p>
          <a:p>
            <a:pPr>
              <a:spcAft>
                <a:spcPts val="400"/>
              </a:spcAft>
            </a:pPr>
            <a:r>
              <a:rPr sz="900" b="0" i="0">
                <a:solidFill>
                  <a:srgbClr val="1F2937"/>
                </a:solidFill>
                <a:latin typeface="Arial"/>
              </a:rPr>
              <a:t>Core out = removal of the existing shallow base by coring. New coring = the core taken to receive the new side-entry shallow base. The two counts differ at LOC-01 because 2 No. 12" bases were removed earlier, so 11 No. new 8" bases are set against 9 No. cored positions.</a:t>
            </a:r>
          </a:p>
          <a:p>
            <a:pPr>
              <a:spcAft>
                <a:spcPts val="400"/>
              </a:spcAft>
            </a:pPr>
            <a:r>
              <a:rPr sz="900" b="0" i="0">
                <a:solidFill>
                  <a:srgbClr val="1F2937"/>
                </a:solidFill>
                <a:latin typeface="Arial"/>
              </a:rPr>
              <a:t>6 No. fittings take new secondary cable with no coring — 3 No. at LOC-01 (SBC102-02/027, TCCECH-03/035, TCCECH-03/018), kept under a dummy plate during milling, and 3 No. at LOC-03 whose existing 12" shallow base takes the new side entry. The saw cut routes plotted on sheets 1001 and 1003 already serve them.</a:t>
            </a:r>
          </a:p>
          <a:p>
            <a:pPr>
              <a:spcAft>
                <a:spcPts val="400"/>
              </a:spcAft>
            </a:pPr>
            <a:r>
              <a:rPr sz="900" b="0" i="0">
                <a:solidFill>
                  <a:srgbClr val="1F2937"/>
                </a:solidFill>
                <a:latin typeface="Arial"/>
              </a:rPr>
              <a:t>Cable per fitting: 1 No. 2-core 4 sq.mm secondary cable to each fitting, SBC and TCC alike — 7 No. SBC and 12 No. TCC, 19 No. runs in total (LOC-01 7 SBC + 7 TCC; LOC-02 1 TCC; LOC-03 4 TCC).</a:t>
            </a:r>
          </a:p>
          <a:p>
            <a:pPr>
              <a:spcAft>
                <a:spcPts val="400"/>
              </a:spcAft>
            </a:pPr>
            <a:r>
              <a:rPr sz="900" b="0" i="0">
                <a:solidFill>
                  <a:srgbClr val="1F2937"/>
                </a:solidFill>
                <a:latin typeface="Arial"/>
              </a:rPr>
              <a:t>Saw cut lengths are scaled from the Rev P08 saw cut runs on sheets 1001–1003 using the per-sheet drawing scale — approx. 300 m, 24 m and 95 m. For programme and enquiry only; confirm on site before ordering.</a:t>
            </a:r>
          </a:p>
        </p:txBody>
      </p:sp>
      <p:sp>
        <p:nvSpPr>
          <p:cNvPr id="24" name="P08 PANEL · QUANTITY EXCLUSIONS"/>
          <p:cNvSpPr/>
          <p:nvPr/>
        </p:nvSpPr>
        <p:spPr>
          <a:xfrm>
            <a:off x="7699248" y="7494016"/>
            <a:ext cx="6958584" cy="2526284"/>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P08 PANEL · QUANTITY EXCLUSIONS HDR"/>
          <p:cNvSpPr txBox="1"/>
          <p:nvPr/>
        </p:nvSpPr>
        <p:spPr>
          <a:xfrm>
            <a:off x="7845552" y="7603744"/>
            <a:ext cx="6665976" cy="237744"/>
          </a:xfrm>
          <a:prstGeom prst="rect">
            <a:avLst/>
          </a:prstGeom>
          <a:noFill/>
        </p:spPr>
        <p:txBody>
          <a:bodyPr wrap="square" lIns="0" rIns="0" tIns="0" bIns="0">
            <a:spAutoFit/>
          </a:bodyPr>
          <a:lstStyle/>
          <a:p>
            <a:pPr>
              <a:spcAft>
                <a:spcPts val="400"/>
              </a:spcAft>
            </a:pPr>
            <a:r>
              <a:rPr sz="950" b="1" i="0">
                <a:solidFill>
                  <a:srgbClr val="1E2761"/>
                </a:solidFill>
                <a:latin typeface="Arial"/>
              </a:rPr>
              <a:t>EXCLUSIONS &amp; ITEMS TO CONFIRM</a:t>
            </a:r>
          </a:p>
        </p:txBody>
      </p:sp>
      <p:sp>
        <p:nvSpPr>
          <p:cNvPr id="26" name="P08 PANEL · QUANTITY EXCLUSIONS BODY"/>
          <p:cNvSpPr txBox="1"/>
          <p:nvPr/>
        </p:nvSpPr>
        <p:spPr>
          <a:xfrm>
            <a:off x="7845552" y="7969504"/>
            <a:ext cx="6665976" cy="1913636"/>
          </a:xfrm>
          <a:prstGeom prst="rect">
            <a:avLst/>
          </a:prstGeom>
          <a:noFill/>
        </p:spPr>
        <p:txBody>
          <a:bodyPr wrap="square" lIns="0" rIns="0" tIns="0" bIns="0">
            <a:spAutoFit/>
          </a:bodyPr>
          <a:lstStyle/>
          <a:p>
            <a:pPr>
              <a:spcAft>
                <a:spcPts val="400"/>
              </a:spcAft>
            </a:pPr>
            <a:r>
              <a:rPr sz="900" b="0" i="0">
                <a:solidFill>
                  <a:srgbClr val="1F2937"/>
                </a:solidFill>
                <a:latin typeface="Arial"/>
              </a:rPr>
              <a:t>Core diameter and core depth for the 8" and 12" corings, and the grout / bedding specification for each, are per the awaited saw cut and side-entry shallow base detail. The figures above are counts, not dimensions.</a:t>
            </a:r>
          </a:p>
          <a:p>
            <a:pPr>
              <a:spcAft>
                <a:spcPts val="400"/>
              </a:spcAft>
            </a:pPr>
            <a:r>
              <a:rPr sz="900" b="0" i="0">
                <a:solidFill>
                  <a:srgbClr val="1F2937"/>
                </a:solidFill>
                <a:latin typeface="Arial"/>
              </a:rPr>
              <a:t>Saw cut width and depth, and the cover to the new secondary cable, are per the same awaited detail — hold point H5.</a:t>
            </a:r>
          </a:p>
          <a:p>
            <a:pPr>
              <a:spcAft>
                <a:spcPts val="400"/>
              </a:spcAft>
            </a:pPr>
            <a:r>
              <a:rPr sz="900" b="0" i="0">
                <a:solidFill>
                  <a:srgbClr val="1F2937"/>
                </a:solidFill>
                <a:latin typeface="Arial"/>
              </a:rPr>
              <a:t>Secondary cable figures are route lengths taken off the saw cut alignment. An allowance for terminations, base entry and manhole tails is to be added at ordering and is not included here.</a:t>
            </a:r>
          </a:p>
          <a:p>
            <a:pPr>
              <a:spcAft>
                <a:spcPts val="400"/>
              </a:spcAft>
            </a:pPr>
            <a:r>
              <a:rPr sz="900" b="0" i="0">
                <a:solidFill>
                  <a:srgbClr val="1F2937"/>
                </a:solidFill>
                <a:latin typeface="Arial"/>
              </a:rPr>
              <a:t>No duct is laid under the AGL scope at Rev P08. Saw cut is adopted as an interim arrangement agreed between the AGL team, the civil team and ADA AGL; permanent duct provision follows under the South Rehabilitation works. The existing 4 x 19 mm secondary duct bank is left in place with its obsolete cables withdrawn.</a:t>
            </a:r>
          </a:p>
          <a:p>
            <a:pPr>
              <a:spcAft>
                <a:spcPts val="400"/>
              </a:spcAft>
            </a:pPr>
            <a:r>
              <a:rPr sz="900" b="0" i="0">
                <a:solidFill>
                  <a:srgbClr val="1F2937"/>
                </a:solidFill>
                <a:latin typeface="Arial"/>
              </a:rPr>
              <a:t>Testing and commissioning is carried out at circuit level: the affected fittings and the fittings on the same circuits that fall outside these works are all proved before handover. No material is allowed here for those unaffected fittings.</a:t>
            </a:r>
          </a:p>
          <a:p>
            <a:pPr>
              <a:spcAft>
                <a:spcPts val="400"/>
              </a:spcAft>
            </a:pPr>
            <a:r>
              <a:rPr sz="900" b="0" i="0">
                <a:solidFill>
                  <a:srgbClr val="1F2937"/>
                </a:solidFill>
                <a:latin typeface="Arial"/>
              </a:rPr>
              <a:t>Civil works — milling, asphalt laying and pavement reinstatement outside the AGL saw cut — are excluded.</a:t>
            </a:r>
          </a:p>
        </p:txBody>
      </p:sp>
      <p:sp>
        <p:nvSpPr>
          <p:cNvPr id="27" name="SHEET FOOTER"/>
          <p:cNvSpPr txBox="1"/>
          <p:nvPr/>
        </p:nvSpPr>
        <p:spPr>
          <a:xfrm>
            <a:off x="457200" y="10149840"/>
            <a:ext cx="14173200" cy="365760"/>
          </a:xfrm>
          <a:prstGeom prst="rect">
            <a:avLst/>
          </a:prstGeom>
          <a:noFill/>
        </p:spPr>
        <p:txBody>
          <a:bodyPr wrap="square" lIns="0" rIns="0" tIns="0" bIns="0">
            <a:spAutoFit/>
          </a:bodyPr>
          <a:lstStyle/>
          <a:p>
            <a:pPr>
              <a:spcAft>
                <a:spcPts val="400"/>
              </a:spcAft>
            </a:pPr>
            <a:r>
              <a:rPr sz="750" b="0" i="0">
                <a:solidFill>
                  <a:srgbClr val="5F6368"/>
                </a:solidFill>
                <a:latin typeface="Arial"/>
              </a:rPr>
              <a:t>Quantities are for check by the Engineer and are stated against the Rev P08 final scope of work (30.07.2026). Field condition governs.     ·     AUH-SK-AGL-TWYE-001 REV P08 (FINAL SCOPE)  ·  Prepared: Mohammed Faheem, AGL Team Leader — ADB SAFEGATE  ·  Approved: Ragesh Menon, AGL Manager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9937795-E019-4823-81BD-5D59935960C1}">
  <we:reference id="WA200010725" version="1.0.0.1" store="Omex" storeType="OMEX"/>
  <we:alternateReferences>
    <we:reference id="WA200010725" version="1.0.0.1" store="WA200010725" storeType="OMEX"/>
  </we:alternateReferences>
  <we:properties>
    <we:property name="claude.fileId" value="&quot;b6e9a6d8-d2cc-4187-b0ff-5406e1438fd4&quot;"/>
  </we:properties>
  <we:bindings/>
  <we:snapshot xmlns:r="http://schemas.openxmlformats.org/officeDocument/2006/relationships"/>
</we:webextension>
</file>

<file path=docMetadata/LabelInfo.xml><?xml version="1.0" encoding="utf-8"?>
<clbl:labelList xmlns:clbl="http://schemas.microsoft.com/office/2020/mipLabelMetadata">
  <clbl:label id="{94b38ddd-8735-419b-ba7b-70cccd79be33}" enabled="0" method="" siteId="{94b38ddd-8735-419b-ba7b-70cccd79be33}" removed="1"/>
</clbl:labelList>
</file>

<file path=docProps/app.xml><?xml version="1.0" encoding="utf-8"?>
<Properties xmlns="http://schemas.openxmlformats.org/officeDocument/2006/extended-properties" xmlns:vt="http://schemas.openxmlformats.org/officeDocument/2006/docPropsVTypes">
  <TotalTime>241</TotalTime>
  <Words>5874</Words>
  <Application>Microsoft Office PowerPoint</Application>
  <PresentationFormat>Custom</PresentationFormat>
  <Paragraphs>572</Paragraphs>
  <Slides>7</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Mohammed Faheem</cp:lastModifiedBy>
  <cp:revision>2</cp:revision>
  <dcterms:created xsi:type="dcterms:W3CDTF">2026-07-28T13:45:45Z</dcterms:created>
  <dcterms:modified xsi:type="dcterms:W3CDTF">2026-07-30T21:01:32Z</dcterms:modified>
</cp:coreProperties>
</file>