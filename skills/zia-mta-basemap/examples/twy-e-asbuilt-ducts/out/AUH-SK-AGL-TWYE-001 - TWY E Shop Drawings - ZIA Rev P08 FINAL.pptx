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The affected-fitting list moves from 30 No. to 16 No. A saw cut and side-entry base detail sheet is included and is held pending issue of the detail drawing.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11539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500006"/>
          </a:xfrm>
          <a:prstGeom prst="rect">
            <a:avLst/>
          </a:prstGeom>
          <a:noFill/>
        </p:spPr>
        <p:txBody>
          <a:bodyPr wrap="square" lIns="0" tIns="0" rIns="0" bIns="0">
            <a:spAutoFit/>
          </a:bodyPr>
          <a:lstStyle/>
          <a:p>
            <a:pPr>
              <a:spcAft>
                <a:spcPts val="800"/>
              </a:spcAft>
            </a:pPr>
            <a:r>
              <a:rPr sz="1050" b="1">
                <a:solidFill>
                  <a:srgbClr val="1E2761"/>
                </a:solidFill>
                <a:latin typeface="Arial"/>
              </a:rPr>
              <a:t>PHASE 1 — BEFORE ASPHALT MILLING · AGL ASSET REMOVAL (BEFORE CIVIL WORKS)</a:t>
            </a:r>
          </a:p>
          <a:p>
            <a:pPr>
              <a:spcAft>
                <a:spcPts val="800"/>
              </a:spcAft>
            </a:pPr>
            <a:r>
              <a:rPr sz="1050"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1050" b="0">
                <a:solidFill>
                  <a:srgbClr val="1F2937"/>
                </a:solidFill>
                <a:latin typeface="Arial"/>
              </a:rPr>
              <a:t>R2.  RRMs removed and protected (RRM.555, RRM.557, RRM.670) — re-fixed after civil works.</a:t>
            </a:r>
          </a:p>
          <a:p>
            <a:pPr>
              <a:spcAft>
                <a:spcPts val="800"/>
              </a:spcAft>
            </a:pPr>
            <a:r>
              <a:rPr sz="1050" b="0">
                <a:solidFill>
                  <a:srgbClr val="1F2937"/>
                </a:solidFill>
                <a:latin typeface="Arial"/>
              </a:rPr>
              <a:t>R3.  Dummy plates installed on open bases for protection during milling and civil works.</a:t>
            </a:r>
          </a:p>
          <a:p>
            <a:pPr>
              <a:spcAft>
                <a:spcPts val="800"/>
              </a:spcAft>
            </a:pPr>
            <a:r>
              <a:rPr sz="1050" b="1">
                <a:solidFill>
                  <a:srgbClr val="1E2761"/>
                </a:solidFill>
                <a:latin typeface="Arial"/>
              </a:rPr>
              <a:t>PHASE 2 — CIVIL WORKS · ASPHALT MILLING &amp; LAYING (AGL ATTENDANCE)</a:t>
            </a:r>
          </a:p>
          <a:p>
            <a:pPr>
              <a:spcAft>
                <a:spcPts val="800"/>
              </a:spcAft>
            </a:pPr>
            <a:r>
              <a:rPr sz="1050"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1050" b="1">
                <a:solidFill>
                  <a:srgbClr val="1E2761"/>
                </a:solidFill>
                <a:latin typeface="Arial"/>
              </a:rPr>
              <a:t>PHASE 3 — AFTER CIVIL WORKS · AGL INSTALLATION</a:t>
            </a:r>
          </a:p>
          <a:p>
            <a:pPr>
              <a:spcAft>
                <a:spcPts val="800"/>
              </a:spcAft>
            </a:pPr>
            <a:r>
              <a:rPr sz="1050" b="0">
                <a:solidFill>
                  <a:srgbClr val="1F2937"/>
                </a:solidFill>
                <a:latin typeface="Arial"/>
              </a:rPr>
              <a:t>1.  AGL installation works to commence only after written confirmation from the civil team that the asphalt curing period is complete.</a:t>
            </a:r>
          </a:p>
          <a:p>
            <a:pPr>
              <a:spcAft>
                <a:spcPts val="800"/>
              </a:spcAft>
            </a:pPr>
            <a:r>
              <a:rPr sz="1050"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1050" b="0">
                <a:solidFill>
                  <a:srgbClr val="1F2937"/>
                </a:solidFill>
                <a:latin typeface="Arial"/>
              </a:rPr>
              <a:t>3.  Installation of new bases — SIDE-ENTRY SHALLOW BASE: 11 No. 8" at Location 1; 1 No. 12" at Location 2; 1 No. 12" at Location 3 (TCCECH-03/003 — no side-entry provision in existing base). Balance 3 No. TCC at Location 3: existing 12" shallow base maintained, new side-entry cable only.</a:t>
            </a:r>
          </a:p>
          <a:p>
            <a:pPr>
              <a:spcAft>
                <a:spcPts val="800"/>
              </a:spcAft>
            </a:pPr>
            <a:r>
              <a:rPr sz="1050" b="0">
                <a:solidFill>
                  <a:srgbClr val="1F2937"/>
                </a:solidFill>
                <a:latin typeface="Arial"/>
              </a:rPr>
              <a:t>4.  Laying of new secondary cable through the saw cut. No joints — full manhole-to-light replacement.</a:t>
            </a:r>
          </a:p>
          <a:p>
            <a:pPr>
              <a:spcAft>
                <a:spcPts val="800"/>
              </a:spcAft>
            </a:pPr>
            <a:r>
              <a:rPr sz="1050" b="0">
                <a:solidFill>
                  <a:srgbClr val="1F2937"/>
                </a:solidFill>
                <a:latin typeface="Arial"/>
              </a:rPr>
              <a:t>5.  Secondary cable termination, insulation resistance and continuity testing.</a:t>
            </a:r>
          </a:p>
          <a:p>
            <a:pPr>
              <a:spcAft>
                <a:spcPts val="800"/>
              </a:spcAft>
            </a:pPr>
            <a:r>
              <a:rPr sz="1050" b="0">
                <a:solidFill>
                  <a:srgbClr val="1F2937"/>
                </a:solidFill>
                <a:latin typeface="Arial"/>
              </a:rPr>
              <a:t>6.  Testing and commissioning of all affected circuits.</a:t>
            </a:r>
          </a:p>
          <a:p>
            <a:pPr>
              <a:spcAft>
                <a:spcPts val="800"/>
              </a:spcAft>
            </a:pPr>
            <a:r>
              <a:rPr sz="1050" b="0">
                <a:solidFill>
                  <a:srgbClr val="1F2937"/>
                </a:solidFill>
                <a:latin typeface="Arial"/>
              </a:rPr>
              <a:t>7.  Final functionality check, then handover to Operations for final inspection and return of the area to operational service.</a:t>
            </a:r>
          </a:p>
        </p:txBody>
      </p:sp>
      <p:sp>
        <p:nvSpPr>
          <p:cNvPr id="6" name="P08 PANEL · HOLD POINTS &amp; WITNESS REQUIR"/>
          <p:cNvSpPr/>
          <p:nvPr/>
        </p:nvSpPr>
        <p:spPr>
          <a:xfrm>
            <a:off x="457200" y="7176101"/>
            <a:ext cx="6958584" cy="2844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285829"/>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654332"/>
            <a:ext cx="6665976" cy="2228808"/>
          </a:xfrm>
          <a:prstGeom prst="rect">
            <a:avLst/>
          </a:prstGeom>
          <a:noFill/>
        </p:spPr>
        <p:txBody>
          <a:bodyPr wrap="square" lIns="0" tIns="0" rIns="0" bIns="0">
            <a:spAutoFit/>
          </a:bodyPr>
          <a:lstStyle/>
          <a:p>
            <a:pPr>
              <a:spcAft>
                <a:spcPts val="900"/>
              </a:spcAft>
            </a:pPr>
            <a:r>
              <a:rPr sz="1050" b="0">
                <a:solidFill>
                  <a:srgbClr val="1F2937"/>
                </a:solidFill>
                <a:latin typeface="Arial"/>
              </a:rPr>
              <a:t>H1   Curing complete — Civil.  Written confirmation of the asphalt curing period before AGL installation works start (Phase 3, Item 1).</a:t>
            </a:r>
          </a:p>
          <a:p>
            <a:pPr>
              <a:spcAft>
                <a:spcPts val="900"/>
              </a:spcAft>
            </a:pPr>
            <a:r>
              <a:rPr sz="1050" b="0">
                <a:solidFill>
                  <a:srgbClr val="1F2937"/>
                </a:solidFill>
                <a:latin typeface="Arial"/>
              </a:rPr>
              <a:t>H2   Setting-out — Civil survey.  Coordinates issued and field points confirmed before coring (Phase 1, R1) and before saw cutting (Phase 3, Item 2).</a:t>
            </a:r>
          </a:p>
          <a:p>
            <a:pPr>
              <a:spcAft>
                <a:spcPts val="900"/>
              </a:spcAft>
            </a:pPr>
            <a:r>
              <a:rPr sz="1050" b="0">
                <a:solidFill>
                  <a:srgbClr val="1F2937"/>
                </a:solidFill>
                <a:latin typeface="Arial"/>
              </a:rPr>
              <a:t>H3   Mandrel test — AGL witness.  Every duct laid by the civil team, before asphalt laying (Item A1).</a:t>
            </a:r>
          </a:p>
          <a:p>
            <a:pPr>
              <a:spcAft>
                <a:spcPts val="900"/>
              </a:spcAft>
            </a:pPr>
            <a:r>
              <a:rPr sz="1050" b="0">
                <a:solidFill>
                  <a:srgbClr val="1F2937"/>
                </a:solidFill>
                <a:latin typeface="Arial"/>
              </a:rPr>
              <a:t>H4   Functionality check — AGL / Operations.  Witnessed before handover (Phase 3, Item 7).</a:t>
            </a:r>
          </a:p>
          <a:p>
            <a:pPr>
              <a:spcAft>
                <a:spcPts val="900"/>
              </a:spcAft>
            </a:pPr>
            <a:r>
              <a:rPr sz="1050"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2841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CONFIRMATION REQUIRED (NOT A CONSTRUCTION INSTRUCTION)</a:t>
            </a:r>
          </a:p>
        </p:txBody>
      </p:sp>
      <p:sp>
        <p:nvSpPr>
          <p:cNvPr id="11" name="TextBox 10"/>
          <p:cNvSpPr txBox="1"/>
          <p:nvPr/>
        </p:nvSpPr>
        <p:spPr>
          <a:xfrm>
            <a:off x="7845552" y="1392631"/>
            <a:ext cx="6665976" cy="266874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110 mm secondary duct — cover, reuse and continuity</a:t>
            </a:r>
          </a:p>
          <a:p>
            <a:pPr>
              <a:spcAft>
                <a:spcPts val="900"/>
              </a:spcAft>
            </a:pPr>
            <a:r>
              <a:rPr sz="1050" b="0">
                <a:solidFill>
                  <a:srgbClr val="1F2937"/>
                </a:solidFill>
                <a:latin typeface="Arial"/>
              </a:rPr>
              <a:t>Field condition:  the existing 4 x 110 mm secondary duct bank was exposed at 50 mm milling depth.</a:t>
            </a:r>
          </a:p>
          <a:p>
            <a:pPr>
              <a:spcAft>
                <a:spcPts val="900"/>
              </a:spcAft>
            </a:pPr>
            <a:r>
              <a:rPr sz="1050" b="0">
                <a:solidFill>
                  <a:srgbClr val="1F2937"/>
                </a:solidFill>
                <a:latin typeface="Arial"/>
              </a:rPr>
              <a:t>Q1.  Confirmation required from the civil team before any duct is re-laid on the existing duct alignment.</a:t>
            </a:r>
          </a:p>
          <a:p>
            <a:pPr>
              <a:spcAft>
                <a:spcPts val="900"/>
              </a:spcAft>
            </a:pPr>
            <a:r>
              <a:rPr sz="1050" b="0">
                <a:solidFill>
                  <a:srgbClr val="1F2937"/>
                </a:solidFill>
                <a:latin typeface="Arial"/>
              </a:rPr>
              <a:t>Q2.  The existing duct is not suitable for reuse for the new secondary cable: the existing cables are obsolete and are to be withdrawn, and the existing duct cross-section does not accommodate the new secondary cable.</a:t>
            </a:r>
          </a:p>
          <a:p>
            <a:pPr>
              <a:spcAft>
                <a:spcPts val="900"/>
              </a:spcAft>
            </a:pPr>
            <a:r>
              <a:rPr sz="1050" b="0">
                <a:solidFill>
                  <a:srgbClr val="1F2937"/>
                </a:solidFill>
                <a:latin typeface="Arial"/>
              </a:rPr>
              <a:t>Q3.  If new duct sized for the new secondary cable is laid within the construction area, the transition into the duct in the non-construction area is to be agreed with the civil team. The same condition is expected over the full length, which would otherwise require saw cutting for the full length.</a:t>
            </a:r>
          </a:p>
        </p:txBody>
      </p:sp>
      <p:sp>
        <p:nvSpPr>
          <p:cNvPr id="12" name="P08 PANEL · AGL TEAM PROPOSAL"/>
          <p:cNvSpPr/>
          <p:nvPr/>
        </p:nvSpPr>
        <p:spPr>
          <a:xfrm>
            <a:off x="7699248" y="4344838"/>
            <a:ext cx="6958584" cy="289418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454566"/>
            <a:ext cx="6665976" cy="237744"/>
          </a:xfrm>
          <a:prstGeom prst="rect">
            <a:avLst/>
          </a:prstGeom>
          <a:noFill/>
        </p:spPr>
        <p:txBody>
          <a:bodyPr wrap="square" lIns="0" tIns="0" rIns="0" bIns="0">
            <a:spAutoFit/>
          </a:bodyPr>
          <a:lstStyle/>
          <a:p>
            <a:r>
              <a:rPr sz="950" b="1">
                <a:solidFill>
                  <a:srgbClr val="1E2761"/>
                </a:solidFill>
                <a:latin typeface="Arial"/>
              </a:rPr>
              <a:t>AGL TEAM PROPOSAL</a:t>
            </a:r>
          </a:p>
        </p:txBody>
      </p:sp>
      <p:sp>
        <p:nvSpPr>
          <p:cNvPr id="14" name="TextBox 13"/>
          <p:cNvSpPr txBox="1"/>
          <p:nvPr/>
        </p:nvSpPr>
        <p:spPr>
          <a:xfrm>
            <a:off x="7845552" y="4823069"/>
            <a:ext cx="6665976" cy="2278791"/>
          </a:xfrm>
          <a:prstGeom prst="rect">
            <a:avLst/>
          </a:prstGeom>
          <a:noFill/>
        </p:spPr>
        <p:txBody>
          <a:bodyPr wrap="square" lIns="0" tIns="0" rIns="0" bIns="0">
            <a:spAutoFit/>
          </a:bodyPr>
          <a:lstStyle/>
          <a:p>
            <a:pPr>
              <a:spcAft>
                <a:spcPts val="900"/>
              </a:spcAft>
            </a:pPr>
            <a:r>
              <a:rPr sz="1050" b="0">
                <a:solidFill>
                  <a:srgbClr val="1F2937"/>
                </a:solidFill>
                <a:latin typeface="Arial"/>
              </a:rPr>
              <a:t>Lay a full-stretch new secondary duct sized to accommodate the new secondary cable, giving a continuous route end to end and minimising saw cutting in the finished pavement.</a:t>
            </a:r>
          </a:p>
          <a:p>
            <a:pPr>
              <a:spcAft>
                <a:spcPts val="900"/>
              </a:spcAft>
            </a:pPr>
            <a:r>
              <a:rPr sz="1050" b="1">
                <a:solidFill>
                  <a:srgbClr val="B3261E"/>
                </a:solidFill>
                <a:latin typeface="Arial"/>
              </a:rPr>
              <a:t>Status at Rev P08:  superseded. The final scope of work issued 30.07.2026 adopts SAW CUT for every secondary route at the three locations, which answers Q3 — the full length is saw cut and no new duct is laid under the AGL scope.</a:t>
            </a:r>
          </a:p>
          <a:p>
            <a:pPr>
              <a:spcAft>
                <a:spcPts val="900"/>
              </a:spcAft>
            </a:pPr>
            <a:r>
              <a:rPr sz="1050" b="0">
                <a:solidFill>
                  <a:srgbClr val="1F2937"/>
                </a:solidFill>
                <a:latin typeface="Arial"/>
              </a:rPr>
              <a:t>Q1 and Q2 remain OPEN on the existing 4 x 110 mm duct bank: whether it is to be left in place, and confirmation that the obsolete cables are withdrawn. To be raised under RFI AUH-WP-AGL-TWYE-001. Recorded here for confirmation; it is not a construction instruction.</a:t>
            </a:r>
          </a:p>
        </p:txBody>
      </p:sp>
      <p:sp>
        <p:nvSpPr>
          <p:cNvPr id="15" name="P08 PANEL · REV P08 — WHAT CHANGED"/>
          <p:cNvSpPr/>
          <p:nvPr/>
        </p:nvSpPr>
        <p:spPr>
          <a:xfrm>
            <a:off x="7699248" y="7385324"/>
            <a:ext cx="6958584" cy="263497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495052"/>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863555"/>
            <a:ext cx="6665976" cy="2019585"/>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16 No.: LOC-01 11,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704789"/>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082997"/>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11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NOT IN THE REV P08 SCOPE — no works: SBC102-02/027, TCCECH-03/035, TCCECH-03/018</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4926781"/>
            <a:ext cx="4709160" cy="2541898"/>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063941"/>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411413"/>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9" name="Shape 317"/>
          <p:cNvSpPr/>
          <p:nvPr/>
        </p:nvSpPr>
        <p:spPr>
          <a:xfrm>
            <a:off x="10104120" y="7605839"/>
            <a:ext cx="4709160" cy="199339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742999"/>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306425"/>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352145"/>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29245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37" name="Shape 335"/>
          <p:cNvSpPr/>
          <p:nvPr/>
        </p:nvSpPr>
        <p:spPr>
          <a:xfrm>
            <a:off x="10241280" y="8950315"/>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884109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9498955"/>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38973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7999847"/>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357163"/>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292455"/>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8617767"/>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8566775"/>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8882943"/>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8841095"/>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9107" name="P08 LEG 8IN RING"/>
          <p:cNvSpPr/>
          <p:nvPr/>
        </p:nvSpPr>
        <p:spPr>
          <a:xfrm>
            <a:off x="10241280" y="8580745"/>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8626465"/>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56677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224635"/>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1541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7999847"/>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541898"/>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116" name="Shape 114"/>
          <p:cNvSpPr/>
          <p:nvPr/>
        </p:nvSpPr>
        <p:spPr>
          <a:xfrm>
            <a:off x="10104120" y="7273913"/>
            <a:ext cx="4709160" cy="1993392"/>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41107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7973229"/>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247549"/>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018949"/>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293269"/>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796052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23484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8618389"/>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850916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167029"/>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05780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66792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66792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02523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7960529"/>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28584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234849"/>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55101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509169"/>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889270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878348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541898"/>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1" name="Shape 309"/>
          <p:cNvSpPr/>
          <p:nvPr/>
        </p:nvSpPr>
        <p:spPr>
          <a:xfrm>
            <a:off x="10104120" y="7390703"/>
            <a:ext cx="4709160" cy="2267712"/>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52786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090019"/>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135739"/>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07731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8638659"/>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8684379"/>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862595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009499"/>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890027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9558139"/>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44891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778471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778471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14202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077319"/>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40263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351639"/>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66780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625959"/>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41005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35163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28381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7459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16 No. fittings — LOC-01 11 No. (9 No. cored: 3 No. 12" + 6 No. 8"; 2 No. 12" removed earlier; 11 No. new 8" bases); LOC-02 1 No. (12" core, new 12" base); LOC-03 4 No. (12" core at 03/003 only, balance 3 No. secondary cable only) — all new cable via SAW CUT.   ·   Coring 11 No. (6 @ 8" · 5 @ 12")   ·   New side-entry bases 13 No.   ·   15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8365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6897238"/>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006966"/>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477758"/>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587486"/>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6953246"/>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223886"/>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224591"/>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372726"/>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11 No.  (6 SBC · 5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16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41705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transitions into the existing duct in the non-construction area — this is open technical query Q3, and it governs the ends of every run.</a:t>
            </a:r>
          </a:p>
          <a:p>
            <a:pPr>
              <a:spcAft>
                <a:spcPts val="900"/>
              </a:spcAft>
            </a:pPr>
            <a:r>
              <a:rPr sz="1050" b="0">
                <a:solidFill>
                  <a:srgbClr val="B3261E"/>
                </a:solidFill>
                <a:latin typeface="Arial"/>
              </a:rPr>
              <a:t>9.  Treatment where the saw cut crosses the existing 4 x 110 mm secondary duct bank exposed at 50 mm milling depth.</a:t>
            </a:r>
          </a:p>
          <a:p>
            <a:pPr>
              <a:spcAft>
                <a:spcPts val="900"/>
              </a:spcAft>
            </a:pPr>
            <a:r>
              <a:rPr sz="1050" b="0">
                <a:solidFill>
                  <a:srgbClr val="B3261E"/>
                </a:solidFill>
                <a:latin typeface="Arial"/>
              </a:rPr>
              <a:t>Items 8 and 9 are the two that go beyond detailing. Item 8 is open technical query Q3 — the transition into the non-construction area is still to be confirmed, and every run has two ends. Item 9 is a physical clash with a duct bank already found in the field at 50 mm. Neither can be closed out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&amp; BASES · FIRST CABLE</a:t>
            </a:r>
          </a:p>
          <a:p>
            <a:pPr>
              <a:spcAft>
                <a:spcPts val="400"/>
              </a:spcAft>
            </a:pPr>
            <a:r>
              <a:rPr sz="850" b="0" i="0">
                <a:solidFill>
                  <a:srgbClr val="5F6368"/>
                </a:solidFill>
                <a:latin typeface="Arial"/>
              </a:rPr>
              <a:t>LOC-02 / 03 · LOC-01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TERMINATION &amp; TESTING</a:t>
            </a:r>
          </a:p>
          <a:p>
            <a:pPr>
              <a:spcAft>
                <a:spcPts val="400"/>
              </a:spcAft>
            </a:pPr>
            <a:r>
              <a:rPr sz="850" b="0" i="0">
                <a:solidFill>
                  <a:srgbClr val="5F6368"/>
                </a:solidFill>
                <a:latin typeface="Arial"/>
              </a:rPr>
              <a:t>ALL LOCATIONS</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REINSTATEMENT, T&amp;C &amp; HANDOVER</a:t>
            </a:r>
          </a:p>
          <a:p>
            <a:pPr>
              <a:spcAft>
                <a:spcPts val="400"/>
              </a:spcAft>
            </a:pPr>
            <a:r>
              <a:rPr sz="850" b="0" i="0">
                <a:solidFill>
                  <a:srgbClr val="5F6368"/>
                </a:solidFill>
                <a:latin typeface="Arial"/>
              </a:rPr>
              <a:t>ALL LOCATIONS</a:t>
            </a:r>
          </a:p>
        </p:txBody>
      </p:sp>
      <p:sp>
        <p:nvSpPr>
          <p:cNvPr id="19" name="P08 PANEL · FIVE-DAY PROGRAMME"/>
          <p:cNvSpPr/>
          <p:nvPr/>
        </p:nvSpPr>
        <p:spPr>
          <a:xfrm>
            <a:off x="457200" y="2129790"/>
            <a:ext cx="14173200" cy="5268843"/>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4656195"/>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310413">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310413">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area protection and lighting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10413">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10413">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Both routes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 the new side-entry shallow bases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 No. 12" each</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2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 in and protected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Lay new secondary cable through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5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All 16 No. runs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10413">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at the bases and at the manholes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16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Terminations made off</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10413">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10413">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Re-fix the runway guard lights removed under Phase 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RRM.555 / 557 / 670 re-fixed and aligned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of the affected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0413">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16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7581519"/>
            <a:ext cx="6958584" cy="2438781"/>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7691247"/>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8057007"/>
            <a:ext cx="6665976" cy="1826133"/>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7581519"/>
            <a:ext cx="6958584" cy="2438781"/>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7691247"/>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8057007"/>
            <a:ext cx="6665976" cy="1826133"/>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and coring is recorded complete (site record 23.07.2026); Phase 2 civil attendance sits outside these five days.</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