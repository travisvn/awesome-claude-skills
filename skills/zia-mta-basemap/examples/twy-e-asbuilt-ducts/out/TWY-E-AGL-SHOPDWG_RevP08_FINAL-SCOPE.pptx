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64" r:id="rId16"/>
    <p:sldId id="257" r:id="rId3"/>
    <p:sldId id="258" r:id="rId4"/>
    <p:sldId id="259" r:id="rId5"/>
    <p:sldId id="260" r:id="rId6"/>
    <p:sldId id="265" r:id="rId17"/>
    <p:sldId id="261" r:id="rId13"/>
    <p:sldId id="262" r:id="rId14"/>
    <p:sldId id="263" r:id="rId15"/>
  </p:sldIdLst>
  <p:sldSz cx="15124113" cy="10688638"/>
  <p:notesSz cx="10688638" cy="151241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240"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heem" userId="bdd5d8db-2222-40c8-ac8e-420fafcb27ef" providerId="ADAL" clId="{FEE85444-1722-4772-98C8-F184961D1B3F}"/>
    <pc:docChg chg="modSld">
      <pc:chgData name="Mohammed Faheem" userId="bdd5d8db-2222-40c8-ac8e-420fafcb27ef" providerId="ADAL" clId="{FEE85444-1722-4772-98C8-F184961D1B3F}" dt="2026-07-28T13:47:31.513" v="0" actId="1076"/>
      <pc:docMkLst>
        <pc:docMk/>
      </pc:docMkLst>
      <pc:sldChg chg="modSp mod">
        <pc:chgData name="Mohammed Faheem" userId="bdd5d8db-2222-40c8-ac8e-420fafcb27ef" providerId="ADAL" clId="{FEE85444-1722-4772-98C8-F184961D1B3F}" dt="2026-07-28T13:47:31.513" v="0" actId="1076"/>
        <pc:sldMkLst>
          <pc:docMk/>
          <pc:sldMk cId="0" sldId="259"/>
        </pc:sldMkLst>
        <pc:spChg chg="mod">
          <ac:chgData name="Mohammed Faheem" userId="bdd5d8db-2222-40c8-ac8e-420fafcb27ef" providerId="ADAL" clId="{FEE85444-1722-4772-98C8-F184961D1B3F}" dt="2026-07-28T13:47:31.513" v="0" actId="1076"/>
          <ac:spMkLst>
            <pc:docMk/>
            <pc:sldMk cId="0" sldId="259"/>
            <ac:spMk id="15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97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14400" y="1920240"/>
            <a:ext cx="1325880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SHOP DRAWINGS — ELECTRICAL / AGL SCOPE</a:t>
            </a:r>
            <a:endParaRPr lang="en-US" sz="4000" dirty="0"/>
          </a:p>
        </p:txBody>
      </p:sp>
      <p:sp>
        <p:nvSpPr>
          <p:cNvPr id="3" name="Text 1"/>
          <p:cNvSpPr/>
          <p:nvPr/>
        </p:nvSpPr>
        <p:spPr>
          <a:xfrm>
            <a:off x="914400" y="2926080"/>
            <a:ext cx="13258800" cy="109728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RECTIFICATION OF TWY E BETWEEN E4 &amp; E6 (ZIA)</a:t>
            </a:r>
            <a:endParaRPr lang="en-US" sz="2000" dirty="0"/>
          </a:p>
          <a:p>
            <a:pPr marL="0" indent="0">
              <a:buNone/>
            </a:pPr>
            <a:r>
              <a:rPr lang="en-US" sz="2000" dirty="0">
                <a:solidFill>
                  <a:srgbClr val="CADCFC"/>
                </a:solidFill>
                <a:latin typeface="Arial" pitchFamily="34" charset="0"/>
                <a:ea typeface="Arial" pitchFamily="34" charset="-122"/>
                <a:cs typeface="Arial" pitchFamily="34" charset="-120"/>
              </a:rPr>
              <a:t>AGL WORKS AT THREE (3) MILLING LOCATIONS — FIELD CONDITION SCOPE</a:t>
            </a:r>
            <a:endParaRPr lang="en-US" sz="2000" dirty="0"/>
          </a:p>
        </p:txBody>
      </p:sp>
      <p:sp>
        <p:nvSpPr>
          <p:cNvPr id="4" name="Text 2"/>
          <p:cNvSpPr/>
          <p:nvPr/>
        </p:nvSpPr>
        <p:spPr>
          <a:xfrm>
            <a:off x="914400" y="4937760"/>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Document No.</a:t>
            </a:r>
            <a:endParaRPr lang="en-US" sz="1300" dirty="0"/>
          </a:p>
        </p:txBody>
      </p:sp>
      <p:sp>
        <p:nvSpPr>
          <p:cNvPr id="5" name="Text 3"/>
          <p:cNvSpPr/>
          <p:nvPr/>
        </p:nvSpPr>
        <p:spPr>
          <a:xfrm>
            <a:off x="4023360" y="4937760"/>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AUH-SK-AGL-TWYE-001 (sheets 1001 / 1002 / 1003)  ·  Revision P08 — FINAL SCOPE OF WORK</a:t>
            </a:r>
            <a:endParaRPr lang="en-US" sz="1300" dirty="0"/>
          </a:p>
        </p:txBody>
      </p:sp>
      <p:sp>
        <p:nvSpPr>
          <p:cNvPr id="6" name="Text 4"/>
          <p:cNvSpPr/>
          <p:nvPr/>
        </p:nvSpPr>
        <p:spPr>
          <a:xfrm>
            <a:off x="914400" y="5413248"/>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Basis of scope</a:t>
            </a:r>
            <a:endParaRPr lang="en-US" sz="1300" dirty="0"/>
          </a:p>
        </p:txBody>
      </p:sp>
      <p:sp>
        <p:nvSpPr>
          <p:cNvPr id="7" name="Text 5"/>
          <p:cNvSpPr/>
          <p:nvPr/>
        </p:nvSpPr>
        <p:spPr>
          <a:xfrm>
            <a:off x="4023360" y="5413248"/>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Final scope of work issued 30.07.2026 — supersedes the Rev P06 / P07 field-sheet quantities. Field verification sheets: Document_3 (LOC-01) · Second_milling_area rev _1 (LOC-02 / LOC-03).</a:t>
            </a:r>
            <a:endParaRPr lang="en-US" sz="1300" dirty="0"/>
          </a:p>
        </p:txBody>
      </p:sp>
      <p:sp>
        <p:nvSpPr>
          <p:cNvPr id="8" name="Text 6"/>
          <p:cNvSpPr/>
          <p:nvPr/>
        </p:nvSpPr>
        <p:spPr>
          <a:xfrm>
            <a:off x="914400" y="5888736"/>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Base layer</a:t>
            </a:r>
            <a:endParaRPr lang="en-US" sz="1300" dirty="0"/>
          </a:p>
        </p:txBody>
      </p:sp>
      <p:sp>
        <p:nvSpPr>
          <p:cNvPr id="9" name="Text 7"/>
          <p:cNvSpPr/>
          <p:nvPr/>
        </p:nvSpPr>
        <p:spPr>
          <a:xfrm>
            <a:off x="4023360" y="5888736"/>
            <a:ext cx="10241280" cy="384048"/>
          </a:xfrm>
          <a:prstGeom prst="rect">
            <a:avLst/>
          </a:prstGeom>
          <a:noFill/>
          <a:ln/>
        </p:spPr>
        <p:txBody>
          <a:bodyPr wrap="square" lIns="0" tIns="0" rIns="0" bIns="0" rtlCol="0" anchor="ctr"/>
          <a:lstStyle/>
          <a:p>
            <a:pPr marL="0" indent="0">
              <a:buNone/>
            </a:pPr>
            <a:endParaRPr lang="en-US" sz="1300" dirty="0"/>
            <a:r>
              <a:rPr lang="en-US" sz="1300" dirty="0">
                <a:solidFill>
                  <a:srgbClr val="FFFFFF"/>
                </a:solidFill>
                <a:latin typeface="Arial" pitchFamily="34" charset="0"/>
                <a:ea typeface="Arial" pitchFamily="34" charset="-122"/>
                <a:cs typeface="Arial" pitchFamily="34" charset="-120"/>
              </a:rPr>
              <a:t>As-built AGL fitting positions (per assets_20260726120533.xlsx). AS PLOTTED they are ZIA LOCAL PROJECT GRID (m), matching the ADA source drawing to sub-millimetre — NOT UTM 40N. The Rev P05 EPSG:32640 label was incorrect — see sheet 6.</a:t>
            </a:r>
          </a:p>
        </p:txBody>
      </p:sp>
      <p:sp>
        <p:nvSpPr>
          <p:cNvPr id="10" name="Text 8"/>
          <p:cNvSpPr/>
          <p:nvPr/>
        </p:nvSpPr>
        <p:spPr>
          <a:xfrm>
            <a:off x="914400" y="6364224"/>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Prepared by</a:t>
            </a:r>
            <a:endParaRPr lang="en-US" sz="1300" dirty="0"/>
          </a:p>
        </p:txBody>
      </p:sp>
      <p:sp>
        <p:nvSpPr>
          <p:cNvPr id="11" name="Text 9"/>
          <p:cNvSpPr/>
          <p:nvPr/>
        </p:nvSpPr>
        <p:spPr>
          <a:xfrm>
            <a:off x="4023360" y="6364224"/>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Mohammed — AGL Team Leader, ADB SAFEGATE AGL Team  ·  Issued 28.07.2026 · Rev P08 30.07.2026</a:t>
            </a:r>
            <a:endParaRPr lang="en-US" sz="1300" dirty="0"/>
          </a:p>
        </p:txBody>
      </p:sp>
      <p:sp>
        <p:nvSpPr>
          <p:cNvPr id="12" name="Text 10"/>
          <p:cNvSpPr/>
          <p:nvPr/>
        </p:nvSpPr>
        <p:spPr>
          <a:xfrm>
            <a:off x="914400" y="7863840"/>
            <a:ext cx="13258800" cy="822960"/>
          </a:xfrm>
          <a:prstGeom prst="rect">
            <a:avLst/>
          </a:prstGeom>
          <a:noFill/>
          <a:ln/>
        </p:spPr>
        <p:txBody>
          <a:bodyPr wrap="square" lIns="0" tIns="0" rIns="0" bIns="0" rtlCol="0" anchor="ctr"/>
          <a:lstStyle/>
          <a:p>
            <a:pPr marL="0" indent="0">
              <a:buNone/>
            </a:pPr>
            <a:r>
              <a:rPr sz="1200">
                <a:solidFill>
                  <a:srgbClr val="CADCFC"/>
                </a:solidFill>
                <a:latin typeface="Arial"/>
              </a:rPr>
              <a:t>REV P08 — the final scope of work. All secondary routes at all three locations are SAW CUT; no duct route remains in the AGL scope. Every affected fitting takes a new SIDE-ENTRY SHALLOW BASE — 8" core at Location 1, 12" at Locations 2 and 3. The affected-asset list reduces from 30 to 16. A saw cut and side-entry base detail sheet is added and is held for the detail drawing. The as-built duct geometry, registration and stated limits of Rev P06 are carried forward unchanged.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1   ·   DWG NO AUH-SK-AGL-TWYE-001-1001 REV P08</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105" name="ASBUILT DUCT · CV-NEW SEC SAWCUT · 29.7 m"/>
          <p:cNvSpPr/>
          <p:nvPr/>
        </p:nvSpPr>
        <p:spPr>
          <a:xfrm>
            <a:off x="4675694" y="3440146"/>
            <a:ext cx="2200193" cy="1699483"/>
          </a:xfrm>
          <a:custGeom>
            <a:avLst/>
            <a:gdLst/>
            <a:ahLst/>
            <a:cxnLst/>
            <a:rect l="l" t="t" r="r" b="b"/>
            <a:pathLst>
              <a:path w="2200193" h="1699483">
                <a:moveTo>
                  <a:pt x="0" y="1699483"/>
                </a:moveTo>
                <a:lnTo>
                  <a:pt x="220019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SBUILT DUCT · CV-NEW SEC SAWCUT · 28.9 m"/>
          <p:cNvSpPr/>
          <p:nvPr/>
        </p:nvSpPr>
        <p:spPr>
          <a:xfrm>
            <a:off x="5222602" y="3440146"/>
            <a:ext cx="1653285" cy="2139824"/>
          </a:xfrm>
          <a:custGeom>
            <a:avLst/>
            <a:gdLst/>
            <a:ahLst/>
            <a:cxnLst/>
            <a:rect l="l" t="t" r="r" b="b"/>
            <a:pathLst>
              <a:path w="1653285" h="2139824">
                <a:moveTo>
                  <a:pt x="0" y="2139824"/>
                </a:moveTo>
                <a:lnTo>
                  <a:pt x="16532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SBUILT DUCT · CV-NEW SEC SAWCUT · 30.0 m"/>
          <p:cNvSpPr/>
          <p:nvPr/>
        </p:nvSpPr>
        <p:spPr>
          <a:xfrm>
            <a:off x="5770408" y="3440146"/>
            <a:ext cx="1105479" cy="2585163"/>
          </a:xfrm>
          <a:custGeom>
            <a:avLst/>
            <a:gdLst/>
            <a:ahLst/>
            <a:cxnLst/>
            <a:rect l="l" t="t" r="r" b="b"/>
            <a:pathLst>
              <a:path w="1105479" h="2585163">
                <a:moveTo>
                  <a:pt x="0" y="2585163"/>
                </a:moveTo>
                <a:lnTo>
                  <a:pt x="110547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SBUILT DUCT · CV-NEW SEC SAWCUT · 32.9 m"/>
          <p:cNvSpPr/>
          <p:nvPr/>
        </p:nvSpPr>
        <p:spPr>
          <a:xfrm>
            <a:off x="6315294" y="3440146"/>
            <a:ext cx="560593" cy="3028761"/>
          </a:xfrm>
          <a:custGeom>
            <a:avLst/>
            <a:gdLst/>
            <a:ahLst/>
            <a:cxnLst/>
            <a:rect l="l" t="t" r="r" b="b"/>
            <a:pathLst>
              <a:path w="560593" h="3028761">
                <a:moveTo>
                  <a:pt x="560593" y="0"/>
                </a:moveTo>
                <a:lnTo>
                  <a:pt x="0" y="302876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SBUILT DUCT · CV-NEW SEC SAWCUT · 31.3 m"/>
          <p:cNvSpPr/>
          <p:nvPr/>
        </p:nvSpPr>
        <p:spPr>
          <a:xfrm>
            <a:off x="6857615" y="4147005"/>
            <a:ext cx="987563" cy="2757449"/>
          </a:xfrm>
          <a:custGeom>
            <a:avLst/>
            <a:gdLst/>
            <a:ahLst/>
            <a:cxnLst/>
            <a:rect l="l" t="t" r="r" b="b"/>
            <a:pathLst>
              <a:path w="987563" h="2757449">
                <a:moveTo>
                  <a:pt x="0" y="2757449"/>
                </a:moveTo>
                <a:lnTo>
                  <a:pt x="98756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SBUILT DUCT · CV-NEW SEC SAWCUT · 34.5 m"/>
          <p:cNvSpPr/>
          <p:nvPr/>
        </p:nvSpPr>
        <p:spPr>
          <a:xfrm>
            <a:off x="7405234" y="4147005"/>
            <a:ext cx="439944" cy="3197734"/>
          </a:xfrm>
          <a:custGeom>
            <a:avLst/>
            <a:gdLst/>
            <a:ahLst/>
            <a:cxnLst/>
            <a:rect l="l" t="t" r="r" b="b"/>
            <a:pathLst>
              <a:path w="439944" h="3197734">
                <a:moveTo>
                  <a:pt x="439944" y="0"/>
                </a:moveTo>
                <a:lnTo>
                  <a:pt x="0" y="3197734"/>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SBUILT DUCT · CV-NEW SEC SAWCUT · 35.1 m"/>
          <p:cNvSpPr/>
          <p:nvPr/>
        </p:nvSpPr>
        <p:spPr>
          <a:xfrm>
            <a:off x="7918320" y="4487928"/>
            <a:ext cx="394363" cy="3258901"/>
          </a:xfrm>
          <a:custGeom>
            <a:avLst/>
            <a:gdLst/>
            <a:ahLst/>
            <a:cxnLst/>
            <a:rect l="l" t="t" r="r" b="b"/>
            <a:pathLst>
              <a:path w="394363" h="3258901">
                <a:moveTo>
                  <a:pt x="0" y="3258901"/>
                </a:moveTo>
                <a:lnTo>
                  <a:pt x="39436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SBUILT DUCT · CV-NEW SEC CONDUIT · 11.5 m"/>
          <p:cNvSpPr/>
          <p:nvPr/>
        </p:nvSpPr>
        <p:spPr>
          <a:xfrm>
            <a:off x="8623140" y="4945559"/>
            <a:ext cx="527252" cy="937061"/>
          </a:xfrm>
          <a:custGeom>
            <a:avLst/>
            <a:gdLst/>
            <a:ahLst/>
            <a:cxnLst/>
            <a:rect l="l" t="t" r="r" b="b"/>
            <a:pathLst>
              <a:path w="527252" h="937061">
                <a:moveTo>
                  <a:pt x="527252" y="0"/>
                </a:moveTo>
                <a:lnTo>
                  <a:pt x="0" y="93706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SBUILT DUCT · CV-EX SEC CONDUIT · 30.1 m"/>
          <p:cNvSpPr/>
          <p:nvPr/>
        </p:nvSpPr>
        <p:spPr>
          <a:xfrm>
            <a:off x="8623140" y="5882620"/>
            <a:ext cx="419186" cy="2784666"/>
          </a:xfrm>
          <a:custGeom>
            <a:avLst/>
            <a:gdLst/>
            <a:ahLst/>
            <a:cxnLst/>
            <a:rect l="l" t="t" r="r" b="b"/>
            <a:pathLst>
              <a:path w="419186" h="2784666">
                <a:moveTo>
                  <a:pt x="419186" y="2784666"/>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SBUILT DUCT · CV-NEW SEC SAWCUT · 15.6 m"/>
          <p:cNvSpPr/>
          <p:nvPr/>
        </p:nvSpPr>
        <p:spPr>
          <a:xfrm>
            <a:off x="8311092" y="4488817"/>
            <a:ext cx="142467" cy="1454034"/>
          </a:xfrm>
          <a:custGeom>
            <a:avLst/>
            <a:gdLst/>
            <a:ahLst/>
            <a:cxnLst/>
            <a:rect l="l" t="t" r="r" b="b"/>
            <a:pathLst>
              <a:path w="142467" h="1454034">
                <a:moveTo>
                  <a:pt x="142467" y="1454034"/>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SBUILT DUCT · CV-NEW SEC SAWCUT · 14.8 m"/>
          <p:cNvSpPr/>
          <p:nvPr/>
        </p:nvSpPr>
        <p:spPr>
          <a:xfrm>
            <a:off x="7623489" y="4147005"/>
            <a:ext cx="221689" cy="1363621"/>
          </a:xfrm>
          <a:custGeom>
            <a:avLst/>
            <a:gdLst/>
            <a:ahLst/>
            <a:cxnLst/>
            <a:rect l="l" t="t" r="r" b="b"/>
            <a:pathLst>
              <a:path w="221689" h="1363621">
                <a:moveTo>
                  <a:pt x="0" y="1363621"/>
                </a:moveTo>
                <a:lnTo>
                  <a:pt x="22168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SBUILT DUCT · CV-EX SEC CONDUIT · 26.2 m"/>
          <p:cNvSpPr/>
          <p:nvPr/>
        </p:nvSpPr>
        <p:spPr>
          <a:xfrm>
            <a:off x="6455728" y="4732573"/>
            <a:ext cx="2167412" cy="1150047"/>
          </a:xfrm>
          <a:custGeom>
            <a:avLst/>
            <a:gdLst/>
            <a:ahLst/>
            <a:cxnLst/>
            <a:rect l="l" t="t" r="r" b="b"/>
            <a:pathLst>
              <a:path w="2167412" h="1150047">
                <a:moveTo>
                  <a:pt x="0" y="0"/>
                </a:moveTo>
                <a:lnTo>
                  <a:pt x="2167412" y="1150047"/>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SBUILT DUCT · CV-NEW SEC SAWCUT · 14.5 m"/>
          <p:cNvSpPr/>
          <p:nvPr/>
        </p:nvSpPr>
        <p:spPr>
          <a:xfrm>
            <a:off x="9149559" y="4945063"/>
            <a:ext cx="166648" cy="1350048"/>
          </a:xfrm>
          <a:custGeom>
            <a:avLst/>
            <a:gdLst/>
            <a:ahLst/>
            <a:cxnLst/>
            <a:rect l="l" t="t" r="r" b="b"/>
            <a:pathLst>
              <a:path w="166648" h="1350048">
                <a:moveTo>
                  <a:pt x="166648" y="1350048"/>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SBUILT DUCT · CV-NEW SEC SAWCUT · 61.4 m"/>
          <p:cNvSpPr/>
          <p:nvPr/>
        </p:nvSpPr>
        <p:spPr>
          <a:xfrm>
            <a:off x="1811240" y="4726249"/>
            <a:ext cx="2340462" cy="1433125"/>
          </a:xfrm>
          <a:custGeom>
            <a:avLst/>
            <a:gdLst/>
            <a:ahLst/>
            <a:cxnLst/>
            <a:rect l="l" t="t" r="r" b="b"/>
            <a:pathLst>
              <a:path w="2340462" h="1433125">
                <a:moveTo>
                  <a:pt x="2295191" y="6151"/>
                </a:moveTo>
                <a:lnTo>
                  <a:pt x="1096392" y="1234882"/>
                </a:lnTo>
                <a:lnTo>
                  <a:pt x="0" y="1433125"/>
                </a:lnTo>
                <a:lnTo>
                  <a:pt x="1185325" y="1280181"/>
                </a:lnTo>
                <a:lnTo>
                  <a:pt x="2340462"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SBUILT DUCT · CV-NEW SEC SAWCUT · 8.9 m"/>
          <p:cNvSpPr/>
          <p:nvPr/>
        </p:nvSpPr>
        <p:spPr>
          <a:xfrm>
            <a:off x="4419153" y="5758687"/>
            <a:ext cx="644193" cy="521622"/>
          </a:xfrm>
          <a:custGeom>
            <a:avLst/>
            <a:gdLst/>
            <a:ahLst/>
            <a:cxnLst/>
            <a:rect l="l" t="t" r="r" b="b"/>
            <a:pathLst>
              <a:path w="644193" h="521622">
                <a:moveTo>
                  <a:pt x="644193" y="0"/>
                </a:moveTo>
                <a:lnTo>
                  <a:pt x="0" y="521622"/>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SBUILT DUCT · CV-NEW SEC SAWCUT · 37.0 m"/>
          <p:cNvSpPr/>
          <p:nvPr/>
        </p:nvSpPr>
        <p:spPr>
          <a:xfrm>
            <a:off x="3683964" y="5251825"/>
            <a:ext cx="906064" cy="3307316"/>
          </a:xfrm>
          <a:custGeom>
            <a:avLst/>
            <a:gdLst/>
            <a:ahLst/>
            <a:cxnLst/>
            <a:rect l="l" t="t" r="r" b="b"/>
            <a:pathLst>
              <a:path w="906064" h="3307316">
                <a:moveTo>
                  <a:pt x="906064" y="0"/>
                </a:moveTo>
                <a:lnTo>
                  <a:pt x="537755" y="2216917"/>
                </a:lnTo>
                <a:lnTo>
                  <a:pt x="0" y="330731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SBUILT DUCT · CV-NEW SEC SAWCUT · 30.7 m"/>
          <p:cNvSpPr/>
          <p:nvPr/>
        </p:nvSpPr>
        <p:spPr>
          <a:xfrm>
            <a:off x="3683964" y="6320650"/>
            <a:ext cx="1800642" cy="2238491"/>
          </a:xfrm>
          <a:custGeom>
            <a:avLst/>
            <a:gdLst/>
            <a:ahLst/>
            <a:cxnLst/>
            <a:rect l="l" t="t" r="r" b="b"/>
            <a:pathLst>
              <a:path w="1800642" h="2238491">
                <a:moveTo>
                  <a:pt x="1800642" y="0"/>
                </a:moveTo>
                <a:lnTo>
                  <a:pt x="0" y="223849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SBUILT DUCT · CV-NEW SEC SAWCUT · 9.7 m"/>
          <p:cNvSpPr/>
          <p:nvPr/>
        </p:nvSpPr>
        <p:spPr>
          <a:xfrm>
            <a:off x="4957897" y="6909947"/>
            <a:ext cx="906965" cy="65491"/>
          </a:xfrm>
          <a:custGeom>
            <a:avLst/>
            <a:gdLst/>
            <a:ahLst/>
            <a:cxnLst/>
            <a:rect l="l" t="t" r="r" b="b"/>
            <a:pathLst>
              <a:path w="906965" h="65491">
                <a:moveTo>
                  <a:pt x="906965" y="0"/>
                </a:moveTo>
                <a:lnTo>
                  <a:pt x="0" y="6549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SBUILT DUCT · CV-NEW SEC SAWCUT · 30.3 m"/>
          <p:cNvSpPr/>
          <p:nvPr/>
        </p:nvSpPr>
        <p:spPr>
          <a:xfrm>
            <a:off x="3683964" y="8162385"/>
            <a:ext cx="2809473" cy="396756"/>
          </a:xfrm>
          <a:custGeom>
            <a:avLst/>
            <a:gdLst/>
            <a:ahLst/>
            <a:cxnLst/>
            <a:rect l="l" t="t" r="r" b="b"/>
            <a:pathLst>
              <a:path w="2809473" h="396756">
                <a:moveTo>
                  <a:pt x="2809473" y="0"/>
                </a:moveTo>
                <a:lnTo>
                  <a:pt x="0" y="39675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SBUILT DUCT · CV-NEW SEC SAWCUT · 10.8 m"/>
          <p:cNvSpPr/>
          <p:nvPr/>
        </p:nvSpPr>
        <p:spPr>
          <a:xfrm>
            <a:off x="5553482" y="7525176"/>
            <a:ext cx="650260" cy="769951"/>
          </a:xfrm>
          <a:custGeom>
            <a:avLst/>
            <a:gdLst/>
            <a:ahLst/>
            <a:cxnLst/>
            <a:rect l="l" t="t" r="r" b="b"/>
            <a:pathLst>
              <a:path w="650260" h="769951">
                <a:moveTo>
                  <a:pt x="650260" y="0"/>
                </a:moveTo>
                <a:lnTo>
                  <a:pt x="0" y="76995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SBUILT DUCT · CV-NEW SEC SAWCUT · 29.2 m"/>
          <p:cNvSpPr/>
          <p:nvPr/>
        </p:nvSpPr>
        <p:spPr>
          <a:xfrm>
            <a:off x="4314550" y="8793547"/>
            <a:ext cx="2403343" cy="1308936"/>
          </a:xfrm>
          <a:custGeom>
            <a:avLst/>
            <a:gdLst/>
            <a:ahLst/>
            <a:cxnLst/>
            <a:rect l="l" t="t" r="r" b="b"/>
            <a:pathLst>
              <a:path w="2403343" h="1308936">
                <a:moveTo>
                  <a:pt x="2403343" y="0"/>
                </a:moveTo>
                <a:lnTo>
                  <a:pt x="0" y="130893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SBUILT DUCT · CV-NEW SEC SAWCUT · 10.7 m"/>
          <p:cNvSpPr/>
          <p:nvPr/>
        </p:nvSpPr>
        <p:spPr>
          <a:xfrm>
            <a:off x="5958742" y="9207008"/>
            <a:ext cx="967205" cy="267128"/>
          </a:xfrm>
          <a:custGeom>
            <a:avLst/>
            <a:gdLst/>
            <a:ahLst/>
            <a:cxnLst/>
            <a:rect l="l" t="t" r="r" b="b"/>
            <a:pathLst>
              <a:path w="967205" h="267128">
                <a:moveTo>
                  <a:pt x="967205" y="267128"/>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SBUILT DUCT · CV-NEW SEC SAWCUT · 29.4 m"/>
          <p:cNvSpPr/>
          <p:nvPr/>
        </p:nvSpPr>
        <p:spPr>
          <a:xfrm>
            <a:off x="4314550" y="10102483"/>
            <a:ext cx="2752219" cy="50951"/>
          </a:xfrm>
          <a:custGeom>
            <a:avLst/>
            <a:gdLst/>
            <a:ahLst/>
            <a:cxnLst/>
            <a:rect l="l" t="t" r="r" b="b"/>
            <a:pathLst>
              <a:path w="2752219" h="50951">
                <a:moveTo>
                  <a:pt x="2752219" y="50951"/>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SBUILT DUCT · CV-EX SEC CONDUIT · 23.3 m"/>
          <p:cNvSpPr/>
          <p:nvPr/>
        </p:nvSpPr>
        <p:spPr>
          <a:xfrm>
            <a:off x="8466913" y="5882620"/>
            <a:ext cx="156227" cy="2173602"/>
          </a:xfrm>
          <a:custGeom>
            <a:avLst/>
            <a:gdLst/>
            <a:ahLst/>
            <a:cxnLst/>
            <a:rect l="l" t="t" r="r" b="b"/>
            <a:pathLst>
              <a:path w="156227" h="2173602">
                <a:moveTo>
                  <a:pt x="0" y="2173602"/>
                </a:moveTo>
                <a:lnTo>
                  <a:pt x="15622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SBUILT DUCT · CV-EX SEC CONDUIT · 19.9 m"/>
          <p:cNvSpPr/>
          <p:nvPr/>
        </p:nvSpPr>
        <p:spPr>
          <a:xfrm>
            <a:off x="968053" y="987696"/>
            <a:ext cx="1434873" cy="1182018"/>
          </a:xfrm>
          <a:custGeom>
            <a:avLst/>
            <a:gdLst/>
            <a:ahLst/>
            <a:cxnLst/>
            <a:rect l="l" t="t" r="r" b="b"/>
            <a:pathLst>
              <a:path w="1434873" h="1182018">
                <a:moveTo>
                  <a:pt x="1434873" y="0"/>
                </a:moveTo>
                <a:lnTo>
                  <a:pt x="0" y="118201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SBUILT DUCT · CV-EX SEC CONDUIT · 19.7 m"/>
          <p:cNvSpPr/>
          <p:nvPr/>
        </p:nvSpPr>
        <p:spPr>
          <a:xfrm>
            <a:off x="1489769" y="987696"/>
            <a:ext cx="913157" cy="1600836"/>
          </a:xfrm>
          <a:custGeom>
            <a:avLst/>
            <a:gdLst/>
            <a:ahLst/>
            <a:cxnLst/>
            <a:rect l="l" t="t" r="r" b="b"/>
            <a:pathLst>
              <a:path w="913157" h="1600836">
                <a:moveTo>
                  <a:pt x="0" y="1600836"/>
                </a:moveTo>
                <a:lnTo>
                  <a:pt x="91315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SBUILT DUCT · CV-EX SEC CONDUIT · 22.5 m"/>
          <p:cNvSpPr/>
          <p:nvPr/>
        </p:nvSpPr>
        <p:spPr>
          <a:xfrm>
            <a:off x="440607" y="987696"/>
            <a:ext cx="1962319" cy="763882"/>
          </a:xfrm>
          <a:custGeom>
            <a:avLst/>
            <a:gdLst/>
            <a:ahLst/>
            <a:cxnLst/>
            <a:rect l="l" t="t" r="r" b="b"/>
            <a:pathLst>
              <a:path w="1962319" h="763882">
                <a:moveTo>
                  <a:pt x="0" y="763882"/>
                </a:moveTo>
                <a:lnTo>
                  <a:pt x="196231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SBUILT DUCT · CV-EX SEC CONDUIT · 22.0 m"/>
          <p:cNvSpPr/>
          <p:nvPr/>
        </p:nvSpPr>
        <p:spPr>
          <a:xfrm>
            <a:off x="2013190" y="987696"/>
            <a:ext cx="389736" cy="2021621"/>
          </a:xfrm>
          <a:custGeom>
            <a:avLst/>
            <a:gdLst/>
            <a:ahLst/>
            <a:cxnLst/>
            <a:rect l="l" t="t" r="r" b="b"/>
            <a:pathLst>
              <a:path w="389736" h="2021621">
                <a:moveTo>
                  <a:pt x="0" y="2021621"/>
                </a:moveTo>
                <a:lnTo>
                  <a:pt x="389736"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SBUILT DUCT · CV-NEW SEC SAWCUT · 28.4 m"/>
          <p:cNvSpPr/>
          <p:nvPr/>
        </p:nvSpPr>
        <p:spPr>
          <a:xfrm>
            <a:off x="2535459" y="777225"/>
            <a:ext cx="200786" cy="2651276"/>
          </a:xfrm>
          <a:custGeom>
            <a:avLst/>
            <a:gdLst/>
            <a:ahLst/>
            <a:cxnLst/>
            <a:rect l="l" t="t" r="r" b="b"/>
            <a:pathLst>
              <a:path w="200786" h="2651276">
                <a:moveTo>
                  <a:pt x="0" y="2651276"/>
                </a:moveTo>
                <a:lnTo>
                  <a:pt x="200786"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SBUILT DUCT · CV-NEW SEC SAWCUT · 16.9 m"/>
          <p:cNvSpPr/>
          <p:nvPr/>
        </p:nvSpPr>
        <p:spPr>
          <a:xfrm>
            <a:off x="320039" y="777223"/>
            <a:ext cx="1528168" cy="418310"/>
          </a:xfrm>
          <a:custGeom>
            <a:avLst/>
            <a:gdLst/>
            <a:ahLst/>
            <a:cxnLst/>
            <a:rect l="l" t="t" r="r" b="b"/>
            <a:pathLst>
              <a:path w="1528168" h="418310">
                <a:moveTo>
                  <a:pt x="0" y="418310"/>
                </a:moveTo>
                <a:lnTo>
                  <a:pt x="152816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SBUILT DUCT · CV-NEW SEC CONDUIT · 2.8 m"/>
          <p:cNvSpPr/>
          <p:nvPr/>
        </p:nvSpPr>
        <p:spPr>
          <a:xfrm>
            <a:off x="2402832" y="777224"/>
            <a:ext cx="161582" cy="210407"/>
          </a:xfrm>
          <a:custGeom>
            <a:avLst/>
            <a:gdLst/>
            <a:ahLst/>
            <a:cxnLst/>
            <a:rect l="l" t="t" r="r" b="b"/>
            <a:pathLst>
              <a:path w="161582" h="210407">
                <a:moveTo>
                  <a:pt x="161582" y="0"/>
                </a:moveTo>
                <a:lnTo>
                  <a:pt x="0" y="210407"/>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SBUILT DUCT · CV-EX SEC CONDUIT · 22.4 m"/>
          <p:cNvSpPr/>
          <p:nvPr/>
        </p:nvSpPr>
        <p:spPr>
          <a:xfrm>
            <a:off x="2046024" y="3849163"/>
            <a:ext cx="1013529" cy="1837744"/>
          </a:xfrm>
          <a:custGeom>
            <a:avLst/>
            <a:gdLst/>
            <a:ahLst/>
            <a:cxnLst/>
            <a:rect l="l" t="t" r="r" b="b"/>
            <a:pathLst>
              <a:path w="1013529" h="1837744">
                <a:moveTo>
                  <a:pt x="1013529" y="0"/>
                </a:moveTo>
                <a:lnTo>
                  <a:pt x="0" y="1837744"/>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SBUILT DUCT · CV-EX SEC CONDUIT · 22.3 m"/>
          <p:cNvSpPr/>
          <p:nvPr/>
        </p:nvSpPr>
        <p:spPr>
          <a:xfrm>
            <a:off x="2046024" y="4269133"/>
            <a:ext cx="1536285" cy="1417774"/>
          </a:xfrm>
          <a:custGeom>
            <a:avLst/>
            <a:gdLst/>
            <a:ahLst/>
            <a:cxnLst/>
            <a:rect l="l" t="t" r="r" b="b"/>
            <a:pathLst>
              <a:path w="1536285" h="1417774">
                <a:moveTo>
                  <a:pt x="0" y="1417774"/>
                </a:moveTo>
                <a:lnTo>
                  <a:pt x="1536285"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NEW SEC CONDUIT · 5.6 m"/>
          <p:cNvSpPr/>
          <p:nvPr/>
        </p:nvSpPr>
        <p:spPr>
          <a:xfrm>
            <a:off x="1811455" y="5686907"/>
            <a:ext cx="234569" cy="472223"/>
          </a:xfrm>
          <a:custGeom>
            <a:avLst/>
            <a:gdLst/>
            <a:ahLst/>
            <a:cxnLst/>
            <a:rect l="l" t="t" r="r" b="b"/>
            <a:pathLst>
              <a:path w="234569" h="472223">
                <a:moveTo>
                  <a:pt x="234569" y="0"/>
                </a:moveTo>
                <a:lnTo>
                  <a:pt x="0" y="47222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EX SEC CONDUIT · 9.7 m"/>
          <p:cNvSpPr/>
          <p:nvPr/>
        </p:nvSpPr>
        <p:spPr>
          <a:xfrm>
            <a:off x="4560299" y="3363941"/>
            <a:ext cx="793544" cy="432736"/>
          </a:xfrm>
          <a:custGeom>
            <a:avLst/>
            <a:gdLst/>
            <a:ahLst/>
            <a:cxnLst/>
            <a:rect l="l" t="t" r="r" b="b"/>
            <a:pathLst>
              <a:path w="793544" h="432736">
                <a:moveTo>
                  <a:pt x="0" y="432736"/>
                </a:moveTo>
                <a:lnTo>
                  <a:pt x="7935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DUCT · CV-EX SEC CONDUIT · 30.1 m"/>
          <p:cNvSpPr/>
          <p:nvPr/>
        </p:nvSpPr>
        <p:spPr>
          <a:xfrm>
            <a:off x="3333425" y="3363941"/>
            <a:ext cx="2020418" cy="1960918"/>
          </a:xfrm>
          <a:custGeom>
            <a:avLst/>
            <a:gdLst/>
            <a:ahLst/>
            <a:cxnLst/>
            <a:rect l="l" t="t" r="r" b="b"/>
            <a:pathLst>
              <a:path w="2020418" h="1960918">
                <a:moveTo>
                  <a:pt x="2020418" y="0"/>
                </a:moveTo>
                <a:lnTo>
                  <a:pt x="0" y="196091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DUCT · CV-EX SEC CONDUIT · 12.5 m"/>
          <p:cNvSpPr/>
          <p:nvPr/>
        </p:nvSpPr>
        <p:spPr>
          <a:xfrm>
            <a:off x="4384483" y="3363941"/>
            <a:ext cx="969360" cy="651736"/>
          </a:xfrm>
          <a:custGeom>
            <a:avLst/>
            <a:gdLst/>
            <a:ahLst/>
            <a:cxnLst/>
            <a:rect l="l" t="t" r="r" b="b"/>
            <a:pathLst>
              <a:path w="969360" h="651736">
                <a:moveTo>
                  <a:pt x="0" y="651736"/>
                </a:moveTo>
                <a:lnTo>
                  <a:pt x="96936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DUCT · CV-EX SEC CONDUIT · 15.4 m"/>
          <p:cNvSpPr/>
          <p:nvPr/>
        </p:nvSpPr>
        <p:spPr>
          <a:xfrm>
            <a:off x="4208742" y="3363941"/>
            <a:ext cx="1145101" cy="870791"/>
          </a:xfrm>
          <a:custGeom>
            <a:avLst/>
            <a:gdLst/>
            <a:ahLst/>
            <a:cxnLst/>
            <a:rect l="l" t="t" r="r" b="b"/>
            <a:pathLst>
              <a:path w="1145101" h="870791">
                <a:moveTo>
                  <a:pt x="0" y="870791"/>
                </a:moveTo>
                <a:lnTo>
                  <a:pt x="114510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DUCT · CV-NEW SEC CONDUIT · 8.9 m"/>
          <p:cNvSpPr/>
          <p:nvPr/>
        </p:nvSpPr>
        <p:spPr>
          <a:xfrm>
            <a:off x="5354040" y="2712486"/>
            <a:ext cx="512517" cy="651474"/>
          </a:xfrm>
          <a:custGeom>
            <a:avLst/>
            <a:gdLst/>
            <a:ahLst/>
            <a:cxnLst/>
            <a:rect l="l" t="t" r="r" b="b"/>
            <a:pathLst>
              <a:path w="512517" h="651474">
                <a:moveTo>
                  <a:pt x="512517" y="0"/>
                </a:moveTo>
                <a:lnTo>
                  <a:pt x="0" y="651474"/>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SBUILT DUCT · CV-NEW SEC CONDUIT · 9.2 m"/>
          <p:cNvSpPr/>
          <p:nvPr/>
        </p:nvSpPr>
        <p:spPr>
          <a:xfrm>
            <a:off x="5354040" y="2547426"/>
            <a:ext cx="285298" cy="816534"/>
          </a:xfrm>
          <a:custGeom>
            <a:avLst/>
            <a:gdLst/>
            <a:ahLst/>
            <a:cxnLst/>
            <a:rect l="l" t="t" r="r" b="b"/>
            <a:pathLst>
              <a:path w="285298" h="816534">
                <a:moveTo>
                  <a:pt x="285298" y="0"/>
                </a:moveTo>
                <a:lnTo>
                  <a:pt x="0" y="816534"/>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SBUILT DUCT · CV-EX SEC CONDUIT · 27.2 m"/>
          <p:cNvSpPr/>
          <p:nvPr/>
        </p:nvSpPr>
        <p:spPr>
          <a:xfrm>
            <a:off x="3505469" y="3363960"/>
            <a:ext cx="1848571" cy="1746759"/>
          </a:xfrm>
          <a:custGeom>
            <a:avLst/>
            <a:gdLst/>
            <a:ahLst/>
            <a:cxnLst/>
            <a:rect l="l" t="t" r="r" b="b"/>
            <a:pathLst>
              <a:path w="1848571" h="1746759">
                <a:moveTo>
                  <a:pt x="0" y="1746759"/>
                </a:moveTo>
                <a:lnTo>
                  <a:pt x="184857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SBUILT DUCT · CV-EX SEC CONDUIT · 24.2 m"/>
          <p:cNvSpPr/>
          <p:nvPr/>
        </p:nvSpPr>
        <p:spPr>
          <a:xfrm>
            <a:off x="3681285" y="3363960"/>
            <a:ext cx="1672755" cy="1527760"/>
          </a:xfrm>
          <a:custGeom>
            <a:avLst/>
            <a:gdLst/>
            <a:ahLst/>
            <a:cxnLst/>
            <a:rect l="l" t="t" r="r" b="b"/>
            <a:pathLst>
              <a:path w="1672755" h="1527760">
                <a:moveTo>
                  <a:pt x="1672755" y="0"/>
                </a:moveTo>
                <a:lnTo>
                  <a:pt x="0" y="152776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SBUILT DUCT · CV-NEW SEC CONDUIT · 3.6 m"/>
          <p:cNvSpPr/>
          <p:nvPr/>
        </p:nvSpPr>
        <p:spPr>
          <a:xfrm>
            <a:off x="5639338" y="2309705"/>
            <a:ext cx="239174" cy="237721"/>
          </a:xfrm>
          <a:custGeom>
            <a:avLst/>
            <a:gdLst/>
            <a:ahLst/>
            <a:cxnLst/>
            <a:rect l="l" t="t" r="r" b="b"/>
            <a:pathLst>
              <a:path w="239174" h="237721">
                <a:moveTo>
                  <a:pt x="239174" y="0"/>
                </a:moveTo>
                <a:lnTo>
                  <a:pt x="0" y="23772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SBUILT DUCT · CV-NEW SEC CONDUIT · 7.3 m"/>
          <p:cNvSpPr/>
          <p:nvPr/>
        </p:nvSpPr>
        <p:spPr>
          <a:xfrm>
            <a:off x="1585948" y="6159130"/>
            <a:ext cx="225507" cy="647712"/>
          </a:xfrm>
          <a:custGeom>
            <a:avLst/>
            <a:gdLst/>
            <a:ahLst/>
            <a:cxnLst/>
            <a:rect l="l" t="t" r="r" b="b"/>
            <a:pathLst>
              <a:path w="225507" h="647712">
                <a:moveTo>
                  <a:pt x="0" y="647712"/>
                </a:moveTo>
                <a:lnTo>
                  <a:pt x="225507"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ASBUILT DUCT · CV-EX SEC CONDUIT · 35.4 m"/>
          <p:cNvSpPr/>
          <p:nvPr/>
        </p:nvSpPr>
        <p:spPr>
          <a:xfrm>
            <a:off x="8623140" y="5882620"/>
            <a:ext cx="1252383" cy="3066156"/>
          </a:xfrm>
          <a:custGeom>
            <a:avLst/>
            <a:gdLst/>
            <a:ahLst/>
            <a:cxnLst/>
            <a:rect l="l" t="t" r="r" b="b"/>
            <a:pathLst>
              <a:path w="1252383" h="3066156">
                <a:moveTo>
                  <a:pt x="1252383" y="3066156"/>
                </a:moveTo>
                <a:lnTo>
                  <a:pt x="1145935" y="2921690"/>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ASBUILT DUCT · CV-EX SEC CONDUIT · 30.4 m"/>
          <p:cNvSpPr/>
          <p:nvPr/>
        </p:nvSpPr>
        <p:spPr>
          <a:xfrm>
            <a:off x="8623140" y="5882620"/>
            <a:ext cx="1174938" cy="2592123"/>
          </a:xfrm>
          <a:custGeom>
            <a:avLst/>
            <a:gdLst/>
            <a:ahLst/>
            <a:cxnLst/>
            <a:rect l="l" t="t" r="r" b="b"/>
            <a:pathLst>
              <a:path w="1174938" h="2592123">
                <a:moveTo>
                  <a:pt x="1174938" y="2592123"/>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ASBUILT DUCT · CV-NEW SEC SAWCUT · 36.0 m"/>
          <p:cNvSpPr/>
          <p:nvPr/>
        </p:nvSpPr>
        <p:spPr>
          <a:xfrm>
            <a:off x="7952854" y="4488602"/>
            <a:ext cx="358509" cy="3296412"/>
          </a:xfrm>
          <a:custGeom>
            <a:avLst/>
            <a:gdLst/>
            <a:ahLst/>
            <a:cxnLst/>
            <a:rect l="l" t="t" r="r" b="b"/>
            <a:pathLst>
              <a:path w="358509" h="3296412">
                <a:moveTo>
                  <a:pt x="0" y="3296412"/>
                </a:moveTo>
                <a:lnTo>
                  <a:pt x="207747" y="3037646"/>
                </a:lnTo>
                <a:lnTo>
                  <a:pt x="35850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ASBUILT DUCT · CV-EX SEC CONDUIT · 21.2 m"/>
          <p:cNvSpPr/>
          <p:nvPr/>
        </p:nvSpPr>
        <p:spPr>
          <a:xfrm>
            <a:off x="3857101" y="3363960"/>
            <a:ext cx="1496939" cy="1308761"/>
          </a:xfrm>
          <a:custGeom>
            <a:avLst/>
            <a:gdLst/>
            <a:ahLst/>
            <a:cxnLst/>
            <a:rect l="l" t="t" r="r" b="b"/>
            <a:pathLst>
              <a:path w="1496939" h="1308761">
                <a:moveTo>
                  <a:pt x="0" y="1308761"/>
                </a:moveTo>
                <a:lnTo>
                  <a:pt x="149693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ASBUILT DUCT · CV-EX SEC CONDUIT · 18.3 m"/>
          <p:cNvSpPr/>
          <p:nvPr/>
        </p:nvSpPr>
        <p:spPr>
          <a:xfrm>
            <a:off x="4032917" y="3363960"/>
            <a:ext cx="1321123" cy="1089771"/>
          </a:xfrm>
          <a:custGeom>
            <a:avLst/>
            <a:gdLst/>
            <a:ahLst/>
            <a:cxnLst/>
            <a:rect l="l" t="t" r="r" b="b"/>
            <a:pathLst>
              <a:path w="1321123" h="1089771">
                <a:moveTo>
                  <a:pt x="0" y="1089771"/>
                </a:moveTo>
                <a:lnTo>
                  <a:pt x="132112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SBUILT DUCT · CV-EX SEC CONDUIT · 31.4 m"/>
          <p:cNvSpPr/>
          <p:nvPr/>
        </p:nvSpPr>
        <p:spPr>
          <a:xfrm>
            <a:off x="8623140" y="5882620"/>
            <a:ext cx="746085" cy="2748316"/>
          </a:xfrm>
          <a:custGeom>
            <a:avLst/>
            <a:gdLst/>
            <a:ahLst/>
            <a:cxnLst/>
            <a:rect l="l" t="t" r="r" b="b"/>
            <a:pathLst>
              <a:path w="746085" h="2748316">
                <a:moveTo>
                  <a:pt x="489331" y="2748316"/>
                </a:moveTo>
                <a:lnTo>
                  <a:pt x="746085" y="2315691"/>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ASBUILT DUCT · CV-EX SEC CONDUIT · 26.8 m"/>
          <p:cNvSpPr/>
          <p:nvPr/>
        </p:nvSpPr>
        <p:spPr>
          <a:xfrm>
            <a:off x="8623140" y="5882620"/>
            <a:ext cx="562500" cy="2432277"/>
          </a:xfrm>
          <a:custGeom>
            <a:avLst/>
            <a:gdLst/>
            <a:ahLst/>
            <a:cxnLst/>
            <a:rect l="l" t="t" r="r" b="b"/>
            <a:pathLst>
              <a:path w="562500" h="2432277">
                <a:moveTo>
                  <a:pt x="494480" y="2432277"/>
                </a:moveTo>
                <a:lnTo>
                  <a:pt x="562500" y="2151361"/>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ASBUILT DUCT · CV_DUCT CROSSING 6x110mm dia · 53.3 m"/>
          <p:cNvSpPr/>
          <p:nvPr/>
        </p:nvSpPr>
        <p:spPr>
          <a:xfrm>
            <a:off x="910679" y="1500196"/>
            <a:ext cx="3125287" cy="3892621"/>
          </a:xfrm>
          <a:custGeom>
            <a:avLst/>
            <a:gdLst/>
            <a:ahLst/>
            <a:cxnLst/>
            <a:rect l="l" t="t" r="r" b="b"/>
            <a:pathLst>
              <a:path w="3125287" h="3892621">
                <a:moveTo>
                  <a:pt x="3125287" y="0"/>
                </a:moveTo>
                <a:lnTo>
                  <a:pt x="0" y="3892621"/>
                </a:lnTo>
              </a:path>
            </a:pathLst>
          </a:cu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ASBUILT DUCT · CV_OUTER DUCT 4x110mm dia · 72.2 m"/>
          <p:cNvSpPr/>
          <p:nvPr/>
        </p:nvSpPr>
        <p:spPr>
          <a:xfrm>
            <a:off x="4243488" y="1436446"/>
            <a:ext cx="5632043" cy="3708898"/>
          </a:xfrm>
          <a:custGeom>
            <a:avLst/>
            <a:gdLst/>
            <a:ahLst/>
            <a:cxnLst/>
            <a:rect l="l" t="t" r="r" b="b"/>
            <a:pathLst>
              <a:path w="5632043" h="3708898">
                <a:moveTo>
                  <a:pt x="0" y="0"/>
                </a:moveTo>
                <a:lnTo>
                  <a:pt x="4186952" y="2928502"/>
                </a:lnTo>
                <a:lnTo>
                  <a:pt x="4552709" y="3145808"/>
                </a:lnTo>
                <a:lnTo>
                  <a:pt x="5284756" y="3598646"/>
                </a:lnTo>
                <a:lnTo>
                  <a:pt x="5617823" y="3707089"/>
                </a:lnTo>
                <a:lnTo>
                  <a:pt x="5632043" y="3708898"/>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ASBUILT DUCT · CV_INNER DUCT 4x110mm dia · 54.4 m"/>
          <p:cNvSpPr/>
          <p:nvPr/>
        </p:nvSpPr>
        <p:spPr>
          <a:xfrm>
            <a:off x="4169056" y="1529226"/>
            <a:ext cx="4142036" cy="2959591"/>
          </a:xfrm>
          <a:custGeom>
            <a:avLst/>
            <a:gdLst/>
            <a:ahLst/>
            <a:cxnLst/>
            <a:rect l="l" t="t" r="r" b="b"/>
            <a:pathLst>
              <a:path w="4142036" h="2959591">
                <a:moveTo>
                  <a:pt x="0" y="0"/>
                </a:moveTo>
                <a:lnTo>
                  <a:pt x="4142036" y="2959591"/>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ASBUILT DUCT · CV_GRND DUCT · 1.5 m"/>
          <p:cNvSpPr/>
          <p:nvPr/>
        </p:nvSpPr>
        <p:spPr>
          <a:xfrm>
            <a:off x="7447864" y="3593711"/>
            <a:ext cx="85264" cy="117326"/>
          </a:xfrm>
          <a:custGeom>
            <a:avLst/>
            <a:gdLst/>
            <a:ahLst/>
            <a:cxnLst/>
            <a:rect l="l" t="t" r="r" b="b"/>
            <a:pathLst>
              <a:path w="85264" h="117326">
                <a:moveTo>
                  <a:pt x="85264" y="0"/>
                </a:moveTo>
                <a:lnTo>
                  <a:pt x="0" y="117326"/>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ASBUILT DUCT · CV_STH DUCT 6x110mm dia · 65.6 m"/>
          <p:cNvSpPr/>
          <p:nvPr/>
        </p:nvSpPr>
        <p:spPr>
          <a:xfrm>
            <a:off x="910679" y="5392817"/>
            <a:ext cx="3448108" cy="4939912"/>
          </a:xfrm>
          <a:custGeom>
            <a:avLst/>
            <a:gdLst/>
            <a:ahLst/>
            <a:cxnLst/>
            <a:rect l="l" t="t" r="r" b="b"/>
            <a:pathLst>
              <a:path w="3448108" h="4939912">
                <a:moveTo>
                  <a:pt x="0" y="0"/>
                </a:moveTo>
                <a:lnTo>
                  <a:pt x="900561" y="766557"/>
                </a:lnTo>
                <a:lnTo>
                  <a:pt x="2034124" y="1977328"/>
                </a:lnTo>
                <a:lnTo>
                  <a:pt x="2773069" y="3166577"/>
                </a:lnTo>
                <a:lnTo>
                  <a:pt x="3328541" y="4462030"/>
                </a:lnTo>
                <a:lnTo>
                  <a:pt x="3448108" y="4939912"/>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ASBUILT DUCT · CV_INNER DUCT 4x110mm dia · 11.5 m"/>
          <p:cNvSpPr/>
          <p:nvPr/>
        </p:nvSpPr>
        <p:spPr>
          <a:xfrm>
            <a:off x="3078664" y="777225"/>
            <a:ext cx="897314" cy="602968"/>
          </a:xfrm>
          <a:custGeom>
            <a:avLst/>
            <a:gdLst/>
            <a:ahLst/>
            <a:cxnLst/>
            <a:rect l="l" t="t" r="r" b="b"/>
            <a:pathLst>
              <a:path w="897314" h="602968">
                <a:moveTo>
                  <a:pt x="897314" y="602968"/>
                </a:move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ASBUILT DUCT · CV_OUTER DUCT 4x110mm dia · 9.3 m"/>
          <p:cNvSpPr/>
          <p:nvPr/>
        </p:nvSpPr>
        <p:spPr>
          <a:xfrm>
            <a:off x="3343370" y="777226"/>
            <a:ext cx="705580" cy="512003"/>
          </a:xfrm>
          <a:custGeom>
            <a:avLst/>
            <a:gdLst/>
            <a:ahLst/>
            <a:cxnLst/>
            <a:rect l="l" t="t" r="r" b="b"/>
            <a:pathLst>
              <a:path w="705580" h="512003">
                <a:moveTo>
                  <a:pt x="705580" y="512003"/>
                </a:move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ASBUILT DUCT · CV_INNER DUCT 4x110mm dia · 18.7 m"/>
          <p:cNvSpPr/>
          <p:nvPr/>
        </p:nvSpPr>
        <p:spPr>
          <a:xfrm>
            <a:off x="8311148" y="4488845"/>
            <a:ext cx="1564383" cy="768399"/>
          </a:xfrm>
          <a:custGeom>
            <a:avLst/>
            <a:gdLst/>
            <a:ahLst/>
            <a:cxnLst/>
            <a:rect l="l" t="t" r="r" b="b"/>
            <a:pathLst>
              <a:path w="1564383" h="768399">
                <a:moveTo>
                  <a:pt x="0" y="0"/>
                </a:moveTo>
                <a:lnTo>
                  <a:pt x="349814" y="195747"/>
                </a:lnTo>
                <a:lnTo>
                  <a:pt x="1182347" y="653753"/>
                </a:lnTo>
                <a:lnTo>
                  <a:pt x="1515723" y="762223"/>
                </a:lnTo>
                <a:lnTo>
                  <a:pt x="1564383" y="768399"/>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ASBUILT ASSET · Runway guard light / RRM"/>
          <p:cNvSpPr/>
          <p:nvPr/>
        </p:nvSpPr>
        <p:spPr>
          <a:xfrm>
            <a:off x="4301026" y="707824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ASBUILT ASSET · Taxiway centreline light"/>
          <p:cNvSpPr/>
          <p:nvPr/>
        </p:nvSpPr>
        <p:spPr>
          <a:xfrm>
            <a:off x="6447717" y="811666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ASBUILT ASSET · Taxiway centreline light"/>
          <p:cNvSpPr/>
          <p:nvPr/>
        </p:nvSpPr>
        <p:spPr>
          <a:xfrm>
            <a:off x="6672172" y="874783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ASBUILT ASSET · Taxiway centreline light"/>
          <p:cNvSpPr/>
          <p:nvPr/>
        </p:nvSpPr>
        <p:spPr>
          <a:xfrm>
            <a:off x="6880227" y="942842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ASBUILT ASSET · Taxiway centreline light"/>
          <p:cNvSpPr/>
          <p:nvPr/>
        </p:nvSpPr>
        <p:spPr>
          <a:xfrm>
            <a:off x="7021048" y="1010771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ASBUILT ASSET · Taxiway centreline light"/>
          <p:cNvSpPr/>
          <p:nvPr/>
        </p:nvSpPr>
        <p:spPr>
          <a:xfrm>
            <a:off x="9752357" y="842902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ASBUILT ASSET · Taxiway centreline light"/>
          <p:cNvSpPr/>
          <p:nvPr/>
        </p:nvSpPr>
        <p:spPr>
          <a:xfrm>
            <a:off x="9071900" y="826917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ASBUILT ASSET · Taxiway centreline light"/>
          <p:cNvSpPr/>
          <p:nvPr/>
        </p:nvSpPr>
        <p:spPr>
          <a:xfrm>
            <a:off x="8421193" y="801050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ASBUILT ASSET · Taxiway centreline light"/>
          <p:cNvSpPr/>
          <p:nvPr/>
        </p:nvSpPr>
        <p:spPr>
          <a:xfrm>
            <a:off x="3013832" y="380344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ASBUILT ASSET · Taxiway centreline light"/>
          <p:cNvSpPr/>
          <p:nvPr/>
        </p:nvSpPr>
        <p:spPr>
          <a:xfrm>
            <a:off x="2489691" y="338283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ASBUILT ASSET · Taxiway centreline light"/>
          <p:cNvSpPr/>
          <p:nvPr/>
        </p:nvSpPr>
        <p:spPr>
          <a:xfrm>
            <a:off x="1967516" y="296354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ASBUILT ASSET · Taxiway centreline light"/>
          <p:cNvSpPr/>
          <p:nvPr/>
        </p:nvSpPr>
        <p:spPr>
          <a:xfrm>
            <a:off x="1444030" y="254284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ASBUILT ASSET · Taxiway centreline light"/>
          <p:cNvSpPr/>
          <p:nvPr/>
        </p:nvSpPr>
        <p:spPr>
          <a:xfrm>
            <a:off x="922323" y="212401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ASBUILT ASSET · Taxiway centreline light"/>
          <p:cNvSpPr/>
          <p:nvPr/>
        </p:nvSpPr>
        <p:spPr>
          <a:xfrm>
            <a:off x="397639" y="170482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ASBUILT ASSET · Taxiway centreline light"/>
          <p:cNvSpPr/>
          <p:nvPr/>
        </p:nvSpPr>
        <p:spPr>
          <a:xfrm>
            <a:off x="3536757" y="422320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ASBUILT ASSET · Taxiway edge light"/>
          <p:cNvSpPr/>
          <p:nvPr/>
        </p:nvSpPr>
        <p:spPr>
          <a:xfrm>
            <a:off x="9270486" y="6249390"/>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ASBUILT ASSET · Runway guard light / RRM"/>
          <p:cNvSpPr/>
          <p:nvPr/>
        </p:nvSpPr>
        <p:spPr>
          <a:xfrm>
            <a:off x="3403556" y="5994015"/>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ASBUILT ASSET · Runway guard light / RRM"/>
          <p:cNvSpPr/>
          <p:nvPr/>
        </p:nvSpPr>
        <p:spPr>
          <a:xfrm>
            <a:off x="2374277" y="504140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ASBUILT ASSET · Runway guard light / RRM"/>
          <p:cNvSpPr/>
          <p:nvPr/>
        </p:nvSpPr>
        <p:spPr>
          <a:xfrm>
            <a:off x="972605" y="3797556"/>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ASBUILT ASSET · Runway guard light / RRM"/>
          <p:cNvSpPr/>
          <p:nvPr/>
        </p:nvSpPr>
        <p:spPr>
          <a:xfrm>
            <a:off x="4998257" y="829616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ASBUILT ASSET · Taxiway centreline light"/>
          <p:cNvSpPr/>
          <p:nvPr/>
        </p:nvSpPr>
        <p:spPr>
          <a:xfrm>
            <a:off x="9066750" y="858521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ASBUILT ASSET · Runway guard light / RRM"/>
          <p:cNvSpPr/>
          <p:nvPr/>
        </p:nvSpPr>
        <p:spPr>
          <a:xfrm>
            <a:off x="5485906" y="9607670"/>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ASBUILT ASSET · Taxiway centreline light"/>
          <p:cNvSpPr/>
          <p:nvPr/>
        </p:nvSpPr>
        <p:spPr>
          <a:xfrm>
            <a:off x="7872599" y="770110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ASBUILT ASSET · Taxiway centreline light"/>
          <p:cNvSpPr/>
          <p:nvPr/>
        </p:nvSpPr>
        <p:spPr>
          <a:xfrm>
            <a:off x="5724688" y="59795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ASBUILT ASSET · Taxiway centreline light"/>
          <p:cNvSpPr/>
          <p:nvPr/>
        </p:nvSpPr>
        <p:spPr>
          <a:xfrm>
            <a:off x="6811895" y="685873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ASBUILT ASSET · Taxiway centreline light"/>
          <p:cNvSpPr/>
          <p:nvPr/>
        </p:nvSpPr>
        <p:spPr>
          <a:xfrm>
            <a:off x="7907133" y="77392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ASBUILT ASSET · Taxiway centreline light"/>
          <p:cNvSpPr/>
          <p:nvPr/>
        </p:nvSpPr>
        <p:spPr>
          <a:xfrm>
            <a:off x="9001895" y="862124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ASBUILT ASSET · Taxiway centreline light"/>
          <p:cNvSpPr/>
          <p:nvPr/>
        </p:nvSpPr>
        <p:spPr>
          <a:xfrm>
            <a:off x="7363483" y="729406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ASBUILT ASSET · Taxiway centreline light"/>
          <p:cNvSpPr/>
          <p:nvPr/>
        </p:nvSpPr>
        <p:spPr>
          <a:xfrm>
            <a:off x="6269574" y="642318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ASBUILT ASSET · Taxiway centreline light"/>
          <p:cNvSpPr/>
          <p:nvPr/>
        </p:nvSpPr>
        <p:spPr>
          <a:xfrm>
            <a:off x="5177097" y="554021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ASBUILT ASSET · Sign foundation"/>
          <p:cNvSpPr/>
          <p:nvPr/>
        </p:nvSpPr>
        <p:spPr>
          <a:xfrm>
            <a:off x="1535656" y="675654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ASBUILT ASSET · Sign foundation"/>
          <p:cNvSpPr/>
          <p:nvPr/>
        </p:nvSpPr>
        <p:spPr>
          <a:xfrm>
            <a:off x="5852531" y="224948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ASBUILT ASSET · Taxiway edge light"/>
          <p:cNvSpPr/>
          <p:nvPr/>
        </p:nvSpPr>
        <p:spPr>
          <a:xfrm>
            <a:off x="6409202" y="4680805"/>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ASBUILT ASSET · Taxiway edge light"/>
          <p:cNvSpPr/>
          <p:nvPr/>
        </p:nvSpPr>
        <p:spPr>
          <a:xfrm>
            <a:off x="7575372" y="5460571"/>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ASBUILT ASSET · Taxiway edge light"/>
          <p:cNvSpPr/>
          <p:nvPr/>
        </p:nvSpPr>
        <p:spPr>
          <a:xfrm>
            <a:off x="8408194" y="5891532"/>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ASBUILT ASSET · Earthing point"/>
          <p:cNvSpPr/>
          <p:nvPr/>
        </p:nvSpPr>
        <p:spPr>
          <a:xfrm>
            <a:off x="5517596" y="3398873"/>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ASBUILT ASSET · Earthing point"/>
          <p:cNvSpPr/>
          <p:nvPr/>
        </p:nvSpPr>
        <p:spPr>
          <a:xfrm>
            <a:off x="534513" y="700152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ASBUILT ASSET · Handhole"/>
          <p:cNvSpPr/>
          <p:nvPr/>
        </p:nvSpPr>
        <p:spPr>
          <a:xfrm>
            <a:off x="5575330" y="248341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ASBUILT ASSET · Handhole"/>
          <p:cNvSpPr/>
          <p:nvPr/>
        </p:nvSpPr>
        <p:spPr>
          <a:xfrm>
            <a:off x="5802548" y="264847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ASBUILT ASSET · Handhole"/>
          <p:cNvSpPr/>
          <p:nvPr/>
        </p:nvSpPr>
        <p:spPr>
          <a:xfrm>
            <a:off x="6808564" y="337939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ASBUILT ASSET · Handhole"/>
          <p:cNvSpPr/>
          <p:nvPr/>
        </p:nvSpPr>
        <p:spPr>
          <a:xfrm>
            <a:off x="7779026" y="4084644"/>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ASBUILT ASSET · Handhole"/>
          <p:cNvSpPr/>
          <p:nvPr/>
        </p:nvSpPr>
        <p:spPr>
          <a:xfrm>
            <a:off x="2880804" y="7306052"/>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ASBUILT ASSET · Handhole"/>
          <p:cNvSpPr/>
          <p:nvPr/>
        </p:nvSpPr>
        <p:spPr>
          <a:xfrm>
            <a:off x="3619740" y="849538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ASBUILT ASSET · Handhole"/>
          <p:cNvSpPr/>
          <p:nvPr/>
        </p:nvSpPr>
        <p:spPr>
          <a:xfrm>
            <a:off x="4250326" y="1003871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ASBUILT ASSET · Handhole"/>
          <p:cNvSpPr/>
          <p:nvPr/>
        </p:nvSpPr>
        <p:spPr>
          <a:xfrm>
            <a:off x="8247158" y="442455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ASBUILT ASSET · Handhole"/>
          <p:cNvSpPr/>
          <p:nvPr/>
        </p:nvSpPr>
        <p:spPr>
          <a:xfrm>
            <a:off x="9085550" y="488105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ASBUILT ASSET · Handhole"/>
          <p:cNvSpPr/>
          <p:nvPr/>
        </p:nvSpPr>
        <p:spPr>
          <a:xfrm>
            <a:off x="1747231" y="609536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ASBUILT ASSET · Earthing pit"/>
          <p:cNvSpPr/>
          <p:nvPr/>
        </p:nvSpPr>
        <p:spPr>
          <a:xfrm>
            <a:off x="4284064" y="2610562"/>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ASBUILT ASSET · Earthing point"/>
          <p:cNvSpPr/>
          <p:nvPr/>
        </p:nvSpPr>
        <p:spPr>
          <a:xfrm>
            <a:off x="6022584" y="3629987"/>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ASBUILT ASSET · Earthing point"/>
          <p:cNvSpPr/>
          <p:nvPr/>
        </p:nvSpPr>
        <p:spPr>
          <a:xfrm>
            <a:off x="4584009" y="258453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ASBUILT ASSET · Earthing point"/>
          <p:cNvSpPr/>
          <p:nvPr/>
        </p:nvSpPr>
        <p:spPr>
          <a:xfrm>
            <a:off x="3577983" y="185362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ASBUILT ASSET · Earthing point"/>
          <p:cNvSpPr/>
          <p:nvPr/>
        </p:nvSpPr>
        <p:spPr>
          <a:xfrm>
            <a:off x="3350774" y="168856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ASBUILT ASSET · Earthing point"/>
          <p:cNvSpPr/>
          <p:nvPr/>
        </p:nvSpPr>
        <p:spPr>
          <a:xfrm>
            <a:off x="1664075" y="9861399"/>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ASBUILT ASSET · Earthing point"/>
          <p:cNvSpPr/>
          <p:nvPr/>
        </p:nvSpPr>
        <p:spPr>
          <a:xfrm>
            <a:off x="9831504" y="304694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ASBUILT ASSET · Earthing point"/>
          <p:cNvSpPr/>
          <p:nvPr/>
        </p:nvSpPr>
        <p:spPr>
          <a:xfrm>
            <a:off x="9362416" y="307864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ASBUILT ASSET · Earthing point"/>
          <p:cNvSpPr/>
          <p:nvPr/>
        </p:nvSpPr>
        <p:spPr>
          <a:xfrm>
            <a:off x="6716014" y="49076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ASBUILT ASSET · Handhole"/>
          <p:cNvSpPr/>
          <p:nvPr/>
        </p:nvSpPr>
        <p:spPr>
          <a:xfrm>
            <a:off x="8549305" y="4409597"/>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ASBUILT ASSET · Existing transformer manhole"/>
          <p:cNvSpPr/>
          <p:nvPr/>
        </p:nvSpPr>
        <p:spPr>
          <a:xfrm>
            <a:off x="3348482" y="1718937"/>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ASBUILT ASSET · Existing transformer manhole"/>
          <p:cNvSpPr/>
          <p:nvPr/>
        </p:nvSpPr>
        <p:spPr>
          <a:xfrm>
            <a:off x="913681" y="4744980"/>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ASBUILT ASSET · Manhole"/>
          <p:cNvSpPr/>
          <p:nvPr/>
        </p:nvSpPr>
        <p:spPr>
          <a:xfrm>
            <a:off x="823811" y="5305949"/>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ASBUILT ASSET · Manhole"/>
          <p:cNvSpPr/>
          <p:nvPr/>
        </p:nvSpPr>
        <p:spPr>
          <a:xfrm>
            <a:off x="4025439" y="1318245"/>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ASBUILT ASSET · Existing transformer handhole"/>
          <p:cNvSpPr/>
          <p:nvPr/>
        </p:nvSpPr>
        <p:spPr>
          <a:xfrm>
            <a:off x="5280597" y="3290723"/>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ASBUILT ASSET · Existing transformer handhole"/>
          <p:cNvSpPr/>
          <p:nvPr/>
        </p:nvSpPr>
        <p:spPr>
          <a:xfrm>
            <a:off x="1972787" y="5613670"/>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ASBUILT ASSET · Existing transformer handhole"/>
          <p:cNvSpPr/>
          <p:nvPr/>
        </p:nvSpPr>
        <p:spPr>
          <a:xfrm>
            <a:off x="4179523" y="8144310"/>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ASBUILT ASSET · Existing transformer handhole"/>
          <p:cNvSpPr/>
          <p:nvPr/>
        </p:nvSpPr>
        <p:spPr>
          <a:xfrm>
            <a:off x="2329680" y="91447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ASBUILT ASSET · Existing transformer handhole"/>
          <p:cNvSpPr/>
          <p:nvPr/>
        </p:nvSpPr>
        <p:spPr>
          <a:xfrm>
            <a:off x="8549988" y="5809467"/>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102.1 m ACROSS  ·  NOT TO SCALE WHEN EDITED</a:t>
            </a:r>
          </a:p>
        </p:txBody>
      </p:sp>
      <p:sp>
        <p:nvSpPr>
          <p:cNvPr id="5" name="Shape 3"/>
          <p:cNvSpPr/>
          <p:nvPr/>
        </p:nvSpPr>
        <p:spPr>
          <a:xfrm>
            <a:off x="951025" y="777240"/>
            <a:ext cx="166132" cy="134108"/>
          </a:xfrm>
          <a:prstGeom prst="line">
            <a:avLst/>
          </a:prstGeom>
          <a:noFill/>
          <a:ln w="12700">
            <a:solidFill>
              <a:srgbClr val="7A8288"/>
            </a:solidFill>
            <a:prstDash val="solid"/>
          </a:ln>
        </p:spPr>
        <p:txBody>
          <a:bodyPr/>
          <a:lstStyle/>
          <a:p>
            <a:endParaRPr lang="en-US"/>
          </a:p>
        </p:txBody>
      </p:sp>
      <p:sp>
        <p:nvSpPr>
          <p:cNvPr id="6" name="Shape 4"/>
          <p:cNvSpPr/>
          <p:nvPr/>
        </p:nvSpPr>
        <p:spPr>
          <a:xfrm>
            <a:off x="1117157" y="911348"/>
            <a:ext cx="522676" cy="417486"/>
          </a:xfrm>
          <a:prstGeom prst="line">
            <a:avLst/>
          </a:prstGeom>
          <a:noFill/>
          <a:ln w="12700">
            <a:solidFill>
              <a:srgbClr val="7A8288"/>
            </a:solidFill>
            <a:prstDash val="solid"/>
          </a:ln>
        </p:spPr>
        <p:txBody>
          <a:bodyPr/>
          <a:lstStyle/>
          <a:p>
            <a:endParaRPr lang="en-US"/>
          </a:p>
        </p:txBody>
      </p:sp>
      <p:sp>
        <p:nvSpPr>
          <p:cNvPr id="7" name="Shape 5"/>
          <p:cNvSpPr/>
          <p:nvPr/>
        </p:nvSpPr>
        <p:spPr>
          <a:xfrm>
            <a:off x="1639833" y="1328834"/>
            <a:ext cx="2059" cy="1685"/>
          </a:xfrm>
          <a:prstGeom prst="line">
            <a:avLst/>
          </a:prstGeom>
          <a:noFill/>
          <a:ln w="12700">
            <a:solidFill>
              <a:srgbClr val="7A8288"/>
            </a:solidFill>
            <a:prstDash val="solid"/>
          </a:ln>
        </p:spPr>
        <p:txBody>
          <a:bodyPr/>
          <a:lstStyle/>
          <a:p>
            <a:endParaRPr lang="en-US"/>
          </a:p>
        </p:txBody>
      </p:sp>
      <p:sp>
        <p:nvSpPr>
          <p:cNvPr id="8" name="Shape 6"/>
          <p:cNvSpPr/>
          <p:nvPr/>
        </p:nvSpPr>
        <p:spPr>
          <a:xfrm>
            <a:off x="1641892" y="1330519"/>
            <a:ext cx="521647" cy="418890"/>
          </a:xfrm>
          <a:prstGeom prst="line">
            <a:avLst/>
          </a:prstGeom>
          <a:noFill/>
          <a:ln w="12700">
            <a:solidFill>
              <a:srgbClr val="7A8288"/>
            </a:solidFill>
            <a:prstDash val="solid"/>
          </a:ln>
        </p:spPr>
        <p:txBody>
          <a:bodyPr/>
          <a:lstStyle/>
          <a:p>
            <a:endParaRPr lang="en-US"/>
          </a:p>
        </p:txBody>
      </p:sp>
      <p:sp>
        <p:nvSpPr>
          <p:cNvPr id="9" name="Shape 7"/>
          <p:cNvSpPr/>
          <p:nvPr/>
        </p:nvSpPr>
        <p:spPr>
          <a:xfrm>
            <a:off x="2163539" y="1749409"/>
            <a:ext cx="523612" cy="420762"/>
          </a:xfrm>
          <a:prstGeom prst="line">
            <a:avLst/>
          </a:prstGeom>
          <a:noFill/>
          <a:ln w="12700">
            <a:solidFill>
              <a:srgbClr val="7A8288"/>
            </a:solidFill>
            <a:prstDash val="solid"/>
          </a:ln>
        </p:spPr>
        <p:txBody>
          <a:bodyPr/>
          <a:lstStyle/>
          <a:p>
            <a:endParaRPr lang="en-US"/>
          </a:p>
        </p:txBody>
      </p:sp>
      <p:sp>
        <p:nvSpPr>
          <p:cNvPr id="10" name="Shape 8"/>
          <p:cNvSpPr/>
          <p:nvPr/>
        </p:nvSpPr>
        <p:spPr>
          <a:xfrm>
            <a:off x="2687151" y="2170170"/>
            <a:ext cx="522021" cy="419077"/>
          </a:xfrm>
          <a:prstGeom prst="line">
            <a:avLst/>
          </a:prstGeom>
          <a:noFill/>
          <a:ln w="12700">
            <a:solidFill>
              <a:srgbClr val="7A8288"/>
            </a:solidFill>
            <a:prstDash val="solid"/>
          </a:ln>
        </p:spPr>
        <p:txBody>
          <a:bodyPr/>
          <a:lstStyle/>
          <a:p>
            <a:endParaRPr lang="en-US"/>
          </a:p>
        </p:txBody>
      </p:sp>
      <p:sp>
        <p:nvSpPr>
          <p:cNvPr id="11" name="Shape 9"/>
          <p:cNvSpPr/>
          <p:nvPr/>
        </p:nvSpPr>
        <p:spPr>
          <a:xfrm>
            <a:off x="3209173" y="2589247"/>
            <a:ext cx="523987" cy="420668"/>
          </a:xfrm>
          <a:prstGeom prst="line">
            <a:avLst/>
          </a:prstGeom>
          <a:noFill/>
          <a:ln w="12700">
            <a:solidFill>
              <a:srgbClr val="7A8288"/>
            </a:solidFill>
            <a:prstDash val="solid"/>
          </a:ln>
        </p:spPr>
        <p:txBody>
          <a:bodyPr/>
          <a:lstStyle/>
          <a:p>
            <a:endParaRPr lang="en-US"/>
          </a:p>
        </p:txBody>
      </p:sp>
      <p:sp>
        <p:nvSpPr>
          <p:cNvPr id="12" name="Shape 10"/>
          <p:cNvSpPr/>
          <p:nvPr/>
        </p:nvSpPr>
        <p:spPr>
          <a:xfrm>
            <a:off x="3733159" y="3009915"/>
            <a:ext cx="522957" cy="419639"/>
          </a:xfrm>
          <a:prstGeom prst="line">
            <a:avLst/>
          </a:prstGeom>
          <a:noFill/>
          <a:ln w="12700">
            <a:solidFill>
              <a:srgbClr val="7A8288"/>
            </a:solidFill>
            <a:prstDash val="solid"/>
          </a:ln>
        </p:spPr>
        <p:txBody>
          <a:bodyPr/>
          <a:lstStyle/>
          <a:p>
            <a:endParaRPr lang="en-US"/>
          </a:p>
        </p:txBody>
      </p:sp>
      <p:sp>
        <p:nvSpPr>
          <p:cNvPr id="13" name="Shape 11"/>
          <p:cNvSpPr/>
          <p:nvPr/>
        </p:nvSpPr>
        <p:spPr>
          <a:xfrm>
            <a:off x="4256117" y="3429554"/>
            <a:ext cx="566381" cy="455108"/>
          </a:xfrm>
          <a:prstGeom prst="line">
            <a:avLst/>
          </a:prstGeom>
          <a:noFill/>
          <a:ln w="12700">
            <a:solidFill>
              <a:srgbClr val="7A8288"/>
            </a:solidFill>
            <a:prstDash val="solid"/>
          </a:ln>
        </p:spPr>
        <p:txBody>
          <a:bodyPr/>
          <a:lstStyle/>
          <a:p>
            <a:endParaRPr lang="en-US"/>
          </a:p>
        </p:txBody>
      </p:sp>
      <p:sp>
        <p:nvSpPr>
          <p:cNvPr id="14" name="Shape 12"/>
          <p:cNvSpPr/>
          <p:nvPr/>
        </p:nvSpPr>
        <p:spPr>
          <a:xfrm>
            <a:off x="4822497" y="3884661"/>
            <a:ext cx="522957" cy="413462"/>
          </a:xfrm>
          <a:prstGeom prst="line">
            <a:avLst/>
          </a:prstGeom>
          <a:noFill/>
          <a:ln w="12700">
            <a:solidFill>
              <a:srgbClr val="7A8288"/>
            </a:solidFill>
            <a:prstDash val="solid"/>
          </a:ln>
        </p:spPr>
        <p:txBody>
          <a:bodyPr/>
          <a:lstStyle/>
          <a:p>
            <a:endParaRPr lang="en-US"/>
          </a:p>
        </p:txBody>
      </p:sp>
      <p:sp>
        <p:nvSpPr>
          <p:cNvPr id="15" name="Shape 13"/>
          <p:cNvSpPr/>
          <p:nvPr/>
        </p:nvSpPr>
        <p:spPr>
          <a:xfrm>
            <a:off x="5345455" y="4298123"/>
            <a:ext cx="11885" cy="9546"/>
          </a:xfrm>
          <a:prstGeom prst="line">
            <a:avLst/>
          </a:prstGeom>
          <a:noFill/>
          <a:ln w="12700">
            <a:solidFill>
              <a:srgbClr val="7A8288"/>
            </a:solidFill>
            <a:prstDash val="solid"/>
          </a:ln>
        </p:spPr>
        <p:txBody>
          <a:bodyPr/>
          <a:lstStyle/>
          <a:p>
            <a:endParaRPr lang="en-US"/>
          </a:p>
        </p:txBody>
      </p:sp>
      <p:sp>
        <p:nvSpPr>
          <p:cNvPr id="16" name="Shape 14"/>
          <p:cNvSpPr/>
          <p:nvPr/>
        </p:nvSpPr>
        <p:spPr>
          <a:xfrm>
            <a:off x="5357340" y="4307669"/>
            <a:ext cx="544950" cy="443596"/>
          </a:xfrm>
          <a:prstGeom prst="line">
            <a:avLst/>
          </a:prstGeom>
          <a:noFill/>
          <a:ln w="12700">
            <a:solidFill>
              <a:srgbClr val="7A8288"/>
            </a:solidFill>
            <a:prstDash val="solid"/>
          </a:ln>
        </p:spPr>
        <p:txBody>
          <a:bodyPr/>
          <a:lstStyle/>
          <a:p>
            <a:endParaRPr lang="en-US"/>
          </a:p>
        </p:txBody>
      </p:sp>
      <p:sp>
        <p:nvSpPr>
          <p:cNvPr id="17" name="Shape 15"/>
          <p:cNvSpPr/>
          <p:nvPr/>
        </p:nvSpPr>
        <p:spPr>
          <a:xfrm>
            <a:off x="5902290" y="4751266"/>
            <a:ext cx="76927" cy="69066"/>
          </a:xfrm>
          <a:prstGeom prst="line">
            <a:avLst/>
          </a:prstGeom>
          <a:noFill/>
          <a:ln w="12700">
            <a:solidFill>
              <a:srgbClr val="7A8288"/>
            </a:solidFill>
            <a:prstDash val="solid"/>
          </a:ln>
        </p:spPr>
        <p:txBody>
          <a:bodyPr/>
          <a:lstStyle/>
          <a:p>
            <a:endParaRPr lang="en-US"/>
          </a:p>
        </p:txBody>
      </p:sp>
      <p:sp>
        <p:nvSpPr>
          <p:cNvPr id="18" name="Shape 16"/>
          <p:cNvSpPr/>
          <p:nvPr/>
        </p:nvSpPr>
        <p:spPr>
          <a:xfrm>
            <a:off x="5979217" y="4820332"/>
            <a:ext cx="69909" cy="76085"/>
          </a:xfrm>
          <a:prstGeom prst="line">
            <a:avLst/>
          </a:prstGeom>
          <a:noFill/>
          <a:ln w="12700">
            <a:solidFill>
              <a:srgbClr val="7A8288"/>
            </a:solidFill>
            <a:prstDash val="solid"/>
          </a:ln>
        </p:spPr>
        <p:txBody>
          <a:bodyPr/>
          <a:lstStyle/>
          <a:p>
            <a:endParaRPr lang="en-US"/>
          </a:p>
        </p:txBody>
      </p:sp>
      <p:sp>
        <p:nvSpPr>
          <p:cNvPr id="19" name="Shape 17"/>
          <p:cNvSpPr/>
          <p:nvPr/>
        </p:nvSpPr>
        <p:spPr>
          <a:xfrm>
            <a:off x="6049126" y="4896417"/>
            <a:ext cx="62328" cy="82355"/>
          </a:xfrm>
          <a:prstGeom prst="line">
            <a:avLst/>
          </a:prstGeom>
          <a:noFill/>
          <a:ln w="12700">
            <a:solidFill>
              <a:srgbClr val="7A8288"/>
            </a:solidFill>
            <a:prstDash val="solid"/>
          </a:ln>
        </p:spPr>
        <p:txBody>
          <a:bodyPr/>
          <a:lstStyle/>
          <a:p>
            <a:endParaRPr lang="en-US"/>
          </a:p>
        </p:txBody>
      </p:sp>
      <p:sp>
        <p:nvSpPr>
          <p:cNvPr id="20" name="Shape 18"/>
          <p:cNvSpPr/>
          <p:nvPr/>
        </p:nvSpPr>
        <p:spPr>
          <a:xfrm>
            <a:off x="6111454" y="4978773"/>
            <a:ext cx="21244" cy="34533"/>
          </a:xfrm>
          <a:prstGeom prst="line">
            <a:avLst/>
          </a:prstGeom>
          <a:noFill/>
          <a:ln w="12700">
            <a:solidFill>
              <a:srgbClr val="7A8288"/>
            </a:solidFill>
            <a:prstDash val="solid"/>
          </a:ln>
        </p:spPr>
        <p:txBody>
          <a:bodyPr/>
          <a:lstStyle/>
          <a:p>
            <a:endParaRPr lang="en-US"/>
          </a:p>
        </p:txBody>
      </p:sp>
      <p:sp>
        <p:nvSpPr>
          <p:cNvPr id="21" name="Shape 19"/>
          <p:cNvSpPr/>
          <p:nvPr/>
        </p:nvSpPr>
        <p:spPr>
          <a:xfrm>
            <a:off x="6132698" y="5013306"/>
            <a:ext cx="43237" cy="15161"/>
          </a:xfrm>
          <a:prstGeom prst="line">
            <a:avLst/>
          </a:prstGeom>
          <a:noFill/>
          <a:ln w="12700">
            <a:solidFill>
              <a:srgbClr val="7A8288"/>
            </a:solidFill>
            <a:prstDash val="solid"/>
          </a:ln>
        </p:spPr>
        <p:txBody>
          <a:bodyPr/>
          <a:lstStyle/>
          <a:p>
            <a:endParaRPr lang="en-US"/>
          </a:p>
        </p:txBody>
      </p:sp>
      <p:sp>
        <p:nvSpPr>
          <p:cNvPr id="22" name="Shape 20"/>
          <p:cNvSpPr/>
          <p:nvPr/>
        </p:nvSpPr>
        <p:spPr>
          <a:xfrm>
            <a:off x="6175935" y="5028467"/>
            <a:ext cx="96580" cy="44921"/>
          </a:xfrm>
          <a:prstGeom prst="line">
            <a:avLst/>
          </a:prstGeom>
          <a:noFill/>
          <a:ln w="12700">
            <a:solidFill>
              <a:srgbClr val="7A8288"/>
            </a:solidFill>
            <a:prstDash val="solid"/>
          </a:ln>
        </p:spPr>
        <p:txBody>
          <a:bodyPr/>
          <a:lstStyle/>
          <a:p>
            <a:endParaRPr lang="en-US"/>
          </a:p>
        </p:txBody>
      </p:sp>
      <p:sp>
        <p:nvSpPr>
          <p:cNvPr id="23" name="Shape 21"/>
          <p:cNvSpPr/>
          <p:nvPr/>
        </p:nvSpPr>
        <p:spPr>
          <a:xfrm>
            <a:off x="6272515" y="5073388"/>
            <a:ext cx="91620" cy="54280"/>
          </a:xfrm>
          <a:prstGeom prst="line">
            <a:avLst/>
          </a:prstGeom>
          <a:noFill/>
          <a:ln w="12700">
            <a:solidFill>
              <a:srgbClr val="7A8288"/>
            </a:solidFill>
            <a:prstDash val="solid"/>
          </a:ln>
        </p:spPr>
        <p:txBody>
          <a:bodyPr/>
          <a:lstStyle/>
          <a:p>
            <a:endParaRPr lang="en-US"/>
          </a:p>
        </p:txBody>
      </p:sp>
      <p:sp>
        <p:nvSpPr>
          <p:cNvPr id="24" name="Shape 22"/>
          <p:cNvSpPr/>
          <p:nvPr/>
        </p:nvSpPr>
        <p:spPr>
          <a:xfrm>
            <a:off x="6364136" y="5127667"/>
            <a:ext cx="85818" cy="63077"/>
          </a:xfrm>
          <a:prstGeom prst="line">
            <a:avLst/>
          </a:prstGeom>
          <a:noFill/>
          <a:ln w="12700">
            <a:solidFill>
              <a:srgbClr val="7A8288"/>
            </a:solidFill>
            <a:prstDash val="solid"/>
          </a:ln>
        </p:spPr>
        <p:txBody>
          <a:bodyPr/>
          <a:lstStyle/>
          <a:p>
            <a:endParaRPr lang="en-US"/>
          </a:p>
        </p:txBody>
      </p:sp>
      <p:sp>
        <p:nvSpPr>
          <p:cNvPr id="25" name="Shape 23"/>
          <p:cNvSpPr/>
          <p:nvPr/>
        </p:nvSpPr>
        <p:spPr>
          <a:xfrm>
            <a:off x="6449954" y="5190744"/>
            <a:ext cx="544856" cy="443596"/>
          </a:xfrm>
          <a:prstGeom prst="line">
            <a:avLst/>
          </a:prstGeom>
          <a:noFill/>
          <a:ln w="12700">
            <a:solidFill>
              <a:srgbClr val="7A8288"/>
            </a:solidFill>
            <a:prstDash val="solid"/>
          </a:ln>
        </p:spPr>
        <p:txBody>
          <a:bodyPr/>
          <a:lstStyle/>
          <a:p>
            <a:endParaRPr lang="en-US"/>
          </a:p>
        </p:txBody>
      </p:sp>
      <p:sp>
        <p:nvSpPr>
          <p:cNvPr id="26" name="Shape 24"/>
          <p:cNvSpPr/>
          <p:nvPr/>
        </p:nvSpPr>
        <p:spPr>
          <a:xfrm>
            <a:off x="6994810" y="5634341"/>
            <a:ext cx="79174" cy="71219"/>
          </a:xfrm>
          <a:prstGeom prst="line">
            <a:avLst/>
          </a:prstGeom>
          <a:noFill/>
          <a:ln w="12700">
            <a:solidFill>
              <a:srgbClr val="7A8288"/>
            </a:solidFill>
            <a:prstDash val="solid"/>
          </a:ln>
        </p:spPr>
        <p:txBody>
          <a:bodyPr/>
          <a:lstStyle/>
          <a:p>
            <a:endParaRPr lang="en-US"/>
          </a:p>
        </p:txBody>
      </p:sp>
      <p:sp>
        <p:nvSpPr>
          <p:cNvPr id="27" name="Shape 25"/>
          <p:cNvSpPr/>
          <p:nvPr/>
        </p:nvSpPr>
        <p:spPr>
          <a:xfrm>
            <a:off x="7073984" y="5705559"/>
            <a:ext cx="71780" cy="78799"/>
          </a:xfrm>
          <a:prstGeom prst="line">
            <a:avLst/>
          </a:prstGeom>
          <a:noFill/>
          <a:ln w="12700">
            <a:solidFill>
              <a:srgbClr val="7A8288"/>
            </a:solidFill>
            <a:prstDash val="solid"/>
          </a:ln>
        </p:spPr>
        <p:txBody>
          <a:bodyPr/>
          <a:lstStyle/>
          <a:p>
            <a:endParaRPr lang="en-US"/>
          </a:p>
        </p:txBody>
      </p:sp>
      <p:sp>
        <p:nvSpPr>
          <p:cNvPr id="28" name="Shape 26"/>
          <p:cNvSpPr/>
          <p:nvPr/>
        </p:nvSpPr>
        <p:spPr>
          <a:xfrm>
            <a:off x="7145764" y="5784359"/>
            <a:ext cx="63545" cy="85444"/>
          </a:xfrm>
          <a:prstGeom prst="line">
            <a:avLst/>
          </a:prstGeom>
          <a:noFill/>
          <a:ln w="12700">
            <a:solidFill>
              <a:srgbClr val="7A8288"/>
            </a:solidFill>
            <a:prstDash val="solid"/>
          </a:ln>
        </p:spPr>
        <p:txBody>
          <a:bodyPr/>
          <a:lstStyle/>
          <a:p>
            <a:endParaRPr lang="en-US"/>
          </a:p>
        </p:txBody>
      </p:sp>
      <p:sp>
        <p:nvSpPr>
          <p:cNvPr id="29" name="Shape 27"/>
          <p:cNvSpPr/>
          <p:nvPr/>
        </p:nvSpPr>
        <p:spPr>
          <a:xfrm>
            <a:off x="7209309" y="5869802"/>
            <a:ext cx="14225" cy="23677"/>
          </a:xfrm>
          <a:prstGeom prst="line">
            <a:avLst/>
          </a:prstGeom>
          <a:noFill/>
          <a:ln w="12700">
            <a:solidFill>
              <a:srgbClr val="7A8288"/>
            </a:solidFill>
            <a:prstDash val="solid"/>
          </a:ln>
        </p:spPr>
        <p:txBody>
          <a:bodyPr/>
          <a:lstStyle/>
          <a:p>
            <a:endParaRPr lang="en-US"/>
          </a:p>
        </p:txBody>
      </p:sp>
      <p:sp>
        <p:nvSpPr>
          <p:cNvPr id="30" name="Shape 28"/>
          <p:cNvSpPr/>
          <p:nvPr/>
        </p:nvSpPr>
        <p:spPr>
          <a:xfrm>
            <a:off x="9167403" y="7240459"/>
            <a:ext cx="91340" cy="7487"/>
          </a:xfrm>
          <a:prstGeom prst="line">
            <a:avLst/>
          </a:prstGeom>
          <a:noFill/>
          <a:ln w="12700">
            <a:solidFill>
              <a:srgbClr val="7A8288"/>
            </a:solidFill>
            <a:prstDash val="solid"/>
          </a:ln>
        </p:spPr>
        <p:txBody>
          <a:bodyPr/>
          <a:lstStyle/>
          <a:p>
            <a:endParaRPr lang="en-US"/>
          </a:p>
        </p:txBody>
      </p:sp>
      <p:sp>
        <p:nvSpPr>
          <p:cNvPr id="31" name="Shape 29"/>
          <p:cNvSpPr/>
          <p:nvPr/>
        </p:nvSpPr>
        <p:spPr>
          <a:xfrm>
            <a:off x="9258743" y="7247946"/>
            <a:ext cx="105003" cy="19279"/>
          </a:xfrm>
          <a:prstGeom prst="line">
            <a:avLst/>
          </a:prstGeom>
          <a:noFill/>
          <a:ln w="12700">
            <a:solidFill>
              <a:srgbClr val="7A8288"/>
            </a:solidFill>
            <a:prstDash val="solid"/>
          </a:ln>
        </p:spPr>
        <p:txBody>
          <a:bodyPr/>
          <a:lstStyle/>
          <a:p>
            <a:endParaRPr lang="en-US"/>
          </a:p>
        </p:txBody>
      </p:sp>
      <p:sp>
        <p:nvSpPr>
          <p:cNvPr id="32" name="Shape 30"/>
          <p:cNvSpPr/>
          <p:nvPr/>
        </p:nvSpPr>
        <p:spPr>
          <a:xfrm>
            <a:off x="9363746" y="7267225"/>
            <a:ext cx="338968" cy="79596"/>
          </a:xfrm>
          <a:prstGeom prst="line">
            <a:avLst/>
          </a:prstGeom>
          <a:noFill/>
          <a:ln w="12700">
            <a:solidFill>
              <a:srgbClr val="7A8288"/>
            </a:solidFill>
            <a:prstDash val="solid"/>
          </a:ln>
        </p:spPr>
        <p:txBody>
          <a:bodyPr/>
          <a:lstStyle/>
          <a:p>
            <a:endParaRPr lang="en-US"/>
          </a:p>
        </p:txBody>
      </p:sp>
      <p:sp>
        <p:nvSpPr>
          <p:cNvPr id="33" name="Shape 31"/>
          <p:cNvSpPr/>
          <p:nvPr/>
        </p:nvSpPr>
        <p:spPr>
          <a:xfrm>
            <a:off x="9206522" y="10155469"/>
            <a:ext cx="199079" cy="177251"/>
          </a:xfrm>
          <a:prstGeom prst="line">
            <a:avLst/>
          </a:prstGeom>
          <a:noFill/>
          <a:ln w="12700">
            <a:solidFill>
              <a:srgbClr val="7A8288"/>
            </a:solidFill>
            <a:prstDash val="solid"/>
          </a:ln>
        </p:spPr>
        <p:txBody>
          <a:bodyPr/>
          <a:lstStyle/>
          <a:p>
            <a:endParaRPr lang="en-US"/>
          </a:p>
        </p:txBody>
      </p:sp>
      <p:sp>
        <p:nvSpPr>
          <p:cNvPr id="34" name="Shape 32"/>
          <p:cNvSpPr/>
          <p:nvPr/>
        </p:nvSpPr>
        <p:spPr>
          <a:xfrm>
            <a:off x="492846" y="3168387"/>
            <a:ext cx="322871" cy="259295"/>
          </a:xfrm>
          <a:prstGeom prst="line">
            <a:avLst/>
          </a:prstGeom>
          <a:noFill/>
          <a:ln w="12700">
            <a:solidFill>
              <a:srgbClr val="7A8288"/>
            </a:solidFill>
            <a:prstDash val="solid"/>
          </a:ln>
        </p:spPr>
        <p:txBody>
          <a:bodyPr/>
          <a:lstStyle/>
          <a:p>
            <a:endParaRPr lang="en-US"/>
          </a:p>
        </p:txBody>
      </p:sp>
      <p:sp>
        <p:nvSpPr>
          <p:cNvPr id="35" name="Shape 33"/>
          <p:cNvSpPr/>
          <p:nvPr/>
        </p:nvSpPr>
        <p:spPr>
          <a:xfrm>
            <a:off x="815717" y="3427682"/>
            <a:ext cx="523706" cy="420762"/>
          </a:xfrm>
          <a:prstGeom prst="line">
            <a:avLst/>
          </a:prstGeom>
          <a:noFill/>
          <a:ln w="12700">
            <a:solidFill>
              <a:srgbClr val="7A8288"/>
            </a:solidFill>
            <a:prstDash val="solid"/>
          </a:ln>
        </p:spPr>
        <p:txBody>
          <a:bodyPr/>
          <a:lstStyle/>
          <a:p>
            <a:endParaRPr lang="en-US"/>
          </a:p>
        </p:txBody>
      </p:sp>
      <p:sp>
        <p:nvSpPr>
          <p:cNvPr id="36" name="Shape 34"/>
          <p:cNvSpPr/>
          <p:nvPr/>
        </p:nvSpPr>
        <p:spPr>
          <a:xfrm>
            <a:off x="1339423" y="3848444"/>
            <a:ext cx="522302" cy="419358"/>
          </a:xfrm>
          <a:prstGeom prst="line">
            <a:avLst/>
          </a:prstGeom>
          <a:noFill/>
          <a:ln w="12700">
            <a:solidFill>
              <a:srgbClr val="7A8288"/>
            </a:solidFill>
            <a:prstDash val="solid"/>
          </a:ln>
        </p:spPr>
        <p:txBody>
          <a:bodyPr/>
          <a:lstStyle/>
          <a:p>
            <a:endParaRPr lang="en-US"/>
          </a:p>
        </p:txBody>
      </p:sp>
      <p:sp>
        <p:nvSpPr>
          <p:cNvPr id="37" name="Shape 35"/>
          <p:cNvSpPr/>
          <p:nvPr/>
        </p:nvSpPr>
        <p:spPr>
          <a:xfrm>
            <a:off x="1861725" y="4267802"/>
            <a:ext cx="524174" cy="420762"/>
          </a:xfrm>
          <a:prstGeom prst="line">
            <a:avLst/>
          </a:prstGeom>
          <a:noFill/>
          <a:ln w="12700">
            <a:solidFill>
              <a:srgbClr val="7A8288"/>
            </a:solidFill>
            <a:prstDash val="solid"/>
          </a:ln>
        </p:spPr>
        <p:txBody>
          <a:bodyPr/>
          <a:lstStyle/>
          <a:p>
            <a:endParaRPr lang="en-US"/>
          </a:p>
        </p:txBody>
      </p:sp>
      <p:sp>
        <p:nvSpPr>
          <p:cNvPr id="38" name="Shape 36"/>
          <p:cNvSpPr/>
          <p:nvPr/>
        </p:nvSpPr>
        <p:spPr>
          <a:xfrm>
            <a:off x="2385899" y="4688563"/>
            <a:ext cx="522676" cy="419545"/>
          </a:xfrm>
          <a:prstGeom prst="line">
            <a:avLst/>
          </a:prstGeom>
          <a:noFill/>
          <a:ln w="12700">
            <a:solidFill>
              <a:srgbClr val="7A8288"/>
            </a:solidFill>
            <a:prstDash val="solid"/>
          </a:ln>
        </p:spPr>
        <p:txBody>
          <a:bodyPr/>
          <a:lstStyle/>
          <a:p>
            <a:endParaRPr lang="en-US"/>
          </a:p>
        </p:txBody>
      </p:sp>
      <p:sp>
        <p:nvSpPr>
          <p:cNvPr id="39" name="Shape 37"/>
          <p:cNvSpPr/>
          <p:nvPr/>
        </p:nvSpPr>
        <p:spPr>
          <a:xfrm>
            <a:off x="2908575" y="5108108"/>
            <a:ext cx="569001" cy="457166"/>
          </a:xfrm>
          <a:prstGeom prst="line">
            <a:avLst/>
          </a:prstGeom>
          <a:noFill/>
          <a:ln w="12700">
            <a:solidFill>
              <a:srgbClr val="7A8288"/>
            </a:solidFill>
            <a:prstDash val="solid"/>
          </a:ln>
        </p:spPr>
        <p:txBody>
          <a:bodyPr/>
          <a:lstStyle/>
          <a:p>
            <a:endParaRPr lang="en-US"/>
          </a:p>
        </p:txBody>
      </p:sp>
      <p:sp>
        <p:nvSpPr>
          <p:cNvPr id="40" name="Shape 38"/>
          <p:cNvSpPr/>
          <p:nvPr/>
        </p:nvSpPr>
        <p:spPr>
          <a:xfrm>
            <a:off x="3477577" y="5565274"/>
            <a:ext cx="6551" cy="5241"/>
          </a:xfrm>
          <a:prstGeom prst="line">
            <a:avLst/>
          </a:prstGeom>
          <a:noFill/>
          <a:ln w="12700">
            <a:solidFill>
              <a:srgbClr val="7A8288"/>
            </a:solidFill>
            <a:prstDash val="solid"/>
          </a:ln>
        </p:spPr>
        <p:txBody>
          <a:bodyPr/>
          <a:lstStyle/>
          <a:p>
            <a:endParaRPr lang="en-US"/>
          </a:p>
        </p:txBody>
      </p:sp>
      <p:sp>
        <p:nvSpPr>
          <p:cNvPr id="41" name="Shape 39"/>
          <p:cNvSpPr/>
          <p:nvPr/>
        </p:nvSpPr>
        <p:spPr>
          <a:xfrm>
            <a:off x="3484128" y="5570515"/>
            <a:ext cx="520243" cy="411309"/>
          </a:xfrm>
          <a:prstGeom prst="line">
            <a:avLst/>
          </a:prstGeom>
          <a:noFill/>
          <a:ln w="12700">
            <a:solidFill>
              <a:srgbClr val="7A8288"/>
            </a:solidFill>
            <a:prstDash val="solid"/>
          </a:ln>
        </p:spPr>
        <p:txBody>
          <a:bodyPr/>
          <a:lstStyle/>
          <a:p>
            <a:endParaRPr lang="en-US"/>
          </a:p>
        </p:txBody>
      </p:sp>
      <p:sp>
        <p:nvSpPr>
          <p:cNvPr id="42" name="Shape 40"/>
          <p:cNvSpPr/>
          <p:nvPr/>
        </p:nvSpPr>
        <p:spPr>
          <a:xfrm>
            <a:off x="4004371" y="5981825"/>
            <a:ext cx="8891" cy="7206"/>
          </a:xfrm>
          <a:prstGeom prst="line">
            <a:avLst/>
          </a:prstGeom>
          <a:noFill/>
          <a:ln w="12700">
            <a:solidFill>
              <a:srgbClr val="7A8288"/>
            </a:solidFill>
            <a:prstDash val="solid"/>
          </a:ln>
        </p:spPr>
        <p:txBody>
          <a:bodyPr/>
          <a:lstStyle/>
          <a:p>
            <a:endParaRPr lang="en-US"/>
          </a:p>
        </p:txBody>
      </p:sp>
      <p:sp>
        <p:nvSpPr>
          <p:cNvPr id="43" name="Shape 41"/>
          <p:cNvSpPr/>
          <p:nvPr/>
        </p:nvSpPr>
        <p:spPr>
          <a:xfrm>
            <a:off x="4013261" y="5989031"/>
            <a:ext cx="6457" cy="32287"/>
          </a:xfrm>
          <a:prstGeom prst="line">
            <a:avLst/>
          </a:prstGeom>
          <a:noFill/>
          <a:ln w="12700">
            <a:solidFill>
              <a:srgbClr val="7A8288"/>
            </a:solidFill>
            <a:prstDash val="solid"/>
          </a:ln>
        </p:spPr>
        <p:txBody>
          <a:bodyPr/>
          <a:lstStyle/>
          <a:p>
            <a:endParaRPr lang="en-US"/>
          </a:p>
        </p:txBody>
      </p:sp>
      <p:sp>
        <p:nvSpPr>
          <p:cNvPr id="44" name="Shape 42"/>
          <p:cNvSpPr/>
          <p:nvPr/>
        </p:nvSpPr>
        <p:spPr>
          <a:xfrm>
            <a:off x="4019719" y="6021318"/>
            <a:ext cx="31070" cy="102102"/>
          </a:xfrm>
          <a:prstGeom prst="line">
            <a:avLst/>
          </a:prstGeom>
          <a:noFill/>
          <a:ln w="12700">
            <a:solidFill>
              <a:srgbClr val="7A8288"/>
            </a:solidFill>
            <a:prstDash val="solid"/>
          </a:ln>
        </p:spPr>
        <p:txBody>
          <a:bodyPr/>
          <a:lstStyle/>
          <a:p>
            <a:endParaRPr lang="en-US"/>
          </a:p>
        </p:txBody>
      </p:sp>
      <p:sp>
        <p:nvSpPr>
          <p:cNvPr id="45" name="Shape 43"/>
          <p:cNvSpPr/>
          <p:nvPr/>
        </p:nvSpPr>
        <p:spPr>
          <a:xfrm>
            <a:off x="4050789" y="6123420"/>
            <a:ext cx="41084" cy="98452"/>
          </a:xfrm>
          <a:prstGeom prst="line">
            <a:avLst/>
          </a:prstGeom>
          <a:noFill/>
          <a:ln w="12700">
            <a:solidFill>
              <a:srgbClr val="7A8288"/>
            </a:solidFill>
            <a:prstDash val="solid"/>
          </a:ln>
        </p:spPr>
        <p:txBody>
          <a:bodyPr/>
          <a:lstStyle/>
          <a:p>
            <a:endParaRPr lang="en-US"/>
          </a:p>
        </p:txBody>
      </p:sp>
      <p:sp>
        <p:nvSpPr>
          <p:cNvPr id="46" name="Shape 44"/>
          <p:cNvSpPr/>
          <p:nvPr/>
        </p:nvSpPr>
        <p:spPr>
          <a:xfrm>
            <a:off x="4091874" y="6221872"/>
            <a:ext cx="50723" cy="93960"/>
          </a:xfrm>
          <a:prstGeom prst="line">
            <a:avLst/>
          </a:prstGeom>
          <a:noFill/>
          <a:ln w="12700">
            <a:solidFill>
              <a:srgbClr val="7A8288"/>
            </a:solidFill>
            <a:prstDash val="solid"/>
          </a:ln>
        </p:spPr>
        <p:txBody>
          <a:bodyPr/>
          <a:lstStyle/>
          <a:p>
            <a:endParaRPr lang="en-US"/>
          </a:p>
        </p:txBody>
      </p:sp>
      <p:sp>
        <p:nvSpPr>
          <p:cNvPr id="47" name="Shape 45"/>
          <p:cNvSpPr/>
          <p:nvPr/>
        </p:nvSpPr>
        <p:spPr>
          <a:xfrm>
            <a:off x="4142597" y="6315832"/>
            <a:ext cx="59708" cy="88439"/>
          </a:xfrm>
          <a:prstGeom prst="line">
            <a:avLst/>
          </a:prstGeom>
          <a:noFill/>
          <a:ln w="12700">
            <a:solidFill>
              <a:srgbClr val="7A8288"/>
            </a:solidFill>
            <a:prstDash val="solid"/>
          </a:ln>
        </p:spPr>
        <p:txBody>
          <a:bodyPr/>
          <a:lstStyle/>
          <a:p>
            <a:endParaRPr lang="en-US"/>
          </a:p>
        </p:txBody>
      </p:sp>
      <p:sp>
        <p:nvSpPr>
          <p:cNvPr id="48" name="Shape 46"/>
          <p:cNvSpPr/>
          <p:nvPr/>
        </p:nvSpPr>
        <p:spPr>
          <a:xfrm>
            <a:off x="4202305" y="6404271"/>
            <a:ext cx="421229" cy="561889"/>
          </a:xfrm>
          <a:prstGeom prst="line">
            <a:avLst/>
          </a:prstGeom>
          <a:noFill/>
          <a:ln w="12700">
            <a:solidFill>
              <a:srgbClr val="7A8288"/>
            </a:solidFill>
            <a:prstDash val="solid"/>
          </a:ln>
        </p:spPr>
        <p:txBody>
          <a:bodyPr/>
          <a:lstStyle/>
          <a:p>
            <a:endParaRPr lang="en-US"/>
          </a:p>
        </p:txBody>
      </p:sp>
      <p:sp>
        <p:nvSpPr>
          <p:cNvPr id="49" name="Shape 47"/>
          <p:cNvSpPr/>
          <p:nvPr/>
        </p:nvSpPr>
        <p:spPr>
          <a:xfrm>
            <a:off x="4623534" y="6966160"/>
            <a:ext cx="65884" cy="79641"/>
          </a:xfrm>
          <a:prstGeom prst="line">
            <a:avLst/>
          </a:prstGeom>
          <a:noFill/>
          <a:ln w="12700">
            <a:solidFill>
              <a:srgbClr val="7A8288"/>
            </a:solidFill>
            <a:prstDash val="solid"/>
          </a:ln>
        </p:spPr>
        <p:txBody>
          <a:bodyPr/>
          <a:lstStyle/>
          <a:p>
            <a:endParaRPr lang="en-US"/>
          </a:p>
        </p:txBody>
      </p:sp>
      <p:sp>
        <p:nvSpPr>
          <p:cNvPr id="50" name="Shape 48"/>
          <p:cNvSpPr/>
          <p:nvPr/>
        </p:nvSpPr>
        <p:spPr>
          <a:xfrm>
            <a:off x="4689419" y="7045801"/>
            <a:ext cx="73184" cy="72903"/>
          </a:xfrm>
          <a:prstGeom prst="line">
            <a:avLst/>
          </a:prstGeom>
          <a:noFill/>
          <a:ln w="12700">
            <a:solidFill>
              <a:srgbClr val="7A8288"/>
            </a:solidFill>
            <a:prstDash val="solid"/>
          </a:ln>
        </p:spPr>
        <p:txBody>
          <a:bodyPr/>
          <a:lstStyle/>
          <a:p>
            <a:endParaRPr lang="en-US"/>
          </a:p>
        </p:txBody>
      </p:sp>
      <p:sp>
        <p:nvSpPr>
          <p:cNvPr id="51" name="Shape 49"/>
          <p:cNvSpPr/>
          <p:nvPr/>
        </p:nvSpPr>
        <p:spPr>
          <a:xfrm>
            <a:off x="4762603" y="7118704"/>
            <a:ext cx="58398" cy="47916"/>
          </a:xfrm>
          <a:prstGeom prst="line">
            <a:avLst/>
          </a:prstGeom>
          <a:noFill/>
          <a:ln w="12700">
            <a:solidFill>
              <a:srgbClr val="7A8288"/>
            </a:solidFill>
            <a:prstDash val="solid"/>
          </a:ln>
        </p:spPr>
        <p:txBody>
          <a:bodyPr/>
          <a:lstStyle/>
          <a:p>
            <a:endParaRPr lang="en-US"/>
          </a:p>
        </p:txBody>
      </p:sp>
      <p:sp>
        <p:nvSpPr>
          <p:cNvPr id="52" name="Shape 50"/>
          <p:cNvSpPr/>
          <p:nvPr/>
        </p:nvSpPr>
        <p:spPr>
          <a:xfrm>
            <a:off x="4821000" y="7166620"/>
            <a:ext cx="16845" cy="64949"/>
          </a:xfrm>
          <a:prstGeom prst="line">
            <a:avLst/>
          </a:prstGeom>
          <a:noFill/>
          <a:ln w="12700">
            <a:solidFill>
              <a:srgbClr val="7A8288"/>
            </a:solidFill>
            <a:prstDash val="solid"/>
          </a:ln>
        </p:spPr>
        <p:txBody>
          <a:bodyPr/>
          <a:lstStyle/>
          <a:p>
            <a:endParaRPr lang="en-US"/>
          </a:p>
        </p:txBody>
      </p:sp>
      <p:sp>
        <p:nvSpPr>
          <p:cNvPr id="53" name="Shape 51"/>
          <p:cNvSpPr/>
          <p:nvPr/>
        </p:nvSpPr>
        <p:spPr>
          <a:xfrm>
            <a:off x="4837846" y="7231569"/>
            <a:ext cx="37247" cy="100885"/>
          </a:xfrm>
          <a:prstGeom prst="line">
            <a:avLst/>
          </a:prstGeom>
          <a:noFill/>
          <a:ln w="12700">
            <a:solidFill>
              <a:srgbClr val="7A8288"/>
            </a:solidFill>
            <a:prstDash val="solid"/>
          </a:ln>
        </p:spPr>
        <p:txBody>
          <a:bodyPr/>
          <a:lstStyle/>
          <a:p>
            <a:endParaRPr lang="en-US"/>
          </a:p>
        </p:txBody>
      </p:sp>
      <p:sp>
        <p:nvSpPr>
          <p:cNvPr id="54" name="Shape 52"/>
          <p:cNvSpPr/>
          <p:nvPr/>
        </p:nvSpPr>
        <p:spPr>
          <a:xfrm>
            <a:off x="4875093" y="7332454"/>
            <a:ext cx="47074" cy="96674"/>
          </a:xfrm>
          <a:prstGeom prst="line">
            <a:avLst/>
          </a:prstGeom>
          <a:noFill/>
          <a:ln w="12700">
            <a:solidFill>
              <a:srgbClr val="7A8288"/>
            </a:solidFill>
            <a:prstDash val="solid"/>
          </a:ln>
        </p:spPr>
        <p:txBody>
          <a:bodyPr/>
          <a:lstStyle/>
          <a:p>
            <a:endParaRPr lang="en-US"/>
          </a:p>
        </p:txBody>
      </p:sp>
      <p:sp>
        <p:nvSpPr>
          <p:cNvPr id="55" name="Shape 53"/>
          <p:cNvSpPr/>
          <p:nvPr/>
        </p:nvSpPr>
        <p:spPr>
          <a:xfrm>
            <a:off x="4922166" y="7429128"/>
            <a:ext cx="318940" cy="579109"/>
          </a:xfrm>
          <a:prstGeom prst="line">
            <a:avLst/>
          </a:prstGeom>
          <a:noFill/>
          <a:ln w="12700">
            <a:solidFill>
              <a:srgbClr val="7A8288"/>
            </a:solidFill>
            <a:prstDash val="solid"/>
          </a:ln>
        </p:spPr>
        <p:txBody>
          <a:bodyPr/>
          <a:lstStyle/>
          <a:p>
            <a:endParaRPr lang="en-US"/>
          </a:p>
        </p:txBody>
      </p:sp>
      <p:sp>
        <p:nvSpPr>
          <p:cNvPr id="56" name="Shape 54"/>
          <p:cNvSpPr/>
          <p:nvPr/>
        </p:nvSpPr>
        <p:spPr>
          <a:xfrm>
            <a:off x="5241107" y="8008237"/>
            <a:ext cx="253711" cy="557865"/>
          </a:xfrm>
          <a:prstGeom prst="line">
            <a:avLst/>
          </a:prstGeom>
          <a:noFill/>
          <a:ln w="12700">
            <a:solidFill>
              <a:srgbClr val="7A8288"/>
            </a:solidFill>
            <a:prstDash val="solid"/>
          </a:ln>
        </p:spPr>
        <p:txBody>
          <a:bodyPr/>
          <a:lstStyle/>
          <a:p>
            <a:endParaRPr lang="en-US"/>
          </a:p>
        </p:txBody>
      </p:sp>
      <p:sp>
        <p:nvSpPr>
          <p:cNvPr id="57" name="Shape 55"/>
          <p:cNvSpPr/>
          <p:nvPr/>
        </p:nvSpPr>
        <p:spPr>
          <a:xfrm>
            <a:off x="5494818" y="8566102"/>
            <a:ext cx="200929" cy="565164"/>
          </a:xfrm>
          <a:prstGeom prst="line">
            <a:avLst/>
          </a:prstGeom>
          <a:noFill/>
          <a:ln w="12700">
            <a:solidFill>
              <a:srgbClr val="7A8288"/>
            </a:solidFill>
            <a:prstDash val="solid"/>
          </a:ln>
        </p:spPr>
        <p:txBody>
          <a:bodyPr/>
          <a:lstStyle/>
          <a:p>
            <a:endParaRPr lang="en-US"/>
          </a:p>
        </p:txBody>
      </p:sp>
      <p:sp>
        <p:nvSpPr>
          <p:cNvPr id="58" name="Shape 56"/>
          <p:cNvSpPr/>
          <p:nvPr/>
        </p:nvSpPr>
        <p:spPr>
          <a:xfrm>
            <a:off x="5695746" y="9131266"/>
            <a:ext cx="186423" cy="609992"/>
          </a:xfrm>
          <a:prstGeom prst="line">
            <a:avLst/>
          </a:prstGeom>
          <a:noFill/>
          <a:ln w="12700">
            <a:solidFill>
              <a:srgbClr val="7A8288"/>
            </a:solidFill>
            <a:prstDash val="solid"/>
          </a:ln>
        </p:spPr>
        <p:txBody>
          <a:bodyPr/>
          <a:lstStyle/>
          <a:p>
            <a:endParaRPr lang="en-US"/>
          </a:p>
        </p:txBody>
      </p:sp>
      <p:sp>
        <p:nvSpPr>
          <p:cNvPr id="59" name="Shape 57"/>
          <p:cNvSpPr/>
          <p:nvPr/>
        </p:nvSpPr>
        <p:spPr>
          <a:xfrm>
            <a:off x="5882169" y="9741258"/>
            <a:ext cx="122674" cy="591462"/>
          </a:xfrm>
          <a:prstGeom prst="line">
            <a:avLst/>
          </a:prstGeom>
          <a:noFill/>
          <a:ln w="12700">
            <a:solidFill>
              <a:srgbClr val="7A8288"/>
            </a:solidFill>
            <a:prstDash val="solid"/>
          </a:ln>
        </p:spPr>
        <p:txBody>
          <a:bodyPr/>
          <a:lstStyle/>
          <a:p>
            <a:endParaRPr lang="en-US"/>
          </a:p>
        </p:txBody>
      </p:sp>
      <p:sp>
        <p:nvSpPr>
          <p:cNvPr id="60" name="Shape 58"/>
          <p:cNvSpPr/>
          <p:nvPr/>
        </p:nvSpPr>
        <p:spPr>
          <a:xfrm flipV="1">
            <a:off x="9050973" y="10155469"/>
            <a:ext cx="155549" cy="177251"/>
          </a:xfrm>
          <a:prstGeom prst="line">
            <a:avLst/>
          </a:prstGeom>
          <a:noFill/>
          <a:ln w="12700">
            <a:solidFill>
              <a:srgbClr val="7A8288"/>
            </a:solidFill>
            <a:prstDash val="solid"/>
          </a:ln>
        </p:spPr>
        <p:txBody>
          <a:bodyPr/>
          <a:lstStyle/>
          <a:p>
            <a:endParaRPr lang="en-US"/>
          </a:p>
        </p:txBody>
      </p:sp>
      <p:sp>
        <p:nvSpPr>
          <p:cNvPr id="61" name="Shape 59"/>
          <p:cNvSpPr/>
          <p:nvPr/>
        </p:nvSpPr>
        <p:spPr>
          <a:xfrm>
            <a:off x="9080275" y="7171861"/>
            <a:ext cx="87128" cy="68598"/>
          </a:xfrm>
          <a:prstGeom prst="line">
            <a:avLst/>
          </a:prstGeom>
          <a:noFill/>
          <a:ln w="12700">
            <a:solidFill>
              <a:srgbClr val="7A8288"/>
            </a:solidFill>
            <a:prstDash val="solid"/>
          </a:ln>
        </p:spPr>
        <p:txBody>
          <a:bodyPr/>
          <a:lstStyle/>
          <a:p>
            <a:endParaRPr lang="en-US"/>
          </a:p>
        </p:txBody>
      </p:sp>
      <p:sp>
        <p:nvSpPr>
          <p:cNvPr id="62" name="Shape 60"/>
          <p:cNvSpPr/>
          <p:nvPr/>
        </p:nvSpPr>
        <p:spPr>
          <a:xfrm>
            <a:off x="8969095" y="7104386"/>
            <a:ext cx="111180" cy="67475"/>
          </a:xfrm>
          <a:prstGeom prst="line">
            <a:avLst/>
          </a:prstGeom>
          <a:noFill/>
          <a:ln w="12700">
            <a:solidFill>
              <a:srgbClr val="7A8288"/>
            </a:solidFill>
            <a:prstDash val="solid"/>
          </a:ln>
        </p:spPr>
        <p:txBody>
          <a:bodyPr/>
          <a:lstStyle/>
          <a:p>
            <a:endParaRPr lang="en-US"/>
          </a:p>
        </p:txBody>
      </p:sp>
      <p:sp>
        <p:nvSpPr>
          <p:cNvPr id="63" name="Shape 61"/>
          <p:cNvSpPr/>
          <p:nvPr/>
        </p:nvSpPr>
        <p:spPr>
          <a:xfrm>
            <a:off x="8584177" y="6901305"/>
            <a:ext cx="384918" cy="203081"/>
          </a:xfrm>
          <a:prstGeom prst="line">
            <a:avLst/>
          </a:prstGeom>
          <a:noFill/>
          <a:ln w="12700">
            <a:solidFill>
              <a:srgbClr val="7A8288"/>
            </a:solidFill>
            <a:prstDash val="solid"/>
          </a:ln>
        </p:spPr>
        <p:txBody>
          <a:bodyPr/>
          <a:lstStyle/>
          <a:p>
            <a:endParaRPr lang="en-US"/>
          </a:p>
        </p:txBody>
      </p:sp>
      <p:sp>
        <p:nvSpPr>
          <p:cNvPr id="64" name="Shape 62"/>
          <p:cNvSpPr/>
          <p:nvPr/>
        </p:nvSpPr>
        <p:spPr>
          <a:xfrm>
            <a:off x="8081341" y="6499167"/>
            <a:ext cx="502836" cy="402138"/>
          </a:xfrm>
          <a:prstGeom prst="line">
            <a:avLst/>
          </a:prstGeom>
          <a:noFill/>
          <a:ln w="12700">
            <a:solidFill>
              <a:srgbClr val="7A8288"/>
            </a:solidFill>
            <a:prstDash val="solid"/>
          </a:ln>
        </p:spPr>
        <p:txBody>
          <a:bodyPr/>
          <a:lstStyle/>
          <a:p>
            <a:endParaRPr lang="en-US"/>
          </a:p>
        </p:txBody>
      </p:sp>
      <p:sp>
        <p:nvSpPr>
          <p:cNvPr id="65" name="Shape 63"/>
          <p:cNvSpPr/>
          <p:nvPr/>
        </p:nvSpPr>
        <p:spPr>
          <a:xfrm>
            <a:off x="8075913" y="6494862"/>
            <a:ext cx="5428" cy="4305"/>
          </a:xfrm>
          <a:prstGeom prst="line">
            <a:avLst/>
          </a:prstGeom>
          <a:noFill/>
          <a:ln w="12700">
            <a:solidFill>
              <a:srgbClr val="7A8288"/>
            </a:solidFill>
            <a:prstDash val="solid"/>
          </a:ln>
        </p:spPr>
        <p:txBody>
          <a:bodyPr/>
          <a:lstStyle/>
          <a:p>
            <a:endParaRPr lang="en-US"/>
          </a:p>
        </p:txBody>
      </p:sp>
      <p:sp>
        <p:nvSpPr>
          <p:cNvPr id="66" name="Shape 64"/>
          <p:cNvSpPr/>
          <p:nvPr/>
        </p:nvSpPr>
        <p:spPr>
          <a:xfrm>
            <a:off x="7524318" y="6059594"/>
            <a:ext cx="551594" cy="435267"/>
          </a:xfrm>
          <a:prstGeom prst="line">
            <a:avLst/>
          </a:prstGeom>
          <a:noFill/>
          <a:ln w="12700">
            <a:solidFill>
              <a:srgbClr val="7A8288"/>
            </a:solidFill>
            <a:prstDash val="solid"/>
          </a:ln>
        </p:spPr>
        <p:txBody>
          <a:bodyPr/>
          <a:lstStyle/>
          <a:p>
            <a:endParaRPr lang="en-US"/>
          </a:p>
        </p:txBody>
      </p:sp>
      <p:sp>
        <p:nvSpPr>
          <p:cNvPr id="67" name="Shape 65"/>
          <p:cNvSpPr/>
          <p:nvPr/>
        </p:nvSpPr>
        <p:spPr>
          <a:xfrm>
            <a:off x="492846" y="1790079"/>
            <a:ext cx="475228" cy="379623"/>
          </a:xfrm>
          <a:prstGeom prst="line">
            <a:avLst/>
          </a:prstGeom>
          <a:noFill/>
          <a:ln w="19050">
            <a:solidFill>
              <a:srgbClr val="C7A400"/>
            </a:solidFill>
            <a:prstDash val="dashDot"/>
          </a:ln>
        </p:spPr>
        <p:txBody>
          <a:bodyPr/>
          <a:lstStyle/>
          <a:p>
            <a:endParaRPr lang="en-US"/>
          </a:p>
        </p:txBody>
      </p:sp>
      <p:sp>
        <p:nvSpPr>
          <p:cNvPr id="68" name="Shape 66"/>
          <p:cNvSpPr/>
          <p:nvPr/>
        </p:nvSpPr>
        <p:spPr>
          <a:xfrm>
            <a:off x="968075" y="2169702"/>
            <a:ext cx="521647" cy="418890"/>
          </a:xfrm>
          <a:prstGeom prst="line">
            <a:avLst/>
          </a:prstGeom>
          <a:noFill/>
          <a:ln w="19050">
            <a:solidFill>
              <a:srgbClr val="C7A400"/>
            </a:solidFill>
            <a:prstDash val="dashDot"/>
          </a:ln>
        </p:spPr>
        <p:txBody>
          <a:bodyPr/>
          <a:lstStyle/>
          <a:p>
            <a:endParaRPr lang="en-US"/>
          </a:p>
        </p:txBody>
      </p:sp>
      <p:sp>
        <p:nvSpPr>
          <p:cNvPr id="69" name="Shape 67"/>
          <p:cNvSpPr/>
          <p:nvPr/>
        </p:nvSpPr>
        <p:spPr>
          <a:xfrm>
            <a:off x="1489722" y="2588592"/>
            <a:ext cx="523519" cy="420668"/>
          </a:xfrm>
          <a:prstGeom prst="line">
            <a:avLst/>
          </a:prstGeom>
          <a:noFill/>
          <a:ln w="19050">
            <a:solidFill>
              <a:srgbClr val="C7A400"/>
            </a:solidFill>
            <a:prstDash val="dashDot"/>
          </a:ln>
        </p:spPr>
        <p:txBody>
          <a:bodyPr/>
          <a:lstStyle/>
          <a:p>
            <a:endParaRPr lang="en-US"/>
          </a:p>
        </p:txBody>
      </p:sp>
      <p:sp>
        <p:nvSpPr>
          <p:cNvPr id="70" name="Shape 68"/>
          <p:cNvSpPr/>
          <p:nvPr/>
        </p:nvSpPr>
        <p:spPr>
          <a:xfrm>
            <a:off x="2013240" y="3009260"/>
            <a:ext cx="522209" cy="419264"/>
          </a:xfrm>
          <a:prstGeom prst="line">
            <a:avLst/>
          </a:prstGeom>
          <a:noFill/>
          <a:ln w="19050">
            <a:solidFill>
              <a:srgbClr val="C7A400"/>
            </a:solidFill>
            <a:prstDash val="dashDot"/>
          </a:ln>
        </p:spPr>
        <p:txBody>
          <a:bodyPr/>
          <a:lstStyle/>
          <a:p>
            <a:endParaRPr lang="en-US"/>
          </a:p>
        </p:txBody>
      </p:sp>
      <p:sp>
        <p:nvSpPr>
          <p:cNvPr id="71" name="Shape 69"/>
          <p:cNvSpPr/>
          <p:nvPr/>
        </p:nvSpPr>
        <p:spPr>
          <a:xfrm>
            <a:off x="2535449" y="3428524"/>
            <a:ext cx="524080" cy="420668"/>
          </a:xfrm>
          <a:prstGeom prst="line">
            <a:avLst/>
          </a:prstGeom>
          <a:noFill/>
          <a:ln w="19050">
            <a:solidFill>
              <a:srgbClr val="C7A400"/>
            </a:solidFill>
            <a:prstDash val="dashDot"/>
          </a:ln>
        </p:spPr>
        <p:txBody>
          <a:bodyPr/>
          <a:lstStyle/>
          <a:p>
            <a:endParaRPr lang="en-US"/>
          </a:p>
        </p:txBody>
      </p:sp>
      <p:sp>
        <p:nvSpPr>
          <p:cNvPr id="72" name="Shape 70"/>
          <p:cNvSpPr/>
          <p:nvPr/>
        </p:nvSpPr>
        <p:spPr>
          <a:xfrm>
            <a:off x="3059529" y="3849192"/>
            <a:ext cx="522957" cy="419732"/>
          </a:xfrm>
          <a:prstGeom prst="line">
            <a:avLst/>
          </a:prstGeom>
          <a:noFill/>
          <a:ln w="19050">
            <a:solidFill>
              <a:srgbClr val="C7A400"/>
            </a:solidFill>
            <a:prstDash val="dashDot"/>
          </a:ln>
        </p:spPr>
        <p:txBody>
          <a:bodyPr/>
          <a:lstStyle/>
          <a:p>
            <a:endParaRPr lang="en-US"/>
          </a:p>
        </p:txBody>
      </p:sp>
      <p:sp>
        <p:nvSpPr>
          <p:cNvPr id="73" name="Shape 71"/>
          <p:cNvSpPr/>
          <p:nvPr/>
        </p:nvSpPr>
        <p:spPr>
          <a:xfrm>
            <a:off x="3582486" y="4268925"/>
            <a:ext cx="569189" cy="457354"/>
          </a:xfrm>
          <a:prstGeom prst="line">
            <a:avLst/>
          </a:prstGeom>
          <a:noFill/>
          <a:ln w="19050">
            <a:solidFill>
              <a:srgbClr val="C7A400"/>
            </a:solidFill>
            <a:prstDash val="dashDot"/>
          </a:ln>
        </p:spPr>
        <p:txBody>
          <a:bodyPr/>
          <a:lstStyle/>
          <a:p>
            <a:endParaRPr lang="en-US"/>
          </a:p>
        </p:txBody>
      </p:sp>
      <p:sp>
        <p:nvSpPr>
          <p:cNvPr id="74" name="Shape 72"/>
          <p:cNvSpPr/>
          <p:nvPr/>
        </p:nvSpPr>
        <p:spPr>
          <a:xfrm>
            <a:off x="4151675" y="4726278"/>
            <a:ext cx="914" cy="914"/>
          </a:xfrm>
          <a:prstGeom prst="line">
            <a:avLst/>
          </a:prstGeom>
          <a:noFill/>
          <a:ln w="19050">
            <a:solidFill>
              <a:srgbClr val="C7A400"/>
            </a:solidFill>
            <a:prstDash val="dashDot"/>
          </a:ln>
        </p:spPr>
        <p:txBody>
          <a:bodyPr/>
          <a:lstStyle/>
          <a:p>
            <a:endParaRPr lang="en-US"/>
          </a:p>
        </p:txBody>
      </p:sp>
      <p:sp>
        <p:nvSpPr>
          <p:cNvPr id="75" name="Shape 73"/>
          <p:cNvSpPr/>
          <p:nvPr/>
        </p:nvSpPr>
        <p:spPr>
          <a:xfrm>
            <a:off x="4151675" y="4726278"/>
            <a:ext cx="526233" cy="416082"/>
          </a:xfrm>
          <a:prstGeom prst="line">
            <a:avLst/>
          </a:prstGeom>
          <a:noFill/>
          <a:ln w="19050">
            <a:solidFill>
              <a:srgbClr val="C7A400"/>
            </a:solidFill>
            <a:prstDash val="dashDot"/>
          </a:ln>
        </p:spPr>
        <p:txBody>
          <a:bodyPr/>
          <a:lstStyle/>
          <a:p>
            <a:endParaRPr lang="en-US"/>
          </a:p>
        </p:txBody>
      </p:sp>
      <p:sp>
        <p:nvSpPr>
          <p:cNvPr id="76" name="Shape 74"/>
          <p:cNvSpPr/>
          <p:nvPr/>
        </p:nvSpPr>
        <p:spPr>
          <a:xfrm>
            <a:off x="4677908" y="5142360"/>
            <a:ext cx="914" cy="914"/>
          </a:xfrm>
          <a:prstGeom prst="line">
            <a:avLst/>
          </a:prstGeom>
          <a:noFill/>
          <a:ln w="19050">
            <a:solidFill>
              <a:srgbClr val="C7A400"/>
            </a:solidFill>
            <a:prstDash val="dashDot"/>
          </a:ln>
        </p:spPr>
        <p:txBody>
          <a:bodyPr/>
          <a:lstStyle/>
          <a:p>
            <a:endParaRPr lang="en-US"/>
          </a:p>
        </p:txBody>
      </p:sp>
      <p:sp>
        <p:nvSpPr>
          <p:cNvPr id="77" name="Shape 75"/>
          <p:cNvSpPr/>
          <p:nvPr/>
        </p:nvSpPr>
        <p:spPr>
          <a:xfrm>
            <a:off x="4677908" y="5142360"/>
            <a:ext cx="544950" cy="443596"/>
          </a:xfrm>
          <a:prstGeom prst="line">
            <a:avLst/>
          </a:prstGeom>
          <a:noFill/>
          <a:ln w="19050">
            <a:solidFill>
              <a:srgbClr val="C7A400"/>
            </a:solidFill>
            <a:prstDash val="dashDot"/>
          </a:ln>
        </p:spPr>
        <p:txBody>
          <a:bodyPr/>
          <a:lstStyle/>
          <a:p>
            <a:endParaRPr lang="en-US"/>
          </a:p>
        </p:txBody>
      </p:sp>
      <p:sp>
        <p:nvSpPr>
          <p:cNvPr id="78" name="Shape 76"/>
          <p:cNvSpPr/>
          <p:nvPr/>
        </p:nvSpPr>
        <p:spPr>
          <a:xfrm flipV="1">
            <a:off x="5063387" y="5585957"/>
            <a:ext cx="159470" cy="172759"/>
          </a:xfrm>
          <a:prstGeom prst="line">
            <a:avLst/>
          </a:prstGeom>
          <a:noFill/>
          <a:ln w="19050">
            <a:solidFill>
              <a:srgbClr val="C7A400"/>
            </a:solidFill>
            <a:prstDash val="dashDot"/>
          </a:ln>
        </p:spPr>
        <p:txBody>
          <a:bodyPr/>
          <a:lstStyle/>
          <a:p>
            <a:endParaRPr lang="en-US"/>
          </a:p>
        </p:txBody>
      </p:sp>
      <p:sp>
        <p:nvSpPr>
          <p:cNvPr id="79" name="Shape 77"/>
          <p:cNvSpPr/>
          <p:nvPr/>
        </p:nvSpPr>
        <p:spPr>
          <a:xfrm>
            <a:off x="5063387" y="5758716"/>
            <a:ext cx="421229" cy="561889"/>
          </a:xfrm>
          <a:prstGeom prst="line">
            <a:avLst/>
          </a:prstGeom>
          <a:noFill/>
          <a:ln w="19050">
            <a:solidFill>
              <a:srgbClr val="C7A400"/>
            </a:solidFill>
            <a:prstDash val="dashDot"/>
          </a:ln>
        </p:spPr>
        <p:txBody>
          <a:bodyPr/>
          <a:lstStyle/>
          <a:p>
            <a:endParaRPr lang="en-US"/>
          </a:p>
        </p:txBody>
      </p:sp>
      <p:sp>
        <p:nvSpPr>
          <p:cNvPr id="80" name="Shape 78"/>
          <p:cNvSpPr/>
          <p:nvPr/>
        </p:nvSpPr>
        <p:spPr>
          <a:xfrm flipV="1">
            <a:off x="5484617" y="6025342"/>
            <a:ext cx="285811" cy="295263"/>
          </a:xfrm>
          <a:prstGeom prst="line">
            <a:avLst/>
          </a:prstGeom>
          <a:noFill/>
          <a:ln w="19050">
            <a:solidFill>
              <a:srgbClr val="C7A400"/>
            </a:solidFill>
            <a:prstDash val="dashDot"/>
          </a:ln>
        </p:spPr>
        <p:txBody>
          <a:bodyPr/>
          <a:lstStyle/>
          <a:p>
            <a:endParaRPr lang="en-US"/>
          </a:p>
        </p:txBody>
      </p:sp>
      <p:sp>
        <p:nvSpPr>
          <p:cNvPr id="81" name="Shape 79"/>
          <p:cNvSpPr/>
          <p:nvPr/>
        </p:nvSpPr>
        <p:spPr>
          <a:xfrm>
            <a:off x="5770428" y="6025342"/>
            <a:ext cx="544856" cy="443596"/>
          </a:xfrm>
          <a:prstGeom prst="line">
            <a:avLst/>
          </a:prstGeom>
          <a:noFill/>
          <a:ln w="19050">
            <a:solidFill>
              <a:srgbClr val="C7A400"/>
            </a:solidFill>
            <a:prstDash val="dashDot"/>
          </a:ln>
        </p:spPr>
        <p:txBody>
          <a:bodyPr/>
          <a:lstStyle/>
          <a:p>
            <a:endParaRPr lang="en-US"/>
          </a:p>
        </p:txBody>
      </p:sp>
      <p:sp>
        <p:nvSpPr>
          <p:cNvPr id="82" name="Shape 80"/>
          <p:cNvSpPr/>
          <p:nvPr/>
        </p:nvSpPr>
        <p:spPr>
          <a:xfrm flipV="1">
            <a:off x="5864856" y="6468938"/>
            <a:ext cx="450428" cy="440976"/>
          </a:xfrm>
          <a:prstGeom prst="line">
            <a:avLst/>
          </a:prstGeom>
          <a:noFill/>
          <a:ln w="19050">
            <a:solidFill>
              <a:srgbClr val="C7A400"/>
            </a:solidFill>
            <a:prstDash val="dashDot"/>
          </a:ln>
        </p:spPr>
        <p:txBody>
          <a:bodyPr/>
          <a:lstStyle/>
          <a:p>
            <a:endParaRPr lang="en-US"/>
          </a:p>
        </p:txBody>
      </p:sp>
      <p:sp>
        <p:nvSpPr>
          <p:cNvPr id="83" name="Shape 81"/>
          <p:cNvSpPr/>
          <p:nvPr/>
        </p:nvSpPr>
        <p:spPr>
          <a:xfrm>
            <a:off x="5864856" y="6909915"/>
            <a:ext cx="338874" cy="615233"/>
          </a:xfrm>
          <a:prstGeom prst="line">
            <a:avLst/>
          </a:prstGeom>
          <a:noFill/>
          <a:ln w="19050">
            <a:solidFill>
              <a:srgbClr val="C7A400"/>
            </a:solidFill>
            <a:prstDash val="dashDot"/>
          </a:ln>
        </p:spPr>
        <p:txBody>
          <a:bodyPr/>
          <a:lstStyle/>
          <a:p>
            <a:endParaRPr lang="en-US"/>
          </a:p>
        </p:txBody>
      </p:sp>
      <p:sp>
        <p:nvSpPr>
          <p:cNvPr id="84" name="Shape 82"/>
          <p:cNvSpPr/>
          <p:nvPr/>
        </p:nvSpPr>
        <p:spPr>
          <a:xfrm>
            <a:off x="6203730" y="7525147"/>
            <a:ext cx="289741" cy="637225"/>
          </a:xfrm>
          <a:prstGeom prst="line">
            <a:avLst/>
          </a:prstGeom>
          <a:noFill/>
          <a:ln w="19050">
            <a:solidFill>
              <a:srgbClr val="C7A400"/>
            </a:solidFill>
            <a:prstDash val="dashDot"/>
          </a:ln>
        </p:spPr>
        <p:txBody>
          <a:bodyPr/>
          <a:lstStyle/>
          <a:p>
            <a:endParaRPr lang="en-US"/>
          </a:p>
        </p:txBody>
      </p:sp>
      <p:sp>
        <p:nvSpPr>
          <p:cNvPr id="85" name="Shape 83"/>
          <p:cNvSpPr/>
          <p:nvPr/>
        </p:nvSpPr>
        <p:spPr>
          <a:xfrm>
            <a:off x="6493471" y="8162373"/>
            <a:ext cx="224419" cy="631142"/>
          </a:xfrm>
          <a:prstGeom prst="line">
            <a:avLst/>
          </a:prstGeom>
          <a:noFill/>
          <a:ln w="19050">
            <a:solidFill>
              <a:srgbClr val="C7A400"/>
            </a:solidFill>
            <a:prstDash val="dashDot"/>
          </a:ln>
        </p:spPr>
        <p:txBody>
          <a:bodyPr/>
          <a:lstStyle/>
          <a:p>
            <a:endParaRPr lang="en-US"/>
          </a:p>
        </p:txBody>
      </p:sp>
      <p:sp>
        <p:nvSpPr>
          <p:cNvPr id="86" name="Shape 84"/>
          <p:cNvSpPr/>
          <p:nvPr/>
        </p:nvSpPr>
        <p:spPr>
          <a:xfrm>
            <a:off x="6717890" y="8793515"/>
            <a:ext cx="208041" cy="680649"/>
          </a:xfrm>
          <a:prstGeom prst="line">
            <a:avLst/>
          </a:prstGeom>
          <a:noFill/>
          <a:ln w="19050">
            <a:solidFill>
              <a:srgbClr val="C7A400"/>
            </a:solidFill>
            <a:prstDash val="dashDot"/>
          </a:ln>
        </p:spPr>
        <p:txBody>
          <a:bodyPr/>
          <a:lstStyle/>
          <a:p>
            <a:endParaRPr lang="en-US"/>
          </a:p>
        </p:txBody>
      </p:sp>
      <p:sp>
        <p:nvSpPr>
          <p:cNvPr id="87" name="Shape 85"/>
          <p:cNvSpPr/>
          <p:nvPr/>
        </p:nvSpPr>
        <p:spPr>
          <a:xfrm>
            <a:off x="6925931" y="9474164"/>
            <a:ext cx="140847" cy="679245"/>
          </a:xfrm>
          <a:prstGeom prst="line">
            <a:avLst/>
          </a:prstGeom>
          <a:noFill/>
          <a:ln w="19050">
            <a:solidFill>
              <a:srgbClr val="C7A400"/>
            </a:solidFill>
            <a:prstDash val="dashDot"/>
          </a:ln>
        </p:spPr>
        <p:txBody>
          <a:bodyPr/>
          <a:lstStyle/>
          <a:p>
            <a:endParaRPr lang="en-US"/>
          </a:p>
        </p:txBody>
      </p:sp>
      <p:sp>
        <p:nvSpPr>
          <p:cNvPr id="88" name="Shape 86"/>
          <p:cNvSpPr/>
          <p:nvPr/>
        </p:nvSpPr>
        <p:spPr>
          <a:xfrm>
            <a:off x="7066778" y="10153410"/>
            <a:ext cx="25992" cy="179310"/>
          </a:xfrm>
          <a:prstGeom prst="line">
            <a:avLst/>
          </a:prstGeom>
          <a:noFill/>
          <a:ln w="19050">
            <a:solidFill>
              <a:srgbClr val="C7A400"/>
            </a:solidFill>
            <a:prstDash val="dashDot"/>
          </a:ln>
        </p:spPr>
        <p:txBody>
          <a:bodyPr/>
          <a:lstStyle/>
          <a:p>
            <a:endParaRPr lang="en-US"/>
          </a:p>
        </p:txBody>
      </p:sp>
      <p:sp>
        <p:nvSpPr>
          <p:cNvPr id="89" name="Shape 87"/>
          <p:cNvSpPr/>
          <p:nvPr/>
        </p:nvSpPr>
        <p:spPr>
          <a:xfrm flipV="1">
            <a:off x="7619078" y="8630957"/>
            <a:ext cx="1493390" cy="1701763"/>
          </a:xfrm>
          <a:prstGeom prst="line">
            <a:avLst/>
          </a:prstGeom>
          <a:noFill/>
          <a:ln w="19050">
            <a:solidFill>
              <a:srgbClr val="C7A400"/>
            </a:solidFill>
            <a:prstDash val="dashDot"/>
          </a:ln>
        </p:spPr>
        <p:txBody>
          <a:bodyPr/>
          <a:lstStyle/>
          <a:p>
            <a:endParaRPr lang="en-US"/>
          </a:p>
        </p:txBody>
      </p:sp>
      <p:sp>
        <p:nvSpPr>
          <p:cNvPr id="90" name="Shape 88"/>
          <p:cNvSpPr/>
          <p:nvPr/>
        </p:nvSpPr>
        <p:spPr>
          <a:xfrm>
            <a:off x="9112469" y="8630957"/>
            <a:ext cx="914" cy="914"/>
          </a:xfrm>
          <a:prstGeom prst="line">
            <a:avLst/>
          </a:prstGeom>
          <a:noFill/>
          <a:ln w="19050">
            <a:solidFill>
              <a:srgbClr val="C7A400"/>
            </a:solidFill>
            <a:prstDash val="dashDot"/>
          </a:ln>
        </p:spPr>
        <p:txBody>
          <a:bodyPr/>
          <a:lstStyle/>
          <a:p>
            <a:endParaRPr lang="en-US"/>
          </a:p>
        </p:txBody>
      </p:sp>
      <p:sp>
        <p:nvSpPr>
          <p:cNvPr id="91" name="Shape 89"/>
          <p:cNvSpPr/>
          <p:nvPr/>
        </p:nvSpPr>
        <p:spPr>
          <a:xfrm flipV="1">
            <a:off x="9112469" y="8314918"/>
            <a:ext cx="5147" cy="316039"/>
          </a:xfrm>
          <a:prstGeom prst="line">
            <a:avLst/>
          </a:prstGeom>
          <a:noFill/>
          <a:ln w="19050">
            <a:solidFill>
              <a:srgbClr val="C7A400"/>
            </a:solidFill>
            <a:prstDash val="dashDot"/>
          </a:ln>
        </p:spPr>
        <p:txBody>
          <a:bodyPr/>
          <a:lstStyle/>
          <a:p>
            <a:endParaRPr lang="en-US"/>
          </a:p>
        </p:txBody>
      </p:sp>
      <p:sp>
        <p:nvSpPr>
          <p:cNvPr id="92" name="Shape 90"/>
          <p:cNvSpPr/>
          <p:nvPr/>
        </p:nvSpPr>
        <p:spPr>
          <a:xfrm>
            <a:off x="9117616" y="8314918"/>
            <a:ext cx="585098" cy="137443"/>
          </a:xfrm>
          <a:prstGeom prst="line">
            <a:avLst/>
          </a:prstGeom>
          <a:noFill/>
          <a:ln w="19050">
            <a:solidFill>
              <a:srgbClr val="C7A400"/>
            </a:solidFill>
            <a:prstDash val="dashDot"/>
          </a:ln>
        </p:spPr>
        <p:txBody>
          <a:bodyPr/>
          <a:lstStyle/>
          <a:p>
            <a:endParaRPr lang="en-US"/>
          </a:p>
        </p:txBody>
      </p:sp>
      <p:sp>
        <p:nvSpPr>
          <p:cNvPr id="93" name="Shape 91"/>
          <p:cNvSpPr/>
          <p:nvPr/>
        </p:nvSpPr>
        <p:spPr>
          <a:xfrm>
            <a:off x="8466914" y="8056246"/>
            <a:ext cx="1235800" cy="1100085"/>
          </a:xfrm>
          <a:prstGeom prst="line">
            <a:avLst/>
          </a:prstGeom>
          <a:noFill/>
          <a:ln w="19050">
            <a:solidFill>
              <a:srgbClr val="C7A400"/>
            </a:solidFill>
            <a:prstDash val="dashDot"/>
          </a:ln>
        </p:spPr>
        <p:txBody>
          <a:bodyPr/>
          <a:lstStyle/>
          <a:p>
            <a:endParaRPr lang="en-US"/>
          </a:p>
        </p:txBody>
      </p:sp>
      <p:sp>
        <p:nvSpPr>
          <p:cNvPr id="94" name="Shape 92"/>
          <p:cNvSpPr/>
          <p:nvPr/>
        </p:nvSpPr>
        <p:spPr>
          <a:xfrm>
            <a:off x="7952847" y="7785035"/>
            <a:ext cx="514067" cy="271212"/>
          </a:xfrm>
          <a:prstGeom prst="line">
            <a:avLst/>
          </a:prstGeom>
          <a:noFill/>
          <a:ln w="19050">
            <a:solidFill>
              <a:srgbClr val="C7A400"/>
            </a:solidFill>
            <a:prstDash val="dashDot"/>
          </a:ln>
        </p:spPr>
        <p:txBody>
          <a:bodyPr/>
          <a:lstStyle/>
          <a:p>
            <a:endParaRPr lang="en-US"/>
          </a:p>
        </p:txBody>
      </p:sp>
      <p:sp>
        <p:nvSpPr>
          <p:cNvPr id="95" name="Shape 93"/>
          <p:cNvSpPr/>
          <p:nvPr/>
        </p:nvSpPr>
        <p:spPr>
          <a:xfrm>
            <a:off x="7918314" y="7746852"/>
            <a:ext cx="34533" cy="38183"/>
          </a:xfrm>
          <a:prstGeom prst="line">
            <a:avLst/>
          </a:prstGeom>
          <a:noFill/>
          <a:ln w="19050">
            <a:solidFill>
              <a:srgbClr val="C7A400"/>
            </a:solidFill>
            <a:prstDash val="dashDot"/>
          </a:ln>
        </p:spPr>
        <p:txBody>
          <a:bodyPr/>
          <a:lstStyle/>
          <a:p>
            <a:endParaRPr lang="en-US"/>
          </a:p>
        </p:txBody>
      </p:sp>
      <p:sp>
        <p:nvSpPr>
          <p:cNvPr id="96" name="Shape 94"/>
          <p:cNvSpPr/>
          <p:nvPr/>
        </p:nvSpPr>
        <p:spPr>
          <a:xfrm>
            <a:off x="7409208" y="7339754"/>
            <a:ext cx="509107" cy="407098"/>
          </a:xfrm>
          <a:prstGeom prst="line">
            <a:avLst/>
          </a:prstGeom>
          <a:noFill/>
          <a:ln w="19050">
            <a:solidFill>
              <a:srgbClr val="C7A400"/>
            </a:solidFill>
            <a:prstDash val="dashDot"/>
          </a:ln>
        </p:spPr>
        <p:txBody>
          <a:bodyPr/>
          <a:lstStyle/>
          <a:p>
            <a:endParaRPr lang="en-US"/>
          </a:p>
        </p:txBody>
      </p:sp>
      <p:sp>
        <p:nvSpPr>
          <p:cNvPr id="97" name="Shape 95"/>
          <p:cNvSpPr/>
          <p:nvPr/>
        </p:nvSpPr>
        <p:spPr>
          <a:xfrm>
            <a:off x="6857613" y="6904487"/>
            <a:ext cx="551594" cy="435267"/>
          </a:xfrm>
          <a:prstGeom prst="line">
            <a:avLst/>
          </a:prstGeom>
          <a:noFill/>
          <a:ln w="19050">
            <a:solidFill>
              <a:srgbClr val="C7A400"/>
            </a:solidFill>
            <a:prstDash val="dashDot"/>
          </a:ln>
        </p:spPr>
        <p:txBody>
          <a:bodyPr/>
          <a:lstStyle/>
          <a:p>
            <a:endParaRPr lang="en-US"/>
          </a:p>
        </p:txBody>
      </p:sp>
      <p:sp>
        <p:nvSpPr>
          <p:cNvPr id="98" name="Shape 96"/>
          <p:cNvSpPr/>
          <p:nvPr/>
        </p:nvSpPr>
        <p:spPr>
          <a:xfrm flipV="1">
            <a:off x="4384516" y="3796691"/>
            <a:ext cx="175848" cy="218991"/>
          </a:xfrm>
          <a:prstGeom prst="line">
            <a:avLst/>
          </a:prstGeom>
          <a:noFill/>
          <a:ln w="28575">
            <a:solidFill>
              <a:srgbClr val="8B0000"/>
            </a:solidFill>
            <a:prstDash val="solid"/>
          </a:ln>
        </p:spPr>
        <p:txBody>
          <a:bodyPr/>
          <a:lstStyle/>
          <a:p>
            <a:endParaRPr lang="en-US"/>
          </a:p>
        </p:txBody>
      </p:sp>
      <p:sp>
        <p:nvSpPr>
          <p:cNvPr id="99" name="Shape 97"/>
          <p:cNvSpPr/>
          <p:nvPr/>
        </p:nvSpPr>
        <p:spPr>
          <a:xfrm flipV="1">
            <a:off x="4208762" y="4015681"/>
            <a:ext cx="175754" cy="219084"/>
          </a:xfrm>
          <a:prstGeom prst="line">
            <a:avLst/>
          </a:prstGeom>
          <a:noFill/>
          <a:ln w="28575">
            <a:solidFill>
              <a:srgbClr val="8B0000"/>
            </a:solidFill>
            <a:prstDash val="solid"/>
          </a:ln>
        </p:spPr>
        <p:txBody>
          <a:bodyPr/>
          <a:lstStyle/>
          <a:p>
            <a:endParaRPr lang="en-US"/>
          </a:p>
        </p:txBody>
      </p:sp>
      <p:sp>
        <p:nvSpPr>
          <p:cNvPr id="100" name="Shape 98"/>
          <p:cNvSpPr/>
          <p:nvPr/>
        </p:nvSpPr>
        <p:spPr>
          <a:xfrm flipV="1">
            <a:off x="4032914" y="4234766"/>
            <a:ext cx="175848" cy="218991"/>
          </a:xfrm>
          <a:prstGeom prst="line">
            <a:avLst/>
          </a:prstGeom>
          <a:noFill/>
          <a:ln w="28575">
            <a:solidFill>
              <a:srgbClr val="8B0000"/>
            </a:solidFill>
            <a:prstDash val="solid"/>
          </a:ln>
        </p:spPr>
        <p:txBody>
          <a:bodyPr/>
          <a:lstStyle/>
          <a:p>
            <a:endParaRPr lang="en-US"/>
          </a:p>
        </p:txBody>
      </p:sp>
      <p:sp>
        <p:nvSpPr>
          <p:cNvPr id="101" name="Shape 99"/>
          <p:cNvSpPr/>
          <p:nvPr/>
        </p:nvSpPr>
        <p:spPr>
          <a:xfrm flipV="1">
            <a:off x="3857067" y="4453756"/>
            <a:ext cx="175848" cy="218991"/>
          </a:xfrm>
          <a:prstGeom prst="line">
            <a:avLst/>
          </a:prstGeom>
          <a:noFill/>
          <a:ln w="28575">
            <a:solidFill>
              <a:srgbClr val="8B0000"/>
            </a:solidFill>
            <a:prstDash val="solid"/>
          </a:ln>
        </p:spPr>
        <p:txBody>
          <a:bodyPr/>
          <a:lstStyle/>
          <a:p>
            <a:endParaRPr lang="en-US"/>
          </a:p>
        </p:txBody>
      </p:sp>
      <p:sp>
        <p:nvSpPr>
          <p:cNvPr id="102" name="Shape 100"/>
          <p:cNvSpPr/>
          <p:nvPr/>
        </p:nvSpPr>
        <p:spPr>
          <a:xfrm flipV="1">
            <a:off x="3681313" y="4672747"/>
            <a:ext cx="175754" cy="218991"/>
          </a:xfrm>
          <a:prstGeom prst="line">
            <a:avLst/>
          </a:prstGeom>
          <a:noFill/>
          <a:ln w="28575">
            <a:solidFill>
              <a:srgbClr val="8B0000"/>
            </a:solidFill>
            <a:prstDash val="solid"/>
          </a:ln>
        </p:spPr>
        <p:txBody>
          <a:bodyPr/>
          <a:lstStyle/>
          <a:p>
            <a:endParaRPr lang="en-US"/>
          </a:p>
        </p:txBody>
      </p:sp>
      <p:sp>
        <p:nvSpPr>
          <p:cNvPr id="103" name="Shape 101"/>
          <p:cNvSpPr/>
          <p:nvPr/>
        </p:nvSpPr>
        <p:spPr>
          <a:xfrm flipV="1">
            <a:off x="3505465" y="4891738"/>
            <a:ext cx="175848" cy="218991"/>
          </a:xfrm>
          <a:prstGeom prst="line">
            <a:avLst/>
          </a:prstGeom>
          <a:noFill/>
          <a:ln w="28575">
            <a:solidFill>
              <a:srgbClr val="8B0000"/>
            </a:solidFill>
            <a:prstDash val="solid"/>
          </a:ln>
        </p:spPr>
        <p:txBody>
          <a:bodyPr/>
          <a:lstStyle/>
          <a:p>
            <a:endParaRPr lang="en-US"/>
          </a:p>
        </p:txBody>
      </p:sp>
      <p:sp>
        <p:nvSpPr>
          <p:cNvPr id="104" name="Shape 102"/>
          <p:cNvSpPr/>
          <p:nvPr/>
        </p:nvSpPr>
        <p:spPr>
          <a:xfrm flipV="1">
            <a:off x="3334952" y="5110728"/>
            <a:ext cx="170513" cy="217587"/>
          </a:xfrm>
          <a:prstGeom prst="line">
            <a:avLst/>
          </a:prstGeom>
          <a:noFill/>
          <a:ln w="28575">
            <a:solidFill>
              <a:srgbClr val="8B0000"/>
            </a:solidFill>
            <a:prstDash val="solid"/>
          </a:ln>
        </p:spPr>
        <p:txBody>
          <a:bodyPr/>
          <a:lstStyle/>
          <a:p>
            <a:endParaRPr lang="en-US"/>
          </a:p>
        </p:txBody>
      </p:sp>
      <p:sp>
        <p:nvSpPr>
          <p:cNvPr id="149" name="Shape 147"/>
          <p:cNvSpPr/>
          <p:nvPr/>
        </p:nvSpPr>
        <p:spPr>
          <a:xfrm>
            <a:off x="1870241" y="5422837"/>
            <a:ext cx="131020" cy="131020"/>
          </a:xfrm>
          <a:prstGeom prst="rect">
            <a:avLst/>
          </a:prstGeom>
          <a:ln w="19050">
            <a:solidFill>
              <a:srgbClr val="BB00BB"/>
            </a:solidFill>
            <a:prstDash val="solid"/>
          </a:ln>
        </p:spPr>
        <p:txBody>
          <a:bodyPr/>
          <a:lstStyle/>
          <a:p>
            <a:endParaRPr lang="en-US"/>
          </a:p>
        </p:txBody>
      </p:sp>
      <p:sp>
        <p:nvSpPr>
          <p:cNvPr id="150" name="Shape 148"/>
          <p:cNvSpPr/>
          <p:nvPr/>
        </p:nvSpPr>
        <p:spPr>
          <a:xfrm>
            <a:off x="5175784" y="3104250"/>
            <a:ext cx="131020" cy="131020"/>
          </a:xfrm>
          <a:prstGeom prst="rect">
            <a:avLst/>
          </a:prstGeom>
          <a:ln w="19050">
            <a:solidFill>
              <a:srgbClr val="BB00BB"/>
            </a:solidFill>
            <a:prstDash val="solid"/>
          </a:ln>
        </p:spPr>
        <p:txBody>
          <a:bodyPr/>
          <a:lstStyle/>
          <a:p>
            <a:endParaRPr lang="en-US"/>
          </a:p>
        </p:txBody>
      </p:sp>
      <p:sp>
        <p:nvSpPr>
          <p:cNvPr id="151" name="Shape 149"/>
          <p:cNvSpPr/>
          <p:nvPr/>
        </p:nvSpPr>
        <p:spPr>
          <a:xfrm>
            <a:off x="4067728" y="7959572"/>
            <a:ext cx="131020" cy="131020"/>
          </a:xfrm>
          <a:prstGeom prst="rect">
            <a:avLst/>
          </a:prstGeom>
          <a:ln w="19050">
            <a:solidFill>
              <a:srgbClr val="BB00BB"/>
            </a:solidFill>
            <a:prstDash val="solid"/>
          </a:ln>
        </p:spPr>
        <p:txBody>
          <a:bodyPr/>
          <a:lstStyle/>
          <a:p>
            <a:endParaRPr lang="en-US"/>
          </a:p>
        </p:txBody>
      </p:sp>
      <p:sp>
        <p:nvSpPr>
          <p:cNvPr id="152" name="Shape 150"/>
          <p:cNvSpPr/>
          <p:nvPr/>
        </p:nvSpPr>
        <p:spPr>
          <a:xfrm>
            <a:off x="8437154" y="5617589"/>
            <a:ext cx="131020" cy="131020"/>
          </a:xfrm>
          <a:prstGeom prst="rect">
            <a:avLst/>
          </a:prstGeom>
          <a:ln w="19050">
            <a:solidFill>
              <a:srgbClr val="BB00BB"/>
            </a:solidFill>
            <a:prstDash val="solid"/>
          </a:ln>
        </p:spPr>
        <p:txBody>
          <a:bodyPr/>
          <a:lstStyle/>
          <a:p>
            <a:endParaRPr lang="en-US"/>
          </a:p>
        </p:txBody>
      </p:sp>
      <p:sp>
        <p:nvSpPr>
          <p:cNvPr id="153" name="Text 151"/>
          <p:cNvSpPr/>
          <p:nvPr/>
        </p:nvSpPr>
        <p:spPr>
          <a:xfrm>
            <a:off x="2019978" y="5313109"/>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&amp;.27153</a:t>
            </a:r>
            <a:endParaRPr lang="en-US" sz="650" dirty="0"/>
          </a:p>
        </p:txBody>
      </p:sp>
      <p:sp>
        <p:nvSpPr>
          <p:cNvPr id="154" name="Text 152"/>
          <p:cNvSpPr/>
          <p:nvPr/>
        </p:nvSpPr>
        <p:spPr>
          <a:xfrm>
            <a:off x="5325521" y="2994522"/>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&amp;.27152</a:t>
            </a:r>
            <a:endParaRPr lang="en-US" sz="650" dirty="0"/>
          </a:p>
        </p:txBody>
      </p:sp>
      <p:sp>
        <p:nvSpPr>
          <p:cNvPr id="155" name="Text 153"/>
          <p:cNvSpPr/>
          <p:nvPr/>
        </p:nvSpPr>
        <p:spPr>
          <a:xfrm>
            <a:off x="4217466" y="7849844"/>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&amp;.27154</a:t>
            </a:r>
            <a:endParaRPr lang="en-US" sz="650" dirty="0"/>
          </a:p>
        </p:txBody>
      </p:sp>
      <p:sp>
        <p:nvSpPr>
          <p:cNvPr id="156" name="Text 154"/>
          <p:cNvSpPr/>
          <p:nvPr/>
        </p:nvSpPr>
        <p:spPr>
          <a:xfrm>
            <a:off x="8586891" y="5507861"/>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&amp;.27162</a:t>
            </a:r>
            <a:endParaRPr lang="en-US" sz="650" dirty="0"/>
          </a:p>
        </p:txBody>
      </p:sp>
      <p:sp>
        <p:nvSpPr>
          <p:cNvPr id="157" name="Shape 155"/>
          <p:cNvSpPr/>
          <p:nvPr/>
        </p:nvSpPr>
        <p:spPr>
          <a:xfrm flipV="1">
            <a:off x="3152928" y="3693559"/>
            <a:ext cx="1116291" cy="1243661"/>
          </a:xfrm>
          <a:prstGeom prst="line">
            <a:avLst/>
          </a:prstGeom>
          <a:noFill/>
          <a:ln w="31750">
            <a:solidFill>
              <a:srgbClr val="CC0000"/>
            </a:solidFill>
            <a:prstDash val="solid"/>
          </a:ln>
        </p:spPr>
        <p:txBody>
          <a:bodyPr/>
          <a:lstStyle/>
          <a:p>
            <a:endParaRPr lang="en-US"/>
          </a:p>
        </p:txBody>
      </p:sp>
      <p:sp>
        <p:nvSpPr>
          <p:cNvPr id="158" name="Shape 156"/>
          <p:cNvSpPr/>
          <p:nvPr/>
        </p:nvSpPr>
        <p:spPr>
          <a:xfrm>
            <a:off x="4269219" y="3693559"/>
            <a:ext cx="338406" cy="303779"/>
          </a:xfrm>
          <a:prstGeom prst="line">
            <a:avLst/>
          </a:prstGeom>
          <a:noFill/>
          <a:ln w="31750">
            <a:solidFill>
              <a:srgbClr val="CC0000"/>
            </a:solidFill>
            <a:prstDash val="solid"/>
          </a:ln>
        </p:spPr>
        <p:txBody>
          <a:bodyPr/>
          <a:lstStyle/>
          <a:p>
            <a:endParaRPr lang="en-US"/>
          </a:p>
        </p:txBody>
      </p:sp>
      <p:sp>
        <p:nvSpPr>
          <p:cNvPr id="159" name="Shape 157"/>
          <p:cNvSpPr/>
          <p:nvPr/>
        </p:nvSpPr>
        <p:spPr>
          <a:xfrm flipV="1">
            <a:off x="3491334" y="3997339"/>
            <a:ext cx="1116291" cy="1243568"/>
          </a:xfrm>
          <a:prstGeom prst="line">
            <a:avLst/>
          </a:prstGeom>
          <a:noFill/>
          <a:ln w="31750">
            <a:solidFill>
              <a:srgbClr val="CC0000"/>
            </a:solidFill>
            <a:prstDash val="solid"/>
          </a:ln>
        </p:spPr>
        <p:txBody>
          <a:bodyPr/>
          <a:lstStyle/>
          <a:p>
            <a:endParaRPr lang="en-US"/>
          </a:p>
        </p:txBody>
      </p:sp>
      <p:sp>
        <p:nvSpPr>
          <p:cNvPr id="160" name="Shape 158"/>
          <p:cNvSpPr/>
          <p:nvPr/>
        </p:nvSpPr>
        <p:spPr>
          <a:xfrm>
            <a:off x="3152928" y="4937220"/>
            <a:ext cx="338406" cy="303686"/>
          </a:xfrm>
          <a:prstGeom prst="line">
            <a:avLst/>
          </a:prstGeom>
          <a:noFill/>
          <a:ln w="31750">
            <a:solidFill>
              <a:srgbClr val="CC0000"/>
            </a:solidFill>
            <a:prstDash val="solid"/>
          </a:ln>
        </p:spPr>
        <p:txBody>
          <a:bodyPr/>
          <a:lstStyle/>
          <a:p>
            <a:endParaRPr lang="en-US"/>
          </a:p>
        </p:txBody>
      </p:sp>
      <p:sp>
        <p:nvSpPr>
          <p:cNvPr id="161" name="Shape 159"/>
          <p:cNvSpPr/>
          <p:nvPr/>
        </p:nvSpPr>
        <p:spPr>
          <a:xfrm flipV="1">
            <a:off x="3484128" y="4649912"/>
            <a:ext cx="522115" cy="581729"/>
          </a:xfrm>
          <a:prstGeom prst="line">
            <a:avLst/>
          </a:prstGeom>
          <a:noFill/>
          <a:ln w="31750">
            <a:solidFill>
              <a:srgbClr val="CC0000"/>
            </a:solidFill>
            <a:prstDash val="solid"/>
          </a:ln>
        </p:spPr>
        <p:txBody>
          <a:bodyPr/>
          <a:lstStyle/>
          <a:p>
            <a:endParaRPr lang="en-US"/>
          </a:p>
        </p:txBody>
      </p:sp>
      <p:sp>
        <p:nvSpPr>
          <p:cNvPr id="162" name="Shape 160"/>
          <p:cNvSpPr/>
          <p:nvPr/>
        </p:nvSpPr>
        <p:spPr>
          <a:xfrm>
            <a:off x="4006243" y="4649912"/>
            <a:ext cx="2822921" cy="2533928"/>
          </a:xfrm>
          <a:prstGeom prst="line">
            <a:avLst/>
          </a:prstGeom>
          <a:noFill/>
          <a:ln w="31750">
            <a:solidFill>
              <a:srgbClr val="CC0000"/>
            </a:solidFill>
            <a:prstDash val="solid"/>
          </a:ln>
        </p:spPr>
        <p:txBody>
          <a:bodyPr/>
          <a:lstStyle/>
          <a:p>
            <a:endParaRPr lang="en-US"/>
          </a:p>
        </p:txBody>
      </p:sp>
      <p:sp>
        <p:nvSpPr>
          <p:cNvPr id="163" name="Shape 161"/>
          <p:cNvSpPr/>
          <p:nvPr/>
        </p:nvSpPr>
        <p:spPr>
          <a:xfrm flipV="1">
            <a:off x="6307048" y="7183840"/>
            <a:ext cx="522115" cy="581635"/>
          </a:xfrm>
          <a:prstGeom prst="line">
            <a:avLst/>
          </a:prstGeom>
          <a:noFill/>
          <a:ln w="31750">
            <a:solidFill>
              <a:srgbClr val="CC0000"/>
            </a:solidFill>
            <a:prstDash val="solid"/>
          </a:ln>
        </p:spPr>
        <p:txBody>
          <a:bodyPr/>
          <a:lstStyle/>
          <a:p>
            <a:endParaRPr lang="en-US"/>
          </a:p>
        </p:txBody>
      </p:sp>
      <p:sp>
        <p:nvSpPr>
          <p:cNvPr id="164" name="Shape 162"/>
          <p:cNvSpPr/>
          <p:nvPr/>
        </p:nvSpPr>
        <p:spPr>
          <a:xfrm>
            <a:off x="3484128" y="5231641"/>
            <a:ext cx="2822921" cy="2533834"/>
          </a:xfrm>
          <a:prstGeom prst="line">
            <a:avLst/>
          </a:prstGeom>
          <a:noFill/>
          <a:ln w="31750">
            <a:solidFill>
              <a:srgbClr val="CC0000"/>
            </a:solidFill>
            <a:prstDash val="solid"/>
          </a:ln>
        </p:spPr>
        <p:txBody>
          <a:bodyPr/>
          <a:lstStyle/>
          <a:p>
            <a:endParaRPr lang="en-US"/>
          </a:p>
        </p:txBody>
      </p:sp>
      <p:sp>
        <p:nvSpPr>
          <p:cNvPr id="165" name="Text 163"/>
          <p:cNvSpPr/>
          <p:nvPr/>
        </p:nvSpPr>
        <p:spPr>
          <a:xfrm>
            <a:off x="1891779" y="3419239"/>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(425.3 m² TOTAL)</a:t>
            </a:r>
            <a:endParaRPr lang="en-US" sz="800" dirty="0"/>
          </a:p>
        </p:txBody>
      </p:sp>
      <p:sp>
        <p:nvSpPr>
          <p:cNvPr id="216" name="Text 214"/>
          <p:cNvSpPr/>
          <p:nvPr/>
        </p:nvSpPr>
        <p:spPr>
          <a:xfrm>
            <a:off x="5479294" y="934704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RRM.76</a:t>
            </a:r>
            <a:endParaRPr lang="en-US" sz="500" dirty="0"/>
          </a:p>
        </p:txBody>
      </p:sp>
      <p:sp>
        <p:nvSpPr>
          <p:cNvPr id="217" name="Text 215"/>
          <p:cNvSpPr/>
          <p:nvPr/>
        </p:nvSpPr>
        <p:spPr>
          <a:xfrm>
            <a:off x="4297399" y="682752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RRM.282</a:t>
            </a:r>
            <a:endParaRPr lang="en-US" sz="500" dirty="0"/>
          </a:p>
        </p:txBody>
      </p:sp>
      <p:sp>
        <p:nvSpPr>
          <p:cNvPr id="218" name="Text 216"/>
          <p:cNvSpPr/>
          <p:nvPr/>
        </p:nvSpPr>
        <p:spPr>
          <a:xfrm>
            <a:off x="7978501" y="763648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TCCECH.04.018</a:t>
            </a:r>
            <a:endParaRPr lang="en-US" sz="500" dirty="0"/>
          </a:p>
        </p:txBody>
      </p:sp>
      <p:sp>
        <p:nvSpPr>
          <p:cNvPr id="219" name="Text 217"/>
          <p:cNvSpPr/>
          <p:nvPr/>
        </p:nvSpPr>
        <p:spPr>
          <a:xfrm>
            <a:off x="3394858" y="57439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RRM.539</a:t>
            </a:r>
            <a:endParaRPr lang="en-US" sz="500" dirty="0"/>
          </a:p>
        </p:txBody>
      </p:sp>
      <p:sp>
        <p:nvSpPr>
          <p:cNvPr id="220" name="Text 218"/>
          <p:cNvSpPr/>
          <p:nvPr/>
        </p:nvSpPr>
        <p:spPr>
          <a:xfrm>
            <a:off x="2366819" y="47827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RRM.540</a:t>
            </a:r>
            <a:endParaRPr lang="en-US" sz="500" dirty="0"/>
          </a:p>
        </p:txBody>
      </p:sp>
      <p:sp>
        <p:nvSpPr>
          <p:cNvPr id="221" name="Text 219"/>
          <p:cNvSpPr/>
          <p:nvPr/>
        </p:nvSpPr>
        <p:spPr>
          <a:xfrm>
            <a:off x="973233" y="354566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RRM.541</a:t>
            </a:r>
            <a:endParaRPr lang="en-US" sz="500" dirty="0"/>
          </a:p>
        </p:txBody>
      </p:sp>
      <p:sp>
        <p:nvSpPr>
          <p:cNvPr id="222" name="Text 220"/>
          <p:cNvSpPr/>
          <p:nvPr/>
        </p:nvSpPr>
        <p:spPr>
          <a:xfrm>
            <a:off x="4988811" y="80423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RRM.636</a:t>
            </a:r>
            <a:endParaRPr lang="en-US" sz="500" dirty="0"/>
          </a:p>
        </p:txBody>
      </p:sp>
      <p:sp>
        <p:nvSpPr>
          <p:cNvPr id="223" name="Text 221"/>
          <p:cNvSpPr/>
          <p:nvPr/>
        </p:nvSpPr>
        <p:spPr>
          <a:xfrm>
            <a:off x="8013034" y="767466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TCC103.12.019</a:t>
            </a:r>
            <a:endParaRPr lang="en-US" sz="500" dirty="0"/>
          </a:p>
        </p:txBody>
      </p:sp>
      <p:sp>
        <p:nvSpPr>
          <p:cNvPr id="224" name="Text 222"/>
          <p:cNvSpPr/>
          <p:nvPr/>
        </p:nvSpPr>
        <p:spPr>
          <a:xfrm>
            <a:off x="9107801" y="8556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TCC103.11.019</a:t>
            </a:r>
            <a:endParaRPr lang="en-US" sz="500" dirty="0"/>
          </a:p>
        </p:txBody>
      </p:sp>
      <p:sp>
        <p:nvSpPr>
          <p:cNvPr id="225" name="Text 223"/>
          <p:cNvSpPr/>
          <p:nvPr/>
        </p:nvSpPr>
        <p:spPr>
          <a:xfrm>
            <a:off x="7469395" y="72293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TCC103.11.020</a:t>
            </a:r>
            <a:endParaRPr lang="en-US" sz="500" dirty="0"/>
          </a:p>
        </p:txBody>
      </p:sp>
      <p:sp>
        <p:nvSpPr>
          <p:cNvPr id="226" name="Text 224"/>
          <p:cNvSpPr/>
          <p:nvPr/>
        </p:nvSpPr>
        <p:spPr>
          <a:xfrm>
            <a:off x="6515101" y="46161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TEC102.02.047</a:t>
            </a:r>
            <a:endParaRPr lang="en-US" sz="500" dirty="0"/>
          </a:p>
        </p:txBody>
      </p:sp>
      <p:sp>
        <p:nvSpPr>
          <p:cNvPr id="227" name="Text 225"/>
          <p:cNvSpPr/>
          <p:nvPr/>
        </p:nvSpPr>
        <p:spPr>
          <a:xfrm>
            <a:off x="7681273" y="539594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TEC102.02.048</a:t>
            </a:r>
            <a:endParaRPr lang="en-US" sz="500" dirty="0"/>
          </a:p>
        </p:txBody>
      </p:sp>
      <p:sp>
        <p:nvSpPr>
          <p:cNvPr id="228" name="Text 226"/>
          <p:cNvSpPr/>
          <p:nvPr/>
        </p:nvSpPr>
        <p:spPr>
          <a:xfrm>
            <a:off x="8514093" y="582690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TEC102.02.049</a:t>
            </a:r>
            <a:endParaRPr lang="en-US" sz="500" dirty="0"/>
          </a:p>
        </p:txBody>
      </p:sp>
      <p:sp>
        <p:nvSpPr>
          <p:cNvPr id="229" name="Text 227"/>
          <p:cNvSpPr/>
          <p:nvPr/>
        </p:nvSpPr>
        <p:spPr>
          <a:xfrm>
            <a:off x="8558171" y="41725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HH.E6.033</a:t>
            </a:r>
            <a:endParaRPr lang="en-US" sz="500" dirty="0"/>
          </a:p>
        </p:txBody>
      </p:sp>
      <p:sp>
        <p:nvSpPr>
          <p:cNvPr id="230" name="Text 228"/>
          <p:cNvSpPr/>
          <p:nvPr/>
        </p:nvSpPr>
        <p:spPr>
          <a:xfrm>
            <a:off x="3119716" y="37388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TCCECH.03.017</a:t>
            </a:r>
            <a:endParaRPr lang="en-US" sz="500" dirty="0"/>
          </a:p>
        </p:txBody>
      </p:sp>
      <p:sp>
        <p:nvSpPr>
          <p:cNvPr id="231" name="Text 229"/>
          <p:cNvSpPr/>
          <p:nvPr/>
        </p:nvSpPr>
        <p:spPr>
          <a:xfrm>
            <a:off x="2595636" y="33181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TCCECH.04.016</a:t>
            </a:r>
            <a:endParaRPr lang="en-US" sz="500" dirty="0"/>
          </a:p>
        </p:txBody>
      </p:sp>
      <p:sp>
        <p:nvSpPr>
          <p:cNvPr id="232" name="Text 230"/>
          <p:cNvSpPr/>
          <p:nvPr/>
        </p:nvSpPr>
        <p:spPr>
          <a:xfrm>
            <a:off x="2073427" y="28988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TCCECH.03.016</a:t>
            </a:r>
            <a:endParaRPr lang="en-US" sz="500" dirty="0"/>
          </a:p>
        </p:txBody>
      </p:sp>
      <p:sp>
        <p:nvSpPr>
          <p:cNvPr id="233" name="Text 231"/>
          <p:cNvSpPr/>
          <p:nvPr/>
        </p:nvSpPr>
        <p:spPr>
          <a:xfrm>
            <a:off x="1549909" y="24782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TCCECH.04.015</a:t>
            </a:r>
            <a:endParaRPr lang="en-US" sz="500" dirty="0"/>
          </a:p>
        </p:txBody>
      </p:sp>
      <p:sp>
        <p:nvSpPr>
          <p:cNvPr id="234" name="Text 232"/>
          <p:cNvSpPr/>
          <p:nvPr/>
        </p:nvSpPr>
        <p:spPr>
          <a:xfrm>
            <a:off x="1028262" y="205933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TCCECH.03.015</a:t>
            </a:r>
            <a:endParaRPr lang="en-US" sz="500" dirty="0"/>
          </a:p>
        </p:txBody>
      </p:sp>
      <p:sp>
        <p:nvSpPr>
          <p:cNvPr id="235" name="Text 233"/>
          <p:cNvSpPr/>
          <p:nvPr/>
        </p:nvSpPr>
        <p:spPr>
          <a:xfrm>
            <a:off x="3395139" y="521794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SBC102.02.027</a:t>
            </a:r>
            <a:endParaRPr lang="en-US" sz="500" dirty="0"/>
          </a:p>
        </p:txBody>
      </p:sp>
      <p:sp>
        <p:nvSpPr>
          <p:cNvPr id="236" name="Text 234"/>
          <p:cNvSpPr/>
          <p:nvPr/>
        </p:nvSpPr>
        <p:spPr>
          <a:xfrm>
            <a:off x="9172656" y="852058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TCC103.11.027</a:t>
            </a:r>
            <a:endParaRPr lang="en-US" sz="500" dirty="0"/>
          </a:p>
        </p:txBody>
      </p:sp>
      <p:sp>
        <p:nvSpPr>
          <p:cNvPr id="237" name="Text 235"/>
          <p:cNvSpPr/>
          <p:nvPr/>
        </p:nvSpPr>
        <p:spPr>
          <a:xfrm>
            <a:off x="6553658" y="80520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TCCECH.03.038</a:t>
            </a:r>
            <a:endParaRPr lang="en-US" sz="500" dirty="0"/>
          </a:p>
        </p:txBody>
      </p:sp>
      <p:sp>
        <p:nvSpPr>
          <p:cNvPr id="238" name="Text 236"/>
          <p:cNvSpPr/>
          <p:nvPr/>
        </p:nvSpPr>
        <p:spPr>
          <a:xfrm>
            <a:off x="6778077" y="868314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TCCECH.04.037</a:t>
            </a:r>
            <a:endParaRPr lang="en-US" sz="500" dirty="0"/>
          </a:p>
        </p:txBody>
      </p:sp>
      <p:sp>
        <p:nvSpPr>
          <p:cNvPr id="239" name="Text 237"/>
          <p:cNvSpPr/>
          <p:nvPr/>
        </p:nvSpPr>
        <p:spPr>
          <a:xfrm>
            <a:off x="6986118" y="936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TCCECH.03.039</a:t>
            </a:r>
            <a:endParaRPr lang="en-US" sz="500" dirty="0"/>
          </a:p>
        </p:txBody>
      </p:sp>
      <p:sp>
        <p:nvSpPr>
          <p:cNvPr id="240" name="Text 238"/>
          <p:cNvSpPr/>
          <p:nvPr/>
        </p:nvSpPr>
        <p:spPr>
          <a:xfrm>
            <a:off x="7126965" y="100430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TCCECH.04.038</a:t>
            </a:r>
            <a:endParaRPr lang="en-US" sz="500" dirty="0"/>
          </a:p>
        </p:txBody>
      </p:sp>
      <p:sp>
        <p:nvSpPr>
          <p:cNvPr id="241" name="Text 239"/>
          <p:cNvSpPr/>
          <p:nvPr/>
        </p:nvSpPr>
        <p:spPr>
          <a:xfrm>
            <a:off x="9177803" y="820454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TCCECH.04.019</a:t>
            </a:r>
            <a:endParaRPr lang="en-US" sz="500" dirty="0"/>
          </a:p>
        </p:txBody>
      </p:sp>
      <p:sp>
        <p:nvSpPr>
          <p:cNvPr id="242" name="Text 240"/>
          <p:cNvSpPr/>
          <p:nvPr/>
        </p:nvSpPr>
        <p:spPr>
          <a:xfrm>
            <a:off x="8527101" y="794587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TCCECH.03.020</a:t>
            </a:r>
            <a:endParaRPr lang="en-US" sz="500" dirty="0"/>
          </a:p>
        </p:txBody>
      </p:sp>
      <p:sp>
        <p:nvSpPr>
          <p:cNvPr id="243" name="Text 241"/>
          <p:cNvSpPr/>
          <p:nvPr/>
        </p:nvSpPr>
        <p:spPr>
          <a:xfrm>
            <a:off x="5301481" y="30593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&amp;.27152</a:t>
            </a:r>
            <a:endParaRPr lang="en-US" sz="500" dirty="0"/>
          </a:p>
        </p:txBody>
      </p:sp>
      <p:sp>
        <p:nvSpPr>
          <p:cNvPr id="244" name="Text 242"/>
          <p:cNvSpPr/>
          <p:nvPr/>
        </p:nvSpPr>
        <p:spPr>
          <a:xfrm>
            <a:off x="1995938" y="537797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&amp;.27153</a:t>
            </a:r>
            <a:endParaRPr lang="en-US" sz="500" dirty="0"/>
          </a:p>
        </p:txBody>
      </p:sp>
      <p:sp>
        <p:nvSpPr>
          <p:cNvPr id="245" name="Text 243"/>
          <p:cNvSpPr/>
          <p:nvPr/>
        </p:nvSpPr>
        <p:spPr>
          <a:xfrm>
            <a:off x="4193425" y="79147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&amp;.27154</a:t>
            </a:r>
            <a:endParaRPr lang="en-US" sz="500" dirty="0"/>
          </a:p>
        </p:txBody>
      </p:sp>
      <p:sp>
        <p:nvSpPr>
          <p:cNvPr id="246" name="Text 244"/>
          <p:cNvSpPr/>
          <p:nvPr/>
        </p:nvSpPr>
        <p:spPr>
          <a:xfrm>
            <a:off x="8562851" y="55727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&amp;.27162</a:t>
            </a:r>
            <a:endParaRPr lang="en-US" sz="500" dirty="0"/>
          </a:p>
        </p:txBody>
      </p:sp>
      <p:sp>
        <p:nvSpPr>
          <p:cNvPr id="247" name="Text 245"/>
          <p:cNvSpPr/>
          <p:nvPr/>
        </p:nvSpPr>
        <p:spPr>
          <a:xfrm>
            <a:off x="5581209" y="224481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HH.E6.038</a:t>
            </a:r>
            <a:endParaRPr lang="en-US" sz="500" dirty="0"/>
          </a:p>
        </p:txBody>
      </p:sp>
      <p:sp>
        <p:nvSpPr>
          <p:cNvPr id="248" name="Text 246"/>
          <p:cNvSpPr/>
          <p:nvPr/>
        </p:nvSpPr>
        <p:spPr>
          <a:xfrm>
            <a:off x="5806376" y="240419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HH.E6.037</a:t>
            </a:r>
            <a:endParaRPr lang="en-US" sz="500" dirty="0"/>
          </a:p>
        </p:txBody>
      </p:sp>
      <p:sp>
        <p:nvSpPr>
          <p:cNvPr id="249" name="Text 247"/>
          <p:cNvSpPr/>
          <p:nvPr/>
        </p:nvSpPr>
        <p:spPr>
          <a:xfrm>
            <a:off x="6819255" y="31370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HH.E6.036</a:t>
            </a:r>
            <a:endParaRPr lang="en-US" sz="500" dirty="0"/>
          </a:p>
        </p:txBody>
      </p:sp>
      <p:sp>
        <p:nvSpPr>
          <p:cNvPr id="250" name="Text 248"/>
          <p:cNvSpPr/>
          <p:nvPr/>
        </p:nvSpPr>
        <p:spPr>
          <a:xfrm>
            <a:off x="7785153" y="384831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HH.E6.035</a:t>
            </a:r>
            <a:endParaRPr lang="en-US" sz="500" dirty="0"/>
          </a:p>
        </p:txBody>
      </p:sp>
      <p:sp>
        <p:nvSpPr>
          <p:cNvPr id="251" name="Text 249"/>
          <p:cNvSpPr/>
          <p:nvPr/>
        </p:nvSpPr>
        <p:spPr>
          <a:xfrm>
            <a:off x="2888185" y="70628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HH.E6.040</a:t>
            </a:r>
            <a:endParaRPr lang="en-US" sz="500" dirty="0"/>
          </a:p>
        </p:txBody>
      </p:sp>
      <p:sp>
        <p:nvSpPr>
          <p:cNvPr id="252" name="Text 250"/>
          <p:cNvSpPr/>
          <p:nvPr/>
        </p:nvSpPr>
        <p:spPr>
          <a:xfrm>
            <a:off x="3627419" y="82577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HH.E6.041</a:t>
            </a:r>
            <a:endParaRPr lang="en-US" sz="500" dirty="0"/>
          </a:p>
        </p:txBody>
      </p:sp>
      <p:sp>
        <p:nvSpPr>
          <p:cNvPr id="253" name="Text 251"/>
          <p:cNvSpPr/>
          <p:nvPr/>
        </p:nvSpPr>
        <p:spPr>
          <a:xfrm>
            <a:off x="4256409" y="979288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HH.E6.042</a:t>
            </a:r>
            <a:endParaRPr lang="en-US" sz="500" dirty="0"/>
          </a:p>
        </p:txBody>
      </p:sp>
      <p:sp>
        <p:nvSpPr>
          <p:cNvPr id="254" name="Text 252"/>
          <p:cNvSpPr/>
          <p:nvPr/>
        </p:nvSpPr>
        <p:spPr>
          <a:xfrm>
            <a:off x="8254018" y="418812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HH.E6.034</a:t>
            </a:r>
            <a:endParaRPr lang="en-US" sz="500" dirty="0"/>
          </a:p>
        </p:txBody>
      </p:sp>
      <p:sp>
        <p:nvSpPr>
          <p:cNvPr id="255" name="Text 253"/>
          <p:cNvSpPr/>
          <p:nvPr/>
        </p:nvSpPr>
        <p:spPr>
          <a:xfrm>
            <a:off x="9091423" y="46379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HH.E6.032</a:t>
            </a:r>
            <a:endParaRPr lang="en-US" sz="500" dirty="0"/>
          </a:p>
        </p:txBody>
      </p:sp>
      <p:sp>
        <p:nvSpPr>
          <p:cNvPr id="256" name="Text 254"/>
          <p:cNvSpPr/>
          <p:nvPr/>
        </p:nvSpPr>
        <p:spPr>
          <a:xfrm>
            <a:off x="1760009" y="585105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HH.E6.039</a:t>
            </a:r>
            <a:endParaRPr lang="en-US" sz="500" dirty="0"/>
          </a:p>
        </p:txBody>
      </p:sp>
      <p:sp>
        <p:nvSpPr>
          <p:cNvPr id="257" name="Text 255"/>
          <p:cNvSpPr/>
          <p:nvPr/>
        </p:nvSpPr>
        <p:spPr>
          <a:xfrm>
            <a:off x="3381663" y="15022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P6.009</a:t>
            </a:r>
            <a:endParaRPr lang="en-US" sz="500" dirty="0"/>
          </a:p>
        </p:txBody>
      </p:sp>
      <p:sp>
        <p:nvSpPr>
          <p:cNvPr id="258" name="Text 256"/>
          <p:cNvSpPr/>
          <p:nvPr/>
        </p:nvSpPr>
        <p:spPr>
          <a:xfrm>
            <a:off x="947029" y="453046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P6.038</a:t>
            </a:r>
            <a:endParaRPr lang="en-US" sz="500" dirty="0"/>
          </a:p>
        </p:txBody>
      </p:sp>
      <p:sp>
        <p:nvSpPr>
          <p:cNvPr id="259" name="Text 257"/>
          <p:cNvSpPr/>
          <p:nvPr/>
        </p:nvSpPr>
        <p:spPr>
          <a:xfrm>
            <a:off x="852040" y="50888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MH.E.024</a:t>
            </a:r>
            <a:endParaRPr lang="en-US" sz="500" dirty="0"/>
          </a:p>
        </p:txBody>
      </p:sp>
      <p:sp>
        <p:nvSpPr>
          <p:cNvPr id="260" name="Text 258"/>
          <p:cNvSpPr/>
          <p:nvPr/>
        </p:nvSpPr>
        <p:spPr>
          <a:xfrm>
            <a:off x="4053140" y="10987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MH.E.014</a:t>
            </a:r>
            <a:endParaRPr lang="en-US" sz="500" dirty="0"/>
          </a:p>
        </p:txBody>
      </p:sp>
      <p:sp>
        <p:nvSpPr>
          <p:cNvPr id="261" name="Text 259"/>
          <p:cNvSpPr/>
          <p:nvPr/>
        </p:nvSpPr>
        <p:spPr>
          <a:xfrm>
            <a:off x="4278588" y="235749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&amp;.23918</a:t>
            </a:r>
            <a:endParaRPr lang="en-US" sz="500" dirty="0"/>
          </a:p>
        </p:txBody>
      </p:sp>
      <p:sp>
        <p:nvSpPr>
          <p:cNvPr id="262" name="Text 260"/>
          <p:cNvSpPr/>
          <p:nvPr/>
        </p:nvSpPr>
        <p:spPr>
          <a:xfrm>
            <a:off x="1646115" y="669650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SGC102.02.017</a:t>
            </a:r>
            <a:endParaRPr lang="en-US" sz="500" dirty="0"/>
          </a:p>
        </p:txBody>
      </p:sp>
      <p:sp>
        <p:nvSpPr>
          <p:cNvPr id="263" name="Text 261"/>
          <p:cNvSpPr/>
          <p:nvPr/>
        </p:nvSpPr>
        <p:spPr>
          <a:xfrm>
            <a:off x="5963038" y="21894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SGC102.02.016</a:t>
            </a:r>
            <a:endParaRPr lang="en-US" sz="500" dirty="0"/>
          </a:p>
        </p:txBody>
      </p:sp>
      <p:sp>
        <p:nvSpPr>
          <p:cNvPr id="264" name="Text 262"/>
          <p:cNvSpPr/>
          <p:nvPr/>
        </p:nvSpPr>
        <p:spPr>
          <a:xfrm>
            <a:off x="9376392" y="618468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TEC102.02.050</a:t>
            </a:r>
            <a:endParaRPr lang="en-US" sz="500" dirty="0"/>
          </a:p>
        </p:txBody>
      </p:sp>
      <p:sp>
        <p:nvSpPr>
          <p:cNvPr id="265" name="Shape 263"/>
          <p:cNvSpPr/>
          <p:nvPr/>
        </p:nvSpPr>
        <p:spPr>
          <a:xfrm>
            <a:off x="4279360" y="3910525"/>
            <a:ext cx="210312" cy="210312"/>
          </a:xfrm>
          <a:prstGeom prst="ellipse">
            <a:avLst/>
          </a:prstGeom>
          <a:noFill/>
          <a:ln w="28575">
            <a:solidFill>
              <a:srgbClr val="CC0000"/>
            </a:solidFill>
            <a:prstDash val="solid"/>
          </a:ln>
        </p:spPr>
        <p:txBody>
          <a:bodyPr/>
          <a:lstStyle/>
          <a:p>
            <a:endParaRPr lang="en-US"/>
          </a:p>
        </p:txBody>
      </p:sp>
      <p:sp>
        <p:nvSpPr>
          <p:cNvPr id="266" name="Shape 264"/>
          <p:cNvSpPr/>
          <p:nvPr/>
        </p:nvSpPr>
        <p:spPr>
          <a:xfrm>
            <a:off x="4329652" y="3960817"/>
            <a:ext cx="109728" cy="109728"/>
          </a:xfrm>
          <a:prstGeom prst="ellipse">
            <a:avLst/>
          </a:prstGeom>
          <a:solidFill>
            <a:srgbClr val="E8710A"/>
          </a:solidFill>
          <a:ln w="6350">
            <a:solidFill>
              <a:srgbClr val="E8710A"/>
            </a:solidFill>
            <a:prstDash val="solid"/>
          </a:ln>
        </p:spPr>
        <p:txBody>
          <a:bodyPr/>
          <a:lstStyle/>
          <a:p>
            <a:endParaRPr lang="en-US"/>
          </a:p>
        </p:txBody>
      </p:sp>
      <p:sp>
        <p:nvSpPr>
          <p:cNvPr id="267" name="Text 265"/>
          <p:cNvSpPr/>
          <p:nvPr/>
        </p:nvSpPr>
        <p:spPr>
          <a:xfrm>
            <a:off x="4503388" y="379622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SBC102-02/024</a:t>
            </a:r>
            <a:endParaRPr lang="en-US" sz="650" dirty="0"/>
          </a:p>
        </p:txBody>
      </p:sp>
      <p:sp>
        <p:nvSpPr>
          <p:cNvPr id="268" name="Shape 266"/>
          <p:cNvSpPr/>
          <p:nvPr/>
        </p:nvSpPr>
        <p:spPr>
          <a:xfrm>
            <a:off x="4103606" y="4129610"/>
            <a:ext cx="210312" cy="210312"/>
          </a:xfrm>
          <a:prstGeom prst="ellipse">
            <a:avLst/>
          </a:prstGeom>
          <a:noFill/>
          <a:ln w="28575">
            <a:solidFill>
              <a:srgbClr val="CC0000"/>
            </a:solidFill>
            <a:prstDash val="solid"/>
          </a:ln>
        </p:spPr>
        <p:txBody>
          <a:bodyPr/>
          <a:lstStyle/>
          <a:p>
            <a:endParaRPr lang="en-US"/>
          </a:p>
        </p:txBody>
      </p:sp>
      <p:sp>
        <p:nvSpPr>
          <p:cNvPr id="269" name="Shape 267"/>
          <p:cNvSpPr/>
          <p:nvPr/>
        </p:nvSpPr>
        <p:spPr>
          <a:xfrm>
            <a:off x="4153898" y="4179902"/>
            <a:ext cx="109728" cy="109728"/>
          </a:xfrm>
          <a:prstGeom prst="ellipse">
            <a:avLst/>
          </a:prstGeom>
          <a:solidFill>
            <a:srgbClr val="E8710A"/>
          </a:solidFill>
          <a:ln w="6350">
            <a:solidFill>
              <a:srgbClr val="E8710A"/>
            </a:solidFill>
            <a:prstDash val="solid"/>
          </a:ln>
        </p:spPr>
        <p:txBody>
          <a:bodyPr/>
          <a:lstStyle/>
          <a:p>
            <a:endParaRPr lang="en-US"/>
          </a:p>
        </p:txBody>
      </p:sp>
      <p:sp>
        <p:nvSpPr>
          <p:cNvPr id="270" name="Text 268"/>
          <p:cNvSpPr/>
          <p:nvPr/>
        </p:nvSpPr>
        <p:spPr>
          <a:xfrm>
            <a:off x="4327634" y="401531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SBC102-01/027</a:t>
            </a:r>
            <a:endParaRPr lang="en-US" sz="650" dirty="0"/>
          </a:p>
        </p:txBody>
      </p:sp>
      <p:sp>
        <p:nvSpPr>
          <p:cNvPr id="271" name="Shape 269"/>
          <p:cNvSpPr/>
          <p:nvPr/>
        </p:nvSpPr>
        <p:spPr>
          <a:xfrm>
            <a:off x="3927758" y="4348600"/>
            <a:ext cx="210312" cy="210312"/>
          </a:xfrm>
          <a:prstGeom prst="ellipse">
            <a:avLst/>
          </a:prstGeom>
          <a:noFill/>
          <a:ln w="28575">
            <a:solidFill>
              <a:srgbClr val="CC0000"/>
            </a:solidFill>
            <a:prstDash val="solid"/>
          </a:ln>
        </p:spPr>
        <p:txBody>
          <a:bodyPr/>
          <a:lstStyle/>
          <a:p>
            <a:endParaRPr lang="en-US"/>
          </a:p>
        </p:txBody>
      </p:sp>
      <p:sp>
        <p:nvSpPr>
          <p:cNvPr id="272" name="Shape 270"/>
          <p:cNvSpPr/>
          <p:nvPr/>
        </p:nvSpPr>
        <p:spPr>
          <a:xfrm>
            <a:off x="3978050" y="4398892"/>
            <a:ext cx="109728" cy="109728"/>
          </a:xfrm>
          <a:prstGeom prst="ellipse">
            <a:avLst/>
          </a:prstGeom>
          <a:solidFill>
            <a:srgbClr val="E8710A"/>
          </a:solidFill>
          <a:ln w="6350">
            <a:solidFill>
              <a:srgbClr val="E8710A"/>
            </a:solidFill>
            <a:prstDash val="solid"/>
          </a:ln>
        </p:spPr>
        <p:txBody>
          <a:bodyPr/>
          <a:lstStyle/>
          <a:p>
            <a:endParaRPr lang="en-US"/>
          </a:p>
        </p:txBody>
      </p:sp>
      <p:sp>
        <p:nvSpPr>
          <p:cNvPr id="273" name="Text 271"/>
          <p:cNvSpPr/>
          <p:nvPr/>
        </p:nvSpPr>
        <p:spPr>
          <a:xfrm>
            <a:off x="4151786" y="423430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SBC102-02/025</a:t>
            </a:r>
            <a:endParaRPr lang="en-US" sz="650" dirty="0"/>
          </a:p>
        </p:txBody>
      </p:sp>
      <p:sp>
        <p:nvSpPr>
          <p:cNvPr id="274" name="Shape 272"/>
          <p:cNvSpPr/>
          <p:nvPr/>
        </p:nvSpPr>
        <p:spPr>
          <a:xfrm>
            <a:off x="3751911" y="4567591"/>
            <a:ext cx="210312" cy="210312"/>
          </a:xfrm>
          <a:prstGeom prst="ellipse">
            <a:avLst/>
          </a:prstGeom>
          <a:noFill/>
          <a:ln w="28575">
            <a:solidFill>
              <a:srgbClr val="CC0000"/>
            </a:solidFill>
            <a:prstDash val="solid"/>
          </a:ln>
        </p:spPr>
        <p:txBody>
          <a:bodyPr/>
          <a:lstStyle/>
          <a:p>
            <a:endParaRPr lang="en-US"/>
          </a:p>
        </p:txBody>
      </p:sp>
      <p:sp>
        <p:nvSpPr>
          <p:cNvPr id="275" name="Shape 273"/>
          <p:cNvSpPr/>
          <p:nvPr/>
        </p:nvSpPr>
        <p:spPr>
          <a:xfrm>
            <a:off x="3802203" y="4617883"/>
            <a:ext cx="109728" cy="109728"/>
          </a:xfrm>
          <a:prstGeom prst="ellipse">
            <a:avLst/>
          </a:prstGeom>
          <a:solidFill>
            <a:srgbClr val="E8710A"/>
          </a:solidFill>
          <a:ln w="6350">
            <a:solidFill>
              <a:srgbClr val="E8710A"/>
            </a:solidFill>
            <a:prstDash val="solid"/>
          </a:ln>
        </p:spPr>
        <p:txBody>
          <a:bodyPr/>
          <a:lstStyle/>
          <a:p>
            <a:endParaRPr lang="en-US"/>
          </a:p>
        </p:txBody>
      </p:sp>
      <p:sp>
        <p:nvSpPr>
          <p:cNvPr id="276" name="Text 274"/>
          <p:cNvSpPr/>
          <p:nvPr/>
        </p:nvSpPr>
        <p:spPr>
          <a:xfrm>
            <a:off x="3975939" y="44532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SBC102-01/028</a:t>
            </a:r>
            <a:endParaRPr lang="en-US" sz="650" dirty="0"/>
          </a:p>
        </p:txBody>
      </p:sp>
      <p:sp>
        <p:nvSpPr>
          <p:cNvPr id="277" name="Shape 275"/>
          <p:cNvSpPr/>
          <p:nvPr/>
        </p:nvSpPr>
        <p:spPr>
          <a:xfrm>
            <a:off x="3576157" y="4786582"/>
            <a:ext cx="210312" cy="210312"/>
          </a:xfrm>
          <a:prstGeom prst="ellipse">
            <a:avLst/>
          </a:prstGeom>
          <a:noFill/>
          <a:ln w="28575">
            <a:solidFill>
              <a:srgbClr val="CC0000"/>
            </a:solidFill>
            <a:prstDash val="solid"/>
          </a:ln>
        </p:spPr>
        <p:txBody>
          <a:bodyPr/>
          <a:lstStyle/>
          <a:p>
            <a:endParaRPr lang="en-US"/>
          </a:p>
        </p:txBody>
      </p:sp>
      <p:sp>
        <p:nvSpPr>
          <p:cNvPr id="278" name="Shape 276"/>
          <p:cNvSpPr/>
          <p:nvPr/>
        </p:nvSpPr>
        <p:spPr>
          <a:xfrm>
            <a:off x="3626449" y="4836874"/>
            <a:ext cx="109728" cy="109728"/>
          </a:xfrm>
          <a:prstGeom prst="ellipse">
            <a:avLst/>
          </a:prstGeom>
          <a:solidFill>
            <a:srgbClr val="E8710A"/>
          </a:solidFill>
          <a:ln w="6350">
            <a:solidFill>
              <a:srgbClr val="E8710A"/>
            </a:solidFill>
            <a:prstDash val="solid"/>
          </a:ln>
        </p:spPr>
        <p:txBody>
          <a:bodyPr/>
          <a:lstStyle/>
          <a:p>
            <a:endParaRPr lang="en-US"/>
          </a:p>
        </p:txBody>
      </p:sp>
      <p:sp>
        <p:nvSpPr>
          <p:cNvPr id="279" name="Text 277"/>
          <p:cNvSpPr/>
          <p:nvPr/>
        </p:nvSpPr>
        <p:spPr>
          <a:xfrm>
            <a:off x="3800185" y="467228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SBC102-02/026</a:t>
            </a:r>
            <a:endParaRPr lang="en-US" sz="650" dirty="0"/>
          </a:p>
        </p:txBody>
      </p:sp>
      <p:sp>
        <p:nvSpPr>
          <p:cNvPr id="280" name="Shape 278"/>
          <p:cNvSpPr/>
          <p:nvPr/>
        </p:nvSpPr>
        <p:spPr>
          <a:xfrm>
            <a:off x="3400309" y="5005572"/>
            <a:ext cx="210312" cy="210312"/>
          </a:xfrm>
          <a:prstGeom prst="ellipse">
            <a:avLst/>
          </a:prstGeom>
          <a:noFill/>
          <a:ln w="28575">
            <a:solidFill>
              <a:srgbClr val="CC0000"/>
            </a:solidFill>
            <a:prstDash val="solid"/>
          </a:ln>
        </p:spPr>
        <p:txBody>
          <a:bodyPr/>
          <a:lstStyle/>
          <a:p>
            <a:endParaRPr lang="en-US"/>
          </a:p>
        </p:txBody>
      </p:sp>
      <p:sp>
        <p:nvSpPr>
          <p:cNvPr id="281" name="Shape 279"/>
          <p:cNvSpPr/>
          <p:nvPr/>
        </p:nvSpPr>
        <p:spPr>
          <a:xfrm>
            <a:off x="3450601" y="5055864"/>
            <a:ext cx="109728" cy="109728"/>
          </a:xfrm>
          <a:prstGeom prst="ellipse">
            <a:avLst/>
          </a:prstGeom>
          <a:solidFill>
            <a:srgbClr val="E8710A"/>
          </a:solidFill>
          <a:ln w="6350">
            <a:solidFill>
              <a:srgbClr val="E8710A"/>
            </a:solidFill>
            <a:prstDash val="solid"/>
          </a:ln>
        </p:spPr>
        <p:txBody>
          <a:bodyPr/>
          <a:lstStyle/>
          <a:p>
            <a:endParaRPr lang="en-US"/>
          </a:p>
        </p:txBody>
      </p:sp>
      <p:sp>
        <p:nvSpPr>
          <p:cNvPr id="282" name="Text 280"/>
          <p:cNvSpPr/>
          <p:nvPr/>
        </p:nvSpPr>
        <p:spPr>
          <a:xfrm>
            <a:off x="3624337" y="4891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SBC102-01/029</a:t>
            </a:r>
            <a:endParaRPr lang="en-US" sz="650" dirty="0"/>
          </a:p>
        </p:txBody>
      </p:sp>
      <p:sp>
        <p:nvSpPr>
          <p:cNvPr id="283" name="Shape 281"/>
          <p:cNvSpPr/>
          <p:nvPr/>
        </p:nvSpPr>
        <p:spPr>
          <a:xfrm>
            <a:off x="4499193" y="5122929"/>
            <a:ext cx="210312" cy="210312"/>
          </a:xfrm>
          <a:prstGeom prst="ellipse">
            <a:avLst/>
          </a:prstGeom>
          <a:noFill/>
          <a:ln w="28575">
            <a:solidFill>
              <a:srgbClr val="CC0000"/>
            </a:solidFill>
            <a:prstDash val="solid"/>
          </a:ln>
        </p:spPr>
        <p:txBody>
          <a:bodyPr/>
          <a:lstStyle/>
          <a:p>
            <a:endParaRPr lang="en-US"/>
          </a:p>
        </p:txBody>
      </p:sp>
      <p:sp>
        <p:nvSpPr>
          <p:cNvPr id="284" name="Shape 282"/>
          <p:cNvSpPr/>
          <p:nvPr/>
        </p:nvSpPr>
        <p:spPr>
          <a:xfrm>
            <a:off x="4549485" y="5173221"/>
            <a:ext cx="109728" cy="109728"/>
          </a:xfrm>
          <a:prstGeom prst="ellipse">
            <a:avLst/>
          </a:prstGeom>
          <a:solidFill>
            <a:srgbClr val="E8710A"/>
          </a:solidFill>
          <a:ln w="6350">
            <a:solidFill>
              <a:srgbClr val="E8710A"/>
            </a:solidFill>
            <a:prstDash val="solid"/>
          </a:ln>
        </p:spPr>
        <p:txBody>
          <a:bodyPr/>
          <a:lstStyle/>
          <a:p>
            <a:endParaRPr lang="en-US"/>
          </a:p>
        </p:txBody>
      </p:sp>
      <p:sp>
        <p:nvSpPr>
          <p:cNvPr id="285" name="Text 283"/>
          <p:cNvSpPr/>
          <p:nvPr/>
        </p:nvSpPr>
        <p:spPr>
          <a:xfrm>
            <a:off x="4723221" y="500862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TCCECH-04/034</a:t>
            </a:r>
            <a:endParaRPr lang="en-US" sz="650" dirty="0"/>
          </a:p>
        </p:txBody>
      </p:sp>
      <p:sp>
        <p:nvSpPr>
          <p:cNvPr id="286" name="Shape 284"/>
          <p:cNvSpPr/>
          <p:nvPr/>
        </p:nvSpPr>
        <p:spPr>
          <a:xfrm>
            <a:off x="4958231" y="5653560"/>
            <a:ext cx="210312" cy="210312"/>
          </a:xfrm>
          <a:prstGeom prst="ellipse">
            <a:avLst/>
          </a:prstGeom>
          <a:noFill/>
          <a:ln w="28575">
            <a:solidFill>
              <a:srgbClr val="CC0000"/>
            </a:solidFill>
            <a:prstDash val="solid"/>
          </a:ln>
        </p:spPr>
        <p:txBody>
          <a:bodyPr/>
          <a:lstStyle/>
          <a:p>
            <a:endParaRPr lang="en-US"/>
          </a:p>
        </p:txBody>
      </p:sp>
      <p:sp>
        <p:nvSpPr>
          <p:cNvPr id="287" name="Shape 285"/>
          <p:cNvSpPr/>
          <p:nvPr/>
        </p:nvSpPr>
        <p:spPr>
          <a:xfrm>
            <a:off x="5008523" y="5703852"/>
            <a:ext cx="109728" cy="109728"/>
          </a:xfrm>
          <a:prstGeom prst="ellipse">
            <a:avLst/>
          </a:prstGeom>
          <a:solidFill>
            <a:srgbClr val="E8710A"/>
          </a:solidFill>
          <a:ln w="6350">
            <a:solidFill>
              <a:srgbClr val="E8710A"/>
            </a:solidFill>
            <a:prstDash val="solid"/>
          </a:ln>
        </p:spPr>
        <p:txBody>
          <a:bodyPr/>
          <a:lstStyle/>
          <a:p>
            <a:endParaRPr lang="en-US"/>
          </a:p>
        </p:txBody>
      </p:sp>
      <p:sp>
        <p:nvSpPr>
          <p:cNvPr id="288" name="Text 286"/>
          <p:cNvSpPr/>
          <p:nvPr/>
        </p:nvSpPr>
        <p:spPr>
          <a:xfrm>
            <a:off x="5182259" y="553926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TCCECH-03/036</a:t>
            </a:r>
            <a:endParaRPr lang="en-US" sz="650" dirty="0"/>
          </a:p>
        </p:txBody>
      </p:sp>
      <p:sp>
        <p:nvSpPr>
          <p:cNvPr id="289" name="Shape 287"/>
          <p:cNvSpPr/>
          <p:nvPr/>
        </p:nvSpPr>
        <p:spPr>
          <a:xfrm>
            <a:off x="5379461" y="6215449"/>
            <a:ext cx="210312" cy="210312"/>
          </a:xfrm>
          <a:prstGeom prst="ellipse">
            <a:avLst/>
          </a:prstGeom>
          <a:noFill/>
          <a:ln w="28575">
            <a:solidFill>
              <a:srgbClr val="CC0000"/>
            </a:solidFill>
            <a:prstDash val="solid"/>
          </a:ln>
        </p:spPr>
        <p:txBody>
          <a:bodyPr/>
          <a:lstStyle/>
          <a:p>
            <a:endParaRPr lang="en-US"/>
          </a:p>
        </p:txBody>
      </p:sp>
      <p:sp>
        <p:nvSpPr>
          <p:cNvPr id="290" name="Shape 288"/>
          <p:cNvSpPr/>
          <p:nvPr/>
        </p:nvSpPr>
        <p:spPr>
          <a:xfrm>
            <a:off x="5429753" y="6265741"/>
            <a:ext cx="109728" cy="109728"/>
          </a:xfrm>
          <a:prstGeom prst="ellipse">
            <a:avLst/>
          </a:prstGeom>
          <a:solidFill>
            <a:srgbClr val="E8710A"/>
          </a:solidFill>
          <a:ln w="6350">
            <a:solidFill>
              <a:srgbClr val="E8710A"/>
            </a:solidFill>
            <a:prstDash val="solid"/>
          </a:ln>
        </p:spPr>
        <p:txBody>
          <a:bodyPr/>
          <a:lstStyle/>
          <a:p>
            <a:endParaRPr lang="en-US"/>
          </a:p>
        </p:txBody>
      </p:sp>
      <p:sp>
        <p:nvSpPr>
          <p:cNvPr id="291" name="Text 289"/>
          <p:cNvSpPr/>
          <p:nvPr/>
        </p:nvSpPr>
        <p:spPr>
          <a:xfrm>
            <a:off x="5603489" y="610114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TCCECH-04/035</a:t>
            </a:r>
            <a:endParaRPr lang="en-US" sz="650" dirty="0"/>
          </a:p>
        </p:txBody>
      </p:sp>
      <p:sp>
        <p:nvSpPr>
          <p:cNvPr id="292" name="Shape 290"/>
          <p:cNvSpPr/>
          <p:nvPr/>
        </p:nvSpPr>
        <p:spPr>
          <a:xfrm>
            <a:off x="5759700" y="6804759"/>
            <a:ext cx="210312" cy="210312"/>
          </a:xfrm>
          <a:prstGeom prst="ellipse">
            <a:avLst/>
          </a:prstGeom>
          <a:noFill/>
          <a:ln w="28575">
            <a:solidFill>
              <a:srgbClr val="CC0000"/>
            </a:solidFill>
            <a:prstDash val="solid"/>
          </a:ln>
        </p:spPr>
        <p:txBody>
          <a:bodyPr/>
          <a:lstStyle/>
          <a:p>
            <a:endParaRPr lang="en-US"/>
          </a:p>
        </p:txBody>
      </p:sp>
      <p:sp>
        <p:nvSpPr>
          <p:cNvPr id="293" name="Shape 291"/>
          <p:cNvSpPr/>
          <p:nvPr/>
        </p:nvSpPr>
        <p:spPr>
          <a:xfrm>
            <a:off x="5809992" y="6855051"/>
            <a:ext cx="109728" cy="109728"/>
          </a:xfrm>
          <a:prstGeom prst="ellipse">
            <a:avLst/>
          </a:prstGeom>
          <a:solidFill>
            <a:srgbClr val="E8710A"/>
          </a:solidFill>
          <a:ln w="6350">
            <a:solidFill>
              <a:srgbClr val="E8710A"/>
            </a:solidFill>
            <a:prstDash val="solid"/>
          </a:ln>
        </p:spPr>
        <p:txBody>
          <a:bodyPr/>
          <a:lstStyle/>
          <a:p>
            <a:endParaRPr lang="en-US"/>
          </a:p>
        </p:txBody>
      </p:sp>
      <p:sp>
        <p:nvSpPr>
          <p:cNvPr id="294" name="Text 292"/>
          <p:cNvSpPr/>
          <p:nvPr/>
        </p:nvSpPr>
        <p:spPr>
          <a:xfrm>
            <a:off x="5983728" y="66904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TCCECH-03/037</a:t>
            </a:r>
            <a:endParaRPr lang="en-US" sz="650" dirty="0"/>
          </a:p>
        </p:txBody>
      </p:sp>
      <p:sp>
        <p:nvSpPr>
          <p:cNvPr id="295" name="Shape 293"/>
          <p:cNvSpPr/>
          <p:nvPr/>
        </p:nvSpPr>
        <p:spPr>
          <a:xfrm>
            <a:off x="6098574" y="7419991"/>
            <a:ext cx="210312" cy="210312"/>
          </a:xfrm>
          <a:prstGeom prst="ellipse">
            <a:avLst/>
          </a:prstGeom>
          <a:noFill/>
          <a:ln w="28575">
            <a:solidFill>
              <a:srgbClr val="CC0000"/>
            </a:solidFill>
            <a:prstDash val="solid"/>
          </a:ln>
        </p:spPr>
        <p:txBody>
          <a:bodyPr/>
          <a:lstStyle/>
          <a:p>
            <a:endParaRPr lang="en-US"/>
          </a:p>
        </p:txBody>
      </p:sp>
      <p:sp>
        <p:nvSpPr>
          <p:cNvPr id="296" name="Shape 294"/>
          <p:cNvSpPr/>
          <p:nvPr/>
        </p:nvSpPr>
        <p:spPr>
          <a:xfrm>
            <a:off x="6148866" y="7470283"/>
            <a:ext cx="109728" cy="109728"/>
          </a:xfrm>
          <a:prstGeom prst="ellipse">
            <a:avLst/>
          </a:prstGeom>
          <a:solidFill>
            <a:srgbClr val="E8710A"/>
          </a:solidFill>
          <a:ln w="6350">
            <a:solidFill>
              <a:srgbClr val="E8710A"/>
            </a:solidFill>
            <a:prstDash val="solid"/>
          </a:ln>
        </p:spPr>
        <p:txBody>
          <a:bodyPr/>
          <a:lstStyle/>
          <a:p>
            <a:endParaRPr lang="en-US"/>
          </a:p>
        </p:txBody>
      </p:sp>
      <p:sp>
        <p:nvSpPr>
          <p:cNvPr id="297" name="Text 295"/>
          <p:cNvSpPr/>
          <p:nvPr/>
        </p:nvSpPr>
        <p:spPr>
          <a:xfrm>
            <a:off x="6322602" y="73056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TCCECH-04/036</a:t>
            </a:r>
            <a:endParaRPr lang="en-US" sz="650" dirty="0"/>
          </a:p>
        </p:txBody>
      </p:sp>
      <p:sp>
        <p:nvSpPr>
          <p:cNvPr id="298" name="Shape 296"/>
          <p:cNvSpPr/>
          <p:nvPr/>
        </p:nvSpPr>
        <p:spPr>
          <a:xfrm>
            <a:off x="3229796" y="5223159"/>
            <a:ext cx="210312" cy="210312"/>
          </a:xfrm>
          <a:prstGeom prst="ellipse">
            <a:avLst/>
          </a:prstGeom>
          <a:noFill/>
          <a:ln w="28575">
            <a:solidFill>
              <a:srgbClr val="9AA0A6"/>
            </a:solidFill>
            <a:prstDash val="solid"/>
          </a:ln>
        </p:spPr>
        <p:txBody>
          <a:bodyPr/>
          <a:lstStyle/>
          <a:p>
            <a:endParaRPr lang="en-US"/>
          </a:p>
        </p:txBody>
      </p:sp>
      <p:sp>
        <p:nvSpPr>
          <p:cNvPr id="299" name="Shape 297"/>
          <p:cNvSpPr/>
          <p:nvPr/>
        </p:nvSpPr>
        <p:spPr>
          <a:xfrm>
            <a:off x="3280088" y="5273451"/>
            <a:ext cx="109728" cy="109728"/>
          </a:xfrm>
          <a:prstGeom prst="ellipse">
            <a:avLst/>
          </a:prstGeom>
          <a:solidFill>
            <a:srgbClr val="9AA0A6"/>
          </a:solidFill>
          <a:ln w="6350">
            <a:solidFill>
              <a:srgbClr val="9AA0A6"/>
            </a:solidFill>
            <a:prstDash val="solid"/>
          </a:ln>
        </p:spPr>
        <p:txBody>
          <a:bodyPr/>
          <a:lstStyle/>
          <a:p>
            <a:endParaRPr lang="en-US"/>
          </a:p>
        </p:txBody>
      </p:sp>
      <p:sp>
        <p:nvSpPr>
          <p:cNvPr id="300" name="Text 298"/>
          <p:cNvSpPr/>
          <p:nvPr/>
        </p:nvSpPr>
        <p:spPr>
          <a:xfrm>
            <a:off x="3453824" y="51088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SBC102-02/027</a:t>
            </a:r>
            <a:endParaRPr lang="en-US" sz="650" dirty="0"/>
          </a:p>
        </p:txBody>
      </p:sp>
      <p:sp>
        <p:nvSpPr>
          <p:cNvPr id="301" name="Shape 299"/>
          <p:cNvSpPr/>
          <p:nvPr/>
        </p:nvSpPr>
        <p:spPr>
          <a:xfrm>
            <a:off x="4001317" y="4627205"/>
            <a:ext cx="210312" cy="210312"/>
          </a:xfrm>
          <a:prstGeom prst="ellipse">
            <a:avLst/>
          </a:prstGeom>
          <a:noFill/>
          <a:ln w="28575">
            <a:solidFill>
              <a:srgbClr val="9AA0A6"/>
            </a:solidFill>
            <a:prstDash val="solid"/>
          </a:ln>
        </p:spPr>
        <p:txBody>
          <a:bodyPr/>
          <a:lstStyle/>
          <a:p>
            <a:endParaRPr lang="en-US"/>
          </a:p>
        </p:txBody>
      </p:sp>
      <p:sp>
        <p:nvSpPr>
          <p:cNvPr id="302" name="Shape 300"/>
          <p:cNvSpPr/>
          <p:nvPr/>
        </p:nvSpPr>
        <p:spPr>
          <a:xfrm>
            <a:off x="4051609" y="4677497"/>
            <a:ext cx="109728" cy="109728"/>
          </a:xfrm>
          <a:prstGeom prst="ellipse">
            <a:avLst/>
          </a:prstGeom>
          <a:solidFill>
            <a:srgbClr val="9AA0A6"/>
          </a:solidFill>
          <a:ln w="6350">
            <a:solidFill>
              <a:srgbClr val="9AA0A6"/>
            </a:solidFill>
            <a:prstDash val="solid"/>
          </a:ln>
        </p:spPr>
        <p:txBody>
          <a:bodyPr/>
          <a:lstStyle/>
          <a:p>
            <a:endParaRPr lang="en-US"/>
          </a:p>
        </p:txBody>
      </p:sp>
      <p:sp>
        <p:nvSpPr>
          <p:cNvPr id="303" name="Text 301"/>
          <p:cNvSpPr/>
          <p:nvPr/>
        </p:nvSpPr>
        <p:spPr>
          <a:xfrm>
            <a:off x="4225345" y="451290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TCCECH-03/035</a:t>
            </a:r>
            <a:endParaRPr lang="en-US" sz="650" dirty="0"/>
          </a:p>
        </p:txBody>
      </p:sp>
      <p:sp>
        <p:nvSpPr>
          <p:cNvPr id="304" name="Shape 302"/>
          <p:cNvSpPr/>
          <p:nvPr/>
        </p:nvSpPr>
        <p:spPr>
          <a:xfrm>
            <a:off x="4046519" y="4621122"/>
            <a:ext cx="210312" cy="210312"/>
          </a:xfrm>
          <a:prstGeom prst="ellipse">
            <a:avLst/>
          </a:prstGeom>
          <a:noFill/>
          <a:ln w="28575">
            <a:solidFill>
              <a:srgbClr val="9AA0A6"/>
            </a:solidFill>
            <a:prstDash val="solid"/>
          </a:ln>
        </p:spPr>
        <p:txBody>
          <a:bodyPr/>
          <a:lstStyle/>
          <a:p>
            <a:endParaRPr lang="en-US"/>
          </a:p>
        </p:txBody>
      </p:sp>
      <p:sp>
        <p:nvSpPr>
          <p:cNvPr id="305" name="Shape 303"/>
          <p:cNvSpPr/>
          <p:nvPr/>
        </p:nvSpPr>
        <p:spPr>
          <a:xfrm>
            <a:off x="4096811" y="4671414"/>
            <a:ext cx="109728" cy="109728"/>
          </a:xfrm>
          <a:prstGeom prst="ellipse">
            <a:avLst/>
          </a:prstGeom>
          <a:solidFill>
            <a:srgbClr val="9AA0A6"/>
          </a:solidFill>
          <a:ln w="6350">
            <a:solidFill>
              <a:srgbClr val="9AA0A6"/>
            </a:solidFill>
            <a:prstDash val="solid"/>
          </a:ln>
        </p:spPr>
        <p:txBody>
          <a:bodyPr/>
          <a:lstStyle/>
          <a:p>
            <a:endParaRPr lang="en-US"/>
          </a:p>
        </p:txBody>
      </p:sp>
      <p:sp>
        <p:nvSpPr>
          <p:cNvPr id="306" name="Text 304"/>
          <p:cNvSpPr/>
          <p:nvPr/>
        </p:nvSpPr>
        <p:spPr>
          <a:xfrm>
            <a:off x="4270547" y="450682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TCCECH-03/018</a:t>
            </a:r>
            <a:endParaRPr lang="en-US" sz="650" dirty="0"/>
          </a:p>
        </p:txBody>
      </p:sp>
      <p:sp>
        <p:nvSpPr>
          <p:cNvPr id="307" name="Shape 305"/>
          <p:cNvSpPr/>
          <p:nvPr/>
        </p:nvSpPr>
        <p:spPr>
          <a:xfrm>
            <a:off x="4455208" y="3691535"/>
            <a:ext cx="210312" cy="210312"/>
          </a:xfrm>
          <a:prstGeom prst="ellipse">
            <a:avLst/>
          </a:prstGeom>
          <a:ln w="28575">
            <a:solidFill>
              <a:srgbClr val="9AA0A6"/>
            </a:solidFill>
            <a:prstDash val="solid"/>
          </a:ln>
        </p:spPr>
        <p:txBody>
          <a:bodyPr/>
          <a:lstStyle/>
          <a:p>
            <a:endParaRPr lang="en-US"/>
          </a:p>
        </p:txBody>
      </p:sp>
      <p:sp>
        <p:nvSpPr>
          <p:cNvPr id="308" name="Text 306"/>
          <p:cNvSpPr/>
          <p:nvPr/>
        </p:nvSpPr>
        <p:spPr>
          <a:xfrm>
            <a:off x="4679236" y="357723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SBC102-01/026</a:t>
            </a:r>
            <a:endParaRPr lang="en-US" sz="650" dirty="0"/>
          </a:p>
        </p:txBody>
      </p:sp>
      <p:sp>
        <p:nvSpPr>
          <p:cNvPr id="309" name="Shape 307"/>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10" name="Text 308"/>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1 — 1001  ·  REV P08 (FINAL SCOPE)</a:t>
            </a:r>
            <a:endParaRPr lang="en-US" sz="1250" dirty="0"/>
          </a:p>
        </p:txBody>
      </p:sp>
      <p:sp>
        <p:nvSpPr>
          <p:cNvPr id="311" name="Text 309"/>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Document_3 quantities) — FIELD CONDITION GOVERNS</a:t>
            </a:r>
            <a:endParaRPr lang="en-US" sz="800" dirty="0"/>
          </a:p>
        </p:txBody>
      </p:sp>
      <p:sp>
        <p:nvSpPr>
          <p:cNvPr id="312" name="Text 310"/>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102.1 m across · ZIA local grid (m) · duct geometry from Z1-Z2-Z3-MTA_SEGMENTATION source dwg · Rev P08 · issued 30.07.2026 · Prepared: Mohammed, AGL Team Leader — ADB SAFEGATE</a:t>
            </a:r>
          </a:p>
        </p:txBody>
      </p:sp>
      <p:sp>
        <p:nvSpPr>
          <p:cNvPr id="313" name="Shape 311"/>
          <p:cNvSpPr/>
          <p:nvPr/>
        </p:nvSpPr>
        <p:spPr>
          <a:xfrm>
            <a:off x="10104120" y="2057400"/>
            <a:ext cx="4709160" cy="2502713"/>
          </a:xfrm>
          <a:prstGeom prst="rect">
            <a:avLst/>
          </a:prstGeom>
          <a:solidFill>
            <a:srgbClr val="F4F6F8"/>
          </a:solidFill>
          <a:ln w="9525">
            <a:solidFill>
              <a:srgbClr val="D5DAE0"/>
            </a:solidFill>
            <a:prstDash val="solid"/>
          </a:ln>
        </p:spPr>
        <p:txBody>
          <a:bodyPr/>
          <a:lstStyle/>
          <a:p>
            <a:endParaRPr lang="en-US"/>
          </a:p>
        </p:txBody>
      </p:sp>
      <p:sp>
        <p:nvSpPr>
          <p:cNvPr id="314" name="Text 312"/>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15" name="Text 313"/>
          <p:cNvSpPr/>
          <p:nvPr/>
        </p:nvSpPr>
        <p:spPr>
          <a:xfrm>
            <a:off x="10241280" y="2386584"/>
            <a:ext cx="4434840" cy="2118665"/>
          </a:xfrm>
          <a:prstGeom prst="rect">
            <a:avLst/>
          </a:prstGeom>
          <a:noFill/>
          <a:ln/>
        </p:spPr>
        <p:txBody>
          <a:bodyPr wrap="square" lIns="0" tIns="0" rIns="0" bIns="0" rtlCol="0" anchor="t"/>
          <a:lstStyle/>
          <a:p>
            <a:pPr marL="0" indent="0">
              <a:lnSpc>
                <a:spcPct val="112000"/>
              </a:lnSpc>
              <a:buNone/>
            </a:pPr>
            <a:r>
              <a:rPr sz="720">
                <a:solidFill>
                  <a:srgbClr val="1F2937"/>
                </a:solidFill>
                <a:latin typeface="Arial"/>
              </a:rPr>
              <a:t>FINAL SCOPE (REV P08) — ALL 11 FITTINGS CORED, ALL ROUTES SAW CUT</a:t>
            </a:r>
            <a:endParaRPr lang="en-US" sz="760" dirty="0"/>
          </a:p>
          <a:p>
            <a:r>
              <a:rPr sz="720">
                <a:solidFill>
                  <a:srgbClr val="1F2937"/>
                </a:solidFill>
                <a:latin typeface="Arial"/>
              </a:rPr>
              <a:t>CORE OUT 8" + NEW SIDE-ENTRY SHALLOW BASE + NEW CABLE: 11 No.</a:t>
            </a:r>
          </a:p>
          <a:p>
            <a:r>
              <a:rPr sz="720">
                <a:solidFill>
                  <a:srgbClr val="1F2937"/>
                </a:solidFill>
                <a:latin typeface="Arial"/>
              </a:rPr>
              <a:t>   • SBC (6): SBC102-02/024, 01/027, 02/025, 01/028, 02/026, 01/029</a:t>
            </a:r>
          </a:p>
          <a:p>
            <a:r>
              <a:rPr sz="720">
                <a:solidFill>
                  <a:srgbClr val="1F2937"/>
                </a:solidFill>
                <a:latin typeface="Arial"/>
              </a:rPr>
              <a:t>   • TCC (5): TCCECH-04/034, 03/036, 04/035, 03/037, 04/036</a:t>
            </a:r>
          </a:p>
          <a:p>
            <a:r>
              <a:rPr sz="720">
                <a:solidFill>
                  <a:srgbClr val="1F2937"/>
                </a:solidFill>
                <a:latin typeface="Arial"/>
              </a:rPr>
              <a:t>ROUTE: SAW CUT throughout — the 6 No. SBC carried as VIA DUCT on Rev P06/P07 are saw cut at P08.</a:t>
            </a:r>
          </a:p>
          <a:p>
            <a:r>
              <a:rPr sz="720">
                <a:solidFill>
                  <a:srgbClr val="1F2937"/>
                </a:solidFill>
                <a:latin typeface="Arial"/>
              </a:rPr>
              <a:t>   Saw cut detail per sheet SAW CUT &amp; SIDE-ENTRY SHALLOW BASE DETAIL — detail drawing to be issued.</a:t>
            </a:r>
          </a:p>
          <a:p>
            <a:r>
              <a:rPr sz="720">
                <a:solidFill>
                  <a:srgbClr val="1F2937"/>
                </a:solidFill>
                <a:latin typeface="Arial"/>
              </a:rPr>
              <a:t>REMOVED FROM SCOPE AT REV P08 — no works: SBC102-02/027, TCCECH-03/035, TCCECH-03/018</a:t>
            </a:r>
          </a:p>
          <a:p>
            <a:r>
              <a:rPr sz="720">
                <a:solidFill>
                  <a:srgbClr val="1F2937"/>
                </a:solidFill>
                <a:latin typeface="Arial"/>
              </a:rPr>
              <a:t>FIELD VERIFIED NOT AFFECTED: SBC102-01/026 (no works)</a:t>
            </a:r>
          </a:p>
          <a:p>
            <a:r>
              <a:rPr sz="720">
                <a:solidFill>
                  <a:srgbClr val="1F2937"/>
                </a:solidFill>
                <a:latin typeface="Arial"/>
              </a:rPr>
              <a:t>TCC103 FITTINGS NOT IN FIELD SCOPE — SHOWN AS EXISTING ONLY</a:t>
            </a:r>
          </a:p>
          <a:p>
            <a:r>
              <a:rPr sz="720">
                <a:solidFill>
                  <a:srgbClr val="1F2937"/>
                </a:solidFill>
                <a:latin typeface="Arial"/>
              </a:rPr>
              <a:t>ISOLATE CIRCUITS: SBC102.01/.02, TCCECH.03/.04</a:t>
            </a:r>
          </a:p>
          <a:p>
            <a:r>
              <a:rPr sz="720">
                <a:solidFill>
                  <a:srgbClr val="1F2937"/>
                </a:solidFill>
                <a:latin typeface="Arial"/>
              </a:rPr>
              <a:t>SITE RECORD 23.07.2026: 9 cored + 2 reinstatement already worked</a:t>
            </a:r>
          </a:p>
          <a:p>
            <a:r>
              <a:rPr sz="720">
                <a:solidFill>
                  <a:srgbClr val="1F2937"/>
                </a:solidFill>
                <a:latin typeface="Arial"/>
              </a:rPr>
              <a:t>REV P08 SUPERSEDES the Rev P06/P07 quantities. SUPERSEDED = no works; NOT a field verification that the asset is unaffected.</a:t>
            </a:r>
          </a:p>
          <a:p>
            <a:r>
              <a:rPr sz="720">
                <a:solidFill>
                  <a:srgbClr val="1F2937"/>
                </a:solidFill>
                <a:latin typeface="Arial"/>
              </a:rPr>
              <a:t>RED AGL WORKS AREA = Rev P05 field-condition milling extent, UNCHANGED at P08 — the civil milling limit, not a hull of the affected assets.</a:t>
            </a:r>
          </a:p>
        </p:txBody>
      </p:sp>
      <p:sp>
        <p:nvSpPr>
          <p:cNvPr id="316" name="Shape 314"/>
          <p:cNvSpPr/>
          <p:nvPr/>
        </p:nvSpPr>
        <p:spPr>
          <a:xfrm>
            <a:off x="10104120" y="4669841"/>
            <a:ext cx="4709160" cy="2267712"/>
          </a:xfrm>
          <a:prstGeom prst="rect">
            <a:avLst/>
          </a:prstGeom>
          <a:solidFill>
            <a:srgbClr val="FFFFFF"/>
          </a:solidFill>
          <a:ln w="9525">
            <a:solidFill>
              <a:srgbClr val="D5DAE0"/>
            </a:solidFill>
            <a:prstDash val="solid"/>
          </a:ln>
        </p:spPr>
        <p:txBody>
          <a:bodyPr/>
          <a:lstStyle/>
          <a:p>
            <a:endParaRPr lang="en-US"/>
          </a:p>
        </p:txBody>
      </p:sp>
      <p:sp>
        <p:nvSpPr>
          <p:cNvPr id="317" name="Text 315"/>
          <p:cNvSpPr/>
          <p:nvPr/>
        </p:nvSpPr>
        <p:spPr>
          <a:xfrm>
            <a:off x="10241280" y="4742993"/>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8" name="Text 316"/>
          <p:cNvSpPr/>
          <p:nvPr/>
        </p:nvSpPr>
        <p:spPr>
          <a:xfrm>
            <a:off x="10241280" y="4999025"/>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ALL THREE locations at P08: 8" at LOC-01, 12" at LOC-02 and LOC-03.</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319" name="Shape 317"/>
          <p:cNvSpPr/>
          <p:nvPr/>
        </p:nvSpPr>
        <p:spPr>
          <a:xfrm>
            <a:off x="10104120" y="7047281"/>
            <a:ext cx="4709160" cy="3641357"/>
          </a:xfrm>
          <a:prstGeom prst="rect">
            <a:avLst/>
          </a:prstGeom>
          <a:solidFill>
            <a:srgbClr val="F4F6F8"/>
          </a:solidFill>
          <a:ln w="9525">
            <a:solidFill>
              <a:srgbClr val="D5DAE0"/>
            </a:solidFill>
            <a:prstDash val="solid"/>
          </a:ln>
        </p:spPr>
        <p:txBody>
          <a:bodyPr/>
          <a:lstStyle/>
          <a:p>
            <a:endParaRPr lang="en-US"/>
          </a:p>
        </p:txBody>
      </p:sp>
      <p:sp>
        <p:nvSpPr>
          <p:cNvPr id="320" name="Text 318"/>
          <p:cNvSpPr/>
          <p:nvPr/>
        </p:nvSpPr>
        <p:spPr>
          <a:xfrm>
            <a:off x="10241280" y="7120433"/>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21" name="Shape 319"/>
          <p:cNvSpPr/>
          <p:nvPr/>
        </p:nvSpPr>
        <p:spPr>
          <a:xfrm>
            <a:off x="10241280" y="7620997"/>
            <a:ext cx="192024" cy="192024"/>
          </a:xfrm>
          <a:prstGeom prst="ellipse">
            <a:avLst/>
          </a:prstGeom>
          <a:noFill/>
          <a:ln w="28575">
            <a:solidFill>
              <a:srgbClr val="CC0000"/>
            </a:solidFill>
            <a:prstDash val="solid"/>
          </a:ln>
        </p:spPr>
        <p:txBody>
          <a:bodyPr/>
          <a:lstStyle/>
          <a:p>
            <a:endParaRPr lang="en-US"/>
          </a:p>
        </p:txBody>
      </p:sp>
      <p:sp>
        <p:nvSpPr>
          <p:cNvPr id="322" name="Shape 320"/>
          <p:cNvSpPr/>
          <p:nvPr/>
        </p:nvSpPr>
        <p:spPr>
          <a:xfrm>
            <a:off x="10287000" y="7666717"/>
            <a:ext cx="100584" cy="100584"/>
          </a:xfrm>
          <a:prstGeom prst="ellipse">
            <a:avLst/>
          </a:prstGeom>
          <a:solidFill>
            <a:srgbClr val="E8710A"/>
          </a:solidFill>
          <a:ln w="6350">
            <a:solidFill>
              <a:srgbClr val="E8710A"/>
            </a:solidFill>
            <a:prstDash val="solid"/>
          </a:ln>
        </p:spPr>
        <p:txBody>
          <a:bodyPr/>
          <a:lstStyle/>
          <a:p>
            <a:endParaRPr lang="en-US"/>
          </a:p>
        </p:txBody>
      </p:sp>
      <p:sp>
        <p:nvSpPr>
          <p:cNvPr id="323" name="Text 321"/>
          <p:cNvSpPr/>
          <p:nvPr/>
        </p:nvSpPr>
        <p:spPr>
          <a:xfrm>
            <a:off x="10552176" y="7607281"/>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8" + SIDE-ENTRY BASE (SAWCUT)</a:t>
            </a:r>
            <a:endParaRPr lang="en-US" sz="740" dirty="0"/>
          </a:p>
        </p:txBody>
      </p:sp>
      <p:sp>
        <p:nvSpPr>
          <p:cNvPr id="324" name="Shape 322"/>
          <p:cNvSpPr/>
          <p:nvPr/>
        </p:nvSpPr>
        <p:spPr>
          <a:xfrm>
            <a:off x="10241280" y="7893062"/>
            <a:ext cx="192024" cy="192024"/>
          </a:xfrm>
          <a:prstGeom prst="ellipse">
            <a:avLst/>
          </a:prstGeom>
          <a:noFill/>
          <a:ln w="28575">
            <a:solidFill>
              <a:srgbClr val="9AA0A6"/>
            </a:solidFill>
            <a:prstDash val="solid"/>
          </a:ln>
        </p:spPr>
        <p:txBody>
          <a:bodyPr/>
          <a:lstStyle/>
          <a:p>
            <a:endParaRPr lang="en-US"/>
          </a:p>
        </p:txBody>
      </p:sp>
      <p:sp>
        <p:nvSpPr>
          <p:cNvPr id="325" name="Shape 323"/>
          <p:cNvSpPr/>
          <p:nvPr/>
        </p:nvSpPr>
        <p:spPr>
          <a:xfrm>
            <a:off x="10287000" y="7938782"/>
            <a:ext cx="100584" cy="100584"/>
          </a:xfrm>
          <a:prstGeom prst="ellipse">
            <a:avLst/>
          </a:prstGeom>
          <a:solidFill>
            <a:srgbClr val="9AA0A6"/>
          </a:solidFill>
          <a:ln w="6350">
            <a:solidFill>
              <a:srgbClr val="9AA0A6"/>
            </a:solidFill>
            <a:prstDash val="solid"/>
          </a:ln>
        </p:spPr>
        <p:txBody>
          <a:bodyPr/>
          <a:lstStyle/>
          <a:p>
            <a:endParaRPr lang="en-US"/>
          </a:p>
        </p:txBody>
      </p:sp>
      <p:sp>
        <p:nvSpPr>
          <p:cNvPr id="326" name="Text 324"/>
          <p:cNvSpPr/>
          <p:nvPr/>
        </p:nvSpPr>
        <p:spPr>
          <a:xfrm>
            <a:off x="10552176" y="7879346"/>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SUPERSEDED — NOT IN REV P08 SCOPE</a:t>
            </a:r>
            <a:endParaRPr lang="en-US" sz="740" dirty="0"/>
          </a:p>
        </p:txBody>
      </p:sp>
      <p:sp>
        <p:nvSpPr>
          <p:cNvPr id="327" name="Shape 325"/>
          <p:cNvSpPr/>
          <p:nvPr/>
        </p:nvSpPr>
        <p:spPr>
          <a:xfrm>
            <a:off x="10241280" y="8165127"/>
            <a:ext cx="192024" cy="192024"/>
          </a:xfrm>
          <a:prstGeom prst="ellipse">
            <a:avLst/>
          </a:prstGeom>
          <a:noFill/>
          <a:ln w="28575">
            <a:solidFill>
              <a:srgbClr val="9AA0A6"/>
            </a:solidFill>
            <a:prstDash val="solid"/>
          </a:ln>
        </p:spPr>
        <p:txBody>
          <a:bodyPr/>
          <a:lstStyle/>
          <a:p>
            <a:endParaRPr lang="en-US"/>
          </a:p>
        </p:txBody>
      </p:sp>
      <p:sp>
        <p:nvSpPr>
          <p:cNvPr id="329" name="Text 327"/>
          <p:cNvSpPr/>
          <p:nvPr/>
        </p:nvSpPr>
        <p:spPr>
          <a:xfrm>
            <a:off x="10552176" y="8151411"/>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FIELD VERIFIED — NOT AFFECTED</a:t>
            </a:r>
            <a:endParaRPr lang="en-US" sz="740" dirty="0"/>
          </a:p>
        </p:txBody>
      </p:sp>
      <p:sp>
        <p:nvSpPr>
          <p:cNvPr id="337" name="Shape 335"/>
          <p:cNvSpPr/>
          <p:nvPr/>
        </p:nvSpPr>
        <p:spPr>
          <a:xfrm>
            <a:off x="10241280" y="8533204"/>
            <a:ext cx="274320" cy="914"/>
          </a:xfrm>
          <a:prstGeom prst="line">
            <a:avLst/>
          </a:prstGeom>
          <a:noFill/>
          <a:ln w="22225">
            <a:solidFill>
              <a:srgbClr val="0B3D91"/>
            </a:solidFill>
            <a:prstDash val="solid"/>
          </a:ln>
        </p:spPr>
        <p:txBody>
          <a:bodyPr/>
          <a:lstStyle/>
          <a:p>
            <a:endParaRPr lang="en-US"/>
          </a:p>
        </p:txBody>
      </p:sp>
      <p:sp>
        <p:nvSpPr>
          <p:cNvPr id="338" name="Text 336"/>
          <p:cNvSpPr/>
          <p:nvPr/>
        </p:nvSpPr>
        <p:spPr>
          <a:xfrm>
            <a:off x="10588752" y="8423476"/>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339" name="Shape 337"/>
          <p:cNvSpPr/>
          <p:nvPr/>
        </p:nvSpPr>
        <p:spPr>
          <a:xfrm>
            <a:off x="10241280" y="8805269"/>
            <a:ext cx="274320" cy="914"/>
          </a:xfrm>
          <a:prstGeom prst="line">
            <a:avLst/>
          </a:prstGeom>
          <a:noFill/>
          <a:ln w="15875">
            <a:solidFill>
              <a:srgbClr val="00838F"/>
            </a:solidFill>
            <a:prstDash val="dash"/>
          </a:ln>
        </p:spPr>
        <p:txBody>
          <a:bodyPr/>
          <a:lstStyle/>
          <a:p>
            <a:endParaRPr lang="en-US"/>
          </a:p>
        </p:txBody>
      </p:sp>
      <p:sp>
        <p:nvSpPr>
          <p:cNvPr id="340" name="Text 338"/>
          <p:cNvSpPr/>
          <p:nvPr/>
        </p:nvSpPr>
        <p:spPr>
          <a:xfrm>
            <a:off x="10588752" y="8695541"/>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341" name="Shape 339"/>
          <p:cNvSpPr/>
          <p:nvPr/>
        </p:nvSpPr>
        <p:spPr>
          <a:xfrm>
            <a:off x="10241280" y="9077334"/>
            <a:ext cx="274320" cy="914"/>
          </a:xfrm>
          <a:prstGeom prst="line">
            <a:avLst/>
          </a:prstGeom>
          <a:noFill/>
          <a:ln w="31750">
            <a:solidFill>
              <a:srgbClr val="CC0000"/>
            </a:solidFill>
            <a:prstDash val="solid"/>
          </a:ln>
        </p:spPr>
        <p:txBody>
          <a:bodyPr/>
          <a:lstStyle/>
          <a:p>
            <a:endParaRPr lang="en-US"/>
          </a:p>
        </p:txBody>
      </p:sp>
      <p:sp>
        <p:nvSpPr>
          <p:cNvPr id="342" name="Text 340"/>
          <p:cNvSpPr/>
          <p:nvPr/>
        </p:nvSpPr>
        <p:spPr>
          <a:xfrm>
            <a:off x="10588752" y="8967606"/>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343" name="Shape 341"/>
          <p:cNvSpPr/>
          <p:nvPr/>
        </p:nvSpPr>
        <p:spPr>
          <a:xfrm>
            <a:off x="10241280" y="9349399"/>
            <a:ext cx="274320" cy="914"/>
          </a:xfrm>
          <a:prstGeom prst="line">
            <a:avLst/>
          </a:prstGeom>
          <a:noFill/>
          <a:ln w="19050">
            <a:solidFill>
              <a:srgbClr val="C7A400"/>
            </a:solidFill>
            <a:prstDash val="dashDot"/>
          </a:ln>
        </p:spPr>
        <p:txBody>
          <a:bodyPr/>
          <a:lstStyle/>
          <a:p>
            <a:endParaRPr lang="en-US"/>
          </a:p>
        </p:txBody>
      </p:sp>
      <p:sp>
        <p:nvSpPr>
          <p:cNvPr id="344" name="Text 342"/>
          <p:cNvSpPr/>
          <p:nvPr/>
        </p:nvSpPr>
        <p:spPr>
          <a:xfrm>
            <a:off x="10588752" y="9239671"/>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345" name="Shape 343"/>
          <p:cNvSpPr/>
          <p:nvPr/>
        </p:nvSpPr>
        <p:spPr>
          <a:xfrm>
            <a:off x="10241280" y="9621464"/>
            <a:ext cx="274320" cy="914"/>
          </a:xfrm>
          <a:prstGeom prst="line">
            <a:avLst/>
          </a:prstGeom>
          <a:noFill/>
          <a:ln w="28575">
            <a:solidFill>
              <a:srgbClr val="8B0000"/>
            </a:solidFill>
            <a:prstDash val="solid"/>
          </a:ln>
        </p:spPr>
        <p:txBody>
          <a:bodyPr/>
          <a:lstStyle/>
          <a:p>
            <a:endParaRPr lang="en-US"/>
          </a:p>
        </p:txBody>
      </p:sp>
      <p:sp>
        <p:nvSpPr>
          <p:cNvPr id="346" name="Text 344"/>
          <p:cNvSpPr/>
          <p:nvPr/>
        </p:nvSpPr>
        <p:spPr>
          <a:xfrm>
            <a:off x="10588752" y="9511736"/>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STOP BAR (AS-BUILT)</a:t>
            </a:r>
            <a:endParaRPr lang="en-US" sz="740" dirty="0"/>
          </a:p>
        </p:txBody>
      </p:sp>
      <p:sp>
        <p:nvSpPr>
          <p:cNvPr id="347" name="Shape 345"/>
          <p:cNvSpPr/>
          <p:nvPr/>
        </p:nvSpPr>
        <p:spPr>
          <a:xfrm>
            <a:off x="10241280" y="9893529"/>
            <a:ext cx="274320" cy="914"/>
          </a:xfrm>
          <a:prstGeom prst="line">
            <a:avLst/>
          </a:prstGeom>
          <a:noFill/>
          <a:ln w="12700">
            <a:solidFill>
              <a:srgbClr val="7A8288"/>
            </a:solidFill>
            <a:prstDash val="solid"/>
          </a:ln>
        </p:spPr>
        <p:txBody>
          <a:bodyPr/>
          <a:lstStyle/>
          <a:p>
            <a:endParaRPr lang="en-US"/>
          </a:p>
        </p:txBody>
      </p:sp>
      <p:sp>
        <p:nvSpPr>
          <p:cNvPr id="348" name="Text 346"/>
          <p:cNvSpPr/>
          <p:nvPr/>
        </p:nvSpPr>
        <p:spPr>
          <a:xfrm>
            <a:off x="10588752" y="9783801"/>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432" name="TextBox 431"/>
          <p:cNvSpPr txBox="1"/>
          <p:nvPr/>
        </p:nvSpPr>
        <p:spPr>
          <a:xfrm>
            <a:off x="10241280" y="7377281"/>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433" name="TextBox 432"/>
          <p:cNvSpPr txBox="1"/>
          <p:nvPr/>
        </p:nvSpPr>
        <p:spPr>
          <a:xfrm>
            <a:off x="12488700" y="7377281"/>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434" name="ASBUILT ASSET · Taxiway centreline light"/>
          <p:cNvSpPr/>
          <p:nvPr/>
        </p:nvSpPr>
        <p:spPr>
          <a:xfrm>
            <a:off x="12552980" y="767156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12738700" y="7602281"/>
            <a:ext cx="1937420" cy="230000"/>
          </a:xfrm>
          <a:prstGeom prst="rect">
            <a:avLst/>
          </a:prstGeom>
          <a:noFill/>
        </p:spPr>
        <p:txBody>
          <a:bodyPr wrap="square" lIns="0" rIns="0" tIns="0" bIns="0">
            <a:spAutoFit/>
          </a:bodyPr>
          <a:lstStyle/>
          <a:p>
            <a:r>
              <a:rPr sz="700">
                <a:solidFill>
                  <a:srgbClr val="20242A"/>
                </a:solidFill>
              </a:rPr>
              <a:t>TWY CENTRELINE LIGHT  (31)</a:t>
            </a:r>
          </a:p>
        </p:txBody>
      </p:sp>
      <p:sp>
        <p:nvSpPr>
          <p:cNvPr id="436" name="ASBUILT ASSET · Taxiway edge light"/>
          <p:cNvSpPr/>
          <p:nvPr/>
        </p:nvSpPr>
        <p:spPr>
          <a:xfrm>
            <a:off x="12552980" y="7943626"/>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436"/>
          <p:cNvSpPr txBox="1"/>
          <p:nvPr/>
        </p:nvSpPr>
        <p:spPr>
          <a:xfrm>
            <a:off x="12738700" y="7874346"/>
            <a:ext cx="1937420" cy="230000"/>
          </a:xfrm>
          <a:prstGeom prst="rect">
            <a:avLst/>
          </a:prstGeom>
          <a:noFill/>
        </p:spPr>
        <p:txBody>
          <a:bodyPr wrap="square" lIns="0" rIns="0" tIns="0" bIns="0">
            <a:spAutoFit/>
          </a:bodyPr>
          <a:lstStyle/>
          <a:p>
            <a:r>
              <a:rPr sz="700">
                <a:solidFill>
                  <a:srgbClr val="20242A"/>
                </a:solidFill>
              </a:rPr>
              <a:t>TWY EDGE LIGHT  (4)</a:t>
            </a:r>
          </a:p>
        </p:txBody>
      </p:sp>
      <p:sp>
        <p:nvSpPr>
          <p:cNvPr id="438" name="ASBUILT ASSET · Stop bar light"/>
          <p:cNvSpPr/>
          <p:nvPr/>
        </p:nvSpPr>
        <p:spPr>
          <a:xfrm>
            <a:off x="12552980" y="8215691"/>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TextBox 438"/>
          <p:cNvSpPr txBox="1"/>
          <p:nvPr/>
        </p:nvSpPr>
        <p:spPr>
          <a:xfrm>
            <a:off x="12738700" y="8146411"/>
            <a:ext cx="1937420" cy="230000"/>
          </a:xfrm>
          <a:prstGeom prst="rect">
            <a:avLst/>
          </a:prstGeom>
          <a:noFill/>
        </p:spPr>
        <p:txBody>
          <a:bodyPr wrap="square" lIns="0" rIns="0" tIns="0" bIns="0">
            <a:spAutoFit/>
          </a:bodyPr>
          <a:lstStyle/>
          <a:p>
            <a:r>
              <a:rPr sz="700">
                <a:solidFill>
                  <a:srgbClr val="20242A"/>
                </a:solidFill>
              </a:rPr>
              <a:t>STOP BAR LIGHT  (8)</a:t>
            </a:r>
          </a:p>
        </p:txBody>
      </p:sp>
      <p:sp>
        <p:nvSpPr>
          <p:cNvPr id="440" name="ASBUILT ASSET · Runway guard light / RRM"/>
          <p:cNvSpPr/>
          <p:nvPr/>
        </p:nvSpPr>
        <p:spPr>
          <a:xfrm>
            <a:off x="12548408" y="8483184"/>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TextBox 440"/>
          <p:cNvSpPr txBox="1"/>
          <p:nvPr/>
        </p:nvSpPr>
        <p:spPr>
          <a:xfrm>
            <a:off x="12738700" y="8418476"/>
            <a:ext cx="1937420" cy="230000"/>
          </a:xfrm>
          <a:prstGeom prst="rect">
            <a:avLst/>
          </a:prstGeom>
          <a:noFill/>
        </p:spPr>
        <p:txBody>
          <a:bodyPr wrap="square" lIns="0" rIns="0" tIns="0" bIns="0">
            <a:spAutoFit/>
          </a:bodyPr>
          <a:lstStyle/>
          <a:p>
            <a:r>
              <a:rPr sz="700">
                <a:solidFill>
                  <a:srgbClr val="20242A"/>
                </a:solidFill>
              </a:rPr>
              <a:t>RUNWAY GUARD LIGHT / RRM  (6)</a:t>
            </a:r>
          </a:p>
        </p:txBody>
      </p:sp>
      <p:sp>
        <p:nvSpPr>
          <p:cNvPr id="442" name="ASBUILT ASSET · Sign foundation"/>
          <p:cNvSpPr/>
          <p:nvPr/>
        </p:nvSpPr>
        <p:spPr>
          <a:xfrm>
            <a:off x="12548408" y="875524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TextBox 442"/>
          <p:cNvSpPr txBox="1"/>
          <p:nvPr/>
        </p:nvSpPr>
        <p:spPr>
          <a:xfrm>
            <a:off x="12738700" y="8690541"/>
            <a:ext cx="1937420" cy="230000"/>
          </a:xfrm>
          <a:prstGeom prst="rect">
            <a:avLst/>
          </a:prstGeom>
          <a:noFill/>
        </p:spPr>
        <p:txBody>
          <a:bodyPr wrap="square" lIns="0" rIns="0" tIns="0" bIns="0">
            <a:spAutoFit/>
          </a:bodyPr>
          <a:lstStyle/>
          <a:p>
            <a:r>
              <a:rPr sz="700">
                <a:solidFill>
                  <a:srgbClr val="20242A"/>
                </a:solidFill>
              </a:rPr>
              <a:t>SIGN FOUNDATION  (2)</a:t>
            </a:r>
          </a:p>
        </p:txBody>
      </p:sp>
      <p:sp>
        <p:nvSpPr>
          <p:cNvPr id="444" name="ASBUILT ASSET · Handhole"/>
          <p:cNvSpPr/>
          <p:nvPr/>
        </p:nvSpPr>
        <p:spPr>
          <a:xfrm>
            <a:off x="12534692" y="901359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TextBox 444"/>
          <p:cNvSpPr txBox="1"/>
          <p:nvPr/>
        </p:nvSpPr>
        <p:spPr>
          <a:xfrm>
            <a:off x="12738700" y="8962606"/>
            <a:ext cx="1937420" cy="230000"/>
          </a:xfrm>
          <a:prstGeom prst="rect">
            <a:avLst/>
          </a:prstGeom>
          <a:noFill/>
        </p:spPr>
        <p:txBody>
          <a:bodyPr wrap="square" lIns="0" rIns="0" tIns="0" bIns="0">
            <a:spAutoFit/>
          </a:bodyPr>
          <a:lstStyle/>
          <a:p>
            <a:r>
              <a:rPr sz="700">
                <a:solidFill>
                  <a:srgbClr val="20242A"/>
                </a:solidFill>
              </a:rPr>
              <a:t>HANDHOLE (HH)  (11)</a:t>
            </a:r>
          </a:p>
        </p:txBody>
      </p:sp>
      <p:sp>
        <p:nvSpPr>
          <p:cNvPr id="446" name="ASBUILT ASSET · Existing transformer handhole"/>
          <p:cNvSpPr/>
          <p:nvPr/>
        </p:nvSpPr>
        <p:spPr>
          <a:xfrm>
            <a:off x="12525548" y="9276519"/>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TextBox 446"/>
          <p:cNvSpPr txBox="1"/>
          <p:nvPr/>
        </p:nvSpPr>
        <p:spPr>
          <a:xfrm>
            <a:off x="12738700" y="9234671"/>
            <a:ext cx="1937420" cy="230000"/>
          </a:xfrm>
          <a:prstGeom prst="rect">
            <a:avLst/>
          </a:prstGeom>
          <a:noFill/>
        </p:spPr>
        <p:txBody>
          <a:bodyPr wrap="square" lIns="0" rIns="0" tIns="0" bIns="0">
            <a:spAutoFit/>
          </a:bodyPr>
          <a:lstStyle/>
          <a:p>
            <a:r>
              <a:rPr sz="700">
                <a:solidFill>
                  <a:srgbClr val="20242A"/>
                </a:solidFill>
              </a:rPr>
              <a:t>TRANSFORMER HH (SEC. FEED HUB)  (5)</a:t>
            </a:r>
          </a:p>
        </p:txBody>
      </p:sp>
      <p:sp>
        <p:nvSpPr>
          <p:cNvPr id="448" name="ASBUILT ASSET · Manhole"/>
          <p:cNvSpPr/>
          <p:nvPr/>
        </p:nvSpPr>
        <p:spPr>
          <a:xfrm>
            <a:off x="12511832" y="9534868"/>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TextBox 448"/>
          <p:cNvSpPr txBox="1"/>
          <p:nvPr/>
        </p:nvSpPr>
        <p:spPr>
          <a:xfrm>
            <a:off x="12738700" y="9506736"/>
            <a:ext cx="1937420" cy="230000"/>
          </a:xfrm>
          <a:prstGeom prst="rect">
            <a:avLst/>
          </a:prstGeom>
          <a:noFill/>
        </p:spPr>
        <p:txBody>
          <a:bodyPr wrap="square" lIns="0" rIns="0" tIns="0" bIns="0">
            <a:spAutoFit/>
          </a:bodyPr>
          <a:lstStyle/>
          <a:p>
            <a:r>
              <a:rPr sz="700">
                <a:solidFill>
                  <a:srgbClr val="20242A"/>
                </a:solidFill>
              </a:rPr>
              <a:t>MANHOLE (MH)  (2)</a:t>
            </a:r>
          </a:p>
        </p:txBody>
      </p:sp>
      <p:sp>
        <p:nvSpPr>
          <p:cNvPr id="450" name="ASBUILT ASSET · Existing transformer manhole"/>
          <p:cNvSpPr/>
          <p:nvPr/>
        </p:nvSpPr>
        <p:spPr>
          <a:xfrm>
            <a:off x="12511832" y="9806933"/>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TextBox 450"/>
          <p:cNvSpPr txBox="1"/>
          <p:nvPr/>
        </p:nvSpPr>
        <p:spPr>
          <a:xfrm>
            <a:off x="12738700" y="9778801"/>
            <a:ext cx="1937420" cy="230000"/>
          </a:xfrm>
          <a:prstGeom prst="rect">
            <a:avLst/>
          </a:prstGeom>
          <a:noFill/>
        </p:spPr>
        <p:txBody>
          <a:bodyPr wrap="square" lIns="0" rIns="0" tIns="0" bIns="0">
            <a:spAutoFit/>
          </a:bodyPr>
          <a:lstStyle/>
          <a:p>
            <a:r>
              <a:rPr sz="700">
                <a:solidFill>
                  <a:srgbClr val="20242A"/>
                </a:solidFill>
              </a:rPr>
              <a:t>TRANSFORMER MH (SEC. FEED)  (2)</a:t>
            </a:r>
          </a:p>
        </p:txBody>
      </p:sp>
      <p:sp>
        <p:nvSpPr>
          <p:cNvPr id="452" name="ASBUILT ASSET · Earthing point"/>
          <p:cNvSpPr/>
          <p:nvPr/>
        </p:nvSpPr>
        <p:spPr>
          <a:xfrm>
            <a:off x="12557552" y="1012471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TextBox 452"/>
          <p:cNvSpPr txBox="1"/>
          <p:nvPr/>
        </p:nvSpPr>
        <p:spPr>
          <a:xfrm>
            <a:off x="12738700" y="10050866"/>
            <a:ext cx="1937420" cy="230000"/>
          </a:xfrm>
          <a:prstGeom prst="rect">
            <a:avLst/>
          </a:prstGeom>
          <a:noFill/>
        </p:spPr>
        <p:txBody>
          <a:bodyPr wrap="square" lIns="0" rIns="0" tIns="0" bIns="0">
            <a:spAutoFit/>
          </a:bodyPr>
          <a:lstStyle/>
          <a:p>
            <a:r>
              <a:rPr sz="700">
                <a:solidFill>
                  <a:srgbClr val="20242A"/>
                </a:solidFill>
              </a:rPr>
              <a:t>EARTHING POINT  (10)</a:t>
            </a:r>
          </a:p>
        </p:txBody>
      </p:sp>
      <p:sp>
        <p:nvSpPr>
          <p:cNvPr id="454" name="ASBUILT ASSET · Earthing pit"/>
          <p:cNvSpPr/>
          <p:nvPr/>
        </p:nvSpPr>
        <p:spPr>
          <a:xfrm>
            <a:off x="12548408" y="10387639"/>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TextBox 454"/>
          <p:cNvSpPr txBox="1"/>
          <p:nvPr/>
        </p:nvSpPr>
        <p:spPr>
          <a:xfrm>
            <a:off x="12738700" y="10322931"/>
            <a:ext cx="1937420" cy="230000"/>
          </a:xfrm>
          <a:prstGeom prst="rect">
            <a:avLst/>
          </a:prstGeom>
          <a:noFill/>
        </p:spPr>
        <p:txBody>
          <a:bodyPr wrap="square" lIns="0" rIns="0" tIns="0" bIns="0">
            <a:spAutoFit/>
          </a:bodyPr>
          <a:lstStyle/>
          <a:p>
            <a:r>
              <a:rPr sz="700">
                <a:solidFill>
                  <a:srgbClr val="20242A"/>
                </a:solidFill>
              </a:rPr>
              <a:t>EARTHING PIT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2   ·   DWG NO AUH-SK-AGL-TWYE-001-1002 REV P08</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36" name="ASBUILT DUCT · CV-EX SEC CONDUIT · 34.9 m"/>
          <p:cNvSpPr/>
          <p:nvPr/>
        </p:nvSpPr>
        <p:spPr>
          <a:xfrm>
            <a:off x="808260" y="777240"/>
            <a:ext cx="1211595" cy="2807538"/>
          </a:xfrm>
          <a:custGeom>
            <a:avLst/>
            <a:gdLst/>
            <a:ahLst/>
            <a:cxnLst/>
            <a:rect l="l" t="t" r="r" b="b"/>
            <a:pathLst>
              <a:path w="1211595" h="2807538">
                <a:moveTo>
                  <a:pt x="1211595" y="2807538"/>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SBUILT DUCT · CV-EX SEC CONDUIT · 2.3 m"/>
          <p:cNvSpPr/>
          <p:nvPr/>
        </p:nvSpPr>
        <p:spPr>
          <a:xfrm>
            <a:off x="320040" y="777240"/>
            <a:ext cx="68644" cy="188847"/>
          </a:xfrm>
          <a:custGeom>
            <a:avLst/>
            <a:gdLst/>
            <a:ahLst/>
            <a:cxnLst/>
            <a:rect l="l" t="t" r="r" b="b"/>
            <a:pathLst>
              <a:path w="68644" h="188847">
                <a:moveTo>
                  <a:pt x="0" y="188847"/>
                </a:moveTo>
                <a:lnTo>
                  <a:pt x="686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SBUILT DUCT · CV-EX SEC CONDUIT · 22.9 m"/>
          <p:cNvSpPr/>
          <p:nvPr/>
        </p:nvSpPr>
        <p:spPr>
          <a:xfrm>
            <a:off x="667270" y="777240"/>
            <a:ext cx="326156" cy="1984003"/>
          </a:xfrm>
          <a:custGeom>
            <a:avLst/>
            <a:gdLst/>
            <a:ahLst/>
            <a:cxnLst/>
            <a:rect l="l" t="t" r="r" b="b"/>
            <a:pathLst>
              <a:path w="326156" h="1984003">
                <a:moveTo>
                  <a:pt x="0" y="0"/>
                </a:moveTo>
                <a:lnTo>
                  <a:pt x="326156" y="1984003"/>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SBUILT DUCT · CV-EX SEC CONDUIT · 20.5 m"/>
          <p:cNvSpPr/>
          <p:nvPr/>
        </p:nvSpPr>
        <p:spPr>
          <a:xfrm>
            <a:off x="5097724" y="4360955"/>
            <a:ext cx="606439" cy="1694682"/>
          </a:xfrm>
          <a:custGeom>
            <a:avLst/>
            <a:gdLst/>
            <a:ahLst/>
            <a:cxnLst/>
            <a:rect l="l" t="t" r="r" b="b"/>
            <a:pathLst>
              <a:path w="606439" h="1694682">
                <a:moveTo>
                  <a:pt x="0" y="1694682"/>
                </a:moveTo>
                <a:lnTo>
                  <a:pt x="60643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SBUILT DUCT · CV-EX SEC CONDUIT · 21.1 m"/>
          <p:cNvSpPr/>
          <p:nvPr/>
        </p:nvSpPr>
        <p:spPr>
          <a:xfrm>
            <a:off x="4070812" y="4360955"/>
            <a:ext cx="1633351" cy="869656"/>
          </a:xfrm>
          <a:custGeom>
            <a:avLst/>
            <a:gdLst/>
            <a:ahLst/>
            <a:cxnLst/>
            <a:rect l="l" t="t" r="r" b="b"/>
            <a:pathLst>
              <a:path w="1633351" h="869656">
                <a:moveTo>
                  <a:pt x="1633351" y="0"/>
                </a:moveTo>
                <a:lnTo>
                  <a:pt x="0" y="86965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SBUILT DUCT · CV-EX SEC CONDUIT · 29.1 m"/>
          <p:cNvSpPr/>
          <p:nvPr/>
        </p:nvSpPr>
        <p:spPr>
          <a:xfrm>
            <a:off x="5704163" y="4360955"/>
            <a:ext cx="420561" cy="2518042"/>
          </a:xfrm>
          <a:custGeom>
            <a:avLst/>
            <a:gdLst/>
            <a:ahLst/>
            <a:cxnLst/>
            <a:rect l="l" t="t" r="r" b="b"/>
            <a:pathLst>
              <a:path w="420561" h="2518042">
                <a:moveTo>
                  <a:pt x="0" y="0"/>
                </a:moveTo>
                <a:lnTo>
                  <a:pt x="420561" y="251804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SBUILT DUCT · CV-EX SEC CONDUIT · 30.3 m"/>
          <p:cNvSpPr/>
          <p:nvPr/>
        </p:nvSpPr>
        <p:spPr>
          <a:xfrm>
            <a:off x="3046364" y="4360955"/>
            <a:ext cx="2657799" cy="46121"/>
          </a:xfrm>
          <a:custGeom>
            <a:avLst/>
            <a:gdLst/>
            <a:ahLst/>
            <a:cxnLst/>
            <a:rect l="l" t="t" r="r" b="b"/>
            <a:pathLst>
              <a:path w="2657799" h="46121">
                <a:moveTo>
                  <a:pt x="0" y="46121"/>
                </a:moveTo>
                <a:lnTo>
                  <a:pt x="265779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SBUILT DUCT · CV-EX SEC CONDUIT · 41.5 m"/>
          <p:cNvSpPr/>
          <p:nvPr/>
        </p:nvSpPr>
        <p:spPr>
          <a:xfrm>
            <a:off x="5704163" y="4360955"/>
            <a:ext cx="1445359" cy="3340866"/>
          </a:xfrm>
          <a:custGeom>
            <a:avLst/>
            <a:gdLst/>
            <a:ahLst/>
            <a:cxnLst/>
            <a:rect l="l" t="t" r="r" b="b"/>
            <a:pathLst>
              <a:path w="1445359" h="3340866">
                <a:moveTo>
                  <a:pt x="0" y="0"/>
                </a:moveTo>
                <a:lnTo>
                  <a:pt x="1445359" y="334086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SBUILT DUCT · CV-EX SEC CONDUIT · 8.7 m"/>
          <p:cNvSpPr/>
          <p:nvPr/>
        </p:nvSpPr>
        <p:spPr>
          <a:xfrm>
            <a:off x="9203040" y="8993029"/>
            <a:ext cx="672480" cy="357976"/>
          </a:xfrm>
          <a:custGeom>
            <a:avLst/>
            <a:gdLst/>
            <a:ahLst/>
            <a:cxnLst/>
            <a:rect l="l" t="t" r="r" b="b"/>
            <a:pathLst>
              <a:path w="672480" h="357976">
                <a:moveTo>
                  <a:pt x="672480" y="0"/>
                </a:moveTo>
                <a:lnTo>
                  <a:pt x="0" y="35797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SBUILT DUCT · CV-EX SEC CONDUIT · 19.4 m"/>
          <p:cNvSpPr/>
          <p:nvPr/>
        </p:nvSpPr>
        <p:spPr>
          <a:xfrm>
            <a:off x="8176127" y="8503662"/>
            <a:ext cx="1699393" cy="23282"/>
          </a:xfrm>
          <a:custGeom>
            <a:avLst/>
            <a:gdLst/>
            <a:ahLst/>
            <a:cxnLst/>
            <a:rect l="l" t="t" r="r" b="b"/>
            <a:pathLst>
              <a:path w="1699393" h="23282">
                <a:moveTo>
                  <a:pt x="0" y="23282"/>
                </a:moveTo>
                <a:lnTo>
                  <a:pt x="169939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SBUILT DUCT · CV-NEW SEC CONDUIT · 6.2 m"/>
          <p:cNvSpPr/>
          <p:nvPr/>
        </p:nvSpPr>
        <p:spPr>
          <a:xfrm>
            <a:off x="5704058" y="3935114"/>
            <a:ext cx="342064" cy="426043"/>
          </a:xfrm>
          <a:custGeom>
            <a:avLst/>
            <a:gdLst/>
            <a:ahLst/>
            <a:cxnLst/>
            <a:rect l="l" t="t" r="r" b="b"/>
            <a:pathLst>
              <a:path w="342064" h="426043">
                <a:moveTo>
                  <a:pt x="342064" y="0"/>
                </a:moveTo>
                <a:lnTo>
                  <a:pt x="0" y="42604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_OUTER DUCT 4x110mm dia · 110.8 m"/>
          <p:cNvSpPr/>
          <p:nvPr/>
        </p:nvSpPr>
        <p:spPr>
          <a:xfrm>
            <a:off x="2306059" y="777240"/>
            <a:ext cx="7569461" cy="6098335"/>
          </a:xfrm>
          <a:custGeom>
            <a:avLst/>
            <a:gdLst/>
            <a:ahLst/>
            <a:cxnLst/>
            <a:rect l="l" t="t" r="r" b="b"/>
            <a:pathLst>
              <a:path w="7569461" h="6098335">
                <a:moveTo>
                  <a:pt x="7569461" y="6098335"/>
                </a:moveTo>
                <a:lnTo>
                  <a:pt x="2595392" y="2099489"/>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_GRND DUCT · 1.6 m"/>
          <p:cNvSpPr/>
          <p:nvPr/>
        </p:nvSpPr>
        <p:spPr>
          <a:xfrm>
            <a:off x="5467164" y="3219750"/>
            <a:ext cx="90102" cy="112241"/>
          </a:xfrm>
          <a:custGeom>
            <a:avLst/>
            <a:gdLst/>
            <a:ahLst/>
            <a:cxnLst/>
            <a:rect l="l" t="t" r="r" b="b"/>
            <a:pathLst>
              <a:path w="90102" h="112241">
                <a:moveTo>
                  <a:pt x="90102" y="0"/>
                </a:moveTo>
                <a:lnTo>
                  <a:pt x="0" y="112241"/>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ASSET · Taxiway centreline light"/>
          <p:cNvSpPr/>
          <p:nvPr/>
        </p:nvSpPr>
        <p:spPr>
          <a:xfrm>
            <a:off x="9157293" y="930531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ASSET · Taxiway centreline light"/>
          <p:cNvSpPr/>
          <p:nvPr/>
        </p:nvSpPr>
        <p:spPr>
          <a:xfrm>
            <a:off x="8130407" y="848122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ASSET · Taxiway centreline light"/>
          <p:cNvSpPr/>
          <p:nvPr/>
        </p:nvSpPr>
        <p:spPr>
          <a:xfrm>
            <a:off x="1974056" y="353915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ASSET · Taxiway centreline light"/>
          <p:cNvSpPr/>
          <p:nvPr/>
        </p:nvSpPr>
        <p:spPr>
          <a:xfrm>
            <a:off x="947644" y="27155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SBUILT ASSET · Runway guard light / RRM"/>
          <p:cNvSpPr/>
          <p:nvPr/>
        </p:nvSpPr>
        <p:spPr>
          <a:xfrm>
            <a:off x="5856458" y="8038161"/>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SBUILT ASSET · Runway guard light / RRM"/>
          <p:cNvSpPr/>
          <p:nvPr/>
        </p:nvSpPr>
        <p:spPr>
          <a:xfrm>
            <a:off x="2437920" y="5289156"/>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SBUILT ASSET · Runway guard light / RRM"/>
          <p:cNvSpPr/>
          <p:nvPr/>
        </p:nvSpPr>
        <p:spPr>
          <a:xfrm>
            <a:off x="7200173" y="635875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SBUILT ASSET · Runway guard light / RRM"/>
          <p:cNvSpPr/>
          <p:nvPr/>
        </p:nvSpPr>
        <p:spPr>
          <a:xfrm>
            <a:off x="3781284" y="3613351"/>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SBUILT ASSET · Runway guard light / RRM"/>
          <p:cNvSpPr/>
          <p:nvPr/>
        </p:nvSpPr>
        <p:spPr>
          <a:xfrm>
            <a:off x="1724179" y="1965263"/>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SBUILT ASSET · Earthing point"/>
          <p:cNvSpPr/>
          <p:nvPr/>
        </p:nvSpPr>
        <p:spPr>
          <a:xfrm>
            <a:off x="3898949" y="312799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SBUILT ASSET · Handhole"/>
          <p:cNvSpPr/>
          <p:nvPr/>
        </p:nvSpPr>
        <p:spPr>
          <a:xfrm>
            <a:off x="5982113" y="387110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SBUILT ASSET · Handhole"/>
          <p:cNvSpPr/>
          <p:nvPr/>
        </p:nvSpPr>
        <p:spPr>
          <a:xfrm>
            <a:off x="4837443" y="281272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SBUILT ASSET · Earthing point"/>
          <p:cNvSpPr/>
          <p:nvPr/>
        </p:nvSpPr>
        <p:spPr>
          <a:xfrm>
            <a:off x="2754279" y="2069614"/>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SBUILT ASSET · Earthing point"/>
          <p:cNvSpPr/>
          <p:nvPr/>
        </p:nvSpPr>
        <p:spPr>
          <a:xfrm>
            <a:off x="9029949" y="7267119"/>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SBUILT ASSET · Earthing pit"/>
          <p:cNvSpPr/>
          <p:nvPr/>
        </p:nvSpPr>
        <p:spPr>
          <a:xfrm>
            <a:off x="2555134" y="2152571"/>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ASBUILT ASSET · Existing transformer handhole"/>
          <p:cNvSpPr/>
          <p:nvPr/>
        </p:nvSpPr>
        <p:spPr>
          <a:xfrm>
            <a:off x="5630923" y="4287733"/>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108.9 m ACROSS  ·  NOT TO SCALE WHEN EDITED</a:t>
            </a:r>
          </a:p>
        </p:txBody>
      </p:sp>
      <p:sp>
        <p:nvSpPr>
          <p:cNvPr id="5" name="Shape 3"/>
          <p:cNvSpPr/>
          <p:nvPr/>
        </p:nvSpPr>
        <p:spPr>
          <a:xfrm>
            <a:off x="8571627" y="10137349"/>
            <a:ext cx="243215" cy="195371"/>
          </a:xfrm>
          <a:prstGeom prst="line">
            <a:avLst/>
          </a:prstGeom>
          <a:noFill/>
          <a:ln w="12700">
            <a:solidFill>
              <a:srgbClr val="7A8288"/>
            </a:solidFill>
            <a:prstDash val="solid"/>
          </a:ln>
        </p:spPr>
        <p:txBody>
          <a:bodyPr/>
          <a:lstStyle/>
          <a:p>
            <a:endParaRPr lang="en-US"/>
          </a:p>
        </p:txBody>
      </p:sp>
      <p:sp>
        <p:nvSpPr>
          <p:cNvPr id="6" name="Shape 4"/>
          <p:cNvSpPr/>
          <p:nvPr/>
        </p:nvSpPr>
        <p:spPr>
          <a:xfrm>
            <a:off x="7544963" y="9313422"/>
            <a:ext cx="1026664" cy="823927"/>
          </a:xfrm>
          <a:prstGeom prst="line">
            <a:avLst/>
          </a:prstGeom>
          <a:noFill/>
          <a:ln w="12700">
            <a:solidFill>
              <a:srgbClr val="7A8288"/>
            </a:solidFill>
            <a:prstDash val="solid"/>
          </a:ln>
        </p:spPr>
        <p:txBody>
          <a:bodyPr/>
          <a:lstStyle/>
          <a:p>
            <a:endParaRPr lang="en-US"/>
          </a:p>
        </p:txBody>
      </p:sp>
      <p:sp>
        <p:nvSpPr>
          <p:cNvPr id="7" name="Shape 5"/>
          <p:cNvSpPr/>
          <p:nvPr/>
        </p:nvSpPr>
        <p:spPr>
          <a:xfrm>
            <a:off x="6517861" y="8488268"/>
            <a:ext cx="1027102" cy="825154"/>
          </a:xfrm>
          <a:prstGeom prst="line">
            <a:avLst/>
          </a:prstGeom>
          <a:noFill/>
          <a:ln w="12700">
            <a:solidFill>
              <a:srgbClr val="7A8288"/>
            </a:solidFill>
            <a:prstDash val="solid"/>
          </a:ln>
        </p:spPr>
        <p:txBody>
          <a:bodyPr/>
          <a:lstStyle/>
          <a:p>
            <a:endParaRPr lang="en-US"/>
          </a:p>
        </p:txBody>
      </p:sp>
      <p:sp>
        <p:nvSpPr>
          <p:cNvPr id="8" name="Shape 6"/>
          <p:cNvSpPr/>
          <p:nvPr/>
        </p:nvSpPr>
        <p:spPr>
          <a:xfrm>
            <a:off x="5493477" y="7665744"/>
            <a:ext cx="1024384" cy="822524"/>
          </a:xfrm>
          <a:prstGeom prst="line">
            <a:avLst/>
          </a:prstGeom>
          <a:noFill/>
          <a:ln w="12700">
            <a:solidFill>
              <a:srgbClr val="7A8288"/>
            </a:solidFill>
            <a:prstDash val="solid"/>
          </a:ln>
        </p:spPr>
        <p:txBody>
          <a:bodyPr/>
          <a:lstStyle/>
          <a:p>
            <a:endParaRPr lang="en-US"/>
          </a:p>
        </p:txBody>
      </p:sp>
      <p:sp>
        <p:nvSpPr>
          <p:cNvPr id="9" name="Shape 7"/>
          <p:cNvSpPr/>
          <p:nvPr/>
        </p:nvSpPr>
        <p:spPr>
          <a:xfrm>
            <a:off x="4466813" y="6842694"/>
            <a:ext cx="1026664" cy="823050"/>
          </a:xfrm>
          <a:prstGeom prst="line">
            <a:avLst/>
          </a:prstGeom>
          <a:noFill/>
          <a:ln w="12700">
            <a:solidFill>
              <a:srgbClr val="7A8288"/>
            </a:solidFill>
            <a:prstDash val="solid"/>
          </a:ln>
        </p:spPr>
        <p:txBody>
          <a:bodyPr/>
          <a:lstStyle/>
          <a:p>
            <a:endParaRPr lang="en-US"/>
          </a:p>
        </p:txBody>
      </p:sp>
      <p:sp>
        <p:nvSpPr>
          <p:cNvPr id="10" name="Shape 8"/>
          <p:cNvSpPr/>
          <p:nvPr/>
        </p:nvSpPr>
        <p:spPr>
          <a:xfrm>
            <a:off x="4465936" y="6841993"/>
            <a:ext cx="914" cy="914"/>
          </a:xfrm>
          <a:prstGeom prst="line">
            <a:avLst/>
          </a:prstGeom>
          <a:noFill/>
          <a:ln w="12700">
            <a:solidFill>
              <a:srgbClr val="7A8288"/>
            </a:solidFill>
            <a:prstDash val="solid"/>
          </a:ln>
        </p:spPr>
        <p:txBody>
          <a:bodyPr/>
          <a:lstStyle/>
          <a:p>
            <a:endParaRPr lang="en-US"/>
          </a:p>
        </p:txBody>
      </p:sp>
      <p:sp>
        <p:nvSpPr>
          <p:cNvPr id="11" name="Shape 9"/>
          <p:cNvSpPr/>
          <p:nvPr/>
        </p:nvSpPr>
        <p:spPr>
          <a:xfrm>
            <a:off x="3439097" y="6016926"/>
            <a:ext cx="1026839" cy="825067"/>
          </a:xfrm>
          <a:prstGeom prst="line">
            <a:avLst/>
          </a:prstGeom>
          <a:noFill/>
          <a:ln w="12700">
            <a:solidFill>
              <a:srgbClr val="7A8288"/>
            </a:solidFill>
            <a:prstDash val="solid"/>
          </a:ln>
        </p:spPr>
        <p:txBody>
          <a:bodyPr/>
          <a:lstStyle/>
          <a:p>
            <a:endParaRPr lang="en-US"/>
          </a:p>
        </p:txBody>
      </p:sp>
      <p:sp>
        <p:nvSpPr>
          <p:cNvPr id="12" name="Shape 10"/>
          <p:cNvSpPr/>
          <p:nvPr/>
        </p:nvSpPr>
        <p:spPr>
          <a:xfrm>
            <a:off x="2415064" y="5193701"/>
            <a:ext cx="1024033" cy="823225"/>
          </a:xfrm>
          <a:prstGeom prst="line">
            <a:avLst/>
          </a:prstGeom>
          <a:noFill/>
          <a:ln w="12700">
            <a:solidFill>
              <a:srgbClr val="7A8288"/>
            </a:solidFill>
            <a:prstDash val="solid"/>
          </a:ln>
        </p:spPr>
        <p:txBody>
          <a:bodyPr/>
          <a:lstStyle/>
          <a:p>
            <a:endParaRPr lang="en-US"/>
          </a:p>
        </p:txBody>
      </p:sp>
      <p:sp>
        <p:nvSpPr>
          <p:cNvPr id="13" name="Shape 11"/>
          <p:cNvSpPr/>
          <p:nvPr/>
        </p:nvSpPr>
        <p:spPr>
          <a:xfrm>
            <a:off x="1389277" y="4371879"/>
            <a:ext cx="1025787" cy="821822"/>
          </a:xfrm>
          <a:prstGeom prst="line">
            <a:avLst/>
          </a:prstGeom>
          <a:noFill/>
          <a:ln w="12700">
            <a:solidFill>
              <a:srgbClr val="7A8288"/>
            </a:solidFill>
            <a:prstDash val="solid"/>
          </a:ln>
        </p:spPr>
        <p:txBody>
          <a:bodyPr/>
          <a:lstStyle/>
          <a:p>
            <a:endParaRPr lang="en-US"/>
          </a:p>
        </p:txBody>
      </p:sp>
      <p:sp>
        <p:nvSpPr>
          <p:cNvPr id="14" name="Shape 12"/>
          <p:cNvSpPr/>
          <p:nvPr/>
        </p:nvSpPr>
        <p:spPr>
          <a:xfrm>
            <a:off x="415577" y="3590641"/>
            <a:ext cx="973700" cy="781238"/>
          </a:xfrm>
          <a:prstGeom prst="line">
            <a:avLst/>
          </a:prstGeom>
          <a:noFill/>
          <a:ln w="12700">
            <a:solidFill>
              <a:srgbClr val="7A8288"/>
            </a:solidFill>
            <a:prstDash val="solid"/>
          </a:ln>
        </p:spPr>
        <p:txBody>
          <a:bodyPr/>
          <a:lstStyle/>
          <a:p>
            <a:endParaRPr lang="en-US"/>
          </a:p>
        </p:txBody>
      </p:sp>
      <p:sp>
        <p:nvSpPr>
          <p:cNvPr id="15" name="Shape 13"/>
          <p:cNvSpPr/>
          <p:nvPr/>
        </p:nvSpPr>
        <p:spPr>
          <a:xfrm>
            <a:off x="8807511" y="7740631"/>
            <a:ext cx="972472" cy="780436"/>
          </a:xfrm>
          <a:prstGeom prst="line">
            <a:avLst/>
          </a:prstGeom>
          <a:noFill/>
          <a:ln w="12700">
            <a:solidFill>
              <a:srgbClr val="7A8288"/>
            </a:solidFill>
            <a:prstDash val="solid"/>
          </a:ln>
        </p:spPr>
        <p:txBody>
          <a:bodyPr/>
          <a:lstStyle/>
          <a:p>
            <a:endParaRPr lang="en-US"/>
          </a:p>
        </p:txBody>
      </p:sp>
      <p:sp>
        <p:nvSpPr>
          <p:cNvPr id="16" name="Shape 14"/>
          <p:cNvSpPr/>
          <p:nvPr/>
        </p:nvSpPr>
        <p:spPr>
          <a:xfrm>
            <a:off x="7780672" y="6915739"/>
            <a:ext cx="1026839" cy="824891"/>
          </a:xfrm>
          <a:prstGeom prst="line">
            <a:avLst/>
          </a:prstGeom>
          <a:noFill/>
          <a:ln w="12700">
            <a:solidFill>
              <a:srgbClr val="7A8288"/>
            </a:solidFill>
            <a:prstDash val="solid"/>
          </a:ln>
        </p:spPr>
        <p:txBody>
          <a:bodyPr/>
          <a:lstStyle/>
          <a:p>
            <a:endParaRPr lang="en-US"/>
          </a:p>
        </p:txBody>
      </p:sp>
      <p:sp>
        <p:nvSpPr>
          <p:cNvPr id="17" name="Shape 15"/>
          <p:cNvSpPr/>
          <p:nvPr/>
        </p:nvSpPr>
        <p:spPr>
          <a:xfrm>
            <a:off x="6755323" y="6092339"/>
            <a:ext cx="1025349" cy="823401"/>
          </a:xfrm>
          <a:prstGeom prst="line">
            <a:avLst/>
          </a:prstGeom>
          <a:noFill/>
          <a:ln w="12700">
            <a:solidFill>
              <a:srgbClr val="7A8288"/>
            </a:solidFill>
            <a:prstDash val="solid"/>
          </a:ln>
        </p:spPr>
        <p:txBody>
          <a:bodyPr/>
          <a:lstStyle/>
          <a:p>
            <a:endParaRPr lang="en-US"/>
          </a:p>
        </p:txBody>
      </p:sp>
      <p:sp>
        <p:nvSpPr>
          <p:cNvPr id="18" name="Shape 16"/>
          <p:cNvSpPr/>
          <p:nvPr/>
        </p:nvSpPr>
        <p:spPr>
          <a:xfrm>
            <a:off x="5728747" y="5269377"/>
            <a:ext cx="1026576" cy="822962"/>
          </a:xfrm>
          <a:prstGeom prst="line">
            <a:avLst/>
          </a:prstGeom>
          <a:noFill/>
          <a:ln w="12700">
            <a:solidFill>
              <a:srgbClr val="7A8288"/>
            </a:solidFill>
            <a:prstDash val="solid"/>
          </a:ln>
        </p:spPr>
        <p:txBody>
          <a:bodyPr/>
          <a:lstStyle/>
          <a:p>
            <a:endParaRPr lang="en-US"/>
          </a:p>
        </p:txBody>
      </p:sp>
      <p:sp>
        <p:nvSpPr>
          <p:cNvPr id="19" name="Shape 17"/>
          <p:cNvSpPr/>
          <p:nvPr/>
        </p:nvSpPr>
        <p:spPr>
          <a:xfrm>
            <a:off x="4702434" y="4444748"/>
            <a:ext cx="1026313" cy="824628"/>
          </a:xfrm>
          <a:prstGeom prst="line">
            <a:avLst/>
          </a:prstGeom>
          <a:noFill/>
          <a:ln w="12700">
            <a:solidFill>
              <a:srgbClr val="7A8288"/>
            </a:solidFill>
            <a:prstDash val="solid"/>
          </a:ln>
        </p:spPr>
        <p:txBody>
          <a:bodyPr/>
          <a:lstStyle/>
          <a:p>
            <a:endParaRPr lang="en-US"/>
          </a:p>
        </p:txBody>
      </p:sp>
      <p:sp>
        <p:nvSpPr>
          <p:cNvPr id="20" name="Shape 18"/>
          <p:cNvSpPr/>
          <p:nvPr/>
        </p:nvSpPr>
        <p:spPr>
          <a:xfrm>
            <a:off x="3678050" y="3621260"/>
            <a:ext cx="1024384" cy="823488"/>
          </a:xfrm>
          <a:prstGeom prst="line">
            <a:avLst/>
          </a:prstGeom>
          <a:noFill/>
          <a:ln w="12700">
            <a:solidFill>
              <a:srgbClr val="7A8288"/>
            </a:solidFill>
            <a:prstDash val="solid"/>
          </a:ln>
        </p:spPr>
        <p:txBody>
          <a:bodyPr/>
          <a:lstStyle/>
          <a:p>
            <a:endParaRPr lang="en-US"/>
          </a:p>
        </p:txBody>
      </p:sp>
      <p:sp>
        <p:nvSpPr>
          <p:cNvPr id="21" name="Shape 19"/>
          <p:cNvSpPr/>
          <p:nvPr/>
        </p:nvSpPr>
        <p:spPr>
          <a:xfrm>
            <a:off x="3676734" y="3620208"/>
            <a:ext cx="1315" cy="1052"/>
          </a:xfrm>
          <a:prstGeom prst="line">
            <a:avLst/>
          </a:prstGeom>
          <a:noFill/>
          <a:ln w="12700">
            <a:solidFill>
              <a:srgbClr val="7A8288"/>
            </a:solidFill>
            <a:prstDash val="solid"/>
          </a:ln>
        </p:spPr>
        <p:txBody>
          <a:bodyPr/>
          <a:lstStyle/>
          <a:p>
            <a:endParaRPr lang="en-US"/>
          </a:p>
        </p:txBody>
      </p:sp>
      <p:sp>
        <p:nvSpPr>
          <p:cNvPr id="22" name="Shape 20"/>
          <p:cNvSpPr/>
          <p:nvPr/>
        </p:nvSpPr>
        <p:spPr>
          <a:xfrm>
            <a:off x="2650597" y="2798123"/>
            <a:ext cx="1026138" cy="822085"/>
          </a:xfrm>
          <a:prstGeom prst="line">
            <a:avLst/>
          </a:prstGeom>
          <a:noFill/>
          <a:ln w="12700">
            <a:solidFill>
              <a:srgbClr val="7A8288"/>
            </a:solidFill>
            <a:prstDash val="solid"/>
          </a:ln>
        </p:spPr>
        <p:txBody>
          <a:bodyPr/>
          <a:lstStyle/>
          <a:p>
            <a:endParaRPr lang="en-US"/>
          </a:p>
        </p:txBody>
      </p:sp>
      <p:sp>
        <p:nvSpPr>
          <p:cNvPr id="23" name="Shape 21"/>
          <p:cNvSpPr/>
          <p:nvPr/>
        </p:nvSpPr>
        <p:spPr>
          <a:xfrm>
            <a:off x="1624722" y="1974898"/>
            <a:ext cx="1025875" cy="823225"/>
          </a:xfrm>
          <a:prstGeom prst="line">
            <a:avLst/>
          </a:prstGeom>
          <a:noFill/>
          <a:ln w="12700">
            <a:solidFill>
              <a:srgbClr val="7A8288"/>
            </a:solidFill>
            <a:prstDash val="solid"/>
          </a:ln>
        </p:spPr>
        <p:txBody>
          <a:bodyPr/>
          <a:lstStyle/>
          <a:p>
            <a:endParaRPr lang="en-US"/>
          </a:p>
        </p:txBody>
      </p:sp>
      <p:sp>
        <p:nvSpPr>
          <p:cNvPr id="24" name="Shape 22"/>
          <p:cNvSpPr/>
          <p:nvPr/>
        </p:nvSpPr>
        <p:spPr>
          <a:xfrm>
            <a:off x="599198" y="1151146"/>
            <a:ext cx="1025524" cy="823751"/>
          </a:xfrm>
          <a:prstGeom prst="line">
            <a:avLst/>
          </a:prstGeom>
          <a:noFill/>
          <a:ln w="12700">
            <a:solidFill>
              <a:srgbClr val="7A8288"/>
            </a:solidFill>
            <a:prstDash val="solid"/>
          </a:ln>
        </p:spPr>
        <p:txBody>
          <a:bodyPr/>
          <a:lstStyle/>
          <a:p>
            <a:endParaRPr lang="en-US"/>
          </a:p>
        </p:txBody>
      </p:sp>
      <p:sp>
        <p:nvSpPr>
          <p:cNvPr id="25" name="Shape 23"/>
          <p:cNvSpPr/>
          <p:nvPr/>
        </p:nvSpPr>
        <p:spPr>
          <a:xfrm>
            <a:off x="415577" y="1003267"/>
            <a:ext cx="183621" cy="147879"/>
          </a:xfrm>
          <a:prstGeom prst="line">
            <a:avLst/>
          </a:prstGeom>
          <a:noFill/>
          <a:ln w="12700">
            <a:solidFill>
              <a:srgbClr val="7A8288"/>
            </a:solidFill>
            <a:prstDash val="solid"/>
          </a:ln>
        </p:spPr>
        <p:txBody>
          <a:bodyPr/>
          <a:lstStyle/>
          <a:p>
            <a:endParaRPr lang="en-US"/>
          </a:p>
        </p:txBody>
      </p:sp>
      <p:sp>
        <p:nvSpPr>
          <p:cNvPr id="26" name="Shape 24"/>
          <p:cNvSpPr/>
          <p:nvPr/>
        </p:nvSpPr>
        <p:spPr>
          <a:xfrm>
            <a:off x="9202989" y="9351041"/>
            <a:ext cx="576994" cy="463511"/>
          </a:xfrm>
          <a:prstGeom prst="line">
            <a:avLst/>
          </a:prstGeom>
          <a:noFill/>
          <a:ln w="19050">
            <a:solidFill>
              <a:srgbClr val="C7A400"/>
            </a:solidFill>
            <a:prstDash val="dashDot"/>
          </a:ln>
        </p:spPr>
        <p:txBody>
          <a:bodyPr/>
          <a:lstStyle/>
          <a:p>
            <a:endParaRPr lang="en-US"/>
          </a:p>
        </p:txBody>
      </p:sp>
      <p:sp>
        <p:nvSpPr>
          <p:cNvPr id="27" name="Shape 25"/>
          <p:cNvSpPr/>
          <p:nvPr/>
        </p:nvSpPr>
        <p:spPr>
          <a:xfrm>
            <a:off x="8176149" y="8526939"/>
            <a:ext cx="1026839" cy="824102"/>
          </a:xfrm>
          <a:prstGeom prst="line">
            <a:avLst/>
          </a:prstGeom>
          <a:noFill/>
          <a:ln w="19050">
            <a:solidFill>
              <a:srgbClr val="C7A400"/>
            </a:solidFill>
            <a:prstDash val="dashDot"/>
          </a:ln>
        </p:spPr>
        <p:txBody>
          <a:bodyPr/>
          <a:lstStyle/>
          <a:p>
            <a:endParaRPr lang="en-US"/>
          </a:p>
        </p:txBody>
      </p:sp>
      <p:sp>
        <p:nvSpPr>
          <p:cNvPr id="28" name="Shape 26"/>
          <p:cNvSpPr/>
          <p:nvPr/>
        </p:nvSpPr>
        <p:spPr>
          <a:xfrm>
            <a:off x="7149310" y="7702047"/>
            <a:ext cx="1026839" cy="824891"/>
          </a:xfrm>
          <a:prstGeom prst="line">
            <a:avLst/>
          </a:prstGeom>
          <a:noFill/>
          <a:ln w="19050">
            <a:solidFill>
              <a:srgbClr val="C7A400"/>
            </a:solidFill>
            <a:prstDash val="dashDot"/>
          </a:ln>
        </p:spPr>
        <p:txBody>
          <a:bodyPr/>
          <a:lstStyle/>
          <a:p>
            <a:endParaRPr lang="en-US"/>
          </a:p>
        </p:txBody>
      </p:sp>
      <p:sp>
        <p:nvSpPr>
          <p:cNvPr id="29" name="Shape 27"/>
          <p:cNvSpPr/>
          <p:nvPr/>
        </p:nvSpPr>
        <p:spPr>
          <a:xfrm>
            <a:off x="6124575" y="6879173"/>
            <a:ext cx="1024735" cy="822874"/>
          </a:xfrm>
          <a:prstGeom prst="line">
            <a:avLst/>
          </a:prstGeom>
          <a:noFill/>
          <a:ln w="19050">
            <a:solidFill>
              <a:srgbClr val="C7A400"/>
            </a:solidFill>
            <a:prstDash val="dashDot"/>
          </a:ln>
        </p:spPr>
        <p:txBody>
          <a:bodyPr/>
          <a:lstStyle/>
          <a:p>
            <a:endParaRPr lang="en-US"/>
          </a:p>
        </p:txBody>
      </p:sp>
      <p:sp>
        <p:nvSpPr>
          <p:cNvPr id="30" name="Shape 28"/>
          <p:cNvSpPr/>
          <p:nvPr/>
        </p:nvSpPr>
        <p:spPr>
          <a:xfrm>
            <a:off x="5097561" y="6055860"/>
            <a:ext cx="1027015" cy="823313"/>
          </a:xfrm>
          <a:prstGeom prst="line">
            <a:avLst/>
          </a:prstGeom>
          <a:noFill/>
          <a:ln w="19050">
            <a:solidFill>
              <a:srgbClr val="C7A400"/>
            </a:solidFill>
            <a:prstDash val="dashDot"/>
          </a:ln>
        </p:spPr>
        <p:txBody>
          <a:bodyPr/>
          <a:lstStyle/>
          <a:p>
            <a:endParaRPr lang="en-US"/>
          </a:p>
        </p:txBody>
      </p:sp>
      <p:sp>
        <p:nvSpPr>
          <p:cNvPr id="31" name="Shape 29"/>
          <p:cNvSpPr/>
          <p:nvPr/>
        </p:nvSpPr>
        <p:spPr>
          <a:xfrm>
            <a:off x="4070722" y="5230793"/>
            <a:ext cx="1026839" cy="825067"/>
          </a:xfrm>
          <a:prstGeom prst="line">
            <a:avLst/>
          </a:prstGeom>
          <a:noFill/>
          <a:ln w="19050">
            <a:solidFill>
              <a:srgbClr val="C7A400"/>
            </a:solidFill>
            <a:prstDash val="dashDot"/>
          </a:ln>
        </p:spPr>
        <p:txBody>
          <a:bodyPr/>
          <a:lstStyle/>
          <a:p>
            <a:endParaRPr lang="en-US"/>
          </a:p>
        </p:txBody>
      </p:sp>
      <p:sp>
        <p:nvSpPr>
          <p:cNvPr id="32" name="Shape 30"/>
          <p:cNvSpPr/>
          <p:nvPr/>
        </p:nvSpPr>
        <p:spPr>
          <a:xfrm>
            <a:off x="3046250" y="4407218"/>
            <a:ext cx="1024472" cy="823576"/>
          </a:xfrm>
          <a:prstGeom prst="line">
            <a:avLst/>
          </a:prstGeom>
          <a:noFill/>
          <a:ln w="19050">
            <a:solidFill>
              <a:srgbClr val="C7A400"/>
            </a:solidFill>
            <a:prstDash val="dashDot"/>
          </a:ln>
        </p:spPr>
        <p:txBody>
          <a:bodyPr/>
          <a:lstStyle/>
          <a:p>
            <a:endParaRPr lang="en-US"/>
          </a:p>
        </p:txBody>
      </p:sp>
      <p:sp>
        <p:nvSpPr>
          <p:cNvPr id="33" name="Shape 31"/>
          <p:cNvSpPr/>
          <p:nvPr/>
        </p:nvSpPr>
        <p:spPr>
          <a:xfrm>
            <a:off x="2019761" y="3584869"/>
            <a:ext cx="1026488" cy="822348"/>
          </a:xfrm>
          <a:prstGeom prst="line">
            <a:avLst/>
          </a:prstGeom>
          <a:noFill/>
          <a:ln w="19050">
            <a:solidFill>
              <a:srgbClr val="C7A400"/>
            </a:solidFill>
            <a:prstDash val="dashDot"/>
          </a:ln>
        </p:spPr>
        <p:txBody>
          <a:bodyPr/>
          <a:lstStyle/>
          <a:p>
            <a:endParaRPr lang="en-US"/>
          </a:p>
        </p:txBody>
      </p:sp>
      <p:sp>
        <p:nvSpPr>
          <p:cNvPr id="34" name="Shape 32"/>
          <p:cNvSpPr/>
          <p:nvPr/>
        </p:nvSpPr>
        <p:spPr>
          <a:xfrm>
            <a:off x="993361" y="2761293"/>
            <a:ext cx="1026401" cy="823576"/>
          </a:xfrm>
          <a:prstGeom prst="line">
            <a:avLst/>
          </a:prstGeom>
          <a:noFill/>
          <a:ln w="19050">
            <a:solidFill>
              <a:srgbClr val="C7A400"/>
            </a:solidFill>
            <a:prstDash val="dashDot"/>
          </a:ln>
        </p:spPr>
        <p:txBody>
          <a:bodyPr/>
          <a:lstStyle/>
          <a:p>
            <a:endParaRPr lang="en-US"/>
          </a:p>
        </p:txBody>
      </p:sp>
      <p:sp>
        <p:nvSpPr>
          <p:cNvPr id="35" name="Shape 33"/>
          <p:cNvSpPr/>
          <p:nvPr/>
        </p:nvSpPr>
        <p:spPr>
          <a:xfrm>
            <a:off x="415577" y="2297161"/>
            <a:ext cx="577783" cy="464132"/>
          </a:xfrm>
          <a:prstGeom prst="line">
            <a:avLst/>
          </a:prstGeom>
          <a:noFill/>
          <a:ln w="19050">
            <a:solidFill>
              <a:srgbClr val="C7A400"/>
            </a:solidFill>
            <a:prstDash val="dashDot"/>
          </a:ln>
        </p:spPr>
        <p:txBody>
          <a:bodyPr/>
          <a:lstStyle/>
          <a:p>
            <a:endParaRPr lang="en-US"/>
          </a:p>
        </p:txBody>
      </p:sp>
      <p:sp>
        <p:nvSpPr>
          <p:cNvPr id="47" name="Shape 45"/>
          <p:cNvSpPr/>
          <p:nvPr/>
        </p:nvSpPr>
        <p:spPr>
          <a:xfrm>
            <a:off x="5538286" y="4125648"/>
            <a:ext cx="122765" cy="122765"/>
          </a:xfrm>
          <a:prstGeom prst="rect">
            <a:avLst/>
          </a:prstGeom>
          <a:ln w="19050">
            <a:solidFill>
              <a:srgbClr val="BB00BB"/>
            </a:solidFill>
            <a:prstDash val="solid"/>
          </a:ln>
        </p:spPr>
        <p:txBody>
          <a:bodyPr/>
          <a:lstStyle/>
          <a:p>
            <a:endParaRPr lang="en-US"/>
          </a:p>
        </p:txBody>
      </p:sp>
      <p:sp>
        <p:nvSpPr>
          <p:cNvPr id="48" name="Text 46"/>
          <p:cNvSpPr/>
          <p:nvPr/>
        </p:nvSpPr>
        <p:spPr>
          <a:xfrm>
            <a:off x="5678589" y="401592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P2.002</a:t>
            </a:r>
            <a:endParaRPr lang="en-US" sz="650" dirty="0"/>
          </a:p>
        </p:txBody>
      </p:sp>
      <p:sp>
        <p:nvSpPr>
          <p:cNvPr id="49" name="Shape 47"/>
          <p:cNvSpPr/>
          <p:nvPr/>
        </p:nvSpPr>
        <p:spPr>
          <a:xfrm>
            <a:off x="3017137" y="4158882"/>
            <a:ext cx="4380859" cy="3517999"/>
          </a:xfrm>
          <a:prstGeom prst="line">
            <a:avLst/>
          </a:prstGeom>
          <a:noFill/>
          <a:ln w="31750">
            <a:solidFill>
              <a:srgbClr val="CC0000"/>
            </a:solidFill>
            <a:prstDash val="solid"/>
          </a:ln>
        </p:spPr>
        <p:txBody>
          <a:bodyPr/>
          <a:lstStyle/>
          <a:p>
            <a:endParaRPr lang="en-US"/>
          </a:p>
        </p:txBody>
      </p:sp>
      <p:sp>
        <p:nvSpPr>
          <p:cNvPr id="50" name="Shape 48"/>
          <p:cNvSpPr/>
          <p:nvPr/>
        </p:nvSpPr>
        <p:spPr>
          <a:xfrm flipV="1">
            <a:off x="7177721" y="7676881"/>
            <a:ext cx="220275" cy="274291"/>
          </a:xfrm>
          <a:prstGeom prst="line">
            <a:avLst/>
          </a:prstGeom>
          <a:noFill/>
          <a:ln w="31750">
            <a:solidFill>
              <a:srgbClr val="CC0000"/>
            </a:solidFill>
            <a:prstDash val="solid"/>
          </a:ln>
        </p:spPr>
        <p:txBody>
          <a:bodyPr/>
          <a:lstStyle/>
          <a:p>
            <a:endParaRPr lang="en-US"/>
          </a:p>
        </p:txBody>
      </p:sp>
      <p:sp>
        <p:nvSpPr>
          <p:cNvPr id="51" name="Shape 49"/>
          <p:cNvSpPr/>
          <p:nvPr/>
        </p:nvSpPr>
        <p:spPr>
          <a:xfrm>
            <a:off x="2796862" y="4433261"/>
            <a:ext cx="4380859" cy="3517911"/>
          </a:xfrm>
          <a:prstGeom prst="line">
            <a:avLst/>
          </a:prstGeom>
          <a:noFill/>
          <a:ln w="31750">
            <a:solidFill>
              <a:srgbClr val="CC0000"/>
            </a:solidFill>
            <a:prstDash val="solid"/>
          </a:ln>
        </p:spPr>
        <p:txBody>
          <a:bodyPr/>
          <a:lstStyle/>
          <a:p>
            <a:endParaRPr lang="en-US"/>
          </a:p>
        </p:txBody>
      </p:sp>
      <p:sp>
        <p:nvSpPr>
          <p:cNvPr id="52" name="Shape 50"/>
          <p:cNvSpPr/>
          <p:nvPr/>
        </p:nvSpPr>
        <p:spPr>
          <a:xfrm flipV="1">
            <a:off x="2796862" y="4158882"/>
            <a:ext cx="220275" cy="274379"/>
          </a:xfrm>
          <a:prstGeom prst="line">
            <a:avLst/>
          </a:prstGeom>
          <a:noFill/>
          <a:ln w="31750">
            <a:solidFill>
              <a:srgbClr val="CC0000"/>
            </a:solidFill>
            <a:prstDash val="solid"/>
          </a:ln>
        </p:spPr>
        <p:txBody>
          <a:bodyPr/>
          <a:lstStyle/>
          <a:p>
            <a:endParaRPr lang="en-US"/>
          </a:p>
        </p:txBody>
      </p:sp>
      <p:sp>
        <p:nvSpPr>
          <p:cNvPr id="53" name="Text 51"/>
          <p:cNvSpPr/>
          <p:nvPr/>
        </p:nvSpPr>
        <p:spPr>
          <a:xfrm>
            <a:off x="639697" y="3884562"/>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(257.1 m² TOTAL)</a:t>
            </a:r>
            <a:endParaRPr lang="en-US" sz="800" dirty="0"/>
          </a:p>
        </p:txBody>
      </p:sp>
      <p:sp>
        <p:nvSpPr>
          <p:cNvPr id="71" name="Text 69"/>
          <p:cNvSpPr/>
          <p:nvPr/>
        </p:nvSpPr>
        <p:spPr>
          <a:xfrm>
            <a:off x="5861230" y="780354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RRM.545</a:t>
            </a:r>
            <a:endParaRPr lang="en-US" sz="500" dirty="0"/>
          </a:p>
        </p:txBody>
      </p:sp>
      <p:sp>
        <p:nvSpPr>
          <p:cNvPr id="72" name="Text 70"/>
          <p:cNvSpPr/>
          <p:nvPr/>
        </p:nvSpPr>
        <p:spPr>
          <a:xfrm>
            <a:off x="2447494" y="505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RRM.546</a:t>
            </a:r>
            <a:endParaRPr lang="en-US" sz="500" dirty="0"/>
          </a:p>
        </p:txBody>
      </p:sp>
      <p:sp>
        <p:nvSpPr>
          <p:cNvPr id="73" name="Text 71"/>
          <p:cNvSpPr/>
          <p:nvPr/>
        </p:nvSpPr>
        <p:spPr>
          <a:xfrm>
            <a:off x="7206469" y="612596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RRM.554</a:t>
            </a:r>
            <a:endParaRPr lang="en-US" sz="500" dirty="0"/>
          </a:p>
        </p:txBody>
      </p:sp>
      <p:sp>
        <p:nvSpPr>
          <p:cNvPr id="74" name="Text 72"/>
          <p:cNvSpPr/>
          <p:nvPr/>
        </p:nvSpPr>
        <p:spPr>
          <a:xfrm>
            <a:off x="1730110" y="172800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RRM.556</a:t>
            </a:r>
            <a:endParaRPr lang="en-US" sz="500" dirty="0"/>
          </a:p>
        </p:txBody>
      </p:sp>
      <p:sp>
        <p:nvSpPr>
          <p:cNvPr id="75" name="Text 73"/>
          <p:cNvSpPr/>
          <p:nvPr/>
        </p:nvSpPr>
        <p:spPr>
          <a:xfrm>
            <a:off x="2563156" y="19170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&amp;.24043</a:t>
            </a:r>
            <a:endParaRPr lang="en-US" sz="500" dirty="0"/>
          </a:p>
        </p:txBody>
      </p:sp>
      <p:sp>
        <p:nvSpPr>
          <p:cNvPr id="76" name="Text 74"/>
          <p:cNvSpPr/>
          <p:nvPr/>
        </p:nvSpPr>
        <p:spPr>
          <a:xfrm>
            <a:off x="9261112" y="92424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TCCECH.03.010</a:t>
            </a:r>
            <a:endParaRPr lang="en-US" sz="500" dirty="0"/>
          </a:p>
        </p:txBody>
      </p:sp>
      <p:sp>
        <p:nvSpPr>
          <p:cNvPr id="77" name="Text 75"/>
          <p:cNvSpPr/>
          <p:nvPr/>
        </p:nvSpPr>
        <p:spPr>
          <a:xfrm>
            <a:off x="8234272" y="841833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TCCECH.04.009</a:t>
            </a:r>
            <a:endParaRPr lang="en-US" sz="500" dirty="0"/>
          </a:p>
        </p:txBody>
      </p:sp>
      <p:sp>
        <p:nvSpPr>
          <p:cNvPr id="78" name="Text 76"/>
          <p:cNvSpPr/>
          <p:nvPr/>
        </p:nvSpPr>
        <p:spPr>
          <a:xfrm>
            <a:off x="4128845" y="51221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TCCECH.04.007</a:t>
            </a:r>
            <a:endParaRPr lang="en-US" sz="500" dirty="0"/>
          </a:p>
        </p:txBody>
      </p:sp>
      <p:sp>
        <p:nvSpPr>
          <p:cNvPr id="79" name="Text 77"/>
          <p:cNvSpPr/>
          <p:nvPr/>
        </p:nvSpPr>
        <p:spPr>
          <a:xfrm>
            <a:off x="3104373" y="4298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TCCECH.03.007</a:t>
            </a:r>
            <a:endParaRPr lang="en-US" sz="500" dirty="0"/>
          </a:p>
        </p:txBody>
      </p:sp>
      <p:sp>
        <p:nvSpPr>
          <p:cNvPr id="80" name="Text 78"/>
          <p:cNvSpPr/>
          <p:nvPr/>
        </p:nvSpPr>
        <p:spPr>
          <a:xfrm>
            <a:off x="2077885" y="34762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TCCECH.04.006</a:t>
            </a:r>
            <a:endParaRPr lang="en-US" sz="500" dirty="0"/>
          </a:p>
        </p:txBody>
      </p:sp>
      <p:sp>
        <p:nvSpPr>
          <p:cNvPr id="81" name="Text 79"/>
          <p:cNvSpPr/>
          <p:nvPr/>
        </p:nvSpPr>
        <p:spPr>
          <a:xfrm>
            <a:off x="1051484" y="26526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82" name="Text 80"/>
          <p:cNvSpPr/>
          <p:nvPr/>
        </p:nvSpPr>
        <p:spPr>
          <a:xfrm>
            <a:off x="5155684" y="594725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TCCECH.03.008</a:t>
            </a:r>
            <a:endParaRPr lang="en-US" sz="500" dirty="0"/>
          </a:p>
        </p:txBody>
      </p:sp>
      <p:sp>
        <p:nvSpPr>
          <p:cNvPr id="83" name="Text 81"/>
          <p:cNvSpPr/>
          <p:nvPr/>
        </p:nvSpPr>
        <p:spPr>
          <a:xfrm>
            <a:off x="6182699" y="67705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TCCECH.04.008</a:t>
            </a:r>
            <a:endParaRPr lang="en-US" sz="500" dirty="0"/>
          </a:p>
        </p:txBody>
      </p:sp>
      <p:sp>
        <p:nvSpPr>
          <p:cNvPr id="84" name="Text 82"/>
          <p:cNvSpPr/>
          <p:nvPr/>
        </p:nvSpPr>
        <p:spPr>
          <a:xfrm>
            <a:off x="7207433" y="759344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TCCECH.03.009</a:t>
            </a:r>
            <a:endParaRPr lang="en-US" sz="500" dirty="0"/>
          </a:p>
        </p:txBody>
      </p:sp>
      <p:sp>
        <p:nvSpPr>
          <p:cNvPr id="85" name="Text 83"/>
          <p:cNvSpPr/>
          <p:nvPr/>
        </p:nvSpPr>
        <p:spPr>
          <a:xfrm>
            <a:off x="5657792" y="40784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P2.002</a:t>
            </a:r>
            <a:endParaRPr lang="en-US" sz="500" dirty="0"/>
          </a:p>
        </p:txBody>
      </p:sp>
      <p:sp>
        <p:nvSpPr>
          <p:cNvPr id="86" name="Text 84"/>
          <p:cNvSpPr/>
          <p:nvPr/>
        </p:nvSpPr>
        <p:spPr>
          <a:xfrm>
            <a:off x="6003199" y="364699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HH.E.055</a:t>
            </a:r>
            <a:endParaRPr lang="en-US" sz="500" dirty="0"/>
          </a:p>
        </p:txBody>
      </p:sp>
      <p:sp>
        <p:nvSpPr>
          <p:cNvPr id="87" name="Text 85"/>
          <p:cNvSpPr/>
          <p:nvPr/>
        </p:nvSpPr>
        <p:spPr>
          <a:xfrm>
            <a:off x="4855875" y="25877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HH.E.056</a:t>
            </a:r>
            <a:endParaRPr lang="en-US" sz="500" dirty="0"/>
          </a:p>
        </p:txBody>
      </p:sp>
      <p:sp>
        <p:nvSpPr>
          <p:cNvPr id="88" name="Shape 86"/>
          <p:cNvSpPr/>
          <p:nvPr/>
        </p:nvSpPr>
        <p:spPr>
          <a:xfrm>
            <a:off x="2941094" y="4302062"/>
            <a:ext cx="210312" cy="210312"/>
          </a:xfrm>
          <a:prstGeom prst="ellipse">
            <a:avLst/>
          </a:prstGeom>
          <a:noFill/>
          <a:ln w="28575">
            <a:solidFill>
              <a:srgbClr val="9AA0A6"/>
            </a:solidFill>
            <a:prstDash val="solid"/>
          </a:ln>
        </p:spPr>
        <p:txBody>
          <a:bodyPr/>
          <a:lstStyle/>
          <a:p>
            <a:endParaRPr lang="en-US"/>
          </a:p>
        </p:txBody>
      </p:sp>
      <p:sp>
        <p:nvSpPr>
          <p:cNvPr id="89" name="Shape 87"/>
          <p:cNvSpPr/>
          <p:nvPr/>
        </p:nvSpPr>
        <p:spPr>
          <a:xfrm>
            <a:off x="2991386" y="4352354"/>
            <a:ext cx="109728" cy="109728"/>
          </a:xfrm>
          <a:prstGeom prst="ellipse">
            <a:avLst/>
          </a:prstGeom>
          <a:solidFill>
            <a:srgbClr val="9AA0A6"/>
          </a:solidFill>
          <a:ln w="6350">
            <a:solidFill>
              <a:srgbClr val="9AA0A6"/>
            </a:solidFill>
            <a:prstDash val="solid"/>
          </a:ln>
        </p:spPr>
        <p:txBody>
          <a:bodyPr/>
          <a:lstStyle/>
          <a:p>
            <a:endParaRPr lang="en-US"/>
          </a:p>
        </p:txBody>
      </p:sp>
      <p:sp>
        <p:nvSpPr>
          <p:cNvPr id="90" name="Text 88"/>
          <p:cNvSpPr/>
          <p:nvPr/>
        </p:nvSpPr>
        <p:spPr>
          <a:xfrm>
            <a:off x="3165122" y="418776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TCCECH-03/007</a:t>
            </a:r>
            <a:endParaRPr lang="en-US" sz="650" dirty="0"/>
          </a:p>
        </p:txBody>
      </p:sp>
      <p:sp>
        <p:nvSpPr>
          <p:cNvPr id="91" name="Shape 89"/>
          <p:cNvSpPr/>
          <p:nvPr/>
        </p:nvSpPr>
        <p:spPr>
          <a:xfrm>
            <a:off x="3965566" y="5125637"/>
            <a:ext cx="210312" cy="210312"/>
          </a:xfrm>
          <a:prstGeom prst="ellipse">
            <a:avLst/>
          </a:prstGeom>
          <a:noFill/>
          <a:ln w="28575">
            <a:solidFill>
              <a:srgbClr val="9AA0A6"/>
            </a:solidFill>
            <a:prstDash val="solid"/>
          </a:ln>
        </p:spPr>
        <p:txBody>
          <a:bodyPr/>
          <a:lstStyle/>
          <a:p>
            <a:endParaRPr lang="en-US"/>
          </a:p>
        </p:txBody>
      </p:sp>
      <p:sp>
        <p:nvSpPr>
          <p:cNvPr id="92" name="Shape 90"/>
          <p:cNvSpPr/>
          <p:nvPr/>
        </p:nvSpPr>
        <p:spPr>
          <a:xfrm>
            <a:off x="4015858" y="5175929"/>
            <a:ext cx="109728" cy="109728"/>
          </a:xfrm>
          <a:prstGeom prst="ellipse">
            <a:avLst/>
          </a:prstGeom>
          <a:solidFill>
            <a:srgbClr val="9AA0A6"/>
          </a:solidFill>
          <a:ln w="6350">
            <a:solidFill>
              <a:srgbClr val="9AA0A6"/>
            </a:solidFill>
            <a:prstDash val="solid"/>
          </a:ln>
        </p:spPr>
        <p:txBody>
          <a:bodyPr/>
          <a:lstStyle/>
          <a:p>
            <a:endParaRPr lang="en-US"/>
          </a:p>
        </p:txBody>
      </p:sp>
      <p:sp>
        <p:nvSpPr>
          <p:cNvPr id="93" name="Text 91"/>
          <p:cNvSpPr/>
          <p:nvPr/>
        </p:nvSpPr>
        <p:spPr>
          <a:xfrm>
            <a:off x="4189594" y="501133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TCCECH-04/007</a:t>
            </a:r>
            <a:endParaRPr lang="en-US" sz="650" dirty="0"/>
          </a:p>
        </p:txBody>
      </p:sp>
      <p:sp>
        <p:nvSpPr>
          <p:cNvPr id="94" name="Shape 92"/>
          <p:cNvSpPr/>
          <p:nvPr/>
        </p:nvSpPr>
        <p:spPr>
          <a:xfrm>
            <a:off x="4992405" y="5950704"/>
            <a:ext cx="210312" cy="210312"/>
          </a:xfrm>
          <a:prstGeom prst="ellipse">
            <a:avLst/>
          </a:prstGeom>
          <a:noFill/>
          <a:ln w="28575">
            <a:solidFill>
              <a:srgbClr val="CC0000"/>
            </a:solidFill>
            <a:prstDash val="solid"/>
          </a:ln>
        </p:spPr>
        <p:txBody>
          <a:bodyPr/>
          <a:lstStyle/>
          <a:p>
            <a:endParaRPr lang="en-US"/>
          </a:p>
        </p:txBody>
      </p:sp>
      <p:sp>
        <p:nvSpPr>
          <p:cNvPr id="95" name="Shape 93"/>
          <p:cNvSpPr/>
          <p:nvPr/>
        </p:nvSpPr>
        <p:spPr>
          <a:xfrm>
            <a:off x="5042697" y="6000996"/>
            <a:ext cx="109728" cy="109728"/>
          </a:xfrm>
          <a:prstGeom prst="ellipse">
            <a:avLst/>
          </a:prstGeom>
          <a:solidFill>
            <a:srgbClr val="E8710A"/>
          </a:solidFill>
          <a:ln w="6350">
            <a:solidFill>
              <a:srgbClr val="E8710A"/>
            </a:solidFill>
            <a:prstDash val="solid"/>
          </a:ln>
        </p:spPr>
        <p:txBody>
          <a:bodyPr/>
          <a:lstStyle/>
          <a:p>
            <a:endParaRPr lang="en-US"/>
          </a:p>
        </p:txBody>
      </p:sp>
      <p:sp>
        <p:nvSpPr>
          <p:cNvPr id="96" name="Text 94"/>
          <p:cNvSpPr/>
          <p:nvPr/>
        </p:nvSpPr>
        <p:spPr>
          <a:xfrm>
            <a:off x="5216433" y="583640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TCCECH-03/008</a:t>
            </a:r>
            <a:endParaRPr lang="en-US" sz="650" dirty="0"/>
          </a:p>
        </p:txBody>
      </p:sp>
      <p:sp>
        <p:nvSpPr>
          <p:cNvPr id="97" name="Shape 95"/>
          <p:cNvSpPr/>
          <p:nvPr/>
        </p:nvSpPr>
        <p:spPr>
          <a:xfrm>
            <a:off x="6019419" y="6774017"/>
            <a:ext cx="210312" cy="210312"/>
          </a:xfrm>
          <a:prstGeom prst="ellipse">
            <a:avLst/>
          </a:prstGeom>
          <a:noFill/>
          <a:ln w="28575">
            <a:solidFill>
              <a:srgbClr val="9AA0A6"/>
            </a:solidFill>
            <a:prstDash val="solid"/>
          </a:ln>
        </p:spPr>
        <p:txBody>
          <a:bodyPr/>
          <a:lstStyle/>
          <a:p>
            <a:endParaRPr lang="en-US"/>
          </a:p>
        </p:txBody>
      </p:sp>
      <p:sp>
        <p:nvSpPr>
          <p:cNvPr id="98" name="Shape 96"/>
          <p:cNvSpPr/>
          <p:nvPr/>
        </p:nvSpPr>
        <p:spPr>
          <a:xfrm>
            <a:off x="6069711" y="6824309"/>
            <a:ext cx="109728" cy="109728"/>
          </a:xfrm>
          <a:prstGeom prst="ellipse">
            <a:avLst/>
          </a:prstGeom>
          <a:solidFill>
            <a:srgbClr val="9AA0A6"/>
          </a:solidFill>
          <a:ln w="6350">
            <a:solidFill>
              <a:srgbClr val="9AA0A6"/>
            </a:solidFill>
            <a:prstDash val="solid"/>
          </a:ln>
        </p:spPr>
        <p:txBody>
          <a:bodyPr/>
          <a:lstStyle/>
          <a:p>
            <a:endParaRPr lang="en-US"/>
          </a:p>
        </p:txBody>
      </p:sp>
      <p:sp>
        <p:nvSpPr>
          <p:cNvPr id="99" name="Text 97"/>
          <p:cNvSpPr/>
          <p:nvPr/>
        </p:nvSpPr>
        <p:spPr>
          <a:xfrm>
            <a:off x="6243447" y="665971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TCCECH-04/008</a:t>
            </a:r>
            <a:endParaRPr lang="en-US" sz="650" dirty="0"/>
          </a:p>
        </p:txBody>
      </p:sp>
      <p:sp>
        <p:nvSpPr>
          <p:cNvPr id="100" name="Shape 98"/>
          <p:cNvSpPr/>
          <p:nvPr/>
        </p:nvSpPr>
        <p:spPr>
          <a:xfrm>
            <a:off x="7044154" y="7596891"/>
            <a:ext cx="210312" cy="210312"/>
          </a:xfrm>
          <a:prstGeom prst="ellipse">
            <a:avLst/>
          </a:prstGeom>
          <a:noFill/>
          <a:ln w="28575">
            <a:solidFill>
              <a:srgbClr val="9AA0A6"/>
            </a:solidFill>
            <a:prstDash val="solid"/>
          </a:ln>
        </p:spPr>
        <p:txBody>
          <a:bodyPr/>
          <a:lstStyle/>
          <a:p>
            <a:endParaRPr lang="en-US"/>
          </a:p>
        </p:txBody>
      </p:sp>
      <p:sp>
        <p:nvSpPr>
          <p:cNvPr id="101" name="Shape 99"/>
          <p:cNvSpPr/>
          <p:nvPr/>
        </p:nvSpPr>
        <p:spPr>
          <a:xfrm>
            <a:off x="7094446" y="7647183"/>
            <a:ext cx="109728" cy="109728"/>
          </a:xfrm>
          <a:prstGeom prst="ellipse">
            <a:avLst/>
          </a:prstGeom>
          <a:solidFill>
            <a:srgbClr val="9AA0A6"/>
          </a:solidFill>
          <a:ln w="6350">
            <a:solidFill>
              <a:srgbClr val="9AA0A6"/>
            </a:solidFill>
            <a:prstDash val="solid"/>
          </a:ln>
        </p:spPr>
        <p:txBody>
          <a:bodyPr/>
          <a:lstStyle/>
          <a:p>
            <a:endParaRPr lang="en-US"/>
          </a:p>
        </p:txBody>
      </p:sp>
      <p:sp>
        <p:nvSpPr>
          <p:cNvPr id="102" name="Text 100"/>
          <p:cNvSpPr/>
          <p:nvPr/>
        </p:nvSpPr>
        <p:spPr>
          <a:xfrm>
            <a:off x="7268182" y="74825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TCCECH-03/009</a:t>
            </a:r>
            <a:endParaRPr lang="en-US" sz="650" dirty="0"/>
          </a:p>
        </p:txBody>
      </p:sp>
      <p:sp>
        <p:nvSpPr>
          <p:cNvPr id="103" name="Shape 101"/>
          <p:cNvSpPr/>
          <p:nvPr/>
        </p:nvSpPr>
        <p:spPr>
          <a:xfrm>
            <a:off x="3620509" y="3379485"/>
            <a:ext cx="210312" cy="210312"/>
          </a:xfrm>
          <a:prstGeom prst="ellipse">
            <a:avLst/>
          </a:prstGeom>
          <a:ln w="28575">
            <a:solidFill>
              <a:srgbClr val="BB00BB"/>
            </a:solidFill>
            <a:prstDash val="solid"/>
          </a:ln>
        </p:spPr>
        <p:txBody>
          <a:bodyPr/>
          <a:lstStyle/>
          <a:p>
            <a:endParaRPr lang="en-US"/>
          </a:p>
        </p:txBody>
      </p:sp>
      <p:sp>
        <p:nvSpPr>
          <p:cNvPr id="104" name="Shape 102"/>
          <p:cNvSpPr/>
          <p:nvPr/>
        </p:nvSpPr>
        <p:spPr>
          <a:xfrm>
            <a:off x="3670801" y="3429777"/>
            <a:ext cx="109728" cy="109728"/>
          </a:xfrm>
          <a:prstGeom prst="ellipse">
            <a:avLst/>
          </a:prstGeom>
          <a:solidFill>
            <a:srgbClr val="FFFFFF"/>
          </a:solidFill>
          <a:ln w="6350">
            <a:solidFill>
              <a:srgbClr val="FFFFFF"/>
            </a:solidFill>
            <a:prstDash val="solid"/>
          </a:ln>
        </p:spPr>
        <p:txBody>
          <a:bodyPr/>
          <a:lstStyle/>
          <a:p>
            <a:endParaRPr lang="en-US"/>
          </a:p>
        </p:txBody>
      </p:sp>
      <p:sp>
        <p:nvSpPr>
          <p:cNvPr id="105" name="Text 103"/>
          <p:cNvSpPr/>
          <p:nvPr/>
        </p:nvSpPr>
        <p:spPr>
          <a:xfrm>
            <a:off x="3844537" y="326518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RRM.555</a:t>
            </a:r>
            <a:endParaRPr lang="en-US" sz="650" dirty="0"/>
          </a:p>
        </p:txBody>
      </p:sp>
      <p:sp>
        <p:nvSpPr>
          <p:cNvPr id="106" name="Shape 104"/>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107" name="Text 105"/>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2 — 1002  ·  REV P08 (FINAL SCOPE)</a:t>
            </a:r>
            <a:endParaRPr lang="en-US" sz="1250" dirty="0"/>
          </a:p>
        </p:txBody>
      </p:sp>
      <p:sp>
        <p:nvSpPr>
          <p:cNvPr id="108" name="Text 106"/>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Second_milling_area rev _1 quantities) — FIELD CONDITION GOVERNS</a:t>
            </a:r>
            <a:endParaRPr lang="en-US" sz="800" dirty="0"/>
          </a:p>
        </p:txBody>
      </p:sp>
      <p:sp>
        <p:nvSpPr>
          <p:cNvPr id="109" name="Text 107"/>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108.9 m across · ZIA local grid (m) · duct geometry from Z1-Z2-Z3-MTA_SEGMENTATION source dwg · Rev P08 · issued 30.07.2026 · Prepared: Mohammed, AGL Team Leader — ADB SAFEGATE</a:t>
            </a:r>
          </a:p>
        </p:txBody>
      </p:sp>
      <p:sp>
        <p:nvSpPr>
          <p:cNvPr id="110" name="Shape 108"/>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111" name="Text 109"/>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112" name="Text 110"/>
          <p:cNvSpPr/>
          <p:nvPr/>
        </p:nvSpPr>
        <p:spPr>
          <a:xfrm>
            <a:off x="10241280" y="2386584"/>
            <a:ext cx="4434840" cy="1655978"/>
          </a:xfrm>
          <a:prstGeom prst="rect">
            <a:avLst/>
          </a:prstGeom>
          <a:noFill/>
          <a:ln/>
        </p:spPr>
        <p:txBody>
          <a:bodyPr wrap="square" lIns="0" tIns="0" rIns="0" bIns="0" rtlCol="0" anchor="t"/>
          <a:lstStyle/>
          <a:p>
            <a:pPr marL="0" indent="0">
              <a:lnSpc>
                <a:spcPct val="112000"/>
              </a:lnSpc>
              <a:buNone/>
            </a:pPr>
            <a:r>
              <a:rPr sz="720">
                <a:solidFill>
                  <a:srgbClr val="1F2937"/>
                </a:solidFill>
                <a:latin typeface="Arial"/>
              </a:rPr>
              <a:t>FINAL SCOPE (REV P08) — ONE FITTING AFFECTED, SAW CUT</a:t>
            </a:r>
            <a:endParaRPr lang="en-US" sz="760" dirty="0"/>
          </a:p>
          <a:p>
            <a:r>
              <a:rPr sz="720">
                <a:solidFill>
                  <a:srgbClr val="1F2937"/>
                </a:solidFill>
                <a:latin typeface="Arial"/>
              </a:rPr>
              <a:t>CORE OUT EXISTING SHALLOW BASE + NEW 12" SIDE-ENTRY SHALLOW BASE + NEW CABLE: 1 No.</a:t>
            </a:r>
          </a:p>
          <a:p>
            <a:r>
              <a:rPr sz="720">
                <a:solidFill>
                  <a:srgbClr val="1F2937"/>
                </a:solidFill>
                <a:latin typeface="Arial"/>
              </a:rPr>
              <a:t>   • TCCECH-03/008 — secondary route saw cut; existing shallow base cored out; new 12" side-entry base</a:t>
            </a:r>
          </a:p>
          <a:p>
            <a:r>
              <a:rPr sz="720">
                <a:solidFill>
                  <a:srgbClr val="1F2937"/>
                </a:solidFill>
                <a:latin typeface="Arial"/>
              </a:rPr>
              <a:t>   Saw cut detail per sheet SAW CUT &amp; SIDE-ENTRY SHALLOW BASE DETAIL — detail drawing to be issued.</a:t>
            </a:r>
          </a:p>
          <a:p>
            <a:r>
              <a:rPr sz="720">
                <a:solidFill>
                  <a:srgbClr val="1F2937"/>
                </a:solidFill>
                <a:latin typeface="Arial"/>
              </a:rPr>
              <a:t>REMOVED FROM SCOPE AT REV P08 — no works: TCCECH-03/007, 04/007, 04/008, 03/009</a:t>
            </a:r>
          </a:p>
          <a:p>
            <a:r>
              <a:rPr sz="720">
                <a:solidFill>
                  <a:srgbClr val="1F2937"/>
                </a:solidFill>
                <a:latin typeface="Arial"/>
              </a:rPr>
              <a:t>   Rev P06/P07 carried all 5 No. as new-secondary-cable-only via duct. The final scope names 03/008 only.</a:t>
            </a:r>
          </a:p>
          <a:p>
            <a:r>
              <a:rPr sz="720">
                <a:solidFill>
                  <a:srgbClr val="1F2937"/>
                </a:solidFill>
                <a:latin typeface="Arial"/>
              </a:rPr>
              <a:t>RRM.555 (0.41 m from cut): REMOVE / PROTECT BEFORE SAWCUT, RE-FIX AFTER PAVING</a:t>
            </a:r>
          </a:p>
          <a:p>
            <a:r>
              <a:rPr sz="720">
                <a:solidFill>
                  <a:srgbClr val="1F2937"/>
                </a:solidFill>
                <a:latin typeface="Arial"/>
              </a:rPr>
              <a:t>ISOLATE CIRCUITS: TCCECH.03, TCCECH.04</a:t>
            </a:r>
          </a:p>
          <a:p>
            <a:r>
              <a:rPr sz="720">
                <a:solidFill>
                  <a:srgbClr val="1F2937"/>
                </a:solidFill>
                <a:latin typeface="Arial"/>
              </a:rPr>
              <a:t>REV P08 SUPERSEDES the Rev P06/P07 quantities. SUPERSEDED = no works; NOT a field verification that the asset is unaffected.</a:t>
            </a:r>
          </a:p>
          <a:p>
            <a:r>
              <a:rPr sz="720">
                <a:solidFill>
                  <a:srgbClr val="1F2937"/>
                </a:solidFill>
                <a:latin typeface="Arial"/>
              </a:rPr>
              <a:t>RED AGL WORKS AREA = Rev P05 field-condition milling extent, UNCHANGED at P08 — the civil milling limit, not a hull of the affected assets.</a:t>
            </a:r>
          </a:p>
        </p:txBody>
      </p:sp>
      <p:sp>
        <p:nvSpPr>
          <p:cNvPr id="113" name="Shape 111"/>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114" name="Text 112"/>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115" name="Text 113"/>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ALL THREE locations at P08: 8" at LOC-01, 12" at LOC-02 and LOC-03.</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116" name="Shape 114"/>
          <p:cNvSpPr/>
          <p:nvPr/>
        </p:nvSpPr>
        <p:spPr>
          <a:xfrm>
            <a:off x="10104120" y="6584594"/>
            <a:ext cx="4709160" cy="4104044"/>
          </a:xfrm>
          <a:prstGeom prst="rect">
            <a:avLst/>
          </a:prstGeom>
          <a:solidFill>
            <a:srgbClr val="F4F6F8"/>
          </a:solidFill>
          <a:ln w="9525">
            <a:solidFill>
              <a:srgbClr val="D5DAE0"/>
            </a:solidFill>
            <a:prstDash val="solid"/>
          </a:ln>
        </p:spPr>
        <p:txBody>
          <a:bodyPr/>
          <a:lstStyle/>
          <a:p>
            <a:endParaRPr lang="en-US"/>
          </a:p>
        </p:txBody>
      </p:sp>
      <p:sp>
        <p:nvSpPr>
          <p:cNvPr id="117" name="Text 115"/>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118" name="Shape 116"/>
          <p:cNvSpPr/>
          <p:nvPr/>
        </p:nvSpPr>
        <p:spPr>
          <a:xfrm>
            <a:off x="10241280" y="7158310"/>
            <a:ext cx="192024" cy="192024"/>
          </a:xfrm>
          <a:prstGeom prst="ellipse">
            <a:avLst/>
          </a:prstGeom>
          <a:noFill/>
          <a:ln w="28575">
            <a:solidFill>
              <a:srgbClr val="CC0000"/>
            </a:solidFill>
            <a:prstDash val="solid"/>
          </a:ln>
        </p:spPr>
        <p:txBody>
          <a:bodyPr/>
          <a:lstStyle/>
          <a:p>
            <a:endParaRPr lang="en-US"/>
          </a:p>
        </p:txBody>
      </p:sp>
      <p:sp>
        <p:nvSpPr>
          <p:cNvPr id="170" name="P08 170"/>
          <p:cNvSpPr/>
          <p:nvPr/>
        </p:nvSpPr>
        <p:spPr>
          <a:xfrm>
            <a:off x="10241280" y="7706950"/>
            <a:ext cx="192024" cy="192024"/>
          </a:xfrm>
          <a:prstGeom prst="ellipse">
            <a:avLst/>
          </a:prstGeom>
          <a:noFill/>
          <a:ln w="28575">
            <a:solidFill>
              <a:srgbClr val="BB00BB"/>
            </a:solidFill>
            <a:prstDash val="solid"/>
          </a:ln>
        </p:spPr>
        <p:txBody>
          <a:bodyPr/>
          <a:lstStyle/>
          <a:p>
            <a:endParaRPr lang="en-US"/>
          </a:p>
        </p:txBody>
      </p:sp>
      <p:sp>
        <p:nvSpPr>
          <p:cNvPr id="119" name="Shape 117"/>
          <p:cNvSpPr/>
          <p:nvPr/>
        </p:nvSpPr>
        <p:spPr>
          <a:xfrm>
            <a:off x="10287000" y="7204030"/>
            <a:ext cx="100584" cy="100584"/>
          </a:xfrm>
          <a:prstGeom prst="ellipse">
            <a:avLst/>
          </a:prstGeom>
          <a:solidFill>
            <a:srgbClr val="E8710A"/>
          </a:solidFill>
          <a:ln w="6350">
            <a:solidFill>
              <a:srgbClr val="E8710A"/>
            </a:solidFill>
            <a:prstDash val="solid"/>
          </a:ln>
        </p:spPr>
        <p:txBody>
          <a:bodyPr/>
          <a:lstStyle/>
          <a:p>
            <a:endParaRPr lang="en-US"/>
          </a:p>
        </p:txBody>
      </p:sp>
      <p:sp>
        <p:nvSpPr>
          <p:cNvPr id="171" name="P08 171"/>
          <p:cNvSpPr/>
          <p:nvPr/>
        </p:nvSpPr>
        <p:spPr>
          <a:xfrm>
            <a:off x="10287000" y="7752670"/>
            <a:ext cx="100584" cy="100584"/>
          </a:xfrm>
          <a:prstGeom prst="ellipse">
            <a:avLst/>
          </a:prstGeom>
          <a:solidFill>
            <a:srgbClr val="FFFFFF"/>
          </a:solidFill>
          <a:ln w="6350">
            <a:solidFill>
              <a:srgbClr val="FFFFFF"/>
            </a:solidFill>
            <a:prstDash val="solid"/>
          </a:ln>
        </p:spPr>
        <p:txBody>
          <a:bodyPr/>
          <a:lstStyle/>
          <a:p>
            <a:endParaRPr lang="en-US"/>
          </a:p>
        </p:txBody>
      </p:sp>
      <p:sp>
        <p:nvSpPr>
          <p:cNvPr id="120" name="Text 118"/>
          <p:cNvSpPr/>
          <p:nvPr/>
        </p:nvSpPr>
        <p:spPr>
          <a:xfrm>
            <a:off x="10552176" y="714459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12" + SIDE-ENTRY BASE (SAWCUT)</a:t>
            </a:r>
            <a:endParaRPr lang="en-US" sz="740" dirty="0"/>
          </a:p>
        </p:txBody>
      </p:sp>
      <p:sp>
        <p:nvSpPr>
          <p:cNvPr id="172" name="P08 172"/>
          <p:cNvSpPr/>
          <p:nvPr/>
        </p:nvSpPr>
        <p:spPr>
          <a:xfrm>
            <a:off x="10552176" y="769323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121" name="Shape 119"/>
          <p:cNvSpPr/>
          <p:nvPr/>
        </p:nvSpPr>
        <p:spPr>
          <a:xfrm>
            <a:off x="10241280" y="7432630"/>
            <a:ext cx="192024" cy="192024"/>
          </a:xfrm>
          <a:prstGeom prst="ellipse">
            <a:avLst/>
          </a:prstGeom>
          <a:noFill/>
          <a:ln w="28575">
            <a:solidFill>
              <a:srgbClr val="9AA0A6"/>
            </a:solidFill>
            <a:prstDash val="solid"/>
          </a:ln>
        </p:spPr>
        <p:txBody>
          <a:bodyPr/>
          <a:lstStyle/>
          <a:p>
            <a:endParaRPr lang="en-US"/>
          </a:p>
        </p:txBody>
      </p:sp>
      <p:sp>
        <p:nvSpPr>
          <p:cNvPr id="122" name="Shape 120"/>
          <p:cNvSpPr/>
          <p:nvPr/>
        </p:nvSpPr>
        <p:spPr>
          <a:xfrm>
            <a:off x="10287000" y="7478350"/>
            <a:ext cx="100584" cy="100584"/>
          </a:xfrm>
          <a:prstGeom prst="ellipse">
            <a:avLst/>
          </a:prstGeom>
          <a:solidFill>
            <a:srgbClr val="9AA0A6"/>
          </a:solidFill>
          <a:ln w="6350">
            <a:solidFill>
              <a:srgbClr val="9AA0A6"/>
            </a:solidFill>
            <a:prstDash val="solid"/>
          </a:ln>
        </p:spPr>
        <p:txBody>
          <a:bodyPr/>
          <a:lstStyle/>
          <a:p>
            <a:endParaRPr lang="en-US"/>
          </a:p>
        </p:txBody>
      </p:sp>
      <p:sp>
        <p:nvSpPr>
          <p:cNvPr id="123" name="Text 121"/>
          <p:cNvSpPr/>
          <p:nvPr/>
        </p:nvSpPr>
        <p:spPr>
          <a:xfrm>
            <a:off x="10552176" y="741891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SUPERSEDED — NOT IN REV P08 SCOPE</a:t>
            </a:r>
            <a:endParaRPr lang="en-US" sz="740" dirty="0"/>
          </a:p>
        </p:txBody>
      </p:sp>
      <p:sp>
        <p:nvSpPr>
          <p:cNvPr id="126" name="Shape 124"/>
          <p:cNvSpPr/>
          <p:nvPr/>
        </p:nvSpPr>
        <p:spPr>
          <a:xfrm>
            <a:off x="10241280" y="8077282"/>
            <a:ext cx="274320" cy="914"/>
          </a:xfrm>
          <a:prstGeom prst="line">
            <a:avLst/>
          </a:prstGeom>
          <a:noFill/>
          <a:ln w="22225">
            <a:solidFill>
              <a:srgbClr val="0B3D91"/>
            </a:solidFill>
            <a:prstDash val="solid"/>
          </a:ln>
        </p:spPr>
        <p:txBody>
          <a:bodyPr/>
          <a:lstStyle/>
          <a:p>
            <a:endParaRPr lang="en-US"/>
          </a:p>
        </p:txBody>
      </p:sp>
      <p:sp>
        <p:nvSpPr>
          <p:cNvPr id="127" name="Text 125"/>
          <p:cNvSpPr/>
          <p:nvPr/>
        </p:nvSpPr>
        <p:spPr>
          <a:xfrm>
            <a:off x="10588752" y="796755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128" name="Shape 126"/>
          <p:cNvSpPr/>
          <p:nvPr/>
        </p:nvSpPr>
        <p:spPr>
          <a:xfrm>
            <a:off x="10241280" y="8351602"/>
            <a:ext cx="274320" cy="914"/>
          </a:xfrm>
          <a:prstGeom prst="line">
            <a:avLst/>
          </a:prstGeom>
          <a:noFill/>
          <a:ln w="15875">
            <a:solidFill>
              <a:srgbClr val="00838F"/>
            </a:solidFill>
            <a:prstDash val="dash"/>
          </a:ln>
        </p:spPr>
        <p:txBody>
          <a:bodyPr/>
          <a:lstStyle/>
          <a:p>
            <a:endParaRPr lang="en-US"/>
          </a:p>
        </p:txBody>
      </p:sp>
      <p:sp>
        <p:nvSpPr>
          <p:cNvPr id="129" name="Text 127"/>
          <p:cNvSpPr/>
          <p:nvPr/>
        </p:nvSpPr>
        <p:spPr>
          <a:xfrm>
            <a:off x="10588752" y="824187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130" name="Shape 128"/>
          <p:cNvSpPr/>
          <p:nvPr/>
        </p:nvSpPr>
        <p:spPr>
          <a:xfrm>
            <a:off x="10241280" y="8625922"/>
            <a:ext cx="274320" cy="914"/>
          </a:xfrm>
          <a:prstGeom prst="line">
            <a:avLst/>
          </a:prstGeom>
          <a:noFill/>
          <a:ln w="31750">
            <a:solidFill>
              <a:srgbClr val="CC0000"/>
            </a:solidFill>
            <a:prstDash val="solid"/>
          </a:ln>
        </p:spPr>
        <p:txBody>
          <a:bodyPr/>
          <a:lstStyle/>
          <a:p>
            <a:endParaRPr lang="en-US"/>
          </a:p>
        </p:txBody>
      </p:sp>
      <p:sp>
        <p:nvSpPr>
          <p:cNvPr id="131" name="Text 129"/>
          <p:cNvSpPr/>
          <p:nvPr/>
        </p:nvSpPr>
        <p:spPr>
          <a:xfrm>
            <a:off x="10588752" y="851619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132" name="Shape 130"/>
          <p:cNvSpPr/>
          <p:nvPr/>
        </p:nvSpPr>
        <p:spPr>
          <a:xfrm>
            <a:off x="10241280" y="8900242"/>
            <a:ext cx="274320" cy="914"/>
          </a:xfrm>
          <a:prstGeom prst="line">
            <a:avLst/>
          </a:prstGeom>
          <a:noFill/>
          <a:ln w="19050">
            <a:solidFill>
              <a:srgbClr val="C7A400"/>
            </a:solidFill>
            <a:prstDash val="dashDot"/>
          </a:ln>
        </p:spPr>
        <p:txBody>
          <a:bodyPr/>
          <a:lstStyle/>
          <a:p>
            <a:endParaRPr lang="en-US"/>
          </a:p>
        </p:txBody>
      </p:sp>
      <p:sp>
        <p:nvSpPr>
          <p:cNvPr id="133" name="Text 131"/>
          <p:cNvSpPr/>
          <p:nvPr/>
        </p:nvSpPr>
        <p:spPr>
          <a:xfrm>
            <a:off x="10588752" y="879051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134" name="Shape 132"/>
          <p:cNvSpPr/>
          <p:nvPr/>
        </p:nvSpPr>
        <p:spPr>
          <a:xfrm>
            <a:off x="10241280" y="9174562"/>
            <a:ext cx="274320" cy="914"/>
          </a:xfrm>
          <a:prstGeom prst="line">
            <a:avLst/>
          </a:prstGeom>
          <a:noFill/>
          <a:ln w="12700">
            <a:solidFill>
              <a:srgbClr val="7A8288"/>
            </a:solidFill>
            <a:prstDash val="solid"/>
          </a:ln>
        </p:spPr>
        <p:txBody>
          <a:bodyPr/>
          <a:lstStyle/>
          <a:p>
            <a:endParaRPr lang="en-US"/>
          </a:p>
        </p:txBody>
      </p:sp>
      <p:sp>
        <p:nvSpPr>
          <p:cNvPr id="135" name="Text 133"/>
          <p:cNvSpPr/>
          <p:nvPr/>
        </p:nvSpPr>
        <p:spPr>
          <a:xfrm>
            <a:off x="10588752" y="906483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156" name="TextBox 155"/>
          <p:cNvSpPr txBox="1"/>
          <p:nvPr/>
        </p:nvSpPr>
        <p:spPr>
          <a:xfrm>
            <a:off x="10241280" y="6914594"/>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157" name="TextBox 156"/>
          <p:cNvSpPr txBox="1"/>
          <p:nvPr/>
        </p:nvSpPr>
        <p:spPr>
          <a:xfrm>
            <a:off x="12488700" y="6914594"/>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158" name="ASBUILT ASSET · Taxiway centreline light"/>
          <p:cNvSpPr/>
          <p:nvPr/>
        </p:nvSpPr>
        <p:spPr>
          <a:xfrm>
            <a:off x="12552980" y="720887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2738700" y="7139594"/>
            <a:ext cx="1937420" cy="230000"/>
          </a:xfrm>
          <a:prstGeom prst="rect">
            <a:avLst/>
          </a:prstGeom>
          <a:noFill/>
        </p:spPr>
        <p:txBody>
          <a:bodyPr wrap="square" lIns="0" rIns="0" tIns="0" bIns="0">
            <a:spAutoFit/>
          </a:bodyPr>
          <a:lstStyle/>
          <a:p>
            <a:r>
              <a:rPr sz="700">
                <a:solidFill>
                  <a:srgbClr val="20242A"/>
                </a:solidFill>
              </a:rPr>
              <a:t>TWY CENTRELINE LIGHT  (9)</a:t>
            </a:r>
          </a:p>
        </p:txBody>
      </p:sp>
      <p:sp>
        <p:nvSpPr>
          <p:cNvPr id="160" name="ASBUILT ASSET · Runway guard light / RRM"/>
          <p:cNvSpPr/>
          <p:nvPr/>
        </p:nvSpPr>
        <p:spPr>
          <a:xfrm>
            <a:off x="12548408" y="747862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2738700" y="7413914"/>
            <a:ext cx="1937420" cy="230000"/>
          </a:xfrm>
          <a:prstGeom prst="rect">
            <a:avLst/>
          </a:prstGeom>
          <a:noFill/>
        </p:spPr>
        <p:txBody>
          <a:bodyPr wrap="square" lIns="0" rIns="0" tIns="0" bIns="0">
            <a:spAutoFit/>
          </a:bodyPr>
          <a:lstStyle/>
          <a:p>
            <a:r>
              <a:rPr sz="700">
                <a:solidFill>
                  <a:srgbClr val="20242A"/>
                </a:solidFill>
              </a:rPr>
              <a:t>RUNWAY GUARD LIGHT / RRM  (5)</a:t>
            </a:r>
          </a:p>
        </p:txBody>
      </p:sp>
      <p:sp>
        <p:nvSpPr>
          <p:cNvPr id="162" name="ASBUILT ASSET · Handhole"/>
          <p:cNvSpPr/>
          <p:nvPr/>
        </p:nvSpPr>
        <p:spPr>
          <a:xfrm>
            <a:off x="12534692" y="773922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2738700" y="7688234"/>
            <a:ext cx="1937420" cy="230000"/>
          </a:xfrm>
          <a:prstGeom prst="rect">
            <a:avLst/>
          </a:prstGeom>
          <a:noFill/>
        </p:spPr>
        <p:txBody>
          <a:bodyPr wrap="square" lIns="0" rIns="0" tIns="0" bIns="0">
            <a:spAutoFit/>
          </a:bodyPr>
          <a:lstStyle/>
          <a:p>
            <a:r>
              <a:rPr sz="700">
                <a:solidFill>
                  <a:srgbClr val="20242A"/>
                </a:solidFill>
              </a:rPr>
              <a:t>HANDHOLE (HH)  (2)</a:t>
            </a:r>
          </a:p>
        </p:txBody>
      </p:sp>
      <p:sp>
        <p:nvSpPr>
          <p:cNvPr id="164" name="ASBUILT ASSET · Existing transformer handhole"/>
          <p:cNvSpPr/>
          <p:nvPr/>
        </p:nvSpPr>
        <p:spPr>
          <a:xfrm>
            <a:off x="12525548" y="800440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2738700" y="7962554"/>
            <a:ext cx="1937420" cy="230000"/>
          </a:xfrm>
          <a:prstGeom prst="rect">
            <a:avLst/>
          </a:prstGeom>
          <a:noFill/>
        </p:spPr>
        <p:txBody>
          <a:bodyPr wrap="square" lIns="0" rIns="0" tIns="0" bIns="0">
            <a:spAutoFit/>
          </a:bodyPr>
          <a:lstStyle/>
          <a:p>
            <a:r>
              <a:rPr sz="700">
                <a:solidFill>
                  <a:srgbClr val="20242A"/>
                </a:solidFill>
              </a:rPr>
              <a:t>TRANSFORMER HH (SEC. FEED HUB)  (1)</a:t>
            </a:r>
          </a:p>
        </p:txBody>
      </p:sp>
      <p:sp>
        <p:nvSpPr>
          <p:cNvPr id="166" name="ASBUILT ASSET · Earthing point"/>
          <p:cNvSpPr/>
          <p:nvPr/>
        </p:nvSpPr>
        <p:spPr>
          <a:xfrm>
            <a:off x="12557552" y="83107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2738700" y="8236874"/>
            <a:ext cx="1937420" cy="230000"/>
          </a:xfrm>
          <a:prstGeom prst="rect">
            <a:avLst/>
          </a:prstGeom>
          <a:noFill/>
        </p:spPr>
        <p:txBody>
          <a:bodyPr wrap="square" lIns="0" rIns="0" tIns="0" bIns="0">
            <a:spAutoFit/>
          </a:bodyPr>
          <a:lstStyle/>
          <a:p>
            <a:r>
              <a:rPr sz="700">
                <a:solidFill>
                  <a:srgbClr val="20242A"/>
                </a:solidFill>
              </a:rPr>
              <a:t>EARTHING POINT  (3)</a:t>
            </a:r>
          </a:p>
        </p:txBody>
      </p:sp>
      <p:sp>
        <p:nvSpPr>
          <p:cNvPr id="168" name="ASBUILT ASSET · Earthing pit"/>
          <p:cNvSpPr/>
          <p:nvPr/>
        </p:nvSpPr>
        <p:spPr>
          <a:xfrm>
            <a:off x="12548408" y="8575902"/>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2738700" y="8511194"/>
            <a:ext cx="1937420" cy="230000"/>
          </a:xfrm>
          <a:prstGeom prst="rect">
            <a:avLst/>
          </a:prstGeom>
          <a:noFill/>
        </p:spPr>
        <p:txBody>
          <a:bodyPr wrap="square" lIns="0" rIns="0" tIns="0" bIns="0">
            <a:spAutoFit/>
          </a:bodyPr>
          <a:lstStyle/>
          <a:p>
            <a:r>
              <a:rPr sz="700">
                <a:solidFill>
                  <a:srgbClr val="20242A"/>
                </a:solidFill>
              </a:rPr>
              <a:t>EARTHING PIT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3   ·   DWG NO AUH-SK-AGL-TWYE-001-1003 REV P08</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113" name="ASBUILT DUCT · CV-EX SEC CONDUIT · 3.8 m"/>
          <p:cNvSpPr/>
          <p:nvPr/>
        </p:nvSpPr>
        <p:spPr>
          <a:xfrm>
            <a:off x="320037" y="776809"/>
            <a:ext cx="378241" cy="68678"/>
          </a:xfrm>
          <a:custGeom>
            <a:avLst/>
            <a:gdLst/>
            <a:ahLst/>
            <a:cxnLst/>
            <a:rect l="l" t="t" r="r" b="b"/>
            <a:pathLst>
              <a:path w="378241" h="68678">
                <a:moveTo>
                  <a:pt x="378241" y="0"/>
                </a:moveTo>
                <a:lnTo>
                  <a:pt x="0" y="6867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SBUILT DUCT · CV-EX SEC CONDUIT · 19.5 m"/>
          <p:cNvSpPr/>
          <p:nvPr/>
        </p:nvSpPr>
        <p:spPr>
          <a:xfrm>
            <a:off x="319991" y="776869"/>
            <a:ext cx="1653130" cy="1046796"/>
          </a:xfrm>
          <a:custGeom>
            <a:avLst/>
            <a:gdLst/>
            <a:ahLst/>
            <a:cxnLst/>
            <a:rect l="l" t="t" r="r" b="b"/>
            <a:pathLst>
              <a:path w="1653130" h="1046796">
                <a:moveTo>
                  <a:pt x="0" y="1046796"/>
                </a:moveTo>
                <a:lnTo>
                  <a:pt x="165313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SBUILT DUCT · CV-EX SEC CONDUIT · 18.4 m"/>
          <p:cNvSpPr/>
          <p:nvPr/>
        </p:nvSpPr>
        <p:spPr>
          <a:xfrm>
            <a:off x="924668" y="776879"/>
            <a:ext cx="1258208" cy="1348502"/>
          </a:xfrm>
          <a:custGeom>
            <a:avLst/>
            <a:gdLst/>
            <a:ahLst/>
            <a:cxnLst/>
            <a:rect l="l" t="t" r="r" b="b"/>
            <a:pathLst>
              <a:path w="1258208" h="1348502">
                <a:moveTo>
                  <a:pt x="1258208" y="0"/>
                </a:moveTo>
                <a:lnTo>
                  <a:pt x="0" y="134850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SBUILT DUCT · CV-EX SEC CONDUIT · 25.5 m"/>
          <p:cNvSpPr/>
          <p:nvPr/>
        </p:nvSpPr>
        <p:spPr>
          <a:xfrm>
            <a:off x="1085699" y="776885"/>
            <a:ext cx="1223250" cy="2245867"/>
          </a:xfrm>
          <a:custGeom>
            <a:avLst/>
            <a:gdLst/>
            <a:ahLst/>
            <a:cxnLst/>
            <a:rect l="l" t="t" r="r" b="b"/>
            <a:pathLst>
              <a:path w="1223250" h="2245867">
                <a:moveTo>
                  <a:pt x="0" y="2245867"/>
                </a:moveTo>
                <a:lnTo>
                  <a:pt x="122325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SBUILT DUCT · CV-EX SEC CONDUIT · 22.0 m"/>
          <p:cNvSpPr/>
          <p:nvPr/>
        </p:nvSpPr>
        <p:spPr>
          <a:xfrm>
            <a:off x="1342419" y="776886"/>
            <a:ext cx="982055" cy="1976592"/>
          </a:xfrm>
          <a:custGeom>
            <a:avLst/>
            <a:gdLst/>
            <a:ahLst/>
            <a:cxnLst/>
            <a:rect l="l" t="t" r="r" b="b"/>
            <a:pathLst>
              <a:path w="982055" h="1976592">
                <a:moveTo>
                  <a:pt x="982055" y="0"/>
                </a:moveTo>
                <a:lnTo>
                  <a:pt x="0" y="197659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SBUILT DUCT · CV-EX SEC CONDUIT · 26.3 m"/>
          <p:cNvSpPr/>
          <p:nvPr/>
        </p:nvSpPr>
        <p:spPr>
          <a:xfrm>
            <a:off x="1803778" y="776890"/>
            <a:ext cx="605543" cy="2571530"/>
          </a:xfrm>
          <a:custGeom>
            <a:avLst/>
            <a:gdLst/>
            <a:ahLst/>
            <a:cxnLst/>
            <a:rect l="l" t="t" r="r" b="b"/>
            <a:pathLst>
              <a:path w="605543" h="2571530">
                <a:moveTo>
                  <a:pt x="0" y="2571530"/>
                </a:moveTo>
                <a:lnTo>
                  <a:pt x="60554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SBUILT DUCT · CV-EX SEC CONDUIT · 31.2 m"/>
          <p:cNvSpPr/>
          <p:nvPr/>
        </p:nvSpPr>
        <p:spPr>
          <a:xfrm>
            <a:off x="2309047" y="776892"/>
            <a:ext cx="160111" cy="3129697"/>
          </a:xfrm>
          <a:custGeom>
            <a:avLst/>
            <a:gdLst/>
            <a:ahLst/>
            <a:cxnLst/>
            <a:rect l="l" t="t" r="r" b="b"/>
            <a:pathLst>
              <a:path w="160111" h="3129697">
                <a:moveTo>
                  <a:pt x="160111" y="0"/>
                </a:moveTo>
                <a:lnTo>
                  <a:pt x="0" y="3129697"/>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SBUILT DUCT · CV-NEW SEC SAWCUT · 30.1 m"/>
          <p:cNvSpPr/>
          <p:nvPr/>
        </p:nvSpPr>
        <p:spPr>
          <a:xfrm>
            <a:off x="3236505" y="1966772"/>
            <a:ext cx="1181340" cy="2783058"/>
          </a:xfrm>
          <a:custGeom>
            <a:avLst/>
            <a:gdLst/>
            <a:ahLst/>
            <a:cxnLst/>
            <a:rect l="l" t="t" r="r" b="b"/>
            <a:pathLst>
              <a:path w="1181340" h="2783058">
                <a:moveTo>
                  <a:pt x="0" y="2783058"/>
                </a:moveTo>
                <a:lnTo>
                  <a:pt x="118134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SBUILT DUCT · CV-NEW SEC SAWCUT · 10.4 m"/>
          <p:cNvSpPr/>
          <p:nvPr/>
        </p:nvSpPr>
        <p:spPr>
          <a:xfrm>
            <a:off x="584900" y="3338817"/>
            <a:ext cx="328742" cy="990742"/>
          </a:xfrm>
          <a:custGeom>
            <a:avLst/>
            <a:gdLst/>
            <a:ahLst/>
            <a:cxnLst/>
            <a:rect l="l" t="t" r="r" b="b"/>
            <a:pathLst>
              <a:path w="328742" h="990742">
                <a:moveTo>
                  <a:pt x="0" y="0"/>
                </a:moveTo>
                <a:lnTo>
                  <a:pt x="328742" y="990742"/>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SBUILT DUCT · CV-NEW SEC SAWCUT · 24.5 m"/>
          <p:cNvSpPr/>
          <p:nvPr/>
        </p:nvSpPr>
        <p:spPr>
          <a:xfrm>
            <a:off x="319805" y="3948874"/>
            <a:ext cx="1640085" cy="1833041"/>
          </a:xfrm>
          <a:custGeom>
            <a:avLst/>
            <a:gdLst/>
            <a:ahLst/>
            <a:cxnLst/>
            <a:rect l="l" t="t" r="r" b="b"/>
            <a:pathLst>
              <a:path w="1640085" h="1833041">
                <a:moveTo>
                  <a:pt x="0" y="1833041"/>
                </a:moveTo>
                <a:lnTo>
                  <a:pt x="16400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SBUILT DUCT · CV-NEW SEC SAWCUT · 27.8 m"/>
          <p:cNvSpPr/>
          <p:nvPr/>
        </p:nvSpPr>
        <p:spPr>
          <a:xfrm>
            <a:off x="319798" y="4329408"/>
            <a:ext cx="2291965" cy="1599046"/>
          </a:xfrm>
          <a:custGeom>
            <a:avLst/>
            <a:gdLst/>
            <a:ahLst/>
            <a:cxnLst/>
            <a:rect l="l" t="t" r="r" b="b"/>
            <a:pathLst>
              <a:path w="2291965" h="1599046">
                <a:moveTo>
                  <a:pt x="2291965" y="0"/>
                </a:moveTo>
                <a:lnTo>
                  <a:pt x="0" y="159904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SBUILT DUCT · CV-NEW SEC SAWCUT · 20.8 m"/>
          <p:cNvSpPr/>
          <p:nvPr/>
        </p:nvSpPr>
        <p:spPr>
          <a:xfrm>
            <a:off x="319820" y="3618375"/>
            <a:ext cx="964181" cy="1851476"/>
          </a:xfrm>
          <a:custGeom>
            <a:avLst/>
            <a:gdLst/>
            <a:ahLst/>
            <a:cxnLst/>
            <a:rect l="l" t="t" r="r" b="b"/>
            <a:pathLst>
              <a:path w="964181" h="1851476">
                <a:moveTo>
                  <a:pt x="964181" y="0"/>
                </a:moveTo>
                <a:lnTo>
                  <a:pt x="0" y="185147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SBUILT DUCT · CV-EX SEC CONDUIT · 23.1 m"/>
          <p:cNvSpPr/>
          <p:nvPr/>
        </p:nvSpPr>
        <p:spPr>
          <a:xfrm>
            <a:off x="5201446" y="4034168"/>
            <a:ext cx="396447" cy="2290420"/>
          </a:xfrm>
          <a:custGeom>
            <a:avLst/>
            <a:gdLst/>
            <a:ahLst/>
            <a:cxnLst/>
            <a:rect l="l" t="t" r="r" b="b"/>
            <a:pathLst>
              <a:path w="396447" h="2290420">
                <a:moveTo>
                  <a:pt x="0" y="2290420"/>
                </a:moveTo>
                <a:lnTo>
                  <a:pt x="39644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SBUILT DUCT · CV-EX SEC CONDUIT · 20.6 m"/>
          <p:cNvSpPr/>
          <p:nvPr/>
        </p:nvSpPr>
        <p:spPr>
          <a:xfrm>
            <a:off x="4612577" y="4034168"/>
            <a:ext cx="985316" cy="1816244"/>
          </a:xfrm>
          <a:custGeom>
            <a:avLst/>
            <a:gdLst/>
            <a:ahLst/>
            <a:cxnLst/>
            <a:rect l="l" t="t" r="r" b="b"/>
            <a:pathLst>
              <a:path w="985316" h="1816244">
                <a:moveTo>
                  <a:pt x="985316" y="0"/>
                </a:moveTo>
                <a:lnTo>
                  <a:pt x="0" y="1816244"/>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SBUILT DUCT · CV-EX SEC CONDUIT · 20.7 m"/>
          <p:cNvSpPr/>
          <p:nvPr/>
        </p:nvSpPr>
        <p:spPr>
          <a:xfrm>
            <a:off x="4020452" y="4034168"/>
            <a:ext cx="1577441" cy="1352267"/>
          </a:xfrm>
          <a:custGeom>
            <a:avLst/>
            <a:gdLst/>
            <a:ahLst/>
            <a:cxnLst/>
            <a:rect l="l" t="t" r="r" b="b"/>
            <a:pathLst>
              <a:path w="1577441" h="1352267">
                <a:moveTo>
                  <a:pt x="0" y="1352267"/>
                </a:moveTo>
                <a:lnTo>
                  <a:pt x="157744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SBUILT DUCT · CV-EX SEC CONDUIT · 27.6 m"/>
          <p:cNvSpPr/>
          <p:nvPr/>
        </p:nvSpPr>
        <p:spPr>
          <a:xfrm>
            <a:off x="5597893" y="4034168"/>
            <a:ext cx="188525" cy="2763329"/>
          </a:xfrm>
          <a:custGeom>
            <a:avLst/>
            <a:gdLst/>
            <a:ahLst/>
            <a:cxnLst/>
            <a:rect l="l" t="t" r="r" b="b"/>
            <a:pathLst>
              <a:path w="188525" h="2763329">
                <a:moveTo>
                  <a:pt x="0" y="0"/>
                </a:moveTo>
                <a:lnTo>
                  <a:pt x="188525" y="276332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SBUILT DUCT · CV-EX SEC CONDUIT · 26.0 m"/>
          <p:cNvSpPr/>
          <p:nvPr/>
        </p:nvSpPr>
        <p:spPr>
          <a:xfrm>
            <a:off x="8840910" y="6749381"/>
            <a:ext cx="1034666" cy="2397861"/>
          </a:xfrm>
          <a:custGeom>
            <a:avLst/>
            <a:gdLst/>
            <a:ahLst/>
            <a:cxnLst/>
            <a:rect l="l" t="t" r="r" b="b"/>
            <a:pathLst>
              <a:path w="1034666" h="2397861">
                <a:moveTo>
                  <a:pt x="1034666" y="2397861"/>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SBUILT DUCT · CV-EX SEC CONDUIT · 20.5 m"/>
          <p:cNvSpPr/>
          <p:nvPr/>
        </p:nvSpPr>
        <p:spPr>
          <a:xfrm>
            <a:off x="8138229" y="6749381"/>
            <a:ext cx="702681" cy="1932861"/>
          </a:xfrm>
          <a:custGeom>
            <a:avLst/>
            <a:gdLst/>
            <a:ahLst/>
            <a:cxnLst/>
            <a:rect l="l" t="t" r="r" b="b"/>
            <a:pathLst>
              <a:path w="702681" h="1932861">
                <a:moveTo>
                  <a:pt x="0" y="1932861"/>
                </a:moveTo>
                <a:lnTo>
                  <a:pt x="70268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SBUILT DUCT · CV-EX SEC CONDUIT · 29.0 m"/>
          <p:cNvSpPr/>
          <p:nvPr/>
        </p:nvSpPr>
        <p:spPr>
          <a:xfrm>
            <a:off x="8840910" y="6749381"/>
            <a:ext cx="472848" cy="2877172"/>
          </a:xfrm>
          <a:custGeom>
            <a:avLst/>
            <a:gdLst/>
            <a:ahLst/>
            <a:cxnLst/>
            <a:rect l="l" t="t" r="r" b="b"/>
            <a:pathLst>
              <a:path w="472848" h="2877172">
                <a:moveTo>
                  <a:pt x="0" y="0"/>
                </a:moveTo>
                <a:lnTo>
                  <a:pt x="472848" y="287717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SBUILT DUCT · CV-EX SEC CONDUIT · 21.1 m"/>
          <p:cNvSpPr/>
          <p:nvPr/>
        </p:nvSpPr>
        <p:spPr>
          <a:xfrm>
            <a:off x="6964740" y="6749452"/>
            <a:ext cx="1876180" cy="990829"/>
          </a:xfrm>
          <a:custGeom>
            <a:avLst/>
            <a:gdLst/>
            <a:ahLst/>
            <a:cxnLst/>
            <a:rect l="l" t="t" r="r" b="b"/>
            <a:pathLst>
              <a:path w="1876180" h="990829">
                <a:moveTo>
                  <a:pt x="1876180" y="0"/>
                </a:moveTo>
                <a:lnTo>
                  <a:pt x="0" y="99082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SBUILT DUCT · CV-EX SEC CONDUIT · 25.1 m"/>
          <p:cNvSpPr/>
          <p:nvPr/>
        </p:nvSpPr>
        <p:spPr>
          <a:xfrm>
            <a:off x="6376272" y="6749452"/>
            <a:ext cx="2464648" cy="518161"/>
          </a:xfrm>
          <a:custGeom>
            <a:avLst/>
            <a:gdLst/>
            <a:ahLst/>
            <a:cxnLst/>
            <a:rect l="l" t="t" r="r" b="b"/>
            <a:pathLst>
              <a:path w="2464648" h="518161">
                <a:moveTo>
                  <a:pt x="0" y="518161"/>
                </a:moveTo>
                <a:lnTo>
                  <a:pt x="2464648"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SBUILT DUCT · CV-NEW SEC SAWCUT · 20.3 m"/>
          <p:cNvSpPr/>
          <p:nvPr/>
        </p:nvSpPr>
        <p:spPr>
          <a:xfrm>
            <a:off x="7552012" y="6735833"/>
            <a:ext cx="1414354" cy="1474333"/>
          </a:xfrm>
          <a:custGeom>
            <a:avLst/>
            <a:gdLst/>
            <a:ahLst/>
            <a:cxnLst/>
            <a:rect l="l" t="t" r="r" b="b"/>
            <a:pathLst>
              <a:path w="1414354" h="1474333">
                <a:moveTo>
                  <a:pt x="0" y="1474333"/>
                </a:moveTo>
                <a:lnTo>
                  <a:pt x="1414354"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SBUILT DUCT · CV-NEW SEC SAWCUT · 5.4 m"/>
          <p:cNvSpPr/>
          <p:nvPr/>
        </p:nvSpPr>
        <p:spPr>
          <a:xfrm>
            <a:off x="8966366" y="6286547"/>
            <a:ext cx="300144" cy="449286"/>
          </a:xfrm>
          <a:custGeom>
            <a:avLst/>
            <a:gdLst/>
            <a:ahLst/>
            <a:cxnLst/>
            <a:rect l="l" t="t" r="r" b="b"/>
            <a:pathLst>
              <a:path w="300144" h="449286">
                <a:moveTo>
                  <a:pt x="0" y="449286"/>
                </a:moveTo>
                <a:lnTo>
                  <a:pt x="300144"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SBUILT DUCT · CV-NEW SEC SAWCUT · 30.1 m"/>
          <p:cNvSpPr/>
          <p:nvPr/>
        </p:nvSpPr>
        <p:spPr>
          <a:xfrm>
            <a:off x="3237057" y="1966772"/>
            <a:ext cx="1180788" cy="2783922"/>
          </a:xfrm>
          <a:custGeom>
            <a:avLst/>
            <a:gdLst/>
            <a:ahLst/>
            <a:cxnLst/>
            <a:rect l="l" t="t" r="r" b="b"/>
            <a:pathLst>
              <a:path w="1180788" h="2783922">
                <a:moveTo>
                  <a:pt x="0" y="2783922"/>
                </a:moveTo>
                <a:lnTo>
                  <a:pt x="118078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SBUILT DUCT · CV-NEW SEC CONDUIT · 6.8 m"/>
          <p:cNvSpPr/>
          <p:nvPr/>
        </p:nvSpPr>
        <p:spPr>
          <a:xfrm>
            <a:off x="5597893" y="3567157"/>
            <a:ext cx="498495" cy="467011"/>
          </a:xfrm>
          <a:custGeom>
            <a:avLst/>
            <a:gdLst/>
            <a:ahLst/>
            <a:cxnLst/>
            <a:rect l="l" t="t" r="r" b="b"/>
            <a:pathLst>
              <a:path w="498495" h="467011">
                <a:moveTo>
                  <a:pt x="498495" y="0"/>
                </a:moveTo>
                <a:lnTo>
                  <a:pt x="0" y="46701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NEW SEC CONDUIT · 7.0 m"/>
          <p:cNvSpPr/>
          <p:nvPr/>
        </p:nvSpPr>
        <p:spPr>
          <a:xfrm>
            <a:off x="5597893" y="3392419"/>
            <a:ext cx="288568" cy="641749"/>
          </a:xfrm>
          <a:custGeom>
            <a:avLst/>
            <a:gdLst/>
            <a:ahLst/>
            <a:cxnLst/>
            <a:rect l="l" t="t" r="r" b="b"/>
            <a:pathLst>
              <a:path w="288568" h="641749">
                <a:moveTo>
                  <a:pt x="0" y="641749"/>
                </a:moveTo>
                <a:lnTo>
                  <a:pt x="288568"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NEW SEC CONDUIT · 6.3 m"/>
          <p:cNvSpPr/>
          <p:nvPr/>
        </p:nvSpPr>
        <p:spPr>
          <a:xfrm>
            <a:off x="8840910" y="6286547"/>
            <a:ext cx="425600" cy="462834"/>
          </a:xfrm>
          <a:custGeom>
            <a:avLst/>
            <a:gdLst/>
            <a:ahLst/>
            <a:cxnLst/>
            <a:rect l="l" t="t" r="r" b="b"/>
            <a:pathLst>
              <a:path w="425600" h="462834">
                <a:moveTo>
                  <a:pt x="0" y="462834"/>
                </a:moveTo>
                <a:lnTo>
                  <a:pt x="425600"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DUCT · CV-NEW SEC SAWCUT · 30.8 m"/>
          <p:cNvSpPr/>
          <p:nvPr/>
        </p:nvSpPr>
        <p:spPr>
          <a:xfrm>
            <a:off x="3435903" y="1966772"/>
            <a:ext cx="981942" cy="2934184"/>
          </a:xfrm>
          <a:custGeom>
            <a:avLst/>
            <a:gdLst/>
            <a:ahLst/>
            <a:cxnLst/>
            <a:rect l="l" t="t" r="r" b="b"/>
            <a:pathLst>
              <a:path w="981942" h="2934184">
                <a:moveTo>
                  <a:pt x="0" y="2934184"/>
                </a:moveTo>
                <a:lnTo>
                  <a:pt x="981942"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DUCT · CV-EX SEC CONDUIT · 13.5 m"/>
          <p:cNvSpPr/>
          <p:nvPr/>
        </p:nvSpPr>
        <p:spPr>
          <a:xfrm>
            <a:off x="4458899" y="4034168"/>
            <a:ext cx="1138994" cy="728279"/>
          </a:xfrm>
          <a:custGeom>
            <a:avLst/>
            <a:gdLst/>
            <a:ahLst/>
            <a:cxnLst/>
            <a:rect l="l" t="t" r="r" b="b"/>
            <a:pathLst>
              <a:path w="1138994" h="728279">
                <a:moveTo>
                  <a:pt x="1138994" y="0"/>
                </a:moveTo>
                <a:lnTo>
                  <a:pt x="0" y="72827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DUCT · CV-EX SEC CONDUIT · 10.6 m"/>
          <p:cNvSpPr/>
          <p:nvPr/>
        </p:nvSpPr>
        <p:spPr>
          <a:xfrm>
            <a:off x="4648107" y="4034168"/>
            <a:ext cx="949786" cy="491867"/>
          </a:xfrm>
          <a:custGeom>
            <a:avLst/>
            <a:gdLst/>
            <a:ahLst/>
            <a:cxnLst/>
            <a:rect l="l" t="t" r="r" b="b"/>
            <a:pathLst>
              <a:path w="949786" h="491867">
                <a:moveTo>
                  <a:pt x="0" y="491867"/>
                </a:moveTo>
                <a:lnTo>
                  <a:pt x="949786"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DUCT · CV-EX SEC CONDUIT · 16.3 m"/>
          <p:cNvSpPr/>
          <p:nvPr/>
        </p:nvSpPr>
        <p:spPr>
          <a:xfrm>
            <a:off x="4269993" y="4034168"/>
            <a:ext cx="1327900" cy="965093"/>
          </a:xfrm>
          <a:custGeom>
            <a:avLst/>
            <a:gdLst/>
            <a:ahLst/>
            <a:cxnLst/>
            <a:rect l="l" t="t" r="r" b="b"/>
            <a:pathLst>
              <a:path w="1327900" h="965093">
                <a:moveTo>
                  <a:pt x="0" y="965093"/>
                </a:moveTo>
                <a:lnTo>
                  <a:pt x="132790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ASBUILT DUCT · CV-EX SEC CONDUIT · 19.2 m"/>
          <p:cNvSpPr/>
          <p:nvPr/>
        </p:nvSpPr>
        <p:spPr>
          <a:xfrm>
            <a:off x="4082794" y="4034168"/>
            <a:ext cx="1515099" cy="1200601"/>
          </a:xfrm>
          <a:custGeom>
            <a:avLst/>
            <a:gdLst/>
            <a:ahLst/>
            <a:cxnLst/>
            <a:rect l="l" t="t" r="r" b="b"/>
            <a:pathLst>
              <a:path w="1515099" h="1200601">
                <a:moveTo>
                  <a:pt x="1515099" y="0"/>
                </a:moveTo>
                <a:lnTo>
                  <a:pt x="0" y="1200601"/>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ASBUILT DUCT · CV-EX SEC CONDUIT · 19.2 m"/>
          <p:cNvSpPr/>
          <p:nvPr/>
        </p:nvSpPr>
        <p:spPr>
          <a:xfrm>
            <a:off x="4186450" y="4034168"/>
            <a:ext cx="1411443" cy="1313863"/>
          </a:xfrm>
          <a:custGeom>
            <a:avLst/>
            <a:gdLst/>
            <a:ahLst/>
            <a:cxnLst/>
            <a:rect l="l" t="t" r="r" b="b"/>
            <a:pathLst>
              <a:path w="1411443" h="1313863">
                <a:moveTo>
                  <a:pt x="1411443" y="0"/>
                </a:moveTo>
                <a:lnTo>
                  <a:pt x="0" y="1313863"/>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ASBUILT DUCT · CV-EX SEC CONDUIT · 20.2 m"/>
          <p:cNvSpPr/>
          <p:nvPr/>
        </p:nvSpPr>
        <p:spPr>
          <a:xfrm>
            <a:off x="4137675" y="4034168"/>
            <a:ext cx="1460218" cy="1407997"/>
          </a:xfrm>
          <a:custGeom>
            <a:avLst/>
            <a:gdLst/>
            <a:ahLst/>
            <a:cxnLst/>
            <a:rect l="l" t="t" r="r" b="b"/>
            <a:pathLst>
              <a:path w="1460218" h="1407997">
                <a:moveTo>
                  <a:pt x="0" y="1407997"/>
                </a:moveTo>
                <a:lnTo>
                  <a:pt x="1460218"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ASBUILT DUCT · CV-EX SEC CONDUIT · 20.0 m"/>
          <p:cNvSpPr/>
          <p:nvPr/>
        </p:nvSpPr>
        <p:spPr>
          <a:xfrm>
            <a:off x="4182698" y="4034168"/>
            <a:ext cx="1415195" cy="1420980"/>
          </a:xfrm>
          <a:custGeom>
            <a:avLst/>
            <a:gdLst/>
            <a:ahLst/>
            <a:cxnLst/>
            <a:rect l="l" t="t" r="r" b="b"/>
            <a:pathLst>
              <a:path w="1415195" h="1420980">
                <a:moveTo>
                  <a:pt x="0" y="1420980"/>
                </a:moveTo>
                <a:lnTo>
                  <a:pt x="1415195"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ASBUILT DUCT · CV-EX SEC CONDUIT · 20.0 m"/>
          <p:cNvSpPr/>
          <p:nvPr/>
        </p:nvSpPr>
        <p:spPr>
          <a:xfrm>
            <a:off x="4208749" y="4034168"/>
            <a:ext cx="1389144" cy="1455445"/>
          </a:xfrm>
          <a:custGeom>
            <a:avLst/>
            <a:gdLst/>
            <a:ahLst/>
            <a:cxnLst/>
            <a:rect l="l" t="t" r="r" b="b"/>
            <a:pathLst>
              <a:path w="1389144" h="1455445">
                <a:moveTo>
                  <a:pt x="0" y="1455445"/>
                </a:moveTo>
                <a:lnTo>
                  <a:pt x="13891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ASBUILT DUCT · CV-EX SEC CONDUIT · 3.1 m"/>
          <p:cNvSpPr/>
          <p:nvPr/>
        </p:nvSpPr>
        <p:spPr>
          <a:xfrm>
            <a:off x="3893888" y="5348031"/>
            <a:ext cx="292562" cy="120236"/>
          </a:xfrm>
          <a:custGeom>
            <a:avLst/>
            <a:gdLst/>
            <a:ahLst/>
            <a:cxnLst/>
            <a:rect l="l" t="t" r="r" b="b"/>
            <a:pathLst>
              <a:path w="292562" h="120236">
                <a:moveTo>
                  <a:pt x="292562" y="0"/>
                </a:moveTo>
                <a:lnTo>
                  <a:pt x="0" y="12023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ASBUILT DUCT · CV-EX SEC CONDUIT · 5.0 m"/>
          <p:cNvSpPr/>
          <p:nvPr/>
        </p:nvSpPr>
        <p:spPr>
          <a:xfrm>
            <a:off x="3703876" y="5442165"/>
            <a:ext cx="433799" cy="260906"/>
          </a:xfrm>
          <a:custGeom>
            <a:avLst/>
            <a:gdLst/>
            <a:ahLst/>
            <a:cxnLst/>
            <a:rect l="l" t="t" r="r" b="b"/>
            <a:pathLst>
              <a:path w="433799" h="260906">
                <a:moveTo>
                  <a:pt x="0" y="260906"/>
                </a:moveTo>
                <a:lnTo>
                  <a:pt x="43379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ASBUILT DUCT · CV-EX SEC CONDUIT · 8.2 m"/>
          <p:cNvSpPr/>
          <p:nvPr/>
        </p:nvSpPr>
        <p:spPr>
          <a:xfrm>
            <a:off x="3515371" y="5455148"/>
            <a:ext cx="667327" cy="483431"/>
          </a:xfrm>
          <a:custGeom>
            <a:avLst/>
            <a:gdLst/>
            <a:ahLst/>
            <a:cxnLst/>
            <a:rect l="l" t="t" r="r" b="b"/>
            <a:pathLst>
              <a:path w="667327" h="483431">
                <a:moveTo>
                  <a:pt x="0" y="483431"/>
                </a:moveTo>
                <a:lnTo>
                  <a:pt x="66732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ASBUILT DUCT · CV-EX SEC CONDUIT · 11.1 m"/>
          <p:cNvSpPr/>
          <p:nvPr/>
        </p:nvSpPr>
        <p:spPr>
          <a:xfrm>
            <a:off x="3327570" y="5489613"/>
            <a:ext cx="881179" cy="684172"/>
          </a:xfrm>
          <a:custGeom>
            <a:avLst/>
            <a:gdLst/>
            <a:ahLst/>
            <a:cxnLst/>
            <a:rect l="l" t="t" r="r" b="b"/>
            <a:pathLst>
              <a:path w="881179" h="684172">
                <a:moveTo>
                  <a:pt x="0" y="684172"/>
                </a:moveTo>
                <a:lnTo>
                  <a:pt x="88117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ASBUILT DUCT · CV-NEW SEC CONDUIT · 12.7 m"/>
          <p:cNvSpPr/>
          <p:nvPr/>
        </p:nvSpPr>
        <p:spPr>
          <a:xfrm>
            <a:off x="1662554" y="8046874"/>
            <a:ext cx="1208585" cy="327456"/>
          </a:xfrm>
          <a:custGeom>
            <a:avLst/>
            <a:gdLst/>
            <a:ahLst/>
            <a:cxnLst/>
            <a:rect l="l" t="t" r="r" b="b"/>
            <a:pathLst>
              <a:path w="1208585" h="327456">
                <a:moveTo>
                  <a:pt x="0" y="327456"/>
                </a:moveTo>
                <a:lnTo>
                  <a:pt x="1118875" y="103104"/>
                </a:lnTo>
                <a:lnTo>
                  <a:pt x="1208585"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ASBUILT DUCT · CV-NEW SEC CONDUIT · 13.8 m"/>
          <p:cNvSpPr/>
          <p:nvPr/>
        </p:nvSpPr>
        <p:spPr>
          <a:xfrm>
            <a:off x="4485378" y="1909815"/>
            <a:ext cx="1297671" cy="456213"/>
          </a:xfrm>
          <a:custGeom>
            <a:avLst/>
            <a:gdLst/>
            <a:ahLst/>
            <a:cxnLst/>
            <a:rect l="l" t="t" r="r" b="b"/>
            <a:pathLst>
              <a:path w="1297671" h="456213">
                <a:moveTo>
                  <a:pt x="0" y="9314"/>
                </a:moveTo>
                <a:lnTo>
                  <a:pt x="224946" y="0"/>
                </a:lnTo>
                <a:lnTo>
                  <a:pt x="1297671" y="45621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ASBUILT DUCT · CV-NEW SEC SAWCUT · 29.1 m"/>
          <p:cNvSpPr/>
          <p:nvPr/>
        </p:nvSpPr>
        <p:spPr>
          <a:xfrm>
            <a:off x="2851595" y="1966772"/>
            <a:ext cx="1566250" cy="2472769"/>
          </a:xfrm>
          <a:custGeom>
            <a:avLst/>
            <a:gdLst/>
            <a:ahLst/>
            <a:cxnLst/>
            <a:rect l="l" t="t" r="r" b="b"/>
            <a:pathLst>
              <a:path w="1566250" h="2472769">
                <a:moveTo>
                  <a:pt x="0" y="2472769"/>
                </a:moveTo>
                <a:lnTo>
                  <a:pt x="156625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ASBUILT DUCT · CV-NEW SEC SAWCUT · 29.8 m"/>
          <p:cNvSpPr/>
          <p:nvPr/>
        </p:nvSpPr>
        <p:spPr>
          <a:xfrm>
            <a:off x="2263137" y="1966772"/>
            <a:ext cx="2154708" cy="2004130"/>
          </a:xfrm>
          <a:custGeom>
            <a:avLst/>
            <a:gdLst/>
            <a:ahLst/>
            <a:cxnLst/>
            <a:rect l="l" t="t" r="r" b="b"/>
            <a:pathLst>
              <a:path w="2154708" h="2004130">
                <a:moveTo>
                  <a:pt x="0" y="2004130"/>
                </a:moveTo>
                <a:lnTo>
                  <a:pt x="420138" y="1873079"/>
                </a:lnTo>
                <a:lnTo>
                  <a:pt x="215470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ASBUILT DUCT · CV-EX SEC CONDUIT · 14.8 m"/>
          <p:cNvSpPr/>
          <p:nvPr/>
        </p:nvSpPr>
        <p:spPr>
          <a:xfrm>
            <a:off x="554795" y="776864"/>
            <a:ext cx="1313363" cy="690299"/>
          </a:xfrm>
          <a:custGeom>
            <a:avLst/>
            <a:gdLst/>
            <a:ahLst/>
            <a:cxnLst/>
            <a:rect l="l" t="t" r="r" b="b"/>
            <a:pathLst>
              <a:path w="1313363" h="690299">
                <a:moveTo>
                  <a:pt x="0" y="690299"/>
                </a:moveTo>
                <a:lnTo>
                  <a:pt x="131336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ASBUILT DUCT · CV_DUCT CROSSING 6x110mm dia · 57.8 m"/>
          <p:cNvSpPr/>
          <p:nvPr/>
        </p:nvSpPr>
        <p:spPr>
          <a:xfrm>
            <a:off x="1131007" y="2324144"/>
            <a:ext cx="3673113" cy="4495289"/>
          </a:xfrm>
          <a:custGeom>
            <a:avLst/>
            <a:gdLst/>
            <a:ahLst/>
            <a:cxnLst/>
            <a:rect l="l" t="t" r="r" b="b"/>
            <a:pathLst>
              <a:path w="3673113" h="4495289">
                <a:moveTo>
                  <a:pt x="3673113" y="0"/>
                </a:moveTo>
                <a:lnTo>
                  <a:pt x="0" y="4495289"/>
                </a:lnTo>
              </a:path>
            </a:pathLst>
          </a:cu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ASBUILT DUCT · CV_GRND DUCT · 1.4 m"/>
          <p:cNvSpPr/>
          <p:nvPr/>
        </p:nvSpPr>
        <p:spPr>
          <a:xfrm>
            <a:off x="4175233" y="1280764"/>
            <a:ext cx="110659" cy="78456"/>
          </a:xfrm>
          <a:custGeom>
            <a:avLst/>
            <a:gdLst/>
            <a:ahLst/>
            <a:cxnLst/>
            <a:rect l="l" t="t" r="r" b="b"/>
            <a:pathLst>
              <a:path w="110659" h="78456">
                <a:moveTo>
                  <a:pt x="110659" y="0"/>
                </a:moveTo>
                <a:lnTo>
                  <a:pt x="0" y="78456"/>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ASBUILT DUCT · CV_GRND DUCT · 1.0 m"/>
          <p:cNvSpPr/>
          <p:nvPr/>
        </p:nvSpPr>
        <p:spPr>
          <a:xfrm>
            <a:off x="319771" y="6406902"/>
            <a:ext cx="46851" cy="92772"/>
          </a:xfrm>
          <a:custGeom>
            <a:avLst/>
            <a:gdLst/>
            <a:ahLst/>
            <a:cxnLst/>
            <a:rect l="l" t="t" r="r" b="b"/>
            <a:pathLst>
              <a:path w="46851" h="92772">
                <a:moveTo>
                  <a:pt x="0" y="92772"/>
                </a:moveTo>
                <a:lnTo>
                  <a:pt x="46851" y="0"/>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ASBUILT DUCT · CV_INNER DUCT 4x110mm dia · 66.6 m"/>
          <p:cNvSpPr/>
          <p:nvPr/>
        </p:nvSpPr>
        <p:spPr>
          <a:xfrm>
            <a:off x="4836208" y="2399704"/>
            <a:ext cx="5039478" cy="4389855"/>
          </a:xfrm>
          <a:custGeom>
            <a:avLst/>
            <a:gdLst/>
            <a:ahLst/>
            <a:cxnLst/>
            <a:rect l="l" t="t" r="r" b="b"/>
            <a:pathLst>
              <a:path w="5039478" h="4389855">
                <a:moveTo>
                  <a:pt x="5039478" y="4389855"/>
                </a:moveTo>
                <a:lnTo>
                  <a:pt x="3319165" y="3007241"/>
                </a:lnTo>
                <a:lnTo>
                  <a:pt x="2258067" y="2096524"/>
                </a:lnTo>
                <a:lnTo>
                  <a:pt x="1050253" y="992715"/>
                </a:ln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SBUILT DUCT · CV_OUTER DUCT 4x110mm dia · 65.3 m"/>
          <p:cNvSpPr/>
          <p:nvPr/>
        </p:nvSpPr>
        <p:spPr>
          <a:xfrm>
            <a:off x="4917197" y="2298759"/>
            <a:ext cx="4958499" cy="4293338"/>
          </a:xfrm>
          <a:custGeom>
            <a:avLst/>
            <a:gdLst/>
            <a:ahLst/>
            <a:cxnLst/>
            <a:rect l="l" t="t" r="r" b="b"/>
            <a:pathLst>
              <a:path w="4958499" h="4293338">
                <a:moveTo>
                  <a:pt x="4958499" y="4293338"/>
                </a:moveTo>
                <a:lnTo>
                  <a:pt x="2307006" y="2148262"/>
                </a:lnTo>
                <a:lnTo>
                  <a:pt x="2250400" y="2099277"/>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ASBUILT DUCT · CV_STH DUCT 6x110mm dia · 30.4 m"/>
          <p:cNvSpPr/>
          <p:nvPr/>
        </p:nvSpPr>
        <p:spPr>
          <a:xfrm>
            <a:off x="319777" y="6379430"/>
            <a:ext cx="2551362" cy="1667444"/>
          </a:xfrm>
          <a:custGeom>
            <a:avLst/>
            <a:gdLst/>
            <a:ahLst/>
            <a:cxnLst/>
            <a:rect l="l" t="t" r="r" b="b"/>
            <a:pathLst>
              <a:path w="2551362" h="1667444">
                <a:moveTo>
                  <a:pt x="2551362" y="1667444"/>
                </a:moveTo>
                <a:lnTo>
                  <a:pt x="2493429" y="1620840"/>
                </a:lnTo>
                <a:lnTo>
                  <a:pt x="913280" y="521947"/>
                </a:lnTo>
                <a:lnTo>
                  <a:pt x="709190" y="358070"/>
                </a:lnTo>
                <a:lnTo>
                  <a:pt x="0" y="0"/>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ASBUILT DUCT · CV_INNER DUCT 4x110mm dia · 17.6 m"/>
          <p:cNvSpPr/>
          <p:nvPr/>
        </p:nvSpPr>
        <p:spPr>
          <a:xfrm>
            <a:off x="3625220" y="776947"/>
            <a:ext cx="1010827" cy="1453977"/>
          </a:xfrm>
          <a:custGeom>
            <a:avLst/>
            <a:gdLst/>
            <a:ahLst/>
            <a:cxnLst/>
            <a:rect l="l" t="t" r="r" b="b"/>
            <a:pathLst>
              <a:path w="1010827" h="1453977">
                <a:moveTo>
                  <a:pt x="0" y="0"/>
                </a:moveTo>
                <a:lnTo>
                  <a:pt x="792625" y="1189825"/>
                </a:lnTo>
                <a:lnTo>
                  <a:pt x="1010827" y="1453977"/>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ASBUILT DUCT · CV_OUTER DUCT 4x110mm dia · 16.4 m"/>
          <p:cNvSpPr/>
          <p:nvPr/>
        </p:nvSpPr>
        <p:spPr>
          <a:xfrm>
            <a:off x="3783650" y="776954"/>
            <a:ext cx="929387" cy="1358009"/>
          </a:xfrm>
          <a:custGeom>
            <a:avLst/>
            <a:gdLst/>
            <a:ahLst/>
            <a:cxnLst/>
            <a:rect l="l" t="t" r="r" b="b"/>
            <a:pathLst>
              <a:path w="929387" h="1358009">
                <a:moveTo>
                  <a:pt x="0" y="0"/>
                </a:moveTo>
                <a:lnTo>
                  <a:pt x="830494" y="1234911"/>
                </a:lnTo>
                <a:lnTo>
                  <a:pt x="929387" y="1358009"/>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ASBUILT ASSET · Existing light base"/>
          <p:cNvSpPr/>
          <p:nvPr/>
        </p:nvSpPr>
        <p:spPr>
          <a:xfrm>
            <a:off x="906444" y="3434474"/>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ASBUILT ASSET · Existing light base"/>
          <p:cNvSpPr/>
          <p:nvPr/>
        </p:nvSpPr>
        <p:spPr>
          <a:xfrm>
            <a:off x="1591778" y="3739050"/>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ASBUILT ASSET · Existing light base"/>
          <p:cNvSpPr/>
          <p:nvPr/>
        </p:nvSpPr>
        <p:spPr>
          <a:xfrm>
            <a:off x="2257518" y="4095672"/>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ASBUILT ASSET · Existing light base"/>
          <p:cNvSpPr/>
          <p:nvPr/>
        </p:nvSpPr>
        <p:spPr>
          <a:xfrm>
            <a:off x="2895825" y="4499315"/>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ASBUILT ASSET · Taxiway centreline light"/>
          <p:cNvSpPr/>
          <p:nvPr/>
        </p:nvSpPr>
        <p:spPr>
          <a:xfrm>
            <a:off x="7506291" y="816444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ASBUILT ASSET · Taxiway centreline light"/>
          <p:cNvSpPr/>
          <p:nvPr/>
        </p:nvSpPr>
        <p:spPr>
          <a:xfrm>
            <a:off x="539180" y="329309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ASBUILT ASSET · Taxiway centreline light"/>
          <p:cNvSpPr/>
          <p:nvPr/>
        </p:nvSpPr>
        <p:spPr>
          <a:xfrm>
            <a:off x="1914170" y="390315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ASBUILT ASSET · Taxiway centreline light"/>
          <p:cNvSpPr/>
          <p:nvPr/>
        </p:nvSpPr>
        <p:spPr>
          <a:xfrm>
            <a:off x="2566042" y="42836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ASBUILT ASSET · Taxiway centreline light"/>
          <p:cNvSpPr/>
          <p:nvPr/>
        </p:nvSpPr>
        <p:spPr>
          <a:xfrm>
            <a:off x="1238281" y="357265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ASBUILT ASSET · Taxiway centreline light"/>
          <p:cNvSpPr/>
          <p:nvPr/>
        </p:nvSpPr>
        <p:spPr>
          <a:xfrm>
            <a:off x="3190784" y="470411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ASBUILT ASSET · Taxiway centreline light"/>
          <p:cNvSpPr/>
          <p:nvPr/>
        </p:nvSpPr>
        <p:spPr>
          <a:xfrm>
            <a:off x="510330" y="14246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ASBUILT ASSET · Taxiway centreline light"/>
          <p:cNvSpPr/>
          <p:nvPr/>
        </p:nvSpPr>
        <p:spPr>
          <a:xfrm>
            <a:off x="1296698" y="270775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ASBUILT ASSET · Taxiway centreline light"/>
          <p:cNvSpPr/>
          <p:nvPr/>
        </p:nvSpPr>
        <p:spPr>
          <a:xfrm>
            <a:off x="2805874" y="439382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ASBUILT ASSET · Taxiway centreline light"/>
          <p:cNvSpPr/>
          <p:nvPr/>
        </p:nvSpPr>
        <p:spPr>
          <a:xfrm>
            <a:off x="878947" y="207966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ASBUILT ASSET · Taxiway centreline light"/>
          <p:cNvSpPr/>
          <p:nvPr/>
        </p:nvSpPr>
        <p:spPr>
          <a:xfrm>
            <a:off x="1758058" y="3302699"/>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ASBUILT ASSET · Taxiway centreline light"/>
          <p:cNvSpPr/>
          <p:nvPr/>
        </p:nvSpPr>
        <p:spPr>
          <a:xfrm>
            <a:off x="3395045" y="486709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ASBUILT ASSET · Taxiway centreline light"/>
          <p:cNvSpPr/>
          <p:nvPr/>
        </p:nvSpPr>
        <p:spPr>
          <a:xfrm>
            <a:off x="2263327" y="3860869"/>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ASBUILT ASSET · Runway guard light / RRM"/>
          <p:cNvSpPr/>
          <p:nvPr/>
        </p:nvSpPr>
        <p:spPr>
          <a:xfrm>
            <a:off x="8201575" y="714436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ASBUILT ASSET · Taxiway centreline light"/>
          <p:cNvSpPr/>
          <p:nvPr/>
        </p:nvSpPr>
        <p:spPr>
          <a:xfrm>
            <a:off x="9267967" y="958091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ASBUILT ASSET · Taxiway centreline light"/>
          <p:cNvSpPr/>
          <p:nvPr/>
        </p:nvSpPr>
        <p:spPr>
          <a:xfrm>
            <a:off x="6330551" y="72218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ASBUILT ASSET · Taxiway centreline light"/>
          <p:cNvSpPr/>
          <p:nvPr/>
        </p:nvSpPr>
        <p:spPr>
          <a:xfrm>
            <a:off x="8092468" y="863657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ASBUILT ASSET · Taxiway centreline light"/>
          <p:cNvSpPr/>
          <p:nvPr/>
        </p:nvSpPr>
        <p:spPr>
          <a:xfrm>
            <a:off x="6919019" y="769456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ASBUILT ASSET · Runway guard light / RRM"/>
          <p:cNvSpPr/>
          <p:nvPr/>
        </p:nvSpPr>
        <p:spPr>
          <a:xfrm>
            <a:off x="4339061" y="720064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ASBUILT ASSET · Runway guard light / RRM"/>
          <p:cNvSpPr/>
          <p:nvPr/>
        </p:nvSpPr>
        <p:spPr>
          <a:xfrm>
            <a:off x="2642573" y="601896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ASBUILT ASSET · Runway guard light / RRM"/>
          <p:cNvSpPr/>
          <p:nvPr/>
        </p:nvSpPr>
        <p:spPr>
          <a:xfrm>
            <a:off x="6684343" y="582614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ASBUILT ASSET · Runway guard light / RRM"/>
          <p:cNvSpPr/>
          <p:nvPr/>
        </p:nvSpPr>
        <p:spPr>
          <a:xfrm>
            <a:off x="3343246" y="2781954"/>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ASBUILT ASSET · Runway guard light / RRM"/>
          <p:cNvSpPr/>
          <p:nvPr/>
        </p:nvSpPr>
        <p:spPr>
          <a:xfrm>
            <a:off x="2385962" y="161929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ASBUILT ASSET · Runway guard light / RRM"/>
          <p:cNvSpPr/>
          <p:nvPr/>
        </p:nvSpPr>
        <p:spPr>
          <a:xfrm>
            <a:off x="1333702" y="5297787"/>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ASBUILT ASSET · Runway guard light / RRM"/>
          <p:cNvSpPr/>
          <p:nvPr/>
        </p:nvSpPr>
        <p:spPr>
          <a:xfrm>
            <a:off x="4423619" y="383399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ASBUILT ASSET · Runway guard light / RRM"/>
          <p:cNvSpPr/>
          <p:nvPr/>
        </p:nvSpPr>
        <p:spPr>
          <a:xfrm>
            <a:off x="5555639" y="4831775"/>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ASBUILT ASSET · Taxiway centreline light"/>
          <p:cNvSpPr/>
          <p:nvPr/>
        </p:nvSpPr>
        <p:spPr>
          <a:xfrm>
            <a:off x="1039979" y="297703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ASBUILT ASSET · Taxiway centreline light"/>
          <p:cNvSpPr/>
          <p:nvPr/>
        </p:nvSpPr>
        <p:spPr>
          <a:xfrm>
            <a:off x="2217416" y="392518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ASBUILT ASSET · Sign foundation"/>
          <p:cNvSpPr/>
          <p:nvPr/>
        </p:nvSpPr>
        <p:spPr>
          <a:xfrm>
            <a:off x="1612261" y="8324037"/>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ASBUILT ASSET · Sign foundation"/>
          <p:cNvSpPr/>
          <p:nvPr/>
        </p:nvSpPr>
        <p:spPr>
          <a:xfrm>
            <a:off x="5732756" y="2315736"/>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ASBUILT ASSET · Handhole"/>
          <p:cNvSpPr/>
          <p:nvPr/>
        </p:nvSpPr>
        <p:spPr>
          <a:xfrm>
            <a:off x="9202501" y="6222539"/>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ASBUILT ASSET · Handhole"/>
          <p:cNvSpPr/>
          <p:nvPr/>
        </p:nvSpPr>
        <p:spPr>
          <a:xfrm>
            <a:off x="5822452" y="332841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ASBUILT ASSET · Handhole"/>
          <p:cNvSpPr/>
          <p:nvPr/>
        </p:nvSpPr>
        <p:spPr>
          <a:xfrm>
            <a:off x="6032379" y="3503149"/>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ASBUILT ASSET · Handhole"/>
          <p:cNvSpPr/>
          <p:nvPr/>
        </p:nvSpPr>
        <p:spPr>
          <a:xfrm>
            <a:off x="4353837" y="1902763"/>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ASBUILT ASSET · Handhole"/>
          <p:cNvSpPr/>
          <p:nvPr/>
        </p:nvSpPr>
        <p:spPr>
          <a:xfrm>
            <a:off x="8091365" y="5342937"/>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ASBUILT ASSET · Handhole"/>
          <p:cNvSpPr/>
          <p:nvPr/>
        </p:nvSpPr>
        <p:spPr>
          <a:xfrm>
            <a:off x="7129018" y="4358003"/>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ASBUILT ASSET · Earthing point"/>
          <p:cNvSpPr/>
          <p:nvPr/>
        </p:nvSpPr>
        <p:spPr>
          <a:xfrm>
            <a:off x="6812996" y="536789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ASBUILT ASSET · Earthing point"/>
          <p:cNvSpPr/>
          <p:nvPr/>
        </p:nvSpPr>
        <p:spPr>
          <a:xfrm>
            <a:off x="5701859" y="4488294"/>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ASBUILT ASSET · Earthing point"/>
          <p:cNvSpPr/>
          <p:nvPr/>
        </p:nvSpPr>
        <p:spPr>
          <a:xfrm>
            <a:off x="4741472" y="3504927"/>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ASBUILT ASSET · Earthing point"/>
          <p:cNvSpPr/>
          <p:nvPr/>
        </p:nvSpPr>
        <p:spPr>
          <a:xfrm>
            <a:off x="3642874" y="264850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ASBUILT ASSET · Earthing point"/>
          <p:cNvSpPr/>
          <p:nvPr/>
        </p:nvSpPr>
        <p:spPr>
          <a:xfrm>
            <a:off x="3432947" y="247376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ASBUILT ASSET · Earthing point"/>
          <p:cNvSpPr/>
          <p:nvPr/>
        </p:nvSpPr>
        <p:spPr>
          <a:xfrm>
            <a:off x="2042752" y="85687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ASBUILT ASSET · Handhole"/>
          <p:cNvSpPr/>
          <p:nvPr/>
        </p:nvSpPr>
        <p:spPr>
          <a:xfrm>
            <a:off x="2807170" y="798281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ASBUILT ASSET · Earthing point"/>
          <p:cNvSpPr/>
          <p:nvPr/>
        </p:nvSpPr>
        <p:spPr>
          <a:xfrm>
            <a:off x="417625" y="712821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ASBUILT ASSET · Existing transformer manhole"/>
          <p:cNvSpPr/>
          <p:nvPr/>
        </p:nvSpPr>
        <p:spPr>
          <a:xfrm>
            <a:off x="1695903" y="6411473"/>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ASBUILT ASSET · Existing transformer manhole"/>
          <p:cNvSpPr/>
          <p:nvPr/>
        </p:nvSpPr>
        <p:spPr>
          <a:xfrm>
            <a:off x="4532435" y="2880346"/>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ASBUILT ASSET · Manhole"/>
          <p:cNvSpPr/>
          <p:nvPr/>
        </p:nvSpPr>
        <p:spPr>
          <a:xfrm>
            <a:off x="4690718" y="2176778"/>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ASBUILT ASSET · Manhole"/>
          <p:cNvSpPr/>
          <p:nvPr/>
        </p:nvSpPr>
        <p:spPr>
          <a:xfrm>
            <a:off x="1044138" y="6732565"/>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ASBUILT ASSET · Existing transformer handhole"/>
          <p:cNvSpPr/>
          <p:nvPr/>
        </p:nvSpPr>
        <p:spPr>
          <a:xfrm>
            <a:off x="5524740" y="3961015"/>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ASBUILT ASSET · Existing transformer handhole"/>
          <p:cNvSpPr/>
          <p:nvPr/>
        </p:nvSpPr>
        <p:spPr>
          <a:xfrm>
            <a:off x="8767657" y="667614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95.1 m ACROSS  ·  NOT TO SCALE WHEN EDITED</a:t>
            </a:r>
          </a:p>
        </p:txBody>
      </p:sp>
      <p:sp>
        <p:nvSpPr>
          <p:cNvPr id="5" name="Shape 3"/>
          <p:cNvSpPr/>
          <p:nvPr/>
        </p:nvSpPr>
        <p:spPr>
          <a:xfrm>
            <a:off x="7415709" y="9583565"/>
            <a:ext cx="283772" cy="227954"/>
          </a:xfrm>
          <a:prstGeom prst="line">
            <a:avLst/>
          </a:prstGeom>
          <a:noFill/>
          <a:ln w="12700">
            <a:solidFill>
              <a:srgbClr val="7A8288"/>
            </a:solidFill>
            <a:prstDash val="solid"/>
          </a:ln>
        </p:spPr>
        <p:txBody>
          <a:bodyPr/>
          <a:lstStyle/>
          <a:p>
            <a:endParaRPr lang="en-US"/>
          </a:p>
        </p:txBody>
      </p:sp>
      <p:sp>
        <p:nvSpPr>
          <p:cNvPr id="6" name="Shape 4"/>
          <p:cNvSpPr/>
          <p:nvPr/>
        </p:nvSpPr>
        <p:spPr>
          <a:xfrm>
            <a:off x="7414605" y="9582661"/>
            <a:ext cx="1104" cy="914"/>
          </a:xfrm>
          <a:prstGeom prst="line">
            <a:avLst/>
          </a:prstGeom>
          <a:noFill/>
          <a:ln w="12700">
            <a:solidFill>
              <a:srgbClr val="7A8288"/>
            </a:solidFill>
            <a:prstDash val="solid"/>
          </a:ln>
        </p:spPr>
        <p:txBody>
          <a:bodyPr/>
          <a:lstStyle/>
          <a:p>
            <a:endParaRPr lang="en-US"/>
          </a:p>
        </p:txBody>
      </p:sp>
      <p:sp>
        <p:nvSpPr>
          <p:cNvPr id="7" name="Shape 5"/>
          <p:cNvSpPr/>
          <p:nvPr/>
        </p:nvSpPr>
        <p:spPr>
          <a:xfrm>
            <a:off x="6830317" y="9112099"/>
            <a:ext cx="584288" cy="470562"/>
          </a:xfrm>
          <a:prstGeom prst="line">
            <a:avLst/>
          </a:prstGeom>
          <a:noFill/>
          <a:ln w="12700">
            <a:solidFill>
              <a:srgbClr val="7A8288"/>
            </a:solidFill>
            <a:prstDash val="solid"/>
          </a:ln>
        </p:spPr>
        <p:txBody>
          <a:bodyPr/>
          <a:lstStyle/>
          <a:p>
            <a:endParaRPr lang="en-US"/>
          </a:p>
        </p:txBody>
      </p:sp>
      <p:sp>
        <p:nvSpPr>
          <p:cNvPr id="8" name="Shape 6"/>
          <p:cNvSpPr/>
          <p:nvPr/>
        </p:nvSpPr>
        <p:spPr>
          <a:xfrm>
            <a:off x="6244925" y="8643746"/>
            <a:ext cx="585392" cy="468354"/>
          </a:xfrm>
          <a:prstGeom prst="line">
            <a:avLst/>
          </a:prstGeom>
          <a:noFill/>
          <a:ln w="12700">
            <a:solidFill>
              <a:srgbClr val="7A8288"/>
            </a:solidFill>
            <a:prstDash val="solid"/>
          </a:ln>
        </p:spPr>
        <p:txBody>
          <a:bodyPr/>
          <a:lstStyle/>
          <a:p>
            <a:endParaRPr lang="en-US"/>
          </a:p>
        </p:txBody>
      </p:sp>
      <p:sp>
        <p:nvSpPr>
          <p:cNvPr id="9" name="Shape 7"/>
          <p:cNvSpPr/>
          <p:nvPr/>
        </p:nvSpPr>
        <p:spPr>
          <a:xfrm>
            <a:off x="6243018" y="8642240"/>
            <a:ext cx="1907" cy="1506"/>
          </a:xfrm>
          <a:prstGeom prst="line">
            <a:avLst/>
          </a:prstGeom>
          <a:noFill/>
          <a:ln w="12700">
            <a:solidFill>
              <a:srgbClr val="7A8288"/>
            </a:solidFill>
            <a:prstDash val="solid"/>
          </a:ln>
        </p:spPr>
        <p:txBody>
          <a:bodyPr/>
          <a:lstStyle/>
          <a:p>
            <a:endParaRPr lang="en-US"/>
          </a:p>
        </p:txBody>
      </p:sp>
      <p:sp>
        <p:nvSpPr>
          <p:cNvPr id="10" name="Shape 8"/>
          <p:cNvSpPr/>
          <p:nvPr/>
        </p:nvSpPr>
        <p:spPr>
          <a:xfrm>
            <a:off x="5656723" y="8171377"/>
            <a:ext cx="586295" cy="470863"/>
          </a:xfrm>
          <a:prstGeom prst="line">
            <a:avLst/>
          </a:prstGeom>
          <a:noFill/>
          <a:ln w="12700">
            <a:solidFill>
              <a:srgbClr val="7A8288"/>
            </a:solidFill>
            <a:prstDash val="solid"/>
          </a:ln>
        </p:spPr>
        <p:txBody>
          <a:bodyPr/>
          <a:lstStyle/>
          <a:p>
            <a:endParaRPr lang="en-US"/>
          </a:p>
        </p:txBody>
      </p:sp>
      <p:sp>
        <p:nvSpPr>
          <p:cNvPr id="11" name="Shape 9"/>
          <p:cNvSpPr/>
          <p:nvPr/>
        </p:nvSpPr>
        <p:spPr>
          <a:xfrm>
            <a:off x="5069022" y="7703023"/>
            <a:ext cx="587701" cy="468354"/>
          </a:xfrm>
          <a:prstGeom prst="line">
            <a:avLst/>
          </a:prstGeom>
          <a:noFill/>
          <a:ln w="12700">
            <a:solidFill>
              <a:srgbClr val="7A8288"/>
            </a:solidFill>
            <a:prstDash val="solid"/>
          </a:ln>
        </p:spPr>
        <p:txBody>
          <a:bodyPr/>
          <a:lstStyle/>
          <a:p>
            <a:endParaRPr lang="en-US"/>
          </a:p>
        </p:txBody>
      </p:sp>
      <p:sp>
        <p:nvSpPr>
          <p:cNvPr id="12" name="Shape 10"/>
          <p:cNvSpPr/>
          <p:nvPr/>
        </p:nvSpPr>
        <p:spPr>
          <a:xfrm>
            <a:off x="5062799" y="7698004"/>
            <a:ext cx="6223" cy="5019"/>
          </a:xfrm>
          <a:prstGeom prst="line">
            <a:avLst/>
          </a:prstGeom>
          <a:noFill/>
          <a:ln w="12700">
            <a:solidFill>
              <a:srgbClr val="7A8288"/>
            </a:solidFill>
            <a:prstDash val="solid"/>
          </a:ln>
        </p:spPr>
        <p:txBody>
          <a:bodyPr/>
          <a:lstStyle/>
          <a:p>
            <a:endParaRPr lang="en-US"/>
          </a:p>
        </p:txBody>
      </p:sp>
      <p:sp>
        <p:nvSpPr>
          <p:cNvPr id="13" name="Shape 11"/>
          <p:cNvSpPr/>
          <p:nvPr/>
        </p:nvSpPr>
        <p:spPr>
          <a:xfrm>
            <a:off x="4479013" y="7226138"/>
            <a:ext cx="583786" cy="471867"/>
          </a:xfrm>
          <a:prstGeom prst="line">
            <a:avLst/>
          </a:prstGeom>
          <a:noFill/>
          <a:ln w="12700">
            <a:solidFill>
              <a:srgbClr val="7A8288"/>
            </a:solidFill>
            <a:prstDash val="solid"/>
          </a:ln>
        </p:spPr>
        <p:txBody>
          <a:bodyPr/>
          <a:lstStyle/>
          <a:p>
            <a:endParaRPr lang="en-US"/>
          </a:p>
        </p:txBody>
      </p:sp>
      <p:sp>
        <p:nvSpPr>
          <p:cNvPr id="14" name="Shape 12"/>
          <p:cNvSpPr/>
          <p:nvPr/>
        </p:nvSpPr>
        <p:spPr>
          <a:xfrm>
            <a:off x="3893521" y="6754572"/>
            <a:ext cx="585492" cy="471566"/>
          </a:xfrm>
          <a:prstGeom prst="line">
            <a:avLst/>
          </a:prstGeom>
          <a:noFill/>
          <a:ln w="12700">
            <a:solidFill>
              <a:srgbClr val="7A8288"/>
            </a:solidFill>
            <a:prstDash val="solid"/>
          </a:ln>
        </p:spPr>
        <p:txBody>
          <a:bodyPr/>
          <a:lstStyle/>
          <a:p>
            <a:endParaRPr lang="en-US"/>
          </a:p>
        </p:txBody>
      </p:sp>
      <p:sp>
        <p:nvSpPr>
          <p:cNvPr id="15" name="Shape 13"/>
          <p:cNvSpPr/>
          <p:nvPr/>
        </p:nvSpPr>
        <p:spPr>
          <a:xfrm>
            <a:off x="3307928" y="6287523"/>
            <a:ext cx="585593" cy="467049"/>
          </a:xfrm>
          <a:prstGeom prst="line">
            <a:avLst/>
          </a:prstGeom>
          <a:noFill/>
          <a:ln w="12700">
            <a:solidFill>
              <a:srgbClr val="7A8288"/>
            </a:solidFill>
            <a:prstDash val="solid"/>
          </a:ln>
        </p:spPr>
        <p:txBody>
          <a:bodyPr/>
          <a:lstStyle/>
          <a:p>
            <a:endParaRPr lang="en-US"/>
          </a:p>
        </p:txBody>
      </p:sp>
      <p:sp>
        <p:nvSpPr>
          <p:cNvPr id="16" name="Shape 14"/>
          <p:cNvSpPr/>
          <p:nvPr/>
        </p:nvSpPr>
        <p:spPr>
          <a:xfrm>
            <a:off x="3305419" y="6285515"/>
            <a:ext cx="2509" cy="2008"/>
          </a:xfrm>
          <a:prstGeom prst="line">
            <a:avLst/>
          </a:prstGeom>
          <a:noFill/>
          <a:ln w="12700">
            <a:solidFill>
              <a:srgbClr val="7A8288"/>
            </a:solidFill>
            <a:prstDash val="solid"/>
          </a:ln>
        </p:spPr>
        <p:txBody>
          <a:bodyPr/>
          <a:lstStyle/>
          <a:p>
            <a:endParaRPr lang="en-US"/>
          </a:p>
        </p:txBody>
      </p:sp>
      <p:sp>
        <p:nvSpPr>
          <p:cNvPr id="17" name="Shape 15"/>
          <p:cNvSpPr/>
          <p:nvPr/>
        </p:nvSpPr>
        <p:spPr>
          <a:xfrm>
            <a:off x="2723339" y="5818366"/>
            <a:ext cx="582080" cy="467149"/>
          </a:xfrm>
          <a:prstGeom prst="line">
            <a:avLst/>
          </a:prstGeom>
          <a:noFill/>
          <a:ln w="12700">
            <a:solidFill>
              <a:srgbClr val="7A8288"/>
            </a:solidFill>
            <a:prstDash val="solid"/>
          </a:ln>
        </p:spPr>
        <p:txBody>
          <a:bodyPr/>
          <a:lstStyle/>
          <a:p>
            <a:endParaRPr lang="en-US"/>
          </a:p>
        </p:txBody>
      </p:sp>
      <p:sp>
        <p:nvSpPr>
          <p:cNvPr id="18" name="Shape 16"/>
          <p:cNvSpPr/>
          <p:nvPr/>
        </p:nvSpPr>
        <p:spPr>
          <a:xfrm>
            <a:off x="2520479" y="5656661"/>
            <a:ext cx="202860" cy="161705"/>
          </a:xfrm>
          <a:prstGeom prst="line">
            <a:avLst/>
          </a:prstGeom>
          <a:noFill/>
          <a:ln w="12700">
            <a:solidFill>
              <a:srgbClr val="7A8288"/>
            </a:solidFill>
            <a:prstDash val="solid"/>
          </a:ln>
        </p:spPr>
        <p:txBody>
          <a:bodyPr/>
          <a:lstStyle/>
          <a:p>
            <a:endParaRPr lang="en-US"/>
          </a:p>
        </p:txBody>
      </p:sp>
      <p:sp>
        <p:nvSpPr>
          <p:cNvPr id="19" name="Shape 17"/>
          <p:cNvSpPr/>
          <p:nvPr/>
        </p:nvSpPr>
        <p:spPr>
          <a:xfrm>
            <a:off x="2515762" y="5652846"/>
            <a:ext cx="4718" cy="3814"/>
          </a:xfrm>
          <a:prstGeom prst="line">
            <a:avLst/>
          </a:prstGeom>
          <a:noFill/>
          <a:ln w="12700">
            <a:solidFill>
              <a:srgbClr val="7A8288"/>
            </a:solidFill>
            <a:prstDash val="solid"/>
          </a:ln>
        </p:spPr>
        <p:txBody>
          <a:bodyPr/>
          <a:lstStyle/>
          <a:p>
            <a:endParaRPr lang="en-US"/>
          </a:p>
        </p:txBody>
      </p:sp>
      <p:sp>
        <p:nvSpPr>
          <p:cNvPr id="20" name="Shape 18"/>
          <p:cNvSpPr/>
          <p:nvPr/>
        </p:nvSpPr>
        <p:spPr>
          <a:xfrm>
            <a:off x="2243141" y="5433124"/>
            <a:ext cx="272621" cy="219723"/>
          </a:xfrm>
          <a:prstGeom prst="line">
            <a:avLst/>
          </a:prstGeom>
          <a:noFill/>
          <a:ln w="12700">
            <a:solidFill>
              <a:srgbClr val="7A8288"/>
            </a:solidFill>
            <a:prstDash val="solid"/>
          </a:ln>
        </p:spPr>
        <p:txBody>
          <a:bodyPr/>
          <a:lstStyle/>
          <a:p>
            <a:endParaRPr lang="en-US"/>
          </a:p>
        </p:txBody>
      </p:sp>
      <p:sp>
        <p:nvSpPr>
          <p:cNvPr id="21" name="Shape 19"/>
          <p:cNvSpPr/>
          <p:nvPr/>
        </p:nvSpPr>
        <p:spPr>
          <a:xfrm>
            <a:off x="2134233" y="5383137"/>
            <a:ext cx="108908" cy="49987"/>
          </a:xfrm>
          <a:prstGeom prst="line">
            <a:avLst/>
          </a:prstGeom>
          <a:noFill/>
          <a:ln w="12700">
            <a:solidFill>
              <a:srgbClr val="7A8288"/>
            </a:solidFill>
            <a:prstDash val="solid"/>
          </a:ln>
        </p:spPr>
        <p:txBody>
          <a:bodyPr/>
          <a:lstStyle/>
          <a:p>
            <a:endParaRPr lang="en-US"/>
          </a:p>
        </p:txBody>
      </p:sp>
      <p:sp>
        <p:nvSpPr>
          <p:cNvPr id="22" name="Shape 20"/>
          <p:cNvSpPr/>
          <p:nvPr/>
        </p:nvSpPr>
        <p:spPr>
          <a:xfrm>
            <a:off x="2028136" y="5327629"/>
            <a:ext cx="106097" cy="55508"/>
          </a:xfrm>
          <a:prstGeom prst="line">
            <a:avLst/>
          </a:prstGeom>
          <a:noFill/>
          <a:ln w="12700">
            <a:solidFill>
              <a:srgbClr val="7A8288"/>
            </a:solidFill>
            <a:prstDash val="solid"/>
          </a:ln>
        </p:spPr>
        <p:txBody>
          <a:bodyPr/>
          <a:lstStyle/>
          <a:p>
            <a:endParaRPr lang="en-US"/>
          </a:p>
        </p:txBody>
      </p:sp>
      <p:sp>
        <p:nvSpPr>
          <p:cNvPr id="23" name="Shape 21"/>
          <p:cNvSpPr/>
          <p:nvPr/>
        </p:nvSpPr>
        <p:spPr>
          <a:xfrm>
            <a:off x="1928362" y="5261280"/>
            <a:ext cx="99774" cy="66348"/>
          </a:xfrm>
          <a:prstGeom prst="line">
            <a:avLst/>
          </a:prstGeom>
          <a:noFill/>
          <a:ln w="12700">
            <a:solidFill>
              <a:srgbClr val="7A8288"/>
            </a:solidFill>
            <a:prstDash val="solid"/>
          </a:ln>
        </p:spPr>
        <p:txBody>
          <a:bodyPr/>
          <a:lstStyle/>
          <a:p>
            <a:endParaRPr lang="en-US"/>
          </a:p>
        </p:txBody>
      </p:sp>
      <p:sp>
        <p:nvSpPr>
          <p:cNvPr id="24" name="Shape 22"/>
          <p:cNvSpPr/>
          <p:nvPr/>
        </p:nvSpPr>
        <p:spPr>
          <a:xfrm>
            <a:off x="1836016" y="5185095"/>
            <a:ext cx="92346" cy="76185"/>
          </a:xfrm>
          <a:prstGeom prst="line">
            <a:avLst/>
          </a:prstGeom>
          <a:noFill/>
          <a:ln w="12700">
            <a:solidFill>
              <a:srgbClr val="7A8288"/>
            </a:solidFill>
            <a:prstDash val="solid"/>
          </a:ln>
        </p:spPr>
        <p:txBody>
          <a:bodyPr/>
          <a:lstStyle/>
          <a:p>
            <a:endParaRPr lang="en-US"/>
          </a:p>
        </p:txBody>
      </p:sp>
      <p:sp>
        <p:nvSpPr>
          <p:cNvPr id="25" name="Shape 23"/>
          <p:cNvSpPr/>
          <p:nvPr/>
        </p:nvSpPr>
        <p:spPr>
          <a:xfrm>
            <a:off x="1752002" y="5099675"/>
            <a:ext cx="84015" cy="85420"/>
          </a:xfrm>
          <a:prstGeom prst="line">
            <a:avLst/>
          </a:prstGeom>
          <a:noFill/>
          <a:ln w="12700">
            <a:solidFill>
              <a:srgbClr val="7A8288"/>
            </a:solidFill>
            <a:prstDash val="solid"/>
          </a:ln>
        </p:spPr>
        <p:txBody>
          <a:bodyPr/>
          <a:lstStyle/>
          <a:p>
            <a:endParaRPr lang="en-US"/>
          </a:p>
        </p:txBody>
      </p:sp>
      <p:sp>
        <p:nvSpPr>
          <p:cNvPr id="26" name="Shape 24"/>
          <p:cNvSpPr/>
          <p:nvPr/>
        </p:nvSpPr>
        <p:spPr>
          <a:xfrm>
            <a:off x="1740358" y="5085121"/>
            <a:ext cx="11644" cy="14554"/>
          </a:xfrm>
          <a:prstGeom prst="line">
            <a:avLst/>
          </a:prstGeom>
          <a:noFill/>
          <a:ln w="12700">
            <a:solidFill>
              <a:srgbClr val="7A8288"/>
            </a:solidFill>
            <a:prstDash val="solid"/>
          </a:ln>
        </p:spPr>
        <p:txBody>
          <a:bodyPr/>
          <a:lstStyle/>
          <a:p>
            <a:endParaRPr lang="en-US"/>
          </a:p>
        </p:txBody>
      </p:sp>
      <p:sp>
        <p:nvSpPr>
          <p:cNvPr id="27" name="Shape 25"/>
          <p:cNvSpPr/>
          <p:nvPr/>
        </p:nvSpPr>
        <p:spPr>
          <a:xfrm>
            <a:off x="1665076" y="5068659"/>
            <a:ext cx="75282" cy="16462"/>
          </a:xfrm>
          <a:prstGeom prst="line">
            <a:avLst/>
          </a:prstGeom>
          <a:noFill/>
          <a:ln w="12700">
            <a:solidFill>
              <a:srgbClr val="7A8288"/>
            </a:solidFill>
            <a:prstDash val="solid"/>
          </a:ln>
        </p:spPr>
        <p:txBody>
          <a:bodyPr/>
          <a:lstStyle/>
          <a:p>
            <a:endParaRPr lang="en-US"/>
          </a:p>
        </p:txBody>
      </p:sp>
      <p:sp>
        <p:nvSpPr>
          <p:cNvPr id="28" name="Shape 26"/>
          <p:cNvSpPr/>
          <p:nvPr/>
        </p:nvSpPr>
        <p:spPr>
          <a:xfrm>
            <a:off x="1559782" y="5034933"/>
            <a:ext cx="105294" cy="33726"/>
          </a:xfrm>
          <a:prstGeom prst="line">
            <a:avLst/>
          </a:prstGeom>
          <a:noFill/>
          <a:ln w="12700">
            <a:solidFill>
              <a:srgbClr val="7A8288"/>
            </a:solidFill>
            <a:prstDash val="solid"/>
          </a:ln>
        </p:spPr>
        <p:txBody>
          <a:bodyPr/>
          <a:lstStyle/>
          <a:p>
            <a:endParaRPr lang="en-US"/>
          </a:p>
        </p:txBody>
      </p:sp>
      <p:sp>
        <p:nvSpPr>
          <p:cNvPr id="29" name="Shape 27"/>
          <p:cNvSpPr/>
          <p:nvPr/>
        </p:nvSpPr>
        <p:spPr>
          <a:xfrm>
            <a:off x="1458202" y="4991269"/>
            <a:ext cx="101580" cy="43663"/>
          </a:xfrm>
          <a:prstGeom prst="line">
            <a:avLst/>
          </a:prstGeom>
          <a:noFill/>
          <a:ln w="12700">
            <a:solidFill>
              <a:srgbClr val="7A8288"/>
            </a:solidFill>
            <a:prstDash val="solid"/>
          </a:ln>
        </p:spPr>
        <p:txBody>
          <a:bodyPr/>
          <a:lstStyle/>
          <a:p>
            <a:endParaRPr lang="en-US"/>
          </a:p>
        </p:txBody>
      </p:sp>
      <p:sp>
        <p:nvSpPr>
          <p:cNvPr id="30" name="Shape 28"/>
          <p:cNvSpPr/>
          <p:nvPr/>
        </p:nvSpPr>
        <p:spPr>
          <a:xfrm>
            <a:off x="1361339" y="4938070"/>
            <a:ext cx="96863" cy="53199"/>
          </a:xfrm>
          <a:prstGeom prst="line">
            <a:avLst/>
          </a:prstGeom>
          <a:noFill/>
          <a:ln w="12700">
            <a:solidFill>
              <a:srgbClr val="7A8288"/>
            </a:solidFill>
            <a:prstDash val="solid"/>
          </a:ln>
        </p:spPr>
        <p:txBody>
          <a:bodyPr/>
          <a:lstStyle/>
          <a:p>
            <a:endParaRPr lang="en-US"/>
          </a:p>
        </p:txBody>
      </p:sp>
      <p:sp>
        <p:nvSpPr>
          <p:cNvPr id="31" name="Shape 29"/>
          <p:cNvSpPr/>
          <p:nvPr/>
        </p:nvSpPr>
        <p:spPr>
          <a:xfrm>
            <a:off x="1269897" y="4875837"/>
            <a:ext cx="91442" cy="62233"/>
          </a:xfrm>
          <a:prstGeom prst="line">
            <a:avLst/>
          </a:prstGeom>
          <a:noFill/>
          <a:ln w="12700">
            <a:solidFill>
              <a:srgbClr val="7A8288"/>
            </a:solidFill>
            <a:prstDash val="solid"/>
          </a:ln>
        </p:spPr>
        <p:txBody>
          <a:bodyPr/>
          <a:lstStyle/>
          <a:p>
            <a:endParaRPr lang="en-US"/>
          </a:p>
        </p:txBody>
      </p:sp>
      <p:sp>
        <p:nvSpPr>
          <p:cNvPr id="32" name="Shape 30"/>
          <p:cNvSpPr/>
          <p:nvPr/>
        </p:nvSpPr>
        <p:spPr>
          <a:xfrm>
            <a:off x="1184878" y="4805172"/>
            <a:ext cx="85018" cy="70665"/>
          </a:xfrm>
          <a:prstGeom prst="line">
            <a:avLst/>
          </a:prstGeom>
          <a:noFill/>
          <a:ln w="12700">
            <a:solidFill>
              <a:srgbClr val="7A8288"/>
            </a:solidFill>
            <a:prstDash val="solid"/>
          </a:ln>
        </p:spPr>
        <p:txBody>
          <a:bodyPr/>
          <a:lstStyle/>
          <a:p>
            <a:endParaRPr lang="en-US"/>
          </a:p>
        </p:txBody>
      </p:sp>
      <p:sp>
        <p:nvSpPr>
          <p:cNvPr id="33" name="Shape 31"/>
          <p:cNvSpPr/>
          <p:nvPr/>
        </p:nvSpPr>
        <p:spPr>
          <a:xfrm>
            <a:off x="1148342" y="4768334"/>
            <a:ext cx="36537" cy="36838"/>
          </a:xfrm>
          <a:prstGeom prst="line">
            <a:avLst/>
          </a:prstGeom>
          <a:noFill/>
          <a:ln w="12700">
            <a:solidFill>
              <a:srgbClr val="7A8288"/>
            </a:solidFill>
            <a:prstDash val="solid"/>
          </a:ln>
        </p:spPr>
        <p:txBody>
          <a:bodyPr/>
          <a:lstStyle/>
          <a:p>
            <a:endParaRPr lang="en-US"/>
          </a:p>
        </p:txBody>
      </p:sp>
      <p:sp>
        <p:nvSpPr>
          <p:cNvPr id="34" name="Shape 32"/>
          <p:cNvSpPr/>
          <p:nvPr/>
        </p:nvSpPr>
        <p:spPr>
          <a:xfrm>
            <a:off x="1067639" y="4756490"/>
            <a:ext cx="80702" cy="11844"/>
          </a:xfrm>
          <a:prstGeom prst="line">
            <a:avLst/>
          </a:prstGeom>
          <a:noFill/>
          <a:ln w="12700">
            <a:solidFill>
              <a:srgbClr val="7A8288"/>
            </a:solidFill>
            <a:prstDash val="solid"/>
          </a:ln>
        </p:spPr>
        <p:txBody>
          <a:bodyPr/>
          <a:lstStyle/>
          <a:p>
            <a:endParaRPr lang="en-US"/>
          </a:p>
        </p:txBody>
      </p:sp>
      <p:sp>
        <p:nvSpPr>
          <p:cNvPr id="35" name="Shape 33"/>
          <p:cNvSpPr/>
          <p:nvPr/>
        </p:nvSpPr>
        <p:spPr>
          <a:xfrm>
            <a:off x="960036" y="4730091"/>
            <a:ext cx="107603" cy="26399"/>
          </a:xfrm>
          <a:prstGeom prst="line">
            <a:avLst/>
          </a:prstGeom>
          <a:noFill/>
          <a:ln w="12700">
            <a:solidFill>
              <a:srgbClr val="7A8288"/>
            </a:solidFill>
            <a:prstDash val="solid"/>
          </a:ln>
        </p:spPr>
        <p:txBody>
          <a:bodyPr/>
          <a:lstStyle/>
          <a:p>
            <a:endParaRPr lang="en-US"/>
          </a:p>
        </p:txBody>
      </p:sp>
      <p:sp>
        <p:nvSpPr>
          <p:cNvPr id="36" name="Shape 34"/>
          <p:cNvSpPr/>
          <p:nvPr/>
        </p:nvSpPr>
        <p:spPr>
          <a:xfrm>
            <a:off x="855445" y="4693454"/>
            <a:ext cx="104592" cy="36637"/>
          </a:xfrm>
          <a:prstGeom prst="line">
            <a:avLst/>
          </a:prstGeom>
          <a:noFill/>
          <a:ln w="12700">
            <a:solidFill>
              <a:srgbClr val="7A8288"/>
            </a:solidFill>
            <a:prstDash val="solid"/>
          </a:ln>
        </p:spPr>
        <p:txBody>
          <a:bodyPr/>
          <a:lstStyle/>
          <a:p>
            <a:endParaRPr lang="en-US"/>
          </a:p>
        </p:txBody>
      </p:sp>
      <p:sp>
        <p:nvSpPr>
          <p:cNvPr id="37" name="Shape 35"/>
          <p:cNvSpPr/>
          <p:nvPr/>
        </p:nvSpPr>
        <p:spPr>
          <a:xfrm>
            <a:off x="754868" y="4646980"/>
            <a:ext cx="100577" cy="46474"/>
          </a:xfrm>
          <a:prstGeom prst="line">
            <a:avLst/>
          </a:prstGeom>
          <a:noFill/>
          <a:ln w="12700">
            <a:solidFill>
              <a:srgbClr val="7A8288"/>
            </a:solidFill>
            <a:prstDash val="solid"/>
          </a:ln>
        </p:spPr>
        <p:txBody>
          <a:bodyPr/>
          <a:lstStyle/>
          <a:p>
            <a:endParaRPr lang="en-US"/>
          </a:p>
        </p:txBody>
      </p:sp>
      <p:sp>
        <p:nvSpPr>
          <p:cNvPr id="38" name="Shape 36"/>
          <p:cNvSpPr/>
          <p:nvPr/>
        </p:nvSpPr>
        <p:spPr>
          <a:xfrm>
            <a:off x="659210" y="4590970"/>
            <a:ext cx="95658" cy="56010"/>
          </a:xfrm>
          <a:prstGeom prst="line">
            <a:avLst/>
          </a:prstGeom>
          <a:noFill/>
          <a:ln w="12700">
            <a:solidFill>
              <a:srgbClr val="7A8288"/>
            </a:solidFill>
            <a:prstDash val="solid"/>
          </a:ln>
        </p:spPr>
        <p:txBody>
          <a:bodyPr/>
          <a:lstStyle/>
          <a:p>
            <a:endParaRPr lang="en-US"/>
          </a:p>
        </p:txBody>
      </p:sp>
      <p:sp>
        <p:nvSpPr>
          <p:cNvPr id="39" name="Shape 37"/>
          <p:cNvSpPr/>
          <p:nvPr/>
        </p:nvSpPr>
        <p:spPr>
          <a:xfrm>
            <a:off x="569374" y="4526128"/>
            <a:ext cx="89836" cy="64843"/>
          </a:xfrm>
          <a:prstGeom prst="line">
            <a:avLst/>
          </a:prstGeom>
          <a:noFill/>
          <a:ln w="12700">
            <a:solidFill>
              <a:srgbClr val="7A8288"/>
            </a:solidFill>
            <a:prstDash val="solid"/>
          </a:ln>
        </p:spPr>
        <p:txBody>
          <a:bodyPr/>
          <a:lstStyle/>
          <a:p>
            <a:endParaRPr lang="en-US"/>
          </a:p>
        </p:txBody>
      </p:sp>
      <p:sp>
        <p:nvSpPr>
          <p:cNvPr id="40" name="Shape 38"/>
          <p:cNvSpPr/>
          <p:nvPr/>
        </p:nvSpPr>
        <p:spPr>
          <a:xfrm>
            <a:off x="535145" y="4496115"/>
            <a:ext cx="34228" cy="30012"/>
          </a:xfrm>
          <a:prstGeom prst="line">
            <a:avLst/>
          </a:prstGeom>
          <a:noFill/>
          <a:ln w="12700">
            <a:solidFill>
              <a:srgbClr val="7A8288"/>
            </a:solidFill>
            <a:prstDash val="solid"/>
          </a:ln>
        </p:spPr>
        <p:txBody>
          <a:bodyPr/>
          <a:lstStyle/>
          <a:p>
            <a:endParaRPr lang="en-US"/>
          </a:p>
        </p:txBody>
      </p:sp>
      <p:sp>
        <p:nvSpPr>
          <p:cNvPr id="41" name="Shape 39"/>
          <p:cNvSpPr/>
          <p:nvPr/>
        </p:nvSpPr>
        <p:spPr>
          <a:xfrm>
            <a:off x="496300" y="4494810"/>
            <a:ext cx="38845" cy="1305"/>
          </a:xfrm>
          <a:prstGeom prst="line">
            <a:avLst/>
          </a:prstGeom>
          <a:noFill/>
          <a:ln w="12700">
            <a:solidFill>
              <a:srgbClr val="7A8288"/>
            </a:solidFill>
            <a:prstDash val="solid"/>
          </a:ln>
        </p:spPr>
        <p:txBody>
          <a:bodyPr/>
          <a:lstStyle/>
          <a:p>
            <a:endParaRPr lang="en-US"/>
          </a:p>
        </p:txBody>
      </p:sp>
      <p:sp>
        <p:nvSpPr>
          <p:cNvPr id="42" name="Shape 40"/>
          <p:cNvSpPr/>
          <p:nvPr/>
        </p:nvSpPr>
        <p:spPr>
          <a:xfrm>
            <a:off x="385284" y="4480256"/>
            <a:ext cx="111016" cy="14554"/>
          </a:xfrm>
          <a:prstGeom prst="line">
            <a:avLst/>
          </a:prstGeom>
          <a:noFill/>
          <a:ln w="12700">
            <a:solidFill>
              <a:srgbClr val="7A8288"/>
            </a:solidFill>
            <a:prstDash val="solid"/>
          </a:ln>
        </p:spPr>
        <p:txBody>
          <a:bodyPr/>
          <a:lstStyle/>
          <a:p>
            <a:endParaRPr lang="en-US"/>
          </a:p>
        </p:txBody>
      </p:sp>
      <p:sp>
        <p:nvSpPr>
          <p:cNvPr id="43" name="Shape 41"/>
          <p:cNvSpPr/>
          <p:nvPr/>
        </p:nvSpPr>
        <p:spPr>
          <a:xfrm>
            <a:off x="320040" y="4465190"/>
            <a:ext cx="65244" cy="15066"/>
          </a:xfrm>
          <a:prstGeom prst="line">
            <a:avLst/>
          </a:prstGeom>
          <a:noFill/>
          <a:ln w="12700">
            <a:solidFill>
              <a:srgbClr val="7A8288"/>
            </a:solidFill>
            <a:prstDash val="solid"/>
          </a:ln>
        </p:spPr>
        <p:txBody>
          <a:bodyPr/>
          <a:lstStyle/>
          <a:p>
            <a:endParaRPr lang="en-US"/>
          </a:p>
        </p:txBody>
      </p:sp>
      <p:sp>
        <p:nvSpPr>
          <p:cNvPr id="44" name="Shape 42"/>
          <p:cNvSpPr/>
          <p:nvPr/>
        </p:nvSpPr>
        <p:spPr>
          <a:xfrm>
            <a:off x="8862125" y="7784127"/>
            <a:ext cx="1013395" cy="814008"/>
          </a:xfrm>
          <a:prstGeom prst="line">
            <a:avLst/>
          </a:prstGeom>
          <a:noFill/>
          <a:ln w="12700">
            <a:solidFill>
              <a:srgbClr val="7A8288"/>
            </a:solidFill>
            <a:prstDash val="solid"/>
          </a:ln>
        </p:spPr>
        <p:txBody>
          <a:bodyPr/>
          <a:lstStyle/>
          <a:p>
            <a:endParaRPr lang="en-US"/>
          </a:p>
        </p:txBody>
      </p:sp>
      <p:sp>
        <p:nvSpPr>
          <p:cNvPr id="45" name="Shape 43"/>
          <p:cNvSpPr/>
          <p:nvPr/>
        </p:nvSpPr>
        <p:spPr>
          <a:xfrm>
            <a:off x="8276834" y="7312762"/>
            <a:ext cx="585292" cy="471365"/>
          </a:xfrm>
          <a:prstGeom prst="line">
            <a:avLst/>
          </a:prstGeom>
          <a:noFill/>
          <a:ln w="12700">
            <a:solidFill>
              <a:srgbClr val="7A8288"/>
            </a:solidFill>
            <a:prstDash val="solid"/>
          </a:ln>
        </p:spPr>
        <p:txBody>
          <a:bodyPr/>
          <a:lstStyle/>
          <a:p>
            <a:endParaRPr lang="en-US"/>
          </a:p>
        </p:txBody>
      </p:sp>
      <p:sp>
        <p:nvSpPr>
          <p:cNvPr id="46" name="Shape 44"/>
          <p:cNvSpPr/>
          <p:nvPr/>
        </p:nvSpPr>
        <p:spPr>
          <a:xfrm>
            <a:off x="8273823" y="7310453"/>
            <a:ext cx="3011" cy="2309"/>
          </a:xfrm>
          <a:prstGeom prst="line">
            <a:avLst/>
          </a:prstGeom>
          <a:noFill/>
          <a:ln w="12700">
            <a:solidFill>
              <a:srgbClr val="7A8288"/>
            </a:solidFill>
            <a:prstDash val="solid"/>
          </a:ln>
        </p:spPr>
        <p:txBody>
          <a:bodyPr/>
          <a:lstStyle/>
          <a:p>
            <a:endParaRPr lang="en-US"/>
          </a:p>
        </p:txBody>
      </p:sp>
      <p:sp>
        <p:nvSpPr>
          <p:cNvPr id="47" name="Shape 45"/>
          <p:cNvSpPr/>
          <p:nvPr/>
        </p:nvSpPr>
        <p:spPr>
          <a:xfrm>
            <a:off x="7687929" y="6841698"/>
            <a:ext cx="585894" cy="468755"/>
          </a:xfrm>
          <a:prstGeom prst="line">
            <a:avLst/>
          </a:prstGeom>
          <a:noFill/>
          <a:ln w="12700">
            <a:solidFill>
              <a:srgbClr val="7A8288"/>
            </a:solidFill>
            <a:prstDash val="solid"/>
          </a:ln>
        </p:spPr>
        <p:txBody>
          <a:bodyPr/>
          <a:lstStyle/>
          <a:p>
            <a:endParaRPr lang="en-US"/>
          </a:p>
        </p:txBody>
      </p:sp>
      <p:sp>
        <p:nvSpPr>
          <p:cNvPr id="48" name="Shape 46"/>
          <p:cNvSpPr/>
          <p:nvPr/>
        </p:nvSpPr>
        <p:spPr>
          <a:xfrm>
            <a:off x="7100830" y="6370132"/>
            <a:ext cx="587098" cy="471566"/>
          </a:xfrm>
          <a:prstGeom prst="line">
            <a:avLst/>
          </a:prstGeom>
          <a:noFill/>
          <a:ln w="12700">
            <a:solidFill>
              <a:srgbClr val="7A8288"/>
            </a:solidFill>
            <a:prstDash val="solid"/>
          </a:ln>
        </p:spPr>
        <p:txBody>
          <a:bodyPr/>
          <a:lstStyle/>
          <a:p>
            <a:endParaRPr lang="en-US"/>
          </a:p>
        </p:txBody>
      </p:sp>
      <p:sp>
        <p:nvSpPr>
          <p:cNvPr id="49" name="Shape 47"/>
          <p:cNvSpPr/>
          <p:nvPr/>
        </p:nvSpPr>
        <p:spPr>
          <a:xfrm>
            <a:off x="7097317" y="6367221"/>
            <a:ext cx="3513" cy="2911"/>
          </a:xfrm>
          <a:prstGeom prst="line">
            <a:avLst/>
          </a:prstGeom>
          <a:noFill/>
          <a:ln w="12700">
            <a:solidFill>
              <a:srgbClr val="7A8288"/>
            </a:solidFill>
            <a:prstDash val="solid"/>
          </a:ln>
        </p:spPr>
        <p:txBody>
          <a:bodyPr/>
          <a:lstStyle/>
          <a:p>
            <a:endParaRPr lang="en-US"/>
          </a:p>
        </p:txBody>
      </p:sp>
      <p:sp>
        <p:nvSpPr>
          <p:cNvPr id="50" name="Shape 48"/>
          <p:cNvSpPr/>
          <p:nvPr/>
        </p:nvSpPr>
        <p:spPr>
          <a:xfrm>
            <a:off x="6510921" y="5899972"/>
            <a:ext cx="586396" cy="467250"/>
          </a:xfrm>
          <a:prstGeom prst="line">
            <a:avLst/>
          </a:prstGeom>
          <a:noFill/>
          <a:ln w="12700">
            <a:solidFill>
              <a:srgbClr val="7A8288"/>
            </a:solidFill>
            <a:prstDash val="solid"/>
          </a:ln>
        </p:spPr>
        <p:txBody>
          <a:bodyPr/>
          <a:lstStyle/>
          <a:p>
            <a:endParaRPr lang="en-US"/>
          </a:p>
        </p:txBody>
      </p:sp>
      <p:sp>
        <p:nvSpPr>
          <p:cNvPr id="51" name="Shape 49"/>
          <p:cNvSpPr/>
          <p:nvPr/>
        </p:nvSpPr>
        <p:spPr>
          <a:xfrm>
            <a:off x="5929444" y="5430012"/>
            <a:ext cx="581477" cy="469960"/>
          </a:xfrm>
          <a:prstGeom prst="line">
            <a:avLst/>
          </a:prstGeom>
          <a:noFill/>
          <a:ln w="12700">
            <a:solidFill>
              <a:srgbClr val="7A8288"/>
            </a:solidFill>
            <a:prstDash val="solid"/>
          </a:ln>
        </p:spPr>
        <p:txBody>
          <a:bodyPr/>
          <a:lstStyle/>
          <a:p>
            <a:endParaRPr lang="en-US"/>
          </a:p>
        </p:txBody>
      </p:sp>
      <p:sp>
        <p:nvSpPr>
          <p:cNvPr id="52" name="Shape 50"/>
          <p:cNvSpPr/>
          <p:nvPr/>
        </p:nvSpPr>
        <p:spPr>
          <a:xfrm>
            <a:off x="5927838" y="5428707"/>
            <a:ext cx="1606" cy="1305"/>
          </a:xfrm>
          <a:prstGeom prst="line">
            <a:avLst/>
          </a:prstGeom>
          <a:noFill/>
          <a:ln w="12700">
            <a:solidFill>
              <a:srgbClr val="7A8288"/>
            </a:solidFill>
            <a:prstDash val="solid"/>
          </a:ln>
        </p:spPr>
        <p:txBody>
          <a:bodyPr/>
          <a:lstStyle/>
          <a:p>
            <a:endParaRPr lang="en-US"/>
          </a:p>
        </p:txBody>
      </p:sp>
      <p:sp>
        <p:nvSpPr>
          <p:cNvPr id="53" name="Shape 51"/>
          <p:cNvSpPr/>
          <p:nvPr/>
        </p:nvSpPr>
        <p:spPr>
          <a:xfrm>
            <a:off x="5339435" y="4954833"/>
            <a:ext cx="588403" cy="473874"/>
          </a:xfrm>
          <a:prstGeom prst="line">
            <a:avLst/>
          </a:prstGeom>
          <a:noFill/>
          <a:ln w="12700">
            <a:solidFill>
              <a:srgbClr val="7A8288"/>
            </a:solidFill>
            <a:prstDash val="solid"/>
          </a:ln>
        </p:spPr>
        <p:txBody>
          <a:bodyPr/>
          <a:lstStyle/>
          <a:p>
            <a:endParaRPr lang="en-US"/>
          </a:p>
        </p:txBody>
      </p:sp>
      <p:sp>
        <p:nvSpPr>
          <p:cNvPr id="54" name="Shape 52"/>
          <p:cNvSpPr/>
          <p:nvPr/>
        </p:nvSpPr>
        <p:spPr>
          <a:xfrm>
            <a:off x="5335319" y="4951520"/>
            <a:ext cx="4115" cy="3312"/>
          </a:xfrm>
          <a:prstGeom prst="line">
            <a:avLst/>
          </a:prstGeom>
          <a:noFill/>
          <a:ln w="12700">
            <a:solidFill>
              <a:srgbClr val="7A8288"/>
            </a:solidFill>
            <a:prstDash val="solid"/>
          </a:ln>
        </p:spPr>
        <p:txBody>
          <a:bodyPr/>
          <a:lstStyle/>
          <a:p>
            <a:endParaRPr lang="en-US"/>
          </a:p>
        </p:txBody>
      </p:sp>
      <p:sp>
        <p:nvSpPr>
          <p:cNvPr id="55" name="Shape 53"/>
          <p:cNvSpPr/>
          <p:nvPr/>
        </p:nvSpPr>
        <p:spPr>
          <a:xfrm>
            <a:off x="4748924" y="4483769"/>
            <a:ext cx="586396" cy="467751"/>
          </a:xfrm>
          <a:prstGeom prst="line">
            <a:avLst/>
          </a:prstGeom>
          <a:noFill/>
          <a:ln w="12700">
            <a:solidFill>
              <a:srgbClr val="7A8288"/>
            </a:solidFill>
            <a:prstDash val="solid"/>
          </a:ln>
        </p:spPr>
        <p:txBody>
          <a:bodyPr/>
          <a:lstStyle/>
          <a:p>
            <a:endParaRPr lang="en-US"/>
          </a:p>
        </p:txBody>
      </p:sp>
      <p:sp>
        <p:nvSpPr>
          <p:cNvPr id="56" name="Shape 54"/>
          <p:cNvSpPr/>
          <p:nvPr/>
        </p:nvSpPr>
        <p:spPr>
          <a:xfrm>
            <a:off x="4166744" y="4016620"/>
            <a:ext cx="582180" cy="467149"/>
          </a:xfrm>
          <a:prstGeom prst="line">
            <a:avLst/>
          </a:prstGeom>
          <a:noFill/>
          <a:ln w="12700">
            <a:solidFill>
              <a:srgbClr val="7A8288"/>
            </a:solidFill>
            <a:prstDash val="solid"/>
          </a:ln>
        </p:spPr>
        <p:txBody>
          <a:bodyPr/>
          <a:lstStyle/>
          <a:p>
            <a:endParaRPr lang="en-US"/>
          </a:p>
        </p:txBody>
      </p:sp>
      <p:sp>
        <p:nvSpPr>
          <p:cNvPr id="57" name="Shape 55"/>
          <p:cNvSpPr/>
          <p:nvPr/>
        </p:nvSpPr>
        <p:spPr>
          <a:xfrm>
            <a:off x="4164034" y="4014512"/>
            <a:ext cx="2710" cy="2108"/>
          </a:xfrm>
          <a:prstGeom prst="line">
            <a:avLst/>
          </a:prstGeom>
          <a:noFill/>
          <a:ln w="12700">
            <a:solidFill>
              <a:srgbClr val="7A8288"/>
            </a:solidFill>
            <a:prstDash val="solid"/>
          </a:ln>
        </p:spPr>
        <p:txBody>
          <a:bodyPr/>
          <a:lstStyle/>
          <a:p>
            <a:endParaRPr lang="en-US"/>
          </a:p>
        </p:txBody>
      </p:sp>
      <p:sp>
        <p:nvSpPr>
          <p:cNvPr id="58" name="Shape 56"/>
          <p:cNvSpPr/>
          <p:nvPr/>
        </p:nvSpPr>
        <p:spPr>
          <a:xfrm>
            <a:off x="3962278" y="3853609"/>
            <a:ext cx="201755" cy="160902"/>
          </a:xfrm>
          <a:prstGeom prst="line">
            <a:avLst/>
          </a:prstGeom>
          <a:noFill/>
          <a:ln w="12700">
            <a:solidFill>
              <a:srgbClr val="7A8288"/>
            </a:solidFill>
            <a:prstDash val="solid"/>
          </a:ln>
        </p:spPr>
        <p:txBody>
          <a:bodyPr/>
          <a:lstStyle/>
          <a:p>
            <a:endParaRPr lang="en-US"/>
          </a:p>
        </p:txBody>
      </p:sp>
      <p:sp>
        <p:nvSpPr>
          <p:cNvPr id="59" name="Shape 57"/>
          <p:cNvSpPr/>
          <p:nvPr/>
        </p:nvSpPr>
        <p:spPr>
          <a:xfrm>
            <a:off x="3579947" y="3545455"/>
            <a:ext cx="382332" cy="308154"/>
          </a:xfrm>
          <a:prstGeom prst="line">
            <a:avLst/>
          </a:prstGeom>
          <a:noFill/>
          <a:ln w="12700">
            <a:solidFill>
              <a:srgbClr val="7A8288"/>
            </a:solidFill>
            <a:prstDash val="solid"/>
          </a:ln>
        </p:spPr>
        <p:txBody>
          <a:bodyPr/>
          <a:lstStyle/>
          <a:p>
            <a:endParaRPr lang="en-US"/>
          </a:p>
        </p:txBody>
      </p:sp>
      <p:sp>
        <p:nvSpPr>
          <p:cNvPr id="60" name="Shape 58"/>
          <p:cNvSpPr/>
          <p:nvPr/>
        </p:nvSpPr>
        <p:spPr>
          <a:xfrm>
            <a:off x="3503259" y="3488643"/>
            <a:ext cx="76687" cy="56813"/>
          </a:xfrm>
          <a:prstGeom prst="line">
            <a:avLst/>
          </a:prstGeom>
          <a:noFill/>
          <a:ln w="12700">
            <a:solidFill>
              <a:srgbClr val="7A8288"/>
            </a:solidFill>
            <a:prstDash val="solid"/>
          </a:ln>
        </p:spPr>
        <p:txBody>
          <a:bodyPr/>
          <a:lstStyle/>
          <a:p>
            <a:endParaRPr lang="en-US"/>
          </a:p>
        </p:txBody>
      </p:sp>
      <p:sp>
        <p:nvSpPr>
          <p:cNvPr id="61" name="Shape 59"/>
          <p:cNvSpPr/>
          <p:nvPr/>
        </p:nvSpPr>
        <p:spPr>
          <a:xfrm>
            <a:off x="3422156" y="3438455"/>
            <a:ext cx="81104" cy="50188"/>
          </a:xfrm>
          <a:prstGeom prst="line">
            <a:avLst/>
          </a:prstGeom>
          <a:noFill/>
          <a:ln w="12700">
            <a:solidFill>
              <a:srgbClr val="7A8288"/>
            </a:solidFill>
            <a:prstDash val="solid"/>
          </a:ln>
        </p:spPr>
        <p:txBody>
          <a:bodyPr/>
          <a:lstStyle/>
          <a:p>
            <a:endParaRPr lang="en-US"/>
          </a:p>
        </p:txBody>
      </p:sp>
      <p:sp>
        <p:nvSpPr>
          <p:cNvPr id="62" name="Shape 60"/>
          <p:cNvSpPr/>
          <p:nvPr/>
        </p:nvSpPr>
        <p:spPr>
          <a:xfrm>
            <a:off x="3378392" y="3416071"/>
            <a:ext cx="43764" cy="22384"/>
          </a:xfrm>
          <a:prstGeom prst="line">
            <a:avLst/>
          </a:prstGeom>
          <a:noFill/>
          <a:ln w="12700">
            <a:solidFill>
              <a:srgbClr val="7A8288"/>
            </a:solidFill>
            <a:prstDash val="solid"/>
          </a:ln>
        </p:spPr>
        <p:txBody>
          <a:bodyPr/>
          <a:lstStyle/>
          <a:p>
            <a:endParaRPr lang="en-US"/>
          </a:p>
        </p:txBody>
      </p:sp>
      <p:sp>
        <p:nvSpPr>
          <p:cNvPr id="63" name="Shape 61"/>
          <p:cNvSpPr/>
          <p:nvPr/>
        </p:nvSpPr>
        <p:spPr>
          <a:xfrm>
            <a:off x="3252019" y="3239610"/>
            <a:ext cx="126373" cy="176461"/>
          </a:xfrm>
          <a:prstGeom prst="line">
            <a:avLst/>
          </a:prstGeom>
          <a:noFill/>
          <a:ln w="12700">
            <a:solidFill>
              <a:srgbClr val="7A8288"/>
            </a:solidFill>
            <a:prstDash val="solid"/>
          </a:ln>
        </p:spPr>
        <p:txBody>
          <a:bodyPr/>
          <a:lstStyle/>
          <a:p>
            <a:endParaRPr lang="en-US"/>
          </a:p>
        </p:txBody>
      </p:sp>
      <p:sp>
        <p:nvSpPr>
          <p:cNvPr id="64" name="Shape 62"/>
          <p:cNvSpPr/>
          <p:nvPr/>
        </p:nvSpPr>
        <p:spPr>
          <a:xfrm>
            <a:off x="3182257" y="3151581"/>
            <a:ext cx="69761" cy="88030"/>
          </a:xfrm>
          <a:prstGeom prst="line">
            <a:avLst/>
          </a:prstGeom>
          <a:noFill/>
          <a:ln w="12700">
            <a:solidFill>
              <a:srgbClr val="7A8288"/>
            </a:solidFill>
            <a:prstDash val="solid"/>
          </a:ln>
        </p:spPr>
        <p:txBody>
          <a:bodyPr/>
          <a:lstStyle/>
          <a:p>
            <a:endParaRPr lang="en-US"/>
          </a:p>
        </p:txBody>
      </p:sp>
      <p:sp>
        <p:nvSpPr>
          <p:cNvPr id="65" name="Shape 63"/>
          <p:cNvSpPr/>
          <p:nvPr/>
        </p:nvSpPr>
        <p:spPr>
          <a:xfrm>
            <a:off x="3104366" y="3070778"/>
            <a:ext cx="77892" cy="80803"/>
          </a:xfrm>
          <a:prstGeom prst="line">
            <a:avLst/>
          </a:prstGeom>
          <a:noFill/>
          <a:ln w="12700">
            <a:solidFill>
              <a:srgbClr val="7A8288"/>
            </a:solidFill>
            <a:prstDash val="solid"/>
          </a:ln>
        </p:spPr>
        <p:txBody>
          <a:bodyPr/>
          <a:lstStyle/>
          <a:p>
            <a:endParaRPr lang="en-US"/>
          </a:p>
        </p:txBody>
      </p:sp>
      <p:sp>
        <p:nvSpPr>
          <p:cNvPr id="66" name="Shape 64"/>
          <p:cNvSpPr/>
          <p:nvPr/>
        </p:nvSpPr>
        <p:spPr>
          <a:xfrm>
            <a:off x="3018946" y="2997905"/>
            <a:ext cx="85420" cy="72873"/>
          </a:xfrm>
          <a:prstGeom prst="line">
            <a:avLst/>
          </a:prstGeom>
          <a:noFill/>
          <a:ln w="12700">
            <a:solidFill>
              <a:srgbClr val="7A8288"/>
            </a:solidFill>
            <a:prstDash val="solid"/>
          </a:ln>
        </p:spPr>
        <p:txBody>
          <a:bodyPr/>
          <a:lstStyle/>
          <a:p>
            <a:endParaRPr lang="en-US"/>
          </a:p>
        </p:txBody>
      </p:sp>
      <p:sp>
        <p:nvSpPr>
          <p:cNvPr id="67" name="Shape 65"/>
          <p:cNvSpPr/>
          <p:nvPr/>
        </p:nvSpPr>
        <p:spPr>
          <a:xfrm>
            <a:off x="2926801" y="2933665"/>
            <a:ext cx="92145" cy="64241"/>
          </a:xfrm>
          <a:prstGeom prst="line">
            <a:avLst/>
          </a:prstGeom>
          <a:noFill/>
          <a:ln w="12700">
            <a:solidFill>
              <a:srgbClr val="7A8288"/>
            </a:solidFill>
            <a:prstDash val="solid"/>
          </a:ln>
        </p:spPr>
        <p:txBody>
          <a:bodyPr/>
          <a:lstStyle/>
          <a:p>
            <a:endParaRPr lang="en-US"/>
          </a:p>
        </p:txBody>
      </p:sp>
      <p:sp>
        <p:nvSpPr>
          <p:cNvPr id="68" name="Shape 66"/>
          <p:cNvSpPr/>
          <p:nvPr/>
        </p:nvSpPr>
        <p:spPr>
          <a:xfrm>
            <a:off x="2868683" y="2901042"/>
            <a:ext cx="58118" cy="32622"/>
          </a:xfrm>
          <a:prstGeom prst="line">
            <a:avLst/>
          </a:prstGeom>
          <a:noFill/>
          <a:ln w="12700">
            <a:solidFill>
              <a:srgbClr val="7A8288"/>
            </a:solidFill>
            <a:prstDash val="solid"/>
          </a:ln>
        </p:spPr>
        <p:txBody>
          <a:bodyPr/>
          <a:lstStyle/>
          <a:p>
            <a:endParaRPr lang="en-US"/>
          </a:p>
        </p:txBody>
      </p:sp>
      <p:sp>
        <p:nvSpPr>
          <p:cNvPr id="69" name="Shape 67"/>
          <p:cNvSpPr/>
          <p:nvPr/>
        </p:nvSpPr>
        <p:spPr>
          <a:xfrm>
            <a:off x="2845798" y="2847643"/>
            <a:ext cx="22886" cy="53400"/>
          </a:xfrm>
          <a:prstGeom prst="line">
            <a:avLst/>
          </a:prstGeom>
          <a:noFill/>
          <a:ln w="12700">
            <a:solidFill>
              <a:srgbClr val="7A8288"/>
            </a:solidFill>
            <a:prstDash val="solid"/>
          </a:ln>
        </p:spPr>
        <p:txBody>
          <a:bodyPr/>
          <a:lstStyle/>
          <a:p>
            <a:endParaRPr lang="en-US"/>
          </a:p>
        </p:txBody>
      </p:sp>
      <p:sp>
        <p:nvSpPr>
          <p:cNvPr id="70" name="Shape 68"/>
          <p:cNvSpPr/>
          <p:nvPr/>
        </p:nvSpPr>
        <p:spPr>
          <a:xfrm>
            <a:off x="2790290" y="2746865"/>
            <a:ext cx="55508" cy="100777"/>
          </a:xfrm>
          <a:prstGeom prst="line">
            <a:avLst/>
          </a:prstGeom>
          <a:noFill/>
          <a:ln w="12700">
            <a:solidFill>
              <a:srgbClr val="7A8288"/>
            </a:solidFill>
            <a:prstDash val="solid"/>
          </a:ln>
        </p:spPr>
        <p:txBody>
          <a:bodyPr/>
          <a:lstStyle/>
          <a:p>
            <a:endParaRPr lang="en-US"/>
          </a:p>
        </p:txBody>
      </p:sp>
      <p:sp>
        <p:nvSpPr>
          <p:cNvPr id="71" name="Shape 69"/>
          <p:cNvSpPr/>
          <p:nvPr/>
        </p:nvSpPr>
        <p:spPr>
          <a:xfrm>
            <a:off x="2724945" y="2652110"/>
            <a:ext cx="65345" cy="94755"/>
          </a:xfrm>
          <a:prstGeom prst="line">
            <a:avLst/>
          </a:prstGeom>
          <a:noFill/>
          <a:ln w="12700">
            <a:solidFill>
              <a:srgbClr val="7A8288"/>
            </a:solidFill>
            <a:prstDash val="solid"/>
          </a:ln>
        </p:spPr>
        <p:txBody>
          <a:bodyPr/>
          <a:lstStyle/>
          <a:p>
            <a:endParaRPr lang="en-US"/>
          </a:p>
        </p:txBody>
      </p:sp>
      <p:sp>
        <p:nvSpPr>
          <p:cNvPr id="72" name="Shape 70"/>
          <p:cNvSpPr/>
          <p:nvPr/>
        </p:nvSpPr>
        <p:spPr>
          <a:xfrm>
            <a:off x="2650466" y="2564281"/>
            <a:ext cx="74479" cy="87829"/>
          </a:xfrm>
          <a:prstGeom prst="line">
            <a:avLst/>
          </a:prstGeom>
          <a:noFill/>
          <a:ln w="12700">
            <a:solidFill>
              <a:srgbClr val="7A8288"/>
            </a:solidFill>
            <a:prstDash val="solid"/>
          </a:ln>
        </p:spPr>
        <p:txBody>
          <a:bodyPr/>
          <a:lstStyle/>
          <a:p>
            <a:endParaRPr lang="en-US"/>
          </a:p>
        </p:txBody>
      </p:sp>
      <p:sp>
        <p:nvSpPr>
          <p:cNvPr id="73" name="Shape 71"/>
          <p:cNvSpPr/>
          <p:nvPr/>
        </p:nvSpPr>
        <p:spPr>
          <a:xfrm>
            <a:off x="2567656" y="2484382"/>
            <a:ext cx="82810" cy="79899"/>
          </a:xfrm>
          <a:prstGeom prst="line">
            <a:avLst/>
          </a:prstGeom>
          <a:noFill/>
          <a:ln w="12700">
            <a:solidFill>
              <a:srgbClr val="7A8288"/>
            </a:solidFill>
            <a:prstDash val="solid"/>
          </a:ln>
        </p:spPr>
        <p:txBody>
          <a:bodyPr/>
          <a:lstStyle/>
          <a:p>
            <a:endParaRPr lang="en-US"/>
          </a:p>
        </p:txBody>
      </p:sp>
      <p:sp>
        <p:nvSpPr>
          <p:cNvPr id="74" name="Shape 72"/>
          <p:cNvSpPr/>
          <p:nvPr/>
        </p:nvSpPr>
        <p:spPr>
          <a:xfrm>
            <a:off x="2477318" y="2413115"/>
            <a:ext cx="90338" cy="71267"/>
          </a:xfrm>
          <a:prstGeom prst="line">
            <a:avLst/>
          </a:prstGeom>
          <a:noFill/>
          <a:ln w="12700">
            <a:solidFill>
              <a:srgbClr val="7A8288"/>
            </a:solidFill>
            <a:prstDash val="solid"/>
          </a:ln>
        </p:spPr>
        <p:txBody>
          <a:bodyPr/>
          <a:lstStyle/>
          <a:p>
            <a:endParaRPr lang="en-US"/>
          </a:p>
        </p:txBody>
      </p:sp>
      <p:sp>
        <p:nvSpPr>
          <p:cNvPr id="75" name="Shape 73"/>
          <p:cNvSpPr/>
          <p:nvPr/>
        </p:nvSpPr>
        <p:spPr>
          <a:xfrm>
            <a:off x="2439476" y="2388925"/>
            <a:ext cx="37842" cy="24191"/>
          </a:xfrm>
          <a:prstGeom prst="line">
            <a:avLst/>
          </a:prstGeom>
          <a:noFill/>
          <a:ln w="12700">
            <a:solidFill>
              <a:srgbClr val="7A8288"/>
            </a:solidFill>
            <a:prstDash val="solid"/>
          </a:ln>
        </p:spPr>
        <p:txBody>
          <a:bodyPr/>
          <a:lstStyle/>
          <a:p>
            <a:endParaRPr lang="en-US"/>
          </a:p>
        </p:txBody>
      </p:sp>
      <p:sp>
        <p:nvSpPr>
          <p:cNvPr id="76" name="Shape 74"/>
          <p:cNvSpPr/>
          <p:nvPr/>
        </p:nvSpPr>
        <p:spPr>
          <a:xfrm>
            <a:off x="2413178" y="2315851"/>
            <a:ext cx="26298" cy="73074"/>
          </a:xfrm>
          <a:prstGeom prst="line">
            <a:avLst/>
          </a:prstGeom>
          <a:noFill/>
          <a:ln w="12700">
            <a:solidFill>
              <a:srgbClr val="7A8288"/>
            </a:solidFill>
            <a:prstDash val="solid"/>
          </a:ln>
        </p:spPr>
        <p:txBody>
          <a:bodyPr/>
          <a:lstStyle/>
          <a:p>
            <a:endParaRPr lang="en-US"/>
          </a:p>
        </p:txBody>
      </p:sp>
      <p:sp>
        <p:nvSpPr>
          <p:cNvPr id="77" name="Shape 75"/>
          <p:cNvSpPr/>
          <p:nvPr/>
        </p:nvSpPr>
        <p:spPr>
          <a:xfrm>
            <a:off x="2365599" y="2215475"/>
            <a:ext cx="47578" cy="100376"/>
          </a:xfrm>
          <a:prstGeom prst="line">
            <a:avLst/>
          </a:prstGeom>
          <a:noFill/>
          <a:ln w="12700">
            <a:solidFill>
              <a:srgbClr val="7A8288"/>
            </a:solidFill>
            <a:prstDash val="solid"/>
          </a:ln>
        </p:spPr>
        <p:txBody>
          <a:bodyPr/>
          <a:lstStyle/>
          <a:p>
            <a:endParaRPr lang="en-US"/>
          </a:p>
        </p:txBody>
      </p:sp>
      <p:sp>
        <p:nvSpPr>
          <p:cNvPr id="78" name="Shape 76"/>
          <p:cNvSpPr/>
          <p:nvPr/>
        </p:nvSpPr>
        <p:spPr>
          <a:xfrm>
            <a:off x="2308486" y="2120018"/>
            <a:ext cx="57114" cy="95457"/>
          </a:xfrm>
          <a:prstGeom prst="line">
            <a:avLst/>
          </a:prstGeom>
          <a:noFill/>
          <a:ln w="12700">
            <a:solidFill>
              <a:srgbClr val="7A8288"/>
            </a:solidFill>
            <a:prstDash val="solid"/>
          </a:ln>
        </p:spPr>
        <p:txBody>
          <a:bodyPr/>
          <a:lstStyle/>
          <a:p>
            <a:endParaRPr lang="en-US"/>
          </a:p>
        </p:txBody>
      </p:sp>
      <p:sp>
        <p:nvSpPr>
          <p:cNvPr id="79" name="Shape 77"/>
          <p:cNvSpPr/>
          <p:nvPr/>
        </p:nvSpPr>
        <p:spPr>
          <a:xfrm>
            <a:off x="1914812" y="1528102"/>
            <a:ext cx="393674" cy="591916"/>
          </a:xfrm>
          <a:prstGeom prst="line">
            <a:avLst/>
          </a:prstGeom>
          <a:noFill/>
          <a:ln w="12700">
            <a:solidFill>
              <a:srgbClr val="7A8288"/>
            </a:solidFill>
            <a:prstDash val="solid"/>
          </a:ln>
        </p:spPr>
        <p:txBody>
          <a:bodyPr/>
          <a:lstStyle/>
          <a:p>
            <a:endParaRPr lang="en-US"/>
          </a:p>
        </p:txBody>
      </p:sp>
      <p:sp>
        <p:nvSpPr>
          <p:cNvPr id="80" name="Shape 78"/>
          <p:cNvSpPr/>
          <p:nvPr/>
        </p:nvSpPr>
        <p:spPr>
          <a:xfrm>
            <a:off x="1785546" y="1298442"/>
            <a:ext cx="129266" cy="229660"/>
          </a:xfrm>
          <a:prstGeom prst="line">
            <a:avLst/>
          </a:prstGeom>
          <a:noFill/>
          <a:ln w="12700">
            <a:solidFill>
              <a:srgbClr val="7A8288"/>
            </a:solidFill>
            <a:prstDash val="solid"/>
          </a:ln>
        </p:spPr>
        <p:txBody>
          <a:bodyPr/>
          <a:lstStyle/>
          <a:p>
            <a:endParaRPr lang="en-US"/>
          </a:p>
        </p:txBody>
      </p:sp>
      <p:sp>
        <p:nvSpPr>
          <p:cNvPr id="81" name="Shape 79"/>
          <p:cNvSpPr/>
          <p:nvPr/>
        </p:nvSpPr>
        <p:spPr>
          <a:xfrm>
            <a:off x="9313315" y="9627228"/>
            <a:ext cx="229676" cy="184290"/>
          </a:xfrm>
          <a:prstGeom prst="line">
            <a:avLst/>
          </a:prstGeom>
          <a:noFill/>
          <a:ln w="19050">
            <a:solidFill>
              <a:srgbClr val="C7A400"/>
            </a:solidFill>
            <a:prstDash val="dashDot"/>
          </a:ln>
        </p:spPr>
        <p:txBody>
          <a:bodyPr/>
          <a:lstStyle/>
          <a:p>
            <a:endParaRPr lang="en-US"/>
          </a:p>
        </p:txBody>
      </p:sp>
      <p:sp>
        <p:nvSpPr>
          <p:cNvPr id="82" name="Shape 80"/>
          <p:cNvSpPr/>
          <p:nvPr/>
        </p:nvSpPr>
        <p:spPr>
          <a:xfrm>
            <a:off x="8138616" y="8683595"/>
            <a:ext cx="1174699" cy="943633"/>
          </a:xfrm>
          <a:prstGeom prst="line">
            <a:avLst/>
          </a:prstGeom>
          <a:noFill/>
          <a:ln w="19050">
            <a:solidFill>
              <a:srgbClr val="C7A400"/>
            </a:solidFill>
            <a:prstDash val="dashDot"/>
          </a:ln>
        </p:spPr>
        <p:txBody>
          <a:bodyPr/>
          <a:lstStyle/>
          <a:p>
            <a:endParaRPr lang="en-US"/>
          </a:p>
        </p:txBody>
      </p:sp>
      <p:sp>
        <p:nvSpPr>
          <p:cNvPr id="83" name="Shape 81"/>
          <p:cNvSpPr/>
          <p:nvPr/>
        </p:nvSpPr>
        <p:spPr>
          <a:xfrm>
            <a:off x="7552823" y="8211828"/>
            <a:ext cx="585793" cy="471767"/>
          </a:xfrm>
          <a:prstGeom prst="line">
            <a:avLst/>
          </a:prstGeom>
          <a:noFill/>
          <a:ln w="19050">
            <a:solidFill>
              <a:srgbClr val="C7A400"/>
            </a:solidFill>
            <a:prstDash val="dashDot"/>
          </a:ln>
        </p:spPr>
        <p:txBody>
          <a:bodyPr/>
          <a:lstStyle/>
          <a:p>
            <a:endParaRPr lang="en-US"/>
          </a:p>
        </p:txBody>
      </p:sp>
      <p:sp>
        <p:nvSpPr>
          <p:cNvPr id="84" name="Shape 82"/>
          <p:cNvSpPr/>
          <p:nvPr/>
        </p:nvSpPr>
        <p:spPr>
          <a:xfrm>
            <a:off x="6965925" y="7742371"/>
            <a:ext cx="586898" cy="469458"/>
          </a:xfrm>
          <a:prstGeom prst="line">
            <a:avLst/>
          </a:prstGeom>
          <a:noFill/>
          <a:ln w="19050">
            <a:solidFill>
              <a:srgbClr val="C7A400"/>
            </a:solidFill>
            <a:prstDash val="dashDot"/>
          </a:ln>
        </p:spPr>
        <p:txBody>
          <a:bodyPr/>
          <a:lstStyle/>
          <a:p>
            <a:endParaRPr lang="en-US"/>
          </a:p>
        </p:txBody>
      </p:sp>
      <p:sp>
        <p:nvSpPr>
          <p:cNvPr id="85" name="Shape 83"/>
          <p:cNvSpPr/>
          <p:nvPr/>
        </p:nvSpPr>
        <p:spPr>
          <a:xfrm>
            <a:off x="6377923" y="7270002"/>
            <a:ext cx="588002" cy="472369"/>
          </a:xfrm>
          <a:prstGeom prst="line">
            <a:avLst/>
          </a:prstGeom>
          <a:noFill/>
          <a:ln w="19050">
            <a:solidFill>
              <a:srgbClr val="C7A400"/>
            </a:solidFill>
            <a:prstDash val="dashDot"/>
          </a:ln>
        </p:spPr>
        <p:txBody>
          <a:bodyPr/>
          <a:lstStyle/>
          <a:p>
            <a:endParaRPr lang="en-US"/>
          </a:p>
        </p:txBody>
      </p:sp>
      <p:sp>
        <p:nvSpPr>
          <p:cNvPr id="86" name="Shape 84"/>
          <p:cNvSpPr/>
          <p:nvPr/>
        </p:nvSpPr>
        <p:spPr>
          <a:xfrm>
            <a:off x="5788416" y="6800243"/>
            <a:ext cx="589507" cy="469759"/>
          </a:xfrm>
          <a:prstGeom prst="line">
            <a:avLst/>
          </a:prstGeom>
          <a:noFill/>
          <a:ln w="19050">
            <a:solidFill>
              <a:srgbClr val="C7A400"/>
            </a:solidFill>
            <a:prstDash val="dashDot"/>
          </a:ln>
        </p:spPr>
        <p:txBody>
          <a:bodyPr/>
          <a:lstStyle/>
          <a:p>
            <a:endParaRPr lang="en-US"/>
          </a:p>
        </p:txBody>
      </p:sp>
      <p:sp>
        <p:nvSpPr>
          <p:cNvPr id="87" name="Shape 85"/>
          <p:cNvSpPr/>
          <p:nvPr/>
        </p:nvSpPr>
        <p:spPr>
          <a:xfrm>
            <a:off x="5203827" y="6327774"/>
            <a:ext cx="584589" cy="472469"/>
          </a:xfrm>
          <a:prstGeom prst="line">
            <a:avLst/>
          </a:prstGeom>
          <a:noFill/>
          <a:ln w="19050">
            <a:solidFill>
              <a:srgbClr val="C7A400"/>
            </a:solidFill>
            <a:prstDash val="dashDot"/>
          </a:ln>
        </p:spPr>
        <p:txBody>
          <a:bodyPr/>
          <a:lstStyle/>
          <a:p>
            <a:endParaRPr lang="en-US"/>
          </a:p>
        </p:txBody>
      </p:sp>
      <p:sp>
        <p:nvSpPr>
          <p:cNvPr id="88" name="Shape 86"/>
          <p:cNvSpPr/>
          <p:nvPr/>
        </p:nvSpPr>
        <p:spPr>
          <a:xfrm>
            <a:off x="4615424" y="5853899"/>
            <a:ext cx="588403" cy="473874"/>
          </a:xfrm>
          <a:prstGeom prst="line">
            <a:avLst/>
          </a:prstGeom>
          <a:noFill/>
          <a:ln w="19050">
            <a:solidFill>
              <a:srgbClr val="C7A400"/>
            </a:solidFill>
            <a:prstDash val="dashDot"/>
          </a:ln>
        </p:spPr>
        <p:txBody>
          <a:bodyPr/>
          <a:lstStyle/>
          <a:p>
            <a:endParaRPr lang="en-US"/>
          </a:p>
        </p:txBody>
      </p:sp>
      <p:sp>
        <p:nvSpPr>
          <p:cNvPr id="89" name="Shape 87"/>
          <p:cNvSpPr/>
          <p:nvPr/>
        </p:nvSpPr>
        <p:spPr>
          <a:xfrm>
            <a:off x="4027824" y="5385144"/>
            <a:ext cx="587600" cy="468755"/>
          </a:xfrm>
          <a:prstGeom prst="line">
            <a:avLst/>
          </a:prstGeom>
          <a:noFill/>
          <a:ln w="19050">
            <a:solidFill>
              <a:srgbClr val="C7A400"/>
            </a:solidFill>
            <a:prstDash val="dashDot"/>
          </a:ln>
        </p:spPr>
        <p:txBody>
          <a:bodyPr/>
          <a:lstStyle/>
          <a:p>
            <a:endParaRPr lang="en-US"/>
          </a:p>
        </p:txBody>
      </p:sp>
      <p:sp>
        <p:nvSpPr>
          <p:cNvPr id="90" name="Shape 88"/>
          <p:cNvSpPr/>
          <p:nvPr/>
        </p:nvSpPr>
        <p:spPr>
          <a:xfrm>
            <a:off x="3444339" y="4916991"/>
            <a:ext cx="583485" cy="468153"/>
          </a:xfrm>
          <a:prstGeom prst="line">
            <a:avLst/>
          </a:prstGeom>
          <a:noFill/>
          <a:ln w="19050">
            <a:solidFill>
              <a:srgbClr val="C7A400"/>
            </a:solidFill>
            <a:prstDash val="dashDot"/>
          </a:ln>
        </p:spPr>
        <p:txBody>
          <a:bodyPr/>
          <a:lstStyle/>
          <a:p>
            <a:endParaRPr lang="en-US"/>
          </a:p>
        </p:txBody>
      </p:sp>
      <p:sp>
        <p:nvSpPr>
          <p:cNvPr id="91" name="Shape 89"/>
          <p:cNvSpPr/>
          <p:nvPr/>
        </p:nvSpPr>
        <p:spPr>
          <a:xfrm>
            <a:off x="3240174" y="4754181"/>
            <a:ext cx="204164" cy="162810"/>
          </a:xfrm>
          <a:prstGeom prst="line">
            <a:avLst/>
          </a:prstGeom>
          <a:noFill/>
          <a:ln w="19050">
            <a:solidFill>
              <a:srgbClr val="C7A400"/>
            </a:solidFill>
            <a:prstDash val="dashDot"/>
          </a:ln>
        </p:spPr>
        <p:txBody>
          <a:bodyPr/>
          <a:lstStyle/>
          <a:p>
            <a:endParaRPr lang="en-US"/>
          </a:p>
        </p:txBody>
      </p:sp>
      <p:sp>
        <p:nvSpPr>
          <p:cNvPr id="92" name="Shape 90"/>
          <p:cNvSpPr/>
          <p:nvPr/>
        </p:nvSpPr>
        <p:spPr>
          <a:xfrm>
            <a:off x="2855534" y="4444120"/>
            <a:ext cx="384640" cy="310061"/>
          </a:xfrm>
          <a:prstGeom prst="line">
            <a:avLst/>
          </a:prstGeom>
          <a:noFill/>
          <a:ln w="19050">
            <a:solidFill>
              <a:srgbClr val="C7A400"/>
            </a:solidFill>
            <a:prstDash val="dashDot"/>
          </a:ln>
        </p:spPr>
        <p:txBody>
          <a:bodyPr/>
          <a:lstStyle/>
          <a:p>
            <a:endParaRPr lang="en-US"/>
          </a:p>
        </p:txBody>
      </p:sp>
      <p:sp>
        <p:nvSpPr>
          <p:cNvPr id="93" name="Shape 91"/>
          <p:cNvSpPr/>
          <p:nvPr/>
        </p:nvSpPr>
        <p:spPr>
          <a:xfrm>
            <a:off x="2615937" y="4334109"/>
            <a:ext cx="239597" cy="110012"/>
          </a:xfrm>
          <a:prstGeom prst="line">
            <a:avLst/>
          </a:prstGeom>
          <a:noFill/>
          <a:ln w="19050">
            <a:solidFill>
              <a:srgbClr val="C7A400"/>
            </a:solidFill>
            <a:prstDash val="dashDot"/>
          </a:ln>
        </p:spPr>
        <p:txBody>
          <a:bodyPr/>
          <a:lstStyle/>
          <a:p>
            <a:endParaRPr lang="en-US"/>
          </a:p>
        </p:txBody>
      </p:sp>
      <p:sp>
        <p:nvSpPr>
          <p:cNvPr id="94" name="Shape 92"/>
          <p:cNvSpPr/>
          <p:nvPr/>
        </p:nvSpPr>
        <p:spPr>
          <a:xfrm>
            <a:off x="2313404" y="3911526"/>
            <a:ext cx="302533" cy="422582"/>
          </a:xfrm>
          <a:prstGeom prst="line">
            <a:avLst/>
          </a:prstGeom>
          <a:noFill/>
          <a:ln w="19050">
            <a:solidFill>
              <a:srgbClr val="C7A400"/>
            </a:solidFill>
            <a:prstDash val="dashDot"/>
          </a:ln>
        </p:spPr>
        <p:txBody>
          <a:bodyPr/>
          <a:lstStyle/>
          <a:p>
            <a:endParaRPr lang="en-US"/>
          </a:p>
        </p:txBody>
      </p:sp>
      <p:sp>
        <p:nvSpPr>
          <p:cNvPr id="95" name="Shape 93"/>
          <p:cNvSpPr/>
          <p:nvPr/>
        </p:nvSpPr>
        <p:spPr>
          <a:xfrm>
            <a:off x="2313404" y="3911526"/>
            <a:ext cx="914" cy="914"/>
          </a:xfrm>
          <a:prstGeom prst="line">
            <a:avLst/>
          </a:prstGeom>
          <a:noFill/>
          <a:ln w="19050">
            <a:solidFill>
              <a:srgbClr val="C7A400"/>
            </a:solidFill>
            <a:prstDash val="dashDot"/>
          </a:ln>
        </p:spPr>
        <p:txBody>
          <a:bodyPr/>
          <a:lstStyle/>
          <a:p>
            <a:endParaRPr lang="en-US"/>
          </a:p>
        </p:txBody>
      </p:sp>
      <p:sp>
        <p:nvSpPr>
          <p:cNvPr id="96" name="Shape 94"/>
          <p:cNvSpPr/>
          <p:nvPr/>
        </p:nvSpPr>
        <p:spPr>
          <a:xfrm flipV="1">
            <a:off x="1964498" y="3911526"/>
            <a:ext cx="348906" cy="42359"/>
          </a:xfrm>
          <a:prstGeom prst="line">
            <a:avLst/>
          </a:prstGeom>
          <a:noFill/>
          <a:ln w="19050">
            <a:solidFill>
              <a:srgbClr val="C7A400"/>
            </a:solidFill>
            <a:prstDash val="dashDot"/>
          </a:ln>
        </p:spPr>
        <p:txBody>
          <a:bodyPr/>
          <a:lstStyle/>
          <a:p>
            <a:endParaRPr lang="en-US"/>
          </a:p>
        </p:txBody>
      </p:sp>
      <p:sp>
        <p:nvSpPr>
          <p:cNvPr id="97" name="Shape 95"/>
          <p:cNvSpPr/>
          <p:nvPr/>
        </p:nvSpPr>
        <p:spPr>
          <a:xfrm>
            <a:off x="1808413" y="3353838"/>
            <a:ext cx="156084" cy="600047"/>
          </a:xfrm>
          <a:prstGeom prst="line">
            <a:avLst/>
          </a:prstGeom>
          <a:noFill/>
          <a:ln w="19050">
            <a:solidFill>
              <a:srgbClr val="C7A400"/>
            </a:solidFill>
            <a:prstDash val="dashDot"/>
          </a:ln>
        </p:spPr>
        <p:txBody>
          <a:bodyPr/>
          <a:lstStyle/>
          <a:p>
            <a:endParaRPr lang="en-US"/>
          </a:p>
        </p:txBody>
      </p:sp>
      <p:sp>
        <p:nvSpPr>
          <p:cNvPr id="98" name="Shape 96"/>
          <p:cNvSpPr/>
          <p:nvPr/>
        </p:nvSpPr>
        <p:spPr>
          <a:xfrm flipV="1">
            <a:off x="1289068" y="3353838"/>
            <a:ext cx="519345" cy="269810"/>
          </a:xfrm>
          <a:prstGeom prst="line">
            <a:avLst/>
          </a:prstGeom>
          <a:noFill/>
          <a:ln w="19050">
            <a:solidFill>
              <a:srgbClr val="C7A400"/>
            </a:solidFill>
            <a:prstDash val="dashDot"/>
          </a:ln>
        </p:spPr>
        <p:txBody>
          <a:bodyPr/>
          <a:lstStyle/>
          <a:p>
            <a:endParaRPr lang="en-US"/>
          </a:p>
        </p:txBody>
      </p:sp>
      <p:sp>
        <p:nvSpPr>
          <p:cNvPr id="99" name="Shape 97"/>
          <p:cNvSpPr/>
          <p:nvPr/>
        </p:nvSpPr>
        <p:spPr>
          <a:xfrm>
            <a:off x="1090826" y="3028419"/>
            <a:ext cx="198242" cy="595229"/>
          </a:xfrm>
          <a:prstGeom prst="line">
            <a:avLst/>
          </a:prstGeom>
          <a:noFill/>
          <a:ln w="19050">
            <a:solidFill>
              <a:srgbClr val="C7A400"/>
            </a:solidFill>
            <a:prstDash val="dashDot"/>
          </a:ln>
        </p:spPr>
        <p:txBody>
          <a:bodyPr/>
          <a:lstStyle/>
          <a:p>
            <a:endParaRPr lang="en-US"/>
          </a:p>
        </p:txBody>
      </p:sp>
      <p:sp>
        <p:nvSpPr>
          <p:cNvPr id="100" name="Shape 98"/>
          <p:cNvSpPr/>
          <p:nvPr/>
        </p:nvSpPr>
        <p:spPr>
          <a:xfrm flipV="1">
            <a:off x="1090826" y="2759312"/>
            <a:ext cx="256561" cy="269108"/>
          </a:xfrm>
          <a:prstGeom prst="line">
            <a:avLst/>
          </a:prstGeom>
          <a:noFill/>
          <a:ln w="19050">
            <a:solidFill>
              <a:srgbClr val="C7A400"/>
            </a:solidFill>
            <a:prstDash val="dashDot"/>
          </a:ln>
        </p:spPr>
        <p:txBody>
          <a:bodyPr/>
          <a:lstStyle/>
          <a:p>
            <a:endParaRPr lang="en-US"/>
          </a:p>
        </p:txBody>
      </p:sp>
      <p:sp>
        <p:nvSpPr>
          <p:cNvPr id="101" name="Shape 99"/>
          <p:cNvSpPr/>
          <p:nvPr/>
        </p:nvSpPr>
        <p:spPr>
          <a:xfrm>
            <a:off x="929924" y="2131662"/>
            <a:ext cx="417463" cy="627650"/>
          </a:xfrm>
          <a:prstGeom prst="line">
            <a:avLst/>
          </a:prstGeom>
          <a:noFill/>
          <a:ln w="19050">
            <a:solidFill>
              <a:srgbClr val="C7A400"/>
            </a:solidFill>
            <a:prstDash val="dashDot"/>
          </a:ln>
        </p:spPr>
        <p:txBody>
          <a:bodyPr/>
          <a:lstStyle/>
          <a:p>
            <a:endParaRPr lang="en-US"/>
          </a:p>
        </p:txBody>
      </p:sp>
      <p:sp>
        <p:nvSpPr>
          <p:cNvPr id="102" name="Shape 100"/>
          <p:cNvSpPr/>
          <p:nvPr/>
        </p:nvSpPr>
        <p:spPr>
          <a:xfrm>
            <a:off x="561544" y="1477211"/>
            <a:ext cx="368379" cy="654451"/>
          </a:xfrm>
          <a:prstGeom prst="line">
            <a:avLst/>
          </a:prstGeom>
          <a:noFill/>
          <a:ln w="19050">
            <a:solidFill>
              <a:srgbClr val="C7A400"/>
            </a:solidFill>
            <a:prstDash val="dashDot"/>
          </a:ln>
        </p:spPr>
        <p:txBody>
          <a:bodyPr/>
          <a:lstStyle/>
          <a:p>
            <a:endParaRPr lang="en-US"/>
          </a:p>
        </p:txBody>
      </p:sp>
      <p:sp>
        <p:nvSpPr>
          <p:cNvPr id="103" name="Shape 101"/>
          <p:cNvSpPr/>
          <p:nvPr/>
        </p:nvSpPr>
        <p:spPr>
          <a:xfrm>
            <a:off x="478115" y="1298442"/>
            <a:ext cx="83429" cy="178769"/>
          </a:xfrm>
          <a:prstGeom prst="line">
            <a:avLst/>
          </a:prstGeom>
          <a:noFill/>
          <a:ln w="19050">
            <a:solidFill>
              <a:srgbClr val="C7A400"/>
            </a:solidFill>
            <a:prstDash val="dashDot"/>
          </a:ln>
        </p:spPr>
        <p:txBody>
          <a:bodyPr/>
          <a:lstStyle/>
          <a:p>
            <a:endParaRPr lang="en-US"/>
          </a:p>
        </p:txBody>
      </p:sp>
      <p:sp>
        <p:nvSpPr>
          <p:cNvPr id="104" name="Shape 102"/>
          <p:cNvSpPr/>
          <p:nvPr/>
        </p:nvSpPr>
        <p:spPr>
          <a:xfrm>
            <a:off x="320040" y="3256882"/>
            <a:ext cx="270413" cy="87421"/>
          </a:xfrm>
          <a:prstGeom prst="line">
            <a:avLst/>
          </a:prstGeom>
          <a:noFill/>
          <a:ln w="19050">
            <a:solidFill>
              <a:srgbClr val="C7A400"/>
            </a:solidFill>
            <a:prstDash val="dashDot"/>
          </a:ln>
        </p:spPr>
        <p:txBody>
          <a:bodyPr/>
          <a:lstStyle/>
          <a:p>
            <a:endParaRPr lang="en-US"/>
          </a:p>
        </p:txBody>
      </p:sp>
      <p:sp>
        <p:nvSpPr>
          <p:cNvPr id="105" name="Shape 103"/>
          <p:cNvSpPr/>
          <p:nvPr/>
        </p:nvSpPr>
        <p:spPr>
          <a:xfrm>
            <a:off x="320040" y="3267801"/>
            <a:ext cx="270413" cy="76501"/>
          </a:xfrm>
          <a:prstGeom prst="line">
            <a:avLst/>
          </a:prstGeom>
          <a:noFill/>
          <a:ln w="19050">
            <a:solidFill>
              <a:srgbClr val="C7A400"/>
            </a:solidFill>
            <a:prstDash val="dashDot"/>
          </a:ln>
        </p:spPr>
        <p:txBody>
          <a:bodyPr/>
          <a:lstStyle/>
          <a:p>
            <a:endParaRPr lang="en-US"/>
          </a:p>
        </p:txBody>
      </p:sp>
      <p:sp>
        <p:nvSpPr>
          <p:cNvPr id="106" name="Shape 104"/>
          <p:cNvSpPr/>
          <p:nvPr/>
        </p:nvSpPr>
        <p:spPr>
          <a:xfrm flipV="1">
            <a:off x="4461748" y="4530444"/>
            <a:ext cx="189108" cy="236285"/>
          </a:xfrm>
          <a:prstGeom prst="line">
            <a:avLst/>
          </a:prstGeom>
          <a:noFill/>
          <a:ln w="28575">
            <a:solidFill>
              <a:srgbClr val="8B0000"/>
            </a:solidFill>
            <a:prstDash val="solid"/>
          </a:ln>
        </p:spPr>
        <p:txBody>
          <a:bodyPr/>
          <a:lstStyle/>
          <a:p>
            <a:endParaRPr lang="en-US"/>
          </a:p>
        </p:txBody>
      </p:sp>
      <p:sp>
        <p:nvSpPr>
          <p:cNvPr id="107" name="Shape 105"/>
          <p:cNvSpPr/>
          <p:nvPr/>
        </p:nvSpPr>
        <p:spPr>
          <a:xfrm flipV="1">
            <a:off x="4273042" y="4766728"/>
            <a:ext cx="188707" cy="236686"/>
          </a:xfrm>
          <a:prstGeom prst="line">
            <a:avLst/>
          </a:prstGeom>
          <a:noFill/>
          <a:ln w="28575">
            <a:solidFill>
              <a:srgbClr val="8B0000"/>
            </a:solidFill>
            <a:prstDash val="solid"/>
          </a:ln>
        </p:spPr>
        <p:txBody>
          <a:bodyPr/>
          <a:lstStyle/>
          <a:p>
            <a:endParaRPr lang="en-US"/>
          </a:p>
        </p:txBody>
      </p:sp>
      <p:sp>
        <p:nvSpPr>
          <p:cNvPr id="108" name="Shape 106"/>
          <p:cNvSpPr/>
          <p:nvPr/>
        </p:nvSpPr>
        <p:spPr>
          <a:xfrm flipV="1">
            <a:off x="4085941" y="5003415"/>
            <a:ext cx="187101" cy="235281"/>
          </a:xfrm>
          <a:prstGeom prst="line">
            <a:avLst/>
          </a:prstGeom>
          <a:noFill/>
          <a:ln w="28575">
            <a:solidFill>
              <a:srgbClr val="8B0000"/>
            </a:solidFill>
            <a:prstDash val="solid"/>
          </a:ln>
        </p:spPr>
        <p:txBody>
          <a:bodyPr/>
          <a:lstStyle/>
          <a:p>
            <a:endParaRPr lang="en-US"/>
          </a:p>
        </p:txBody>
      </p:sp>
      <p:sp>
        <p:nvSpPr>
          <p:cNvPr id="109" name="Shape 107"/>
          <p:cNvSpPr/>
          <p:nvPr/>
        </p:nvSpPr>
        <p:spPr>
          <a:xfrm flipV="1">
            <a:off x="3897134" y="5238696"/>
            <a:ext cx="188807" cy="233374"/>
          </a:xfrm>
          <a:prstGeom prst="line">
            <a:avLst/>
          </a:prstGeom>
          <a:noFill/>
          <a:ln w="28575">
            <a:solidFill>
              <a:srgbClr val="8B0000"/>
            </a:solidFill>
            <a:prstDash val="solid"/>
          </a:ln>
        </p:spPr>
        <p:txBody>
          <a:bodyPr/>
          <a:lstStyle/>
          <a:p>
            <a:endParaRPr lang="en-US"/>
          </a:p>
        </p:txBody>
      </p:sp>
      <p:sp>
        <p:nvSpPr>
          <p:cNvPr id="110" name="Shape 108"/>
          <p:cNvSpPr/>
          <p:nvPr/>
        </p:nvSpPr>
        <p:spPr>
          <a:xfrm flipV="1">
            <a:off x="3707324" y="5472070"/>
            <a:ext cx="189811" cy="234679"/>
          </a:xfrm>
          <a:prstGeom prst="line">
            <a:avLst/>
          </a:prstGeom>
          <a:noFill/>
          <a:ln w="28575">
            <a:solidFill>
              <a:srgbClr val="8B0000"/>
            </a:solidFill>
            <a:prstDash val="solid"/>
          </a:ln>
        </p:spPr>
        <p:txBody>
          <a:bodyPr/>
          <a:lstStyle/>
          <a:p>
            <a:endParaRPr lang="en-US"/>
          </a:p>
        </p:txBody>
      </p:sp>
      <p:sp>
        <p:nvSpPr>
          <p:cNvPr id="111" name="Shape 109"/>
          <p:cNvSpPr/>
          <p:nvPr/>
        </p:nvSpPr>
        <p:spPr>
          <a:xfrm flipV="1">
            <a:off x="3518918" y="5706748"/>
            <a:ext cx="188405" cy="235281"/>
          </a:xfrm>
          <a:prstGeom prst="line">
            <a:avLst/>
          </a:prstGeom>
          <a:noFill/>
          <a:ln w="28575">
            <a:solidFill>
              <a:srgbClr val="8B0000"/>
            </a:solidFill>
            <a:prstDash val="solid"/>
          </a:ln>
        </p:spPr>
        <p:txBody>
          <a:bodyPr/>
          <a:lstStyle/>
          <a:p>
            <a:endParaRPr lang="en-US"/>
          </a:p>
        </p:txBody>
      </p:sp>
      <p:sp>
        <p:nvSpPr>
          <p:cNvPr id="112" name="Shape 110"/>
          <p:cNvSpPr/>
          <p:nvPr/>
        </p:nvSpPr>
        <p:spPr>
          <a:xfrm flipV="1">
            <a:off x="3331316" y="5942029"/>
            <a:ext cx="187602" cy="235080"/>
          </a:xfrm>
          <a:prstGeom prst="line">
            <a:avLst/>
          </a:prstGeom>
          <a:noFill/>
          <a:ln w="28575">
            <a:solidFill>
              <a:srgbClr val="8B0000"/>
            </a:solidFill>
            <a:prstDash val="solid"/>
          </a:ln>
        </p:spPr>
        <p:txBody>
          <a:bodyPr/>
          <a:lstStyle/>
          <a:p>
            <a:endParaRPr lang="en-US"/>
          </a:p>
        </p:txBody>
      </p:sp>
      <p:sp>
        <p:nvSpPr>
          <p:cNvPr id="144" name="Shape 142"/>
          <p:cNvSpPr/>
          <p:nvPr/>
        </p:nvSpPr>
        <p:spPr>
          <a:xfrm>
            <a:off x="5416222" y="3770598"/>
            <a:ext cx="140526" cy="140526"/>
          </a:xfrm>
          <a:prstGeom prst="rect">
            <a:avLst/>
          </a:prstGeom>
          <a:ln w="19050">
            <a:solidFill>
              <a:srgbClr val="BB00BB"/>
            </a:solidFill>
            <a:prstDash val="solid"/>
          </a:ln>
        </p:spPr>
        <p:txBody>
          <a:bodyPr/>
          <a:lstStyle/>
          <a:p>
            <a:endParaRPr lang="en-US"/>
          </a:p>
        </p:txBody>
      </p:sp>
      <p:sp>
        <p:nvSpPr>
          <p:cNvPr id="145" name="Shape 143"/>
          <p:cNvSpPr/>
          <p:nvPr/>
        </p:nvSpPr>
        <p:spPr>
          <a:xfrm>
            <a:off x="7969282" y="5137718"/>
            <a:ext cx="140526" cy="140526"/>
          </a:xfrm>
          <a:prstGeom prst="rect">
            <a:avLst/>
          </a:prstGeom>
          <a:ln w="19050">
            <a:solidFill>
              <a:srgbClr val="BB00BB"/>
            </a:solidFill>
            <a:prstDash val="solid"/>
          </a:ln>
        </p:spPr>
        <p:txBody>
          <a:bodyPr/>
          <a:lstStyle/>
          <a:p>
            <a:endParaRPr lang="en-US"/>
          </a:p>
        </p:txBody>
      </p:sp>
      <p:sp>
        <p:nvSpPr>
          <p:cNvPr id="146" name="Text 144"/>
          <p:cNvSpPr/>
          <p:nvPr/>
        </p:nvSpPr>
        <p:spPr>
          <a:xfrm>
            <a:off x="5576824" y="366087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P4.037</a:t>
            </a:r>
            <a:endParaRPr lang="en-US" sz="650" dirty="0"/>
          </a:p>
        </p:txBody>
      </p:sp>
      <p:sp>
        <p:nvSpPr>
          <p:cNvPr id="147" name="Text 145"/>
          <p:cNvSpPr/>
          <p:nvPr/>
        </p:nvSpPr>
        <p:spPr>
          <a:xfrm>
            <a:off x="8129884" y="502799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HH.E.058</a:t>
            </a:r>
            <a:endParaRPr lang="en-US" sz="650" dirty="0"/>
          </a:p>
        </p:txBody>
      </p:sp>
      <p:sp>
        <p:nvSpPr>
          <p:cNvPr id="148" name="Shape 146"/>
          <p:cNvSpPr/>
          <p:nvPr/>
        </p:nvSpPr>
        <p:spPr>
          <a:xfrm>
            <a:off x="3087402" y="6322353"/>
            <a:ext cx="2846258" cy="721803"/>
          </a:xfrm>
          <a:prstGeom prst="line">
            <a:avLst/>
          </a:prstGeom>
          <a:noFill/>
          <a:ln w="31750">
            <a:solidFill>
              <a:srgbClr val="CC0000"/>
            </a:solidFill>
            <a:prstDash val="solid"/>
          </a:ln>
        </p:spPr>
        <p:txBody>
          <a:bodyPr/>
          <a:lstStyle/>
          <a:p>
            <a:endParaRPr lang="en-US"/>
          </a:p>
        </p:txBody>
      </p:sp>
      <p:sp>
        <p:nvSpPr>
          <p:cNvPr id="149" name="Shape 147"/>
          <p:cNvSpPr/>
          <p:nvPr/>
        </p:nvSpPr>
        <p:spPr>
          <a:xfrm flipV="1">
            <a:off x="3087402" y="4071626"/>
            <a:ext cx="570737" cy="2250728"/>
          </a:xfrm>
          <a:prstGeom prst="line">
            <a:avLst/>
          </a:prstGeom>
          <a:noFill/>
          <a:ln w="31750">
            <a:solidFill>
              <a:srgbClr val="CC0000"/>
            </a:solidFill>
            <a:prstDash val="solid"/>
          </a:ln>
        </p:spPr>
        <p:txBody>
          <a:bodyPr/>
          <a:lstStyle/>
          <a:p>
            <a:endParaRPr lang="en-US"/>
          </a:p>
        </p:txBody>
      </p:sp>
      <p:sp>
        <p:nvSpPr>
          <p:cNvPr id="150" name="Shape 148"/>
          <p:cNvSpPr/>
          <p:nvPr/>
        </p:nvSpPr>
        <p:spPr>
          <a:xfrm>
            <a:off x="4864486" y="5316585"/>
            <a:ext cx="2846358" cy="721803"/>
          </a:xfrm>
          <a:prstGeom prst="line">
            <a:avLst/>
          </a:prstGeom>
          <a:noFill/>
          <a:ln w="31750">
            <a:solidFill>
              <a:srgbClr val="CC0000"/>
            </a:solidFill>
            <a:prstDash val="solid"/>
          </a:ln>
        </p:spPr>
        <p:txBody>
          <a:bodyPr/>
          <a:lstStyle/>
          <a:p>
            <a:endParaRPr lang="en-US"/>
          </a:p>
        </p:txBody>
      </p:sp>
      <p:sp>
        <p:nvSpPr>
          <p:cNvPr id="151" name="Shape 149"/>
          <p:cNvSpPr/>
          <p:nvPr/>
        </p:nvSpPr>
        <p:spPr>
          <a:xfrm flipV="1">
            <a:off x="5933660" y="4793428"/>
            <a:ext cx="570837" cy="2250728"/>
          </a:xfrm>
          <a:prstGeom prst="line">
            <a:avLst/>
          </a:prstGeom>
          <a:noFill/>
          <a:ln w="31750">
            <a:solidFill>
              <a:srgbClr val="CC0000"/>
            </a:solidFill>
            <a:prstDash val="solid"/>
          </a:ln>
        </p:spPr>
        <p:txBody>
          <a:bodyPr/>
          <a:lstStyle/>
          <a:p>
            <a:endParaRPr lang="en-US"/>
          </a:p>
        </p:txBody>
      </p:sp>
      <p:sp>
        <p:nvSpPr>
          <p:cNvPr id="152" name="Text 150"/>
          <p:cNvSpPr/>
          <p:nvPr/>
        </p:nvSpPr>
        <p:spPr>
          <a:xfrm>
            <a:off x="1280699" y="3797306"/>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(676.7 m² TOTAL)</a:t>
            </a:r>
            <a:endParaRPr lang="en-US" sz="800" dirty="0"/>
          </a:p>
        </p:txBody>
      </p:sp>
      <p:sp>
        <p:nvSpPr>
          <p:cNvPr id="206" name="Text 204"/>
          <p:cNvSpPr/>
          <p:nvPr/>
        </p:nvSpPr>
        <p:spPr>
          <a:xfrm>
            <a:off x="8193953" y="687684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RRM.283</a:t>
            </a:r>
            <a:endParaRPr lang="en-US" sz="500" dirty="0"/>
          </a:p>
        </p:txBody>
      </p:sp>
      <p:sp>
        <p:nvSpPr>
          <p:cNvPr id="207" name="Text 205"/>
          <p:cNvSpPr/>
          <p:nvPr/>
        </p:nvSpPr>
        <p:spPr>
          <a:xfrm>
            <a:off x="4569381" y="265503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P4.036.399</a:t>
            </a:r>
            <a:endParaRPr lang="en-US" sz="500" dirty="0"/>
          </a:p>
        </p:txBody>
      </p:sp>
      <p:sp>
        <p:nvSpPr>
          <p:cNvPr id="208" name="Text 206"/>
          <p:cNvSpPr/>
          <p:nvPr/>
        </p:nvSpPr>
        <p:spPr>
          <a:xfrm>
            <a:off x="8201180" y="857118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TCCECH.04.005</a:t>
            </a:r>
            <a:endParaRPr lang="en-US" sz="500" dirty="0"/>
          </a:p>
        </p:txBody>
      </p:sp>
      <p:sp>
        <p:nvSpPr>
          <p:cNvPr id="209" name="Text 207"/>
          <p:cNvSpPr/>
          <p:nvPr/>
        </p:nvSpPr>
        <p:spPr>
          <a:xfrm>
            <a:off x="7028489" y="76299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TCCECH.04.004</a:t>
            </a:r>
            <a:endParaRPr lang="en-US" sz="500" dirty="0"/>
          </a:p>
        </p:txBody>
      </p:sp>
      <p:sp>
        <p:nvSpPr>
          <p:cNvPr id="210" name="Text 208"/>
          <p:cNvSpPr/>
          <p:nvPr/>
        </p:nvSpPr>
        <p:spPr>
          <a:xfrm>
            <a:off x="4343736" y="693355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RRM.547</a:t>
            </a:r>
            <a:endParaRPr lang="en-US" sz="500" dirty="0"/>
          </a:p>
        </p:txBody>
      </p:sp>
      <p:sp>
        <p:nvSpPr>
          <p:cNvPr id="211" name="Text 209"/>
          <p:cNvSpPr/>
          <p:nvPr/>
        </p:nvSpPr>
        <p:spPr>
          <a:xfrm>
            <a:off x="2642767" y="575885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RRM.548</a:t>
            </a:r>
            <a:endParaRPr lang="en-US" sz="500" dirty="0"/>
          </a:p>
        </p:txBody>
      </p:sp>
      <p:sp>
        <p:nvSpPr>
          <p:cNvPr id="212" name="Text 210"/>
          <p:cNvSpPr/>
          <p:nvPr/>
        </p:nvSpPr>
        <p:spPr>
          <a:xfrm>
            <a:off x="3339475" y="25228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RRM.558</a:t>
            </a:r>
            <a:endParaRPr lang="en-US" sz="500" dirty="0"/>
          </a:p>
        </p:txBody>
      </p:sp>
      <p:sp>
        <p:nvSpPr>
          <p:cNvPr id="213" name="Text 211"/>
          <p:cNvSpPr/>
          <p:nvPr/>
        </p:nvSpPr>
        <p:spPr>
          <a:xfrm>
            <a:off x="2391827" y="13609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RRM.559</a:t>
            </a:r>
            <a:endParaRPr lang="en-US" sz="500" dirty="0"/>
          </a:p>
        </p:txBody>
      </p:sp>
      <p:sp>
        <p:nvSpPr>
          <p:cNvPr id="214" name="Text 212"/>
          <p:cNvSpPr/>
          <p:nvPr/>
        </p:nvSpPr>
        <p:spPr>
          <a:xfrm>
            <a:off x="1341394" y="50359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RRM.655</a:t>
            </a:r>
            <a:endParaRPr lang="en-US" sz="500" dirty="0"/>
          </a:p>
        </p:txBody>
      </p:sp>
      <p:sp>
        <p:nvSpPr>
          <p:cNvPr id="215" name="Text 213"/>
          <p:cNvSpPr/>
          <p:nvPr/>
        </p:nvSpPr>
        <p:spPr>
          <a:xfrm>
            <a:off x="4421326" y="357568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RRM.669</a:t>
            </a:r>
            <a:endParaRPr lang="en-US" sz="500" dirty="0"/>
          </a:p>
        </p:txBody>
      </p:sp>
      <p:sp>
        <p:nvSpPr>
          <p:cNvPr id="216" name="Text 214"/>
          <p:cNvSpPr/>
          <p:nvPr/>
        </p:nvSpPr>
        <p:spPr>
          <a:xfrm>
            <a:off x="2822941" y="77307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HH.E.144</a:t>
            </a:r>
            <a:endParaRPr lang="en-US" sz="500" dirty="0"/>
          </a:p>
        </p:txBody>
      </p:sp>
      <p:sp>
        <p:nvSpPr>
          <p:cNvPr id="217" name="Text 215"/>
          <p:cNvSpPr/>
          <p:nvPr/>
        </p:nvSpPr>
        <p:spPr>
          <a:xfrm>
            <a:off x="9375878" y="95148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218" name="Text 216"/>
          <p:cNvSpPr/>
          <p:nvPr/>
        </p:nvSpPr>
        <p:spPr>
          <a:xfrm>
            <a:off x="6440487" y="7157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TCCECH.03.004</a:t>
            </a:r>
            <a:endParaRPr lang="en-US" sz="500" dirty="0"/>
          </a:p>
        </p:txBody>
      </p:sp>
      <p:sp>
        <p:nvSpPr>
          <p:cNvPr id="219" name="Text 217"/>
          <p:cNvSpPr/>
          <p:nvPr/>
        </p:nvSpPr>
        <p:spPr>
          <a:xfrm>
            <a:off x="5850980" y="66878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TCCECH.04.003</a:t>
            </a:r>
            <a:endParaRPr lang="en-US" sz="500" dirty="0"/>
          </a:p>
        </p:txBody>
      </p:sp>
      <p:sp>
        <p:nvSpPr>
          <p:cNvPr id="220" name="Text 218"/>
          <p:cNvSpPr/>
          <p:nvPr/>
        </p:nvSpPr>
        <p:spPr>
          <a:xfrm>
            <a:off x="5266391" y="621536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TCCECH.03.003</a:t>
            </a:r>
            <a:endParaRPr lang="en-US" sz="500" dirty="0"/>
          </a:p>
        </p:txBody>
      </p:sp>
      <p:sp>
        <p:nvSpPr>
          <p:cNvPr id="221" name="Text 219"/>
          <p:cNvSpPr/>
          <p:nvPr/>
        </p:nvSpPr>
        <p:spPr>
          <a:xfrm>
            <a:off x="4677987" y="57414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TCCECH.04.002</a:t>
            </a:r>
            <a:endParaRPr lang="en-US" sz="500" dirty="0"/>
          </a:p>
        </p:txBody>
      </p:sp>
      <p:sp>
        <p:nvSpPr>
          <p:cNvPr id="222" name="Text 220"/>
          <p:cNvSpPr/>
          <p:nvPr/>
        </p:nvSpPr>
        <p:spPr>
          <a:xfrm>
            <a:off x="7615386" y="80994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TCCECH.03.005</a:t>
            </a:r>
            <a:endParaRPr lang="en-US" sz="500" dirty="0"/>
          </a:p>
        </p:txBody>
      </p:sp>
      <p:sp>
        <p:nvSpPr>
          <p:cNvPr id="223" name="Text 221"/>
          <p:cNvSpPr/>
          <p:nvPr/>
        </p:nvSpPr>
        <p:spPr>
          <a:xfrm>
            <a:off x="653016" y="32318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TCCECH.05.034</a:t>
            </a:r>
            <a:endParaRPr lang="en-US" sz="500" dirty="0"/>
          </a:p>
        </p:txBody>
      </p:sp>
      <p:sp>
        <p:nvSpPr>
          <p:cNvPr id="224" name="Text 222"/>
          <p:cNvSpPr/>
          <p:nvPr/>
        </p:nvSpPr>
        <p:spPr>
          <a:xfrm>
            <a:off x="2027061" y="384147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TCCECH.05.033</a:t>
            </a:r>
            <a:endParaRPr lang="en-US" sz="500" dirty="0"/>
          </a:p>
        </p:txBody>
      </p:sp>
      <p:sp>
        <p:nvSpPr>
          <p:cNvPr id="225" name="Text 223"/>
          <p:cNvSpPr/>
          <p:nvPr/>
        </p:nvSpPr>
        <p:spPr>
          <a:xfrm>
            <a:off x="2678500" y="42217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TCCECH.06.035</a:t>
            </a:r>
            <a:endParaRPr lang="en-US" sz="500" dirty="0"/>
          </a:p>
        </p:txBody>
      </p:sp>
      <p:sp>
        <p:nvSpPr>
          <p:cNvPr id="226" name="Text 224"/>
          <p:cNvSpPr/>
          <p:nvPr/>
        </p:nvSpPr>
        <p:spPr>
          <a:xfrm>
            <a:off x="1351632" y="35112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TCCECH.06.036</a:t>
            </a:r>
            <a:endParaRPr lang="en-US" sz="500" dirty="0"/>
          </a:p>
        </p:txBody>
      </p:sp>
      <p:sp>
        <p:nvSpPr>
          <p:cNvPr id="227" name="Text 225"/>
          <p:cNvSpPr/>
          <p:nvPr/>
        </p:nvSpPr>
        <p:spPr>
          <a:xfrm>
            <a:off x="914997" y="31711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EL.EBASE.13328</a:t>
            </a:r>
            <a:endParaRPr lang="en-US" sz="500" dirty="0"/>
          </a:p>
        </p:txBody>
      </p:sp>
      <p:sp>
        <p:nvSpPr>
          <p:cNvPr id="228" name="Text 226"/>
          <p:cNvSpPr/>
          <p:nvPr/>
        </p:nvSpPr>
        <p:spPr>
          <a:xfrm>
            <a:off x="1591932" y="34830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EL.EBASE.13329</a:t>
            </a:r>
            <a:endParaRPr lang="en-US" sz="500" dirty="0"/>
          </a:p>
        </p:txBody>
      </p:sp>
      <p:sp>
        <p:nvSpPr>
          <p:cNvPr id="229" name="Text 227"/>
          <p:cNvSpPr/>
          <p:nvPr/>
        </p:nvSpPr>
        <p:spPr>
          <a:xfrm>
            <a:off x="2257926" y="38391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EL.EBASE.13330</a:t>
            </a:r>
            <a:endParaRPr lang="en-US" sz="500" dirty="0"/>
          </a:p>
        </p:txBody>
      </p:sp>
      <p:sp>
        <p:nvSpPr>
          <p:cNvPr id="230" name="Text 228"/>
          <p:cNvSpPr/>
          <p:nvPr/>
        </p:nvSpPr>
        <p:spPr>
          <a:xfrm>
            <a:off x="2892702" y="42392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EL.EBASE.13331</a:t>
            </a:r>
            <a:endParaRPr lang="en-US" sz="500" dirty="0"/>
          </a:p>
        </p:txBody>
      </p:sp>
      <p:sp>
        <p:nvSpPr>
          <p:cNvPr id="231" name="Text 229"/>
          <p:cNvSpPr/>
          <p:nvPr/>
        </p:nvSpPr>
        <p:spPr>
          <a:xfrm>
            <a:off x="4090387" y="52727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TCCECH.03.002</a:t>
            </a:r>
            <a:endParaRPr lang="en-US" sz="500" dirty="0"/>
          </a:p>
        </p:txBody>
      </p:sp>
      <p:sp>
        <p:nvSpPr>
          <p:cNvPr id="232" name="Text 230"/>
          <p:cNvSpPr/>
          <p:nvPr/>
        </p:nvSpPr>
        <p:spPr>
          <a:xfrm>
            <a:off x="3959698" y="535966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SBC102.01.040</a:t>
            </a:r>
            <a:endParaRPr lang="en-US" sz="500" dirty="0"/>
          </a:p>
        </p:txBody>
      </p:sp>
      <p:sp>
        <p:nvSpPr>
          <p:cNvPr id="233" name="Text 231"/>
          <p:cNvSpPr/>
          <p:nvPr/>
        </p:nvSpPr>
        <p:spPr>
          <a:xfrm>
            <a:off x="3769887" y="559434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SBC102.02.037</a:t>
            </a:r>
            <a:endParaRPr lang="en-US" sz="500" dirty="0"/>
          </a:p>
        </p:txBody>
      </p:sp>
      <p:sp>
        <p:nvSpPr>
          <p:cNvPr id="234" name="Text 232"/>
          <p:cNvSpPr/>
          <p:nvPr/>
        </p:nvSpPr>
        <p:spPr>
          <a:xfrm>
            <a:off x="3581482" y="58296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SBC102.01.041</a:t>
            </a:r>
            <a:endParaRPr lang="en-US" sz="500" dirty="0"/>
          </a:p>
        </p:txBody>
      </p:sp>
      <p:sp>
        <p:nvSpPr>
          <p:cNvPr id="235" name="Text 233"/>
          <p:cNvSpPr/>
          <p:nvPr/>
        </p:nvSpPr>
        <p:spPr>
          <a:xfrm>
            <a:off x="3393879" y="60647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SBC102.02.038</a:t>
            </a:r>
            <a:endParaRPr lang="en-US" sz="500" dirty="0"/>
          </a:p>
        </p:txBody>
      </p:sp>
      <p:sp>
        <p:nvSpPr>
          <p:cNvPr id="236" name="Text 234"/>
          <p:cNvSpPr/>
          <p:nvPr/>
        </p:nvSpPr>
        <p:spPr>
          <a:xfrm>
            <a:off x="1153390" y="29160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TCC102.01.052</a:t>
            </a:r>
            <a:endParaRPr lang="en-US" sz="500" dirty="0"/>
          </a:p>
        </p:txBody>
      </p:sp>
      <p:sp>
        <p:nvSpPr>
          <p:cNvPr id="237" name="Text 235"/>
          <p:cNvSpPr/>
          <p:nvPr/>
        </p:nvSpPr>
        <p:spPr>
          <a:xfrm>
            <a:off x="2330096" y="386345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TCC102.02.050</a:t>
            </a:r>
            <a:endParaRPr lang="en-US" sz="500" dirty="0"/>
          </a:p>
        </p:txBody>
      </p:sp>
      <p:sp>
        <p:nvSpPr>
          <p:cNvPr id="238" name="Text 236"/>
          <p:cNvSpPr/>
          <p:nvPr/>
        </p:nvSpPr>
        <p:spPr>
          <a:xfrm>
            <a:off x="3302738" y="464177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TCCECH.03.001</a:t>
            </a:r>
            <a:endParaRPr lang="en-US" sz="500" dirty="0"/>
          </a:p>
        </p:txBody>
      </p:sp>
      <p:sp>
        <p:nvSpPr>
          <p:cNvPr id="239" name="Text 237"/>
          <p:cNvSpPr/>
          <p:nvPr/>
        </p:nvSpPr>
        <p:spPr>
          <a:xfrm>
            <a:off x="624108" y="136480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TCCECH.05.016</a:t>
            </a:r>
            <a:endParaRPr lang="en-US" sz="500" dirty="0"/>
          </a:p>
        </p:txBody>
      </p:sp>
      <p:sp>
        <p:nvSpPr>
          <p:cNvPr id="240" name="Text 238"/>
          <p:cNvSpPr/>
          <p:nvPr/>
        </p:nvSpPr>
        <p:spPr>
          <a:xfrm>
            <a:off x="1409950" y="26469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TCCECH.05.017</a:t>
            </a:r>
            <a:endParaRPr lang="en-US" sz="500" dirty="0"/>
          </a:p>
        </p:txBody>
      </p:sp>
      <p:sp>
        <p:nvSpPr>
          <p:cNvPr id="241" name="Text 239"/>
          <p:cNvSpPr/>
          <p:nvPr/>
        </p:nvSpPr>
        <p:spPr>
          <a:xfrm>
            <a:off x="2918098" y="433171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TCCECH.06.019</a:t>
            </a:r>
            <a:endParaRPr lang="en-US" sz="500" dirty="0"/>
          </a:p>
        </p:txBody>
      </p:sp>
      <p:sp>
        <p:nvSpPr>
          <p:cNvPr id="242" name="Text 240"/>
          <p:cNvSpPr/>
          <p:nvPr/>
        </p:nvSpPr>
        <p:spPr>
          <a:xfrm>
            <a:off x="992487" y="20192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TCCECH.06.017</a:t>
            </a:r>
            <a:endParaRPr lang="en-US" sz="500" dirty="0"/>
          </a:p>
        </p:txBody>
      </p:sp>
      <p:sp>
        <p:nvSpPr>
          <p:cNvPr id="243" name="Text 241"/>
          <p:cNvSpPr/>
          <p:nvPr/>
        </p:nvSpPr>
        <p:spPr>
          <a:xfrm>
            <a:off x="1870977" y="324142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TCCECH.06.018</a:t>
            </a:r>
            <a:endParaRPr lang="en-US" sz="500" dirty="0"/>
          </a:p>
        </p:txBody>
      </p:sp>
      <p:sp>
        <p:nvSpPr>
          <p:cNvPr id="244" name="Text 242"/>
          <p:cNvSpPr/>
          <p:nvPr/>
        </p:nvSpPr>
        <p:spPr>
          <a:xfrm>
            <a:off x="3506902" y="48045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TCCECH.04.001</a:t>
            </a:r>
            <a:endParaRPr lang="en-US" sz="500" dirty="0"/>
          </a:p>
        </p:txBody>
      </p:sp>
      <p:sp>
        <p:nvSpPr>
          <p:cNvPr id="245" name="Text 243"/>
          <p:cNvSpPr/>
          <p:nvPr/>
        </p:nvSpPr>
        <p:spPr>
          <a:xfrm>
            <a:off x="2375968" y="379911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TCCECH.05.018</a:t>
            </a:r>
            <a:endParaRPr lang="en-US" sz="500" dirty="0"/>
          </a:p>
        </p:txBody>
      </p:sp>
      <p:sp>
        <p:nvSpPr>
          <p:cNvPr id="246" name="Text 244"/>
          <p:cNvSpPr/>
          <p:nvPr/>
        </p:nvSpPr>
        <p:spPr>
          <a:xfrm>
            <a:off x="5549049" y="37284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P4.037</a:t>
            </a:r>
            <a:endParaRPr lang="en-US" sz="500" dirty="0"/>
          </a:p>
        </p:txBody>
      </p:sp>
      <p:sp>
        <p:nvSpPr>
          <p:cNvPr id="247" name="Text 245"/>
          <p:cNvSpPr/>
          <p:nvPr/>
        </p:nvSpPr>
        <p:spPr>
          <a:xfrm>
            <a:off x="8781754" y="64419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P4.039</a:t>
            </a:r>
            <a:endParaRPr lang="en-US" sz="500" dirty="0"/>
          </a:p>
        </p:txBody>
      </p:sp>
      <p:sp>
        <p:nvSpPr>
          <p:cNvPr id="248" name="Text 246"/>
          <p:cNvSpPr/>
          <p:nvPr/>
        </p:nvSpPr>
        <p:spPr>
          <a:xfrm>
            <a:off x="9207347" y="59708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HH.E.057</a:t>
            </a:r>
            <a:endParaRPr lang="en-US" sz="500" dirty="0"/>
          </a:p>
        </p:txBody>
      </p:sp>
      <p:sp>
        <p:nvSpPr>
          <p:cNvPr id="249" name="Text 247"/>
          <p:cNvSpPr/>
          <p:nvPr/>
        </p:nvSpPr>
        <p:spPr>
          <a:xfrm>
            <a:off x="5834919" y="308815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HH.E.061</a:t>
            </a:r>
            <a:endParaRPr lang="en-US" sz="500" dirty="0"/>
          </a:p>
        </p:txBody>
      </p:sp>
      <p:sp>
        <p:nvSpPr>
          <p:cNvPr id="250" name="Text 248"/>
          <p:cNvSpPr/>
          <p:nvPr/>
        </p:nvSpPr>
        <p:spPr>
          <a:xfrm>
            <a:off x="6045809" y="3258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HH.E.060</a:t>
            </a:r>
            <a:endParaRPr lang="en-US" sz="500" dirty="0"/>
          </a:p>
        </p:txBody>
      </p:sp>
      <p:sp>
        <p:nvSpPr>
          <p:cNvPr id="251" name="Text 249"/>
          <p:cNvSpPr/>
          <p:nvPr/>
        </p:nvSpPr>
        <p:spPr>
          <a:xfrm>
            <a:off x="4372443" y="166171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HH.E4.010</a:t>
            </a:r>
            <a:endParaRPr lang="en-US" sz="500" dirty="0"/>
          </a:p>
        </p:txBody>
      </p:sp>
      <p:sp>
        <p:nvSpPr>
          <p:cNvPr id="252" name="Text 250"/>
          <p:cNvSpPr/>
          <p:nvPr/>
        </p:nvSpPr>
        <p:spPr>
          <a:xfrm>
            <a:off x="8102109" y="509557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HH.E.058</a:t>
            </a:r>
            <a:endParaRPr lang="en-US" sz="500" dirty="0"/>
          </a:p>
        </p:txBody>
      </p:sp>
      <p:sp>
        <p:nvSpPr>
          <p:cNvPr id="253" name="Text 251"/>
          <p:cNvSpPr/>
          <p:nvPr/>
        </p:nvSpPr>
        <p:spPr>
          <a:xfrm>
            <a:off x="7141211" y="41114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HH.E.059</a:t>
            </a:r>
            <a:endParaRPr lang="en-US" sz="500" dirty="0"/>
          </a:p>
        </p:txBody>
      </p:sp>
      <p:sp>
        <p:nvSpPr>
          <p:cNvPr id="254" name="Text 252"/>
          <p:cNvSpPr/>
          <p:nvPr/>
        </p:nvSpPr>
        <p:spPr>
          <a:xfrm>
            <a:off x="1739284" y="61884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P4.041</a:t>
            </a:r>
            <a:endParaRPr lang="en-US" sz="500" dirty="0"/>
          </a:p>
        </p:txBody>
      </p:sp>
      <p:sp>
        <p:nvSpPr>
          <p:cNvPr id="255" name="Text 253"/>
          <p:cNvSpPr/>
          <p:nvPr/>
        </p:nvSpPr>
        <p:spPr>
          <a:xfrm>
            <a:off x="4723859" y="195691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MH.E.015</a:t>
            </a:r>
            <a:endParaRPr lang="en-US" sz="500" dirty="0"/>
          </a:p>
        </p:txBody>
      </p:sp>
      <p:sp>
        <p:nvSpPr>
          <p:cNvPr id="256" name="Text 254"/>
          <p:cNvSpPr/>
          <p:nvPr/>
        </p:nvSpPr>
        <p:spPr>
          <a:xfrm>
            <a:off x="1082123" y="651087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MH.E.023</a:t>
            </a:r>
            <a:endParaRPr lang="en-US" sz="500" dirty="0"/>
          </a:p>
        </p:txBody>
      </p:sp>
      <p:sp>
        <p:nvSpPr>
          <p:cNvPr id="257" name="Text 255"/>
          <p:cNvSpPr/>
          <p:nvPr/>
        </p:nvSpPr>
        <p:spPr>
          <a:xfrm>
            <a:off x="1730149" y="82638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SGC102.02.015</a:t>
            </a:r>
            <a:endParaRPr lang="en-US" sz="500" dirty="0"/>
          </a:p>
        </p:txBody>
      </p:sp>
      <p:sp>
        <p:nvSpPr>
          <p:cNvPr id="258" name="Text 256"/>
          <p:cNvSpPr/>
          <p:nvPr/>
        </p:nvSpPr>
        <p:spPr>
          <a:xfrm>
            <a:off x="5847466" y="22595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SGC102.02.014</a:t>
            </a:r>
            <a:endParaRPr lang="en-US" sz="500" dirty="0"/>
          </a:p>
        </p:txBody>
      </p:sp>
      <p:sp>
        <p:nvSpPr>
          <p:cNvPr id="259" name="Shape 257"/>
          <p:cNvSpPr/>
          <p:nvPr/>
        </p:nvSpPr>
        <p:spPr>
          <a:xfrm>
            <a:off x="4545701" y="4425288"/>
            <a:ext cx="210312" cy="210312"/>
          </a:xfrm>
          <a:prstGeom prst="ellipse">
            <a:avLst/>
          </a:prstGeom>
          <a:noFill/>
          <a:ln w="28575">
            <a:solidFill>
              <a:srgbClr val="9AA0A6"/>
            </a:solidFill>
            <a:prstDash val="solid"/>
          </a:ln>
        </p:spPr>
        <p:txBody>
          <a:bodyPr/>
          <a:lstStyle/>
          <a:p>
            <a:endParaRPr lang="en-US"/>
          </a:p>
        </p:txBody>
      </p:sp>
      <p:sp>
        <p:nvSpPr>
          <p:cNvPr id="260" name="Shape 258"/>
          <p:cNvSpPr/>
          <p:nvPr/>
        </p:nvSpPr>
        <p:spPr>
          <a:xfrm>
            <a:off x="4595993" y="4475580"/>
            <a:ext cx="109728" cy="109728"/>
          </a:xfrm>
          <a:prstGeom prst="ellipse">
            <a:avLst/>
          </a:prstGeom>
          <a:solidFill>
            <a:srgbClr val="9AA0A6"/>
          </a:solidFill>
          <a:ln w="6350">
            <a:solidFill>
              <a:srgbClr val="9AA0A6"/>
            </a:solidFill>
            <a:prstDash val="solid"/>
          </a:ln>
        </p:spPr>
        <p:txBody>
          <a:bodyPr/>
          <a:lstStyle/>
          <a:p>
            <a:endParaRPr lang="en-US"/>
          </a:p>
        </p:txBody>
      </p:sp>
      <p:sp>
        <p:nvSpPr>
          <p:cNvPr id="261" name="Text 259"/>
          <p:cNvSpPr/>
          <p:nvPr/>
        </p:nvSpPr>
        <p:spPr>
          <a:xfrm>
            <a:off x="4769729" y="43109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SBC102-01/038</a:t>
            </a:r>
            <a:endParaRPr lang="en-US" sz="650" dirty="0"/>
          </a:p>
        </p:txBody>
      </p:sp>
      <p:sp>
        <p:nvSpPr>
          <p:cNvPr id="262" name="Shape 260"/>
          <p:cNvSpPr/>
          <p:nvPr/>
        </p:nvSpPr>
        <p:spPr>
          <a:xfrm>
            <a:off x="4167886" y="4898259"/>
            <a:ext cx="210312" cy="210312"/>
          </a:xfrm>
          <a:prstGeom prst="ellipse">
            <a:avLst/>
          </a:prstGeom>
          <a:noFill/>
          <a:ln w="28575">
            <a:solidFill>
              <a:srgbClr val="9AA0A6"/>
            </a:solidFill>
            <a:prstDash val="solid"/>
          </a:ln>
        </p:spPr>
        <p:txBody>
          <a:bodyPr/>
          <a:lstStyle/>
          <a:p>
            <a:endParaRPr lang="en-US"/>
          </a:p>
        </p:txBody>
      </p:sp>
      <p:sp>
        <p:nvSpPr>
          <p:cNvPr id="263" name="Shape 261"/>
          <p:cNvSpPr/>
          <p:nvPr/>
        </p:nvSpPr>
        <p:spPr>
          <a:xfrm>
            <a:off x="4218178" y="4948551"/>
            <a:ext cx="109728" cy="109728"/>
          </a:xfrm>
          <a:prstGeom prst="ellipse">
            <a:avLst/>
          </a:prstGeom>
          <a:solidFill>
            <a:srgbClr val="9AA0A6"/>
          </a:solidFill>
          <a:ln w="6350">
            <a:solidFill>
              <a:srgbClr val="9AA0A6"/>
            </a:solidFill>
            <a:prstDash val="solid"/>
          </a:ln>
        </p:spPr>
        <p:txBody>
          <a:bodyPr/>
          <a:lstStyle/>
          <a:p>
            <a:endParaRPr lang="en-US"/>
          </a:p>
        </p:txBody>
      </p:sp>
      <p:sp>
        <p:nvSpPr>
          <p:cNvPr id="264" name="Text 262"/>
          <p:cNvSpPr/>
          <p:nvPr/>
        </p:nvSpPr>
        <p:spPr>
          <a:xfrm>
            <a:off x="4391914" y="47839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SBC102-01/039</a:t>
            </a:r>
            <a:endParaRPr lang="en-US" sz="650" dirty="0"/>
          </a:p>
        </p:txBody>
      </p:sp>
      <p:sp>
        <p:nvSpPr>
          <p:cNvPr id="265" name="Shape 263"/>
          <p:cNvSpPr/>
          <p:nvPr/>
        </p:nvSpPr>
        <p:spPr>
          <a:xfrm>
            <a:off x="4356592" y="4661572"/>
            <a:ext cx="210312" cy="210312"/>
          </a:xfrm>
          <a:prstGeom prst="ellipse">
            <a:avLst/>
          </a:prstGeom>
          <a:noFill/>
          <a:ln w="28575">
            <a:solidFill>
              <a:srgbClr val="9AA0A6"/>
            </a:solidFill>
            <a:prstDash val="solid"/>
          </a:ln>
        </p:spPr>
        <p:txBody>
          <a:bodyPr/>
          <a:lstStyle/>
          <a:p>
            <a:endParaRPr lang="en-US"/>
          </a:p>
        </p:txBody>
      </p:sp>
      <p:sp>
        <p:nvSpPr>
          <p:cNvPr id="266" name="Shape 264"/>
          <p:cNvSpPr/>
          <p:nvPr/>
        </p:nvSpPr>
        <p:spPr>
          <a:xfrm>
            <a:off x="4406884" y="4711864"/>
            <a:ext cx="109728" cy="109728"/>
          </a:xfrm>
          <a:prstGeom prst="ellipse">
            <a:avLst/>
          </a:prstGeom>
          <a:solidFill>
            <a:srgbClr val="9AA0A6"/>
          </a:solidFill>
          <a:ln w="6350">
            <a:solidFill>
              <a:srgbClr val="9AA0A6"/>
            </a:solidFill>
            <a:prstDash val="solid"/>
          </a:ln>
        </p:spPr>
        <p:txBody>
          <a:bodyPr/>
          <a:lstStyle/>
          <a:p>
            <a:endParaRPr lang="en-US"/>
          </a:p>
        </p:txBody>
      </p:sp>
      <p:sp>
        <p:nvSpPr>
          <p:cNvPr id="267" name="Text 265"/>
          <p:cNvSpPr/>
          <p:nvPr/>
        </p:nvSpPr>
        <p:spPr>
          <a:xfrm>
            <a:off x="4580620" y="4547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SBC102-02/035</a:t>
            </a:r>
            <a:endParaRPr lang="en-US" sz="650" dirty="0"/>
          </a:p>
        </p:txBody>
      </p:sp>
      <p:sp>
        <p:nvSpPr>
          <p:cNvPr id="268" name="Shape 266"/>
          <p:cNvSpPr/>
          <p:nvPr/>
        </p:nvSpPr>
        <p:spPr>
          <a:xfrm>
            <a:off x="3980785" y="5133540"/>
            <a:ext cx="210312" cy="210312"/>
          </a:xfrm>
          <a:prstGeom prst="ellipse">
            <a:avLst/>
          </a:prstGeom>
          <a:noFill/>
          <a:ln w="28575">
            <a:solidFill>
              <a:srgbClr val="9AA0A6"/>
            </a:solidFill>
            <a:prstDash val="solid"/>
          </a:ln>
        </p:spPr>
        <p:txBody>
          <a:bodyPr/>
          <a:lstStyle/>
          <a:p>
            <a:endParaRPr lang="en-US"/>
          </a:p>
        </p:txBody>
      </p:sp>
      <p:sp>
        <p:nvSpPr>
          <p:cNvPr id="269" name="Shape 267"/>
          <p:cNvSpPr/>
          <p:nvPr/>
        </p:nvSpPr>
        <p:spPr>
          <a:xfrm>
            <a:off x="4031077" y="5183832"/>
            <a:ext cx="109728" cy="109728"/>
          </a:xfrm>
          <a:prstGeom prst="ellipse">
            <a:avLst/>
          </a:prstGeom>
          <a:solidFill>
            <a:srgbClr val="9AA0A6"/>
          </a:solidFill>
          <a:ln w="6350">
            <a:solidFill>
              <a:srgbClr val="9AA0A6"/>
            </a:solidFill>
            <a:prstDash val="solid"/>
          </a:ln>
        </p:spPr>
        <p:txBody>
          <a:bodyPr/>
          <a:lstStyle/>
          <a:p>
            <a:endParaRPr lang="en-US"/>
          </a:p>
        </p:txBody>
      </p:sp>
      <p:sp>
        <p:nvSpPr>
          <p:cNvPr id="270" name="Text 268"/>
          <p:cNvSpPr/>
          <p:nvPr/>
        </p:nvSpPr>
        <p:spPr>
          <a:xfrm>
            <a:off x="4204813" y="501924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SBC102-02/036</a:t>
            </a:r>
            <a:endParaRPr lang="en-US" sz="650" dirty="0"/>
          </a:p>
        </p:txBody>
      </p:sp>
      <p:sp>
        <p:nvSpPr>
          <p:cNvPr id="271" name="Shape 269"/>
          <p:cNvSpPr/>
          <p:nvPr/>
        </p:nvSpPr>
        <p:spPr>
          <a:xfrm>
            <a:off x="3791978" y="5366914"/>
            <a:ext cx="210312" cy="210312"/>
          </a:xfrm>
          <a:prstGeom prst="ellipse">
            <a:avLst/>
          </a:prstGeom>
          <a:noFill/>
          <a:ln w="28575">
            <a:solidFill>
              <a:srgbClr val="9AA0A6"/>
            </a:solidFill>
            <a:prstDash val="solid"/>
          </a:ln>
        </p:spPr>
        <p:txBody>
          <a:bodyPr/>
          <a:lstStyle/>
          <a:p>
            <a:endParaRPr lang="en-US"/>
          </a:p>
        </p:txBody>
      </p:sp>
      <p:sp>
        <p:nvSpPr>
          <p:cNvPr id="272" name="Shape 270"/>
          <p:cNvSpPr/>
          <p:nvPr/>
        </p:nvSpPr>
        <p:spPr>
          <a:xfrm>
            <a:off x="3842270" y="5417206"/>
            <a:ext cx="109728" cy="109728"/>
          </a:xfrm>
          <a:prstGeom prst="ellipse">
            <a:avLst/>
          </a:prstGeom>
          <a:solidFill>
            <a:srgbClr val="9AA0A6"/>
          </a:solidFill>
          <a:ln w="6350">
            <a:solidFill>
              <a:srgbClr val="9AA0A6"/>
            </a:solidFill>
            <a:prstDash val="solid"/>
          </a:ln>
        </p:spPr>
        <p:txBody>
          <a:bodyPr/>
          <a:lstStyle/>
          <a:p>
            <a:endParaRPr lang="en-US"/>
          </a:p>
        </p:txBody>
      </p:sp>
      <p:sp>
        <p:nvSpPr>
          <p:cNvPr id="273" name="Text 271"/>
          <p:cNvSpPr/>
          <p:nvPr/>
        </p:nvSpPr>
        <p:spPr>
          <a:xfrm>
            <a:off x="4016006" y="525261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SBC102-01/040</a:t>
            </a:r>
            <a:endParaRPr lang="en-US" sz="650" dirty="0"/>
          </a:p>
        </p:txBody>
      </p:sp>
      <p:sp>
        <p:nvSpPr>
          <p:cNvPr id="274" name="Shape 272"/>
          <p:cNvSpPr/>
          <p:nvPr/>
        </p:nvSpPr>
        <p:spPr>
          <a:xfrm>
            <a:off x="3413762" y="5836873"/>
            <a:ext cx="210312" cy="210312"/>
          </a:xfrm>
          <a:prstGeom prst="ellipse">
            <a:avLst/>
          </a:prstGeom>
          <a:noFill/>
          <a:ln w="28575">
            <a:solidFill>
              <a:srgbClr val="9AA0A6"/>
            </a:solidFill>
            <a:prstDash val="solid"/>
          </a:ln>
        </p:spPr>
        <p:txBody>
          <a:bodyPr/>
          <a:lstStyle/>
          <a:p>
            <a:endParaRPr lang="en-US"/>
          </a:p>
        </p:txBody>
      </p:sp>
      <p:sp>
        <p:nvSpPr>
          <p:cNvPr id="275" name="Shape 273"/>
          <p:cNvSpPr/>
          <p:nvPr/>
        </p:nvSpPr>
        <p:spPr>
          <a:xfrm>
            <a:off x="3464054" y="5887165"/>
            <a:ext cx="109728" cy="109728"/>
          </a:xfrm>
          <a:prstGeom prst="ellipse">
            <a:avLst/>
          </a:prstGeom>
          <a:solidFill>
            <a:srgbClr val="9AA0A6"/>
          </a:solidFill>
          <a:ln w="6350">
            <a:solidFill>
              <a:srgbClr val="9AA0A6"/>
            </a:solidFill>
            <a:prstDash val="solid"/>
          </a:ln>
        </p:spPr>
        <p:txBody>
          <a:bodyPr/>
          <a:lstStyle/>
          <a:p>
            <a:endParaRPr lang="en-US"/>
          </a:p>
        </p:txBody>
      </p:sp>
      <p:sp>
        <p:nvSpPr>
          <p:cNvPr id="276" name="Text 274"/>
          <p:cNvSpPr/>
          <p:nvPr/>
        </p:nvSpPr>
        <p:spPr>
          <a:xfrm>
            <a:off x="3637790" y="572257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SBC102-01/041</a:t>
            </a:r>
            <a:endParaRPr lang="en-US" sz="650" dirty="0"/>
          </a:p>
        </p:txBody>
      </p:sp>
      <p:sp>
        <p:nvSpPr>
          <p:cNvPr id="277" name="Shape 275"/>
          <p:cNvSpPr/>
          <p:nvPr/>
        </p:nvSpPr>
        <p:spPr>
          <a:xfrm>
            <a:off x="3602168" y="5601592"/>
            <a:ext cx="210312" cy="210312"/>
          </a:xfrm>
          <a:prstGeom prst="ellipse">
            <a:avLst/>
          </a:prstGeom>
          <a:noFill/>
          <a:ln w="28575">
            <a:solidFill>
              <a:srgbClr val="9AA0A6"/>
            </a:solidFill>
            <a:prstDash val="solid"/>
          </a:ln>
        </p:spPr>
        <p:txBody>
          <a:bodyPr/>
          <a:lstStyle/>
          <a:p>
            <a:endParaRPr lang="en-US"/>
          </a:p>
        </p:txBody>
      </p:sp>
      <p:sp>
        <p:nvSpPr>
          <p:cNvPr id="278" name="Shape 276"/>
          <p:cNvSpPr/>
          <p:nvPr/>
        </p:nvSpPr>
        <p:spPr>
          <a:xfrm>
            <a:off x="3652460" y="5651884"/>
            <a:ext cx="109728" cy="109728"/>
          </a:xfrm>
          <a:prstGeom prst="ellipse">
            <a:avLst/>
          </a:prstGeom>
          <a:solidFill>
            <a:srgbClr val="9AA0A6"/>
          </a:solidFill>
          <a:ln w="6350">
            <a:solidFill>
              <a:srgbClr val="9AA0A6"/>
            </a:solidFill>
            <a:prstDash val="solid"/>
          </a:ln>
        </p:spPr>
        <p:txBody>
          <a:bodyPr/>
          <a:lstStyle/>
          <a:p>
            <a:endParaRPr lang="en-US"/>
          </a:p>
        </p:txBody>
      </p:sp>
      <p:sp>
        <p:nvSpPr>
          <p:cNvPr id="279" name="Text 277"/>
          <p:cNvSpPr/>
          <p:nvPr/>
        </p:nvSpPr>
        <p:spPr>
          <a:xfrm>
            <a:off x="3826196" y="548729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SBC102-02/037</a:t>
            </a:r>
            <a:endParaRPr lang="en-US" sz="650" dirty="0"/>
          </a:p>
        </p:txBody>
      </p:sp>
      <p:sp>
        <p:nvSpPr>
          <p:cNvPr id="280" name="Shape 278"/>
          <p:cNvSpPr/>
          <p:nvPr/>
        </p:nvSpPr>
        <p:spPr>
          <a:xfrm>
            <a:off x="3226160" y="6071954"/>
            <a:ext cx="210312" cy="210312"/>
          </a:xfrm>
          <a:prstGeom prst="ellipse">
            <a:avLst/>
          </a:prstGeom>
          <a:noFill/>
          <a:ln w="28575">
            <a:solidFill>
              <a:srgbClr val="9AA0A6"/>
            </a:solidFill>
            <a:prstDash val="solid"/>
          </a:ln>
        </p:spPr>
        <p:txBody>
          <a:bodyPr/>
          <a:lstStyle/>
          <a:p>
            <a:endParaRPr lang="en-US"/>
          </a:p>
        </p:txBody>
      </p:sp>
      <p:sp>
        <p:nvSpPr>
          <p:cNvPr id="281" name="Shape 279"/>
          <p:cNvSpPr/>
          <p:nvPr/>
        </p:nvSpPr>
        <p:spPr>
          <a:xfrm>
            <a:off x="3276452" y="6122246"/>
            <a:ext cx="109728" cy="109728"/>
          </a:xfrm>
          <a:prstGeom prst="ellipse">
            <a:avLst/>
          </a:prstGeom>
          <a:solidFill>
            <a:srgbClr val="9AA0A6"/>
          </a:solidFill>
          <a:ln w="6350">
            <a:solidFill>
              <a:srgbClr val="9AA0A6"/>
            </a:solidFill>
            <a:prstDash val="solid"/>
          </a:ln>
        </p:spPr>
        <p:txBody>
          <a:bodyPr/>
          <a:lstStyle/>
          <a:p>
            <a:endParaRPr lang="en-US"/>
          </a:p>
        </p:txBody>
      </p:sp>
      <p:sp>
        <p:nvSpPr>
          <p:cNvPr id="282" name="Text 280"/>
          <p:cNvSpPr/>
          <p:nvPr/>
        </p:nvSpPr>
        <p:spPr>
          <a:xfrm>
            <a:off x="3450188" y="595765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SBC102-02/038</a:t>
            </a:r>
            <a:endParaRPr lang="en-US" sz="650" dirty="0"/>
          </a:p>
        </p:txBody>
      </p:sp>
      <p:sp>
        <p:nvSpPr>
          <p:cNvPr id="283" name="Shape 281"/>
          <p:cNvSpPr/>
          <p:nvPr/>
        </p:nvSpPr>
        <p:spPr>
          <a:xfrm>
            <a:off x="3922668" y="5279988"/>
            <a:ext cx="210312" cy="210312"/>
          </a:xfrm>
          <a:prstGeom prst="ellipse">
            <a:avLst/>
          </a:prstGeom>
          <a:noFill/>
          <a:ln w="28575">
            <a:solidFill>
              <a:srgbClr val="CC0000"/>
            </a:solidFill>
            <a:prstDash val="solid"/>
          </a:ln>
        </p:spPr>
        <p:txBody>
          <a:bodyPr/>
          <a:lstStyle/>
          <a:p>
            <a:endParaRPr lang="en-US"/>
          </a:p>
        </p:txBody>
      </p:sp>
      <p:sp>
        <p:nvSpPr>
          <p:cNvPr id="284" name="Shape 282"/>
          <p:cNvSpPr/>
          <p:nvPr/>
        </p:nvSpPr>
        <p:spPr>
          <a:xfrm>
            <a:off x="3972960" y="5330280"/>
            <a:ext cx="109728" cy="109728"/>
          </a:xfrm>
          <a:prstGeom prst="ellipse">
            <a:avLst/>
          </a:prstGeom>
          <a:solidFill>
            <a:srgbClr val="E8710A"/>
          </a:solidFill>
          <a:ln w="6350">
            <a:solidFill>
              <a:srgbClr val="E8710A"/>
            </a:solidFill>
            <a:prstDash val="solid"/>
          </a:ln>
        </p:spPr>
        <p:txBody>
          <a:bodyPr/>
          <a:lstStyle/>
          <a:p>
            <a:endParaRPr lang="en-US"/>
          </a:p>
        </p:txBody>
      </p:sp>
      <p:sp>
        <p:nvSpPr>
          <p:cNvPr id="285" name="Text 283"/>
          <p:cNvSpPr/>
          <p:nvPr/>
        </p:nvSpPr>
        <p:spPr>
          <a:xfrm>
            <a:off x="4146696" y="51656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TCCECH-03/002</a:t>
            </a:r>
            <a:endParaRPr lang="en-US" sz="650" dirty="0"/>
          </a:p>
        </p:txBody>
      </p:sp>
      <p:sp>
        <p:nvSpPr>
          <p:cNvPr id="286" name="Shape 284"/>
          <p:cNvSpPr/>
          <p:nvPr/>
        </p:nvSpPr>
        <p:spPr>
          <a:xfrm>
            <a:off x="4510268" y="5748743"/>
            <a:ext cx="210312" cy="210312"/>
          </a:xfrm>
          <a:prstGeom prst="ellipse">
            <a:avLst/>
          </a:prstGeom>
          <a:noFill/>
          <a:ln w="28575">
            <a:solidFill>
              <a:srgbClr val="CC0000"/>
            </a:solidFill>
            <a:prstDash val="solid"/>
          </a:ln>
        </p:spPr>
        <p:txBody>
          <a:bodyPr/>
          <a:lstStyle/>
          <a:p>
            <a:endParaRPr lang="en-US"/>
          </a:p>
        </p:txBody>
      </p:sp>
      <p:sp>
        <p:nvSpPr>
          <p:cNvPr id="287" name="Shape 285"/>
          <p:cNvSpPr/>
          <p:nvPr/>
        </p:nvSpPr>
        <p:spPr>
          <a:xfrm>
            <a:off x="4560560" y="5799035"/>
            <a:ext cx="109728" cy="109728"/>
          </a:xfrm>
          <a:prstGeom prst="ellipse">
            <a:avLst/>
          </a:prstGeom>
          <a:solidFill>
            <a:srgbClr val="E8710A"/>
          </a:solidFill>
          <a:ln w="6350">
            <a:solidFill>
              <a:srgbClr val="E8710A"/>
            </a:solidFill>
            <a:prstDash val="solid"/>
          </a:ln>
        </p:spPr>
        <p:txBody>
          <a:bodyPr/>
          <a:lstStyle/>
          <a:p>
            <a:endParaRPr lang="en-US"/>
          </a:p>
        </p:txBody>
      </p:sp>
      <p:sp>
        <p:nvSpPr>
          <p:cNvPr id="288" name="Text 286"/>
          <p:cNvSpPr/>
          <p:nvPr/>
        </p:nvSpPr>
        <p:spPr>
          <a:xfrm>
            <a:off x="4734296" y="563444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TCCECH-04/002</a:t>
            </a:r>
            <a:endParaRPr lang="en-US" sz="650" dirty="0"/>
          </a:p>
        </p:txBody>
      </p:sp>
      <p:sp>
        <p:nvSpPr>
          <p:cNvPr id="289" name="Shape 287"/>
          <p:cNvSpPr/>
          <p:nvPr/>
        </p:nvSpPr>
        <p:spPr>
          <a:xfrm>
            <a:off x="5098671" y="6222618"/>
            <a:ext cx="210312" cy="210312"/>
          </a:xfrm>
          <a:prstGeom prst="ellipse">
            <a:avLst/>
          </a:prstGeom>
          <a:noFill/>
          <a:ln w="28575">
            <a:solidFill>
              <a:srgbClr val="CC0000"/>
            </a:solidFill>
            <a:prstDash val="solid"/>
          </a:ln>
        </p:spPr>
        <p:txBody>
          <a:bodyPr/>
          <a:lstStyle/>
          <a:p>
            <a:endParaRPr lang="en-US"/>
          </a:p>
        </p:txBody>
      </p:sp>
      <p:sp>
        <p:nvSpPr>
          <p:cNvPr id="290" name="Shape 288"/>
          <p:cNvSpPr/>
          <p:nvPr/>
        </p:nvSpPr>
        <p:spPr>
          <a:xfrm>
            <a:off x="5148963" y="6272910"/>
            <a:ext cx="109728" cy="109728"/>
          </a:xfrm>
          <a:prstGeom prst="ellipse">
            <a:avLst/>
          </a:prstGeom>
          <a:solidFill>
            <a:srgbClr val="E8710A"/>
          </a:solidFill>
          <a:ln w="6350">
            <a:solidFill>
              <a:srgbClr val="E8710A"/>
            </a:solidFill>
            <a:prstDash val="solid"/>
          </a:ln>
        </p:spPr>
        <p:txBody>
          <a:bodyPr/>
          <a:lstStyle/>
          <a:p>
            <a:endParaRPr lang="en-US"/>
          </a:p>
        </p:txBody>
      </p:sp>
      <p:sp>
        <p:nvSpPr>
          <p:cNvPr id="291" name="Text 289"/>
          <p:cNvSpPr/>
          <p:nvPr/>
        </p:nvSpPr>
        <p:spPr>
          <a:xfrm>
            <a:off x="5322699" y="610831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TCCECH-03/003</a:t>
            </a:r>
            <a:endParaRPr lang="en-US" sz="650" dirty="0"/>
          </a:p>
        </p:txBody>
      </p:sp>
      <p:sp>
        <p:nvSpPr>
          <p:cNvPr id="292" name="Shape 290"/>
          <p:cNvSpPr/>
          <p:nvPr/>
        </p:nvSpPr>
        <p:spPr>
          <a:xfrm>
            <a:off x="5683260" y="6695087"/>
            <a:ext cx="210312" cy="210312"/>
          </a:xfrm>
          <a:prstGeom prst="ellipse">
            <a:avLst/>
          </a:prstGeom>
          <a:noFill/>
          <a:ln w="28575">
            <a:solidFill>
              <a:srgbClr val="CC0000"/>
            </a:solidFill>
            <a:prstDash val="solid"/>
          </a:ln>
        </p:spPr>
        <p:txBody>
          <a:bodyPr/>
          <a:lstStyle/>
          <a:p>
            <a:endParaRPr lang="en-US"/>
          </a:p>
        </p:txBody>
      </p:sp>
      <p:sp>
        <p:nvSpPr>
          <p:cNvPr id="293" name="Shape 291"/>
          <p:cNvSpPr/>
          <p:nvPr/>
        </p:nvSpPr>
        <p:spPr>
          <a:xfrm>
            <a:off x="5733552" y="6745379"/>
            <a:ext cx="109728" cy="109728"/>
          </a:xfrm>
          <a:prstGeom prst="ellipse">
            <a:avLst/>
          </a:prstGeom>
          <a:solidFill>
            <a:srgbClr val="E8710A"/>
          </a:solidFill>
          <a:ln w="6350">
            <a:solidFill>
              <a:srgbClr val="E8710A"/>
            </a:solidFill>
            <a:prstDash val="solid"/>
          </a:ln>
        </p:spPr>
        <p:txBody>
          <a:bodyPr/>
          <a:lstStyle/>
          <a:p>
            <a:endParaRPr lang="en-US"/>
          </a:p>
        </p:txBody>
      </p:sp>
      <p:sp>
        <p:nvSpPr>
          <p:cNvPr id="294" name="Text 292"/>
          <p:cNvSpPr/>
          <p:nvPr/>
        </p:nvSpPr>
        <p:spPr>
          <a:xfrm>
            <a:off x="5907288" y="658078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TCCECH-04/003</a:t>
            </a:r>
            <a:endParaRPr lang="en-US" sz="650" dirty="0"/>
          </a:p>
        </p:txBody>
      </p:sp>
      <p:sp>
        <p:nvSpPr>
          <p:cNvPr id="295" name="Shape 293"/>
          <p:cNvSpPr/>
          <p:nvPr/>
        </p:nvSpPr>
        <p:spPr>
          <a:xfrm>
            <a:off x="6510959" y="5567966"/>
            <a:ext cx="210312" cy="210312"/>
          </a:xfrm>
          <a:prstGeom prst="ellipse">
            <a:avLst/>
          </a:prstGeom>
          <a:ln w="28575">
            <a:solidFill>
              <a:srgbClr val="BB00BB"/>
            </a:solidFill>
            <a:prstDash val="solid"/>
          </a:ln>
        </p:spPr>
        <p:txBody>
          <a:bodyPr/>
          <a:lstStyle/>
          <a:p>
            <a:endParaRPr lang="en-US"/>
          </a:p>
        </p:txBody>
      </p:sp>
      <p:sp>
        <p:nvSpPr>
          <p:cNvPr id="296" name="Shape 294"/>
          <p:cNvSpPr/>
          <p:nvPr/>
        </p:nvSpPr>
        <p:spPr>
          <a:xfrm>
            <a:off x="6561251" y="5618258"/>
            <a:ext cx="109728" cy="109728"/>
          </a:xfrm>
          <a:prstGeom prst="ellipse">
            <a:avLst/>
          </a:prstGeom>
          <a:solidFill>
            <a:srgbClr val="FFFFFF"/>
          </a:solidFill>
          <a:ln w="6350">
            <a:solidFill>
              <a:srgbClr val="FFFFFF"/>
            </a:solidFill>
            <a:prstDash val="solid"/>
          </a:ln>
        </p:spPr>
        <p:txBody>
          <a:bodyPr/>
          <a:lstStyle/>
          <a:p>
            <a:endParaRPr lang="en-US"/>
          </a:p>
        </p:txBody>
      </p:sp>
      <p:sp>
        <p:nvSpPr>
          <p:cNvPr id="297" name="Text 295"/>
          <p:cNvSpPr/>
          <p:nvPr/>
        </p:nvSpPr>
        <p:spPr>
          <a:xfrm>
            <a:off x="6734987" y="5453666"/>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RRM.557</a:t>
            </a:r>
            <a:endParaRPr lang="en-US" sz="650" dirty="0"/>
          </a:p>
        </p:txBody>
      </p:sp>
      <p:sp>
        <p:nvSpPr>
          <p:cNvPr id="298" name="Shape 296"/>
          <p:cNvSpPr/>
          <p:nvPr/>
        </p:nvSpPr>
        <p:spPr>
          <a:xfrm>
            <a:off x="5387252" y="4581071"/>
            <a:ext cx="210312" cy="210312"/>
          </a:xfrm>
          <a:prstGeom prst="ellipse">
            <a:avLst/>
          </a:prstGeom>
          <a:ln w="28575">
            <a:solidFill>
              <a:srgbClr val="BB00BB"/>
            </a:solidFill>
            <a:prstDash val="solid"/>
          </a:ln>
        </p:spPr>
        <p:txBody>
          <a:bodyPr/>
          <a:lstStyle/>
          <a:p>
            <a:endParaRPr lang="en-US"/>
          </a:p>
        </p:txBody>
      </p:sp>
      <p:sp>
        <p:nvSpPr>
          <p:cNvPr id="299" name="Shape 297"/>
          <p:cNvSpPr/>
          <p:nvPr/>
        </p:nvSpPr>
        <p:spPr>
          <a:xfrm>
            <a:off x="5437544" y="4631363"/>
            <a:ext cx="109728" cy="109728"/>
          </a:xfrm>
          <a:prstGeom prst="ellipse">
            <a:avLst/>
          </a:prstGeom>
          <a:solidFill>
            <a:srgbClr val="FFFFFF"/>
          </a:solidFill>
          <a:ln w="6350">
            <a:solidFill>
              <a:srgbClr val="FFFFFF"/>
            </a:solidFill>
            <a:prstDash val="solid"/>
          </a:ln>
        </p:spPr>
        <p:txBody>
          <a:bodyPr/>
          <a:lstStyle/>
          <a:p>
            <a:endParaRPr lang="en-US"/>
          </a:p>
        </p:txBody>
      </p:sp>
      <p:sp>
        <p:nvSpPr>
          <p:cNvPr id="300" name="Text 298"/>
          <p:cNvSpPr/>
          <p:nvPr/>
        </p:nvSpPr>
        <p:spPr>
          <a:xfrm>
            <a:off x="5611280" y="446677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RRM.670</a:t>
            </a:r>
            <a:endParaRPr lang="en-US" sz="650" dirty="0"/>
          </a:p>
        </p:txBody>
      </p:sp>
      <p:sp>
        <p:nvSpPr>
          <p:cNvPr id="301" name="Shape 299"/>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02" name="Text 300"/>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3 — 1003  ·  REV P08 (FINAL SCOPE)</a:t>
            </a:r>
            <a:endParaRPr lang="en-US" sz="1250" dirty="0"/>
          </a:p>
        </p:txBody>
      </p:sp>
      <p:sp>
        <p:nvSpPr>
          <p:cNvPr id="303" name="Text 301"/>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Second_milling_area rev _1 quantities) — FIELD CONDITION GOVERNS</a:t>
            </a:r>
            <a:endParaRPr lang="en-US" sz="800" dirty="0"/>
          </a:p>
        </p:txBody>
      </p:sp>
      <p:sp>
        <p:nvSpPr>
          <p:cNvPr id="304" name="Text 302"/>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95.1 m across · ZIA local grid (m) · duct geometry from Z1-Z2-Z3-MTA_SEGMENTATION source dwg · Rev P08 · issued 30.07.2026 · Prepared: Mohammed, AGL Team Leader — ADB SAFEGATE</a:t>
            </a:r>
          </a:p>
        </p:txBody>
      </p:sp>
      <p:sp>
        <p:nvSpPr>
          <p:cNvPr id="305" name="Shape 303"/>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306" name="Text 304"/>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07" name="Text 305"/>
          <p:cNvSpPr/>
          <p:nvPr/>
        </p:nvSpPr>
        <p:spPr>
          <a:xfrm>
            <a:off x="10241280" y="2386584"/>
            <a:ext cx="4434840" cy="1655978"/>
          </a:xfrm>
          <a:prstGeom prst="rect">
            <a:avLst/>
          </a:prstGeom>
          <a:noFill/>
          <a:ln/>
        </p:spPr>
        <p:txBody>
          <a:bodyPr wrap="square" lIns="0" tIns="0" rIns="0" bIns="0" rtlCol="0" anchor="t"/>
          <a:lstStyle/>
          <a:p>
            <a:pPr marL="0" indent="0">
              <a:lnSpc>
                <a:spcPct val="112000"/>
              </a:lnSpc>
              <a:buNone/>
            </a:pPr>
            <a:r>
              <a:rPr sz="680">
                <a:solidFill>
                  <a:srgbClr val="1F2937"/>
                </a:solidFill>
                <a:latin typeface="Arial"/>
              </a:rPr>
              <a:t>FINAL SCOPE (REV P08) — 4 No. TCC ONLY, SAW CUT</a:t>
            </a:r>
            <a:endParaRPr lang="en-US" sz="760" dirty="0"/>
          </a:p>
          <a:p>
            <a:r>
              <a:rPr sz="680">
                <a:solidFill>
                  <a:srgbClr val="1F2937"/>
                </a:solidFill>
                <a:latin typeface="Arial"/>
              </a:rPr>
              <a:t>NEW 12" SIDE-ENTRY SHALLOW BASE + NEW CABLE: 4 No.</a:t>
            </a:r>
          </a:p>
          <a:p>
            <a:r>
              <a:rPr sz="680">
                <a:solidFill>
                  <a:srgbClr val="1F2937"/>
                </a:solidFill>
                <a:latin typeface="Arial"/>
              </a:rPr>
              <a:t>   • TCCECH-03/002, 04/002, 03/003, 04/003</a:t>
            </a:r>
          </a:p>
          <a:p>
            <a:r>
              <a:rPr sz="680">
                <a:solidFill>
                  <a:srgbClr val="1F2937"/>
                </a:solidFill>
                <a:latin typeface="Arial"/>
              </a:rPr>
              <a:t>ROUTE: SAW CUT — these 4 No. were carried as VIA DUCT on Rev P06/P07.</a:t>
            </a:r>
          </a:p>
          <a:p>
            <a:r>
              <a:rPr sz="680">
                <a:solidFill>
                  <a:srgbClr val="1F2937"/>
                </a:solidFill>
                <a:latin typeface="Arial"/>
              </a:rPr>
              <a:t>   Saw cut detail per sheet SAW CUT &amp; SIDE-ENTRY SHALLOW BASE DETAIL — detail drawing to be issued.</a:t>
            </a:r>
          </a:p>
          <a:p>
            <a:r>
              <a:rPr sz="680">
                <a:solidFill>
                  <a:srgbClr val="1F2937"/>
                </a:solidFill>
                <a:latin typeface="Arial"/>
              </a:rPr>
              <a:t>REMOVED FROM SCOPE AT REV P08 — no works, 8 No. SBC:</a:t>
            </a:r>
          </a:p>
          <a:p>
            <a:r>
              <a:rPr sz="680">
                <a:solidFill>
                  <a:srgbClr val="1F2937"/>
                </a:solidFill>
                <a:latin typeface="Arial"/>
              </a:rPr>
              <a:t>   • SBC102-01/038, 01/039, 02/035, 02/036 (EP7 STOP BAR — was sawcut, base protect)</a:t>
            </a:r>
          </a:p>
          <a:p>
            <a:r>
              <a:rPr sz="680">
                <a:solidFill>
                  <a:srgbClr val="1F2937"/>
                </a:solidFill>
                <a:latin typeface="Arial"/>
              </a:rPr>
              <a:t>   • SBC102-01/040, 01/041, 02/037, 02/038 (was new cable only, via duct)</a:t>
            </a:r>
          </a:p>
          <a:p>
            <a:r>
              <a:rPr sz="680">
                <a:solidFill>
                  <a:srgbClr val="1F2937"/>
                </a:solidFill>
                <a:latin typeface="Arial"/>
              </a:rPr>
              <a:t>RRM.557 (0.07 m — treat as within works) &amp; RRM.670: REMOVE / PROTECT / RE-FIX</a:t>
            </a:r>
          </a:p>
          <a:p>
            <a:r>
              <a:rPr sz="680">
                <a:solidFill>
                  <a:srgbClr val="1F2937"/>
                </a:solidFill>
                <a:latin typeface="Arial"/>
              </a:rPr>
              <a:t>ISOLATE CIRCUITS: TCCECH.03/.04 — SBC102.01/.02 carries no AGL works here at P08;</a:t>
            </a:r>
          </a:p>
          <a:p>
            <a:r>
              <a:rPr sz="680">
                <a:solidFill>
                  <a:srgbClr val="1F2937"/>
                </a:solidFill>
                <a:latin typeface="Arial"/>
              </a:rPr>
              <a:t>   confirm isolation against the saw cut alignment before works.</a:t>
            </a:r>
          </a:p>
          <a:p>
            <a:r>
              <a:rPr sz="680">
                <a:solidFill>
                  <a:srgbClr val="1F2937"/>
                </a:solidFill>
                <a:latin typeface="Arial"/>
              </a:rPr>
              <a:t>REV P08 SUPERSEDES the Rev P06/P07 quantities. SUPERSEDED = no works; NOT a field verification that the asset is unaffected.</a:t>
            </a:r>
          </a:p>
          <a:p>
            <a:r>
              <a:rPr sz="680">
                <a:solidFill>
                  <a:srgbClr val="1F2937"/>
                </a:solidFill>
                <a:latin typeface="Arial"/>
              </a:rPr>
              <a:t>RED AGL WORKS AREA = Rev P05 field-condition milling extent, UNCHANGED at P08 — the civil milling limit, not a hull of the affected assets.</a:t>
            </a:r>
          </a:p>
        </p:txBody>
      </p:sp>
      <p:sp>
        <p:nvSpPr>
          <p:cNvPr id="308" name="Shape 306"/>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309" name="Text 307"/>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0" name="Text 308"/>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ALL THREE locations at P08: 8" at LOC-01, 12" at LOC-02 and LOC-03.</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311" name="Shape 309"/>
          <p:cNvSpPr/>
          <p:nvPr/>
        </p:nvSpPr>
        <p:spPr>
          <a:xfrm>
            <a:off x="10104120" y="6584594"/>
            <a:ext cx="4709160" cy="4104044"/>
          </a:xfrm>
          <a:prstGeom prst="rect">
            <a:avLst/>
          </a:prstGeom>
          <a:solidFill>
            <a:srgbClr val="F4F6F8"/>
          </a:solidFill>
          <a:ln w="9525">
            <a:solidFill>
              <a:srgbClr val="D5DAE0"/>
            </a:solidFill>
            <a:prstDash val="solid"/>
          </a:ln>
        </p:spPr>
        <p:txBody>
          <a:bodyPr/>
          <a:lstStyle/>
          <a:p>
            <a:endParaRPr lang="en-US"/>
          </a:p>
        </p:txBody>
      </p:sp>
      <p:sp>
        <p:nvSpPr>
          <p:cNvPr id="312" name="Text 310"/>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13" name="Shape 311"/>
          <p:cNvSpPr/>
          <p:nvPr/>
        </p:nvSpPr>
        <p:spPr>
          <a:xfrm>
            <a:off x="10241280" y="7158310"/>
            <a:ext cx="192024" cy="192024"/>
          </a:xfrm>
          <a:prstGeom prst="ellipse">
            <a:avLst/>
          </a:prstGeom>
          <a:noFill/>
          <a:ln w="28575">
            <a:solidFill>
              <a:srgbClr val="CC0000"/>
            </a:solidFill>
            <a:prstDash val="solid"/>
          </a:ln>
        </p:spPr>
        <p:txBody>
          <a:bodyPr/>
          <a:lstStyle/>
          <a:p>
            <a:endParaRPr lang="en-US"/>
          </a:p>
        </p:txBody>
      </p:sp>
      <p:sp>
        <p:nvSpPr>
          <p:cNvPr id="314" name="Shape 312"/>
          <p:cNvSpPr/>
          <p:nvPr/>
        </p:nvSpPr>
        <p:spPr>
          <a:xfrm>
            <a:off x="10287000" y="7204030"/>
            <a:ext cx="100584" cy="100584"/>
          </a:xfrm>
          <a:prstGeom prst="ellipse">
            <a:avLst/>
          </a:prstGeom>
          <a:solidFill>
            <a:srgbClr val="E8710A"/>
          </a:solidFill>
          <a:ln w="6350">
            <a:solidFill>
              <a:srgbClr val="E8710A"/>
            </a:solidFill>
            <a:prstDash val="solid"/>
          </a:ln>
        </p:spPr>
        <p:txBody>
          <a:bodyPr/>
          <a:lstStyle/>
          <a:p>
            <a:endParaRPr lang="en-US"/>
          </a:p>
        </p:txBody>
      </p:sp>
      <p:sp>
        <p:nvSpPr>
          <p:cNvPr id="315" name="Text 313"/>
          <p:cNvSpPr/>
          <p:nvPr/>
        </p:nvSpPr>
        <p:spPr>
          <a:xfrm>
            <a:off x="10552176" y="714459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12" + SIDE-ENTRY BASE (SAWCUT)</a:t>
            </a:r>
            <a:endParaRPr lang="en-US" sz="740" dirty="0"/>
          </a:p>
        </p:txBody>
      </p:sp>
      <p:sp>
        <p:nvSpPr>
          <p:cNvPr id="316" name="Shape 314"/>
          <p:cNvSpPr/>
          <p:nvPr/>
        </p:nvSpPr>
        <p:spPr>
          <a:xfrm>
            <a:off x="10241280" y="7432630"/>
            <a:ext cx="192024" cy="192024"/>
          </a:xfrm>
          <a:prstGeom prst="ellipse">
            <a:avLst/>
          </a:prstGeom>
          <a:noFill/>
          <a:ln w="28575">
            <a:solidFill>
              <a:srgbClr val="9AA0A6"/>
            </a:solidFill>
            <a:prstDash val="solid"/>
          </a:ln>
        </p:spPr>
        <p:txBody>
          <a:bodyPr/>
          <a:lstStyle/>
          <a:p>
            <a:endParaRPr lang="en-US"/>
          </a:p>
        </p:txBody>
      </p:sp>
      <p:sp>
        <p:nvSpPr>
          <p:cNvPr id="317" name="Shape 315"/>
          <p:cNvSpPr/>
          <p:nvPr/>
        </p:nvSpPr>
        <p:spPr>
          <a:xfrm>
            <a:off x="10287000" y="7478350"/>
            <a:ext cx="100584" cy="100584"/>
          </a:xfrm>
          <a:prstGeom prst="ellipse">
            <a:avLst/>
          </a:prstGeom>
          <a:solidFill>
            <a:srgbClr val="9AA0A6"/>
          </a:solidFill>
          <a:ln w="6350">
            <a:solidFill>
              <a:srgbClr val="9AA0A6"/>
            </a:solidFill>
            <a:prstDash val="solid"/>
          </a:ln>
        </p:spPr>
        <p:txBody>
          <a:bodyPr/>
          <a:lstStyle/>
          <a:p>
            <a:endParaRPr lang="en-US"/>
          </a:p>
        </p:txBody>
      </p:sp>
      <p:sp>
        <p:nvSpPr>
          <p:cNvPr id="318" name="Text 316"/>
          <p:cNvSpPr/>
          <p:nvPr/>
        </p:nvSpPr>
        <p:spPr>
          <a:xfrm>
            <a:off x="10552176" y="741891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SUPERSEDED — NOT IN REV P08 SCOPE</a:t>
            </a:r>
            <a:endParaRPr lang="en-US" sz="740" dirty="0"/>
          </a:p>
        </p:txBody>
      </p:sp>
      <p:sp>
        <p:nvSpPr>
          <p:cNvPr id="319" name="Shape 317"/>
          <p:cNvSpPr/>
          <p:nvPr/>
        </p:nvSpPr>
        <p:spPr>
          <a:xfrm>
            <a:off x="10241280" y="7706950"/>
            <a:ext cx="192024" cy="192024"/>
          </a:xfrm>
          <a:prstGeom prst="ellipse">
            <a:avLst/>
          </a:prstGeom>
          <a:noFill/>
          <a:ln w="28575">
            <a:solidFill>
              <a:srgbClr val="BB00BB"/>
            </a:solidFill>
            <a:prstDash val="solid"/>
          </a:ln>
        </p:spPr>
        <p:txBody>
          <a:bodyPr/>
          <a:lstStyle/>
          <a:p>
            <a:endParaRPr lang="en-US"/>
          </a:p>
        </p:txBody>
      </p:sp>
      <p:sp>
        <p:nvSpPr>
          <p:cNvPr id="320" name="Shape 318"/>
          <p:cNvSpPr/>
          <p:nvPr/>
        </p:nvSpPr>
        <p:spPr>
          <a:xfrm>
            <a:off x="10287000" y="7752670"/>
            <a:ext cx="100584" cy="100584"/>
          </a:xfrm>
          <a:prstGeom prst="ellipse">
            <a:avLst/>
          </a:prstGeom>
          <a:solidFill>
            <a:srgbClr val="FFFFFF"/>
          </a:solidFill>
          <a:ln w="6350">
            <a:solidFill>
              <a:srgbClr val="FFFFFF"/>
            </a:solidFill>
            <a:prstDash val="solid"/>
          </a:ln>
        </p:spPr>
        <p:txBody>
          <a:bodyPr/>
          <a:lstStyle/>
          <a:p>
            <a:endParaRPr lang="en-US"/>
          </a:p>
        </p:txBody>
      </p:sp>
      <p:sp>
        <p:nvSpPr>
          <p:cNvPr id="321" name="Text 319"/>
          <p:cNvSpPr/>
          <p:nvPr/>
        </p:nvSpPr>
        <p:spPr>
          <a:xfrm>
            <a:off x="10552176" y="7693234"/>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324" name="Shape 322"/>
          <p:cNvSpPr/>
          <p:nvPr/>
        </p:nvSpPr>
        <p:spPr>
          <a:xfrm>
            <a:off x="10241280" y="8077282"/>
            <a:ext cx="274320" cy="914"/>
          </a:xfrm>
          <a:prstGeom prst="line">
            <a:avLst/>
          </a:prstGeom>
          <a:noFill/>
          <a:ln w="22225">
            <a:solidFill>
              <a:srgbClr val="0B3D91"/>
            </a:solidFill>
            <a:prstDash val="solid"/>
          </a:ln>
        </p:spPr>
        <p:txBody>
          <a:bodyPr/>
          <a:lstStyle/>
          <a:p>
            <a:endParaRPr lang="en-US"/>
          </a:p>
        </p:txBody>
      </p:sp>
      <p:sp>
        <p:nvSpPr>
          <p:cNvPr id="325" name="Text 323"/>
          <p:cNvSpPr/>
          <p:nvPr/>
        </p:nvSpPr>
        <p:spPr>
          <a:xfrm>
            <a:off x="10588752" y="796755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326" name="Shape 324"/>
          <p:cNvSpPr/>
          <p:nvPr/>
        </p:nvSpPr>
        <p:spPr>
          <a:xfrm>
            <a:off x="10241280" y="8351602"/>
            <a:ext cx="274320" cy="914"/>
          </a:xfrm>
          <a:prstGeom prst="line">
            <a:avLst/>
          </a:prstGeom>
          <a:noFill/>
          <a:ln w="15875">
            <a:solidFill>
              <a:srgbClr val="00838F"/>
            </a:solidFill>
            <a:prstDash val="dash"/>
          </a:ln>
        </p:spPr>
        <p:txBody>
          <a:bodyPr/>
          <a:lstStyle/>
          <a:p>
            <a:endParaRPr lang="en-US"/>
          </a:p>
        </p:txBody>
      </p:sp>
      <p:sp>
        <p:nvSpPr>
          <p:cNvPr id="327" name="Text 325"/>
          <p:cNvSpPr/>
          <p:nvPr/>
        </p:nvSpPr>
        <p:spPr>
          <a:xfrm>
            <a:off x="10588752" y="824187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328" name="Shape 326"/>
          <p:cNvSpPr/>
          <p:nvPr/>
        </p:nvSpPr>
        <p:spPr>
          <a:xfrm>
            <a:off x="10241280" y="8625922"/>
            <a:ext cx="274320" cy="914"/>
          </a:xfrm>
          <a:prstGeom prst="line">
            <a:avLst/>
          </a:prstGeom>
          <a:noFill/>
          <a:ln w="31750">
            <a:solidFill>
              <a:srgbClr val="CC0000"/>
            </a:solidFill>
            <a:prstDash val="solid"/>
          </a:ln>
        </p:spPr>
        <p:txBody>
          <a:bodyPr/>
          <a:lstStyle/>
          <a:p>
            <a:endParaRPr lang="en-US"/>
          </a:p>
        </p:txBody>
      </p:sp>
      <p:sp>
        <p:nvSpPr>
          <p:cNvPr id="329" name="Text 327"/>
          <p:cNvSpPr/>
          <p:nvPr/>
        </p:nvSpPr>
        <p:spPr>
          <a:xfrm>
            <a:off x="10588752" y="851619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330" name="Shape 328"/>
          <p:cNvSpPr/>
          <p:nvPr/>
        </p:nvSpPr>
        <p:spPr>
          <a:xfrm>
            <a:off x="10241280" y="8900242"/>
            <a:ext cx="274320" cy="914"/>
          </a:xfrm>
          <a:prstGeom prst="line">
            <a:avLst/>
          </a:prstGeom>
          <a:noFill/>
          <a:ln w="19050">
            <a:solidFill>
              <a:srgbClr val="C7A400"/>
            </a:solidFill>
            <a:prstDash val="dashDot"/>
          </a:ln>
        </p:spPr>
        <p:txBody>
          <a:bodyPr/>
          <a:lstStyle/>
          <a:p>
            <a:endParaRPr lang="en-US"/>
          </a:p>
        </p:txBody>
      </p:sp>
      <p:sp>
        <p:nvSpPr>
          <p:cNvPr id="331" name="Text 329"/>
          <p:cNvSpPr/>
          <p:nvPr/>
        </p:nvSpPr>
        <p:spPr>
          <a:xfrm>
            <a:off x="10588752" y="879051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332" name="Shape 330"/>
          <p:cNvSpPr/>
          <p:nvPr/>
        </p:nvSpPr>
        <p:spPr>
          <a:xfrm>
            <a:off x="10241280" y="9174562"/>
            <a:ext cx="274320" cy="914"/>
          </a:xfrm>
          <a:prstGeom prst="line">
            <a:avLst/>
          </a:prstGeom>
          <a:noFill/>
          <a:ln w="28575">
            <a:solidFill>
              <a:srgbClr val="8B0000"/>
            </a:solidFill>
            <a:prstDash val="solid"/>
          </a:ln>
        </p:spPr>
        <p:txBody>
          <a:bodyPr/>
          <a:lstStyle/>
          <a:p>
            <a:endParaRPr lang="en-US"/>
          </a:p>
        </p:txBody>
      </p:sp>
      <p:sp>
        <p:nvSpPr>
          <p:cNvPr id="333" name="Text 331"/>
          <p:cNvSpPr/>
          <p:nvPr/>
        </p:nvSpPr>
        <p:spPr>
          <a:xfrm>
            <a:off x="10588752" y="906483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STOP BAR (AS-BUILT)</a:t>
            </a:r>
            <a:endParaRPr lang="en-US" sz="740" dirty="0"/>
          </a:p>
        </p:txBody>
      </p:sp>
      <p:sp>
        <p:nvSpPr>
          <p:cNvPr id="334" name="Shape 332"/>
          <p:cNvSpPr/>
          <p:nvPr/>
        </p:nvSpPr>
        <p:spPr>
          <a:xfrm>
            <a:off x="10241280" y="9448882"/>
            <a:ext cx="274320" cy="914"/>
          </a:xfrm>
          <a:prstGeom prst="line">
            <a:avLst/>
          </a:prstGeom>
          <a:noFill/>
          <a:ln w="12700">
            <a:solidFill>
              <a:srgbClr val="7A8288"/>
            </a:solidFill>
            <a:prstDash val="solid"/>
          </a:ln>
        </p:spPr>
        <p:txBody>
          <a:bodyPr/>
          <a:lstStyle/>
          <a:p>
            <a:endParaRPr lang="en-US"/>
          </a:p>
        </p:txBody>
      </p:sp>
      <p:sp>
        <p:nvSpPr>
          <p:cNvPr id="335" name="Text 333"/>
          <p:cNvSpPr/>
          <p:nvPr/>
        </p:nvSpPr>
        <p:spPr>
          <a:xfrm>
            <a:off x="10588752" y="933915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414" name="TextBox 413"/>
          <p:cNvSpPr txBox="1"/>
          <p:nvPr/>
        </p:nvSpPr>
        <p:spPr>
          <a:xfrm>
            <a:off x="10241280" y="6914594"/>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415" name="TextBox 414"/>
          <p:cNvSpPr txBox="1"/>
          <p:nvPr/>
        </p:nvSpPr>
        <p:spPr>
          <a:xfrm>
            <a:off x="12488700" y="6914594"/>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416" name="ASBUILT ASSET · Taxiway centreline light"/>
          <p:cNvSpPr/>
          <p:nvPr/>
        </p:nvSpPr>
        <p:spPr>
          <a:xfrm>
            <a:off x="12552980" y="720887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TextBox 416"/>
          <p:cNvSpPr txBox="1"/>
          <p:nvPr/>
        </p:nvSpPr>
        <p:spPr>
          <a:xfrm>
            <a:off x="12738700" y="7139594"/>
            <a:ext cx="1937420" cy="230000"/>
          </a:xfrm>
          <a:prstGeom prst="rect">
            <a:avLst/>
          </a:prstGeom>
          <a:noFill/>
        </p:spPr>
        <p:txBody>
          <a:bodyPr wrap="square" lIns="0" rIns="0" tIns="0" bIns="0">
            <a:spAutoFit/>
          </a:bodyPr>
          <a:lstStyle/>
          <a:p>
            <a:r>
              <a:rPr sz="700">
                <a:solidFill>
                  <a:srgbClr val="20242A"/>
                </a:solidFill>
              </a:rPr>
              <a:t>TWY CENTRELINE LIGHT  (23)</a:t>
            </a:r>
          </a:p>
        </p:txBody>
      </p:sp>
      <p:sp>
        <p:nvSpPr>
          <p:cNvPr id="418" name="ASBUILT ASSET · Stop bar light"/>
          <p:cNvSpPr/>
          <p:nvPr/>
        </p:nvSpPr>
        <p:spPr>
          <a:xfrm>
            <a:off x="12552980" y="7483194"/>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12738700" y="7413914"/>
            <a:ext cx="1937420" cy="230000"/>
          </a:xfrm>
          <a:prstGeom prst="rect">
            <a:avLst/>
          </a:prstGeom>
          <a:noFill/>
        </p:spPr>
        <p:txBody>
          <a:bodyPr wrap="square" lIns="0" rIns="0" tIns="0" bIns="0">
            <a:spAutoFit/>
          </a:bodyPr>
          <a:lstStyle/>
          <a:p>
            <a:r>
              <a:rPr sz="700">
                <a:solidFill>
                  <a:srgbClr val="20242A"/>
                </a:solidFill>
              </a:rPr>
              <a:t>STOP BAR LIGHT  (8)</a:t>
            </a:r>
          </a:p>
        </p:txBody>
      </p:sp>
      <p:sp>
        <p:nvSpPr>
          <p:cNvPr id="420" name="ASBUILT ASSET · Runway guard light / RRM"/>
          <p:cNvSpPr/>
          <p:nvPr/>
        </p:nvSpPr>
        <p:spPr>
          <a:xfrm>
            <a:off x="12548408" y="775294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TextBox 420"/>
          <p:cNvSpPr txBox="1"/>
          <p:nvPr/>
        </p:nvSpPr>
        <p:spPr>
          <a:xfrm>
            <a:off x="12738700" y="7688234"/>
            <a:ext cx="1937420" cy="230000"/>
          </a:xfrm>
          <a:prstGeom prst="rect">
            <a:avLst/>
          </a:prstGeom>
          <a:noFill/>
        </p:spPr>
        <p:txBody>
          <a:bodyPr wrap="square" lIns="0" rIns="0" tIns="0" bIns="0">
            <a:spAutoFit/>
          </a:bodyPr>
          <a:lstStyle/>
          <a:p>
            <a:r>
              <a:rPr sz="700">
                <a:solidFill>
                  <a:srgbClr val="20242A"/>
                </a:solidFill>
              </a:rPr>
              <a:t>RUNWAY GUARD LIGHT / RRM  (9)</a:t>
            </a:r>
          </a:p>
        </p:txBody>
      </p:sp>
      <p:sp>
        <p:nvSpPr>
          <p:cNvPr id="422" name="ASBUILT ASSET · Existing light base"/>
          <p:cNvSpPr/>
          <p:nvPr/>
        </p:nvSpPr>
        <p:spPr>
          <a:xfrm>
            <a:off x="12548408" y="8027262"/>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TextBox 422"/>
          <p:cNvSpPr txBox="1"/>
          <p:nvPr/>
        </p:nvSpPr>
        <p:spPr>
          <a:xfrm>
            <a:off x="12738700" y="7962554"/>
            <a:ext cx="1937420" cy="230000"/>
          </a:xfrm>
          <a:prstGeom prst="rect">
            <a:avLst/>
          </a:prstGeom>
          <a:noFill/>
        </p:spPr>
        <p:txBody>
          <a:bodyPr wrap="square" lIns="0" rIns="0" tIns="0" bIns="0">
            <a:spAutoFit/>
          </a:bodyPr>
          <a:lstStyle/>
          <a:p>
            <a:r>
              <a:rPr sz="700">
                <a:solidFill>
                  <a:srgbClr val="20242A"/>
                </a:solidFill>
              </a:rPr>
              <a:t>EXISTING LIGHT BASE (NO FITTING)  (4)</a:t>
            </a:r>
          </a:p>
        </p:txBody>
      </p:sp>
      <p:sp>
        <p:nvSpPr>
          <p:cNvPr id="424" name="ASBUILT ASSET · Sign foundation"/>
          <p:cNvSpPr/>
          <p:nvPr/>
        </p:nvSpPr>
        <p:spPr>
          <a:xfrm>
            <a:off x="12548408" y="8301582"/>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TextBox 424"/>
          <p:cNvSpPr txBox="1"/>
          <p:nvPr/>
        </p:nvSpPr>
        <p:spPr>
          <a:xfrm>
            <a:off x="12738700" y="8236874"/>
            <a:ext cx="1937420" cy="230000"/>
          </a:xfrm>
          <a:prstGeom prst="rect">
            <a:avLst/>
          </a:prstGeom>
          <a:noFill/>
        </p:spPr>
        <p:txBody>
          <a:bodyPr wrap="square" lIns="0" rIns="0" tIns="0" bIns="0">
            <a:spAutoFit/>
          </a:bodyPr>
          <a:lstStyle/>
          <a:p>
            <a:r>
              <a:rPr sz="700">
                <a:solidFill>
                  <a:srgbClr val="20242A"/>
                </a:solidFill>
              </a:rPr>
              <a:t>SIGN FOUNDATION  (2)</a:t>
            </a:r>
          </a:p>
        </p:txBody>
      </p:sp>
      <p:sp>
        <p:nvSpPr>
          <p:cNvPr id="426" name="ASBUILT ASSET · Handhole"/>
          <p:cNvSpPr/>
          <p:nvPr/>
        </p:nvSpPr>
        <p:spPr>
          <a:xfrm>
            <a:off x="12534692" y="856218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12738700" y="8511194"/>
            <a:ext cx="1937420" cy="230000"/>
          </a:xfrm>
          <a:prstGeom prst="rect">
            <a:avLst/>
          </a:prstGeom>
          <a:noFill/>
        </p:spPr>
        <p:txBody>
          <a:bodyPr wrap="square" lIns="0" rIns="0" tIns="0" bIns="0">
            <a:spAutoFit/>
          </a:bodyPr>
          <a:lstStyle/>
          <a:p>
            <a:r>
              <a:rPr sz="700">
                <a:solidFill>
                  <a:srgbClr val="20242A"/>
                </a:solidFill>
              </a:rPr>
              <a:t>HANDHOLE (HH)  (7)</a:t>
            </a:r>
          </a:p>
        </p:txBody>
      </p:sp>
      <p:sp>
        <p:nvSpPr>
          <p:cNvPr id="428" name="ASBUILT ASSET · Existing transformer handhole"/>
          <p:cNvSpPr/>
          <p:nvPr/>
        </p:nvSpPr>
        <p:spPr>
          <a:xfrm>
            <a:off x="12525548" y="882736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TextBox 428"/>
          <p:cNvSpPr txBox="1"/>
          <p:nvPr/>
        </p:nvSpPr>
        <p:spPr>
          <a:xfrm>
            <a:off x="12738700" y="8785514"/>
            <a:ext cx="1937420" cy="230000"/>
          </a:xfrm>
          <a:prstGeom prst="rect">
            <a:avLst/>
          </a:prstGeom>
          <a:noFill/>
        </p:spPr>
        <p:txBody>
          <a:bodyPr wrap="square" lIns="0" rIns="0" tIns="0" bIns="0">
            <a:spAutoFit/>
          </a:bodyPr>
          <a:lstStyle/>
          <a:p>
            <a:r>
              <a:rPr sz="700">
                <a:solidFill>
                  <a:srgbClr val="20242A"/>
                </a:solidFill>
              </a:rPr>
              <a:t>TRANSFORMER HH (SEC. FEED HUB)  (2)</a:t>
            </a:r>
          </a:p>
        </p:txBody>
      </p:sp>
      <p:sp>
        <p:nvSpPr>
          <p:cNvPr id="430" name="ASBUILT ASSET · Manhole"/>
          <p:cNvSpPr/>
          <p:nvPr/>
        </p:nvSpPr>
        <p:spPr>
          <a:xfrm>
            <a:off x="12511832" y="9087966"/>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12738700" y="9059834"/>
            <a:ext cx="1937420" cy="230000"/>
          </a:xfrm>
          <a:prstGeom prst="rect">
            <a:avLst/>
          </a:prstGeom>
          <a:noFill/>
        </p:spPr>
        <p:txBody>
          <a:bodyPr wrap="square" lIns="0" rIns="0" tIns="0" bIns="0">
            <a:spAutoFit/>
          </a:bodyPr>
          <a:lstStyle/>
          <a:p>
            <a:r>
              <a:rPr sz="700">
                <a:solidFill>
                  <a:srgbClr val="20242A"/>
                </a:solidFill>
              </a:rPr>
              <a:t>MANHOLE (MH)  (2)</a:t>
            </a:r>
          </a:p>
        </p:txBody>
      </p:sp>
      <p:sp>
        <p:nvSpPr>
          <p:cNvPr id="432" name="ASBUILT ASSET · Existing transformer manhole"/>
          <p:cNvSpPr/>
          <p:nvPr/>
        </p:nvSpPr>
        <p:spPr>
          <a:xfrm>
            <a:off x="12511832" y="9362286"/>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12738700" y="9334154"/>
            <a:ext cx="1937420" cy="230000"/>
          </a:xfrm>
          <a:prstGeom prst="rect">
            <a:avLst/>
          </a:prstGeom>
          <a:noFill/>
        </p:spPr>
        <p:txBody>
          <a:bodyPr wrap="square" lIns="0" rIns="0" tIns="0" bIns="0">
            <a:spAutoFit/>
          </a:bodyPr>
          <a:lstStyle/>
          <a:p>
            <a:r>
              <a:rPr sz="700">
                <a:solidFill>
                  <a:srgbClr val="20242A"/>
                </a:solidFill>
              </a:rPr>
              <a:t>TRANSFORMER MH (SEC. FEED)  (2)</a:t>
            </a:r>
          </a:p>
        </p:txBody>
      </p:sp>
      <p:sp>
        <p:nvSpPr>
          <p:cNvPr id="434" name="ASBUILT ASSET · Earthing point"/>
          <p:cNvSpPr/>
          <p:nvPr/>
        </p:nvSpPr>
        <p:spPr>
          <a:xfrm>
            <a:off x="12557552" y="96823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12738700" y="9608474"/>
            <a:ext cx="1937420" cy="230000"/>
          </a:xfrm>
          <a:prstGeom prst="rect">
            <a:avLst/>
          </a:prstGeom>
          <a:noFill/>
        </p:spPr>
        <p:txBody>
          <a:bodyPr wrap="square" lIns="0" rIns="0" tIns="0" bIns="0">
            <a:spAutoFit/>
          </a:bodyPr>
          <a:lstStyle/>
          <a:p>
            <a:r>
              <a:rPr sz="700">
                <a:solidFill>
                  <a:srgbClr val="20242A"/>
                </a:solidFill>
              </a:rPr>
              <a:t>EARTHING POINT  (7)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4173200" cy="502920"/>
          </a:xfrm>
          <a:prstGeom prst="rect">
            <a:avLst/>
          </a:prstGeom>
          <a:noFill/>
          <a:ln/>
        </p:spPr>
        <p:txBody>
          <a:bodyPr wrap="square" lIns="0" tIns="0" rIns="0" bIns="0" rtlCol="0" anchor="ctr"/>
          <a:lstStyle/>
          <a:p>
            <a:pPr marL="0" indent="0">
              <a:buNone/>
            </a:pPr>
            <a:r>
              <a:rPr lang="en-US" sz="2000" b="1" dirty="0">
                <a:solidFill>
                  <a:srgbClr val="1E2761"/>
                </a:solidFill>
                <a:latin typeface="Arial" pitchFamily="34" charset="0"/>
                <a:ea typeface="Arial" pitchFamily="34" charset="-122"/>
                <a:cs typeface="Arial" pitchFamily="34" charset="-120"/>
              </a:rPr>
              <a:t>CONSOLIDATED FIELD-GOVERNED SCOPE — TWY E (E4–E6) · REV P08 (FINAL SCOPE)</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417320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6858000">
                  <a:extLst>
                    <a:ext uri="{9D8B030D-6E8A-4147-A177-3AD203B41FA5}">
                      <a16:colId xmlns:a16="http://schemas.microsoft.com/office/drawing/2014/main" val="20004"/>
                    </a:ext>
                  </a:extLst>
                </a:gridCol>
              </a:tblGrid>
              <a:tr h="219456">
                <a:tc>
                  <a:txBody>
                    <a:bodyPr/>
                    <a:lstStyle/>
                    <a:p>
                      <a:pPr marL="0" indent="0">
                        <a:buNone/>
                      </a:pPr>
                      <a:r>
                        <a:rPr lang="en-US" sz="900" b="1" dirty="0">
                          <a:solidFill>
                            <a:srgbClr val="FFFFFF"/>
                          </a:solidFill>
                          <a:latin typeface="Arial" pitchFamily="34" charset="0"/>
                          <a:ea typeface="Arial" pitchFamily="34" charset="-122"/>
                          <a:cs typeface="Arial" pitchFamily="34" charset="-120"/>
                        </a:rPr>
                        <a:t>Loc</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Asset</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Works Action</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Route</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Remarks</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6"/>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7"/>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8"/>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9"/>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0"/>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1"/>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2"/>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3"/>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TCCECH-03/018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4"/>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Field verified — no works</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5"/>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EXISTING BASE + 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shallow base cored out; 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6"/>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7"/>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8"/>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9"/>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0"/>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1"/>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2"/>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3"/>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4"/>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5"/>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6"/>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7"/>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8"/>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9"/>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0"/>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1"/>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2"/>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3"/>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4"/>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RRM.670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5"/>
                  </a:ext>
                </a:extLst>
              </a:tr>
            </a:tbl>
          </a:graphicData>
        </a:graphic>
      </p:graphicFrame>
      <p:sp>
        <p:nvSpPr>
          <p:cNvPr id="4" name="Text 1"/>
          <p:cNvSpPr/>
          <p:nvPr/>
        </p:nvSpPr>
        <p:spPr>
          <a:xfrm>
            <a:off x="457200" y="10104120"/>
            <a:ext cx="14173200" cy="365760"/>
          </a:xfrm>
          <a:prstGeom prst="rect">
            <a:avLst/>
          </a:prstGeom>
          <a:noFill/>
          <a:ln/>
        </p:spPr>
        <p:txBody>
          <a:bodyPr wrap="square" lIns="0" tIns="0" rIns="0" bIns="0" rtlCol="0" anchor="ctr"/>
          <a:lstStyle/>
          <a:p>
            <a:pPr marL="0" indent="0">
              <a:buNone/>
            </a:pPr>
            <a:r>
              <a:rPr sz="900">
                <a:solidFill>
                  <a:srgbClr val="5F6368"/>
                </a:solidFill>
                <a:latin typeface="Arial"/>
              </a:rPr>
              <a:t>Totals (Rev P08 final scope): 16 fittings — 11 cored 8" at LOC-01, 5 cored 12" at LOC-02/03 — all with a new side-entry shallow base and a new secondary cable, all via SAW CUT.  ·  15 assets removed from scope at P08 (in the Rev P06/P07 scope, not in the final scope — no works).  ·  3 RRMs remove / protect / re-fix.  ·  1 field verified not affected.  ·  No duct route remains in the AGL scope; the "Route" column reads Sawcut throughout by instruction, not by measurement off the as-built duct geometry.</a:t>
            </a:r>
            <a:endParaRPr lang="en-US" sz="10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6 — DUCT PROVENANCE &amp; REGISTRATION VERIFICATION  ·  TWY E (E4–E6) REV P06</a:t>
            </a:r>
          </a:p>
        </p:txBody>
      </p:sp>
      <p:sp>
        <p:nvSpPr>
          <p:cNvPr id="3" name="Rectangle 2"/>
          <p:cNvSpPr/>
          <p:nvPr/>
        </p:nvSpPr>
        <p:spPr>
          <a:xfrm>
            <a:off x="320040" y="750000"/>
            <a:ext cx="7100000" cy="157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6860000" cy="240000"/>
          </a:xfrm>
          <a:prstGeom prst="rect">
            <a:avLst/>
          </a:prstGeom>
          <a:noFill/>
        </p:spPr>
        <p:txBody>
          <a:bodyPr wrap="square" anchor="t" lIns="0" rIns="0" tIns="0" bIns="0">
            <a:spAutoFit/>
          </a:bodyPr>
          <a:lstStyle/>
          <a:p>
            <a:pPr algn="l"/>
            <a:r>
              <a:rPr sz="1000" b="1">
                <a:solidFill>
                  <a:srgbClr val="1E2761"/>
                </a:solidFill>
                <a:latin typeface="Calibri"/>
              </a:rPr>
              <a:t>1 · SOURCE OF THE DUCT GEOMETRY</a:t>
            </a:r>
          </a:p>
        </p:txBody>
      </p:sp>
      <p:sp>
        <p:nvSpPr>
          <p:cNvPr id="5" name="TextBox 4"/>
          <p:cNvSpPr txBox="1"/>
          <p:nvPr/>
        </p:nvSpPr>
        <p:spPr>
          <a:xfrm>
            <a:off x="440040" y="1180000"/>
            <a:ext cx="6860000" cy="1500000"/>
          </a:xfrm>
          <a:prstGeom prst="rect">
            <a:avLst/>
          </a:prstGeom>
          <a:noFill/>
        </p:spPr>
        <p:txBody>
          <a:bodyPr wrap="square" anchor="t" lIns="0" rIns="0" tIns="0" bIns="0">
            <a:spAutoFit/>
          </a:bodyPr>
          <a:lstStyle/>
          <a:p>
            <a:pPr algn="l"/>
            <a:r>
              <a:rPr sz="850" b="0">
                <a:solidFill>
                  <a:srgbClr val="20242A"/>
                </a:solidFill>
                <a:latin typeface="Calibri"/>
              </a:rPr>
              <a:t>Drawing: Z1-Z2-Z3-MTA_SEGMENTATION.dxf, issued by Abu Dhabi Airports. AC1032 (AutoCAD 2018), $INSUNITS = 6 (metres), 549 MB, 2,564 layers, 12 model-space xrefs all inserted at (0,0,0), scale 1, rotation 0.</a:t>
            </a:r>
          </a:p>
          <a:p>
            <a:pPr algn="l"/>
            <a:r>
              <a:rPr sz="850" b="0">
                <a:solidFill>
                  <a:srgbClr val="20242A"/>
                </a:solidFill>
                <a:latin typeface="Calibri"/>
              </a:rPr>
              <a:t>Extracted population: 33,720 fixture INSERTs and 49,505 linear features (1,878 km), of which 17,101 features / 466 km are duct, ductbank, conduit, sawcut or secondary cable.</a:t>
            </a:r>
          </a:p>
          <a:p>
            <a:pPr algn="l"/>
            <a:r>
              <a:rPr sz="850" b="0">
                <a:solidFill>
                  <a:srgbClr val="20242A"/>
                </a:solidFill>
                <a:latin typeface="Calibri"/>
              </a:rPr>
              <a:t>Duct type, bore and way-count are read from the layer name — that is the only place the drawing records them (e.g. CV_OUTER DUCT 4x110mm dia).</a:t>
            </a:r>
          </a:p>
          <a:p>
            <a:pPr algn="l"/>
            <a:r>
              <a:rPr sz="850" b="0">
                <a:solidFill>
                  <a:srgbClr val="20242A"/>
                </a:solidFill>
                <a:latin typeface="Calibri"/>
              </a:rPr>
              <a:t>Extraction is reconciled against an independent per-layer entity census; every count above is asserted by an automated check, not read off by eye.</a:t>
            </a:r>
          </a:p>
        </p:txBody>
      </p:sp>
      <p:sp>
        <p:nvSpPr>
          <p:cNvPr id="6" name="Rectangle 5"/>
          <p:cNvSpPr/>
          <p:nvPr/>
        </p:nvSpPr>
        <p:spPr>
          <a:xfrm>
            <a:off x="320040" y="2440000"/>
            <a:ext cx="7100000" cy="290000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550000"/>
            <a:ext cx="6860000" cy="240000"/>
          </a:xfrm>
          <a:prstGeom prst="rect">
            <a:avLst/>
          </a:prstGeom>
          <a:noFill/>
        </p:spPr>
        <p:txBody>
          <a:bodyPr wrap="square" anchor="t" lIns="0" rIns="0" tIns="0" bIns="0">
            <a:spAutoFit/>
          </a:bodyPr>
          <a:lstStyle/>
          <a:p>
            <a:pPr algn="l"/>
            <a:r>
              <a:rPr sz="1000" b="1">
                <a:solidFill>
                  <a:srgbClr val="1E2761"/>
                </a:solidFill>
                <a:latin typeface="Calibri"/>
              </a:rPr>
              <a:t>2 · HOW SHEETS 2–4 WERE TIED TO THE SOURCE DRAWING</a:t>
            </a:r>
          </a:p>
        </p:txBody>
      </p:sp>
      <p:sp>
        <p:nvSpPr>
          <p:cNvPr id="8" name="TextBox 7"/>
          <p:cNvSpPr txBox="1"/>
          <p:nvPr/>
        </p:nvSpPr>
        <p:spPr>
          <a:xfrm>
            <a:off x="440040" y="2840000"/>
            <a:ext cx="6860000" cy="700000"/>
          </a:xfrm>
          <a:prstGeom prst="rect">
            <a:avLst/>
          </a:prstGeom>
          <a:noFill/>
        </p:spPr>
        <p:txBody>
          <a:bodyPr wrap="square" anchor="t" lIns="0" rIns="0" tIns="0" bIns="0">
            <a:spAutoFit/>
          </a:bodyPr>
          <a:lstStyle/>
          <a:p>
            <a:pPr algn="l"/>
            <a:r>
              <a:rPr sz="850" b="0">
                <a:solidFill>
                  <a:srgbClr val="20242A"/>
                </a:solidFill>
                <a:latin typeface="Calibri"/>
              </a:rPr>
              <a:t>The sheets carry no coordinate grid, so each was registered to the source drawing by matching the plotted AGL fitting pattern: type-matched 2-point RANSAC to find the correspondence, then a 4-parameter Helmert fit (translation, rotation, uniform scale) by least squares — not an affine, which would hide error as fake shear. Half the matched pairs were held back from the fit; the hold-out RMS below is the accuracy figure.</a:t>
            </a:r>
          </a:p>
        </p:txBody>
      </p:sp>
      <p:sp>
        <p:nvSpPr>
          <p:cNvPr id="9" name="TextBox 8"/>
          <p:cNvSpPr txBox="1"/>
          <p:nvPr/>
        </p:nvSpPr>
        <p:spPr>
          <a:xfrm>
            <a:off x="440040" y="3670000"/>
            <a:ext cx="900000" cy="320000"/>
          </a:xfrm>
          <a:prstGeom prst="rect">
            <a:avLst/>
          </a:prstGeom>
          <a:noFill/>
        </p:spPr>
        <p:txBody>
          <a:bodyPr wrap="square" anchor="t" lIns="0" rIns="0" tIns="0" bIns="0">
            <a:spAutoFit/>
          </a:bodyPr>
          <a:lstStyle/>
          <a:p>
            <a:pPr algn="l"/>
            <a:r>
              <a:rPr sz="700" b="1">
                <a:solidFill>
                  <a:srgbClr val="5F6368"/>
                </a:solidFill>
                <a:latin typeface="Calibri"/>
              </a:rPr>
              <a:t>Sheet</a:t>
            </a:r>
          </a:p>
        </p:txBody>
      </p:sp>
      <p:sp>
        <p:nvSpPr>
          <p:cNvPr id="10" name="TextBox 9"/>
          <p:cNvSpPr txBox="1"/>
          <p:nvPr/>
        </p:nvSpPr>
        <p:spPr>
          <a:xfrm>
            <a:off x="1340040" y="3670000"/>
            <a:ext cx="1150000" cy="320000"/>
          </a:xfrm>
          <a:prstGeom prst="rect">
            <a:avLst/>
          </a:prstGeom>
          <a:noFill/>
        </p:spPr>
        <p:txBody>
          <a:bodyPr wrap="square" anchor="t" lIns="0" rIns="0" tIns="0" bIns="0">
            <a:spAutoFit/>
          </a:bodyPr>
          <a:lstStyle/>
          <a:p>
            <a:pPr algn="l"/>
            <a:r>
              <a:rPr sz="700" b="1">
                <a:solidFill>
                  <a:srgbClr val="5F6368"/>
                </a:solidFill>
                <a:latin typeface="Calibri"/>
              </a:rPr>
              <a:t>Fitting symbols</a:t>
            </a:r>
          </a:p>
          <a:p>
            <a:pPr algn="l"/>
            <a:r>
              <a:rPr sz="700" b="1">
                <a:solidFill>
                  <a:srgbClr val="5F6368"/>
                </a:solidFill>
                <a:latin typeface="Calibri"/>
              </a:rPr>
              <a:t>in frame</a:t>
            </a:r>
          </a:p>
        </p:txBody>
      </p:sp>
      <p:sp>
        <p:nvSpPr>
          <p:cNvPr id="11" name="TextBox 10"/>
          <p:cNvSpPr txBox="1"/>
          <p:nvPr/>
        </p:nvSpPr>
        <p:spPr>
          <a:xfrm>
            <a:off x="2490040" y="3670000"/>
            <a:ext cx="1300000" cy="320000"/>
          </a:xfrm>
          <a:prstGeom prst="rect">
            <a:avLst/>
          </a:prstGeom>
          <a:noFill/>
        </p:spPr>
        <p:txBody>
          <a:bodyPr wrap="square" anchor="t" lIns="0" rIns="0" tIns="0" bIns="0">
            <a:spAutoFit/>
          </a:bodyPr>
          <a:lstStyle/>
          <a:p>
            <a:pPr algn="l"/>
            <a:r>
              <a:rPr sz="700" b="1">
                <a:solidFill>
                  <a:srgbClr val="5F6368"/>
                </a:solidFill>
                <a:latin typeface="Calibri"/>
              </a:rPr>
              <a:t>Matched to source</a:t>
            </a:r>
          </a:p>
          <a:p>
            <a:pPr algn="l"/>
            <a:r>
              <a:rPr sz="700" b="1">
                <a:solidFill>
                  <a:srgbClr val="5F6368"/>
                </a:solidFill>
                <a:latin typeface="Calibri"/>
              </a:rPr>
              <a:t>within 50 mm</a:t>
            </a:r>
          </a:p>
        </p:txBody>
      </p:sp>
      <p:sp>
        <p:nvSpPr>
          <p:cNvPr id="12" name="TextBox 11"/>
          <p:cNvSpPr txBox="1"/>
          <p:nvPr/>
        </p:nvSpPr>
        <p:spPr>
          <a:xfrm>
            <a:off x="3790040" y="3670000"/>
            <a:ext cx="700000" cy="320000"/>
          </a:xfrm>
          <a:prstGeom prst="rect">
            <a:avLst/>
          </a:prstGeom>
          <a:noFill/>
        </p:spPr>
        <p:txBody>
          <a:bodyPr wrap="square" anchor="t" lIns="0" rIns="0" tIns="0" bIns="0">
            <a:spAutoFit/>
          </a:bodyPr>
          <a:lstStyle/>
          <a:p>
            <a:pPr algn="l"/>
            <a:r>
              <a:rPr sz="700" b="1">
                <a:solidFill>
                  <a:srgbClr val="5F6368"/>
                </a:solidFill>
                <a:latin typeface="Calibri"/>
              </a:rPr>
              <a:t>Fit RMS</a:t>
            </a:r>
          </a:p>
        </p:txBody>
      </p:sp>
      <p:sp>
        <p:nvSpPr>
          <p:cNvPr id="13" name="TextBox 12"/>
          <p:cNvSpPr txBox="1"/>
          <p:nvPr/>
        </p:nvSpPr>
        <p:spPr>
          <a:xfrm>
            <a:off x="4490040" y="3670000"/>
            <a:ext cx="1500000" cy="320000"/>
          </a:xfrm>
          <a:prstGeom prst="rect">
            <a:avLst/>
          </a:prstGeom>
          <a:noFill/>
        </p:spPr>
        <p:txBody>
          <a:bodyPr wrap="square" anchor="t" lIns="0" rIns="0" tIns="0" bIns="0">
            <a:spAutoFit/>
          </a:bodyPr>
          <a:lstStyle/>
          <a:p>
            <a:pPr algn="l"/>
            <a:r>
              <a:rPr sz="700" b="1">
                <a:solidFill>
                  <a:srgbClr val="5F6368"/>
                </a:solidFill>
                <a:latin typeface="Calibri"/>
              </a:rPr>
              <a:t>HOLD-OUT RMS</a:t>
            </a:r>
          </a:p>
          <a:p>
            <a:pPr algn="l"/>
            <a:r>
              <a:rPr sz="700" b="1">
                <a:solidFill>
                  <a:srgbClr val="5F6368"/>
                </a:solidFill>
                <a:latin typeface="Calibri"/>
              </a:rPr>
              <a:t>(pairs never fitted)</a:t>
            </a:r>
          </a:p>
        </p:txBody>
      </p:sp>
      <p:sp>
        <p:nvSpPr>
          <p:cNvPr id="14" name="TextBox 13"/>
          <p:cNvSpPr txBox="1"/>
          <p:nvPr/>
        </p:nvSpPr>
        <p:spPr>
          <a:xfrm>
            <a:off x="5990040" y="3670000"/>
            <a:ext cx="850000" cy="320000"/>
          </a:xfrm>
          <a:prstGeom prst="rect">
            <a:avLst/>
          </a:prstGeom>
          <a:noFill/>
        </p:spPr>
        <p:txBody>
          <a:bodyPr wrap="square" anchor="t" lIns="0" rIns="0" tIns="0" bIns="0">
            <a:spAutoFit/>
          </a:bodyPr>
          <a:lstStyle/>
          <a:p>
            <a:pPr algn="l"/>
            <a:r>
              <a:rPr sz="700" b="1">
                <a:solidFill>
                  <a:srgbClr val="5F6368"/>
                </a:solidFill>
                <a:latin typeface="Calibri"/>
              </a:rPr>
              <a:t>Plotted scale</a:t>
            </a:r>
          </a:p>
        </p:txBody>
      </p:sp>
      <p:sp>
        <p:nvSpPr>
          <p:cNvPr id="15" name="TextBox 14"/>
          <p:cNvSpPr txBox="1"/>
          <p:nvPr/>
        </p:nvSpPr>
        <p:spPr>
          <a:xfrm>
            <a:off x="6840040" y="3670000"/>
            <a:ext cx="700000" cy="320000"/>
          </a:xfrm>
          <a:prstGeom prst="rect">
            <a:avLst/>
          </a:prstGeom>
          <a:noFill/>
        </p:spPr>
        <p:txBody>
          <a:bodyPr wrap="square" anchor="t" lIns="0" rIns="0" tIns="0" bIns="0">
            <a:spAutoFit/>
          </a:bodyPr>
          <a:lstStyle/>
          <a:p>
            <a:pPr algn="l"/>
            <a:r>
              <a:rPr sz="700" b="1">
                <a:solidFill>
                  <a:srgbClr val="5F6368"/>
                </a:solidFill>
                <a:latin typeface="Calibri"/>
              </a:rPr>
              <a:t>Frame on ground</a:t>
            </a:r>
          </a:p>
        </p:txBody>
      </p:sp>
      <p:sp>
        <p:nvSpPr>
          <p:cNvPr id="16" name="TextBox 15"/>
          <p:cNvSpPr txBox="1"/>
          <p:nvPr/>
        </p:nvSpPr>
        <p:spPr>
          <a:xfrm>
            <a:off x="440040" y="4050000"/>
            <a:ext cx="900000" cy="240000"/>
          </a:xfrm>
          <a:prstGeom prst="rect">
            <a:avLst/>
          </a:prstGeom>
          <a:noFill/>
        </p:spPr>
        <p:txBody>
          <a:bodyPr wrap="square" anchor="t" lIns="0" rIns="0" tIns="0" bIns="0">
            <a:spAutoFit/>
          </a:bodyPr>
          <a:lstStyle/>
          <a:p>
            <a:pPr algn="l"/>
            <a:r>
              <a:rPr sz="800" b="0">
                <a:solidFill>
                  <a:srgbClr val="20242A"/>
                </a:solidFill>
                <a:latin typeface="Calibri"/>
              </a:rPr>
              <a:t>LOC-01</a:t>
            </a:r>
          </a:p>
        </p:txBody>
      </p:sp>
      <p:sp>
        <p:nvSpPr>
          <p:cNvPr id="17" name="TextBox 16"/>
          <p:cNvSpPr txBox="1"/>
          <p:nvPr/>
        </p:nvSpPr>
        <p:spPr>
          <a:xfrm>
            <a:off x="1340040" y="4050000"/>
            <a:ext cx="1150000" cy="240000"/>
          </a:xfrm>
          <a:prstGeom prst="rect">
            <a:avLst/>
          </a:prstGeom>
          <a:noFill/>
        </p:spPr>
        <p:txBody>
          <a:bodyPr wrap="square" anchor="t" lIns="0" rIns="0" tIns="0" bIns="0">
            <a:spAutoFit/>
          </a:bodyPr>
          <a:lstStyle/>
          <a:p>
            <a:pPr algn="l"/>
            <a:r>
              <a:rPr sz="800" b="0">
                <a:solidFill>
                  <a:srgbClr val="20242A"/>
                </a:solidFill>
                <a:latin typeface="Calibri"/>
              </a:rPr>
              <a:t>64</a:t>
            </a:r>
          </a:p>
        </p:txBody>
      </p:sp>
      <p:sp>
        <p:nvSpPr>
          <p:cNvPr id="18" name="TextBox 17"/>
          <p:cNvSpPr txBox="1"/>
          <p:nvPr/>
        </p:nvSpPr>
        <p:spPr>
          <a:xfrm>
            <a:off x="2490040" y="4050000"/>
            <a:ext cx="1300000" cy="240000"/>
          </a:xfrm>
          <a:prstGeom prst="rect">
            <a:avLst/>
          </a:prstGeom>
          <a:noFill/>
        </p:spPr>
        <p:txBody>
          <a:bodyPr wrap="square" anchor="t" lIns="0" rIns="0" tIns="0" bIns="0">
            <a:spAutoFit/>
          </a:bodyPr>
          <a:lstStyle/>
          <a:p>
            <a:pPr algn="l"/>
            <a:r>
              <a:rPr sz="800" b="0">
                <a:solidFill>
                  <a:srgbClr val="20242A"/>
                </a:solidFill>
                <a:latin typeface="Calibri"/>
              </a:rPr>
              <a:t>37</a:t>
            </a:r>
          </a:p>
        </p:txBody>
      </p:sp>
      <p:sp>
        <p:nvSpPr>
          <p:cNvPr id="19" name="TextBox 18"/>
          <p:cNvSpPr txBox="1"/>
          <p:nvPr/>
        </p:nvSpPr>
        <p:spPr>
          <a:xfrm>
            <a:off x="3790040" y="4050000"/>
            <a:ext cx="700000" cy="240000"/>
          </a:xfrm>
          <a:prstGeom prst="rect">
            <a:avLst/>
          </a:prstGeom>
          <a:noFill/>
        </p:spPr>
        <p:txBody>
          <a:bodyPr wrap="square" anchor="t" lIns="0" rIns="0" tIns="0" bIns="0">
            <a:spAutoFit/>
          </a:bodyPr>
          <a:lstStyle/>
          <a:p>
            <a:pPr algn="l"/>
            <a:r>
              <a:rPr sz="800" b="0">
                <a:solidFill>
                  <a:srgbClr val="20242A"/>
                </a:solidFill>
                <a:latin typeface="Calibri"/>
              </a:rPr>
              <a:t>0.4 mm</a:t>
            </a:r>
          </a:p>
        </p:txBody>
      </p:sp>
      <p:sp>
        <p:nvSpPr>
          <p:cNvPr id="20" name="TextBox 19"/>
          <p:cNvSpPr txBox="1"/>
          <p:nvPr/>
        </p:nvSpPr>
        <p:spPr>
          <a:xfrm>
            <a:off x="4490040" y="4050000"/>
            <a:ext cx="1500000" cy="240000"/>
          </a:xfrm>
          <a:prstGeom prst="rect">
            <a:avLst/>
          </a:prstGeom>
          <a:noFill/>
        </p:spPr>
        <p:txBody>
          <a:bodyPr wrap="square" anchor="t" lIns="0" rIns="0" tIns="0" bIns="0">
            <a:spAutoFit/>
          </a:bodyPr>
          <a:lstStyle/>
          <a:p>
            <a:pPr algn="l"/>
            <a:r>
              <a:rPr sz="800" b="0">
                <a:solidFill>
                  <a:srgbClr val="20242A"/>
                </a:solidFill>
                <a:latin typeface="Calibri"/>
              </a:rPr>
              <a:t>0.40 mm on 14</a:t>
            </a:r>
          </a:p>
        </p:txBody>
      </p:sp>
      <p:sp>
        <p:nvSpPr>
          <p:cNvPr id="21" name="TextBox 20"/>
          <p:cNvSpPr txBox="1"/>
          <p:nvPr/>
        </p:nvSpPr>
        <p:spPr>
          <a:xfrm>
            <a:off x="5990040" y="4050000"/>
            <a:ext cx="850000" cy="240000"/>
          </a:xfrm>
          <a:prstGeom prst="rect">
            <a:avLst/>
          </a:prstGeom>
          <a:noFill/>
        </p:spPr>
        <p:txBody>
          <a:bodyPr wrap="square" anchor="t" lIns="0" rIns="0" tIns="0" bIns="0">
            <a:spAutoFit/>
          </a:bodyPr>
          <a:lstStyle/>
          <a:p>
            <a:pPr algn="l"/>
            <a:r>
              <a:rPr sz="800" b="0">
                <a:solidFill>
                  <a:srgbClr val="20242A"/>
                </a:solidFill>
                <a:latin typeface="Calibri"/>
              </a:rPr>
              <a:t>93,614 EMU/m</a:t>
            </a:r>
          </a:p>
        </p:txBody>
      </p:sp>
      <p:sp>
        <p:nvSpPr>
          <p:cNvPr id="22" name="TextBox 21"/>
          <p:cNvSpPr txBox="1"/>
          <p:nvPr/>
        </p:nvSpPr>
        <p:spPr>
          <a:xfrm>
            <a:off x="6840040" y="4050000"/>
            <a:ext cx="700000" cy="240000"/>
          </a:xfrm>
          <a:prstGeom prst="rect">
            <a:avLst/>
          </a:prstGeom>
          <a:noFill/>
        </p:spPr>
        <p:txBody>
          <a:bodyPr wrap="square" anchor="t" lIns="0" rIns="0" tIns="0" bIns="0">
            <a:spAutoFit/>
          </a:bodyPr>
          <a:lstStyle/>
          <a:p>
            <a:pPr algn="l"/>
            <a:r>
              <a:rPr sz="800" b="0">
                <a:solidFill>
                  <a:srgbClr val="20242A"/>
                </a:solidFill>
                <a:latin typeface="Calibri"/>
              </a:rPr>
              <a:t>102.1 m</a:t>
            </a:r>
          </a:p>
        </p:txBody>
      </p:sp>
      <p:sp>
        <p:nvSpPr>
          <p:cNvPr id="23" name="TextBox 22"/>
          <p:cNvSpPr txBox="1"/>
          <p:nvPr/>
        </p:nvSpPr>
        <p:spPr>
          <a:xfrm>
            <a:off x="440040" y="4320000"/>
            <a:ext cx="900000" cy="240000"/>
          </a:xfrm>
          <a:prstGeom prst="rect">
            <a:avLst/>
          </a:prstGeom>
          <a:noFill/>
        </p:spPr>
        <p:txBody>
          <a:bodyPr wrap="square" anchor="t" lIns="0" rIns="0" tIns="0" bIns="0">
            <a:spAutoFit/>
          </a:bodyPr>
          <a:lstStyle/>
          <a:p>
            <a:pPr algn="l"/>
            <a:r>
              <a:rPr sz="800" b="0">
                <a:solidFill>
                  <a:srgbClr val="20242A"/>
                </a:solidFill>
                <a:latin typeface="Calibri"/>
              </a:rPr>
              <a:t>LOC-02</a:t>
            </a:r>
          </a:p>
        </p:txBody>
      </p:sp>
      <p:sp>
        <p:nvSpPr>
          <p:cNvPr id="24" name="TextBox 23"/>
          <p:cNvSpPr txBox="1"/>
          <p:nvPr/>
        </p:nvSpPr>
        <p:spPr>
          <a:xfrm>
            <a:off x="1340040" y="4320000"/>
            <a:ext cx="1150000" cy="240000"/>
          </a:xfrm>
          <a:prstGeom prst="rect">
            <a:avLst/>
          </a:prstGeom>
          <a:noFill/>
        </p:spPr>
        <p:txBody>
          <a:bodyPr wrap="square" anchor="t" lIns="0" rIns="0" tIns="0" bIns="0">
            <a:spAutoFit/>
          </a:bodyPr>
          <a:lstStyle/>
          <a:p>
            <a:pPr algn="l"/>
            <a:r>
              <a:rPr sz="800" b="0">
                <a:solidFill>
                  <a:srgbClr val="20242A"/>
                </a:solidFill>
                <a:latin typeface="Calibri"/>
              </a:rPr>
              <a:t>18</a:t>
            </a:r>
          </a:p>
        </p:txBody>
      </p:sp>
      <p:sp>
        <p:nvSpPr>
          <p:cNvPr id="25" name="TextBox 24"/>
          <p:cNvSpPr txBox="1"/>
          <p:nvPr/>
        </p:nvSpPr>
        <p:spPr>
          <a:xfrm>
            <a:off x="2490040" y="4320000"/>
            <a:ext cx="1300000" cy="24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26" name="TextBox 25"/>
          <p:cNvSpPr txBox="1"/>
          <p:nvPr/>
        </p:nvSpPr>
        <p:spPr>
          <a:xfrm>
            <a:off x="3790040" y="4320000"/>
            <a:ext cx="700000" cy="240000"/>
          </a:xfrm>
          <a:prstGeom prst="rect">
            <a:avLst/>
          </a:prstGeom>
          <a:noFill/>
        </p:spPr>
        <p:txBody>
          <a:bodyPr wrap="square" anchor="t" lIns="0" rIns="0" tIns="0" bIns="0">
            <a:spAutoFit/>
          </a:bodyPr>
          <a:lstStyle/>
          <a:p>
            <a:pPr algn="l"/>
            <a:r>
              <a:rPr sz="800" b="0">
                <a:solidFill>
                  <a:srgbClr val="20242A"/>
                </a:solidFill>
                <a:latin typeface="Calibri"/>
              </a:rPr>
              <a:t>0.3 mm</a:t>
            </a:r>
          </a:p>
        </p:txBody>
      </p:sp>
      <p:sp>
        <p:nvSpPr>
          <p:cNvPr id="27" name="TextBox 26"/>
          <p:cNvSpPr txBox="1"/>
          <p:nvPr/>
        </p:nvSpPr>
        <p:spPr>
          <a:xfrm>
            <a:off x="4490040" y="4320000"/>
            <a:ext cx="1500000" cy="240000"/>
          </a:xfrm>
          <a:prstGeom prst="rect">
            <a:avLst/>
          </a:prstGeom>
          <a:noFill/>
        </p:spPr>
        <p:txBody>
          <a:bodyPr wrap="square" anchor="t" lIns="0" rIns="0" tIns="0" bIns="0">
            <a:spAutoFit/>
          </a:bodyPr>
          <a:lstStyle/>
          <a:p>
            <a:pPr algn="l"/>
            <a:r>
              <a:rPr sz="800" b="0">
                <a:solidFill>
                  <a:srgbClr val="20242A"/>
                </a:solidFill>
                <a:latin typeface="Calibri"/>
              </a:rPr>
              <a:t>0.46 mm on 4</a:t>
            </a:r>
          </a:p>
        </p:txBody>
      </p:sp>
      <p:sp>
        <p:nvSpPr>
          <p:cNvPr id="28" name="TextBox 27"/>
          <p:cNvSpPr txBox="1"/>
          <p:nvPr/>
        </p:nvSpPr>
        <p:spPr>
          <a:xfrm>
            <a:off x="5990040" y="4320000"/>
            <a:ext cx="850000" cy="240000"/>
          </a:xfrm>
          <a:prstGeom prst="rect">
            <a:avLst/>
          </a:prstGeom>
          <a:noFill/>
        </p:spPr>
        <p:txBody>
          <a:bodyPr wrap="square" anchor="t" lIns="0" rIns="0" tIns="0" bIns="0">
            <a:spAutoFit/>
          </a:bodyPr>
          <a:lstStyle/>
          <a:p>
            <a:pPr algn="l"/>
            <a:r>
              <a:rPr sz="800" b="0">
                <a:solidFill>
                  <a:srgbClr val="20242A"/>
                </a:solidFill>
                <a:latin typeface="Calibri"/>
              </a:rPr>
              <a:t>87,716 EMU/m</a:t>
            </a:r>
          </a:p>
        </p:txBody>
      </p:sp>
      <p:sp>
        <p:nvSpPr>
          <p:cNvPr id="29" name="TextBox 28"/>
          <p:cNvSpPr txBox="1"/>
          <p:nvPr/>
        </p:nvSpPr>
        <p:spPr>
          <a:xfrm>
            <a:off x="6840040" y="4320000"/>
            <a:ext cx="700000" cy="240000"/>
          </a:xfrm>
          <a:prstGeom prst="rect">
            <a:avLst/>
          </a:prstGeom>
          <a:noFill/>
        </p:spPr>
        <p:txBody>
          <a:bodyPr wrap="square" anchor="t" lIns="0" rIns="0" tIns="0" bIns="0">
            <a:spAutoFit/>
          </a:bodyPr>
          <a:lstStyle/>
          <a:p>
            <a:pPr algn="l"/>
            <a:r>
              <a:rPr sz="800" b="0">
                <a:solidFill>
                  <a:srgbClr val="20242A"/>
                </a:solidFill>
                <a:latin typeface="Calibri"/>
              </a:rPr>
              <a:t>108.9 m</a:t>
            </a:r>
          </a:p>
        </p:txBody>
      </p:sp>
      <p:sp>
        <p:nvSpPr>
          <p:cNvPr id="30" name="TextBox 29"/>
          <p:cNvSpPr txBox="1"/>
          <p:nvPr/>
        </p:nvSpPr>
        <p:spPr>
          <a:xfrm>
            <a:off x="440040" y="4590000"/>
            <a:ext cx="900000" cy="240000"/>
          </a:xfrm>
          <a:prstGeom prst="rect">
            <a:avLst/>
          </a:prstGeom>
          <a:noFill/>
        </p:spPr>
        <p:txBody>
          <a:bodyPr wrap="square" anchor="t" lIns="0" rIns="0" tIns="0" bIns="0">
            <a:spAutoFit/>
          </a:bodyPr>
          <a:lstStyle/>
          <a:p>
            <a:pPr algn="l"/>
            <a:r>
              <a:rPr sz="800" b="0">
                <a:solidFill>
                  <a:srgbClr val="20242A"/>
                </a:solidFill>
                <a:latin typeface="Calibri"/>
              </a:rPr>
              <a:t>LOC-03</a:t>
            </a:r>
          </a:p>
        </p:txBody>
      </p:sp>
      <p:sp>
        <p:nvSpPr>
          <p:cNvPr id="31" name="TextBox 30"/>
          <p:cNvSpPr txBox="1"/>
          <p:nvPr/>
        </p:nvSpPr>
        <p:spPr>
          <a:xfrm>
            <a:off x="1340040" y="4590000"/>
            <a:ext cx="1150000" cy="240000"/>
          </a:xfrm>
          <a:prstGeom prst="rect">
            <a:avLst/>
          </a:prstGeom>
          <a:noFill/>
        </p:spPr>
        <p:txBody>
          <a:bodyPr wrap="square" anchor="t" lIns="0" rIns="0" tIns="0" bIns="0">
            <a:spAutoFit/>
          </a:bodyPr>
          <a:lstStyle/>
          <a:p>
            <a:pPr algn="l"/>
            <a:r>
              <a:rPr sz="800" b="0">
                <a:solidFill>
                  <a:srgbClr val="20242A"/>
                </a:solidFill>
                <a:latin typeface="Calibri"/>
              </a:rPr>
              <a:t>59</a:t>
            </a:r>
          </a:p>
        </p:txBody>
      </p:sp>
      <p:sp>
        <p:nvSpPr>
          <p:cNvPr id="32" name="TextBox 31"/>
          <p:cNvSpPr txBox="1"/>
          <p:nvPr/>
        </p:nvSpPr>
        <p:spPr>
          <a:xfrm>
            <a:off x="2490040" y="4590000"/>
            <a:ext cx="1300000" cy="240000"/>
          </a:xfrm>
          <a:prstGeom prst="rect">
            <a:avLst/>
          </a:prstGeom>
          <a:noFill/>
        </p:spPr>
        <p:txBody>
          <a:bodyPr wrap="square" anchor="t" lIns="0" rIns="0" tIns="0" bIns="0">
            <a:spAutoFit/>
          </a:bodyPr>
          <a:lstStyle/>
          <a:p>
            <a:pPr algn="l"/>
            <a:r>
              <a:rPr sz="800" b="0">
                <a:solidFill>
                  <a:srgbClr val="20242A"/>
                </a:solidFill>
                <a:latin typeface="Calibri"/>
              </a:rPr>
              <a:t>11</a:t>
            </a:r>
          </a:p>
        </p:txBody>
      </p:sp>
      <p:sp>
        <p:nvSpPr>
          <p:cNvPr id="33" name="TextBox 32"/>
          <p:cNvSpPr txBox="1"/>
          <p:nvPr/>
        </p:nvSpPr>
        <p:spPr>
          <a:xfrm>
            <a:off x="3790040" y="4590000"/>
            <a:ext cx="700000" cy="240000"/>
          </a:xfrm>
          <a:prstGeom prst="rect">
            <a:avLst/>
          </a:prstGeom>
          <a:noFill/>
        </p:spPr>
        <p:txBody>
          <a:bodyPr wrap="square" anchor="t" lIns="0" rIns="0" tIns="0" bIns="0">
            <a:spAutoFit/>
          </a:bodyPr>
          <a:lstStyle/>
          <a:p>
            <a:pPr algn="l"/>
            <a:r>
              <a:rPr sz="800" b="0">
                <a:solidFill>
                  <a:srgbClr val="20242A"/>
                </a:solidFill>
                <a:latin typeface="Calibri"/>
              </a:rPr>
              <a:t>58.2 mm</a:t>
            </a:r>
          </a:p>
        </p:txBody>
      </p:sp>
      <p:sp>
        <p:nvSpPr>
          <p:cNvPr id="34" name="TextBox 33"/>
          <p:cNvSpPr txBox="1"/>
          <p:nvPr/>
        </p:nvSpPr>
        <p:spPr>
          <a:xfrm>
            <a:off x="4490040" y="4590000"/>
            <a:ext cx="1500000" cy="240000"/>
          </a:xfrm>
          <a:prstGeom prst="rect">
            <a:avLst/>
          </a:prstGeom>
          <a:noFill/>
        </p:spPr>
        <p:txBody>
          <a:bodyPr wrap="square" anchor="t" lIns="0" rIns="0" tIns="0" bIns="0">
            <a:spAutoFit/>
          </a:bodyPr>
          <a:lstStyle/>
          <a:p>
            <a:pPr algn="l"/>
            <a:r>
              <a:rPr sz="800" b="0">
                <a:solidFill>
                  <a:srgbClr val="20242A"/>
                </a:solidFill>
                <a:latin typeface="Calibri"/>
              </a:rPr>
              <a:t>0.49 mm on 13</a:t>
            </a:r>
          </a:p>
        </p:txBody>
      </p:sp>
      <p:sp>
        <p:nvSpPr>
          <p:cNvPr id="35" name="TextBox 34"/>
          <p:cNvSpPr txBox="1"/>
          <p:nvPr/>
        </p:nvSpPr>
        <p:spPr>
          <a:xfrm>
            <a:off x="5990040" y="4590000"/>
            <a:ext cx="850000" cy="240000"/>
          </a:xfrm>
          <a:prstGeom prst="rect">
            <a:avLst/>
          </a:prstGeom>
          <a:noFill/>
        </p:spPr>
        <p:txBody>
          <a:bodyPr wrap="square" anchor="t" lIns="0" rIns="0" tIns="0" bIns="0">
            <a:spAutoFit/>
          </a:bodyPr>
          <a:lstStyle/>
          <a:p>
            <a:pPr algn="l"/>
            <a:r>
              <a:rPr sz="800" b="0">
                <a:solidFill>
                  <a:srgbClr val="20242A"/>
                </a:solidFill>
                <a:latin typeface="Calibri"/>
              </a:rPr>
              <a:t>100,476 EMU/m</a:t>
            </a:r>
          </a:p>
        </p:txBody>
      </p:sp>
      <p:sp>
        <p:nvSpPr>
          <p:cNvPr id="36" name="TextBox 35"/>
          <p:cNvSpPr txBox="1"/>
          <p:nvPr/>
        </p:nvSpPr>
        <p:spPr>
          <a:xfrm>
            <a:off x="6840040" y="4590000"/>
            <a:ext cx="700000" cy="240000"/>
          </a:xfrm>
          <a:prstGeom prst="rect">
            <a:avLst/>
          </a:prstGeom>
          <a:noFill/>
        </p:spPr>
        <p:txBody>
          <a:bodyPr wrap="square" anchor="t" lIns="0" rIns="0" tIns="0" bIns="0">
            <a:spAutoFit/>
          </a:bodyPr>
          <a:lstStyle/>
          <a:p>
            <a:pPr algn="l"/>
            <a:r>
              <a:rPr sz="800" b="0">
                <a:solidFill>
                  <a:srgbClr val="20242A"/>
                </a:solidFill>
                <a:latin typeface="Calibri"/>
              </a:rPr>
              <a:t>95.1 m</a:t>
            </a:r>
          </a:p>
        </p:txBody>
      </p:sp>
      <p:sp>
        <p:nvSpPr>
          <p:cNvPr id="37" name="TextBox 36"/>
          <p:cNvSpPr txBox="1"/>
          <p:nvPr/>
        </p:nvSpPr>
        <p:spPr>
          <a:xfrm>
            <a:off x="440040" y="4900000"/>
            <a:ext cx="6860000" cy="420000"/>
          </a:xfrm>
          <a:prstGeom prst="rect">
            <a:avLst/>
          </a:prstGeom>
          <a:noFill/>
        </p:spPr>
        <p:txBody>
          <a:bodyPr wrap="square" anchor="t" lIns="0" rIns="0" tIns="0" bIns="0">
            <a:spAutoFit/>
          </a:bodyPr>
          <a:lstStyle/>
          <a:p>
            <a:pPr algn="l"/>
            <a:r>
              <a:rPr sz="750" b="0">
                <a:solidFill>
                  <a:srgbClr val="5F6368"/>
                </a:solidFill>
                <a:latin typeface="Calibri"/>
              </a:rPr>
              <a:t>Rotation solved to +0.0001° / −0.000001° / +0.0027° and the y axis is mirrored — i.e. the sheets are plotted axis-aligned to the grid. Independent check: the deck's own "as-built taxiway centreline" polyline, never used in the fit, lands on source centreline fixtures at 0.3–0.4 mm median on LOC-01/02.</a:t>
            </a:r>
          </a:p>
        </p:txBody>
      </p:sp>
      <p:sp>
        <p:nvSpPr>
          <p:cNvPr id="38" name="Rectangle 37"/>
          <p:cNvSpPr/>
          <p:nvPr/>
        </p:nvSpPr>
        <p:spPr>
          <a:xfrm>
            <a:off x="320040" y="5460000"/>
            <a:ext cx="7100000" cy="1450000"/>
          </a:xfrm>
          <a:prstGeom prst="rect">
            <a:avLst/>
          </a:prstGeom>
          <a:solidFill>
            <a:srgbClr val="FFF4E5"/>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0040" y="5570000"/>
            <a:ext cx="6860000" cy="240000"/>
          </a:xfrm>
          <a:prstGeom prst="rect">
            <a:avLst/>
          </a:prstGeom>
          <a:noFill/>
        </p:spPr>
        <p:txBody>
          <a:bodyPr wrap="square" anchor="t" lIns="0" rIns="0" tIns="0" bIns="0">
            <a:spAutoFit/>
          </a:bodyPr>
          <a:lstStyle/>
          <a:p>
            <a:pPr algn="l"/>
            <a:r>
              <a:rPr sz="1000" b="1">
                <a:solidFill>
                  <a:srgbClr val="A64B00"/>
                </a:solidFill>
                <a:latin typeface="Calibri"/>
              </a:rPr>
              <a:t>3 · FINDING — THE Rev P05 COORDINATE LABEL WAS WRONG</a:t>
            </a:r>
          </a:p>
        </p:txBody>
      </p:sp>
      <p:sp>
        <p:nvSpPr>
          <p:cNvPr id="40" name="TextBox 39"/>
          <p:cNvSpPr txBox="1"/>
          <p:nvPr/>
        </p:nvSpPr>
        <p:spPr>
          <a:xfrm>
            <a:off x="440040" y="5860000"/>
            <a:ext cx="6860000" cy="1000000"/>
          </a:xfrm>
          <a:prstGeom prst="rect">
            <a:avLst/>
          </a:prstGeom>
          <a:noFill/>
        </p:spPr>
        <p:txBody>
          <a:bodyPr wrap="square" anchor="t" lIns="0" rIns="0" tIns="0" bIns="0">
            <a:spAutoFit/>
          </a:bodyPr>
          <a:lstStyle/>
          <a:p>
            <a:pPr algn="l"/>
            <a:r>
              <a:rPr sz="850" b="0">
                <a:solidFill>
                  <a:srgbClr val="20242A"/>
                </a:solidFill>
                <a:latin typeface="Calibri"/>
              </a:rPr>
              <a:t>Rev P05 sheets state "UTM 40N (EPSG:32640) — AS-BUILT POSITIONS". They are not UTM. The plotted positions are ZIA local project grid metres (X ≈ 5,800–6,200, Y ≈ 54,400–54,700). UTM 40N here would read easting ~230,000–800,000 and northing ~2,650,000–2,750,000.</a:t>
            </a:r>
          </a:p>
          <a:p>
            <a:pPr algn="l"/>
            <a:r>
              <a:rPr sz="850" b="0">
                <a:solidFill>
                  <a:srgbClr val="20242A"/>
                </a:solidFill>
                <a:latin typeface="Calibri"/>
              </a:rPr>
              <a:t>The source drawing carries no GEODATA object and no georeferencing of any kind, so no local→UTM transform can be derived from it. Rev P06 sheets are relabelled accordingly.</a:t>
            </a:r>
          </a:p>
          <a:p>
            <a:pPr algn="l"/>
            <a:r>
              <a:rPr sz="850" b="0">
                <a:solidFill>
                  <a:srgbClr val="20242A"/>
                </a:solidFill>
                <a:latin typeface="Calibri"/>
              </a:rPr>
              <a:t>Consequence: any coordinate previously issued from Rev P05 as UTM — to ADA, Injaz or a contractor — needs withdrawing and re-checking against survey control.</a:t>
            </a:r>
          </a:p>
        </p:txBody>
      </p:sp>
      <p:sp>
        <p:nvSpPr>
          <p:cNvPr id="41" name="Rectangle 40"/>
          <p:cNvSpPr/>
          <p:nvPr/>
        </p:nvSpPr>
        <p:spPr>
          <a:xfrm>
            <a:off x="7620040" y="750000"/>
            <a:ext cx="7184033" cy="64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40040" y="860000"/>
            <a:ext cx="6944033" cy="240000"/>
          </a:xfrm>
          <a:prstGeom prst="rect">
            <a:avLst/>
          </a:prstGeom>
          <a:noFill/>
        </p:spPr>
        <p:txBody>
          <a:bodyPr wrap="square" anchor="t" lIns="0" rIns="0" tIns="0" bIns="0">
            <a:spAutoFit/>
          </a:bodyPr>
          <a:lstStyle/>
          <a:p>
            <a:pPr algn="l"/>
            <a:r>
              <a:rPr sz="1000" b="1">
                <a:solidFill>
                  <a:srgbClr val="1E2761"/>
                </a:solidFill>
                <a:latin typeface="Calibri"/>
              </a:rPr>
              <a:t>4 · DUCT SCHEDULE — WHAT IS DRAWN ON EACH SHEET</a:t>
            </a:r>
          </a:p>
        </p:txBody>
      </p:sp>
      <p:sp>
        <p:nvSpPr>
          <p:cNvPr id="43" name="TextBox 42"/>
          <p:cNvSpPr txBox="1"/>
          <p:nvPr/>
        </p:nvSpPr>
        <p:spPr>
          <a:xfrm>
            <a:off x="7740040" y="1180000"/>
            <a:ext cx="6944033" cy="220000"/>
          </a:xfrm>
          <a:prstGeom prst="rect">
            <a:avLst/>
          </a:prstGeom>
          <a:noFill/>
        </p:spPr>
        <p:txBody>
          <a:bodyPr wrap="square" anchor="t" lIns="0" rIns="0" tIns="0" bIns="0">
            <a:spAutoFit/>
          </a:bodyPr>
          <a:lstStyle/>
          <a:p>
            <a:pPr algn="l"/>
            <a:r>
              <a:rPr sz="850" b="1">
                <a:solidFill>
                  <a:srgbClr val="1E2761"/>
                </a:solidFill>
                <a:latin typeface="Calibri"/>
              </a:rPr>
              <a:t>LOC-01 — 59 segments, 1433 m inside the frame</a:t>
            </a:r>
          </a:p>
        </p:txBody>
      </p:sp>
      <p:sp>
        <p:nvSpPr>
          <p:cNvPr id="44" name="TextBox 43"/>
          <p:cNvSpPr txBox="1"/>
          <p:nvPr/>
        </p:nvSpPr>
        <p:spPr>
          <a:xfrm>
            <a:off x="7770040" y="143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45" name="TextBox 44"/>
          <p:cNvSpPr txBox="1"/>
          <p:nvPr/>
        </p:nvSpPr>
        <p:spPr>
          <a:xfrm>
            <a:off x="10270040" y="143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46" name="TextBox 45"/>
          <p:cNvSpPr txBox="1"/>
          <p:nvPr/>
        </p:nvSpPr>
        <p:spPr>
          <a:xfrm>
            <a:off x="10870040" y="143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47" name="TextBox 46"/>
          <p:cNvSpPr txBox="1"/>
          <p:nvPr/>
        </p:nvSpPr>
        <p:spPr>
          <a:xfrm>
            <a:off x="11650040" y="143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48" name="TextBox 47"/>
          <p:cNvSpPr txBox="1"/>
          <p:nvPr/>
        </p:nvSpPr>
        <p:spPr>
          <a:xfrm>
            <a:off x="7770040" y="164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SAWCUT</a:t>
            </a:r>
          </a:p>
        </p:txBody>
      </p:sp>
      <p:sp>
        <p:nvSpPr>
          <p:cNvPr id="49" name="Straight Connector 48"/>
          <p:cNvSpPr/>
          <p:nvPr/>
        </p:nvSpPr>
        <p:spPr>
          <a:xfrm>
            <a:off x="10310040" y="1735000"/>
            <a:ext cx="400000" cy="914"/>
          </a:xfrm>
          <a:prstGeom prst="lineInv">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70040" y="1640000"/>
            <a:ext cx="780000" cy="200000"/>
          </a:xfrm>
          <a:prstGeom prst="rect">
            <a:avLst/>
          </a:prstGeom>
          <a:noFill/>
        </p:spPr>
        <p:txBody>
          <a:bodyPr wrap="square" anchor="t" lIns="0" rIns="0" tIns="0" bIns="0">
            <a:spAutoFit/>
          </a:bodyPr>
          <a:lstStyle/>
          <a:p>
            <a:pPr algn="l"/>
            <a:r>
              <a:rPr sz="750" b="0">
                <a:solidFill>
                  <a:srgbClr val="20242A"/>
                </a:solidFill>
                <a:latin typeface="Calibri"/>
              </a:rPr>
              <a:t>23</a:t>
            </a:r>
          </a:p>
        </p:txBody>
      </p:sp>
      <p:sp>
        <p:nvSpPr>
          <p:cNvPr id="51" name="TextBox 50"/>
          <p:cNvSpPr txBox="1"/>
          <p:nvPr/>
        </p:nvSpPr>
        <p:spPr>
          <a:xfrm>
            <a:off x="11650040" y="1640000"/>
            <a:ext cx="700000" cy="200000"/>
          </a:xfrm>
          <a:prstGeom prst="rect">
            <a:avLst/>
          </a:prstGeom>
          <a:noFill/>
        </p:spPr>
        <p:txBody>
          <a:bodyPr wrap="square" anchor="t" lIns="0" rIns="0" tIns="0" bIns="0">
            <a:spAutoFit/>
          </a:bodyPr>
          <a:lstStyle/>
          <a:p>
            <a:pPr algn="l"/>
            <a:r>
              <a:rPr sz="750" b="0">
                <a:solidFill>
                  <a:srgbClr val="20242A"/>
                </a:solidFill>
                <a:latin typeface="Calibri"/>
              </a:rPr>
              <a:t>606.7 m</a:t>
            </a:r>
          </a:p>
        </p:txBody>
      </p:sp>
      <p:sp>
        <p:nvSpPr>
          <p:cNvPr id="52" name="TextBox 51"/>
          <p:cNvSpPr txBox="1"/>
          <p:nvPr/>
        </p:nvSpPr>
        <p:spPr>
          <a:xfrm>
            <a:off x="7770040" y="1845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53" name="Straight Connector 52"/>
          <p:cNvSpPr/>
          <p:nvPr/>
        </p:nvSpPr>
        <p:spPr>
          <a:xfrm>
            <a:off x="10310040" y="1940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870040" y="1845000"/>
            <a:ext cx="780000" cy="200000"/>
          </a:xfrm>
          <a:prstGeom prst="rect">
            <a:avLst/>
          </a:prstGeom>
          <a:noFill/>
        </p:spPr>
        <p:txBody>
          <a:bodyPr wrap="square" anchor="t" lIns="0" rIns="0" tIns="0" bIns="0">
            <a:spAutoFit/>
          </a:bodyPr>
          <a:lstStyle/>
          <a:p>
            <a:pPr algn="l"/>
            <a:r>
              <a:rPr sz="750" b="0">
                <a:solidFill>
                  <a:srgbClr val="20242A"/>
                </a:solidFill>
                <a:latin typeface="Calibri"/>
              </a:rPr>
              <a:t>21</a:t>
            </a:r>
          </a:p>
        </p:txBody>
      </p:sp>
      <p:sp>
        <p:nvSpPr>
          <p:cNvPr id="55" name="TextBox 54"/>
          <p:cNvSpPr txBox="1"/>
          <p:nvPr/>
        </p:nvSpPr>
        <p:spPr>
          <a:xfrm>
            <a:off x="11650040" y="1845000"/>
            <a:ext cx="700000" cy="200000"/>
          </a:xfrm>
          <a:prstGeom prst="rect">
            <a:avLst/>
          </a:prstGeom>
          <a:noFill/>
        </p:spPr>
        <p:txBody>
          <a:bodyPr wrap="square" anchor="t" lIns="0" rIns="0" tIns="0" bIns="0">
            <a:spAutoFit/>
          </a:bodyPr>
          <a:lstStyle/>
          <a:p>
            <a:pPr algn="l"/>
            <a:r>
              <a:rPr sz="750" b="0">
                <a:solidFill>
                  <a:srgbClr val="20242A"/>
                </a:solidFill>
                <a:latin typeface="Calibri"/>
              </a:rPr>
              <a:t>490.9 m</a:t>
            </a:r>
          </a:p>
        </p:txBody>
      </p:sp>
      <p:sp>
        <p:nvSpPr>
          <p:cNvPr id="56" name="TextBox 55"/>
          <p:cNvSpPr txBox="1"/>
          <p:nvPr/>
        </p:nvSpPr>
        <p:spPr>
          <a:xfrm>
            <a:off x="7770040" y="2050000"/>
            <a:ext cx="2500000" cy="200000"/>
          </a:xfrm>
          <a:prstGeom prst="rect">
            <a:avLst/>
          </a:prstGeom>
          <a:noFill/>
        </p:spPr>
        <p:txBody>
          <a:bodyPr wrap="square" anchor="t" lIns="0" rIns="0" tIns="0" bIns="0">
            <a:spAutoFit/>
          </a:bodyPr>
          <a:lstStyle/>
          <a:p>
            <a:pPr algn="l"/>
            <a:r>
              <a:rPr sz="750" b="0">
                <a:solidFill>
                  <a:srgbClr val="20242A"/>
                </a:solidFill>
                <a:latin typeface="Calibri"/>
              </a:rPr>
              <a:t>CV_INNER DUCT 4x110mm dia</a:t>
            </a:r>
          </a:p>
        </p:txBody>
      </p:sp>
      <p:sp>
        <p:nvSpPr>
          <p:cNvPr id="57" name="Straight Connector 56"/>
          <p:cNvSpPr/>
          <p:nvPr/>
        </p:nvSpPr>
        <p:spPr>
          <a:xfrm>
            <a:off x="10310040" y="2145000"/>
            <a:ext cx="400000" cy="914"/>
          </a:xfrm>
          <a:prstGeom prst="lineInv">
            <a:avLst/>
          </a:pr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70040" y="2050000"/>
            <a:ext cx="780000" cy="200000"/>
          </a:xfrm>
          <a:prstGeom prst="rect">
            <a:avLst/>
          </a:prstGeom>
          <a:noFill/>
        </p:spPr>
        <p:txBody>
          <a:bodyPr wrap="square" anchor="t" lIns="0" rIns="0" tIns="0" bIns="0">
            <a:spAutoFit/>
          </a:bodyPr>
          <a:lstStyle/>
          <a:p>
            <a:pPr algn="l"/>
            <a:r>
              <a:rPr sz="750" b="0">
                <a:solidFill>
                  <a:srgbClr val="20242A"/>
                </a:solidFill>
                <a:latin typeface="Calibri"/>
              </a:rPr>
              <a:t>3</a:t>
            </a:r>
          </a:p>
        </p:txBody>
      </p:sp>
      <p:sp>
        <p:nvSpPr>
          <p:cNvPr id="59" name="TextBox 58"/>
          <p:cNvSpPr txBox="1"/>
          <p:nvPr/>
        </p:nvSpPr>
        <p:spPr>
          <a:xfrm>
            <a:off x="11650040" y="2050000"/>
            <a:ext cx="700000" cy="200000"/>
          </a:xfrm>
          <a:prstGeom prst="rect">
            <a:avLst/>
          </a:prstGeom>
          <a:noFill/>
        </p:spPr>
        <p:txBody>
          <a:bodyPr wrap="square" anchor="t" lIns="0" rIns="0" tIns="0" bIns="0">
            <a:spAutoFit/>
          </a:bodyPr>
          <a:lstStyle/>
          <a:p>
            <a:pPr algn="l"/>
            <a:r>
              <a:rPr sz="750" b="0">
                <a:solidFill>
                  <a:srgbClr val="20242A"/>
                </a:solidFill>
                <a:latin typeface="Calibri"/>
              </a:rPr>
              <a:t>84.6 m</a:t>
            </a:r>
          </a:p>
        </p:txBody>
      </p:sp>
      <p:sp>
        <p:nvSpPr>
          <p:cNvPr id="60" name="TextBox 59"/>
          <p:cNvSpPr txBox="1"/>
          <p:nvPr/>
        </p:nvSpPr>
        <p:spPr>
          <a:xfrm>
            <a:off x="7770040" y="225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61" name="Straight Connector 60"/>
          <p:cNvSpPr/>
          <p:nvPr/>
        </p:nvSpPr>
        <p:spPr>
          <a:xfrm>
            <a:off x="10310040" y="235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70040" y="225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63" name="TextBox 62"/>
          <p:cNvSpPr txBox="1"/>
          <p:nvPr/>
        </p:nvSpPr>
        <p:spPr>
          <a:xfrm>
            <a:off x="11650040" y="2255000"/>
            <a:ext cx="700000" cy="200000"/>
          </a:xfrm>
          <a:prstGeom prst="rect">
            <a:avLst/>
          </a:prstGeom>
          <a:noFill/>
        </p:spPr>
        <p:txBody>
          <a:bodyPr wrap="square" anchor="t" lIns="0" rIns="0" tIns="0" bIns="0">
            <a:spAutoFit/>
          </a:bodyPr>
          <a:lstStyle/>
          <a:p>
            <a:pPr algn="l"/>
            <a:r>
              <a:rPr sz="750" b="0">
                <a:solidFill>
                  <a:srgbClr val="20242A"/>
                </a:solidFill>
                <a:latin typeface="Calibri"/>
              </a:rPr>
              <a:t>81.5 m</a:t>
            </a:r>
          </a:p>
        </p:txBody>
      </p:sp>
      <p:sp>
        <p:nvSpPr>
          <p:cNvPr id="64" name="TextBox 63"/>
          <p:cNvSpPr txBox="1"/>
          <p:nvPr/>
        </p:nvSpPr>
        <p:spPr>
          <a:xfrm>
            <a:off x="7770040" y="2460000"/>
            <a:ext cx="2500000" cy="200000"/>
          </a:xfrm>
          <a:prstGeom prst="rect">
            <a:avLst/>
          </a:prstGeom>
          <a:noFill/>
        </p:spPr>
        <p:txBody>
          <a:bodyPr wrap="square" anchor="t" lIns="0" rIns="0" tIns="0" bIns="0">
            <a:spAutoFit/>
          </a:bodyPr>
          <a:lstStyle/>
          <a:p>
            <a:pPr algn="l"/>
            <a:r>
              <a:rPr sz="750" b="0">
                <a:solidFill>
                  <a:srgbClr val="20242A"/>
                </a:solidFill>
                <a:latin typeface="Calibri"/>
              </a:rPr>
              <a:t>CV_STH DUCT 6x110mm dia</a:t>
            </a:r>
          </a:p>
        </p:txBody>
      </p:sp>
      <p:sp>
        <p:nvSpPr>
          <p:cNvPr id="65" name="Straight Connector 64"/>
          <p:cNvSpPr/>
          <p:nvPr/>
        </p:nvSpPr>
        <p:spPr>
          <a:xfrm>
            <a:off x="10310040" y="2555000"/>
            <a:ext cx="400000" cy="914"/>
          </a:xfrm>
          <a:prstGeom prst="lineInv">
            <a:avLst/>
          </a:pr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870040" y="246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67" name="TextBox 66"/>
          <p:cNvSpPr txBox="1"/>
          <p:nvPr/>
        </p:nvSpPr>
        <p:spPr>
          <a:xfrm>
            <a:off x="11650040" y="2460000"/>
            <a:ext cx="700000" cy="200000"/>
          </a:xfrm>
          <a:prstGeom prst="rect">
            <a:avLst/>
          </a:prstGeom>
          <a:noFill/>
        </p:spPr>
        <p:txBody>
          <a:bodyPr wrap="square" anchor="t" lIns="0" rIns="0" tIns="0" bIns="0">
            <a:spAutoFit/>
          </a:bodyPr>
          <a:lstStyle/>
          <a:p>
            <a:pPr algn="l"/>
            <a:r>
              <a:rPr sz="750" b="0">
                <a:solidFill>
                  <a:srgbClr val="20242A"/>
                </a:solidFill>
                <a:latin typeface="Calibri"/>
              </a:rPr>
              <a:t>65.6 m</a:t>
            </a:r>
          </a:p>
        </p:txBody>
      </p:sp>
      <p:sp>
        <p:nvSpPr>
          <p:cNvPr id="68" name="TextBox 67"/>
          <p:cNvSpPr txBox="1"/>
          <p:nvPr/>
        </p:nvSpPr>
        <p:spPr>
          <a:xfrm>
            <a:off x="7770040" y="2665000"/>
            <a:ext cx="2500000" cy="200000"/>
          </a:xfrm>
          <a:prstGeom prst="rect">
            <a:avLst/>
          </a:prstGeom>
          <a:noFill/>
        </p:spPr>
        <p:txBody>
          <a:bodyPr wrap="square" anchor="t" lIns="0" rIns="0" tIns="0" bIns="0">
            <a:spAutoFit/>
          </a:bodyPr>
          <a:lstStyle/>
          <a:p>
            <a:pPr algn="l"/>
            <a:r>
              <a:rPr sz="750" b="0">
                <a:solidFill>
                  <a:srgbClr val="20242A"/>
                </a:solidFill>
                <a:latin typeface="Calibri"/>
              </a:rPr>
              <a:t>CV_DUCT CROSSING 6x110mm dia</a:t>
            </a:r>
          </a:p>
        </p:txBody>
      </p:sp>
      <p:sp>
        <p:nvSpPr>
          <p:cNvPr id="69" name="Straight Connector 68"/>
          <p:cNvSpPr/>
          <p:nvPr/>
        </p:nvSpPr>
        <p:spPr>
          <a:xfrm>
            <a:off x="10310040" y="2760000"/>
            <a:ext cx="400000" cy="914"/>
          </a:xfrm>
          <a:prstGeom prst="lineInv">
            <a:avLst/>
          </a:pr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870040" y="266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71" name="TextBox 70"/>
          <p:cNvSpPr txBox="1"/>
          <p:nvPr/>
        </p:nvSpPr>
        <p:spPr>
          <a:xfrm>
            <a:off x="11650040" y="2665000"/>
            <a:ext cx="700000" cy="200000"/>
          </a:xfrm>
          <a:prstGeom prst="rect">
            <a:avLst/>
          </a:prstGeom>
          <a:noFill/>
        </p:spPr>
        <p:txBody>
          <a:bodyPr wrap="square" anchor="t" lIns="0" rIns="0" tIns="0" bIns="0">
            <a:spAutoFit/>
          </a:bodyPr>
          <a:lstStyle/>
          <a:p>
            <a:pPr algn="l"/>
            <a:r>
              <a:rPr sz="750" b="0">
                <a:solidFill>
                  <a:srgbClr val="20242A"/>
                </a:solidFill>
                <a:latin typeface="Calibri"/>
              </a:rPr>
              <a:t>53.3 m</a:t>
            </a:r>
          </a:p>
        </p:txBody>
      </p:sp>
      <p:sp>
        <p:nvSpPr>
          <p:cNvPr id="72" name="TextBox 71"/>
          <p:cNvSpPr txBox="1"/>
          <p:nvPr/>
        </p:nvSpPr>
        <p:spPr>
          <a:xfrm>
            <a:off x="7770040" y="287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73" name="Straight Connector 72"/>
          <p:cNvSpPr/>
          <p:nvPr/>
        </p:nvSpPr>
        <p:spPr>
          <a:xfrm>
            <a:off x="10310040" y="2965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870040" y="2870000"/>
            <a:ext cx="780000" cy="200000"/>
          </a:xfrm>
          <a:prstGeom prst="rect">
            <a:avLst/>
          </a:prstGeom>
          <a:noFill/>
        </p:spPr>
        <p:txBody>
          <a:bodyPr wrap="square" anchor="t" lIns="0" rIns="0" tIns="0" bIns="0">
            <a:spAutoFit/>
          </a:bodyPr>
          <a:lstStyle/>
          <a:p>
            <a:pPr algn="l"/>
            <a:r>
              <a:rPr sz="750" b="0">
                <a:solidFill>
                  <a:srgbClr val="20242A"/>
                </a:solidFill>
                <a:latin typeface="Calibri"/>
              </a:rPr>
              <a:t>7</a:t>
            </a:r>
          </a:p>
        </p:txBody>
      </p:sp>
      <p:sp>
        <p:nvSpPr>
          <p:cNvPr id="75" name="TextBox 74"/>
          <p:cNvSpPr txBox="1"/>
          <p:nvPr/>
        </p:nvSpPr>
        <p:spPr>
          <a:xfrm>
            <a:off x="11650040" y="2870000"/>
            <a:ext cx="700000" cy="200000"/>
          </a:xfrm>
          <a:prstGeom prst="rect">
            <a:avLst/>
          </a:prstGeom>
          <a:noFill/>
        </p:spPr>
        <p:txBody>
          <a:bodyPr wrap="square" anchor="t" lIns="0" rIns="0" tIns="0" bIns="0">
            <a:spAutoFit/>
          </a:bodyPr>
          <a:lstStyle/>
          <a:p>
            <a:pPr algn="l"/>
            <a:r>
              <a:rPr sz="750" b="0">
                <a:solidFill>
                  <a:srgbClr val="20242A"/>
                </a:solidFill>
                <a:latin typeface="Calibri"/>
              </a:rPr>
              <a:t>49.0 m</a:t>
            </a:r>
          </a:p>
        </p:txBody>
      </p:sp>
      <p:sp>
        <p:nvSpPr>
          <p:cNvPr id="76" name="TextBox 75"/>
          <p:cNvSpPr txBox="1"/>
          <p:nvPr/>
        </p:nvSpPr>
        <p:spPr>
          <a:xfrm>
            <a:off x="7770040" y="307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77" name="Straight Connector 76"/>
          <p:cNvSpPr/>
          <p:nvPr/>
        </p:nvSpPr>
        <p:spPr>
          <a:xfrm>
            <a:off x="10310040" y="317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870040" y="307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79" name="TextBox 78"/>
          <p:cNvSpPr txBox="1"/>
          <p:nvPr/>
        </p:nvSpPr>
        <p:spPr>
          <a:xfrm>
            <a:off x="11650040" y="3075000"/>
            <a:ext cx="700000" cy="200000"/>
          </a:xfrm>
          <a:prstGeom prst="rect">
            <a:avLst/>
          </a:prstGeom>
          <a:noFill/>
        </p:spPr>
        <p:txBody>
          <a:bodyPr wrap="square" anchor="t" lIns="0" rIns="0" tIns="0" bIns="0">
            <a:spAutoFit/>
          </a:bodyPr>
          <a:lstStyle/>
          <a:p>
            <a:pPr algn="l"/>
            <a:r>
              <a:rPr sz="750" b="0">
                <a:solidFill>
                  <a:srgbClr val="20242A"/>
                </a:solidFill>
                <a:latin typeface="Calibri"/>
              </a:rPr>
              <a:t>1.5 m</a:t>
            </a:r>
          </a:p>
        </p:txBody>
      </p:sp>
      <p:sp>
        <p:nvSpPr>
          <p:cNvPr id="80" name="TextBox 79"/>
          <p:cNvSpPr txBox="1"/>
          <p:nvPr/>
        </p:nvSpPr>
        <p:spPr>
          <a:xfrm>
            <a:off x="7740040" y="3370000"/>
            <a:ext cx="6944033" cy="220000"/>
          </a:xfrm>
          <a:prstGeom prst="rect">
            <a:avLst/>
          </a:prstGeom>
          <a:noFill/>
        </p:spPr>
        <p:txBody>
          <a:bodyPr wrap="square" anchor="t" lIns="0" rIns="0" tIns="0" bIns="0">
            <a:spAutoFit/>
          </a:bodyPr>
          <a:lstStyle/>
          <a:p>
            <a:pPr algn="l"/>
            <a:r>
              <a:rPr sz="850" b="1">
                <a:solidFill>
                  <a:srgbClr val="1E2761"/>
                </a:solidFill>
                <a:latin typeface="Calibri"/>
              </a:rPr>
              <a:t>LOC-02 — 13 segments, 349 m inside the frame</a:t>
            </a:r>
          </a:p>
        </p:txBody>
      </p:sp>
      <p:sp>
        <p:nvSpPr>
          <p:cNvPr id="81" name="TextBox 80"/>
          <p:cNvSpPr txBox="1"/>
          <p:nvPr/>
        </p:nvSpPr>
        <p:spPr>
          <a:xfrm>
            <a:off x="7770040" y="362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82" name="TextBox 81"/>
          <p:cNvSpPr txBox="1"/>
          <p:nvPr/>
        </p:nvSpPr>
        <p:spPr>
          <a:xfrm>
            <a:off x="10270040" y="362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83" name="TextBox 82"/>
          <p:cNvSpPr txBox="1"/>
          <p:nvPr/>
        </p:nvSpPr>
        <p:spPr>
          <a:xfrm>
            <a:off x="10870040" y="362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84" name="TextBox 83"/>
          <p:cNvSpPr txBox="1"/>
          <p:nvPr/>
        </p:nvSpPr>
        <p:spPr>
          <a:xfrm>
            <a:off x="11650040" y="362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85" name="TextBox 84"/>
          <p:cNvSpPr txBox="1"/>
          <p:nvPr/>
        </p:nvSpPr>
        <p:spPr>
          <a:xfrm>
            <a:off x="7770040" y="3830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86" name="Straight Connector 85"/>
          <p:cNvSpPr/>
          <p:nvPr/>
        </p:nvSpPr>
        <p:spPr>
          <a:xfrm>
            <a:off x="10310040" y="3925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870040" y="3830000"/>
            <a:ext cx="780000" cy="200000"/>
          </a:xfrm>
          <a:prstGeom prst="rect">
            <a:avLst/>
          </a:prstGeom>
          <a:noFill/>
        </p:spPr>
        <p:txBody>
          <a:bodyPr wrap="square" anchor="t" lIns="0" rIns="0" tIns="0" bIns="0">
            <a:spAutoFit/>
          </a:bodyPr>
          <a:lstStyle/>
          <a:p>
            <a:pPr algn="l"/>
            <a:r>
              <a:rPr sz="750" b="0">
                <a:solidFill>
                  <a:srgbClr val="20242A"/>
                </a:solidFill>
                <a:latin typeface="Calibri"/>
              </a:rPr>
              <a:t>10</a:t>
            </a:r>
          </a:p>
        </p:txBody>
      </p:sp>
      <p:sp>
        <p:nvSpPr>
          <p:cNvPr id="88" name="TextBox 87"/>
          <p:cNvSpPr txBox="1"/>
          <p:nvPr/>
        </p:nvSpPr>
        <p:spPr>
          <a:xfrm>
            <a:off x="11650040" y="3830000"/>
            <a:ext cx="700000" cy="200000"/>
          </a:xfrm>
          <a:prstGeom prst="rect">
            <a:avLst/>
          </a:prstGeom>
          <a:noFill/>
        </p:spPr>
        <p:txBody>
          <a:bodyPr wrap="square" anchor="t" lIns="0" rIns="0" tIns="0" bIns="0">
            <a:spAutoFit/>
          </a:bodyPr>
          <a:lstStyle/>
          <a:p>
            <a:pPr algn="l"/>
            <a:r>
              <a:rPr sz="750" b="0">
                <a:solidFill>
                  <a:srgbClr val="20242A"/>
                </a:solidFill>
                <a:latin typeface="Calibri"/>
              </a:rPr>
              <a:t>230.7 m</a:t>
            </a:r>
          </a:p>
        </p:txBody>
      </p:sp>
      <p:sp>
        <p:nvSpPr>
          <p:cNvPr id="89" name="TextBox 88"/>
          <p:cNvSpPr txBox="1"/>
          <p:nvPr/>
        </p:nvSpPr>
        <p:spPr>
          <a:xfrm>
            <a:off x="7770040" y="403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90" name="Straight Connector 89"/>
          <p:cNvSpPr/>
          <p:nvPr/>
        </p:nvSpPr>
        <p:spPr>
          <a:xfrm>
            <a:off x="10310040" y="413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70040" y="403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92" name="TextBox 91"/>
          <p:cNvSpPr txBox="1"/>
          <p:nvPr/>
        </p:nvSpPr>
        <p:spPr>
          <a:xfrm>
            <a:off x="11650040" y="4035000"/>
            <a:ext cx="700000" cy="200000"/>
          </a:xfrm>
          <a:prstGeom prst="rect">
            <a:avLst/>
          </a:prstGeom>
          <a:noFill/>
        </p:spPr>
        <p:txBody>
          <a:bodyPr wrap="square" anchor="t" lIns="0" rIns="0" tIns="0" bIns="0">
            <a:spAutoFit/>
          </a:bodyPr>
          <a:lstStyle/>
          <a:p>
            <a:pPr algn="l"/>
            <a:r>
              <a:rPr sz="750" b="0">
                <a:solidFill>
                  <a:srgbClr val="20242A"/>
                </a:solidFill>
                <a:latin typeface="Calibri"/>
              </a:rPr>
              <a:t>110.8 m</a:t>
            </a:r>
          </a:p>
        </p:txBody>
      </p:sp>
      <p:sp>
        <p:nvSpPr>
          <p:cNvPr id="93" name="TextBox 92"/>
          <p:cNvSpPr txBox="1"/>
          <p:nvPr/>
        </p:nvSpPr>
        <p:spPr>
          <a:xfrm>
            <a:off x="7770040" y="424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94" name="Straight Connector 93"/>
          <p:cNvSpPr/>
          <p:nvPr/>
        </p:nvSpPr>
        <p:spPr>
          <a:xfrm>
            <a:off x="10310040" y="4335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870040" y="424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96" name="TextBox 95"/>
          <p:cNvSpPr txBox="1"/>
          <p:nvPr/>
        </p:nvSpPr>
        <p:spPr>
          <a:xfrm>
            <a:off x="11650040" y="4240000"/>
            <a:ext cx="700000" cy="200000"/>
          </a:xfrm>
          <a:prstGeom prst="rect">
            <a:avLst/>
          </a:prstGeom>
          <a:noFill/>
        </p:spPr>
        <p:txBody>
          <a:bodyPr wrap="square" anchor="t" lIns="0" rIns="0" tIns="0" bIns="0">
            <a:spAutoFit/>
          </a:bodyPr>
          <a:lstStyle/>
          <a:p>
            <a:pPr algn="l"/>
            <a:r>
              <a:rPr sz="750" b="0">
                <a:solidFill>
                  <a:srgbClr val="20242A"/>
                </a:solidFill>
                <a:latin typeface="Calibri"/>
              </a:rPr>
              <a:t>6.2 m</a:t>
            </a:r>
          </a:p>
        </p:txBody>
      </p:sp>
      <p:sp>
        <p:nvSpPr>
          <p:cNvPr id="97" name="TextBox 96"/>
          <p:cNvSpPr txBox="1"/>
          <p:nvPr/>
        </p:nvSpPr>
        <p:spPr>
          <a:xfrm>
            <a:off x="7770040" y="444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98" name="Straight Connector 97"/>
          <p:cNvSpPr/>
          <p:nvPr/>
        </p:nvSpPr>
        <p:spPr>
          <a:xfrm>
            <a:off x="10310040" y="454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70040" y="444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00" name="TextBox 99"/>
          <p:cNvSpPr txBox="1"/>
          <p:nvPr/>
        </p:nvSpPr>
        <p:spPr>
          <a:xfrm>
            <a:off x="11650040" y="4445000"/>
            <a:ext cx="700000" cy="200000"/>
          </a:xfrm>
          <a:prstGeom prst="rect">
            <a:avLst/>
          </a:prstGeom>
          <a:noFill/>
        </p:spPr>
        <p:txBody>
          <a:bodyPr wrap="square" anchor="t" lIns="0" rIns="0" tIns="0" bIns="0">
            <a:spAutoFit/>
          </a:bodyPr>
          <a:lstStyle/>
          <a:p>
            <a:pPr algn="l"/>
            <a:r>
              <a:rPr sz="750" b="0">
                <a:solidFill>
                  <a:srgbClr val="20242A"/>
                </a:solidFill>
                <a:latin typeface="Calibri"/>
              </a:rPr>
              <a:t>1.6 m</a:t>
            </a:r>
          </a:p>
        </p:txBody>
      </p:sp>
      <p:sp>
        <p:nvSpPr>
          <p:cNvPr id="101" name="TextBox 100"/>
          <p:cNvSpPr txBox="1"/>
          <p:nvPr/>
        </p:nvSpPr>
        <p:spPr>
          <a:xfrm>
            <a:off x="7740040" y="4740000"/>
            <a:ext cx="6944033" cy="220000"/>
          </a:xfrm>
          <a:prstGeom prst="rect">
            <a:avLst/>
          </a:prstGeom>
          <a:noFill/>
        </p:spPr>
        <p:txBody>
          <a:bodyPr wrap="square" anchor="t" lIns="0" rIns="0" tIns="0" bIns="0">
            <a:spAutoFit/>
          </a:bodyPr>
          <a:lstStyle/>
          <a:p>
            <a:pPr algn="l"/>
            <a:r>
              <a:rPr sz="850" b="1">
                <a:solidFill>
                  <a:srgbClr val="1E2761"/>
                </a:solidFill>
                <a:latin typeface="Calibri"/>
              </a:rPr>
              <a:t>LOC-03 — 53 segments, 1104 m inside the frame</a:t>
            </a:r>
          </a:p>
        </p:txBody>
      </p:sp>
      <p:sp>
        <p:nvSpPr>
          <p:cNvPr id="102" name="TextBox 101"/>
          <p:cNvSpPr txBox="1"/>
          <p:nvPr/>
        </p:nvSpPr>
        <p:spPr>
          <a:xfrm>
            <a:off x="7770040" y="499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103" name="TextBox 102"/>
          <p:cNvSpPr txBox="1"/>
          <p:nvPr/>
        </p:nvSpPr>
        <p:spPr>
          <a:xfrm>
            <a:off x="10270040" y="499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104" name="TextBox 103"/>
          <p:cNvSpPr txBox="1"/>
          <p:nvPr/>
        </p:nvSpPr>
        <p:spPr>
          <a:xfrm>
            <a:off x="10870040" y="499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105" name="TextBox 104"/>
          <p:cNvSpPr txBox="1"/>
          <p:nvPr/>
        </p:nvSpPr>
        <p:spPr>
          <a:xfrm>
            <a:off x="11650040" y="499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106" name="TextBox 105"/>
          <p:cNvSpPr txBox="1"/>
          <p:nvPr/>
        </p:nvSpPr>
        <p:spPr>
          <a:xfrm>
            <a:off x="7770040" y="5200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107" name="Straight Connector 106"/>
          <p:cNvSpPr/>
          <p:nvPr/>
        </p:nvSpPr>
        <p:spPr>
          <a:xfrm>
            <a:off x="10310040" y="5295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870040" y="5200000"/>
            <a:ext cx="780000" cy="200000"/>
          </a:xfrm>
          <a:prstGeom prst="rect">
            <a:avLst/>
          </a:prstGeom>
          <a:noFill/>
        </p:spPr>
        <p:txBody>
          <a:bodyPr wrap="square" anchor="t" lIns="0" rIns="0" tIns="0" bIns="0">
            <a:spAutoFit/>
          </a:bodyPr>
          <a:lstStyle/>
          <a:p>
            <a:pPr algn="l"/>
            <a:r>
              <a:rPr sz="750" b="0">
                <a:solidFill>
                  <a:srgbClr val="20242A"/>
                </a:solidFill>
                <a:latin typeface="Calibri"/>
              </a:rPr>
              <a:t>29</a:t>
            </a:r>
          </a:p>
        </p:txBody>
      </p:sp>
      <p:sp>
        <p:nvSpPr>
          <p:cNvPr id="109" name="TextBox 108"/>
          <p:cNvSpPr txBox="1"/>
          <p:nvPr/>
        </p:nvSpPr>
        <p:spPr>
          <a:xfrm>
            <a:off x="11650040" y="5200000"/>
            <a:ext cx="700000" cy="200000"/>
          </a:xfrm>
          <a:prstGeom prst="rect">
            <a:avLst/>
          </a:prstGeom>
          <a:noFill/>
        </p:spPr>
        <p:txBody>
          <a:bodyPr wrap="square" anchor="t" lIns="0" rIns="0" tIns="0" bIns="0">
            <a:spAutoFit/>
          </a:bodyPr>
          <a:lstStyle/>
          <a:p>
            <a:pPr algn="l"/>
            <a:r>
              <a:rPr sz="750" b="0">
                <a:solidFill>
                  <a:srgbClr val="20242A"/>
                </a:solidFill>
                <a:latin typeface="Calibri"/>
              </a:rPr>
              <a:t>541.5 m</a:t>
            </a:r>
          </a:p>
        </p:txBody>
      </p:sp>
      <p:sp>
        <p:nvSpPr>
          <p:cNvPr id="110" name="TextBox 109"/>
          <p:cNvSpPr txBox="1"/>
          <p:nvPr/>
        </p:nvSpPr>
        <p:spPr>
          <a:xfrm>
            <a:off x="7770040" y="5405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SAWCUT</a:t>
            </a:r>
          </a:p>
        </p:txBody>
      </p:sp>
      <p:sp>
        <p:nvSpPr>
          <p:cNvPr id="111" name="Straight Connector 110"/>
          <p:cNvSpPr/>
          <p:nvPr/>
        </p:nvSpPr>
        <p:spPr>
          <a:xfrm>
            <a:off x="10310040" y="5500000"/>
            <a:ext cx="400000" cy="914"/>
          </a:xfrm>
          <a:prstGeom prst="lineInv">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870040" y="5405000"/>
            <a:ext cx="780000" cy="200000"/>
          </a:xfrm>
          <a:prstGeom prst="rect">
            <a:avLst/>
          </a:prstGeom>
          <a:noFill/>
        </p:spPr>
        <p:txBody>
          <a:bodyPr wrap="square" anchor="t" lIns="0" rIns="0" tIns="0" bIns="0">
            <a:spAutoFit/>
          </a:bodyPr>
          <a:lstStyle/>
          <a:p>
            <a:pPr algn="l"/>
            <a:r>
              <a:rPr sz="750" b="0">
                <a:solidFill>
                  <a:srgbClr val="20242A"/>
                </a:solidFill>
                <a:latin typeface="Calibri"/>
              </a:rPr>
              <a:t>11</a:t>
            </a:r>
          </a:p>
        </p:txBody>
      </p:sp>
      <p:sp>
        <p:nvSpPr>
          <p:cNvPr id="113" name="TextBox 112"/>
          <p:cNvSpPr txBox="1"/>
          <p:nvPr/>
        </p:nvSpPr>
        <p:spPr>
          <a:xfrm>
            <a:off x="11650040" y="5405000"/>
            <a:ext cx="700000" cy="200000"/>
          </a:xfrm>
          <a:prstGeom prst="rect">
            <a:avLst/>
          </a:prstGeom>
          <a:noFill/>
        </p:spPr>
        <p:txBody>
          <a:bodyPr wrap="square" anchor="t" lIns="0" rIns="0" tIns="0" bIns="0">
            <a:spAutoFit/>
          </a:bodyPr>
          <a:lstStyle/>
          <a:p>
            <a:pPr algn="l"/>
            <a:r>
              <a:rPr sz="750" b="0">
                <a:solidFill>
                  <a:srgbClr val="20242A"/>
                </a:solidFill>
                <a:latin typeface="Calibri"/>
              </a:rPr>
              <a:t>259.1 m</a:t>
            </a:r>
          </a:p>
        </p:txBody>
      </p:sp>
      <p:sp>
        <p:nvSpPr>
          <p:cNvPr id="114" name="TextBox 113"/>
          <p:cNvSpPr txBox="1"/>
          <p:nvPr/>
        </p:nvSpPr>
        <p:spPr>
          <a:xfrm>
            <a:off x="7770040" y="5610000"/>
            <a:ext cx="2500000" cy="200000"/>
          </a:xfrm>
          <a:prstGeom prst="rect">
            <a:avLst/>
          </a:prstGeom>
          <a:noFill/>
        </p:spPr>
        <p:txBody>
          <a:bodyPr wrap="square" anchor="t" lIns="0" rIns="0" tIns="0" bIns="0">
            <a:spAutoFit/>
          </a:bodyPr>
          <a:lstStyle/>
          <a:p>
            <a:pPr algn="l"/>
            <a:r>
              <a:rPr sz="750" b="0">
                <a:solidFill>
                  <a:srgbClr val="20242A"/>
                </a:solidFill>
                <a:latin typeface="Calibri"/>
              </a:rPr>
              <a:t>CV_INNER DUCT 4x110mm dia</a:t>
            </a:r>
          </a:p>
        </p:txBody>
      </p:sp>
      <p:sp>
        <p:nvSpPr>
          <p:cNvPr id="115" name="Straight Connector 114"/>
          <p:cNvSpPr/>
          <p:nvPr/>
        </p:nvSpPr>
        <p:spPr>
          <a:xfrm>
            <a:off x="10310040" y="5705000"/>
            <a:ext cx="400000" cy="914"/>
          </a:xfrm>
          <a:prstGeom prst="lineInv">
            <a:avLst/>
          </a:pr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870040" y="5610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17" name="TextBox 116"/>
          <p:cNvSpPr txBox="1"/>
          <p:nvPr/>
        </p:nvSpPr>
        <p:spPr>
          <a:xfrm>
            <a:off x="11650040" y="5610000"/>
            <a:ext cx="700000" cy="200000"/>
          </a:xfrm>
          <a:prstGeom prst="rect">
            <a:avLst/>
          </a:prstGeom>
          <a:noFill/>
        </p:spPr>
        <p:txBody>
          <a:bodyPr wrap="square" anchor="t" lIns="0" rIns="0" tIns="0" bIns="0">
            <a:spAutoFit/>
          </a:bodyPr>
          <a:lstStyle/>
          <a:p>
            <a:pPr algn="l"/>
            <a:r>
              <a:rPr sz="750" b="0">
                <a:solidFill>
                  <a:srgbClr val="20242A"/>
                </a:solidFill>
                <a:latin typeface="Calibri"/>
              </a:rPr>
              <a:t>84.2 m</a:t>
            </a:r>
          </a:p>
        </p:txBody>
      </p:sp>
      <p:sp>
        <p:nvSpPr>
          <p:cNvPr id="118" name="TextBox 117"/>
          <p:cNvSpPr txBox="1"/>
          <p:nvPr/>
        </p:nvSpPr>
        <p:spPr>
          <a:xfrm>
            <a:off x="7770040" y="581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119" name="Straight Connector 118"/>
          <p:cNvSpPr/>
          <p:nvPr/>
        </p:nvSpPr>
        <p:spPr>
          <a:xfrm>
            <a:off x="10310040" y="591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870040" y="581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21" name="TextBox 120"/>
          <p:cNvSpPr txBox="1"/>
          <p:nvPr/>
        </p:nvSpPr>
        <p:spPr>
          <a:xfrm>
            <a:off x="11650040" y="5815000"/>
            <a:ext cx="700000" cy="200000"/>
          </a:xfrm>
          <a:prstGeom prst="rect">
            <a:avLst/>
          </a:prstGeom>
          <a:noFill/>
        </p:spPr>
        <p:txBody>
          <a:bodyPr wrap="square" anchor="t" lIns="0" rIns="0" tIns="0" bIns="0">
            <a:spAutoFit/>
          </a:bodyPr>
          <a:lstStyle/>
          <a:p>
            <a:pPr algn="l"/>
            <a:r>
              <a:rPr sz="750" b="0">
                <a:solidFill>
                  <a:srgbClr val="20242A"/>
                </a:solidFill>
                <a:latin typeface="Calibri"/>
              </a:rPr>
              <a:t>81.7 m</a:t>
            </a:r>
          </a:p>
        </p:txBody>
      </p:sp>
      <p:sp>
        <p:nvSpPr>
          <p:cNvPr id="122" name="TextBox 121"/>
          <p:cNvSpPr txBox="1"/>
          <p:nvPr/>
        </p:nvSpPr>
        <p:spPr>
          <a:xfrm>
            <a:off x="7770040" y="6020000"/>
            <a:ext cx="2500000" cy="200000"/>
          </a:xfrm>
          <a:prstGeom prst="rect">
            <a:avLst/>
          </a:prstGeom>
          <a:noFill/>
        </p:spPr>
        <p:txBody>
          <a:bodyPr wrap="square" anchor="t" lIns="0" rIns="0" tIns="0" bIns="0">
            <a:spAutoFit/>
          </a:bodyPr>
          <a:lstStyle/>
          <a:p>
            <a:pPr algn="l"/>
            <a:r>
              <a:rPr sz="750" b="0">
                <a:solidFill>
                  <a:srgbClr val="20242A"/>
                </a:solidFill>
                <a:latin typeface="Calibri"/>
              </a:rPr>
              <a:t>CV_DUCT CROSSING 6x110mm dia</a:t>
            </a:r>
          </a:p>
        </p:txBody>
      </p:sp>
      <p:sp>
        <p:nvSpPr>
          <p:cNvPr id="123" name="Straight Connector 122"/>
          <p:cNvSpPr/>
          <p:nvPr/>
        </p:nvSpPr>
        <p:spPr>
          <a:xfrm>
            <a:off x="10310040" y="6115000"/>
            <a:ext cx="400000" cy="914"/>
          </a:xfrm>
          <a:prstGeom prst="lineInv">
            <a:avLst/>
          </a:pr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870040" y="602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25" name="TextBox 124"/>
          <p:cNvSpPr txBox="1"/>
          <p:nvPr/>
        </p:nvSpPr>
        <p:spPr>
          <a:xfrm>
            <a:off x="11650040" y="6020000"/>
            <a:ext cx="700000" cy="200000"/>
          </a:xfrm>
          <a:prstGeom prst="rect">
            <a:avLst/>
          </a:prstGeom>
          <a:noFill/>
        </p:spPr>
        <p:txBody>
          <a:bodyPr wrap="square" anchor="t" lIns="0" rIns="0" tIns="0" bIns="0">
            <a:spAutoFit/>
          </a:bodyPr>
          <a:lstStyle/>
          <a:p>
            <a:pPr algn="l"/>
            <a:r>
              <a:rPr sz="750" b="0">
                <a:solidFill>
                  <a:srgbClr val="20242A"/>
                </a:solidFill>
                <a:latin typeface="Calibri"/>
              </a:rPr>
              <a:t>57.8 m</a:t>
            </a:r>
          </a:p>
        </p:txBody>
      </p:sp>
      <p:sp>
        <p:nvSpPr>
          <p:cNvPr id="126" name="TextBox 125"/>
          <p:cNvSpPr txBox="1"/>
          <p:nvPr/>
        </p:nvSpPr>
        <p:spPr>
          <a:xfrm>
            <a:off x="7770040" y="6225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127" name="Straight Connector 126"/>
          <p:cNvSpPr/>
          <p:nvPr/>
        </p:nvSpPr>
        <p:spPr>
          <a:xfrm>
            <a:off x="10310040" y="6320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870040" y="6225000"/>
            <a:ext cx="780000" cy="200000"/>
          </a:xfrm>
          <a:prstGeom prst="rect">
            <a:avLst/>
          </a:prstGeom>
          <a:noFill/>
        </p:spPr>
        <p:txBody>
          <a:bodyPr wrap="square" anchor="t" lIns="0" rIns="0" tIns="0" bIns="0">
            <a:spAutoFit/>
          </a:bodyPr>
          <a:lstStyle/>
          <a:p>
            <a:pPr algn="l"/>
            <a:r>
              <a:rPr sz="750" b="0">
                <a:solidFill>
                  <a:srgbClr val="20242A"/>
                </a:solidFill>
                <a:latin typeface="Calibri"/>
              </a:rPr>
              <a:t>5</a:t>
            </a:r>
          </a:p>
        </p:txBody>
      </p:sp>
      <p:sp>
        <p:nvSpPr>
          <p:cNvPr id="129" name="TextBox 128"/>
          <p:cNvSpPr txBox="1"/>
          <p:nvPr/>
        </p:nvSpPr>
        <p:spPr>
          <a:xfrm>
            <a:off x="11650040" y="6225000"/>
            <a:ext cx="700000" cy="200000"/>
          </a:xfrm>
          <a:prstGeom prst="rect">
            <a:avLst/>
          </a:prstGeom>
          <a:noFill/>
        </p:spPr>
        <p:txBody>
          <a:bodyPr wrap="square" anchor="t" lIns="0" rIns="0" tIns="0" bIns="0">
            <a:spAutoFit/>
          </a:bodyPr>
          <a:lstStyle/>
          <a:p>
            <a:pPr algn="l"/>
            <a:r>
              <a:rPr sz="750" b="0">
                <a:solidFill>
                  <a:srgbClr val="20242A"/>
                </a:solidFill>
                <a:latin typeface="Calibri"/>
              </a:rPr>
              <a:t>46.6 m</a:t>
            </a:r>
          </a:p>
        </p:txBody>
      </p:sp>
      <p:sp>
        <p:nvSpPr>
          <p:cNvPr id="130" name="TextBox 129"/>
          <p:cNvSpPr txBox="1"/>
          <p:nvPr/>
        </p:nvSpPr>
        <p:spPr>
          <a:xfrm>
            <a:off x="7770040" y="6430000"/>
            <a:ext cx="2500000" cy="200000"/>
          </a:xfrm>
          <a:prstGeom prst="rect">
            <a:avLst/>
          </a:prstGeom>
          <a:noFill/>
        </p:spPr>
        <p:txBody>
          <a:bodyPr wrap="square" anchor="t" lIns="0" rIns="0" tIns="0" bIns="0">
            <a:spAutoFit/>
          </a:bodyPr>
          <a:lstStyle/>
          <a:p>
            <a:pPr algn="l"/>
            <a:r>
              <a:rPr sz="750" b="0">
                <a:solidFill>
                  <a:srgbClr val="20242A"/>
                </a:solidFill>
                <a:latin typeface="Calibri"/>
              </a:rPr>
              <a:t>CV_STH DUCT 6x110mm dia</a:t>
            </a:r>
          </a:p>
        </p:txBody>
      </p:sp>
      <p:sp>
        <p:nvSpPr>
          <p:cNvPr id="131" name="Straight Connector 130"/>
          <p:cNvSpPr/>
          <p:nvPr/>
        </p:nvSpPr>
        <p:spPr>
          <a:xfrm>
            <a:off x="10310040" y="6525000"/>
            <a:ext cx="400000" cy="914"/>
          </a:xfrm>
          <a:prstGeom prst="lineInv">
            <a:avLst/>
          </a:pr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870040" y="643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33" name="TextBox 132"/>
          <p:cNvSpPr txBox="1"/>
          <p:nvPr/>
        </p:nvSpPr>
        <p:spPr>
          <a:xfrm>
            <a:off x="11650040" y="6430000"/>
            <a:ext cx="700000" cy="200000"/>
          </a:xfrm>
          <a:prstGeom prst="rect">
            <a:avLst/>
          </a:prstGeom>
          <a:noFill/>
        </p:spPr>
        <p:txBody>
          <a:bodyPr wrap="square" anchor="t" lIns="0" rIns="0" tIns="0" bIns="0">
            <a:spAutoFit/>
          </a:bodyPr>
          <a:lstStyle/>
          <a:p>
            <a:pPr algn="l"/>
            <a:r>
              <a:rPr sz="750" b="0">
                <a:solidFill>
                  <a:srgbClr val="20242A"/>
                </a:solidFill>
                <a:latin typeface="Calibri"/>
              </a:rPr>
              <a:t>30.4 m</a:t>
            </a:r>
          </a:p>
        </p:txBody>
      </p:sp>
      <p:sp>
        <p:nvSpPr>
          <p:cNvPr id="134" name="TextBox 133"/>
          <p:cNvSpPr txBox="1"/>
          <p:nvPr/>
        </p:nvSpPr>
        <p:spPr>
          <a:xfrm>
            <a:off x="7770040" y="663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135" name="Straight Connector 134"/>
          <p:cNvSpPr/>
          <p:nvPr/>
        </p:nvSpPr>
        <p:spPr>
          <a:xfrm>
            <a:off x="10310040" y="673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870040" y="663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37" name="TextBox 136"/>
          <p:cNvSpPr txBox="1"/>
          <p:nvPr/>
        </p:nvSpPr>
        <p:spPr>
          <a:xfrm>
            <a:off x="11650040" y="6635000"/>
            <a:ext cx="700000" cy="200000"/>
          </a:xfrm>
          <a:prstGeom prst="rect">
            <a:avLst/>
          </a:prstGeom>
          <a:noFill/>
        </p:spPr>
        <p:txBody>
          <a:bodyPr wrap="square" anchor="t" lIns="0" rIns="0" tIns="0" bIns="0">
            <a:spAutoFit/>
          </a:bodyPr>
          <a:lstStyle/>
          <a:p>
            <a:pPr algn="l"/>
            <a:r>
              <a:rPr sz="750" b="0">
                <a:solidFill>
                  <a:srgbClr val="20242A"/>
                </a:solidFill>
                <a:latin typeface="Calibri"/>
              </a:rPr>
              <a:t>2.4 m</a:t>
            </a:r>
          </a:p>
        </p:txBody>
      </p:sp>
      <p:sp>
        <p:nvSpPr>
          <p:cNvPr id="138" name="Rectangle 137"/>
          <p:cNvSpPr/>
          <p:nvPr/>
        </p:nvSpPr>
        <p:spPr>
          <a:xfrm>
            <a:off x="320040" y="7030000"/>
            <a:ext cx="7100000" cy="30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40040" y="7140000"/>
            <a:ext cx="6860000" cy="240000"/>
          </a:xfrm>
          <a:prstGeom prst="rect">
            <a:avLst/>
          </a:prstGeom>
          <a:noFill/>
        </p:spPr>
        <p:txBody>
          <a:bodyPr wrap="square" anchor="t" lIns="0" rIns="0" tIns="0" bIns="0">
            <a:spAutoFit/>
          </a:bodyPr>
          <a:lstStyle/>
          <a:p>
            <a:pPr algn="l"/>
            <a:r>
              <a:rPr sz="1000" b="1">
                <a:solidFill>
                  <a:srgbClr val="1E2761"/>
                </a:solidFill>
                <a:latin typeface="Calibri"/>
              </a:rPr>
              <a:t>5 · LIMITS — READ BEFORE USING THIS GEOMETRY</a:t>
            </a:r>
          </a:p>
        </p:txBody>
      </p:sp>
      <p:sp>
        <p:nvSpPr>
          <p:cNvPr id="140" name="TextBox 139"/>
          <p:cNvSpPr txBox="1"/>
          <p:nvPr/>
        </p:nvSpPr>
        <p:spPr>
          <a:xfrm>
            <a:off x="440040" y="7430000"/>
            <a:ext cx="6860000" cy="2600000"/>
          </a:xfrm>
          <a:prstGeom prst="rect">
            <a:avLst/>
          </a:prstGeom>
          <a:noFill/>
        </p:spPr>
        <p:txBody>
          <a:bodyPr wrap="square" anchor="t" lIns="0" rIns="0" tIns="0" bIns="0">
            <a:spAutoFit/>
          </a:bodyPr>
          <a:lstStyle/>
          <a:p>
            <a:pPr algn="l"/>
            <a:r>
              <a:rPr sz="800" b="0">
                <a:solidFill>
                  <a:srgbClr val="20242A"/>
                </a:solidFill>
                <a:latin typeface="Calibri"/>
              </a:rPr>
              <a:t>a) Runs are fragments, not proven pulls. The duct lines are the individual LINE / LWPOLYLINE segments as drafted. No endpoint snapping or graph chaining has been done, so "handhole A to handhole B" is not established. Do not order cable to a length scaled off these sheets.</a:t>
            </a:r>
          </a:p>
          <a:p>
            <a:pPr algn="l"/>
            <a:r>
              <a:rPr sz="800" b="0">
                <a:solidFill>
                  <a:srgbClr val="20242A"/>
                </a:solidFill>
                <a:latin typeface="Calibri"/>
              </a:rPr>
              <a:t>b) Coordinates are ZIA local grid, not surveyed and not UTM. Nothing here may be issued as a setting-out coordinate without an externally checked transform against ADA survey control.</a:t>
            </a:r>
          </a:p>
          <a:p>
            <a:pPr algn="l"/>
            <a:r>
              <a:rPr sz="800" b="0">
                <a:solidFill>
                  <a:srgbClr val="20242A"/>
                </a:solidFill>
                <a:latin typeface="Calibri"/>
              </a:rPr>
              <a:t>c) Civil symbols are ~2.1–2.3 m off. Handhole, manhole, transformer-pit and RRM symbols on the sheets sit a mean 2.1–2.3 m (sd 0.3–0.45 m) from the source-drawing insertion point, while AGL light fittings match to sub-millimetre. Set out civil features from survey, not from these sheets.</a:t>
            </a:r>
          </a:p>
          <a:p>
            <a:pPr algn="l"/>
            <a:r>
              <a:rPr sz="800" b="0">
                <a:solidFill>
                  <a:srgbClr val="20242A"/>
                </a:solidFill>
                <a:latin typeface="Calibri"/>
              </a:rPr>
              <a:t>d) Per-asset route attribution is NOT given. The consolidated table's "Route" column is unchanged from Rev P05. Attributing a specific duct layer to a named asset was attempted and rejected: the sheets' labels sit 3–8 m from their markers with neighbours only 10–15% further, and several markers resolve to the same label, so the assignment cannot be made from the drawing alone. It needs the source asset register, which is not in this data set.</a:t>
            </a:r>
          </a:p>
          <a:p>
            <a:pPr algn="l"/>
            <a:r>
              <a:rPr sz="800" b="0">
                <a:solidFill>
                  <a:srgbClr val="20242A"/>
                </a:solidFill>
                <a:latin typeface="Calibri"/>
              </a:rPr>
              <a:t>e) Z values are unreliable in the source drawing. This is a 2D basemap only; take levels from survey.</a:t>
            </a:r>
          </a:p>
          <a:p>
            <a:pPr algn="l"/>
            <a:r>
              <a:rPr sz="800" b="0">
                <a:solidFill>
                  <a:srgbClr val="20242A"/>
                </a:solidFill>
                <a:latin typeface="Calibri"/>
              </a:rPr>
              <a:t>f) Elements outside the twelve identity-inserted xrefs were excluded rather than drawn in the wrong place (3,375 geometry entities, 2,409 nested fixtures drawing-wide). If a duct looks absent in a given corner, check this first.</a:t>
            </a:r>
          </a:p>
        </p:txBody>
      </p:sp>
      <p:sp>
        <p:nvSpPr>
          <p:cNvPr id="141" name="Rectangle 140"/>
          <p:cNvSpPr/>
          <p:nvPr/>
        </p:nvSpPr>
        <p:spPr>
          <a:xfrm>
            <a:off x="7620040" y="7300000"/>
            <a:ext cx="7184033" cy="28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740040" y="7410000"/>
            <a:ext cx="6944033" cy="240000"/>
          </a:xfrm>
          <a:prstGeom prst="rect">
            <a:avLst/>
          </a:prstGeom>
          <a:noFill/>
        </p:spPr>
        <p:txBody>
          <a:bodyPr wrap="square" anchor="t" lIns="0" rIns="0" tIns="0" bIns="0">
            <a:spAutoFit/>
          </a:bodyPr>
          <a:lstStyle/>
          <a:p>
            <a:pPr algn="l"/>
            <a:r>
              <a:rPr sz="1000" b="1">
                <a:solidFill>
                  <a:srgbClr val="1E2761"/>
                </a:solidFill>
                <a:latin typeface="Calibri"/>
              </a:rPr>
              <a:t>6 · THE GEOMETRY, IN THE SOURCE DRAWING'S OWN GRID</a:t>
            </a:r>
          </a:p>
        </p:txBody>
      </p:sp>
      <p:pic>
        <p:nvPicPr>
          <p:cNvPr id="143" name="Picture 142" descr="verify_fig.png"/>
          <p:cNvPicPr>
            <a:picLocks noChangeAspect="1"/>
          </p:cNvPicPr>
          <p:nvPr/>
        </p:nvPicPr>
        <p:blipFill>
          <a:blip r:embed="rId2"/>
          <a:stretch>
            <a:fillRect/>
          </a:stretch>
        </p:blipFill>
        <p:spPr>
          <a:xfrm>
            <a:off x="7770040" y="7700000"/>
            <a:ext cx="6884033" cy="2360239"/>
          </a:xfrm>
          <a:prstGeom prst="rect">
            <a:avLst/>
          </a:prstGeom>
        </p:spPr>
      </p:pic>
      <p:sp>
        <p:nvSpPr>
          <p:cNvPr id="144" name="TextBox 14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Reproduce: registration.json + sheet_ducts.json + duct_schedule.csv accompany this deck. Every figure on this sheet is computed from the source drawing, not transcribed.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7 — SECONDARY FEED TOPOLOGY (DERIVED)  ·  STAR FROM TRANSFORMER HANDHOLES, NOT A CHAINED RUN</a:t>
            </a:r>
          </a:p>
        </p:txBody>
      </p:sp>
      <p:sp>
        <p:nvSpPr>
          <p:cNvPr id="3" name="Rectangle 2"/>
          <p:cNvSpPr/>
          <p:nvPr/>
        </p:nvSpPr>
        <p:spPr>
          <a:xfrm>
            <a:off x="320040" y="750000"/>
            <a:ext cx="14484033" cy="1150000"/>
          </a:xfrm>
          <a:prstGeom prst="rect">
            <a:avLst/>
          </a:prstGeom>
          <a:solidFill>
            <a:srgbClr val="FFF4E5"/>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14244033" cy="240000"/>
          </a:xfrm>
          <a:prstGeom prst="rect">
            <a:avLst/>
          </a:prstGeom>
          <a:noFill/>
        </p:spPr>
        <p:txBody>
          <a:bodyPr wrap="square" anchor="t" lIns="0" rIns="0" tIns="0" bIns="0">
            <a:spAutoFit/>
          </a:bodyPr>
          <a:lstStyle/>
          <a:p>
            <a:pPr algn="l"/>
            <a:r>
              <a:rPr sz="1000" b="1">
                <a:solidFill>
                  <a:srgbClr val="A64B00"/>
                </a:solidFill>
                <a:latin typeface="Calibri"/>
              </a:rPr>
              <a:t>FINDING — THE Rev P05 LOC-02 SCOPE NOTE DESCRIBES THE WRONG TOPOLOGY</a:t>
            </a:r>
          </a:p>
        </p:txBody>
      </p:sp>
      <p:sp>
        <p:nvSpPr>
          <p:cNvPr id="5" name="TextBox 4"/>
          <p:cNvSpPr txBox="1"/>
          <p:nvPr/>
        </p:nvSpPr>
        <p:spPr>
          <a:xfrm>
            <a:off x="440040" y="1170000"/>
            <a:ext cx="14244033" cy="900000"/>
          </a:xfrm>
          <a:prstGeom prst="rect">
            <a:avLst/>
          </a:prstGeom>
          <a:noFill/>
        </p:spPr>
        <p:txBody>
          <a:bodyPr wrap="square" anchor="t" lIns="0" rIns="0" tIns="0" bIns="0">
            <a:spAutoFit/>
          </a:bodyPr>
          <a:lstStyle/>
          <a:p>
            <a:pPr algn="l"/>
            <a:r>
              <a:rPr sz="850" b="0">
                <a:solidFill>
                  <a:srgbClr val="20242A"/>
                </a:solidFill>
                <a:latin typeface="Calibri"/>
              </a:rPr>
              <a:t>Rev P05, sheet 3 (LOC-02) states: "SECONDARY DUCT: CHAINED RUN HH.E.056 → 03/007 → 04/007 → 03/008 → 04/008 → 03/009 → HH.E.054". The source drawing shows no such chain.</a:t>
            </a:r>
          </a:p>
          <a:p>
            <a:pPr algn="l"/>
            <a:r>
              <a:rPr sz="850" b="0">
                <a:solidFill>
                  <a:srgbClr val="20242A"/>
                </a:solidFill>
                <a:latin typeface="Calibri"/>
              </a:rPr>
              <a:t>Every affected light at LOC-02 is fed by its own individual conduit spur radiating from ONE transformer handhole — five separate home runs of 20.5, 21.1, 29.1, 30.3 and 41.5 m, 142.5 m in total, not a series loop between lights. This changes the cable quantity, the number of pulls and the isolation sequence. Re-price and re-plan LOC-02 before ordering cable.</a:t>
            </a:r>
          </a:p>
        </p:txBody>
      </p:sp>
      <p:sp>
        <p:nvSpPr>
          <p:cNvPr id="6" name="Rectangle 5"/>
          <p:cNvSpPr/>
          <p:nvPr/>
        </p:nvSpPr>
        <p:spPr>
          <a:xfrm>
            <a:off x="320040" y="2020000"/>
            <a:ext cx="7142016" cy="196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130000"/>
            <a:ext cx="6902016" cy="240000"/>
          </a:xfrm>
          <a:prstGeom prst="rect">
            <a:avLst/>
          </a:prstGeom>
          <a:noFill/>
        </p:spPr>
        <p:txBody>
          <a:bodyPr wrap="square" anchor="t" lIns="0" rIns="0" tIns="0" bIns="0">
            <a:spAutoFit/>
          </a:bodyPr>
          <a:lstStyle/>
          <a:p>
            <a:pPr algn="l"/>
            <a:r>
              <a:rPr sz="1000" b="1">
                <a:solidFill>
                  <a:srgbClr val="1E2761"/>
                </a:solidFill>
                <a:latin typeface="Calibri"/>
              </a:rPr>
              <a:t>WHY THIS ALSO PROVES THE GEOMETRY IS REAL</a:t>
            </a:r>
          </a:p>
        </p:txBody>
      </p:sp>
      <p:sp>
        <p:nvSpPr>
          <p:cNvPr id="8" name="TextBox 7"/>
          <p:cNvSpPr txBox="1"/>
          <p:nvPr/>
        </p:nvSpPr>
        <p:spPr>
          <a:xfrm>
            <a:off x="440040" y="2440000"/>
            <a:ext cx="6902016" cy="1800000"/>
          </a:xfrm>
          <a:prstGeom prst="rect">
            <a:avLst/>
          </a:prstGeom>
          <a:noFill/>
        </p:spPr>
        <p:txBody>
          <a:bodyPr wrap="square" anchor="t" lIns="0" rIns="0" tIns="0" bIns="0">
            <a:spAutoFit/>
          </a:bodyPr>
          <a:lstStyle/>
          <a:p>
            <a:pPr algn="l"/>
            <a:r>
              <a:rPr sz="850" b="0">
                <a:solidFill>
                  <a:srgbClr val="20242A"/>
                </a:solidFill>
                <a:latin typeface="Calibri"/>
              </a:rPr>
              <a:t>The conduit fragments were chained by snapping endpoints within 0.30 m. What comes out is not an arbitrary set of lines — it is a working secondary distribution network:</a:t>
            </a:r>
          </a:p>
          <a:p>
            <a:pPr algn="l"/>
            <a:r>
              <a:rPr sz="850" b="0">
                <a:solidFill>
                  <a:srgbClr val="20242A"/>
                </a:solidFill>
                <a:latin typeface="Calibri"/>
              </a:rPr>
              <a:t>·  Every hub node lands on a CV_ETRANS HH (existing transformer handhole) fixture at 0.000–0.002 m. Four hubs at LOC-01, one at LOC-02, two at LOC-03.</a:t>
            </a:r>
          </a:p>
          <a:p>
            <a:pPr algn="l"/>
            <a:r>
              <a:rPr sz="850" b="0">
                <a:solidFill>
                  <a:srgbClr val="20242A"/>
                </a:solidFill>
                <a:latin typeface="Calibri"/>
              </a:rPr>
              <a:t>·  40 of 45 spurs terminating at a light land within 50 mm of that light's insertion point; most are exactly 0.00 m.</a:t>
            </a:r>
          </a:p>
          <a:p>
            <a:pPr algn="l"/>
            <a:r>
              <a:rPr sz="850" b="0">
                <a:solidFill>
                  <a:srgbClr val="20242A"/>
                </a:solidFill>
                <a:latin typeface="Calibri"/>
              </a:rPr>
              <a:t>·  Spur lengths are 6–42 m, consistent with transformer-handhole-to-light home runs.</a:t>
            </a:r>
          </a:p>
          <a:p>
            <a:pPr algn="l"/>
            <a:r>
              <a:rPr sz="850" b="0">
                <a:solidFill>
                  <a:srgbClr val="20242A"/>
                </a:solidFill>
                <a:latin typeface="Calibri"/>
              </a:rPr>
              <a:t>Straight light-to-nearest-pit construction lines cannot produce that. Invented or inferred geometry would not terminate on fixture insertion points to the millimetre, nor converge specifically on transformer handholes rather than on any nearby pit.</a:t>
            </a:r>
          </a:p>
        </p:txBody>
      </p:sp>
      <p:sp>
        <p:nvSpPr>
          <p:cNvPr id="9" name="Rectangle 8"/>
          <p:cNvSpPr/>
          <p:nvPr/>
        </p:nvSpPr>
        <p:spPr>
          <a:xfrm>
            <a:off x="7662056" y="2020000"/>
            <a:ext cx="7142016" cy="196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82056" y="2130000"/>
            <a:ext cx="6902016" cy="240000"/>
          </a:xfrm>
          <a:prstGeom prst="rect">
            <a:avLst/>
          </a:prstGeom>
          <a:noFill/>
        </p:spPr>
        <p:txBody>
          <a:bodyPr wrap="square" anchor="t" lIns="0" rIns="0" tIns="0" bIns="0">
            <a:spAutoFit/>
          </a:bodyPr>
          <a:lstStyle/>
          <a:p>
            <a:pPr algn="l"/>
            <a:r>
              <a:rPr sz="1000" b="1">
                <a:solidFill>
                  <a:srgbClr val="1E2761"/>
                </a:solidFill>
                <a:latin typeface="Calibri"/>
              </a:rPr>
              <a:t>METHOD AND ITS LIMIT</a:t>
            </a:r>
          </a:p>
        </p:txBody>
      </p:sp>
      <p:sp>
        <p:nvSpPr>
          <p:cNvPr id="11" name="TextBox 10"/>
          <p:cNvSpPr txBox="1"/>
          <p:nvPr/>
        </p:nvSpPr>
        <p:spPr>
          <a:xfrm>
            <a:off x="7782056" y="2440000"/>
            <a:ext cx="6902016" cy="1800000"/>
          </a:xfrm>
          <a:prstGeom prst="rect">
            <a:avLst/>
          </a:prstGeom>
          <a:noFill/>
        </p:spPr>
        <p:txBody>
          <a:bodyPr wrap="square" anchor="t" lIns="0" rIns="0" tIns="0" bIns="0">
            <a:spAutoFit/>
          </a:bodyPr>
          <a:lstStyle/>
          <a:p>
            <a:pPr algn="l"/>
            <a:r>
              <a:rPr sz="850" b="0">
                <a:solidFill>
                  <a:srgbClr val="20242A"/>
                </a:solidFill>
                <a:latin typeface="Calibri"/>
              </a:rPr>
              <a:t>The source drawing stores these conduits as loose LINE / LWPOLYLINE segments with no connectivity. The chaining here is DERIVED, not read from the drawing: endpoints within 0.30 m were treated as one node, then each branch was walked outward from its hub until it reached a leaf or a junction.</a:t>
            </a:r>
          </a:p>
          <a:p>
            <a:pPr algn="l"/>
            <a:r>
              <a:rPr sz="850" b="0">
                <a:solidFill>
                  <a:srgbClr val="20242A"/>
                </a:solidFill>
                <a:latin typeface="Calibri"/>
              </a:rPr>
              <a:t>Consequence: a spur length is the drawn geometry of a branch, not a proven pull. Two conduits passing within 0.30 m without physically joining would be merged; a genuine joint drawn with a wider gap would be split. Prove each run on site before ordering.</a:t>
            </a:r>
          </a:p>
          <a:p>
            <a:pPr algn="l"/>
            <a:r>
              <a:rPr sz="850" b="0">
                <a:solidFill>
                  <a:srgbClr val="20242A"/>
                </a:solidFill>
                <a:latin typeface="Calibri"/>
              </a:rPr>
              <a:t>The 0.30 m tolerance sits far below the shortest real spur (6.2 m) and well above the drafting gaps observed. No spur changed hop count when the tolerance was varied between 0.10 and 0.50 m.</a:t>
            </a:r>
          </a:p>
        </p:txBody>
      </p:sp>
      <p:sp>
        <p:nvSpPr>
          <p:cNvPr id="12" name="Rectangle 11"/>
          <p:cNvSpPr/>
          <p:nvPr/>
        </p:nvSpPr>
        <p:spPr>
          <a:xfrm>
            <a:off x="320040"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040"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LOC-01 — DERIVED SPUR SCHEDULE</a:t>
            </a:r>
          </a:p>
        </p:txBody>
      </p:sp>
      <p:sp>
        <p:nvSpPr>
          <p:cNvPr id="14" name="TextBox 13"/>
          <p:cNvSpPr txBox="1"/>
          <p:nvPr/>
        </p:nvSpPr>
        <p:spPr>
          <a:xfrm>
            <a:off x="430040"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4 transformer-handhole hub(s) · 26 spurs · 516.9 m to lights</a:t>
            </a:r>
          </a:p>
        </p:txBody>
      </p:sp>
      <p:sp>
        <p:nvSpPr>
          <p:cNvPr id="15" name="TextBox 14"/>
          <p:cNvSpPr txBox="1"/>
          <p:nvPr/>
        </p:nvSpPr>
        <p:spPr>
          <a:xfrm>
            <a:off x="430040"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6" name="TextBox 15"/>
          <p:cNvSpPr txBox="1"/>
          <p:nvPr/>
        </p:nvSpPr>
        <p:spPr>
          <a:xfrm>
            <a:off x="1070040"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7" name="TextBox 16"/>
          <p:cNvSpPr txBox="1"/>
          <p:nvPr/>
        </p:nvSpPr>
        <p:spPr>
          <a:xfrm>
            <a:off x="2690040"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8" name="TextBox 17"/>
          <p:cNvSpPr txBox="1"/>
          <p:nvPr/>
        </p:nvSpPr>
        <p:spPr>
          <a:xfrm>
            <a:off x="3840040"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9" name="TextBox 18"/>
          <p:cNvSpPr txBox="1"/>
          <p:nvPr/>
        </p:nvSpPr>
        <p:spPr>
          <a:xfrm>
            <a:off x="430040" y="4865000"/>
            <a:ext cx="640000" cy="185000"/>
          </a:xfrm>
          <a:prstGeom prst="rect">
            <a:avLst/>
          </a:prstGeom>
          <a:noFill/>
        </p:spPr>
        <p:txBody>
          <a:bodyPr wrap="square" anchor="t" lIns="0" rIns="0" tIns="0" bIns="0">
            <a:spAutoFit/>
          </a:bodyPr>
          <a:lstStyle/>
          <a:p>
            <a:pPr algn="l"/>
            <a:r>
              <a:rPr sz="700" b="0">
                <a:solidFill>
                  <a:srgbClr val="20242A"/>
                </a:solidFill>
                <a:latin typeface="Calibri"/>
              </a:rPr>
              <a:t>35.44 m</a:t>
            </a:r>
          </a:p>
        </p:txBody>
      </p:sp>
      <p:sp>
        <p:nvSpPr>
          <p:cNvPr id="20" name="TextBox 19"/>
          <p:cNvSpPr txBox="1"/>
          <p:nvPr/>
        </p:nvSpPr>
        <p:spPr>
          <a:xfrm>
            <a:off x="1070040"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 name="TextBox 20"/>
          <p:cNvSpPr txBox="1"/>
          <p:nvPr/>
        </p:nvSpPr>
        <p:spPr>
          <a:xfrm>
            <a:off x="2690040"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2" name="TextBox 21"/>
          <p:cNvSpPr txBox="1"/>
          <p:nvPr/>
        </p:nvSpPr>
        <p:spPr>
          <a:xfrm>
            <a:off x="3840040" y="4865000"/>
            <a:ext cx="900000" cy="185000"/>
          </a:xfrm>
          <a:prstGeom prst="rect">
            <a:avLst/>
          </a:prstGeom>
          <a:noFill/>
        </p:spPr>
        <p:txBody>
          <a:bodyPr wrap="square" anchor="t" lIns="0" rIns="0" tIns="0" bIns="0">
            <a:spAutoFit/>
          </a:bodyPr>
          <a:lstStyle/>
          <a:p>
            <a:pPr algn="l"/>
            <a:r>
              <a:rPr sz="700" b="0">
                <a:solidFill>
                  <a:srgbClr val="A64B00"/>
                </a:solidFill>
                <a:latin typeface="Calibri"/>
              </a:rPr>
              <a:t>5.13 m !</a:t>
            </a:r>
          </a:p>
        </p:txBody>
      </p:sp>
      <p:sp>
        <p:nvSpPr>
          <p:cNvPr id="23" name="TextBox 22"/>
          <p:cNvSpPr txBox="1"/>
          <p:nvPr/>
        </p:nvSpPr>
        <p:spPr>
          <a:xfrm>
            <a:off x="430040"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31.36 m</a:t>
            </a:r>
          </a:p>
        </p:txBody>
      </p:sp>
      <p:sp>
        <p:nvSpPr>
          <p:cNvPr id="24" name="TextBox 23"/>
          <p:cNvSpPr txBox="1"/>
          <p:nvPr/>
        </p:nvSpPr>
        <p:spPr>
          <a:xfrm>
            <a:off x="1070040"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5" name="TextBox 24"/>
          <p:cNvSpPr txBox="1"/>
          <p:nvPr/>
        </p:nvSpPr>
        <p:spPr>
          <a:xfrm>
            <a:off x="2690040"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6" name="TextBox 25"/>
          <p:cNvSpPr txBox="1"/>
          <p:nvPr/>
        </p:nvSpPr>
        <p:spPr>
          <a:xfrm>
            <a:off x="3840040"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7" name="TextBox 26"/>
          <p:cNvSpPr txBox="1"/>
          <p:nvPr/>
        </p:nvSpPr>
        <p:spPr>
          <a:xfrm>
            <a:off x="430040" y="5241000"/>
            <a:ext cx="640000" cy="185000"/>
          </a:xfrm>
          <a:prstGeom prst="rect">
            <a:avLst/>
          </a:prstGeom>
          <a:noFill/>
        </p:spPr>
        <p:txBody>
          <a:bodyPr wrap="square" anchor="t" lIns="0" rIns="0" tIns="0" bIns="0">
            <a:spAutoFit/>
          </a:bodyPr>
          <a:lstStyle/>
          <a:p>
            <a:pPr algn="l"/>
            <a:r>
              <a:rPr sz="700" b="0">
                <a:solidFill>
                  <a:srgbClr val="20242A"/>
                </a:solidFill>
                <a:latin typeface="Calibri"/>
              </a:rPr>
              <a:t>30.40 m</a:t>
            </a:r>
          </a:p>
        </p:txBody>
      </p:sp>
      <p:sp>
        <p:nvSpPr>
          <p:cNvPr id="28" name="TextBox 27"/>
          <p:cNvSpPr txBox="1"/>
          <p:nvPr/>
        </p:nvSpPr>
        <p:spPr>
          <a:xfrm>
            <a:off x="1070040"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9" name="TextBox 28"/>
          <p:cNvSpPr txBox="1"/>
          <p:nvPr/>
        </p:nvSpPr>
        <p:spPr>
          <a:xfrm>
            <a:off x="2690040"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30" name="TextBox 29"/>
          <p:cNvSpPr txBox="1"/>
          <p:nvPr/>
        </p:nvSpPr>
        <p:spPr>
          <a:xfrm>
            <a:off x="3840040"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31" name="TextBox 30"/>
          <p:cNvSpPr txBox="1"/>
          <p:nvPr/>
        </p:nvSpPr>
        <p:spPr>
          <a:xfrm>
            <a:off x="430040" y="5429000"/>
            <a:ext cx="640000" cy="185000"/>
          </a:xfrm>
          <a:prstGeom prst="rect">
            <a:avLst/>
          </a:prstGeom>
          <a:noFill/>
        </p:spPr>
        <p:txBody>
          <a:bodyPr wrap="square" anchor="t" lIns="0" rIns="0" tIns="0" bIns="0">
            <a:spAutoFit/>
          </a:bodyPr>
          <a:lstStyle/>
          <a:p>
            <a:pPr algn="l"/>
            <a:r>
              <a:rPr sz="700" b="0">
                <a:solidFill>
                  <a:srgbClr val="20242A"/>
                </a:solidFill>
                <a:latin typeface="Calibri"/>
              </a:rPr>
              <a:t>30.08 m</a:t>
            </a:r>
          </a:p>
        </p:txBody>
      </p:sp>
      <p:sp>
        <p:nvSpPr>
          <p:cNvPr id="32" name="TextBox 31"/>
          <p:cNvSpPr txBox="1"/>
          <p:nvPr/>
        </p:nvSpPr>
        <p:spPr>
          <a:xfrm>
            <a:off x="1070040"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33" name="TextBox 32"/>
          <p:cNvSpPr txBox="1"/>
          <p:nvPr/>
        </p:nvSpPr>
        <p:spPr>
          <a:xfrm>
            <a:off x="2690040"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34" name="TextBox 33"/>
          <p:cNvSpPr txBox="1"/>
          <p:nvPr/>
        </p:nvSpPr>
        <p:spPr>
          <a:xfrm>
            <a:off x="3840040" y="5429000"/>
            <a:ext cx="900000" cy="185000"/>
          </a:xfrm>
          <a:prstGeom prst="rect">
            <a:avLst/>
          </a:prstGeom>
          <a:noFill/>
        </p:spPr>
        <p:txBody>
          <a:bodyPr wrap="square" anchor="t" lIns="0" rIns="0" tIns="0" bIns="0">
            <a:spAutoFit/>
          </a:bodyPr>
          <a:lstStyle/>
          <a:p>
            <a:pPr algn="l"/>
            <a:r>
              <a:rPr sz="700" b="0">
                <a:solidFill>
                  <a:srgbClr val="A64B00"/>
                </a:solidFill>
                <a:latin typeface="Calibri"/>
              </a:rPr>
              <a:t>0.06 m !</a:t>
            </a:r>
          </a:p>
        </p:txBody>
      </p:sp>
      <p:sp>
        <p:nvSpPr>
          <p:cNvPr id="35" name="TextBox 34"/>
          <p:cNvSpPr txBox="1"/>
          <p:nvPr/>
        </p:nvSpPr>
        <p:spPr>
          <a:xfrm>
            <a:off x="430040" y="5617000"/>
            <a:ext cx="640000" cy="185000"/>
          </a:xfrm>
          <a:prstGeom prst="rect">
            <a:avLst/>
          </a:prstGeom>
          <a:noFill/>
        </p:spPr>
        <p:txBody>
          <a:bodyPr wrap="square" anchor="t" lIns="0" rIns="0" tIns="0" bIns="0">
            <a:spAutoFit/>
          </a:bodyPr>
          <a:lstStyle/>
          <a:p>
            <a:pPr algn="l"/>
            <a:r>
              <a:rPr sz="700" b="0">
                <a:solidFill>
                  <a:srgbClr val="20242A"/>
                </a:solidFill>
                <a:latin typeface="Calibri"/>
              </a:rPr>
              <a:t>30.08 m</a:t>
            </a:r>
          </a:p>
        </p:txBody>
      </p:sp>
      <p:sp>
        <p:nvSpPr>
          <p:cNvPr id="36" name="TextBox 35"/>
          <p:cNvSpPr txBox="1"/>
          <p:nvPr/>
        </p:nvSpPr>
        <p:spPr>
          <a:xfrm>
            <a:off x="1070040"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37" name="TextBox 36"/>
          <p:cNvSpPr txBox="1"/>
          <p:nvPr/>
        </p:nvSpPr>
        <p:spPr>
          <a:xfrm>
            <a:off x="2690040"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38" name="TextBox 37"/>
          <p:cNvSpPr txBox="1"/>
          <p:nvPr/>
        </p:nvSpPr>
        <p:spPr>
          <a:xfrm>
            <a:off x="3840040"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0.04 m</a:t>
            </a:r>
          </a:p>
        </p:txBody>
      </p:sp>
      <p:sp>
        <p:nvSpPr>
          <p:cNvPr id="39" name="TextBox 38"/>
          <p:cNvSpPr txBox="1"/>
          <p:nvPr/>
        </p:nvSpPr>
        <p:spPr>
          <a:xfrm>
            <a:off x="430040" y="5805000"/>
            <a:ext cx="640000" cy="185000"/>
          </a:xfrm>
          <a:prstGeom prst="rect">
            <a:avLst/>
          </a:prstGeom>
          <a:noFill/>
        </p:spPr>
        <p:txBody>
          <a:bodyPr wrap="square" anchor="t" lIns="0" rIns="0" tIns="0" bIns="0">
            <a:spAutoFit/>
          </a:bodyPr>
          <a:lstStyle/>
          <a:p>
            <a:pPr algn="l"/>
            <a:r>
              <a:rPr sz="700" b="0">
                <a:solidFill>
                  <a:srgbClr val="20242A"/>
                </a:solidFill>
                <a:latin typeface="Calibri"/>
              </a:rPr>
              <a:t>27.17 m</a:t>
            </a:r>
          </a:p>
        </p:txBody>
      </p:sp>
      <p:sp>
        <p:nvSpPr>
          <p:cNvPr id="40" name="TextBox 39"/>
          <p:cNvSpPr txBox="1"/>
          <p:nvPr/>
        </p:nvSpPr>
        <p:spPr>
          <a:xfrm>
            <a:off x="1070040"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41" name="TextBox 40"/>
          <p:cNvSpPr txBox="1"/>
          <p:nvPr/>
        </p:nvSpPr>
        <p:spPr>
          <a:xfrm>
            <a:off x="2690040"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42" name="TextBox 41"/>
          <p:cNvSpPr txBox="1"/>
          <p:nvPr/>
        </p:nvSpPr>
        <p:spPr>
          <a:xfrm>
            <a:off x="3840040" y="580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43" name="TextBox 42"/>
          <p:cNvSpPr txBox="1"/>
          <p:nvPr/>
        </p:nvSpPr>
        <p:spPr>
          <a:xfrm>
            <a:off x="430040" y="5993000"/>
            <a:ext cx="640000" cy="185000"/>
          </a:xfrm>
          <a:prstGeom prst="rect">
            <a:avLst/>
          </a:prstGeom>
          <a:noFill/>
        </p:spPr>
        <p:txBody>
          <a:bodyPr wrap="square" anchor="t" lIns="0" rIns="0" tIns="0" bIns="0">
            <a:spAutoFit/>
          </a:bodyPr>
          <a:lstStyle/>
          <a:p>
            <a:pPr algn="l"/>
            <a:r>
              <a:rPr sz="700" b="0">
                <a:solidFill>
                  <a:srgbClr val="20242A"/>
                </a:solidFill>
                <a:latin typeface="Calibri"/>
              </a:rPr>
              <a:t>26.84 m</a:t>
            </a:r>
          </a:p>
        </p:txBody>
      </p:sp>
      <p:sp>
        <p:nvSpPr>
          <p:cNvPr id="44" name="TextBox 43"/>
          <p:cNvSpPr txBox="1"/>
          <p:nvPr/>
        </p:nvSpPr>
        <p:spPr>
          <a:xfrm>
            <a:off x="1070040" y="599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45" name="TextBox 44"/>
          <p:cNvSpPr txBox="1"/>
          <p:nvPr/>
        </p:nvSpPr>
        <p:spPr>
          <a:xfrm>
            <a:off x="2690040" y="599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46" name="TextBox 45"/>
          <p:cNvSpPr txBox="1"/>
          <p:nvPr/>
        </p:nvSpPr>
        <p:spPr>
          <a:xfrm>
            <a:off x="3840040" y="599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47" name="TextBox 46"/>
          <p:cNvSpPr txBox="1"/>
          <p:nvPr/>
        </p:nvSpPr>
        <p:spPr>
          <a:xfrm>
            <a:off x="430040" y="6181000"/>
            <a:ext cx="640000" cy="185000"/>
          </a:xfrm>
          <a:prstGeom prst="rect">
            <a:avLst/>
          </a:prstGeom>
          <a:noFill/>
        </p:spPr>
        <p:txBody>
          <a:bodyPr wrap="square" anchor="t" lIns="0" rIns="0" tIns="0" bIns="0">
            <a:spAutoFit/>
          </a:bodyPr>
          <a:lstStyle/>
          <a:p>
            <a:pPr algn="l"/>
            <a:r>
              <a:rPr sz="700" b="0">
                <a:solidFill>
                  <a:srgbClr val="20242A"/>
                </a:solidFill>
                <a:latin typeface="Calibri"/>
              </a:rPr>
              <a:t>26.21 m</a:t>
            </a:r>
          </a:p>
        </p:txBody>
      </p:sp>
      <p:sp>
        <p:nvSpPr>
          <p:cNvPr id="48" name="TextBox 47"/>
          <p:cNvSpPr txBox="1"/>
          <p:nvPr/>
        </p:nvSpPr>
        <p:spPr>
          <a:xfrm>
            <a:off x="1070040" y="618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edge light</a:t>
            </a:r>
          </a:p>
        </p:txBody>
      </p:sp>
      <p:sp>
        <p:nvSpPr>
          <p:cNvPr id="49" name="TextBox 48"/>
          <p:cNvSpPr txBox="1"/>
          <p:nvPr/>
        </p:nvSpPr>
        <p:spPr>
          <a:xfrm>
            <a:off x="2690040" y="618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EL-TAXIWAY EDGE</a:t>
            </a:r>
          </a:p>
        </p:txBody>
      </p:sp>
      <p:sp>
        <p:nvSpPr>
          <p:cNvPr id="50" name="TextBox 49"/>
          <p:cNvSpPr txBox="1"/>
          <p:nvPr/>
        </p:nvSpPr>
        <p:spPr>
          <a:xfrm>
            <a:off x="3840040" y="6181000"/>
            <a:ext cx="900000" cy="185000"/>
          </a:xfrm>
          <a:prstGeom prst="rect">
            <a:avLst/>
          </a:prstGeom>
          <a:noFill/>
        </p:spPr>
        <p:txBody>
          <a:bodyPr wrap="square" anchor="t" lIns="0" rIns="0" tIns="0" bIns="0">
            <a:spAutoFit/>
          </a:bodyPr>
          <a:lstStyle/>
          <a:p>
            <a:pPr algn="l"/>
            <a:r>
              <a:rPr sz="700" b="0">
                <a:solidFill>
                  <a:srgbClr val="A64B00"/>
                </a:solidFill>
                <a:latin typeface="Calibri"/>
              </a:rPr>
              <a:t>0.07 m !</a:t>
            </a:r>
          </a:p>
        </p:txBody>
      </p:sp>
      <p:sp>
        <p:nvSpPr>
          <p:cNvPr id="51" name="TextBox 50"/>
          <p:cNvSpPr txBox="1"/>
          <p:nvPr/>
        </p:nvSpPr>
        <p:spPr>
          <a:xfrm>
            <a:off x="430040" y="6369000"/>
            <a:ext cx="640000" cy="185000"/>
          </a:xfrm>
          <a:prstGeom prst="rect">
            <a:avLst/>
          </a:prstGeom>
          <a:noFill/>
        </p:spPr>
        <p:txBody>
          <a:bodyPr wrap="square" anchor="t" lIns="0" rIns="0" tIns="0" bIns="0">
            <a:spAutoFit/>
          </a:bodyPr>
          <a:lstStyle/>
          <a:p>
            <a:pPr algn="l"/>
            <a:r>
              <a:rPr sz="700" b="0">
                <a:solidFill>
                  <a:srgbClr val="20242A"/>
                </a:solidFill>
                <a:latin typeface="Calibri"/>
              </a:rPr>
              <a:t>26.02 m</a:t>
            </a:r>
          </a:p>
        </p:txBody>
      </p:sp>
      <p:sp>
        <p:nvSpPr>
          <p:cNvPr id="52" name="TextBox 51"/>
          <p:cNvSpPr txBox="1"/>
          <p:nvPr/>
        </p:nvSpPr>
        <p:spPr>
          <a:xfrm>
            <a:off x="1070040" y="636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edge light</a:t>
            </a:r>
          </a:p>
        </p:txBody>
      </p:sp>
      <p:sp>
        <p:nvSpPr>
          <p:cNvPr id="53" name="TextBox 52"/>
          <p:cNvSpPr txBox="1"/>
          <p:nvPr/>
        </p:nvSpPr>
        <p:spPr>
          <a:xfrm>
            <a:off x="2690040" y="636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EL-TAXIWAY EDGE</a:t>
            </a:r>
          </a:p>
        </p:txBody>
      </p:sp>
      <p:sp>
        <p:nvSpPr>
          <p:cNvPr id="54" name="TextBox 53"/>
          <p:cNvSpPr txBox="1"/>
          <p:nvPr/>
        </p:nvSpPr>
        <p:spPr>
          <a:xfrm>
            <a:off x="3840040" y="636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55" name="TextBox 54"/>
          <p:cNvSpPr txBox="1"/>
          <p:nvPr/>
        </p:nvSpPr>
        <p:spPr>
          <a:xfrm>
            <a:off x="430040" y="6557000"/>
            <a:ext cx="640000" cy="185000"/>
          </a:xfrm>
          <a:prstGeom prst="rect">
            <a:avLst/>
          </a:prstGeom>
          <a:noFill/>
        </p:spPr>
        <p:txBody>
          <a:bodyPr wrap="square" anchor="t" lIns="0" rIns="0" tIns="0" bIns="0">
            <a:spAutoFit/>
          </a:bodyPr>
          <a:lstStyle/>
          <a:p>
            <a:pPr algn="l"/>
            <a:r>
              <a:rPr sz="700" b="0">
                <a:solidFill>
                  <a:srgbClr val="20242A"/>
                </a:solidFill>
                <a:latin typeface="Calibri"/>
              </a:rPr>
              <a:t>24.20 m</a:t>
            </a:r>
          </a:p>
        </p:txBody>
      </p:sp>
      <p:sp>
        <p:nvSpPr>
          <p:cNvPr id="56" name="TextBox 55"/>
          <p:cNvSpPr txBox="1"/>
          <p:nvPr/>
        </p:nvSpPr>
        <p:spPr>
          <a:xfrm>
            <a:off x="1070040" y="655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57" name="TextBox 56"/>
          <p:cNvSpPr txBox="1"/>
          <p:nvPr/>
        </p:nvSpPr>
        <p:spPr>
          <a:xfrm>
            <a:off x="2690040" y="655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58" name="TextBox 57"/>
          <p:cNvSpPr txBox="1"/>
          <p:nvPr/>
        </p:nvSpPr>
        <p:spPr>
          <a:xfrm>
            <a:off x="3840040" y="655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59" name="TextBox 58"/>
          <p:cNvSpPr txBox="1"/>
          <p:nvPr/>
        </p:nvSpPr>
        <p:spPr>
          <a:xfrm>
            <a:off x="430040" y="6745000"/>
            <a:ext cx="640000" cy="185000"/>
          </a:xfrm>
          <a:prstGeom prst="rect">
            <a:avLst/>
          </a:prstGeom>
          <a:noFill/>
        </p:spPr>
        <p:txBody>
          <a:bodyPr wrap="square" anchor="t" lIns="0" rIns="0" tIns="0" bIns="0">
            <a:spAutoFit/>
          </a:bodyPr>
          <a:lstStyle/>
          <a:p>
            <a:pPr algn="l"/>
            <a:r>
              <a:rPr sz="700" b="0">
                <a:solidFill>
                  <a:srgbClr val="20242A"/>
                </a:solidFill>
                <a:latin typeface="Calibri"/>
              </a:rPr>
              <a:t>23.28 m</a:t>
            </a:r>
          </a:p>
        </p:txBody>
      </p:sp>
      <p:sp>
        <p:nvSpPr>
          <p:cNvPr id="60" name="TextBox 59"/>
          <p:cNvSpPr txBox="1"/>
          <p:nvPr/>
        </p:nvSpPr>
        <p:spPr>
          <a:xfrm>
            <a:off x="1070040" y="674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1" name="TextBox 60"/>
          <p:cNvSpPr txBox="1"/>
          <p:nvPr/>
        </p:nvSpPr>
        <p:spPr>
          <a:xfrm>
            <a:off x="2690040" y="674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62" name="TextBox 61"/>
          <p:cNvSpPr txBox="1"/>
          <p:nvPr/>
        </p:nvSpPr>
        <p:spPr>
          <a:xfrm>
            <a:off x="3840040" y="674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63" name="TextBox 62"/>
          <p:cNvSpPr txBox="1"/>
          <p:nvPr/>
        </p:nvSpPr>
        <p:spPr>
          <a:xfrm>
            <a:off x="430040" y="6933000"/>
            <a:ext cx="640000" cy="185000"/>
          </a:xfrm>
          <a:prstGeom prst="rect">
            <a:avLst/>
          </a:prstGeom>
          <a:noFill/>
        </p:spPr>
        <p:txBody>
          <a:bodyPr wrap="square" anchor="t" lIns="0" rIns="0" tIns="0" bIns="0">
            <a:spAutoFit/>
          </a:bodyPr>
          <a:lstStyle/>
          <a:p>
            <a:pPr algn="l"/>
            <a:r>
              <a:rPr sz="700" b="0">
                <a:solidFill>
                  <a:srgbClr val="20242A"/>
                </a:solidFill>
                <a:latin typeface="Calibri"/>
              </a:rPr>
              <a:t>22.49 m</a:t>
            </a:r>
          </a:p>
        </p:txBody>
      </p:sp>
      <p:sp>
        <p:nvSpPr>
          <p:cNvPr id="64" name="TextBox 63"/>
          <p:cNvSpPr txBox="1"/>
          <p:nvPr/>
        </p:nvSpPr>
        <p:spPr>
          <a:xfrm>
            <a:off x="1070040" y="693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5" name="TextBox 64"/>
          <p:cNvSpPr txBox="1"/>
          <p:nvPr/>
        </p:nvSpPr>
        <p:spPr>
          <a:xfrm>
            <a:off x="2690040" y="693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66" name="TextBox 65"/>
          <p:cNvSpPr txBox="1"/>
          <p:nvPr/>
        </p:nvSpPr>
        <p:spPr>
          <a:xfrm>
            <a:off x="3840040" y="6933000"/>
            <a:ext cx="900000" cy="185000"/>
          </a:xfrm>
          <a:prstGeom prst="rect">
            <a:avLst/>
          </a:prstGeom>
          <a:noFill/>
        </p:spPr>
        <p:txBody>
          <a:bodyPr wrap="square" anchor="t" lIns="0" rIns="0" tIns="0" bIns="0">
            <a:spAutoFit/>
          </a:bodyPr>
          <a:lstStyle/>
          <a:p>
            <a:pPr algn="l"/>
            <a:r>
              <a:rPr sz="700" b="0">
                <a:solidFill>
                  <a:srgbClr val="20242A"/>
                </a:solidFill>
                <a:latin typeface="Calibri"/>
              </a:rPr>
              <a:t>0.03 m</a:t>
            </a:r>
          </a:p>
        </p:txBody>
      </p:sp>
      <p:sp>
        <p:nvSpPr>
          <p:cNvPr id="67" name="TextBox 66"/>
          <p:cNvSpPr txBox="1"/>
          <p:nvPr/>
        </p:nvSpPr>
        <p:spPr>
          <a:xfrm>
            <a:off x="430040" y="7121000"/>
            <a:ext cx="640000" cy="185000"/>
          </a:xfrm>
          <a:prstGeom prst="rect">
            <a:avLst/>
          </a:prstGeom>
          <a:noFill/>
        </p:spPr>
        <p:txBody>
          <a:bodyPr wrap="square" anchor="t" lIns="0" rIns="0" tIns="0" bIns="0">
            <a:spAutoFit/>
          </a:bodyPr>
          <a:lstStyle/>
          <a:p>
            <a:pPr algn="l"/>
            <a:r>
              <a:rPr sz="700" b="0">
                <a:solidFill>
                  <a:srgbClr val="20242A"/>
                </a:solidFill>
                <a:latin typeface="Calibri"/>
              </a:rPr>
              <a:t>22.42 m</a:t>
            </a:r>
          </a:p>
        </p:txBody>
      </p:sp>
      <p:sp>
        <p:nvSpPr>
          <p:cNvPr id="68" name="TextBox 67"/>
          <p:cNvSpPr txBox="1"/>
          <p:nvPr/>
        </p:nvSpPr>
        <p:spPr>
          <a:xfrm>
            <a:off x="1070040" y="712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9" name="TextBox 68"/>
          <p:cNvSpPr txBox="1"/>
          <p:nvPr/>
        </p:nvSpPr>
        <p:spPr>
          <a:xfrm>
            <a:off x="2690040" y="712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0" name="TextBox 69"/>
          <p:cNvSpPr txBox="1"/>
          <p:nvPr/>
        </p:nvSpPr>
        <p:spPr>
          <a:xfrm>
            <a:off x="3840040" y="712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1" name="TextBox 70"/>
          <p:cNvSpPr txBox="1"/>
          <p:nvPr/>
        </p:nvSpPr>
        <p:spPr>
          <a:xfrm>
            <a:off x="430040" y="7309000"/>
            <a:ext cx="640000" cy="185000"/>
          </a:xfrm>
          <a:prstGeom prst="rect">
            <a:avLst/>
          </a:prstGeom>
          <a:noFill/>
        </p:spPr>
        <p:txBody>
          <a:bodyPr wrap="square" anchor="t" lIns="0" rIns="0" tIns="0" bIns="0">
            <a:spAutoFit/>
          </a:bodyPr>
          <a:lstStyle/>
          <a:p>
            <a:pPr algn="l"/>
            <a:r>
              <a:rPr sz="700" b="0">
                <a:solidFill>
                  <a:srgbClr val="20242A"/>
                </a:solidFill>
                <a:latin typeface="Calibri"/>
              </a:rPr>
              <a:t>22.33 m</a:t>
            </a:r>
          </a:p>
        </p:txBody>
      </p:sp>
      <p:sp>
        <p:nvSpPr>
          <p:cNvPr id="72" name="TextBox 71"/>
          <p:cNvSpPr txBox="1"/>
          <p:nvPr/>
        </p:nvSpPr>
        <p:spPr>
          <a:xfrm>
            <a:off x="1070040" y="730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73" name="TextBox 72"/>
          <p:cNvSpPr txBox="1"/>
          <p:nvPr/>
        </p:nvSpPr>
        <p:spPr>
          <a:xfrm>
            <a:off x="2690040" y="730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4" name="TextBox 73"/>
          <p:cNvSpPr txBox="1"/>
          <p:nvPr/>
        </p:nvSpPr>
        <p:spPr>
          <a:xfrm>
            <a:off x="3840040" y="730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5" name="TextBox 74"/>
          <p:cNvSpPr txBox="1"/>
          <p:nvPr/>
        </p:nvSpPr>
        <p:spPr>
          <a:xfrm>
            <a:off x="430040" y="7497000"/>
            <a:ext cx="640000" cy="185000"/>
          </a:xfrm>
          <a:prstGeom prst="rect">
            <a:avLst/>
          </a:prstGeom>
          <a:noFill/>
        </p:spPr>
        <p:txBody>
          <a:bodyPr wrap="square" anchor="t" lIns="0" rIns="0" tIns="0" bIns="0">
            <a:spAutoFit/>
          </a:bodyPr>
          <a:lstStyle/>
          <a:p>
            <a:pPr algn="l"/>
            <a:r>
              <a:rPr sz="700" b="0">
                <a:solidFill>
                  <a:srgbClr val="20242A"/>
                </a:solidFill>
                <a:latin typeface="Calibri"/>
              </a:rPr>
              <a:t>21.99 m</a:t>
            </a:r>
          </a:p>
        </p:txBody>
      </p:sp>
      <p:sp>
        <p:nvSpPr>
          <p:cNvPr id="76" name="TextBox 75"/>
          <p:cNvSpPr txBox="1"/>
          <p:nvPr/>
        </p:nvSpPr>
        <p:spPr>
          <a:xfrm>
            <a:off x="1070040" y="749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77" name="TextBox 76"/>
          <p:cNvSpPr txBox="1"/>
          <p:nvPr/>
        </p:nvSpPr>
        <p:spPr>
          <a:xfrm>
            <a:off x="2690040" y="749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8" name="TextBox 77"/>
          <p:cNvSpPr txBox="1"/>
          <p:nvPr/>
        </p:nvSpPr>
        <p:spPr>
          <a:xfrm>
            <a:off x="3840040" y="749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9" name="TextBox 78"/>
          <p:cNvSpPr txBox="1"/>
          <p:nvPr/>
        </p:nvSpPr>
        <p:spPr>
          <a:xfrm>
            <a:off x="430040" y="7685000"/>
            <a:ext cx="640000" cy="185000"/>
          </a:xfrm>
          <a:prstGeom prst="rect">
            <a:avLst/>
          </a:prstGeom>
          <a:noFill/>
        </p:spPr>
        <p:txBody>
          <a:bodyPr wrap="square" anchor="t" lIns="0" rIns="0" tIns="0" bIns="0">
            <a:spAutoFit/>
          </a:bodyPr>
          <a:lstStyle/>
          <a:p>
            <a:pPr algn="l"/>
            <a:r>
              <a:rPr sz="700" b="0">
                <a:solidFill>
                  <a:srgbClr val="20242A"/>
                </a:solidFill>
                <a:latin typeface="Calibri"/>
              </a:rPr>
              <a:t>21.24 m</a:t>
            </a:r>
          </a:p>
        </p:txBody>
      </p:sp>
      <p:sp>
        <p:nvSpPr>
          <p:cNvPr id="80" name="TextBox 79"/>
          <p:cNvSpPr txBox="1"/>
          <p:nvPr/>
        </p:nvSpPr>
        <p:spPr>
          <a:xfrm>
            <a:off x="1070040" y="768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81" name="TextBox 80"/>
          <p:cNvSpPr txBox="1"/>
          <p:nvPr/>
        </p:nvSpPr>
        <p:spPr>
          <a:xfrm>
            <a:off x="2690040" y="768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82" name="TextBox 81"/>
          <p:cNvSpPr txBox="1"/>
          <p:nvPr/>
        </p:nvSpPr>
        <p:spPr>
          <a:xfrm>
            <a:off x="3840040" y="768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83" name="TextBox 82"/>
          <p:cNvSpPr txBox="1"/>
          <p:nvPr/>
        </p:nvSpPr>
        <p:spPr>
          <a:xfrm>
            <a:off x="430040" y="7873000"/>
            <a:ext cx="640000" cy="185000"/>
          </a:xfrm>
          <a:prstGeom prst="rect">
            <a:avLst/>
          </a:prstGeom>
          <a:noFill/>
        </p:spPr>
        <p:txBody>
          <a:bodyPr wrap="square" anchor="t" lIns="0" rIns="0" tIns="0" bIns="0">
            <a:spAutoFit/>
          </a:bodyPr>
          <a:lstStyle/>
          <a:p>
            <a:pPr algn="l"/>
            <a:r>
              <a:rPr sz="700" b="0">
                <a:solidFill>
                  <a:srgbClr val="20242A"/>
                </a:solidFill>
                <a:latin typeface="Calibri"/>
              </a:rPr>
              <a:t>19.86 m</a:t>
            </a:r>
          </a:p>
        </p:txBody>
      </p:sp>
      <p:sp>
        <p:nvSpPr>
          <p:cNvPr id="84" name="TextBox 83"/>
          <p:cNvSpPr txBox="1"/>
          <p:nvPr/>
        </p:nvSpPr>
        <p:spPr>
          <a:xfrm>
            <a:off x="1070040" y="787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85" name="TextBox 84"/>
          <p:cNvSpPr txBox="1"/>
          <p:nvPr/>
        </p:nvSpPr>
        <p:spPr>
          <a:xfrm>
            <a:off x="2690040" y="787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86" name="TextBox 85"/>
          <p:cNvSpPr txBox="1"/>
          <p:nvPr/>
        </p:nvSpPr>
        <p:spPr>
          <a:xfrm>
            <a:off x="3840040" y="787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87" name="TextBox 86"/>
          <p:cNvSpPr txBox="1"/>
          <p:nvPr/>
        </p:nvSpPr>
        <p:spPr>
          <a:xfrm>
            <a:off x="430040" y="8061000"/>
            <a:ext cx="640000" cy="185000"/>
          </a:xfrm>
          <a:prstGeom prst="rect">
            <a:avLst/>
          </a:prstGeom>
          <a:noFill/>
        </p:spPr>
        <p:txBody>
          <a:bodyPr wrap="square" anchor="t" lIns="0" rIns="0" tIns="0" bIns="0">
            <a:spAutoFit/>
          </a:bodyPr>
          <a:lstStyle/>
          <a:p>
            <a:pPr algn="l"/>
            <a:r>
              <a:rPr sz="700" b="0">
                <a:solidFill>
                  <a:srgbClr val="20242A"/>
                </a:solidFill>
                <a:latin typeface="Calibri"/>
              </a:rPr>
              <a:t>19.69 m</a:t>
            </a:r>
          </a:p>
        </p:txBody>
      </p:sp>
      <p:sp>
        <p:nvSpPr>
          <p:cNvPr id="88" name="TextBox 87"/>
          <p:cNvSpPr txBox="1"/>
          <p:nvPr/>
        </p:nvSpPr>
        <p:spPr>
          <a:xfrm>
            <a:off x="1070040" y="806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89" name="TextBox 88"/>
          <p:cNvSpPr txBox="1"/>
          <p:nvPr/>
        </p:nvSpPr>
        <p:spPr>
          <a:xfrm>
            <a:off x="2690040" y="806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90" name="TextBox 89"/>
          <p:cNvSpPr txBox="1"/>
          <p:nvPr/>
        </p:nvSpPr>
        <p:spPr>
          <a:xfrm>
            <a:off x="3840040" y="806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1" name="TextBox 90"/>
          <p:cNvSpPr txBox="1"/>
          <p:nvPr/>
        </p:nvSpPr>
        <p:spPr>
          <a:xfrm>
            <a:off x="430040" y="8249000"/>
            <a:ext cx="640000" cy="185000"/>
          </a:xfrm>
          <a:prstGeom prst="rect">
            <a:avLst/>
          </a:prstGeom>
          <a:noFill/>
        </p:spPr>
        <p:txBody>
          <a:bodyPr wrap="square" anchor="t" lIns="0" rIns="0" tIns="0" bIns="0">
            <a:spAutoFit/>
          </a:bodyPr>
          <a:lstStyle/>
          <a:p>
            <a:pPr algn="l"/>
            <a:r>
              <a:rPr sz="700" b="0">
                <a:solidFill>
                  <a:srgbClr val="20242A"/>
                </a:solidFill>
                <a:latin typeface="Calibri"/>
              </a:rPr>
              <a:t>18.29 m</a:t>
            </a:r>
          </a:p>
        </p:txBody>
      </p:sp>
      <p:sp>
        <p:nvSpPr>
          <p:cNvPr id="92" name="TextBox 91"/>
          <p:cNvSpPr txBox="1"/>
          <p:nvPr/>
        </p:nvSpPr>
        <p:spPr>
          <a:xfrm>
            <a:off x="1070040" y="824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93" name="TextBox 92"/>
          <p:cNvSpPr txBox="1"/>
          <p:nvPr/>
        </p:nvSpPr>
        <p:spPr>
          <a:xfrm>
            <a:off x="2690040" y="824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94" name="TextBox 93"/>
          <p:cNvSpPr txBox="1"/>
          <p:nvPr/>
        </p:nvSpPr>
        <p:spPr>
          <a:xfrm>
            <a:off x="3840040" y="824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5" name="TextBox 94"/>
          <p:cNvSpPr txBox="1"/>
          <p:nvPr/>
        </p:nvSpPr>
        <p:spPr>
          <a:xfrm>
            <a:off x="430040" y="8437000"/>
            <a:ext cx="640000" cy="185000"/>
          </a:xfrm>
          <a:prstGeom prst="rect">
            <a:avLst/>
          </a:prstGeom>
          <a:noFill/>
        </p:spPr>
        <p:txBody>
          <a:bodyPr wrap="square" anchor="t" lIns="0" rIns="0" tIns="0" bIns="0">
            <a:spAutoFit/>
          </a:bodyPr>
          <a:lstStyle/>
          <a:p>
            <a:pPr algn="l"/>
            <a:r>
              <a:rPr sz="700" b="0">
                <a:solidFill>
                  <a:srgbClr val="20242A"/>
                </a:solidFill>
                <a:latin typeface="Calibri"/>
              </a:rPr>
              <a:t>15.37 m</a:t>
            </a:r>
          </a:p>
        </p:txBody>
      </p:sp>
      <p:sp>
        <p:nvSpPr>
          <p:cNvPr id="96" name="TextBox 95"/>
          <p:cNvSpPr txBox="1"/>
          <p:nvPr/>
        </p:nvSpPr>
        <p:spPr>
          <a:xfrm>
            <a:off x="1070040" y="843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97" name="TextBox 96"/>
          <p:cNvSpPr txBox="1"/>
          <p:nvPr/>
        </p:nvSpPr>
        <p:spPr>
          <a:xfrm>
            <a:off x="2690040" y="843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98" name="TextBox 97"/>
          <p:cNvSpPr txBox="1"/>
          <p:nvPr/>
        </p:nvSpPr>
        <p:spPr>
          <a:xfrm>
            <a:off x="3840040" y="843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9" name="TextBox 98"/>
          <p:cNvSpPr txBox="1"/>
          <p:nvPr/>
        </p:nvSpPr>
        <p:spPr>
          <a:xfrm>
            <a:off x="430040" y="8625000"/>
            <a:ext cx="640000" cy="185000"/>
          </a:xfrm>
          <a:prstGeom prst="rect">
            <a:avLst/>
          </a:prstGeom>
          <a:noFill/>
        </p:spPr>
        <p:txBody>
          <a:bodyPr wrap="square" anchor="t" lIns="0" rIns="0" tIns="0" bIns="0">
            <a:spAutoFit/>
          </a:bodyPr>
          <a:lstStyle/>
          <a:p>
            <a:pPr algn="l"/>
            <a:r>
              <a:rPr sz="700" b="0">
                <a:solidFill>
                  <a:srgbClr val="20242A"/>
                </a:solidFill>
                <a:latin typeface="Calibri"/>
              </a:rPr>
              <a:t>12.96 m</a:t>
            </a:r>
          </a:p>
        </p:txBody>
      </p:sp>
      <p:sp>
        <p:nvSpPr>
          <p:cNvPr id="100" name="TextBox 99"/>
          <p:cNvSpPr txBox="1"/>
          <p:nvPr/>
        </p:nvSpPr>
        <p:spPr>
          <a:xfrm>
            <a:off x="1070040" y="8625000"/>
            <a:ext cx="1620000" cy="185000"/>
          </a:xfrm>
          <a:prstGeom prst="rect">
            <a:avLst/>
          </a:prstGeom>
          <a:noFill/>
        </p:spPr>
        <p:txBody>
          <a:bodyPr wrap="square" anchor="t" lIns="0" rIns="0" tIns="0" bIns="0">
            <a:spAutoFit/>
          </a:bodyPr>
          <a:lstStyle/>
          <a:p>
            <a:pPr algn="l"/>
            <a:r>
              <a:rPr sz="700" b="0">
                <a:solidFill>
                  <a:srgbClr val="20242A"/>
                </a:solidFill>
                <a:latin typeface="Calibri"/>
              </a:rPr>
              <a:t>Sign foundation</a:t>
            </a:r>
          </a:p>
        </p:txBody>
      </p:sp>
      <p:sp>
        <p:nvSpPr>
          <p:cNvPr id="101" name="TextBox 100"/>
          <p:cNvSpPr txBox="1"/>
          <p:nvPr/>
        </p:nvSpPr>
        <p:spPr>
          <a:xfrm>
            <a:off x="2690040" y="8625000"/>
            <a:ext cx="1150000" cy="185000"/>
          </a:xfrm>
          <a:prstGeom prst="rect">
            <a:avLst/>
          </a:prstGeom>
          <a:noFill/>
        </p:spPr>
        <p:txBody>
          <a:bodyPr wrap="square" anchor="t" lIns="0" rIns="0" tIns="0" bIns="0">
            <a:spAutoFit/>
          </a:bodyPr>
          <a:lstStyle/>
          <a:p>
            <a:pPr algn="l"/>
            <a:r>
              <a:rPr sz="700" b="0">
                <a:solidFill>
                  <a:srgbClr val="20242A"/>
                </a:solidFill>
                <a:latin typeface="Calibri"/>
              </a:rPr>
              <a:t>EL-SGN-FNDTN</a:t>
            </a:r>
          </a:p>
        </p:txBody>
      </p:sp>
      <p:sp>
        <p:nvSpPr>
          <p:cNvPr id="102" name="TextBox 101"/>
          <p:cNvSpPr txBox="1"/>
          <p:nvPr/>
        </p:nvSpPr>
        <p:spPr>
          <a:xfrm>
            <a:off x="3840040" y="862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03" name="TextBox 102"/>
          <p:cNvSpPr txBox="1"/>
          <p:nvPr/>
        </p:nvSpPr>
        <p:spPr>
          <a:xfrm>
            <a:off x="430040" y="8813000"/>
            <a:ext cx="640000" cy="185000"/>
          </a:xfrm>
          <a:prstGeom prst="rect">
            <a:avLst/>
          </a:prstGeom>
          <a:noFill/>
        </p:spPr>
        <p:txBody>
          <a:bodyPr wrap="square" anchor="t" lIns="0" rIns="0" tIns="0" bIns="0">
            <a:spAutoFit/>
          </a:bodyPr>
          <a:lstStyle/>
          <a:p>
            <a:pPr algn="l"/>
            <a:r>
              <a:rPr sz="700" b="0">
                <a:solidFill>
                  <a:srgbClr val="20242A"/>
                </a:solidFill>
                <a:latin typeface="Calibri"/>
              </a:rPr>
              <a:t>12.84 m</a:t>
            </a:r>
          </a:p>
        </p:txBody>
      </p:sp>
      <p:sp>
        <p:nvSpPr>
          <p:cNvPr id="104" name="TextBox 103"/>
          <p:cNvSpPr txBox="1"/>
          <p:nvPr/>
        </p:nvSpPr>
        <p:spPr>
          <a:xfrm>
            <a:off x="1070040" y="8813000"/>
            <a:ext cx="1620000" cy="185000"/>
          </a:xfrm>
          <a:prstGeom prst="rect">
            <a:avLst/>
          </a:prstGeom>
          <a:noFill/>
        </p:spPr>
        <p:txBody>
          <a:bodyPr wrap="square" anchor="t" lIns="0" rIns="0" tIns="0" bIns="0">
            <a:spAutoFit/>
          </a:bodyPr>
          <a:lstStyle/>
          <a:p>
            <a:pPr algn="l"/>
            <a:r>
              <a:rPr sz="700" b="0">
                <a:solidFill>
                  <a:srgbClr val="20242A"/>
                </a:solidFill>
                <a:latin typeface="Calibri"/>
              </a:rPr>
              <a:t>Sign foundation</a:t>
            </a:r>
          </a:p>
        </p:txBody>
      </p:sp>
      <p:sp>
        <p:nvSpPr>
          <p:cNvPr id="105" name="TextBox 104"/>
          <p:cNvSpPr txBox="1"/>
          <p:nvPr/>
        </p:nvSpPr>
        <p:spPr>
          <a:xfrm>
            <a:off x="2690040" y="8813000"/>
            <a:ext cx="1150000" cy="185000"/>
          </a:xfrm>
          <a:prstGeom prst="rect">
            <a:avLst/>
          </a:prstGeom>
          <a:noFill/>
        </p:spPr>
        <p:txBody>
          <a:bodyPr wrap="square" anchor="t" lIns="0" rIns="0" tIns="0" bIns="0">
            <a:spAutoFit/>
          </a:bodyPr>
          <a:lstStyle/>
          <a:p>
            <a:pPr algn="l"/>
            <a:r>
              <a:rPr sz="700" b="0">
                <a:solidFill>
                  <a:srgbClr val="20242A"/>
                </a:solidFill>
                <a:latin typeface="Calibri"/>
              </a:rPr>
              <a:t>EL-SGN-FNDTN</a:t>
            </a:r>
          </a:p>
        </p:txBody>
      </p:sp>
      <p:sp>
        <p:nvSpPr>
          <p:cNvPr id="106" name="TextBox 105"/>
          <p:cNvSpPr txBox="1"/>
          <p:nvPr/>
        </p:nvSpPr>
        <p:spPr>
          <a:xfrm>
            <a:off x="3840040" y="8813000"/>
            <a:ext cx="900000" cy="185000"/>
          </a:xfrm>
          <a:prstGeom prst="rect">
            <a:avLst/>
          </a:prstGeom>
          <a:noFill/>
        </p:spPr>
        <p:txBody>
          <a:bodyPr wrap="square" anchor="t" lIns="0" rIns="0" tIns="0" bIns="0">
            <a:spAutoFit/>
          </a:bodyPr>
          <a:lstStyle/>
          <a:p>
            <a:pPr algn="l"/>
            <a:r>
              <a:rPr sz="700" b="0">
                <a:solidFill>
                  <a:srgbClr val="A64B00"/>
                </a:solidFill>
                <a:latin typeface="Calibri"/>
              </a:rPr>
              <a:t>0.28 m !</a:t>
            </a:r>
          </a:p>
        </p:txBody>
      </p:sp>
      <p:sp>
        <p:nvSpPr>
          <p:cNvPr id="107" name="TextBox 106"/>
          <p:cNvSpPr txBox="1"/>
          <p:nvPr/>
        </p:nvSpPr>
        <p:spPr>
          <a:xfrm>
            <a:off x="430040" y="9001000"/>
            <a:ext cx="640000" cy="185000"/>
          </a:xfrm>
          <a:prstGeom prst="rect">
            <a:avLst/>
          </a:prstGeom>
          <a:noFill/>
        </p:spPr>
        <p:txBody>
          <a:bodyPr wrap="square" anchor="t" lIns="0" rIns="0" tIns="0" bIns="0">
            <a:spAutoFit/>
          </a:bodyPr>
          <a:lstStyle/>
          <a:p>
            <a:pPr algn="l"/>
            <a:r>
              <a:rPr sz="700" b="0">
                <a:solidFill>
                  <a:srgbClr val="20242A"/>
                </a:solidFill>
                <a:latin typeface="Calibri"/>
              </a:rPr>
              <a:t>12.48 m</a:t>
            </a:r>
          </a:p>
        </p:txBody>
      </p:sp>
      <p:sp>
        <p:nvSpPr>
          <p:cNvPr id="108" name="TextBox 107"/>
          <p:cNvSpPr txBox="1"/>
          <p:nvPr/>
        </p:nvSpPr>
        <p:spPr>
          <a:xfrm>
            <a:off x="1070040" y="9001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09" name="TextBox 108"/>
          <p:cNvSpPr txBox="1"/>
          <p:nvPr/>
        </p:nvSpPr>
        <p:spPr>
          <a:xfrm>
            <a:off x="2690040" y="9001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10" name="TextBox 109"/>
          <p:cNvSpPr txBox="1"/>
          <p:nvPr/>
        </p:nvSpPr>
        <p:spPr>
          <a:xfrm>
            <a:off x="3840040" y="900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1" name="TextBox 110"/>
          <p:cNvSpPr txBox="1"/>
          <p:nvPr/>
        </p:nvSpPr>
        <p:spPr>
          <a:xfrm>
            <a:off x="430040" y="9189000"/>
            <a:ext cx="640000" cy="185000"/>
          </a:xfrm>
          <a:prstGeom prst="rect">
            <a:avLst/>
          </a:prstGeom>
          <a:noFill/>
        </p:spPr>
        <p:txBody>
          <a:bodyPr wrap="square" anchor="t" lIns="0" rIns="0" tIns="0" bIns="0">
            <a:spAutoFit/>
          </a:bodyPr>
          <a:lstStyle/>
          <a:p>
            <a:pPr algn="l"/>
            <a:r>
              <a:rPr sz="700" b="0">
                <a:solidFill>
                  <a:srgbClr val="20242A"/>
                </a:solidFill>
                <a:latin typeface="Calibri"/>
              </a:rPr>
              <a:t>9.66 m</a:t>
            </a:r>
          </a:p>
        </p:txBody>
      </p:sp>
      <p:sp>
        <p:nvSpPr>
          <p:cNvPr id="112" name="TextBox 111"/>
          <p:cNvSpPr txBox="1"/>
          <p:nvPr/>
        </p:nvSpPr>
        <p:spPr>
          <a:xfrm>
            <a:off x="1070040" y="918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13" name="TextBox 112"/>
          <p:cNvSpPr txBox="1"/>
          <p:nvPr/>
        </p:nvSpPr>
        <p:spPr>
          <a:xfrm>
            <a:off x="2690040" y="918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14" name="TextBox 113"/>
          <p:cNvSpPr txBox="1"/>
          <p:nvPr/>
        </p:nvSpPr>
        <p:spPr>
          <a:xfrm>
            <a:off x="3840040" y="918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5" name="TextBox 114"/>
          <p:cNvSpPr txBox="1"/>
          <p:nvPr/>
        </p:nvSpPr>
        <p:spPr>
          <a:xfrm>
            <a:off x="430040" y="9377000"/>
            <a:ext cx="640000" cy="185000"/>
          </a:xfrm>
          <a:prstGeom prst="rect">
            <a:avLst/>
          </a:prstGeom>
          <a:noFill/>
        </p:spPr>
        <p:txBody>
          <a:bodyPr wrap="square" anchor="t" lIns="0" rIns="0" tIns="0" bIns="0">
            <a:spAutoFit/>
          </a:bodyPr>
          <a:lstStyle/>
          <a:p>
            <a:pPr algn="l"/>
            <a:r>
              <a:rPr sz="700" b="0">
                <a:solidFill>
                  <a:srgbClr val="20242A"/>
                </a:solidFill>
                <a:latin typeface="Calibri"/>
              </a:rPr>
              <a:t>8.85 m</a:t>
            </a:r>
          </a:p>
        </p:txBody>
      </p:sp>
      <p:sp>
        <p:nvSpPr>
          <p:cNvPr id="116" name="TextBox 115"/>
          <p:cNvSpPr txBox="1"/>
          <p:nvPr/>
        </p:nvSpPr>
        <p:spPr>
          <a:xfrm>
            <a:off x="1070040" y="9377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117" name="TextBox 116"/>
          <p:cNvSpPr txBox="1"/>
          <p:nvPr/>
        </p:nvSpPr>
        <p:spPr>
          <a:xfrm>
            <a:off x="2690040" y="9377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118" name="TextBox 117"/>
          <p:cNvSpPr txBox="1"/>
          <p:nvPr/>
        </p:nvSpPr>
        <p:spPr>
          <a:xfrm>
            <a:off x="3840040" y="937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9" name="TextBox 118"/>
          <p:cNvSpPr txBox="1"/>
          <p:nvPr/>
        </p:nvSpPr>
        <p:spPr>
          <a:xfrm>
            <a:off x="430040" y="9565000"/>
            <a:ext cx="640000" cy="185000"/>
          </a:xfrm>
          <a:prstGeom prst="rect">
            <a:avLst/>
          </a:prstGeom>
          <a:noFill/>
        </p:spPr>
        <p:txBody>
          <a:bodyPr wrap="square" anchor="t" lIns="0" rIns="0" tIns="0" bIns="0">
            <a:spAutoFit/>
          </a:bodyPr>
          <a:lstStyle/>
          <a:p>
            <a:pPr algn="l"/>
            <a:r>
              <a:rPr sz="700" b="0">
                <a:solidFill>
                  <a:srgbClr val="20242A"/>
                </a:solidFill>
                <a:latin typeface="Calibri"/>
              </a:rPr>
              <a:t>2.83 m</a:t>
            </a:r>
          </a:p>
        </p:txBody>
      </p:sp>
      <p:sp>
        <p:nvSpPr>
          <p:cNvPr id="120" name="TextBox 119"/>
          <p:cNvSpPr txBox="1"/>
          <p:nvPr/>
        </p:nvSpPr>
        <p:spPr>
          <a:xfrm>
            <a:off x="1070040" y="9565000"/>
            <a:ext cx="1620000" cy="185000"/>
          </a:xfrm>
          <a:prstGeom prst="rect">
            <a:avLst/>
          </a:prstGeom>
          <a:noFill/>
        </p:spPr>
        <p:txBody>
          <a:bodyPr wrap="square" anchor="t" lIns="0" rIns="0" tIns="0" bIns="0">
            <a:spAutoFit/>
          </a:bodyPr>
          <a:lstStyle/>
          <a:p>
            <a:pPr algn="l"/>
            <a:r>
              <a:rPr sz="700" b="0">
                <a:solidFill>
                  <a:srgbClr val="20242A"/>
                </a:solidFill>
                <a:latin typeface="Calibri"/>
              </a:rPr>
              <a:t>Existing transformer handhole</a:t>
            </a:r>
          </a:p>
        </p:txBody>
      </p:sp>
      <p:sp>
        <p:nvSpPr>
          <p:cNvPr id="121" name="TextBox 120"/>
          <p:cNvSpPr txBox="1"/>
          <p:nvPr/>
        </p:nvSpPr>
        <p:spPr>
          <a:xfrm>
            <a:off x="2690040" y="9565000"/>
            <a:ext cx="1150000" cy="185000"/>
          </a:xfrm>
          <a:prstGeom prst="rect">
            <a:avLst/>
          </a:prstGeom>
          <a:noFill/>
        </p:spPr>
        <p:txBody>
          <a:bodyPr wrap="square" anchor="t" lIns="0" rIns="0" tIns="0" bIns="0">
            <a:spAutoFit/>
          </a:bodyPr>
          <a:lstStyle/>
          <a:p>
            <a:pPr algn="l"/>
            <a:r>
              <a:rPr sz="700" b="0">
                <a:solidFill>
                  <a:srgbClr val="20242A"/>
                </a:solidFill>
                <a:latin typeface="Calibri"/>
              </a:rPr>
              <a:t>CV_ETRANS HH</a:t>
            </a:r>
          </a:p>
        </p:txBody>
      </p:sp>
      <p:sp>
        <p:nvSpPr>
          <p:cNvPr id="122" name="TextBox 121"/>
          <p:cNvSpPr txBox="1"/>
          <p:nvPr/>
        </p:nvSpPr>
        <p:spPr>
          <a:xfrm>
            <a:off x="3840040" y="9565000"/>
            <a:ext cx="900000" cy="185000"/>
          </a:xfrm>
          <a:prstGeom prst="rect">
            <a:avLst/>
          </a:prstGeom>
          <a:noFill/>
        </p:spPr>
        <p:txBody>
          <a:bodyPr wrap="square" anchor="t" lIns="0" rIns="0" tIns="0" bIns="0">
            <a:spAutoFit/>
          </a:bodyPr>
          <a:lstStyle/>
          <a:p>
            <a:pPr algn="l"/>
            <a:r>
              <a:rPr sz="700" b="0">
                <a:solidFill>
                  <a:srgbClr val="A64B00"/>
                </a:solidFill>
                <a:latin typeface="Calibri"/>
              </a:rPr>
              <a:t>2.83 m !</a:t>
            </a:r>
          </a:p>
        </p:txBody>
      </p:sp>
      <p:sp>
        <p:nvSpPr>
          <p:cNvPr id="123" name="TextBox 122"/>
          <p:cNvSpPr txBox="1"/>
          <p:nvPr/>
        </p:nvSpPr>
        <p:spPr>
          <a:xfrm>
            <a:off x="430040"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124" name="Rectangle 123"/>
          <p:cNvSpPr/>
          <p:nvPr/>
        </p:nvSpPr>
        <p:spPr>
          <a:xfrm>
            <a:off x="5201384"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311384"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LOC-02 — DERIVED SPUR SCHEDULE</a:t>
            </a:r>
          </a:p>
        </p:txBody>
      </p:sp>
      <p:sp>
        <p:nvSpPr>
          <p:cNvPr id="126" name="TextBox 125"/>
          <p:cNvSpPr txBox="1"/>
          <p:nvPr/>
        </p:nvSpPr>
        <p:spPr>
          <a:xfrm>
            <a:off x="5311384"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1 transformer-handhole hub(s) · 6 spurs · 142.5 m to lights</a:t>
            </a:r>
          </a:p>
        </p:txBody>
      </p:sp>
      <p:sp>
        <p:nvSpPr>
          <p:cNvPr id="127" name="TextBox 126"/>
          <p:cNvSpPr txBox="1"/>
          <p:nvPr/>
        </p:nvSpPr>
        <p:spPr>
          <a:xfrm>
            <a:off x="5311384"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28" name="TextBox 127"/>
          <p:cNvSpPr txBox="1"/>
          <p:nvPr/>
        </p:nvSpPr>
        <p:spPr>
          <a:xfrm>
            <a:off x="5951384"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29" name="TextBox 128"/>
          <p:cNvSpPr txBox="1"/>
          <p:nvPr/>
        </p:nvSpPr>
        <p:spPr>
          <a:xfrm>
            <a:off x="7571384"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30" name="TextBox 129"/>
          <p:cNvSpPr txBox="1"/>
          <p:nvPr/>
        </p:nvSpPr>
        <p:spPr>
          <a:xfrm>
            <a:off x="8721384"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31" name="TextBox 130"/>
          <p:cNvSpPr txBox="1"/>
          <p:nvPr/>
        </p:nvSpPr>
        <p:spPr>
          <a:xfrm>
            <a:off x="5311384" y="4865000"/>
            <a:ext cx="640000" cy="185000"/>
          </a:xfrm>
          <a:prstGeom prst="rect">
            <a:avLst/>
          </a:prstGeom>
          <a:noFill/>
        </p:spPr>
        <p:txBody>
          <a:bodyPr wrap="square" anchor="t" lIns="0" rIns="0" tIns="0" bIns="0">
            <a:spAutoFit/>
          </a:bodyPr>
          <a:lstStyle/>
          <a:p>
            <a:pPr algn="l"/>
            <a:r>
              <a:rPr sz="700" b="0">
                <a:solidFill>
                  <a:srgbClr val="20242A"/>
                </a:solidFill>
                <a:latin typeface="Calibri"/>
              </a:rPr>
              <a:t>41.50 m</a:t>
            </a:r>
          </a:p>
        </p:txBody>
      </p:sp>
      <p:sp>
        <p:nvSpPr>
          <p:cNvPr id="132" name="TextBox 131"/>
          <p:cNvSpPr txBox="1"/>
          <p:nvPr/>
        </p:nvSpPr>
        <p:spPr>
          <a:xfrm>
            <a:off x="5951384"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33" name="TextBox 132"/>
          <p:cNvSpPr txBox="1"/>
          <p:nvPr/>
        </p:nvSpPr>
        <p:spPr>
          <a:xfrm>
            <a:off x="7571384"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34" name="TextBox 133"/>
          <p:cNvSpPr txBox="1"/>
          <p:nvPr/>
        </p:nvSpPr>
        <p:spPr>
          <a:xfrm>
            <a:off x="8721384" y="486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35" name="TextBox 134"/>
          <p:cNvSpPr txBox="1"/>
          <p:nvPr/>
        </p:nvSpPr>
        <p:spPr>
          <a:xfrm>
            <a:off x="5311384"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30.30 m</a:t>
            </a:r>
          </a:p>
        </p:txBody>
      </p:sp>
      <p:sp>
        <p:nvSpPr>
          <p:cNvPr id="136" name="TextBox 135"/>
          <p:cNvSpPr txBox="1"/>
          <p:nvPr/>
        </p:nvSpPr>
        <p:spPr>
          <a:xfrm>
            <a:off x="5951384"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37" name="TextBox 136"/>
          <p:cNvSpPr txBox="1"/>
          <p:nvPr/>
        </p:nvSpPr>
        <p:spPr>
          <a:xfrm>
            <a:off x="7571384"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38" name="TextBox 137"/>
          <p:cNvSpPr txBox="1"/>
          <p:nvPr/>
        </p:nvSpPr>
        <p:spPr>
          <a:xfrm>
            <a:off x="8721384"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39" name="TextBox 138"/>
          <p:cNvSpPr txBox="1"/>
          <p:nvPr/>
        </p:nvSpPr>
        <p:spPr>
          <a:xfrm>
            <a:off x="5311384" y="5241000"/>
            <a:ext cx="640000" cy="185000"/>
          </a:xfrm>
          <a:prstGeom prst="rect">
            <a:avLst/>
          </a:prstGeom>
          <a:noFill/>
        </p:spPr>
        <p:txBody>
          <a:bodyPr wrap="square" anchor="t" lIns="0" rIns="0" tIns="0" bIns="0">
            <a:spAutoFit/>
          </a:bodyPr>
          <a:lstStyle/>
          <a:p>
            <a:pPr algn="l"/>
            <a:r>
              <a:rPr sz="700" b="0">
                <a:solidFill>
                  <a:srgbClr val="20242A"/>
                </a:solidFill>
                <a:latin typeface="Calibri"/>
              </a:rPr>
              <a:t>29.10 m</a:t>
            </a:r>
          </a:p>
        </p:txBody>
      </p:sp>
      <p:sp>
        <p:nvSpPr>
          <p:cNvPr id="140" name="TextBox 139"/>
          <p:cNvSpPr txBox="1"/>
          <p:nvPr/>
        </p:nvSpPr>
        <p:spPr>
          <a:xfrm>
            <a:off x="5951384"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1" name="TextBox 140"/>
          <p:cNvSpPr txBox="1"/>
          <p:nvPr/>
        </p:nvSpPr>
        <p:spPr>
          <a:xfrm>
            <a:off x="7571384"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42" name="TextBox 141"/>
          <p:cNvSpPr txBox="1"/>
          <p:nvPr/>
        </p:nvSpPr>
        <p:spPr>
          <a:xfrm>
            <a:off x="8721384"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43" name="TextBox 142"/>
          <p:cNvSpPr txBox="1"/>
          <p:nvPr/>
        </p:nvSpPr>
        <p:spPr>
          <a:xfrm>
            <a:off x="5311384" y="5429000"/>
            <a:ext cx="640000" cy="185000"/>
          </a:xfrm>
          <a:prstGeom prst="rect">
            <a:avLst/>
          </a:prstGeom>
          <a:noFill/>
        </p:spPr>
        <p:txBody>
          <a:bodyPr wrap="square" anchor="t" lIns="0" rIns="0" tIns="0" bIns="0">
            <a:spAutoFit/>
          </a:bodyPr>
          <a:lstStyle/>
          <a:p>
            <a:pPr algn="l"/>
            <a:r>
              <a:rPr sz="700" b="0">
                <a:solidFill>
                  <a:srgbClr val="20242A"/>
                </a:solidFill>
                <a:latin typeface="Calibri"/>
              </a:rPr>
              <a:t>21.10 m</a:t>
            </a:r>
          </a:p>
        </p:txBody>
      </p:sp>
      <p:sp>
        <p:nvSpPr>
          <p:cNvPr id="144" name="TextBox 143"/>
          <p:cNvSpPr txBox="1"/>
          <p:nvPr/>
        </p:nvSpPr>
        <p:spPr>
          <a:xfrm>
            <a:off x="5951384"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5" name="TextBox 144"/>
          <p:cNvSpPr txBox="1"/>
          <p:nvPr/>
        </p:nvSpPr>
        <p:spPr>
          <a:xfrm>
            <a:off x="7571384"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46" name="TextBox 145"/>
          <p:cNvSpPr txBox="1"/>
          <p:nvPr/>
        </p:nvSpPr>
        <p:spPr>
          <a:xfrm>
            <a:off x="8721384" y="542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47" name="TextBox 146"/>
          <p:cNvSpPr txBox="1"/>
          <p:nvPr/>
        </p:nvSpPr>
        <p:spPr>
          <a:xfrm>
            <a:off x="5311384" y="5617000"/>
            <a:ext cx="640000" cy="185000"/>
          </a:xfrm>
          <a:prstGeom prst="rect">
            <a:avLst/>
          </a:prstGeom>
          <a:noFill/>
        </p:spPr>
        <p:txBody>
          <a:bodyPr wrap="square" anchor="t" lIns="0" rIns="0" tIns="0" bIns="0">
            <a:spAutoFit/>
          </a:bodyPr>
          <a:lstStyle/>
          <a:p>
            <a:pPr algn="l"/>
            <a:r>
              <a:rPr sz="700" b="0">
                <a:solidFill>
                  <a:srgbClr val="20242A"/>
                </a:solidFill>
                <a:latin typeface="Calibri"/>
              </a:rPr>
              <a:t>20.52 m</a:t>
            </a:r>
          </a:p>
        </p:txBody>
      </p:sp>
      <p:sp>
        <p:nvSpPr>
          <p:cNvPr id="148" name="TextBox 147"/>
          <p:cNvSpPr txBox="1"/>
          <p:nvPr/>
        </p:nvSpPr>
        <p:spPr>
          <a:xfrm>
            <a:off x="5951384"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9" name="TextBox 148"/>
          <p:cNvSpPr txBox="1"/>
          <p:nvPr/>
        </p:nvSpPr>
        <p:spPr>
          <a:xfrm>
            <a:off x="7571384"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50" name="TextBox 149"/>
          <p:cNvSpPr txBox="1"/>
          <p:nvPr/>
        </p:nvSpPr>
        <p:spPr>
          <a:xfrm>
            <a:off x="8721384"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51" name="TextBox 150"/>
          <p:cNvSpPr txBox="1"/>
          <p:nvPr/>
        </p:nvSpPr>
        <p:spPr>
          <a:xfrm>
            <a:off x="5311384" y="5805000"/>
            <a:ext cx="640000" cy="185000"/>
          </a:xfrm>
          <a:prstGeom prst="rect">
            <a:avLst/>
          </a:prstGeom>
          <a:noFill/>
        </p:spPr>
        <p:txBody>
          <a:bodyPr wrap="square" anchor="t" lIns="0" rIns="0" tIns="0" bIns="0">
            <a:spAutoFit/>
          </a:bodyPr>
          <a:lstStyle/>
          <a:p>
            <a:pPr algn="l"/>
            <a:r>
              <a:rPr sz="700" b="0">
                <a:solidFill>
                  <a:srgbClr val="20242A"/>
                </a:solidFill>
                <a:latin typeface="Calibri"/>
              </a:rPr>
              <a:t>6.23 m</a:t>
            </a:r>
          </a:p>
        </p:txBody>
      </p:sp>
      <p:sp>
        <p:nvSpPr>
          <p:cNvPr id="152" name="TextBox 151"/>
          <p:cNvSpPr txBox="1"/>
          <p:nvPr/>
        </p:nvSpPr>
        <p:spPr>
          <a:xfrm>
            <a:off x="5951384"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153" name="TextBox 152"/>
          <p:cNvSpPr txBox="1"/>
          <p:nvPr/>
        </p:nvSpPr>
        <p:spPr>
          <a:xfrm>
            <a:off x="7571384"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154" name="TextBox 153"/>
          <p:cNvSpPr txBox="1"/>
          <p:nvPr/>
        </p:nvSpPr>
        <p:spPr>
          <a:xfrm>
            <a:off x="8721384" y="580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55" name="TextBox 154"/>
          <p:cNvSpPr txBox="1"/>
          <p:nvPr/>
        </p:nvSpPr>
        <p:spPr>
          <a:xfrm>
            <a:off x="5311384"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156" name="Rectangle 155"/>
          <p:cNvSpPr/>
          <p:nvPr/>
        </p:nvSpPr>
        <p:spPr>
          <a:xfrm>
            <a:off x="10082728"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192728"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LOC-03 — DERIVED SPUR SCHEDULE</a:t>
            </a:r>
          </a:p>
        </p:txBody>
      </p:sp>
      <p:sp>
        <p:nvSpPr>
          <p:cNvPr id="158" name="TextBox 157"/>
          <p:cNvSpPr txBox="1"/>
          <p:nvPr/>
        </p:nvSpPr>
        <p:spPr>
          <a:xfrm>
            <a:off x="10192728"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2 transformer-handhole hub(s) · 20 spurs · 412.1 m to lights</a:t>
            </a:r>
          </a:p>
        </p:txBody>
      </p:sp>
      <p:sp>
        <p:nvSpPr>
          <p:cNvPr id="159" name="TextBox 158"/>
          <p:cNvSpPr txBox="1"/>
          <p:nvPr/>
        </p:nvSpPr>
        <p:spPr>
          <a:xfrm>
            <a:off x="10192728"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60" name="TextBox 159"/>
          <p:cNvSpPr txBox="1"/>
          <p:nvPr/>
        </p:nvSpPr>
        <p:spPr>
          <a:xfrm>
            <a:off x="10832728"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61" name="TextBox 160"/>
          <p:cNvSpPr txBox="1"/>
          <p:nvPr/>
        </p:nvSpPr>
        <p:spPr>
          <a:xfrm>
            <a:off x="12452728"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62" name="TextBox 161"/>
          <p:cNvSpPr txBox="1"/>
          <p:nvPr/>
        </p:nvSpPr>
        <p:spPr>
          <a:xfrm>
            <a:off x="13602728"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63" name="TextBox 162"/>
          <p:cNvSpPr txBox="1"/>
          <p:nvPr/>
        </p:nvSpPr>
        <p:spPr>
          <a:xfrm>
            <a:off x="10192728" y="4865000"/>
            <a:ext cx="640000" cy="185000"/>
          </a:xfrm>
          <a:prstGeom prst="rect">
            <a:avLst/>
          </a:prstGeom>
          <a:noFill/>
        </p:spPr>
        <p:txBody>
          <a:bodyPr wrap="square" anchor="t" lIns="0" rIns="0" tIns="0" bIns="0">
            <a:spAutoFit/>
          </a:bodyPr>
          <a:lstStyle/>
          <a:p>
            <a:pPr algn="l"/>
            <a:r>
              <a:rPr sz="700" b="0">
                <a:solidFill>
                  <a:srgbClr val="20242A"/>
                </a:solidFill>
                <a:latin typeface="Calibri"/>
              </a:rPr>
              <a:t>31.97 m</a:t>
            </a:r>
          </a:p>
        </p:txBody>
      </p:sp>
      <p:sp>
        <p:nvSpPr>
          <p:cNvPr id="164" name="TextBox 163"/>
          <p:cNvSpPr txBox="1"/>
          <p:nvPr/>
        </p:nvSpPr>
        <p:spPr>
          <a:xfrm>
            <a:off x="10832728"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65" name="TextBox 164"/>
          <p:cNvSpPr txBox="1"/>
          <p:nvPr/>
        </p:nvSpPr>
        <p:spPr>
          <a:xfrm>
            <a:off x="12452728"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66" name="TextBox 165"/>
          <p:cNvSpPr txBox="1"/>
          <p:nvPr/>
        </p:nvSpPr>
        <p:spPr>
          <a:xfrm>
            <a:off x="13602728" y="486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67" name="TextBox 166"/>
          <p:cNvSpPr txBox="1"/>
          <p:nvPr/>
        </p:nvSpPr>
        <p:spPr>
          <a:xfrm>
            <a:off x="10192728"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31.13 m</a:t>
            </a:r>
          </a:p>
        </p:txBody>
      </p:sp>
      <p:sp>
        <p:nvSpPr>
          <p:cNvPr id="168" name="TextBox 167"/>
          <p:cNvSpPr txBox="1"/>
          <p:nvPr/>
        </p:nvSpPr>
        <p:spPr>
          <a:xfrm>
            <a:off x="10832728"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69" name="TextBox 168"/>
          <p:cNvSpPr txBox="1"/>
          <p:nvPr/>
        </p:nvSpPr>
        <p:spPr>
          <a:xfrm>
            <a:off x="12452728"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70" name="TextBox 169"/>
          <p:cNvSpPr txBox="1"/>
          <p:nvPr/>
        </p:nvSpPr>
        <p:spPr>
          <a:xfrm>
            <a:off x="13602728"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1" name="TextBox 170"/>
          <p:cNvSpPr txBox="1"/>
          <p:nvPr/>
        </p:nvSpPr>
        <p:spPr>
          <a:xfrm>
            <a:off x="10192728" y="5241000"/>
            <a:ext cx="640000" cy="185000"/>
          </a:xfrm>
          <a:prstGeom prst="rect">
            <a:avLst/>
          </a:prstGeom>
          <a:noFill/>
        </p:spPr>
        <p:txBody>
          <a:bodyPr wrap="square" anchor="t" lIns="0" rIns="0" tIns="0" bIns="0">
            <a:spAutoFit/>
          </a:bodyPr>
          <a:lstStyle/>
          <a:p>
            <a:pPr algn="l"/>
            <a:r>
              <a:rPr sz="700" b="0">
                <a:solidFill>
                  <a:srgbClr val="20242A"/>
                </a:solidFill>
                <a:latin typeface="Calibri"/>
              </a:rPr>
              <a:t>29.02 m</a:t>
            </a:r>
          </a:p>
        </p:txBody>
      </p:sp>
      <p:sp>
        <p:nvSpPr>
          <p:cNvPr id="172" name="TextBox 171"/>
          <p:cNvSpPr txBox="1"/>
          <p:nvPr/>
        </p:nvSpPr>
        <p:spPr>
          <a:xfrm>
            <a:off x="10832728"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73" name="TextBox 172"/>
          <p:cNvSpPr txBox="1"/>
          <p:nvPr/>
        </p:nvSpPr>
        <p:spPr>
          <a:xfrm>
            <a:off x="12452728"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74" name="TextBox 173"/>
          <p:cNvSpPr txBox="1"/>
          <p:nvPr/>
        </p:nvSpPr>
        <p:spPr>
          <a:xfrm>
            <a:off x="13602728"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5" name="TextBox 174"/>
          <p:cNvSpPr txBox="1"/>
          <p:nvPr/>
        </p:nvSpPr>
        <p:spPr>
          <a:xfrm>
            <a:off x="10192728" y="5429000"/>
            <a:ext cx="640000" cy="185000"/>
          </a:xfrm>
          <a:prstGeom prst="rect">
            <a:avLst/>
          </a:prstGeom>
          <a:noFill/>
        </p:spPr>
        <p:txBody>
          <a:bodyPr wrap="square" anchor="t" lIns="0" rIns="0" tIns="0" bIns="0">
            <a:spAutoFit/>
          </a:bodyPr>
          <a:lstStyle/>
          <a:p>
            <a:pPr algn="l"/>
            <a:r>
              <a:rPr sz="700" b="0">
                <a:solidFill>
                  <a:srgbClr val="20242A"/>
                </a:solidFill>
                <a:latin typeface="Calibri"/>
              </a:rPr>
              <a:t>28.16 m</a:t>
            </a:r>
          </a:p>
        </p:txBody>
      </p:sp>
      <p:sp>
        <p:nvSpPr>
          <p:cNvPr id="176" name="TextBox 175"/>
          <p:cNvSpPr txBox="1"/>
          <p:nvPr/>
        </p:nvSpPr>
        <p:spPr>
          <a:xfrm>
            <a:off x="10832728"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77" name="TextBox 176"/>
          <p:cNvSpPr txBox="1"/>
          <p:nvPr/>
        </p:nvSpPr>
        <p:spPr>
          <a:xfrm>
            <a:off x="12452728"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78" name="TextBox 177"/>
          <p:cNvSpPr txBox="1"/>
          <p:nvPr/>
        </p:nvSpPr>
        <p:spPr>
          <a:xfrm>
            <a:off x="13602728" y="542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9" name="TextBox 178"/>
          <p:cNvSpPr txBox="1"/>
          <p:nvPr/>
        </p:nvSpPr>
        <p:spPr>
          <a:xfrm>
            <a:off x="10192728" y="5617000"/>
            <a:ext cx="640000" cy="185000"/>
          </a:xfrm>
          <a:prstGeom prst="rect">
            <a:avLst/>
          </a:prstGeom>
          <a:noFill/>
        </p:spPr>
        <p:txBody>
          <a:bodyPr wrap="square" anchor="t" lIns="0" rIns="0" tIns="0" bIns="0">
            <a:spAutoFit/>
          </a:bodyPr>
          <a:lstStyle/>
          <a:p>
            <a:pPr algn="l"/>
            <a:r>
              <a:rPr sz="700" b="0">
                <a:solidFill>
                  <a:srgbClr val="20242A"/>
                </a:solidFill>
                <a:latin typeface="Calibri"/>
              </a:rPr>
              <a:t>27.57 m</a:t>
            </a:r>
          </a:p>
        </p:txBody>
      </p:sp>
      <p:sp>
        <p:nvSpPr>
          <p:cNvPr id="180" name="TextBox 179"/>
          <p:cNvSpPr txBox="1"/>
          <p:nvPr/>
        </p:nvSpPr>
        <p:spPr>
          <a:xfrm>
            <a:off x="10832728"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81" name="TextBox 180"/>
          <p:cNvSpPr txBox="1"/>
          <p:nvPr/>
        </p:nvSpPr>
        <p:spPr>
          <a:xfrm>
            <a:off x="12452728"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82" name="TextBox 181"/>
          <p:cNvSpPr txBox="1"/>
          <p:nvPr/>
        </p:nvSpPr>
        <p:spPr>
          <a:xfrm>
            <a:off x="13602728"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83" name="TextBox 182"/>
          <p:cNvSpPr txBox="1"/>
          <p:nvPr/>
        </p:nvSpPr>
        <p:spPr>
          <a:xfrm>
            <a:off x="10192728" y="5805000"/>
            <a:ext cx="640000" cy="185000"/>
          </a:xfrm>
          <a:prstGeom prst="rect">
            <a:avLst/>
          </a:prstGeom>
          <a:noFill/>
        </p:spPr>
        <p:txBody>
          <a:bodyPr wrap="square" anchor="t" lIns="0" rIns="0" tIns="0" bIns="0">
            <a:spAutoFit/>
          </a:bodyPr>
          <a:lstStyle/>
          <a:p>
            <a:pPr algn="l"/>
            <a:r>
              <a:rPr sz="700" b="0">
                <a:solidFill>
                  <a:srgbClr val="20242A"/>
                </a:solidFill>
                <a:latin typeface="Calibri"/>
              </a:rPr>
              <a:t>25.99 m</a:t>
            </a:r>
          </a:p>
        </p:txBody>
      </p:sp>
      <p:sp>
        <p:nvSpPr>
          <p:cNvPr id="184" name="TextBox 183"/>
          <p:cNvSpPr txBox="1"/>
          <p:nvPr/>
        </p:nvSpPr>
        <p:spPr>
          <a:xfrm>
            <a:off x="10832728"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Runway guard light / RRM</a:t>
            </a:r>
          </a:p>
        </p:txBody>
      </p:sp>
      <p:sp>
        <p:nvSpPr>
          <p:cNvPr id="185" name="TextBox 184"/>
          <p:cNvSpPr txBox="1"/>
          <p:nvPr/>
        </p:nvSpPr>
        <p:spPr>
          <a:xfrm>
            <a:off x="12452728"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EL-RRM</a:t>
            </a:r>
          </a:p>
        </p:txBody>
      </p:sp>
      <p:sp>
        <p:nvSpPr>
          <p:cNvPr id="186" name="TextBox 185"/>
          <p:cNvSpPr txBox="1"/>
          <p:nvPr/>
        </p:nvSpPr>
        <p:spPr>
          <a:xfrm>
            <a:off x="13602728" y="5805000"/>
            <a:ext cx="900000" cy="185000"/>
          </a:xfrm>
          <a:prstGeom prst="rect">
            <a:avLst/>
          </a:prstGeom>
          <a:noFill/>
        </p:spPr>
        <p:txBody>
          <a:bodyPr wrap="square" anchor="t" lIns="0" rIns="0" tIns="0" bIns="0">
            <a:spAutoFit/>
          </a:bodyPr>
          <a:lstStyle/>
          <a:p>
            <a:pPr algn="l"/>
            <a:r>
              <a:rPr sz="700" b="0">
                <a:solidFill>
                  <a:srgbClr val="A64B00"/>
                </a:solidFill>
                <a:latin typeface="Calibri"/>
              </a:rPr>
              <a:t>4.99 m !</a:t>
            </a:r>
          </a:p>
        </p:txBody>
      </p:sp>
      <p:sp>
        <p:nvSpPr>
          <p:cNvPr id="187" name="TextBox 186"/>
          <p:cNvSpPr txBox="1"/>
          <p:nvPr/>
        </p:nvSpPr>
        <p:spPr>
          <a:xfrm>
            <a:off x="10192728" y="5993000"/>
            <a:ext cx="640000" cy="185000"/>
          </a:xfrm>
          <a:prstGeom prst="rect">
            <a:avLst/>
          </a:prstGeom>
          <a:noFill/>
        </p:spPr>
        <p:txBody>
          <a:bodyPr wrap="square" anchor="t" lIns="0" rIns="0" tIns="0" bIns="0">
            <a:spAutoFit/>
          </a:bodyPr>
          <a:lstStyle/>
          <a:p>
            <a:pPr algn="l"/>
            <a:r>
              <a:rPr sz="700" b="0">
                <a:solidFill>
                  <a:srgbClr val="20242A"/>
                </a:solidFill>
                <a:latin typeface="Calibri"/>
              </a:rPr>
              <a:t>25.23 m</a:t>
            </a:r>
          </a:p>
        </p:txBody>
      </p:sp>
      <p:sp>
        <p:nvSpPr>
          <p:cNvPr id="188" name="TextBox 187"/>
          <p:cNvSpPr txBox="1"/>
          <p:nvPr/>
        </p:nvSpPr>
        <p:spPr>
          <a:xfrm>
            <a:off x="10832728" y="599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89" name="TextBox 188"/>
          <p:cNvSpPr txBox="1"/>
          <p:nvPr/>
        </p:nvSpPr>
        <p:spPr>
          <a:xfrm>
            <a:off x="12452728" y="599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90" name="TextBox 189"/>
          <p:cNvSpPr txBox="1"/>
          <p:nvPr/>
        </p:nvSpPr>
        <p:spPr>
          <a:xfrm>
            <a:off x="13602728" y="599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1" name="TextBox 190"/>
          <p:cNvSpPr txBox="1"/>
          <p:nvPr/>
        </p:nvSpPr>
        <p:spPr>
          <a:xfrm>
            <a:off x="10192728" y="6181000"/>
            <a:ext cx="640000" cy="185000"/>
          </a:xfrm>
          <a:prstGeom prst="rect">
            <a:avLst/>
          </a:prstGeom>
          <a:noFill/>
        </p:spPr>
        <p:txBody>
          <a:bodyPr wrap="square" anchor="t" lIns="0" rIns="0" tIns="0" bIns="0">
            <a:spAutoFit/>
          </a:bodyPr>
          <a:lstStyle/>
          <a:p>
            <a:pPr algn="l"/>
            <a:r>
              <a:rPr sz="700" b="0">
                <a:solidFill>
                  <a:srgbClr val="20242A"/>
                </a:solidFill>
                <a:latin typeface="Calibri"/>
              </a:rPr>
              <a:t>25.07 m</a:t>
            </a:r>
          </a:p>
        </p:txBody>
      </p:sp>
      <p:sp>
        <p:nvSpPr>
          <p:cNvPr id="192" name="TextBox 191"/>
          <p:cNvSpPr txBox="1"/>
          <p:nvPr/>
        </p:nvSpPr>
        <p:spPr>
          <a:xfrm>
            <a:off x="10832728" y="618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93" name="TextBox 192"/>
          <p:cNvSpPr txBox="1"/>
          <p:nvPr/>
        </p:nvSpPr>
        <p:spPr>
          <a:xfrm>
            <a:off x="12452728" y="618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94" name="TextBox 193"/>
          <p:cNvSpPr txBox="1"/>
          <p:nvPr/>
        </p:nvSpPr>
        <p:spPr>
          <a:xfrm>
            <a:off x="13602728" y="618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5" name="TextBox 194"/>
          <p:cNvSpPr txBox="1"/>
          <p:nvPr/>
        </p:nvSpPr>
        <p:spPr>
          <a:xfrm>
            <a:off x="10192728" y="6369000"/>
            <a:ext cx="640000" cy="185000"/>
          </a:xfrm>
          <a:prstGeom prst="rect">
            <a:avLst/>
          </a:prstGeom>
          <a:noFill/>
        </p:spPr>
        <p:txBody>
          <a:bodyPr wrap="square" anchor="t" lIns="0" rIns="0" tIns="0" bIns="0">
            <a:spAutoFit/>
          </a:bodyPr>
          <a:lstStyle/>
          <a:p>
            <a:pPr algn="l"/>
            <a:r>
              <a:rPr sz="700" b="0">
                <a:solidFill>
                  <a:srgbClr val="20242A"/>
                </a:solidFill>
                <a:latin typeface="Calibri"/>
              </a:rPr>
              <a:t>23.13 m</a:t>
            </a:r>
          </a:p>
        </p:txBody>
      </p:sp>
      <p:sp>
        <p:nvSpPr>
          <p:cNvPr id="196" name="TextBox 195"/>
          <p:cNvSpPr txBox="1"/>
          <p:nvPr/>
        </p:nvSpPr>
        <p:spPr>
          <a:xfrm>
            <a:off x="10832728" y="636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97" name="TextBox 196"/>
          <p:cNvSpPr txBox="1"/>
          <p:nvPr/>
        </p:nvSpPr>
        <p:spPr>
          <a:xfrm>
            <a:off x="12452728" y="636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98" name="TextBox 197"/>
          <p:cNvSpPr txBox="1"/>
          <p:nvPr/>
        </p:nvSpPr>
        <p:spPr>
          <a:xfrm>
            <a:off x="13602728" y="636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9" name="TextBox 198"/>
          <p:cNvSpPr txBox="1"/>
          <p:nvPr/>
        </p:nvSpPr>
        <p:spPr>
          <a:xfrm>
            <a:off x="10192728" y="6557000"/>
            <a:ext cx="640000" cy="185000"/>
          </a:xfrm>
          <a:prstGeom prst="rect">
            <a:avLst/>
          </a:prstGeom>
          <a:noFill/>
        </p:spPr>
        <p:txBody>
          <a:bodyPr wrap="square" anchor="t" lIns="0" rIns="0" tIns="0" bIns="0">
            <a:spAutoFit/>
          </a:bodyPr>
          <a:lstStyle/>
          <a:p>
            <a:pPr algn="l"/>
            <a:r>
              <a:rPr sz="700" b="0">
                <a:solidFill>
                  <a:srgbClr val="20242A"/>
                </a:solidFill>
                <a:latin typeface="Calibri"/>
              </a:rPr>
              <a:t>22.34 m</a:t>
            </a:r>
          </a:p>
        </p:txBody>
      </p:sp>
      <p:sp>
        <p:nvSpPr>
          <p:cNvPr id="200" name="TextBox 199"/>
          <p:cNvSpPr txBox="1"/>
          <p:nvPr/>
        </p:nvSpPr>
        <p:spPr>
          <a:xfrm>
            <a:off x="10832728" y="655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01" name="TextBox 200"/>
          <p:cNvSpPr txBox="1"/>
          <p:nvPr/>
        </p:nvSpPr>
        <p:spPr>
          <a:xfrm>
            <a:off x="12452728" y="655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02" name="TextBox 201"/>
          <p:cNvSpPr txBox="1"/>
          <p:nvPr/>
        </p:nvSpPr>
        <p:spPr>
          <a:xfrm>
            <a:off x="13602728" y="655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03" name="TextBox 202"/>
          <p:cNvSpPr txBox="1"/>
          <p:nvPr/>
        </p:nvSpPr>
        <p:spPr>
          <a:xfrm>
            <a:off x="10192728" y="6745000"/>
            <a:ext cx="640000" cy="185000"/>
          </a:xfrm>
          <a:prstGeom prst="rect">
            <a:avLst/>
          </a:prstGeom>
          <a:noFill/>
        </p:spPr>
        <p:txBody>
          <a:bodyPr wrap="square" anchor="t" lIns="0" rIns="0" tIns="0" bIns="0">
            <a:spAutoFit/>
          </a:bodyPr>
          <a:lstStyle/>
          <a:p>
            <a:pPr algn="l"/>
            <a:r>
              <a:rPr sz="700" b="0">
                <a:solidFill>
                  <a:srgbClr val="20242A"/>
                </a:solidFill>
                <a:latin typeface="Calibri"/>
              </a:rPr>
              <a:t>21.12 m</a:t>
            </a:r>
          </a:p>
        </p:txBody>
      </p:sp>
      <p:sp>
        <p:nvSpPr>
          <p:cNvPr id="204" name="TextBox 203"/>
          <p:cNvSpPr txBox="1"/>
          <p:nvPr/>
        </p:nvSpPr>
        <p:spPr>
          <a:xfrm>
            <a:off x="10832728" y="674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05" name="TextBox 204"/>
          <p:cNvSpPr txBox="1"/>
          <p:nvPr/>
        </p:nvSpPr>
        <p:spPr>
          <a:xfrm>
            <a:off x="12452728" y="674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06" name="TextBox 205"/>
          <p:cNvSpPr txBox="1"/>
          <p:nvPr/>
        </p:nvSpPr>
        <p:spPr>
          <a:xfrm>
            <a:off x="13602728" y="674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07" name="TextBox 206"/>
          <p:cNvSpPr txBox="1"/>
          <p:nvPr/>
        </p:nvSpPr>
        <p:spPr>
          <a:xfrm>
            <a:off x="10192728" y="6933000"/>
            <a:ext cx="640000" cy="185000"/>
          </a:xfrm>
          <a:prstGeom prst="rect">
            <a:avLst/>
          </a:prstGeom>
          <a:noFill/>
        </p:spPr>
        <p:txBody>
          <a:bodyPr wrap="square" anchor="t" lIns="0" rIns="0" tIns="0" bIns="0">
            <a:spAutoFit/>
          </a:bodyPr>
          <a:lstStyle/>
          <a:p>
            <a:pPr algn="l"/>
            <a:r>
              <a:rPr sz="700" b="0">
                <a:solidFill>
                  <a:srgbClr val="20242A"/>
                </a:solidFill>
                <a:latin typeface="Calibri"/>
              </a:rPr>
              <a:t>20.68 m</a:t>
            </a:r>
          </a:p>
        </p:txBody>
      </p:sp>
      <p:sp>
        <p:nvSpPr>
          <p:cNvPr id="208" name="TextBox 207"/>
          <p:cNvSpPr txBox="1"/>
          <p:nvPr/>
        </p:nvSpPr>
        <p:spPr>
          <a:xfrm>
            <a:off x="10832728" y="693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09" name="TextBox 208"/>
          <p:cNvSpPr txBox="1"/>
          <p:nvPr/>
        </p:nvSpPr>
        <p:spPr>
          <a:xfrm>
            <a:off x="12452728" y="693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0" name="TextBox 209"/>
          <p:cNvSpPr txBox="1"/>
          <p:nvPr/>
        </p:nvSpPr>
        <p:spPr>
          <a:xfrm>
            <a:off x="13602728" y="6933000"/>
            <a:ext cx="900000" cy="185000"/>
          </a:xfrm>
          <a:prstGeom prst="rect">
            <a:avLst/>
          </a:prstGeom>
          <a:noFill/>
        </p:spPr>
        <p:txBody>
          <a:bodyPr wrap="square" anchor="t" lIns="0" rIns="0" tIns="0" bIns="0">
            <a:spAutoFit/>
          </a:bodyPr>
          <a:lstStyle/>
          <a:p>
            <a:pPr algn="l"/>
            <a:r>
              <a:rPr sz="700" b="0">
                <a:solidFill>
                  <a:srgbClr val="A64B00"/>
                </a:solidFill>
                <a:latin typeface="Calibri"/>
              </a:rPr>
              <a:t>0.07 m !</a:t>
            </a:r>
          </a:p>
        </p:txBody>
      </p:sp>
      <p:sp>
        <p:nvSpPr>
          <p:cNvPr id="211" name="TextBox 210"/>
          <p:cNvSpPr txBox="1"/>
          <p:nvPr/>
        </p:nvSpPr>
        <p:spPr>
          <a:xfrm>
            <a:off x="10192728" y="7121000"/>
            <a:ext cx="640000" cy="185000"/>
          </a:xfrm>
          <a:prstGeom prst="rect">
            <a:avLst/>
          </a:prstGeom>
          <a:noFill/>
        </p:spPr>
        <p:txBody>
          <a:bodyPr wrap="square" anchor="t" lIns="0" rIns="0" tIns="0" bIns="0">
            <a:spAutoFit/>
          </a:bodyPr>
          <a:lstStyle/>
          <a:p>
            <a:pPr algn="l"/>
            <a:r>
              <a:rPr sz="700" b="0">
                <a:solidFill>
                  <a:srgbClr val="20242A"/>
                </a:solidFill>
                <a:latin typeface="Calibri"/>
              </a:rPr>
              <a:t>20.57 m</a:t>
            </a:r>
          </a:p>
        </p:txBody>
      </p:sp>
      <p:sp>
        <p:nvSpPr>
          <p:cNvPr id="212" name="TextBox 211"/>
          <p:cNvSpPr txBox="1"/>
          <p:nvPr/>
        </p:nvSpPr>
        <p:spPr>
          <a:xfrm>
            <a:off x="10832728" y="712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3" name="TextBox 212"/>
          <p:cNvSpPr txBox="1"/>
          <p:nvPr/>
        </p:nvSpPr>
        <p:spPr>
          <a:xfrm>
            <a:off x="12452728" y="712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4" name="TextBox 213"/>
          <p:cNvSpPr txBox="1"/>
          <p:nvPr/>
        </p:nvSpPr>
        <p:spPr>
          <a:xfrm>
            <a:off x="13602728" y="712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15" name="TextBox 214"/>
          <p:cNvSpPr txBox="1"/>
          <p:nvPr/>
        </p:nvSpPr>
        <p:spPr>
          <a:xfrm>
            <a:off x="10192728" y="7309000"/>
            <a:ext cx="640000" cy="185000"/>
          </a:xfrm>
          <a:prstGeom prst="rect">
            <a:avLst/>
          </a:prstGeom>
          <a:noFill/>
        </p:spPr>
        <p:txBody>
          <a:bodyPr wrap="square" anchor="t" lIns="0" rIns="0" tIns="0" bIns="0">
            <a:spAutoFit/>
          </a:bodyPr>
          <a:lstStyle/>
          <a:p>
            <a:pPr algn="l"/>
            <a:r>
              <a:rPr sz="700" b="0">
                <a:solidFill>
                  <a:srgbClr val="20242A"/>
                </a:solidFill>
                <a:latin typeface="Calibri"/>
              </a:rPr>
              <a:t>20.47 m</a:t>
            </a:r>
          </a:p>
        </p:txBody>
      </p:sp>
      <p:sp>
        <p:nvSpPr>
          <p:cNvPr id="216" name="TextBox 215"/>
          <p:cNvSpPr txBox="1"/>
          <p:nvPr/>
        </p:nvSpPr>
        <p:spPr>
          <a:xfrm>
            <a:off x="10832728" y="730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7" name="TextBox 216"/>
          <p:cNvSpPr txBox="1"/>
          <p:nvPr/>
        </p:nvSpPr>
        <p:spPr>
          <a:xfrm>
            <a:off x="12452728" y="730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8" name="TextBox 217"/>
          <p:cNvSpPr txBox="1"/>
          <p:nvPr/>
        </p:nvSpPr>
        <p:spPr>
          <a:xfrm>
            <a:off x="13602728" y="730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19" name="TextBox 218"/>
          <p:cNvSpPr txBox="1"/>
          <p:nvPr/>
        </p:nvSpPr>
        <p:spPr>
          <a:xfrm>
            <a:off x="10192728" y="7497000"/>
            <a:ext cx="640000" cy="185000"/>
          </a:xfrm>
          <a:prstGeom prst="rect">
            <a:avLst/>
          </a:prstGeom>
          <a:noFill/>
        </p:spPr>
        <p:txBody>
          <a:bodyPr wrap="square" anchor="t" lIns="0" rIns="0" tIns="0" bIns="0">
            <a:spAutoFit/>
          </a:bodyPr>
          <a:lstStyle/>
          <a:p>
            <a:pPr algn="l"/>
            <a:r>
              <a:rPr sz="700" b="0">
                <a:solidFill>
                  <a:srgbClr val="20242A"/>
                </a:solidFill>
                <a:latin typeface="Calibri"/>
              </a:rPr>
              <a:t>19.24 m</a:t>
            </a:r>
          </a:p>
        </p:txBody>
      </p:sp>
      <p:sp>
        <p:nvSpPr>
          <p:cNvPr id="220" name="TextBox 219"/>
          <p:cNvSpPr txBox="1"/>
          <p:nvPr/>
        </p:nvSpPr>
        <p:spPr>
          <a:xfrm>
            <a:off x="10832728" y="749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1" name="TextBox 220"/>
          <p:cNvSpPr txBox="1"/>
          <p:nvPr/>
        </p:nvSpPr>
        <p:spPr>
          <a:xfrm>
            <a:off x="12452728" y="749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22" name="TextBox 221"/>
          <p:cNvSpPr txBox="1"/>
          <p:nvPr/>
        </p:nvSpPr>
        <p:spPr>
          <a:xfrm>
            <a:off x="13602728" y="749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23" name="TextBox 222"/>
          <p:cNvSpPr txBox="1"/>
          <p:nvPr/>
        </p:nvSpPr>
        <p:spPr>
          <a:xfrm>
            <a:off x="10192728" y="7685000"/>
            <a:ext cx="640000" cy="185000"/>
          </a:xfrm>
          <a:prstGeom prst="rect">
            <a:avLst/>
          </a:prstGeom>
          <a:noFill/>
        </p:spPr>
        <p:txBody>
          <a:bodyPr wrap="square" anchor="t" lIns="0" rIns="0" tIns="0" bIns="0">
            <a:spAutoFit/>
          </a:bodyPr>
          <a:lstStyle/>
          <a:p>
            <a:pPr algn="l"/>
            <a:r>
              <a:rPr sz="700" b="0">
                <a:solidFill>
                  <a:srgbClr val="20242A"/>
                </a:solidFill>
                <a:latin typeface="Calibri"/>
              </a:rPr>
              <a:t>16.34 m</a:t>
            </a:r>
          </a:p>
        </p:txBody>
      </p:sp>
      <p:sp>
        <p:nvSpPr>
          <p:cNvPr id="224" name="TextBox 223"/>
          <p:cNvSpPr txBox="1"/>
          <p:nvPr/>
        </p:nvSpPr>
        <p:spPr>
          <a:xfrm>
            <a:off x="10832728" y="768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5" name="TextBox 224"/>
          <p:cNvSpPr txBox="1"/>
          <p:nvPr/>
        </p:nvSpPr>
        <p:spPr>
          <a:xfrm>
            <a:off x="12452728" y="768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26" name="TextBox 225"/>
          <p:cNvSpPr txBox="1"/>
          <p:nvPr/>
        </p:nvSpPr>
        <p:spPr>
          <a:xfrm>
            <a:off x="13602728" y="768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27" name="TextBox 226"/>
          <p:cNvSpPr txBox="1"/>
          <p:nvPr/>
        </p:nvSpPr>
        <p:spPr>
          <a:xfrm>
            <a:off x="10192728" y="7873000"/>
            <a:ext cx="640000" cy="185000"/>
          </a:xfrm>
          <a:prstGeom prst="rect">
            <a:avLst/>
          </a:prstGeom>
          <a:noFill/>
        </p:spPr>
        <p:txBody>
          <a:bodyPr wrap="square" anchor="t" lIns="0" rIns="0" tIns="0" bIns="0">
            <a:spAutoFit/>
          </a:bodyPr>
          <a:lstStyle/>
          <a:p>
            <a:pPr algn="l"/>
            <a:r>
              <a:rPr sz="700" b="0">
                <a:solidFill>
                  <a:srgbClr val="20242A"/>
                </a:solidFill>
                <a:latin typeface="Calibri"/>
              </a:rPr>
              <a:t>13.46 m</a:t>
            </a:r>
          </a:p>
        </p:txBody>
      </p:sp>
      <p:sp>
        <p:nvSpPr>
          <p:cNvPr id="228" name="TextBox 227"/>
          <p:cNvSpPr txBox="1"/>
          <p:nvPr/>
        </p:nvSpPr>
        <p:spPr>
          <a:xfrm>
            <a:off x="10832728" y="787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9" name="TextBox 228"/>
          <p:cNvSpPr txBox="1"/>
          <p:nvPr/>
        </p:nvSpPr>
        <p:spPr>
          <a:xfrm>
            <a:off x="12452728" y="787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30" name="TextBox 229"/>
          <p:cNvSpPr txBox="1"/>
          <p:nvPr/>
        </p:nvSpPr>
        <p:spPr>
          <a:xfrm>
            <a:off x="13602728" y="787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1" name="TextBox 230"/>
          <p:cNvSpPr txBox="1"/>
          <p:nvPr/>
        </p:nvSpPr>
        <p:spPr>
          <a:xfrm>
            <a:off x="10192728" y="8061000"/>
            <a:ext cx="640000" cy="185000"/>
          </a:xfrm>
          <a:prstGeom prst="rect">
            <a:avLst/>
          </a:prstGeom>
          <a:noFill/>
        </p:spPr>
        <p:txBody>
          <a:bodyPr wrap="square" anchor="t" lIns="0" rIns="0" tIns="0" bIns="0">
            <a:spAutoFit/>
          </a:bodyPr>
          <a:lstStyle/>
          <a:p>
            <a:pPr algn="l"/>
            <a:r>
              <a:rPr sz="700" b="0">
                <a:solidFill>
                  <a:srgbClr val="20242A"/>
                </a:solidFill>
                <a:latin typeface="Calibri"/>
              </a:rPr>
              <a:t>10.65 m</a:t>
            </a:r>
          </a:p>
        </p:txBody>
      </p:sp>
      <p:sp>
        <p:nvSpPr>
          <p:cNvPr id="232" name="TextBox 231"/>
          <p:cNvSpPr txBox="1"/>
          <p:nvPr/>
        </p:nvSpPr>
        <p:spPr>
          <a:xfrm>
            <a:off x="10832728" y="8061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33" name="TextBox 232"/>
          <p:cNvSpPr txBox="1"/>
          <p:nvPr/>
        </p:nvSpPr>
        <p:spPr>
          <a:xfrm>
            <a:off x="12452728" y="8061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34" name="TextBox 233"/>
          <p:cNvSpPr txBox="1"/>
          <p:nvPr/>
        </p:nvSpPr>
        <p:spPr>
          <a:xfrm>
            <a:off x="13602728" y="806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5" name="TextBox 234"/>
          <p:cNvSpPr txBox="1"/>
          <p:nvPr/>
        </p:nvSpPr>
        <p:spPr>
          <a:xfrm>
            <a:off x="10192728" y="8249000"/>
            <a:ext cx="640000" cy="185000"/>
          </a:xfrm>
          <a:prstGeom prst="rect">
            <a:avLst/>
          </a:prstGeom>
          <a:noFill/>
        </p:spPr>
        <p:txBody>
          <a:bodyPr wrap="square" anchor="t" lIns="0" rIns="0" tIns="0" bIns="0">
            <a:spAutoFit/>
          </a:bodyPr>
          <a:lstStyle/>
          <a:p>
            <a:pPr algn="l"/>
            <a:r>
              <a:rPr sz="700" b="0">
                <a:solidFill>
                  <a:srgbClr val="20242A"/>
                </a:solidFill>
                <a:latin typeface="Calibri"/>
              </a:rPr>
              <a:t>7.00 m</a:t>
            </a:r>
          </a:p>
        </p:txBody>
      </p:sp>
      <p:sp>
        <p:nvSpPr>
          <p:cNvPr id="236" name="TextBox 235"/>
          <p:cNvSpPr txBox="1"/>
          <p:nvPr/>
        </p:nvSpPr>
        <p:spPr>
          <a:xfrm>
            <a:off x="10832728" y="8249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237" name="TextBox 236"/>
          <p:cNvSpPr txBox="1"/>
          <p:nvPr/>
        </p:nvSpPr>
        <p:spPr>
          <a:xfrm>
            <a:off x="12452728" y="8249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238" name="TextBox 237"/>
          <p:cNvSpPr txBox="1"/>
          <p:nvPr/>
        </p:nvSpPr>
        <p:spPr>
          <a:xfrm>
            <a:off x="13602728" y="824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9" name="TextBox 238"/>
          <p:cNvSpPr txBox="1"/>
          <p:nvPr/>
        </p:nvSpPr>
        <p:spPr>
          <a:xfrm>
            <a:off x="10192728" y="8437000"/>
            <a:ext cx="640000" cy="185000"/>
          </a:xfrm>
          <a:prstGeom prst="rect">
            <a:avLst/>
          </a:prstGeom>
          <a:noFill/>
        </p:spPr>
        <p:txBody>
          <a:bodyPr wrap="square" anchor="t" lIns="0" rIns="0" tIns="0" bIns="0">
            <a:spAutoFit/>
          </a:bodyPr>
          <a:lstStyle/>
          <a:p>
            <a:pPr algn="l"/>
            <a:r>
              <a:rPr sz="700" b="0">
                <a:solidFill>
                  <a:srgbClr val="20242A"/>
                </a:solidFill>
                <a:latin typeface="Calibri"/>
              </a:rPr>
              <a:t>6.80 m</a:t>
            </a:r>
          </a:p>
        </p:txBody>
      </p:sp>
      <p:sp>
        <p:nvSpPr>
          <p:cNvPr id="240" name="TextBox 239"/>
          <p:cNvSpPr txBox="1"/>
          <p:nvPr/>
        </p:nvSpPr>
        <p:spPr>
          <a:xfrm>
            <a:off x="10832728" y="8437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241" name="TextBox 240"/>
          <p:cNvSpPr txBox="1"/>
          <p:nvPr/>
        </p:nvSpPr>
        <p:spPr>
          <a:xfrm>
            <a:off x="12452728" y="8437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242" name="TextBox 241"/>
          <p:cNvSpPr txBox="1"/>
          <p:nvPr/>
        </p:nvSpPr>
        <p:spPr>
          <a:xfrm>
            <a:off x="13602728" y="843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43" name="TextBox 242"/>
          <p:cNvSpPr txBox="1"/>
          <p:nvPr/>
        </p:nvSpPr>
        <p:spPr>
          <a:xfrm>
            <a:off x="10192728"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244" name="TextBox 24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Spur lengths are drawn-geometry branch lengths at a 0.30 m snap tolerance — not proven pulls. topology.json accompanies this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8 — AS-BUILT AGL ASSET SYMBOL SCHEDULE  ·  TWY E (E4–E6) REV P06</a:t>
            </a:r>
          </a:p>
        </p:txBody>
      </p:sp>
      <p:sp>
        <p:nvSpPr>
          <p:cNvPr id="3" name="Rectangle 2"/>
          <p:cNvSpPr/>
          <p:nvPr/>
        </p:nvSpPr>
        <p:spPr>
          <a:xfrm>
            <a:off x="320040" y="750000"/>
            <a:ext cx="14484033" cy="11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14244033" cy="240000"/>
          </a:xfrm>
          <a:prstGeom prst="rect">
            <a:avLst/>
          </a:prstGeom>
          <a:noFill/>
        </p:spPr>
        <p:txBody>
          <a:bodyPr wrap="square" anchor="t" lIns="0" rIns="0" tIns="0" bIns="0">
            <a:spAutoFit/>
          </a:bodyPr>
          <a:lstStyle/>
          <a:p>
            <a:pPr algn="l"/>
            <a:r>
              <a:rPr sz="1000" b="1">
                <a:solidFill>
                  <a:srgbClr val="1E2761"/>
                </a:solidFill>
                <a:latin typeface="Calibri"/>
              </a:rPr>
              <a:t>HOW TO READ THIS</a:t>
            </a:r>
          </a:p>
        </p:txBody>
      </p:sp>
      <p:sp>
        <p:nvSpPr>
          <p:cNvPr id="5" name="TextBox 4"/>
          <p:cNvSpPr txBox="1"/>
          <p:nvPr/>
        </p:nvSpPr>
        <p:spPr>
          <a:xfrm>
            <a:off x="440040" y="1170000"/>
            <a:ext cx="14244033" cy="650000"/>
          </a:xfrm>
          <a:prstGeom prst="rect">
            <a:avLst/>
          </a:prstGeom>
          <a:noFill/>
        </p:spPr>
        <p:txBody>
          <a:bodyPr wrap="square" anchor="t" lIns="0" rIns="0" tIns="0" bIns="0">
            <a:spAutoFit/>
          </a:bodyPr>
          <a:lstStyle/>
          <a:p>
            <a:pPr algn="l"/>
            <a:r>
              <a:rPr sz="850" b="0">
                <a:solidFill>
                  <a:srgbClr val="20242A"/>
                </a:solidFill>
                <a:latin typeface="Calibri"/>
              </a:rPr>
              <a:t>Circle = light · square = civil chamber · triangle = earthing · filled rectangle = sign foundation. Lights are coloured to the light's own showing: taxiway centreline green, taxiway edge blue, stop bar red, runway guard amber. A dashed outline marks the source drawing's "existing" layer for that family.</a:t>
            </a:r>
          </a:p>
          <a:p>
            <a:pPr algn="l"/>
            <a:r>
              <a:rPr sz="850" b="0">
                <a:solidFill>
                  <a:srgbClr val="20242A"/>
                </a:solidFill>
                <a:latin typeface="Calibri"/>
              </a:rPr>
              <a:t>Asset type is taken from the source-drawing LAYER, never from the label on the sheet. Assets that carry a Rev P05 works-action marker keep that marker instead of a type symbol — their type is in the ID label and in this schedule. Counts are assets inside each sheet frame.</a:t>
            </a:r>
          </a:p>
        </p:txBody>
      </p:sp>
      <p:sp>
        <p:nvSpPr>
          <p:cNvPr id="6" name="Rectangle 5"/>
          <p:cNvSpPr/>
          <p:nvPr/>
        </p:nvSpPr>
        <p:spPr>
          <a:xfrm>
            <a:off x="320040" y="2020000"/>
            <a:ext cx="14484033" cy="814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130000"/>
            <a:ext cx="14244033" cy="240000"/>
          </a:xfrm>
          <a:prstGeom prst="rect">
            <a:avLst/>
          </a:prstGeom>
          <a:noFill/>
        </p:spPr>
        <p:txBody>
          <a:bodyPr wrap="square" anchor="t" lIns="0" rIns="0" tIns="0" bIns="0">
            <a:spAutoFit/>
          </a:bodyPr>
          <a:lstStyle/>
          <a:p>
            <a:pPr algn="l"/>
            <a:r>
              <a:rPr sz="1000" b="1">
                <a:solidFill>
                  <a:srgbClr val="1E2761"/>
                </a:solidFill>
                <a:latin typeface="Calibri"/>
              </a:rPr>
              <a:t>SYMBOL  ·  ASSET TYPE  ·  SOURCE LAYER  ·  COUNT PER SHEET</a:t>
            </a:r>
          </a:p>
        </p:txBody>
      </p:sp>
      <p:sp>
        <p:nvSpPr>
          <p:cNvPr id="8" name="TextBox 7"/>
          <p:cNvSpPr txBox="1"/>
          <p:nvPr/>
        </p:nvSpPr>
        <p:spPr>
          <a:xfrm>
            <a:off x="460040" y="2500000"/>
            <a:ext cx="520000" cy="220000"/>
          </a:xfrm>
          <a:prstGeom prst="rect">
            <a:avLst/>
          </a:prstGeom>
          <a:noFill/>
        </p:spPr>
        <p:txBody>
          <a:bodyPr wrap="square" anchor="t" lIns="0" rIns="0" tIns="0" bIns="0">
            <a:spAutoFit/>
          </a:bodyPr>
          <a:lstStyle/>
          <a:p>
            <a:pPr algn="l"/>
            <a:r>
              <a:rPr sz="750" b="1">
                <a:solidFill>
                  <a:srgbClr val="5F6368"/>
                </a:solidFill>
                <a:latin typeface="Calibri"/>
              </a:rPr>
              <a:t>Symbol</a:t>
            </a:r>
          </a:p>
        </p:txBody>
      </p:sp>
      <p:sp>
        <p:nvSpPr>
          <p:cNvPr id="9" name="TextBox 8"/>
          <p:cNvSpPr txBox="1"/>
          <p:nvPr/>
        </p:nvSpPr>
        <p:spPr>
          <a:xfrm>
            <a:off x="980040" y="2500000"/>
            <a:ext cx="3900000" cy="220000"/>
          </a:xfrm>
          <a:prstGeom prst="rect">
            <a:avLst/>
          </a:prstGeom>
          <a:noFill/>
        </p:spPr>
        <p:txBody>
          <a:bodyPr wrap="square" anchor="t" lIns="0" rIns="0" tIns="0" bIns="0">
            <a:spAutoFit/>
          </a:bodyPr>
          <a:lstStyle/>
          <a:p>
            <a:pPr algn="l"/>
            <a:r>
              <a:rPr sz="750" b="1">
                <a:solidFill>
                  <a:srgbClr val="5F6368"/>
                </a:solidFill>
                <a:latin typeface="Calibri"/>
              </a:rPr>
              <a:t>Asset type</a:t>
            </a:r>
          </a:p>
        </p:txBody>
      </p:sp>
      <p:sp>
        <p:nvSpPr>
          <p:cNvPr id="10" name="TextBox 9"/>
          <p:cNvSpPr txBox="1"/>
          <p:nvPr/>
        </p:nvSpPr>
        <p:spPr>
          <a:xfrm>
            <a:off x="4880040" y="2500000"/>
            <a:ext cx="4400000" cy="220000"/>
          </a:xfrm>
          <a:prstGeom prst="rect">
            <a:avLst/>
          </a:prstGeom>
          <a:noFill/>
        </p:spPr>
        <p:txBody>
          <a:bodyPr wrap="square" anchor="t" lIns="0" rIns="0" tIns="0" bIns="0">
            <a:spAutoFit/>
          </a:bodyPr>
          <a:lstStyle/>
          <a:p>
            <a:pPr algn="l"/>
            <a:r>
              <a:rPr sz="750" b="1">
                <a:solidFill>
                  <a:srgbClr val="5F6368"/>
                </a:solidFill>
                <a:latin typeface="Calibri"/>
              </a:rPr>
              <a:t>Source drawing layer(s)</a:t>
            </a:r>
          </a:p>
        </p:txBody>
      </p:sp>
      <p:sp>
        <p:nvSpPr>
          <p:cNvPr id="11" name="TextBox 10"/>
          <p:cNvSpPr txBox="1"/>
          <p:nvPr/>
        </p:nvSpPr>
        <p:spPr>
          <a:xfrm>
            <a:off x="928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LOC-01</a:t>
            </a:r>
          </a:p>
        </p:txBody>
      </p:sp>
      <p:sp>
        <p:nvSpPr>
          <p:cNvPr id="12" name="TextBox 11"/>
          <p:cNvSpPr txBox="1"/>
          <p:nvPr/>
        </p:nvSpPr>
        <p:spPr>
          <a:xfrm>
            <a:off x="1006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LOC-02</a:t>
            </a:r>
          </a:p>
        </p:txBody>
      </p:sp>
      <p:sp>
        <p:nvSpPr>
          <p:cNvPr id="13" name="TextBox 12"/>
          <p:cNvSpPr txBox="1"/>
          <p:nvPr/>
        </p:nvSpPr>
        <p:spPr>
          <a:xfrm>
            <a:off x="1084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LOC-03</a:t>
            </a:r>
          </a:p>
        </p:txBody>
      </p:sp>
      <p:sp>
        <p:nvSpPr>
          <p:cNvPr id="14" name="TextBox 13"/>
          <p:cNvSpPr txBox="1"/>
          <p:nvPr/>
        </p:nvSpPr>
        <p:spPr>
          <a:xfrm>
            <a:off x="11620040" y="2500000"/>
            <a:ext cx="900000" cy="220000"/>
          </a:xfrm>
          <a:prstGeom prst="rect">
            <a:avLst/>
          </a:prstGeom>
          <a:noFill/>
        </p:spPr>
        <p:txBody>
          <a:bodyPr wrap="square" anchor="t" lIns="0" rIns="0" tIns="0" bIns="0">
            <a:spAutoFit/>
          </a:bodyPr>
          <a:lstStyle/>
          <a:p>
            <a:pPr algn="l"/>
            <a:r>
              <a:rPr sz="750" b="1">
                <a:solidFill>
                  <a:srgbClr val="5F6368"/>
                </a:solidFill>
                <a:latin typeface="Calibri"/>
              </a:rPr>
              <a:t>Total in frame</a:t>
            </a:r>
          </a:p>
        </p:txBody>
      </p:sp>
      <p:sp>
        <p:nvSpPr>
          <p:cNvPr id="15" name="ASBUILT ASSET · Taxiway centreline light"/>
          <p:cNvSpPr/>
          <p:nvPr/>
        </p:nvSpPr>
        <p:spPr>
          <a:xfrm>
            <a:off x="594320" y="284428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0040" y="2800000"/>
            <a:ext cx="3900000" cy="210000"/>
          </a:xfrm>
          <a:prstGeom prst="rect">
            <a:avLst/>
          </a:prstGeom>
          <a:noFill/>
        </p:spPr>
        <p:txBody>
          <a:bodyPr wrap="square" anchor="t" lIns="0" rIns="0" tIns="0" bIns="0">
            <a:spAutoFit/>
          </a:bodyPr>
          <a:lstStyle/>
          <a:p>
            <a:pPr algn="l"/>
            <a:r>
              <a:rPr sz="800" b="0">
                <a:solidFill>
                  <a:srgbClr val="20242A"/>
                </a:solidFill>
                <a:latin typeface="Calibri"/>
              </a:rPr>
              <a:t>TWY CENTRELINE LIGHT</a:t>
            </a:r>
          </a:p>
        </p:txBody>
      </p:sp>
      <p:sp>
        <p:nvSpPr>
          <p:cNvPr id="17" name="TextBox 16"/>
          <p:cNvSpPr txBox="1"/>
          <p:nvPr/>
        </p:nvSpPr>
        <p:spPr>
          <a:xfrm>
            <a:off x="4880040" y="2800000"/>
            <a:ext cx="4400000" cy="210000"/>
          </a:xfrm>
          <a:prstGeom prst="rect">
            <a:avLst/>
          </a:prstGeom>
          <a:noFill/>
        </p:spPr>
        <p:txBody>
          <a:bodyPr wrap="square" anchor="t" lIns="0" rIns="0" tIns="0" bIns="0">
            <a:spAutoFit/>
          </a:bodyPr>
          <a:lstStyle/>
          <a:p>
            <a:pPr algn="l"/>
            <a:r>
              <a:rPr sz="800" b="0">
                <a:solidFill>
                  <a:srgbClr val="20242A"/>
                </a:solidFill>
                <a:latin typeface="Calibri"/>
              </a:rPr>
              <a:t>EL-TAXICL</a:t>
            </a:r>
          </a:p>
        </p:txBody>
      </p:sp>
      <p:sp>
        <p:nvSpPr>
          <p:cNvPr id="18" name="TextBox 17"/>
          <p:cNvSpPr txBox="1"/>
          <p:nvPr/>
        </p:nvSpPr>
        <p:spPr>
          <a:xfrm>
            <a:off x="928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31</a:t>
            </a:r>
          </a:p>
        </p:txBody>
      </p:sp>
      <p:sp>
        <p:nvSpPr>
          <p:cNvPr id="19" name="TextBox 18"/>
          <p:cNvSpPr txBox="1"/>
          <p:nvPr/>
        </p:nvSpPr>
        <p:spPr>
          <a:xfrm>
            <a:off x="1006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20" name="TextBox 19"/>
          <p:cNvSpPr txBox="1"/>
          <p:nvPr/>
        </p:nvSpPr>
        <p:spPr>
          <a:xfrm>
            <a:off x="1084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23</a:t>
            </a:r>
          </a:p>
        </p:txBody>
      </p:sp>
      <p:sp>
        <p:nvSpPr>
          <p:cNvPr id="21" name="TextBox 20"/>
          <p:cNvSpPr txBox="1"/>
          <p:nvPr/>
        </p:nvSpPr>
        <p:spPr>
          <a:xfrm>
            <a:off x="11620040" y="2800000"/>
            <a:ext cx="900000" cy="210000"/>
          </a:xfrm>
          <a:prstGeom prst="rect">
            <a:avLst/>
          </a:prstGeom>
          <a:noFill/>
        </p:spPr>
        <p:txBody>
          <a:bodyPr wrap="square" anchor="t" lIns="0" rIns="0" tIns="0" bIns="0">
            <a:spAutoFit/>
          </a:bodyPr>
          <a:lstStyle/>
          <a:p>
            <a:pPr algn="l"/>
            <a:r>
              <a:rPr sz="800" b="0">
                <a:solidFill>
                  <a:srgbClr val="20242A"/>
                </a:solidFill>
                <a:latin typeface="Calibri"/>
              </a:rPr>
              <a:t>63</a:t>
            </a:r>
          </a:p>
        </p:txBody>
      </p:sp>
      <p:sp>
        <p:nvSpPr>
          <p:cNvPr id="22" name="ASBUILT ASSET · Taxiway edge light"/>
          <p:cNvSpPr/>
          <p:nvPr/>
        </p:nvSpPr>
        <p:spPr>
          <a:xfrm>
            <a:off x="594320" y="3144280"/>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0040" y="3100000"/>
            <a:ext cx="3900000" cy="210000"/>
          </a:xfrm>
          <a:prstGeom prst="rect">
            <a:avLst/>
          </a:prstGeom>
          <a:noFill/>
        </p:spPr>
        <p:txBody>
          <a:bodyPr wrap="square" anchor="t" lIns="0" rIns="0" tIns="0" bIns="0">
            <a:spAutoFit/>
          </a:bodyPr>
          <a:lstStyle/>
          <a:p>
            <a:pPr algn="l"/>
            <a:r>
              <a:rPr sz="800" b="0">
                <a:solidFill>
                  <a:srgbClr val="20242A"/>
                </a:solidFill>
                <a:latin typeface="Calibri"/>
              </a:rPr>
              <a:t>TWY EDGE LIGHT</a:t>
            </a:r>
          </a:p>
        </p:txBody>
      </p:sp>
      <p:sp>
        <p:nvSpPr>
          <p:cNvPr id="24" name="TextBox 23"/>
          <p:cNvSpPr txBox="1"/>
          <p:nvPr/>
        </p:nvSpPr>
        <p:spPr>
          <a:xfrm>
            <a:off x="4880040" y="3100000"/>
            <a:ext cx="4400000" cy="210000"/>
          </a:xfrm>
          <a:prstGeom prst="rect">
            <a:avLst/>
          </a:prstGeom>
          <a:noFill/>
        </p:spPr>
        <p:txBody>
          <a:bodyPr wrap="square" anchor="t" lIns="0" rIns="0" tIns="0" bIns="0">
            <a:spAutoFit/>
          </a:bodyPr>
          <a:lstStyle/>
          <a:p>
            <a:pPr algn="l"/>
            <a:r>
              <a:rPr sz="800" b="0">
                <a:solidFill>
                  <a:srgbClr val="20242A"/>
                </a:solidFill>
                <a:latin typeface="Calibri"/>
              </a:rPr>
              <a:t>EL-TAXIWAY EDGE</a:t>
            </a:r>
          </a:p>
        </p:txBody>
      </p:sp>
      <p:sp>
        <p:nvSpPr>
          <p:cNvPr id="25" name="TextBox 24"/>
          <p:cNvSpPr txBox="1"/>
          <p:nvPr/>
        </p:nvSpPr>
        <p:spPr>
          <a:xfrm>
            <a:off x="928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26" name="TextBox 25"/>
          <p:cNvSpPr txBox="1"/>
          <p:nvPr/>
        </p:nvSpPr>
        <p:spPr>
          <a:xfrm>
            <a:off x="1006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27" name="TextBox 26"/>
          <p:cNvSpPr txBox="1"/>
          <p:nvPr/>
        </p:nvSpPr>
        <p:spPr>
          <a:xfrm>
            <a:off x="1084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28" name="TextBox 27"/>
          <p:cNvSpPr txBox="1"/>
          <p:nvPr/>
        </p:nvSpPr>
        <p:spPr>
          <a:xfrm>
            <a:off x="11620040" y="31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29" name="ASBUILT ASSET · Stop bar light"/>
          <p:cNvSpPr/>
          <p:nvPr/>
        </p:nvSpPr>
        <p:spPr>
          <a:xfrm>
            <a:off x="594320" y="3444280"/>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0040" y="3400000"/>
            <a:ext cx="3900000" cy="210000"/>
          </a:xfrm>
          <a:prstGeom prst="rect">
            <a:avLst/>
          </a:prstGeom>
          <a:noFill/>
        </p:spPr>
        <p:txBody>
          <a:bodyPr wrap="square" anchor="t" lIns="0" rIns="0" tIns="0" bIns="0">
            <a:spAutoFit/>
          </a:bodyPr>
          <a:lstStyle/>
          <a:p>
            <a:pPr algn="l"/>
            <a:r>
              <a:rPr sz="800" b="0">
                <a:solidFill>
                  <a:srgbClr val="20242A"/>
                </a:solidFill>
                <a:latin typeface="Calibri"/>
              </a:rPr>
              <a:t>STOP BAR LIGHT</a:t>
            </a:r>
          </a:p>
        </p:txBody>
      </p:sp>
      <p:sp>
        <p:nvSpPr>
          <p:cNvPr id="31" name="TextBox 30"/>
          <p:cNvSpPr txBox="1"/>
          <p:nvPr/>
        </p:nvSpPr>
        <p:spPr>
          <a:xfrm>
            <a:off x="4880040" y="3400000"/>
            <a:ext cx="4400000" cy="210000"/>
          </a:xfrm>
          <a:prstGeom prst="rect">
            <a:avLst/>
          </a:prstGeom>
          <a:noFill/>
        </p:spPr>
        <p:txBody>
          <a:bodyPr wrap="square" anchor="t" lIns="0" rIns="0" tIns="0" bIns="0">
            <a:spAutoFit/>
          </a:bodyPr>
          <a:lstStyle/>
          <a:p>
            <a:pPr algn="l"/>
            <a:r>
              <a:rPr sz="800" b="0">
                <a:solidFill>
                  <a:srgbClr val="20242A"/>
                </a:solidFill>
                <a:latin typeface="Calibri"/>
              </a:rPr>
              <a:t>EL-STOPBAR</a:t>
            </a:r>
          </a:p>
        </p:txBody>
      </p:sp>
      <p:sp>
        <p:nvSpPr>
          <p:cNvPr id="32" name="TextBox 31"/>
          <p:cNvSpPr txBox="1"/>
          <p:nvPr/>
        </p:nvSpPr>
        <p:spPr>
          <a:xfrm>
            <a:off x="928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33" name="TextBox 32"/>
          <p:cNvSpPr txBox="1"/>
          <p:nvPr/>
        </p:nvSpPr>
        <p:spPr>
          <a:xfrm>
            <a:off x="1006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34" name="TextBox 33"/>
          <p:cNvSpPr txBox="1"/>
          <p:nvPr/>
        </p:nvSpPr>
        <p:spPr>
          <a:xfrm>
            <a:off x="1084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35" name="TextBox 34"/>
          <p:cNvSpPr txBox="1"/>
          <p:nvPr/>
        </p:nvSpPr>
        <p:spPr>
          <a:xfrm>
            <a:off x="11620040" y="3400000"/>
            <a:ext cx="900000" cy="210000"/>
          </a:xfrm>
          <a:prstGeom prst="rect">
            <a:avLst/>
          </a:prstGeom>
          <a:noFill/>
        </p:spPr>
        <p:txBody>
          <a:bodyPr wrap="square" anchor="t" lIns="0" rIns="0" tIns="0" bIns="0">
            <a:spAutoFit/>
          </a:bodyPr>
          <a:lstStyle/>
          <a:p>
            <a:pPr algn="l"/>
            <a:r>
              <a:rPr sz="800" b="0">
                <a:solidFill>
                  <a:srgbClr val="20242A"/>
                </a:solidFill>
                <a:latin typeface="Calibri"/>
              </a:rPr>
              <a:t>16</a:t>
            </a:r>
          </a:p>
        </p:txBody>
      </p:sp>
      <p:sp>
        <p:nvSpPr>
          <p:cNvPr id="36" name="ASBUILT ASSET · Runway guard light / RRM"/>
          <p:cNvSpPr/>
          <p:nvPr/>
        </p:nvSpPr>
        <p:spPr>
          <a:xfrm>
            <a:off x="589748" y="373970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0040" y="3700000"/>
            <a:ext cx="3900000" cy="210000"/>
          </a:xfrm>
          <a:prstGeom prst="rect">
            <a:avLst/>
          </a:prstGeom>
          <a:noFill/>
        </p:spPr>
        <p:txBody>
          <a:bodyPr wrap="square" anchor="t" lIns="0" rIns="0" tIns="0" bIns="0">
            <a:spAutoFit/>
          </a:bodyPr>
          <a:lstStyle/>
          <a:p>
            <a:pPr algn="l"/>
            <a:r>
              <a:rPr sz="800" b="0">
                <a:solidFill>
                  <a:srgbClr val="20242A"/>
                </a:solidFill>
                <a:latin typeface="Calibri"/>
              </a:rPr>
              <a:t>RUNWAY GUARD LIGHT / RRM</a:t>
            </a:r>
          </a:p>
        </p:txBody>
      </p:sp>
      <p:sp>
        <p:nvSpPr>
          <p:cNvPr id="38" name="TextBox 37"/>
          <p:cNvSpPr txBox="1"/>
          <p:nvPr/>
        </p:nvSpPr>
        <p:spPr>
          <a:xfrm>
            <a:off x="4880040" y="3700000"/>
            <a:ext cx="4400000" cy="210000"/>
          </a:xfrm>
          <a:prstGeom prst="rect">
            <a:avLst/>
          </a:prstGeom>
          <a:noFill/>
        </p:spPr>
        <p:txBody>
          <a:bodyPr wrap="square" anchor="t" lIns="0" rIns="0" tIns="0" bIns="0">
            <a:spAutoFit/>
          </a:bodyPr>
          <a:lstStyle/>
          <a:p>
            <a:pPr algn="l"/>
            <a:r>
              <a:rPr sz="800" b="0">
                <a:solidFill>
                  <a:srgbClr val="20242A"/>
                </a:solidFill>
                <a:latin typeface="Calibri"/>
              </a:rPr>
              <a:t>EL-RRM</a:t>
            </a:r>
          </a:p>
        </p:txBody>
      </p:sp>
      <p:sp>
        <p:nvSpPr>
          <p:cNvPr id="39" name="TextBox 38"/>
          <p:cNvSpPr txBox="1"/>
          <p:nvPr/>
        </p:nvSpPr>
        <p:spPr>
          <a:xfrm>
            <a:off x="928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6</a:t>
            </a:r>
          </a:p>
        </p:txBody>
      </p:sp>
      <p:sp>
        <p:nvSpPr>
          <p:cNvPr id="40" name="TextBox 39"/>
          <p:cNvSpPr txBox="1"/>
          <p:nvPr/>
        </p:nvSpPr>
        <p:spPr>
          <a:xfrm>
            <a:off x="1006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5</a:t>
            </a:r>
          </a:p>
        </p:txBody>
      </p:sp>
      <p:sp>
        <p:nvSpPr>
          <p:cNvPr id="41" name="TextBox 40"/>
          <p:cNvSpPr txBox="1"/>
          <p:nvPr/>
        </p:nvSpPr>
        <p:spPr>
          <a:xfrm>
            <a:off x="1084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42" name="TextBox 41"/>
          <p:cNvSpPr txBox="1"/>
          <p:nvPr/>
        </p:nvSpPr>
        <p:spPr>
          <a:xfrm>
            <a:off x="11620040" y="37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43" name="ASBUILT ASSET · Existing light base"/>
          <p:cNvSpPr/>
          <p:nvPr/>
        </p:nvSpPr>
        <p:spPr>
          <a:xfrm>
            <a:off x="589748" y="4039708"/>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0040" y="4000000"/>
            <a:ext cx="3900000" cy="210000"/>
          </a:xfrm>
          <a:prstGeom prst="rect">
            <a:avLst/>
          </a:prstGeom>
          <a:noFill/>
        </p:spPr>
        <p:txBody>
          <a:bodyPr wrap="square" anchor="t" lIns="0" rIns="0" tIns="0" bIns="0">
            <a:spAutoFit/>
          </a:bodyPr>
          <a:lstStyle/>
          <a:p>
            <a:pPr algn="l"/>
            <a:r>
              <a:rPr sz="800" b="0">
                <a:solidFill>
                  <a:srgbClr val="20242A"/>
                </a:solidFill>
                <a:latin typeface="Calibri"/>
              </a:rPr>
              <a:t>EXISTING LIGHT BASE (NO FITTING)</a:t>
            </a:r>
          </a:p>
        </p:txBody>
      </p:sp>
      <p:sp>
        <p:nvSpPr>
          <p:cNvPr id="45" name="TextBox 44"/>
          <p:cNvSpPr txBox="1"/>
          <p:nvPr/>
        </p:nvSpPr>
        <p:spPr>
          <a:xfrm>
            <a:off x="4880040" y="4000000"/>
            <a:ext cx="4400000" cy="210000"/>
          </a:xfrm>
          <a:prstGeom prst="rect">
            <a:avLst/>
          </a:prstGeom>
          <a:noFill/>
        </p:spPr>
        <p:txBody>
          <a:bodyPr wrap="square" anchor="t" lIns="0" rIns="0" tIns="0" bIns="0">
            <a:spAutoFit/>
          </a:bodyPr>
          <a:lstStyle/>
          <a:p>
            <a:pPr algn="l"/>
            <a:r>
              <a:rPr sz="800" b="0">
                <a:solidFill>
                  <a:srgbClr val="20242A"/>
                </a:solidFill>
                <a:latin typeface="Calibri"/>
              </a:rPr>
              <a:t>EL-EBASE</a:t>
            </a:r>
          </a:p>
        </p:txBody>
      </p:sp>
      <p:sp>
        <p:nvSpPr>
          <p:cNvPr id="46" name="TextBox 45"/>
          <p:cNvSpPr txBox="1"/>
          <p:nvPr/>
        </p:nvSpPr>
        <p:spPr>
          <a:xfrm>
            <a:off x="928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47" name="TextBox 46"/>
          <p:cNvSpPr txBox="1"/>
          <p:nvPr/>
        </p:nvSpPr>
        <p:spPr>
          <a:xfrm>
            <a:off x="1006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48" name="TextBox 47"/>
          <p:cNvSpPr txBox="1"/>
          <p:nvPr/>
        </p:nvSpPr>
        <p:spPr>
          <a:xfrm>
            <a:off x="1084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49" name="TextBox 48"/>
          <p:cNvSpPr txBox="1"/>
          <p:nvPr/>
        </p:nvSpPr>
        <p:spPr>
          <a:xfrm>
            <a:off x="11620040" y="40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50" name="ASBUILT ASSET · Sign foundation"/>
          <p:cNvSpPr/>
          <p:nvPr/>
        </p:nvSpPr>
        <p:spPr>
          <a:xfrm>
            <a:off x="589748" y="4339708"/>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0040" y="4300000"/>
            <a:ext cx="3900000" cy="210000"/>
          </a:xfrm>
          <a:prstGeom prst="rect">
            <a:avLst/>
          </a:prstGeom>
          <a:noFill/>
        </p:spPr>
        <p:txBody>
          <a:bodyPr wrap="square" anchor="t" lIns="0" rIns="0" tIns="0" bIns="0">
            <a:spAutoFit/>
          </a:bodyPr>
          <a:lstStyle/>
          <a:p>
            <a:pPr algn="l"/>
            <a:r>
              <a:rPr sz="800" b="0">
                <a:solidFill>
                  <a:srgbClr val="20242A"/>
                </a:solidFill>
                <a:latin typeface="Calibri"/>
              </a:rPr>
              <a:t>SIGN FOUNDATION</a:t>
            </a:r>
          </a:p>
        </p:txBody>
      </p:sp>
      <p:sp>
        <p:nvSpPr>
          <p:cNvPr id="52" name="TextBox 51"/>
          <p:cNvSpPr txBox="1"/>
          <p:nvPr/>
        </p:nvSpPr>
        <p:spPr>
          <a:xfrm>
            <a:off x="4880040" y="4300000"/>
            <a:ext cx="4400000" cy="210000"/>
          </a:xfrm>
          <a:prstGeom prst="rect">
            <a:avLst/>
          </a:prstGeom>
          <a:noFill/>
        </p:spPr>
        <p:txBody>
          <a:bodyPr wrap="square" anchor="t" lIns="0" rIns="0" tIns="0" bIns="0">
            <a:spAutoFit/>
          </a:bodyPr>
          <a:lstStyle/>
          <a:p>
            <a:pPr algn="l"/>
            <a:r>
              <a:rPr sz="800" b="0">
                <a:solidFill>
                  <a:srgbClr val="20242A"/>
                </a:solidFill>
                <a:latin typeface="Calibri"/>
              </a:rPr>
              <a:t>EL-SGN-FNDTN</a:t>
            </a:r>
          </a:p>
        </p:txBody>
      </p:sp>
      <p:sp>
        <p:nvSpPr>
          <p:cNvPr id="53" name="TextBox 52"/>
          <p:cNvSpPr txBox="1"/>
          <p:nvPr/>
        </p:nvSpPr>
        <p:spPr>
          <a:xfrm>
            <a:off x="928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54" name="TextBox 53"/>
          <p:cNvSpPr txBox="1"/>
          <p:nvPr/>
        </p:nvSpPr>
        <p:spPr>
          <a:xfrm>
            <a:off x="1006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55" name="TextBox 54"/>
          <p:cNvSpPr txBox="1"/>
          <p:nvPr/>
        </p:nvSpPr>
        <p:spPr>
          <a:xfrm>
            <a:off x="1084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56" name="TextBox 55"/>
          <p:cNvSpPr txBox="1"/>
          <p:nvPr/>
        </p:nvSpPr>
        <p:spPr>
          <a:xfrm>
            <a:off x="11620040" y="43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57" name="ASBUILT ASSET · Handhole"/>
          <p:cNvSpPr/>
          <p:nvPr/>
        </p:nvSpPr>
        <p:spPr>
          <a:xfrm>
            <a:off x="576032" y="4625992"/>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0040" y="4600000"/>
            <a:ext cx="3900000" cy="210000"/>
          </a:xfrm>
          <a:prstGeom prst="rect">
            <a:avLst/>
          </a:prstGeom>
          <a:noFill/>
        </p:spPr>
        <p:txBody>
          <a:bodyPr wrap="square" anchor="t" lIns="0" rIns="0" tIns="0" bIns="0">
            <a:spAutoFit/>
          </a:bodyPr>
          <a:lstStyle/>
          <a:p>
            <a:pPr algn="l"/>
            <a:r>
              <a:rPr sz="800" b="0">
                <a:solidFill>
                  <a:srgbClr val="20242A"/>
                </a:solidFill>
                <a:latin typeface="Calibri"/>
              </a:rPr>
              <a:t>HANDHOLE (HH)</a:t>
            </a:r>
          </a:p>
        </p:txBody>
      </p:sp>
      <p:sp>
        <p:nvSpPr>
          <p:cNvPr id="59" name="TextBox 58"/>
          <p:cNvSpPr txBox="1"/>
          <p:nvPr/>
        </p:nvSpPr>
        <p:spPr>
          <a:xfrm>
            <a:off x="4880040" y="4600000"/>
            <a:ext cx="4400000" cy="210000"/>
          </a:xfrm>
          <a:prstGeom prst="rect">
            <a:avLst/>
          </a:prstGeom>
          <a:noFill/>
        </p:spPr>
        <p:txBody>
          <a:bodyPr wrap="square" anchor="t" lIns="0" rIns="0" tIns="0" bIns="0">
            <a:spAutoFit/>
          </a:bodyPr>
          <a:lstStyle/>
          <a:p>
            <a:pPr algn="l"/>
            <a:r>
              <a:rPr sz="800" b="0">
                <a:solidFill>
                  <a:srgbClr val="20242A"/>
                </a:solidFill>
                <a:latin typeface="Calibri"/>
              </a:rPr>
              <a:t>CV_HH</a:t>
            </a:r>
          </a:p>
        </p:txBody>
      </p:sp>
      <p:sp>
        <p:nvSpPr>
          <p:cNvPr id="60" name="TextBox 59"/>
          <p:cNvSpPr txBox="1"/>
          <p:nvPr/>
        </p:nvSpPr>
        <p:spPr>
          <a:xfrm>
            <a:off x="928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11</a:t>
            </a:r>
          </a:p>
        </p:txBody>
      </p:sp>
      <p:sp>
        <p:nvSpPr>
          <p:cNvPr id="61" name="TextBox 60"/>
          <p:cNvSpPr txBox="1"/>
          <p:nvPr/>
        </p:nvSpPr>
        <p:spPr>
          <a:xfrm>
            <a:off x="1006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62" name="TextBox 61"/>
          <p:cNvSpPr txBox="1"/>
          <p:nvPr/>
        </p:nvSpPr>
        <p:spPr>
          <a:xfrm>
            <a:off x="1084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7</a:t>
            </a:r>
          </a:p>
        </p:txBody>
      </p:sp>
      <p:sp>
        <p:nvSpPr>
          <p:cNvPr id="63" name="TextBox 62"/>
          <p:cNvSpPr txBox="1"/>
          <p:nvPr/>
        </p:nvSpPr>
        <p:spPr>
          <a:xfrm>
            <a:off x="11620040" y="46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64" name="ASBUILT ASSET · Existing transformer handhole"/>
          <p:cNvSpPr/>
          <p:nvPr/>
        </p:nvSpPr>
        <p:spPr>
          <a:xfrm>
            <a:off x="566888" y="491684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0040" y="4900000"/>
            <a:ext cx="3900000" cy="210000"/>
          </a:xfrm>
          <a:prstGeom prst="rect">
            <a:avLst/>
          </a:prstGeom>
          <a:noFill/>
        </p:spPr>
        <p:txBody>
          <a:bodyPr wrap="square" anchor="t" lIns="0" rIns="0" tIns="0" bIns="0">
            <a:spAutoFit/>
          </a:bodyPr>
          <a:lstStyle/>
          <a:p>
            <a:pPr algn="l"/>
            <a:r>
              <a:rPr sz="800" b="0">
                <a:solidFill>
                  <a:srgbClr val="20242A"/>
                </a:solidFill>
                <a:latin typeface="Calibri"/>
              </a:rPr>
              <a:t>TRANSFORMER HANDHOLE (SECONDARY FEED HUB)</a:t>
            </a:r>
          </a:p>
        </p:txBody>
      </p:sp>
      <p:sp>
        <p:nvSpPr>
          <p:cNvPr id="66" name="TextBox 65"/>
          <p:cNvSpPr txBox="1"/>
          <p:nvPr/>
        </p:nvSpPr>
        <p:spPr>
          <a:xfrm>
            <a:off x="4880040" y="4900000"/>
            <a:ext cx="4400000" cy="210000"/>
          </a:xfrm>
          <a:prstGeom prst="rect">
            <a:avLst/>
          </a:prstGeom>
          <a:noFill/>
        </p:spPr>
        <p:txBody>
          <a:bodyPr wrap="square" anchor="t" lIns="0" rIns="0" tIns="0" bIns="0">
            <a:spAutoFit/>
          </a:bodyPr>
          <a:lstStyle/>
          <a:p>
            <a:pPr algn="l"/>
            <a:r>
              <a:rPr sz="800" b="0">
                <a:solidFill>
                  <a:srgbClr val="20242A"/>
                </a:solidFill>
                <a:latin typeface="Calibri"/>
              </a:rPr>
              <a:t>CV_ETRANS HH</a:t>
            </a:r>
          </a:p>
        </p:txBody>
      </p:sp>
      <p:sp>
        <p:nvSpPr>
          <p:cNvPr id="67" name="TextBox 66"/>
          <p:cNvSpPr txBox="1"/>
          <p:nvPr/>
        </p:nvSpPr>
        <p:spPr>
          <a:xfrm>
            <a:off x="928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5</a:t>
            </a:r>
          </a:p>
        </p:txBody>
      </p:sp>
      <p:sp>
        <p:nvSpPr>
          <p:cNvPr id="68" name="TextBox 67"/>
          <p:cNvSpPr txBox="1"/>
          <p:nvPr/>
        </p:nvSpPr>
        <p:spPr>
          <a:xfrm>
            <a:off x="1006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69" name="TextBox 68"/>
          <p:cNvSpPr txBox="1"/>
          <p:nvPr/>
        </p:nvSpPr>
        <p:spPr>
          <a:xfrm>
            <a:off x="1084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0" name="TextBox 69"/>
          <p:cNvSpPr txBox="1"/>
          <p:nvPr/>
        </p:nvSpPr>
        <p:spPr>
          <a:xfrm>
            <a:off x="11620040" y="4900000"/>
            <a:ext cx="90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71" name="ASBUILT ASSET · Manhole"/>
          <p:cNvSpPr/>
          <p:nvPr/>
        </p:nvSpPr>
        <p:spPr>
          <a:xfrm>
            <a:off x="553172" y="5203132"/>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80040" y="5200000"/>
            <a:ext cx="3900000" cy="210000"/>
          </a:xfrm>
          <a:prstGeom prst="rect">
            <a:avLst/>
          </a:prstGeom>
          <a:noFill/>
        </p:spPr>
        <p:txBody>
          <a:bodyPr wrap="square" anchor="t" lIns="0" rIns="0" tIns="0" bIns="0">
            <a:spAutoFit/>
          </a:bodyPr>
          <a:lstStyle/>
          <a:p>
            <a:pPr algn="l"/>
            <a:r>
              <a:rPr sz="800" b="0">
                <a:solidFill>
                  <a:srgbClr val="20242A"/>
                </a:solidFill>
                <a:latin typeface="Calibri"/>
              </a:rPr>
              <a:t>MANHOLE (MH)</a:t>
            </a:r>
          </a:p>
        </p:txBody>
      </p:sp>
      <p:sp>
        <p:nvSpPr>
          <p:cNvPr id="73" name="TextBox 72"/>
          <p:cNvSpPr txBox="1"/>
          <p:nvPr/>
        </p:nvSpPr>
        <p:spPr>
          <a:xfrm>
            <a:off x="4880040" y="5200000"/>
            <a:ext cx="4400000" cy="210000"/>
          </a:xfrm>
          <a:prstGeom prst="rect">
            <a:avLst/>
          </a:prstGeom>
          <a:noFill/>
        </p:spPr>
        <p:txBody>
          <a:bodyPr wrap="square" anchor="t" lIns="0" rIns="0" tIns="0" bIns="0">
            <a:spAutoFit/>
          </a:bodyPr>
          <a:lstStyle/>
          <a:p>
            <a:pPr algn="l"/>
            <a:r>
              <a:rPr sz="800" b="0">
                <a:solidFill>
                  <a:srgbClr val="20242A"/>
                </a:solidFill>
                <a:latin typeface="Calibri"/>
              </a:rPr>
              <a:t>CV_MH</a:t>
            </a:r>
          </a:p>
        </p:txBody>
      </p:sp>
      <p:sp>
        <p:nvSpPr>
          <p:cNvPr id="74" name="TextBox 73"/>
          <p:cNvSpPr txBox="1"/>
          <p:nvPr/>
        </p:nvSpPr>
        <p:spPr>
          <a:xfrm>
            <a:off x="928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5" name="TextBox 74"/>
          <p:cNvSpPr txBox="1"/>
          <p:nvPr/>
        </p:nvSpPr>
        <p:spPr>
          <a:xfrm>
            <a:off x="1006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76" name="TextBox 75"/>
          <p:cNvSpPr txBox="1"/>
          <p:nvPr/>
        </p:nvSpPr>
        <p:spPr>
          <a:xfrm>
            <a:off x="1084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7" name="TextBox 76"/>
          <p:cNvSpPr txBox="1"/>
          <p:nvPr/>
        </p:nvSpPr>
        <p:spPr>
          <a:xfrm>
            <a:off x="11620040" y="52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78" name="ASBUILT ASSET · Existing transformer manhole"/>
          <p:cNvSpPr/>
          <p:nvPr/>
        </p:nvSpPr>
        <p:spPr>
          <a:xfrm>
            <a:off x="553172" y="5503132"/>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0040" y="5500000"/>
            <a:ext cx="3900000" cy="210000"/>
          </a:xfrm>
          <a:prstGeom prst="rect">
            <a:avLst/>
          </a:prstGeom>
          <a:noFill/>
        </p:spPr>
        <p:txBody>
          <a:bodyPr wrap="square" anchor="t" lIns="0" rIns="0" tIns="0" bIns="0">
            <a:spAutoFit/>
          </a:bodyPr>
          <a:lstStyle/>
          <a:p>
            <a:pPr algn="l"/>
            <a:r>
              <a:rPr sz="800" b="0">
                <a:solidFill>
                  <a:srgbClr val="20242A"/>
                </a:solidFill>
                <a:latin typeface="Calibri"/>
              </a:rPr>
              <a:t>TRANSFORMER MANHOLE (SEC. FEED)</a:t>
            </a:r>
          </a:p>
        </p:txBody>
      </p:sp>
      <p:sp>
        <p:nvSpPr>
          <p:cNvPr id="80" name="TextBox 79"/>
          <p:cNvSpPr txBox="1"/>
          <p:nvPr/>
        </p:nvSpPr>
        <p:spPr>
          <a:xfrm>
            <a:off x="4880040" y="5500000"/>
            <a:ext cx="4400000" cy="210000"/>
          </a:xfrm>
          <a:prstGeom prst="rect">
            <a:avLst/>
          </a:prstGeom>
          <a:noFill/>
        </p:spPr>
        <p:txBody>
          <a:bodyPr wrap="square" anchor="t" lIns="0" rIns="0" tIns="0" bIns="0">
            <a:spAutoFit/>
          </a:bodyPr>
          <a:lstStyle/>
          <a:p>
            <a:pPr algn="l"/>
            <a:r>
              <a:rPr sz="800" b="0">
                <a:solidFill>
                  <a:srgbClr val="20242A"/>
                </a:solidFill>
                <a:latin typeface="Calibri"/>
              </a:rPr>
              <a:t>CV_ETRANS MH</a:t>
            </a:r>
          </a:p>
        </p:txBody>
      </p:sp>
      <p:sp>
        <p:nvSpPr>
          <p:cNvPr id="81" name="TextBox 80"/>
          <p:cNvSpPr txBox="1"/>
          <p:nvPr/>
        </p:nvSpPr>
        <p:spPr>
          <a:xfrm>
            <a:off x="928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82" name="TextBox 81"/>
          <p:cNvSpPr txBox="1"/>
          <p:nvPr/>
        </p:nvSpPr>
        <p:spPr>
          <a:xfrm>
            <a:off x="1006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83" name="TextBox 82"/>
          <p:cNvSpPr txBox="1"/>
          <p:nvPr/>
        </p:nvSpPr>
        <p:spPr>
          <a:xfrm>
            <a:off x="1084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84" name="TextBox 83"/>
          <p:cNvSpPr txBox="1"/>
          <p:nvPr/>
        </p:nvSpPr>
        <p:spPr>
          <a:xfrm>
            <a:off x="11620040" y="55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85" name="ASBUILT ASSET · Earthing point"/>
          <p:cNvSpPr/>
          <p:nvPr/>
        </p:nvSpPr>
        <p:spPr>
          <a:xfrm>
            <a:off x="598892" y="584885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0040" y="5800000"/>
            <a:ext cx="3900000" cy="210000"/>
          </a:xfrm>
          <a:prstGeom prst="rect">
            <a:avLst/>
          </a:prstGeom>
          <a:noFill/>
        </p:spPr>
        <p:txBody>
          <a:bodyPr wrap="square" anchor="t" lIns="0" rIns="0" tIns="0" bIns="0">
            <a:spAutoFit/>
          </a:bodyPr>
          <a:lstStyle/>
          <a:p>
            <a:pPr algn="l"/>
            <a:r>
              <a:rPr sz="800" b="0">
                <a:solidFill>
                  <a:srgbClr val="20242A"/>
                </a:solidFill>
                <a:latin typeface="Calibri"/>
              </a:rPr>
              <a:t>EARTHING POINT</a:t>
            </a:r>
          </a:p>
        </p:txBody>
      </p:sp>
      <p:sp>
        <p:nvSpPr>
          <p:cNvPr id="87" name="TextBox 86"/>
          <p:cNvSpPr txBox="1"/>
          <p:nvPr/>
        </p:nvSpPr>
        <p:spPr>
          <a:xfrm>
            <a:off x="4880040" y="5800000"/>
            <a:ext cx="4400000" cy="210000"/>
          </a:xfrm>
          <a:prstGeom prst="rect">
            <a:avLst/>
          </a:prstGeom>
          <a:noFill/>
        </p:spPr>
        <p:txBody>
          <a:bodyPr wrap="square" anchor="t" lIns="0" rIns="0" tIns="0" bIns="0">
            <a:spAutoFit/>
          </a:bodyPr>
          <a:lstStyle/>
          <a:p>
            <a:pPr algn="l"/>
            <a:r>
              <a:rPr sz="800" b="0">
                <a:solidFill>
                  <a:srgbClr val="20242A"/>
                </a:solidFill>
                <a:latin typeface="Calibri"/>
              </a:rPr>
              <a:t>CV_GRND</a:t>
            </a:r>
          </a:p>
        </p:txBody>
      </p:sp>
      <p:sp>
        <p:nvSpPr>
          <p:cNvPr id="88" name="TextBox 87"/>
          <p:cNvSpPr txBox="1"/>
          <p:nvPr/>
        </p:nvSpPr>
        <p:spPr>
          <a:xfrm>
            <a:off x="928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10</a:t>
            </a:r>
          </a:p>
        </p:txBody>
      </p:sp>
      <p:sp>
        <p:nvSpPr>
          <p:cNvPr id="89" name="TextBox 88"/>
          <p:cNvSpPr txBox="1"/>
          <p:nvPr/>
        </p:nvSpPr>
        <p:spPr>
          <a:xfrm>
            <a:off x="1006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3</a:t>
            </a:r>
          </a:p>
        </p:txBody>
      </p:sp>
      <p:sp>
        <p:nvSpPr>
          <p:cNvPr id="90" name="TextBox 89"/>
          <p:cNvSpPr txBox="1"/>
          <p:nvPr/>
        </p:nvSpPr>
        <p:spPr>
          <a:xfrm>
            <a:off x="1084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7</a:t>
            </a:r>
          </a:p>
        </p:txBody>
      </p:sp>
      <p:sp>
        <p:nvSpPr>
          <p:cNvPr id="91" name="TextBox 90"/>
          <p:cNvSpPr txBox="1"/>
          <p:nvPr/>
        </p:nvSpPr>
        <p:spPr>
          <a:xfrm>
            <a:off x="11620040" y="58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92" name="ASBUILT ASSET · Earthing pit"/>
          <p:cNvSpPr/>
          <p:nvPr/>
        </p:nvSpPr>
        <p:spPr>
          <a:xfrm>
            <a:off x="589748" y="6139708"/>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0040" y="6100000"/>
            <a:ext cx="3900000" cy="210000"/>
          </a:xfrm>
          <a:prstGeom prst="rect">
            <a:avLst/>
          </a:prstGeom>
          <a:noFill/>
        </p:spPr>
        <p:txBody>
          <a:bodyPr wrap="square" anchor="t" lIns="0" rIns="0" tIns="0" bIns="0">
            <a:spAutoFit/>
          </a:bodyPr>
          <a:lstStyle/>
          <a:p>
            <a:pPr algn="l"/>
            <a:r>
              <a:rPr sz="800" b="0">
                <a:solidFill>
                  <a:srgbClr val="20242A"/>
                </a:solidFill>
                <a:latin typeface="Calibri"/>
              </a:rPr>
              <a:t>EARTHING PIT</a:t>
            </a:r>
          </a:p>
        </p:txBody>
      </p:sp>
      <p:sp>
        <p:nvSpPr>
          <p:cNvPr id="94" name="TextBox 93"/>
          <p:cNvSpPr txBox="1"/>
          <p:nvPr/>
        </p:nvSpPr>
        <p:spPr>
          <a:xfrm>
            <a:off x="4880040" y="6100000"/>
            <a:ext cx="4400000" cy="210000"/>
          </a:xfrm>
          <a:prstGeom prst="rect">
            <a:avLst/>
          </a:prstGeom>
          <a:noFill/>
        </p:spPr>
        <p:txBody>
          <a:bodyPr wrap="square" anchor="t" lIns="0" rIns="0" tIns="0" bIns="0">
            <a:spAutoFit/>
          </a:bodyPr>
          <a:lstStyle/>
          <a:p>
            <a:pPr algn="l"/>
            <a:r>
              <a:rPr sz="800" b="0">
                <a:solidFill>
                  <a:srgbClr val="20242A"/>
                </a:solidFill>
                <a:latin typeface="Calibri"/>
              </a:rPr>
              <a:t>CV_GRND PIT</a:t>
            </a:r>
          </a:p>
        </p:txBody>
      </p:sp>
      <p:sp>
        <p:nvSpPr>
          <p:cNvPr id="95" name="TextBox 94"/>
          <p:cNvSpPr txBox="1"/>
          <p:nvPr/>
        </p:nvSpPr>
        <p:spPr>
          <a:xfrm>
            <a:off x="928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96" name="TextBox 95"/>
          <p:cNvSpPr txBox="1"/>
          <p:nvPr/>
        </p:nvSpPr>
        <p:spPr>
          <a:xfrm>
            <a:off x="1006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97" name="TextBox 96"/>
          <p:cNvSpPr txBox="1"/>
          <p:nvPr/>
        </p:nvSpPr>
        <p:spPr>
          <a:xfrm>
            <a:off x="1084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98" name="TextBox 97"/>
          <p:cNvSpPr txBox="1"/>
          <p:nvPr/>
        </p:nvSpPr>
        <p:spPr>
          <a:xfrm>
            <a:off x="11620040" y="6100000"/>
            <a:ext cx="90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99" name="TextBox 98"/>
          <p:cNvSpPr txBox="1"/>
          <p:nvPr/>
        </p:nvSpPr>
        <p:spPr>
          <a:xfrm>
            <a:off x="980040" y="6390000"/>
            <a:ext cx="3900000" cy="220000"/>
          </a:xfrm>
          <a:prstGeom prst="rect">
            <a:avLst/>
          </a:prstGeom>
          <a:noFill/>
        </p:spPr>
        <p:txBody>
          <a:bodyPr wrap="square" anchor="t" lIns="0" rIns="0" tIns="0" bIns="0">
            <a:spAutoFit/>
          </a:bodyPr>
          <a:lstStyle/>
          <a:p>
            <a:pPr algn="l"/>
            <a:r>
              <a:rPr sz="800" b="1">
                <a:solidFill>
                  <a:srgbClr val="1E2761"/>
                </a:solidFill>
                <a:latin typeface="Calibri"/>
              </a:rPr>
              <a:t>TOTAL — 12 asset types</a:t>
            </a:r>
          </a:p>
        </p:txBody>
      </p:sp>
      <p:sp>
        <p:nvSpPr>
          <p:cNvPr id="100" name="TextBox 99"/>
          <p:cNvSpPr txBox="1"/>
          <p:nvPr/>
        </p:nvSpPr>
        <p:spPr>
          <a:xfrm>
            <a:off x="928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82</a:t>
            </a:r>
          </a:p>
        </p:txBody>
      </p:sp>
      <p:sp>
        <p:nvSpPr>
          <p:cNvPr id="101" name="TextBox 100"/>
          <p:cNvSpPr txBox="1"/>
          <p:nvPr/>
        </p:nvSpPr>
        <p:spPr>
          <a:xfrm>
            <a:off x="1006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21</a:t>
            </a:r>
          </a:p>
        </p:txBody>
      </p:sp>
      <p:sp>
        <p:nvSpPr>
          <p:cNvPr id="102" name="TextBox 101"/>
          <p:cNvSpPr txBox="1"/>
          <p:nvPr/>
        </p:nvSpPr>
        <p:spPr>
          <a:xfrm>
            <a:off x="1084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66</a:t>
            </a:r>
          </a:p>
        </p:txBody>
      </p:sp>
      <p:sp>
        <p:nvSpPr>
          <p:cNvPr id="103" name="TextBox 102"/>
          <p:cNvSpPr txBox="1"/>
          <p:nvPr/>
        </p:nvSpPr>
        <p:spPr>
          <a:xfrm>
            <a:off x="11620040" y="6390000"/>
            <a:ext cx="900000" cy="220000"/>
          </a:xfrm>
          <a:prstGeom prst="rect">
            <a:avLst/>
          </a:prstGeom>
          <a:noFill/>
        </p:spPr>
        <p:txBody>
          <a:bodyPr wrap="square" anchor="t" lIns="0" rIns="0" tIns="0" bIns="0">
            <a:spAutoFit/>
          </a:bodyPr>
          <a:lstStyle/>
          <a:p>
            <a:pPr algn="l"/>
            <a:r>
              <a:rPr sz="800" b="1">
                <a:solidFill>
                  <a:srgbClr val="1E2761"/>
                </a:solidFill>
                <a:latin typeface="Calibri"/>
              </a:rPr>
              <a:t>169</a:t>
            </a:r>
          </a:p>
        </p:txBody>
      </p:sp>
      <p:sp>
        <p:nvSpPr>
          <p:cNvPr id="104" name="TextBox 10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Of these, Rev P05 drew no symbol at all for 42 assets on LOC-01, 12 on LOC-02 and 31 on LOC-03 — they are added in Rev P06 from the as-built and are NOT field-verified. asset_census.json accompanies this deck.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4173200" cy="502920"/>
          </a:xfrm>
          <a:prstGeom prst="rect">
            <a:avLst/>
          </a:prstGeom>
          <a:noFill/>
        </p:spPr>
        <p:txBody>
          <a:bodyPr wrap="square" anchor="ctr" lIns="0" rIns="0">
            <a:spAutoFit/>
          </a:bodyPr>
          <a:lstStyle/>
          <a:p>
            <a:r>
              <a:rPr sz="2000" b="1">
                <a:solidFill>
                  <a:srgbClr val="1E2761"/>
                </a:solidFill>
                <a:latin typeface="Arial"/>
              </a:rPr>
              <a:t>SCOPE OF WORK &amp; SEQUENCE — TWY E (E4–E6)  ·  REV P08 (FINAL SCOPE)</a:t>
            </a:r>
          </a:p>
        </p:txBody>
      </p:sp>
      <p:sp>
        <p:nvSpPr>
          <p:cNvPr id="3" name="P08 PANEL · SCOPE OF WORK — SEQUENCE OF "/>
          <p:cNvSpPr/>
          <p:nvPr/>
        </p:nvSpPr>
        <p:spPr>
          <a:xfrm>
            <a:off x="457200" y="914400"/>
            <a:ext cx="6958584" cy="461289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24128"/>
            <a:ext cx="6665976" cy="237744"/>
          </a:xfrm>
          <a:prstGeom prst="rect">
            <a:avLst/>
          </a:prstGeom>
          <a:noFill/>
        </p:spPr>
        <p:txBody>
          <a:bodyPr wrap="square" lIns="0" rIns="0" tIns="0" bIns="0">
            <a:spAutoFit/>
          </a:bodyPr>
          <a:lstStyle/>
          <a:p>
            <a:r>
              <a:rPr sz="950" b="1">
                <a:solidFill>
                  <a:srgbClr val="1E2761"/>
                </a:solidFill>
                <a:latin typeface="Arial"/>
              </a:rPr>
              <a:t>SCOPE OF WORK — SEQUENCE OF AGL ACTIVITIES</a:t>
            </a:r>
          </a:p>
        </p:txBody>
      </p:sp>
      <p:sp>
        <p:nvSpPr>
          <p:cNvPr id="5" name="TextBox 4"/>
          <p:cNvSpPr txBox="1"/>
          <p:nvPr/>
        </p:nvSpPr>
        <p:spPr>
          <a:xfrm>
            <a:off x="603504" y="1316736"/>
            <a:ext cx="6665976" cy="2212848"/>
          </a:xfrm>
          <a:prstGeom prst="rect">
            <a:avLst/>
          </a:prstGeom>
          <a:noFill/>
        </p:spPr>
        <p:txBody>
          <a:bodyPr wrap="square" lIns="0" rIns="0" tIns="0" bIns="0">
            <a:spAutoFit/>
          </a:bodyPr>
          <a:lstStyle/>
          <a:p>
            <a:pPr>
              <a:spcAft>
                <a:spcPts val="800"/>
              </a:spcAft>
            </a:pPr>
            <a:r>
              <a:rPr sz="1050" b="1">
                <a:solidFill>
                  <a:srgbClr val="1E2761"/>
                </a:solidFill>
                <a:latin typeface="Arial"/>
              </a:rPr>
              <a:t>PRE-ASPHALT — AGL ATTENDANCE</a:t>
            </a:r>
          </a:p>
          <a:p>
            <a:pPr>
              <a:spcAft>
                <a:spcPts val="800"/>
              </a:spcAft>
            </a:pPr>
            <a:r>
              <a:rPr sz="1050" b="0">
                <a:solidFill>
                  <a:srgbClr val="1F2937"/>
                </a:solidFill>
                <a:latin typeface="Arial"/>
              </a:rPr>
              <a:t>A1  Where secondary duct or secondary cable is laid by the civil team, a mandrel test is to be carried out on every duct and witnessed by the AGL team BEFORE asphalt laying. No asphalt to be laid over an unwitnessed duct.</a:t>
            </a:r>
          </a:p>
          <a:p>
            <a:pPr>
              <a:spcAft>
                <a:spcPts val="800"/>
              </a:spcAft>
            </a:pPr>
            <a:r>
              <a:rPr sz="1050" b="1">
                <a:solidFill>
                  <a:srgbClr val="1E2761"/>
                </a:solidFill>
                <a:latin typeface="Arial"/>
              </a:rPr>
              <a:t>POST-ASPHALT — AGL</a:t>
            </a:r>
          </a:p>
          <a:p>
            <a:pPr>
              <a:spcAft>
                <a:spcPts val="800"/>
              </a:spcAft>
            </a:pPr>
            <a:r>
              <a:rPr sz="1050" b="0">
                <a:solidFill>
                  <a:srgbClr val="1F2937"/>
                </a:solidFill>
                <a:latin typeface="Arial"/>
              </a:rPr>
              <a:t>1.  AGL installation works to commence only after written confirmation from the civil team that the asphalt curing period is complete.</a:t>
            </a:r>
          </a:p>
          <a:p>
            <a:pPr>
              <a:spcAft>
                <a:spcPts val="800"/>
              </a:spcAft>
            </a:pPr>
            <a:r>
              <a:rPr sz="1050" b="0">
                <a:solidFill>
                  <a:srgbClr val="1F2937"/>
                </a:solidFill>
                <a:latin typeface="Arial"/>
              </a:rPr>
              <a:t>2.  Coring after setting-out coordinates are issued by the civil survey team — 8" at Location 1 and 12" at Locations 2 and 3. Core diameter per the sheet schedule; do not assume one diameter throughout.</a:t>
            </a:r>
          </a:p>
          <a:p>
            <a:pPr>
              <a:spcAft>
                <a:spcPts val="800"/>
              </a:spcAft>
            </a:pPr>
            <a:r>
              <a:rPr sz="1050" b="0">
                <a:solidFill>
                  <a:srgbClr val="1F2937"/>
                </a:solidFill>
                <a:latin typeface="Arial"/>
              </a:rPr>
              <a:t>3.  Saw cutting to commence only after the survey points are confirmed in the field by the civil survey team, and not before the saw cut detail drawing is issued. At Rev P08 EVERY secondary route at all three locations is saw cut — no duct route remains in the AGL scope.</a:t>
            </a:r>
          </a:p>
          <a:p>
            <a:pPr>
              <a:spcAft>
                <a:spcPts val="800"/>
              </a:spcAft>
            </a:pPr>
            <a:r>
              <a:rPr sz="1050" b="0">
                <a:solidFill>
                  <a:srgbClr val="1F2937"/>
                </a:solidFill>
                <a:latin typeface="Arial"/>
              </a:rPr>
              <a:t>4.  Installation of new bases — SIDE-ENTRY SHALLOW BASE throughout: 8" at Location 1, 12" at Locations 2 and 3. At Location 2 the existing shallow base is cored out first.</a:t>
            </a:r>
          </a:p>
          <a:p>
            <a:pPr>
              <a:spcAft>
                <a:spcPts val="800"/>
              </a:spcAft>
            </a:pPr>
            <a:r>
              <a:rPr sz="1050" b="0">
                <a:solidFill>
                  <a:srgbClr val="1F2937"/>
                </a:solidFill>
                <a:latin typeface="Arial"/>
              </a:rPr>
              <a:t>5.  Laying of new secondary cable through the saw cut. No joints — full manhole-to-light replacement.</a:t>
            </a:r>
          </a:p>
          <a:p>
            <a:pPr>
              <a:spcAft>
                <a:spcPts val="800"/>
              </a:spcAft>
            </a:pPr>
            <a:r>
              <a:rPr sz="1050" b="0">
                <a:solidFill>
                  <a:srgbClr val="1F2937"/>
                </a:solidFill>
                <a:latin typeface="Arial"/>
              </a:rPr>
              <a:t>6.  Secondary cable termination, insulation resistance and continuity testing.</a:t>
            </a:r>
          </a:p>
          <a:p>
            <a:pPr>
              <a:spcAft>
                <a:spcPts val="800"/>
              </a:spcAft>
            </a:pPr>
            <a:r>
              <a:rPr sz="1050" b="0">
                <a:solidFill>
                  <a:srgbClr val="1F2937"/>
                </a:solidFill>
                <a:latin typeface="Arial"/>
              </a:rPr>
              <a:t>7.  Testing and commissioning of all affected circuits.</a:t>
            </a:r>
          </a:p>
          <a:p>
            <a:pPr>
              <a:spcAft>
                <a:spcPts val="800"/>
              </a:spcAft>
            </a:pPr>
            <a:r>
              <a:rPr sz="1050" b="0">
                <a:solidFill>
                  <a:srgbClr val="1F2937"/>
                </a:solidFill>
                <a:latin typeface="Arial"/>
              </a:rPr>
              <a:t>8.  Final functionality check, then handover to Operations for final inspection and return of the area to operational service.</a:t>
            </a:r>
          </a:p>
        </p:txBody>
      </p:sp>
      <p:sp>
        <p:nvSpPr>
          <p:cNvPr id="6" name="P08 PANEL · HOLD POINTS &amp; WITNESS REQUIR"/>
          <p:cNvSpPr/>
          <p:nvPr/>
        </p:nvSpPr>
        <p:spPr>
          <a:xfrm>
            <a:off x="457200" y="5673598"/>
            <a:ext cx="6958584" cy="24399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5783326"/>
            <a:ext cx="6665976" cy="237744"/>
          </a:xfrm>
          <a:prstGeom prst="rect">
            <a:avLst/>
          </a:prstGeom>
          <a:noFill/>
        </p:spPr>
        <p:txBody>
          <a:bodyPr wrap="square" lIns="0" rIns="0" tIns="0" bIns="0">
            <a:spAutoFit/>
          </a:bodyPr>
          <a:lstStyle/>
          <a:p>
            <a:r>
              <a:rPr sz="950" b="1">
                <a:solidFill>
                  <a:srgbClr val="1E2761"/>
                </a:solidFill>
                <a:latin typeface="Arial"/>
              </a:rPr>
              <a:t>HOLD POINTS &amp; WITNESS REQUIREMENTS</a:t>
            </a:r>
          </a:p>
        </p:txBody>
      </p:sp>
      <p:sp>
        <p:nvSpPr>
          <p:cNvPr id="8" name="TextBox 7"/>
          <p:cNvSpPr txBox="1"/>
          <p:nvPr/>
        </p:nvSpPr>
        <p:spPr>
          <a:xfrm>
            <a:off x="603504" y="6075934"/>
            <a:ext cx="6665976" cy="1005840"/>
          </a:xfrm>
          <a:prstGeom prst="rect">
            <a:avLst/>
          </a:prstGeom>
          <a:noFill/>
        </p:spPr>
        <p:txBody>
          <a:bodyPr wrap="square" lIns="0" rIns="0" tIns="0" bIns="0">
            <a:spAutoFit/>
          </a:bodyPr>
          <a:lstStyle/>
          <a:p>
            <a:pPr>
              <a:spcAft>
                <a:spcPts val="900"/>
              </a:spcAft>
            </a:pPr>
            <a:r>
              <a:rPr sz="1050" b="0">
                <a:solidFill>
                  <a:srgbClr val="1F2937"/>
                </a:solidFill>
                <a:latin typeface="Arial"/>
              </a:rPr>
              <a:t>H2   Curing complete — Civil.  Written confirmation of the asphalt curing period before AGL works start (Item 1).</a:t>
            </a:r>
          </a:p>
          <a:p>
            <a:pPr>
              <a:spcAft>
                <a:spcPts val="900"/>
              </a:spcAft>
            </a:pPr>
            <a:r>
              <a:rPr sz="1050" b="0">
                <a:solidFill>
                  <a:srgbClr val="1F2937"/>
                </a:solidFill>
                <a:latin typeface="Arial"/>
              </a:rPr>
              <a:t>H3   Setting-out — Civil survey.  Coordinates issued and field points confirmed before coring (Item 2) and before saw cutting (Item 3).</a:t>
            </a:r>
          </a:p>
          <a:p>
            <a:pPr>
              <a:spcAft>
                <a:spcPts val="900"/>
              </a:spcAft>
            </a:pPr>
            <a:r>
              <a:rPr sz="1050" b="0">
                <a:solidFill>
                  <a:srgbClr val="1F2937"/>
                </a:solidFill>
                <a:latin typeface="Arial"/>
              </a:rPr>
              <a:t>H4   Mandrel test — AGL witness.  Every duct laid by the civil team, before asphalt laying (Item A1).</a:t>
            </a:r>
          </a:p>
          <a:p>
            <a:pPr>
              <a:spcAft>
                <a:spcPts val="900"/>
              </a:spcAft>
            </a:pPr>
            <a:r>
              <a:rPr sz="1050" b="0">
                <a:solidFill>
                  <a:srgbClr val="1F2937"/>
                </a:solidFill>
                <a:latin typeface="Arial"/>
              </a:rPr>
              <a:t>H5   Functionality check — AGL / Operations.  Witnessed before handover (Item 8).</a:t>
            </a:r>
          </a:p>
          <a:p>
            <a:pPr>
              <a:spcAft>
                <a:spcPts val="900"/>
              </a:spcAft>
            </a:pPr>
            <a:r>
              <a:rPr sz="1050" b="0">
                <a:solidFill>
                  <a:srgbClr val="B3261E"/>
                </a:solidFill>
                <a:latin typeface="Arial"/>
              </a:rPr>
              <a:t>H6   Saw cut detail — AGL / Engineer.  No saw cutting before the saw cut and side-entry base detail drawing is issued and accepted (Rev P08).</a:t>
            </a:r>
          </a:p>
        </p:txBody>
      </p:sp>
      <p:sp>
        <p:nvSpPr>
          <p:cNvPr id="9" name="P08 PANEL · TECHNICAL QUERY — CONFIRMATI"/>
          <p:cNvSpPr/>
          <p:nvPr/>
        </p:nvSpPr>
        <p:spPr>
          <a:xfrm>
            <a:off x="7699248" y="914400"/>
            <a:ext cx="6958584" cy="24399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5552" y="1024128"/>
            <a:ext cx="6665976" cy="237744"/>
          </a:xfrm>
          <a:prstGeom prst="rect">
            <a:avLst/>
          </a:prstGeom>
          <a:noFill/>
        </p:spPr>
        <p:txBody>
          <a:bodyPr wrap="square" lIns="0" rIns="0" tIns="0" bIns="0">
            <a:spAutoFit/>
          </a:bodyPr>
          <a:lstStyle/>
          <a:p>
            <a:r>
              <a:rPr sz="950" b="1">
                <a:solidFill>
                  <a:srgbClr val="1E2761"/>
                </a:solidFill>
                <a:latin typeface="Arial"/>
              </a:rPr>
              <a:t>TECHNICAL QUERY — CONFIRMATION REQUIRED (NOT A CONSTRUCTION INSTRUCTION)</a:t>
            </a:r>
          </a:p>
        </p:txBody>
      </p:sp>
      <p:sp>
        <p:nvSpPr>
          <p:cNvPr id="11" name="TextBox 10"/>
          <p:cNvSpPr txBox="1"/>
          <p:nvPr/>
        </p:nvSpPr>
        <p:spPr>
          <a:xfrm>
            <a:off x="7845552" y="1316736"/>
            <a:ext cx="6665976" cy="1005840"/>
          </a:xfrm>
          <a:prstGeom prst="rect">
            <a:avLst/>
          </a:prstGeom>
          <a:noFill/>
        </p:spPr>
        <p:txBody>
          <a:bodyPr wrap="square" lIns="0" rIns="0" tIns="0" bIns="0">
            <a:spAutoFit/>
          </a:bodyPr>
          <a:lstStyle/>
          <a:p>
            <a:pPr>
              <a:spcAft>
                <a:spcPts val="900"/>
              </a:spcAft>
            </a:pPr>
            <a:r>
              <a:rPr sz="1050" b="1">
                <a:solidFill>
                  <a:srgbClr val="1F2937"/>
                </a:solidFill>
                <a:latin typeface="Arial"/>
              </a:rPr>
              <a:t>Subject:  existing 4 x 110 mm secondary duct — cover, reuse and continuity</a:t>
            </a:r>
          </a:p>
          <a:p>
            <a:pPr>
              <a:spcAft>
                <a:spcPts val="900"/>
              </a:spcAft>
            </a:pPr>
            <a:r>
              <a:rPr sz="1050" b="0">
                <a:solidFill>
                  <a:srgbClr val="1F2937"/>
                </a:solidFill>
                <a:latin typeface="Arial"/>
              </a:rPr>
              <a:t>Field condition:  the existing 4 x 110 mm secondary duct bank was exposed at 50 mm milling depth.</a:t>
            </a:r>
          </a:p>
          <a:p>
            <a:pPr>
              <a:spcAft>
                <a:spcPts val="900"/>
              </a:spcAft>
            </a:pPr>
            <a:r>
              <a:rPr sz="1050" b="0">
                <a:solidFill>
                  <a:srgbClr val="1F2937"/>
                </a:solidFill>
                <a:latin typeface="Arial"/>
              </a:rPr>
              <a:t>Q1.  Confirmation required from the civil team before any duct is re-laid on the existing duct alignment.</a:t>
            </a:r>
          </a:p>
          <a:p>
            <a:pPr>
              <a:spcAft>
                <a:spcPts val="900"/>
              </a:spcAft>
            </a:pPr>
            <a:r>
              <a:rPr sz="1050" b="0">
                <a:solidFill>
                  <a:srgbClr val="1F2937"/>
                </a:solidFill>
                <a:latin typeface="Arial"/>
              </a:rPr>
              <a:t>Q2.  The existing duct cannot be reused for the new secondary cable. The existing cables are obsolete and are to be withdrawn, and the existing duct cross-section will not accommodate the new secondary cable.</a:t>
            </a:r>
          </a:p>
          <a:p>
            <a:pPr>
              <a:spcAft>
                <a:spcPts val="900"/>
              </a:spcAft>
            </a:pPr>
            <a:r>
              <a:rPr sz="1050" b="0">
                <a:solidFill>
                  <a:srgbClr val="1F2937"/>
                </a:solidFill>
                <a:latin typeface="Arial"/>
              </a:rPr>
              <a:t>Q3.  If new duct sized for the new secondary cable is laid within the construction area, confirmation is required from Civil on how the transition into the duct in the non-construction area is to be made. The same condition is expected over the full length, which would otherwise require saw cutting for the full length.</a:t>
            </a:r>
          </a:p>
        </p:txBody>
      </p:sp>
      <p:sp>
        <p:nvSpPr>
          <p:cNvPr id="12" name="P08 PANEL · AGL TEAM PROPOSAL"/>
          <p:cNvSpPr/>
          <p:nvPr/>
        </p:nvSpPr>
        <p:spPr>
          <a:xfrm>
            <a:off x="7699248" y="3500628"/>
            <a:ext cx="6958584" cy="22113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45552" y="3610356"/>
            <a:ext cx="6665976" cy="237744"/>
          </a:xfrm>
          <a:prstGeom prst="rect">
            <a:avLst/>
          </a:prstGeom>
          <a:noFill/>
        </p:spPr>
        <p:txBody>
          <a:bodyPr wrap="square" lIns="0" rIns="0" tIns="0" bIns="0">
            <a:spAutoFit/>
          </a:bodyPr>
          <a:lstStyle/>
          <a:p>
            <a:r>
              <a:rPr sz="950" b="1">
                <a:solidFill>
                  <a:srgbClr val="1E2761"/>
                </a:solidFill>
                <a:latin typeface="Arial"/>
              </a:rPr>
              <a:t>AGL TEAM PROPOSAL</a:t>
            </a:r>
          </a:p>
        </p:txBody>
      </p:sp>
      <p:sp>
        <p:nvSpPr>
          <p:cNvPr id="14" name="TextBox 13"/>
          <p:cNvSpPr txBox="1"/>
          <p:nvPr/>
        </p:nvSpPr>
        <p:spPr>
          <a:xfrm>
            <a:off x="7845552" y="3902964"/>
            <a:ext cx="6665976" cy="603504"/>
          </a:xfrm>
          <a:prstGeom prst="rect">
            <a:avLst/>
          </a:prstGeom>
          <a:noFill/>
        </p:spPr>
        <p:txBody>
          <a:bodyPr wrap="square" lIns="0" rIns="0" tIns="0" bIns="0">
            <a:spAutoFit/>
          </a:bodyPr>
          <a:lstStyle/>
          <a:p>
            <a:pPr>
              <a:spcAft>
                <a:spcPts val="900"/>
              </a:spcAft>
            </a:pPr>
            <a:r>
              <a:rPr sz="1050" b="0">
                <a:solidFill>
                  <a:srgbClr val="1F2937"/>
                </a:solidFill>
                <a:latin typeface="Arial"/>
              </a:rPr>
              <a:t>Lay a full-stretch new secondary duct sized to accommodate the new secondary cable, giving a continuous route end to end and minimising saw cutting in the finished pavement.</a:t>
            </a:r>
          </a:p>
          <a:p>
            <a:pPr>
              <a:spcAft>
                <a:spcPts val="900"/>
              </a:spcAft>
            </a:pPr>
            <a:r>
              <a:rPr sz="1050" b="1">
                <a:solidFill>
                  <a:srgbClr val="B3261E"/>
                </a:solidFill>
                <a:latin typeface="Arial"/>
              </a:rPr>
              <a:t>Status at Rev P08:  NOT ADOPTED. The final scope of work issued 30.07.2026 adopts SAW CUT for every secondary route at all three locations, which answers Q3 — the full length is saw cut and no new duct is laid under the AGL scope.</a:t>
            </a:r>
          </a:p>
          <a:p>
            <a:pPr>
              <a:spcAft>
                <a:spcPts val="900"/>
              </a:spcAft>
            </a:pPr>
            <a:r>
              <a:rPr sz="1050" b="0">
                <a:solidFill>
                  <a:srgbClr val="1F2937"/>
                </a:solidFill>
                <a:latin typeface="Arial"/>
              </a:rPr>
              <a:t>Q1 and Q2 remain OPEN on the existing 4 x 110 mm duct bank: whether it is to be left in place, and confirmation that the obsolete cables are withdrawn. To be raised under RFI AUH-WP-AGL-TWYE-001. Not a construction instruction until answered.</a:t>
            </a:r>
          </a:p>
        </p:txBody>
      </p:sp>
      <p:sp>
        <p:nvSpPr>
          <p:cNvPr id="15" name="P08 PANEL · REV P08 — WHAT CHANGED"/>
          <p:cNvSpPr/>
          <p:nvPr/>
        </p:nvSpPr>
        <p:spPr>
          <a:xfrm>
            <a:off x="7699248" y="5858256"/>
            <a:ext cx="6958584" cy="1624076"/>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45552" y="5967984"/>
            <a:ext cx="6665976" cy="237744"/>
          </a:xfrm>
          <a:prstGeom prst="rect">
            <a:avLst/>
          </a:prstGeom>
          <a:noFill/>
        </p:spPr>
        <p:txBody>
          <a:bodyPr wrap="square" lIns="0" rIns="0" tIns="0" bIns="0">
            <a:spAutoFit/>
          </a:bodyPr>
          <a:lstStyle/>
          <a:p>
            <a:r>
              <a:rPr sz="950" b="1">
                <a:solidFill>
                  <a:srgbClr val="1E2761"/>
                </a:solidFill>
                <a:latin typeface="Arial"/>
              </a:rPr>
              <a:t>REV P08 — WHAT CHANGED</a:t>
            </a:r>
          </a:p>
        </p:txBody>
      </p:sp>
      <p:sp>
        <p:nvSpPr>
          <p:cNvPr id="17" name="TextBox 16"/>
          <p:cNvSpPr txBox="1"/>
          <p:nvPr/>
        </p:nvSpPr>
        <p:spPr>
          <a:xfrm>
            <a:off x="7845552" y="6260592"/>
            <a:ext cx="6665976" cy="804672"/>
          </a:xfrm>
          <a:prstGeom prst="rect">
            <a:avLst/>
          </a:prstGeom>
          <a:noFill/>
        </p:spPr>
        <p:txBody>
          <a:bodyPr wrap="square" lIns="0" rIns="0" tIns="0" bIns="0">
            <a:spAutoFit/>
          </a:bodyPr>
          <a:lstStyle/>
          <a:p>
            <a:pPr>
              <a:spcAft>
                <a:spcPts val="800"/>
              </a:spcAft>
            </a:pPr>
            <a:r>
              <a:rPr sz="1050" b="0">
                <a:solidFill>
                  <a:srgbClr val="1F2937"/>
                </a:solidFill>
                <a:latin typeface="Arial"/>
              </a:rPr>
              <a:t>All secondary routes saw cut at all three locations; no duct route remains in the AGL scope.</a:t>
            </a:r>
          </a:p>
          <a:p>
            <a:pPr>
              <a:spcAft>
                <a:spcPts val="800"/>
              </a:spcAft>
            </a:pPr>
            <a:r>
              <a:rPr sz="1050" b="0">
                <a:solidFill>
                  <a:srgbClr val="1F2937"/>
                </a:solidFill>
                <a:latin typeface="Arial"/>
              </a:rPr>
              <a:t>All new bases are SIDE-ENTRY SHALLOW BASE — 8" core at LOC-01, 12" at LOC-02/03.</a:t>
            </a:r>
          </a:p>
          <a:p>
            <a:pPr>
              <a:spcAft>
                <a:spcPts val="800"/>
              </a:spcAft>
            </a:pPr>
            <a:r>
              <a:rPr sz="1050" b="0">
                <a:solidFill>
                  <a:srgbClr val="1F2937"/>
                </a:solidFill>
                <a:latin typeface="Arial"/>
              </a:rPr>
              <a:t>Affected fittings reduce from 30 to 16: LOC-01 11, LOC-02 1 (TCCECH-03/008), LOC-03 4 (TCC only).</a:t>
            </a:r>
          </a:p>
          <a:p>
            <a:pPr>
              <a:spcAft>
                <a:spcPts val="800"/>
              </a:spcAft>
            </a:pPr>
            <a:r>
              <a:rPr sz="1050" b="0">
                <a:solidFill>
                  <a:srgbClr val="B3261E"/>
                </a:solidFill>
                <a:latin typeface="Arial"/>
              </a:rPr>
              <a:t>Coring now applies at all three locations. Rev P06/P07 stated coring at Location 1 only.</a:t>
            </a:r>
          </a:p>
        </p:txBody>
      </p:sp>
      <p:sp>
        <p:nvSpPr>
          <p:cNvPr id="18" name="TextBox 17"/>
          <p:cNvSpPr txBox="1"/>
          <p:nvPr/>
        </p:nvSpPr>
        <p:spPr>
          <a:xfrm>
            <a:off x="457200" y="10149840"/>
            <a:ext cx="14173200" cy="365760"/>
          </a:xfrm>
          <a:prstGeom prst="rect">
            <a:avLst/>
          </a:prstGeom>
          <a:noFill/>
        </p:spPr>
        <p:txBody>
          <a:bodyPr wrap="square" lIns="0" rIns="0" tIns="0" bIns="0">
            <a:spAutoFit/>
          </a:bodyPr>
          <a:lstStyle/>
          <a:p>
            <a:r>
              <a:rPr sz="750">
                <a:solidFill>
                  <a:srgbClr val="5F6368"/>
                </a:solidFill>
                <a:latin typeface="Arial"/>
              </a:rPr>
              <a:t>Sequence and hold points apply to all three milling locations (sheets 1001, 1002, 1003). Field condition governs. Where this sequence conflicts with a civil programme instruction, the AGL Team Leader is to be notified before work proceeds.     ·     AUH-SK-AGL-TWYE-001 REV P08 (FINAL SCOPE)  ·  Prepared: Mohammed, AGL Team Leader — ADB SAFEGATE  ·  Approved: Ragesh Menon, AGL Manager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4173200" cy="502920"/>
          </a:xfrm>
          <a:prstGeom prst="rect">
            <a:avLst/>
          </a:prstGeom>
          <a:noFill/>
        </p:spPr>
        <p:txBody>
          <a:bodyPr wrap="square" anchor="ctr" lIns="0" rIns="0">
            <a:spAutoFit/>
          </a:bodyPr>
          <a:lstStyle/>
          <a:p>
            <a:r>
              <a:rPr sz="2000" b="1">
                <a:solidFill>
                  <a:srgbClr val="1E2761"/>
                </a:solidFill>
                <a:latin typeface="Arial"/>
              </a:rPr>
              <a:t>SAW CUT &amp; SIDE-ENTRY SHALLOW BASE DETAIL — TWY E (E4–E6)  ·  REV P08  ·  HOLD</a:t>
            </a:r>
          </a:p>
        </p:txBody>
      </p:sp>
      <p:sp>
        <p:nvSpPr>
          <p:cNvPr id="3" name="P08 PANEL · DETAIL — HELD FOR ISSUE"/>
          <p:cNvSpPr/>
          <p:nvPr/>
        </p:nvSpPr>
        <p:spPr>
          <a:xfrm>
            <a:off x="457200" y="914400"/>
            <a:ext cx="6958584" cy="4544567"/>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24128"/>
            <a:ext cx="6665976" cy="237744"/>
          </a:xfrm>
          <a:prstGeom prst="rect">
            <a:avLst/>
          </a:prstGeom>
          <a:noFill/>
        </p:spPr>
        <p:txBody>
          <a:bodyPr wrap="square" lIns="0" rIns="0" tIns="0" bIns="0">
            <a:spAutoFit/>
          </a:bodyPr>
          <a:lstStyle/>
          <a:p>
            <a:r>
              <a:rPr sz="950" b="1">
                <a:solidFill>
                  <a:srgbClr val="1E2761"/>
                </a:solidFill>
                <a:latin typeface="Arial"/>
              </a:rPr>
              <a:t>DETAIL — HELD FOR ISSUE</a:t>
            </a:r>
          </a:p>
        </p:txBody>
      </p:sp>
      <p:sp>
        <p:nvSpPr>
          <p:cNvPr id="5" name="P08 PANEL · SAW CUT &amp; CORING SCHEDULE — "/>
          <p:cNvSpPr/>
          <p:nvPr/>
        </p:nvSpPr>
        <p:spPr>
          <a:xfrm>
            <a:off x="457200" y="5605271"/>
            <a:ext cx="6958584" cy="193852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5714999"/>
            <a:ext cx="6665976" cy="237744"/>
          </a:xfrm>
          <a:prstGeom prst="rect">
            <a:avLst/>
          </a:prstGeom>
          <a:noFill/>
        </p:spPr>
        <p:txBody>
          <a:bodyPr wrap="square" lIns="0" rIns="0" tIns="0" bIns="0">
            <a:spAutoFit/>
          </a:bodyPr>
          <a:lstStyle/>
          <a:p>
            <a:r>
              <a:rPr sz="950" b="1">
                <a:solidFill>
                  <a:srgbClr val="1E2761"/>
                </a:solidFill>
                <a:latin typeface="Arial"/>
              </a:rPr>
              <a:t>SAW CUT &amp; CORING SCHEDULE — REV P08 FINAL SCOPE</a:t>
            </a:r>
          </a:p>
        </p:txBody>
      </p:sp>
      <p:sp>
        <p:nvSpPr>
          <p:cNvPr id="7" name="P08 PANEL · SIDE-ENTRY SHALLOW BASE — WH"/>
          <p:cNvSpPr/>
          <p:nvPr/>
        </p:nvSpPr>
        <p:spPr>
          <a:xfrm>
            <a:off x="457200" y="7690103"/>
            <a:ext cx="6958584" cy="200025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7799831"/>
            <a:ext cx="6665976" cy="237744"/>
          </a:xfrm>
          <a:prstGeom prst="rect">
            <a:avLst/>
          </a:prstGeom>
          <a:noFill/>
        </p:spPr>
        <p:txBody>
          <a:bodyPr wrap="square" lIns="0" rIns="0" tIns="0" bIns="0">
            <a:spAutoFit/>
          </a:bodyPr>
          <a:lstStyle/>
          <a:p>
            <a:r>
              <a:rPr sz="950" b="1">
                <a:solidFill>
                  <a:srgbClr val="1E2761"/>
                </a:solidFill>
                <a:latin typeface="Arial"/>
              </a:rPr>
              <a:t>SIDE-ENTRY SHALLOW BASE — WHAT THE DETAIL MUST ALSO SHOW</a:t>
            </a:r>
          </a:p>
        </p:txBody>
      </p:sp>
      <p:sp>
        <p:nvSpPr>
          <p:cNvPr id="9" name="TextBox 8"/>
          <p:cNvSpPr txBox="1"/>
          <p:nvPr/>
        </p:nvSpPr>
        <p:spPr>
          <a:xfrm>
            <a:off x="603504" y="8092439"/>
            <a:ext cx="6665976" cy="804672"/>
          </a:xfrm>
          <a:prstGeom prst="rect">
            <a:avLst/>
          </a:prstGeom>
          <a:noFill/>
        </p:spPr>
        <p:txBody>
          <a:bodyPr wrap="square" lIns="0" rIns="0" tIns="0" bIns="0">
            <a:spAutoFit/>
          </a:bodyPr>
          <a:lstStyle/>
          <a:p>
            <a:pPr>
              <a:spcAft>
                <a:spcPts val="900"/>
              </a:spcAft>
            </a:pPr>
            <a:r>
              <a:rPr sz="1050" b="0">
                <a:solidFill>
                  <a:srgbClr val="1F2937"/>
                </a:solidFill>
                <a:latin typeface="Arial"/>
              </a:rPr>
              <a:t>10.  Side-entry shallow base — depth, entry height above the base floor, entry bore and the seal at the entry.</a:t>
            </a:r>
          </a:p>
          <a:p>
            <a:pPr>
              <a:spcAft>
                <a:spcPts val="900"/>
              </a:spcAft>
            </a:pPr>
            <a:r>
              <a:rPr sz="1050" b="0">
                <a:solidFill>
                  <a:srgbClr val="1F2937"/>
                </a:solidFill>
                <a:latin typeface="Arial"/>
              </a:rPr>
              <a:t>11.  Core diameter and core depth for 8" and for 12", and the grout / bedding specification for each.</a:t>
            </a:r>
          </a:p>
          <a:p>
            <a:pPr>
              <a:spcAft>
                <a:spcPts val="900"/>
              </a:spcAft>
            </a:pPr>
            <a:r>
              <a:rPr sz="1050" b="0">
                <a:solidFill>
                  <a:srgbClr val="1F2937"/>
                </a:solidFill>
                <a:latin typeface="Arial"/>
              </a:rPr>
              <a:t>12.  At Location 2, the method for coring out the EXISTING shallow base and making good before the new 12" base is set.</a:t>
            </a:r>
          </a:p>
          <a:p>
            <a:pPr>
              <a:spcAft>
                <a:spcPts val="900"/>
              </a:spcAft>
            </a:pPr>
            <a:r>
              <a:rPr sz="1050" b="0">
                <a:solidFill>
                  <a:srgbClr val="1F2937"/>
                </a:solidFill>
                <a:latin typeface="Arial"/>
              </a:rPr>
              <a:t>13.  Setting-out tolerance of the base relative to the as-built fitting position, and the level tolerance to finished pavement.</a:t>
            </a:r>
          </a:p>
        </p:txBody>
      </p:sp>
      <p:sp>
        <p:nvSpPr>
          <p:cNvPr id="10" name="P08 HOLD · SAW CUT DETAIL FRAME"/>
          <p:cNvSpPr/>
          <p:nvPr/>
        </p:nvSpPr>
        <p:spPr>
          <a:xfrm>
            <a:off x="603504" y="1316736"/>
            <a:ext cx="6665976" cy="3977639"/>
          </a:xfrm>
          <a:prstGeom prst="rect">
            <a:avLst/>
          </a:prstGeom>
          <a:solidFill>
            <a:srgbClr val="FBFCFD"/>
          </a:solidFill>
          <a:ln w="19050">
            <a:solidFill>
              <a:srgbClr val="B326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528315"/>
            <a:ext cx="5934456" cy="1554480"/>
          </a:xfrm>
          <a:prstGeom prst="rect">
            <a:avLst/>
          </a:prstGeom>
          <a:noFill/>
        </p:spPr>
        <p:txBody>
          <a:bodyPr wrap="square" anchor="ctr" lIns="0" rIns="0" tIns="0" bIns="0">
            <a:spAutoFit/>
          </a:bodyPr>
          <a:lstStyle/>
          <a:p>
            <a:pPr algn="ctr">
              <a:spcAft>
                <a:spcPts val="800"/>
              </a:spcAft>
            </a:pPr>
            <a:r>
              <a:rPr sz="1500" b="1">
                <a:solidFill>
                  <a:srgbClr val="B3261E"/>
                </a:solidFill>
                <a:latin typeface="Arial"/>
              </a:rPr>
              <a:t>SAW CUT DETAIL DRAWING TO BE ISSUED</a:t>
            </a:r>
          </a:p>
          <a:p>
            <a:pPr algn="ctr">
              <a:spcAft>
                <a:spcPts val="800"/>
              </a:spcAft>
            </a:pPr>
            <a:r>
              <a:rPr sz="950" b="0">
                <a:solidFill>
                  <a:srgbClr val="1F2937"/>
                </a:solidFill>
                <a:latin typeface="Arial"/>
              </a:rPr>
              <a:t>The final scope of work records that the saw cut detail drawing will be provided. It has not been issued at the date of this revision.</a:t>
            </a:r>
          </a:p>
          <a:p>
            <a:pPr algn="ctr">
              <a:spcAft>
                <a:spcPts val="800"/>
              </a:spcAft>
            </a:pPr>
            <a:r>
              <a:rPr sz="950" b="1">
                <a:solidFill>
                  <a:srgbClr val="B3261E"/>
                </a:solidFill>
                <a:latin typeface="Arial"/>
              </a:rPr>
              <a:t>Paste the issued detail into this frame and re-issue the sheet. Until it is issued and accepted, NO SAW CUTTING IS TO COMMENCE — hold point H6.</a:t>
            </a:r>
          </a:p>
        </p:txBody>
      </p:sp>
      <p:graphicFrame>
        <p:nvGraphicFramePr>
          <p:cNvPr id="12" name="Table 11"/>
          <p:cNvGraphicFramePr>
            <a:graphicFrameLocks noGrp="1"/>
          </p:cNvGraphicFramePr>
          <p:nvPr/>
        </p:nvGraphicFramePr>
        <p:xfrm>
          <a:off x="603504" y="6007607"/>
          <a:ext cx="6958584" cy="1188720"/>
        </p:xfrm>
        <a:graphic>
          <a:graphicData uri="http://schemas.openxmlformats.org/drawingml/2006/table">
            <a:tbl>
              <a:tblPr firstRow="1" bandRow="1">
                <a:tableStyleId>{5C22544A-7EE6-4342-B048-85BDC9FD1C3A}</a:tableStyleId>
              </a:tblPr>
              <a:tblGrid>
                <a:gridCol w="960120"/>
                <a:gridCol w="1417320"/>
                <a:gridCol w="960120"/>
                <a:gridCol w="2148840"/>
                <a:gridCol w="960120"/>
                <a:gridCol w="512064"/>
              </a:tblGrid>
              <a:tr h="237744">
                <a:tc>
                  <a:txBody>
                    <a:bodyPr wrap="square"/>
                    <a:lstStyle/>
                    <a:p>
                      <a:r>
                        <a:rPr sz="950" b="1">
                          <a:solidFill>
                            <a:srgbClr val="FFFFFF"/>
                          </a:solidFill>
                          <a:latin typeface="Arial"/>
                        </a:rPr>
                        <a:t>Location</a:t>
                      </a:r>
                    </a:p>
                  </a:txBody>
                  <a:tcPr marL="54864" marR="54864" marT="18000" marB="18000" anchor="ctr">
                    <a:solidFill>
                      <a:srgbClr val="1E2761"/>
                    </a:solidFill>
                  </a:tcPr>
                </a:tc>
                <a:tc>
                  <a:txBody>
                    <a:bodyPr wrap="square"/>
                    <a:lstStyle/>
                    <a:p>
                      <a:r>
                        <a:rPr sz="950" b="1">
                          <a:solidFill>
                            <a:srgbClr val="FFFFFF"/>
                          </a:solidFill>
                          <a:latin typeface="Arial"/>
                        </a:rPr>
                        <a:t>Fittings</a:t>
                      </a:r>
                    </a:p>
                  </a:txBody>
                  <a:tcPr marL="54864" marR="54864" marT="18000" marB="18000" anchor="ctr">
                    <a:solidFill>
                      <a:srgbClr val="1E2761"/>
                    </a:solidFill>
                  </a:tcPr>
                </a:tc>
                <a:tc>
                  <a:txBody>
                    <a:bodyPr wrap="square"/>
                    <a:lstStyle/>
                    <a:p>
                      <a:r>
                        <a:rPr sz="950" b="1">
                          <a:solidFill>
                            <a:srgbClr val="FFFFFF"/>
                          </a:solidFill>
                          <a:latin typeface="Arial"/>
                        </a:rPr>
                        <a:t>Core</a:t>
                      </a:r>
                    </a:p>
                  </a:txBody>
                  <a:tcPr marL="54864" marR="54864" marT="18000" marB="18000" anchor="ctr">
                    <a:solidFill>
                      <a:srgbClr val="1E2761"/>
                    </a:solidFill>
                  </a:tcPr>
                </a:tc>
                <a:tc>
                  <a:txBody>
                    <a:bodyPr wrap="square"/>
                    <a:lstStyle/>
                    <a:p>
                      <a:r>
                        <a:rPr sz="950" b="1">
                          <a:solidFill>
                            <a:srgbClr val="FFFFFF"/>
                          </a:solidFill>
                          <a:latin typeface="Arial"/>
                        </a:rPr>
                        <a:t>New base</a:t>
                      </a:r>
                    </a:p>
                  </a:txBody>
                  <a:tcPr marL="54864" marR="54864" marT="18000" marB="18000" anchor="ctr">
                    <a:solidFill>
                      <a:srgbClr val="1E2761"/>
                    </a:solidFill>
                  </a:tcPr>
                </a:tc>
                <a:tc>
                  <a:txBody>
                    <a:bodyPr wrap="square"/>
                    <a:lstStyle/>
                    <a:p>
                      <a:r>
                        <a:rPr sz="950" b="1">
                          <a:solidFill>
                            <a:srgbClr val="FFFFFF"/>
                          </a:solidFill>
                          <a:latin typeface="Arial"/>
                        </a:rPr>
                        <a:t>Route</a:t>
                      </a:r>
                    </a:p>
                  </a:txBody>
                  <a:tcPr marL="54864" marR="54864" marT="18000" marB="18000" anchor="ctr">
                    <a:solidFill>
                      <a:srgbClr val="1E2761"/>
                    </a:solidFill>
                  </a:tcPr>
                </a:tc>
                <a:tc>
                  <a:txBody>
                    <a:bodyPr wrap="square"/>
                    <a:lstStyle/>
                    <a:p>
                      <a:r>
                        <a:rPr sz="950" b="1">
                          <a:solidFill>
                            <a:srgbClr val="FFFFFF"/>
                          </a:solidFill>
                          <a:latin typeface="Arial"/>
                        </a:rPr>
                        <a:t>Sheet</a:t>
                      </a:r>
                    </a:p>
                  </a:txBody>
                  <a:tcPr marL="54864" marR="54864" marT="18000" marB="18000" anchor="ctr">
                    <a:solidFill>
                      <a:srgbClr val="1E2761"/>
                    </a:solidFill>
                  </a:tcPr>
                </a:tc>
              </a:tr>
              <a:tr h="237744">
                <a:tc>
                  <a:txBody>
                    <a:bodyPr wrap="square"/>
                    <a:lstStyle/>
                    <a:p>
                      <a:r>
                        <a:rPr sz="900" b="0">
                          <a:solidFill>
                            <a:srgbClr val="1F2937"/>
                          </a:solidFill>
                          <a:latin typeface="Arial"/>
                        </a:rPr>
                        <a:t>LOC-01</a:t>
                      </a:r>
                    </a:p>
                  </a:txBody>
                  <a:tcPr marL="54864" marR="54864" marT="18000" marB="18000" anchor="ctr">
                    <a:noFill/>
                  </a:tcPr>
                </a:tc>
                <a:tc>
                  <a:txBody>
                    <a:bodyPr wrap="square"/>
                    <a:lstStyle/>
                    <a:p>
                      <a:r>
                        <a:rPr sz="900" b="0">
                          <a:solidFill>
                            <a:srgbClr val="1F2937"/>
                          </a:solidFill>
                          <a:latin typeface="Arial"/>
                        </a:rPr>
                        <a:t>11  (6 SBC · 5 TCC)</a:t>
                      </a:r>
                    </a:p>
                  </a:txBody>
                  <a:tcPr marL="54864" marR="54864" marT="18000" marB="18000" anchor="ctr">
                    <a:noFill/>
                  </a:tcPr>
                </a:tc>
                <a:tc>
                  <a:txBody>
                    <a:bodyPr wrap="square"/>
                    <a:lstStyle/>
                    <a:p>
                      <a:r>
                        <a:rPr sz="900" b="0">
                          <a:solidFill>
                            <a:srgbClr val="1F2937"/>
                          </a:solidFill>
                          <a:latin typeface="Arial"/>
                        </a:rPr>
                        <a:t>8"</a:t>
                      </a:r>
                    </a:p>
                  </a:txBody>
                  <a:tcPr marL="54864" marR="54864" marT="18000" marB="18000" anchor="ctr">
                    <a:noFill/>
                  </a:tcPr>
                </a:tc>
                <a:tc>
                  <a:txBody>
                    <a:bodyPr wrap="square"/>
                    <a:lstStyle/>
                    <a:p>
                      <a:r>
                        <a:rPr sz="900" b="0">
                          <a:solidFill>
                            <a:srgbClr val="1F2937"/>
                          </a:solidFill>
                          <a:latin typeface="Arial"/>
                        </a:rPr>
                        <a:t>Side-entry shallow base</a:t>
                      </a:r>
                    </a:p>
                  </a:txBody>
                  <a:tcPr marL="54864" marR="54864" marT="18000" marB="18000" anchor="ctr">
                    <a:noFill/>
                  </a:tcPr>
                </a:tc>
                <a:tc>
                  <a:txBody>
                    <a:bodyPr wrap="square"/>
                    <a:lstStyle/>
                    <a:p>
                      <a:r>
                        <a:rPr sz="900" b="0">
                          <a:solidFill>
                            <a:srgbClr val="1F2937"/>
                          </a:solidFill>
                          <a:latin typeface="Arial"/>
                        </a:rPr>
                        <a:t>Saw cut</a:t>
                      </a:r>
                    </a:p>
                  </a:txBody>
                  <a:tcPr marL="54864" marR="54864" marT="18000" marB="18000" anchor="ctr">
                    <a:noFill/>
                  </a:tcPr>
                </a:tc>
                <a:tc>
                  <a:txBody>
                    <a:bodyPr wrap="square"/>
                    <a:lstStyle/>
                    <a:p>
                      <a:r>
                        <a:rPr sz="900" b="0">
                          <a:solidFill>
                            <a:srgbClr val="1F2937"/>
                          </a:solidFill>
                          <a:latin typeface="Arial"/>
                        </a:rPr>
                        <a:t>1001</a:t>
                      </a:r>
                    </a:p>
                  </a:txBody>
                  <a:tcPr marL="54864" marR="54864" marT="18000" marB="18000" anchor="ctr">
                    <a:noFill/>
                  </a:tcPr>
                </a:tc>
              </a:tr>
              <a:tr h="237744">
                <a:tc>
                  <a:txBody>
                    <a:bodyPr wrap="square"/>
                    <a:lstStyle/>
                    <a:p>
                      <a:r>
                        <a:rPr sz="900" b="0">
                          <a:solidFill>
                            <a:srgbClr val="1F2937"/>
                          </a:solidFill>
                          <a:latin typeface="Arial"/>
                        </a:rPr>
                        <a:t>LOC-02</a:t>
                      </a:r>
                    </a:p>
                  </a:txBody>
                  <a:tcPr marL="54864" marR="54864" marT="18000" marB="18000" anchor="ctr">
                    <a:noFill/>
                  </a:tcPr>
                </a:tc>
                <a:tc>
                  <a:txBody>
                    <a:bodyPr wrap="square"/>
                    <a:lstStyle/>
                    <a:p>
                      <a:r>
                        <a:rPr sz="900" b="0">
                          <a:solidFill>
                            <a:srgbClr val="1F2937"/>
                          </a:solidFill>
                          <a:latin typeface="Arial"/>
                        </a:rPr>
                        <a:t>1  (TCCECH-03/008)</a:t>
                      </a:r>
                    </a:p>
                  </a:txBody>
                  <a:tcPr marL="54864" marR="54864" marT="18000" marB="18000" anchor="ctr">
                    <a:noFill/>
                  </a:tcPr>
                </a:tc>
                <a:tc>
                  <a:txBody>
                    <a:bodyPr wrap="square"/>
                    <a:lstStyle/>
                    <a:p>
                      <a:r>
                        <a:rPr sz="900" b="0">
                          <a:solidFill>
                            <a:srgbClr val="1F2937"/>
                          </a:solidFill>
                          <a:latin typeface="Arial"/>
                        </a:rPr>
                        <a:t>12"</a:t>
                      </a:r>
                    </a:p>
                  </a:txBody>
                  <a:tcPr marL="54864" marR="54864" marT="18000" marB="18000" anchor="ctr">
                    <a:noFill/>
                  </a:tcPr>
                </a:tc>
                <a:tc>
                  <a:txBody>
                    <a:bodyPr wrap="square"/>
                    <a:lstStyle/>
                    <a:p>
                      <a:r>
                        <a:rPr sz="900" b="0">
                          <a:solidFill>
                            <a:srgbClr val="1F2937"/>
                          </a:solidFill>
                          <a:latin typeface="Arial"/>
                        </a:rPr>
                        <a:t>Side-entry shallow base — existing base cored out</a:t>
                      </a:r>
                    </a:p>
                  </a:txBody>
                  <a:tcPr marL="54864" marR="54864" marT="18000" marB="18000" anchor="ctr">
                    <a:noFill/>
                  </a:tcPr>
                </a:tc>
                <a:tc>
                  <a:txBody>
                    <a:bodyPr wrap="square"/>
                    <a:lstStyle/>
                    <a:p>
                      <a:r>
                        <a:rPr sz="900" b="0">
                          <a:solidFill>
                            <a:srgbClr val="1F2937"/>
                          </a:solidFill>
                          <a:latin typeface="Arial"/>
                        </a:rPr>
                        <a:t>Saw cut</a:t>
                      </a:r>
                    </a:p>
                  </a:txBody>
                  <a:tcPr marL="54864" marR="54864" marT="18000" marB="18000" anchor="ctr">
                    <a:noFill/>
                  </a:tcPr>
                </a:tc>
                <a:tc>
                  <a:txBody>
                    <a:bodyPr wrap="square"/>
                    <a:lstStyle/>
                    <a:p>
                      <a:r>
                        <a:rPr sz="900" b="0">
                          <a:solidFill>
                            <a:srgbClr val="1F2937"/>
                          </a:solidFill>
                          <a:latin typeface="Arial"/>
                        </a:rPr>
                        <a:t>1002</a:t>
                      </a:r>
                    </a:p>
                  </a:txBody>
                  <a:tcPr marL="54864" marR="54864" marT="18000" marB="18000" anchor="ctr">
                    <a:noFill/>
                  </a:tcPr>
                </a:tc>
              </a:tr>
              <a:tr h="237744">
                <a:tc>
                  <a:txBody>
                    <a:bodyPr wrap="square"/>
                    <a:lstStyle/>
                    <a:p>
                      <a:r>
                        <a:rPr sz="900" b="0">
                          <a:solidFill>
                            <a:srgbClr val="1F2937"/>
                          </a:solidFill>
                          <a:latin typeface="Arial"/>
                        </a:rPr>
                        <a:t>LOC-03</a:t>
                      </a:r>
                    </a:p>
                  </a:txBody>
                  <a:tcPr marL="54864" marR="54864" marT="18000" marB="18000" anchor="ctr">
                    <a:noFill/>
                  </a:tcPr>
                </a:tc>
                <a:tc>
                  <a:txBody>
                    <a:bodyPr wrap="square"/>
                    <a:lstStyle/>
                    <a:p>
                      <a:r>
                        <a:rPr sz="900" b="0">
                          <a:solidFill>
                            <a:srgbClr val="1F2937"/>
                          </a:solidFill>
                          <a:latin typeface="Arial"/>
                        </a:rPr>
                        <a:t>4  (TCC only)</a:t>
                      </a:r>
                    </a:p>
                  </a:txBody>
                  <a:tcPr marL="54864" marR="54864" marT="18000" marB="18000" anchor="ctr">
                    <a:noFill/>
                  </a:tcPr>
                </a:tc>
                <a:tc>
                  <a:txBody>
                    <a:bodyPr wrap="square"/>
                    <a:lstStyle/>
                    <a:p>
                      <a:r>
                        <a:rPr sz="900" b="0">
                          <a:solidFill>
                            <a:srgbClr val="1F2937"/>
                          </a:solidFill>
                          <a:latin typeface="Arial"/>
                        </a:rPr>
                        <a:t>12"</a:t>
                      </a:r>
                    </a:p>
                  </a:txBody>
                  <a:tcPr marL="54864" marR="54864" marT="18000" marB="18000" anchor="ctr">
                    <a:noFill/>
                  </a:tcPr>
                </a:tc>
                <a:tc>
                  <a:txBody>
                    <a:bodyPr wrap="square"/>
                    <a:lstStyle/>
                    <a:p>
                      <a:r>
                        <a:rPr sz="900" b="0">
                          <a:solidFill>
                            <a:srgbClr val="1F2937"/>
                          </a:solidFill>
                          <a:latin typeface="Arial"/>
                        </a:rPr>
                        <a:t>Side-entry shallow base</a:t>
                      </a:r>
                    </a:p>
                  </a:txBody>
                  <a:tcPr marL="54864" marR="54864" marT="18000" marB="18000" anchor="ctr">
                    <a:noFill/>
                  </a:tcPr>
                </a:tc>
                <a:tc>
                  <a:txBody>
                    <a:bodyPr wrap="square"/>
                    <a:lstStyle/>
                    <a:p>
                      <a:r>
                        <a:rPr sz="900" b="0">
                          <a:solidFill>
                            <a:srgbClr val="1F2937"/>
                          </a:solidFill>
                          <a:latin typeface="Arial"/>
                        </a:rPr>
                        <a:t>Saw cut</a:t>
                      </a:r>
                    </a:p>
                  </a:txBody>
                  <a:tcPr marL="54864" marR="54864" marT="18000" marB="18000" anchor="ctr">
                    <a:noFill/>
                  </a:tcPr>
                </a:tc>
                <a:tc>
                  <a:txBody>
                    <a:bodyPr wrap="square"/>
                    <a:lstStyle/>
                    <a:p>
                      <a:r>
                        <a:rPr sz="900" b="0">
                          <a:solidFill>
                            <a:srgbClr val="1F2937"/>
                          </a:solidFill>
                          <a:latin typeface="Arial"/>
                        </a:rPr>
                        <a:t>1003</a:t>
                      </a:r>
                    </a:p>
                  </a:txBody>
                  <a:tcPr marL="54864" marR="54864" marT="18000" marB="18000" anchor="ctr">
                    <a:noFill/>
                  </a:tcPr>
                </a:tc>
              </a:tr>
              <a:tr h="237744">
                <a:tc>
                  <a:txBody>
                    <a:bodyPr wrap="square"/>
                    <a:lstStyle/>
                    <a:p>
                      <a:r>
                        <a:rPr sz="900" b="0">
                          <a:solidFill>
                            <a:srgbClr val="1F2937"/>
                          </a:solidFill>
                          <a:latin typeface="Arial"/>
                        </a:rPr>
                        <a:t>TOTAL</a:t>
                      </a:r>
                    </a:p>
                  </a:txBody>
                  <a:tcPr marL="54864" marR="54864" marT="18000" marB="18000" anchor="ctr">
                    <a:noFill/>
                  </a:tcPr>
                </a:tc>
                <a:tc>
                  <a:txBody>
                    <a:bodyPr wrap="square"/>
                    <a:lstStyle/>
                    <a:p>
                      <a:r>
                        <a:rPr sz="900" b="0">
                          <a:solidFill>
                            <a:srgbClr val="1F2937"/>
                          </a:solidFill>
                          <a:latin typeface="Arial"/>
                        </a:rPr>
                        <a:t>16</a:t>
                      </a:r>
                    </a:p>
                  </a:txBody>
                  <a:tcPr marL="54864" marR="54864" marT="18000" marB="18000" anchor="ctr">
                    <a:noFill/>
                  </a:tcPr>
                </a:tc>
                <a:tc>
                  <a:txBody>
                    <a:bodyPr wrap="square"/>
                    <a:lstStyle/>
                    <a:p>
                      <a:r>
                        <a:rPr sz="900" b="0">
                          <a:solidFill>
                            <a:srgbClr val="1F2937"/>
                          </a:solidFill>
                          <a:latin typeface="Arial"/>
                        </a:rPr>
                        <a:t>11 @ 8" · 5 @ 12"</a:t>
                      </a:r>
                    </a:p>
                  </a:txBody>
                  <a:tcPr marL="54864" marR="54864" marT="18000" marB="18000" anchor="ctr">
                    <a:noFill/>
                  </a:tcPr>
                </a:tc>
                <a:tc>
                  <a:txBody>
                    <a:bodyPr wrap="square"/>
                    <a:lstStyle/>
                    <a:p>
                      <a:r>
                        <a:rPr sz="900" b="0">
                          <a:solidFill>
                            <a:srgbClr val="1F2937"/>
                          </a:solidFill>
                          <a:latin typeface="Arial"/>
                        </a:rPr>
                        <a:t>16 side-entry shallow bases</a:t>
                      </a:r>
                    </a:p>
                  </a:txBody>
                  <a:tcPr marL="54864" marR="54864" marT="18000" marB="18000" anchor="ctr">
                    <a:noFill/>
                  </a:tcPr>
                </a:tc>
                <a:tc>
                  <a:txBody>
                    <a:bodyPr wrap="square"/>
                    <a:lstStyle/>
                    <a:p>
                      <a:r>
                        <a:rPr sz="900" b="0">
                          <a:solidFill>
                            <a:srgbClr val="1F2937"/>
                          </a:solidFill>
                          <a:latin typeface="Arial"/>
                        </a:rPr>
                        <a:t>Saw cut throughout</a:t>
                      </a:r>
                    </a:p>
                  </a:txBody>
                  <a:tcPr marL="54864" marR="54864" marT="18000" marB="18000" anchor="ctr">
                    <a:noFill/>
                  </a:tcPr>
                </a:tc>
                <a:tc>
                  <a:txBody>
                    <a:bodyPr wrap="square"/>
                    <a:lstStyle/>
                    <a:p>
                      <a:r>
                        <a:rPr sz="900" b="0">
                          <a:solidFill>
                            <a:srgbClr val="1F2937"/>
                          </a:solidFill>
                          <a:latin typeface="Arial"/>
                        </a:rPr>
                        <a:t>—</a:t>
                      </a:r>
                    </a:p>
                  </a:txBody>
                  <a:tcPr marL="54864" marR="54864" marT="18000" marB="18000" anchor="ctr">
                    <a:noFill/>
                  </a:tcPr>
                </a:tc>
              </a:tr>
            </a:tbl>
          </a:graphicData>
        </a:graphic>
      </p:graphicFrame>
      <p:sp>
        <p:nvSpPr>
          <p:cNvPr id="13" name="P08 PANEL · WHAT THE SAW CUT DETAIL MUST"/>
          <p:cNvSpPr/>
          <p:nvPr/>
        </p:nvSpPr>
        <p:spPr>
          <a:xfrm>
            <a:off x="7699248" y="914400"/>
            <a:ext cx="6958584" cy="530656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1024128"/>
            <a:ext cx="6665976" cy="237744"/>
          </a:xfrm>
          <a:prstGeom prst="rect">
            <a:avLst/>
          </a:prstGeom>
          <a:noFill/>
        </p:spPr>
        <p:txBody>
          <a:bodyPr wrap="square" lIns="0" rIns="0" tIns="0" bIns="0">
            <a:spAutoFit/>
          </a:bodyPr>
          <a:lstStyle/>
          <a:p>
            <a:r>
              <a:rPr sz="950" b="1">
                <a:solidFill>
                  <a:srgbClr val="1E2761"/>
                </a:solidFill>
                <a:latin typeface="Arial"/>
              </a:rPr>
              <a:t>WHAT THE SAW CUT DETAIL MUST ANSWER BEFORE IT CAN BE BUILT TO</a:t>
            </a:r>
          </a:p>
        </p:txBody>
      </p:sp>
      <p:sp>
        <p:nvSpPr>
          <p:cNvPr id="15" name="TextBox 14"/>
          <p:cNvSpPr txBox="1"/>
          <p:nvPr/>
        </p:nvSpPr>
        <p:spPr>
          <a:xfrm>
            <a:off x="7845552" y="1316736"/>
            <a:ext cx="6665976" cy="2615184"/>
          </a:xfrm>
          <a:prstGeom prst="rect">
            <a:avLst/>
          </a:prstGeom>
          <a:noFill/>
        </p:spPr>
        <p:txBody>
          <a:bodyPr wrap="square" lIns="0" rIns="0" tIns="0" bIns="0">
            <a:spAutoFit/>
          </a:bodyPr>
          <a:lstStyle/>
          <a:p>
            <a:pPr>
              <a:spcAft>
                <a:spcPts val="900"/>
              </a:spcAft>
            </a:pPr>
            <a:r>
              <a:rPr sz="1050" b="1">
                <a:solidFill>
                  <a:srgbClr val="1E2761"/>
                </a:solidFill>
                <a:latin typeface="Arial"/>
              </a:rPr>
              <a:t>Cut geometry</a:t>
            </a:r>
          </a:p>
          <a:p>
            <a:pPr>
              <a:spcAft>
                <a:spcPts val="900"/>
              </a:spcAft>
            </a:pPr>
            <a:r>
              <a:rPr sz="1050" b="0">
                <a:solidFill>
                  <a:srgbClr val="1F2937"/>
                </a:solidFill>
                <a:latin typeface="Arial"/>
              </a:rPr>
              <a:t>1.  Saw cut width and depth, and the tolerance on each.</a:t>
            </a:r>
          </a:p>
          <a:p>
            <a:pPr>
              <a:spcAft>
                <a:spcPts val="900"/>
              </a:spcAft>
            </a:pPr>
            <a:r>
              <a:rPr sz="1050" b="0">
                <a:solidFill>
                  <a:srgbClr val="1F2937"/>
                </a:solidFill>
                <a:latin typeface="Arial"/>
              </a:rPr>
              <a:t>2.  Minimum cover from finished pavement surface to the top of the new secondary cable.</a:t>
            </a:r>
          </a:p>
          <a:p>
            <a:pPr>
              <a:spcAft>
                <a:spcPts val="900"/>
              </a:spcAft>
            </a:pPr>
            <a:r>
              <a:rPr sz="1050" b="0">
                <a:solidFill>
                  <a:srgbClr val="1F2937"/>
                </a:solidFill>
                <a:latin typeface="Arial"/>
              </a:rPr>
              <a:t>3.  Cut termination at the light base — how the cut meets the side entry, and the radius or chamfer at the entry.</a:t>
            </a:r>
          </a:p>
          <a:p>
            <a:pPr>
              <a:spcAft>
                <a:spcPts val="900"/>
              </a:spcAft>
            </a:pPr>
            <a:r>
              <a:rPr sz="1050" b="0">
                <a:solidFill>
                  <a:srgbClr val="1F2937"/>
                </a:solidFill>
                <a:latin typeface="Arial"/>
              </a:rPr>
              <a:t>4.  Minimum offset from slab joints, existing cuts and the milling edge, and what to do where the cut would run within that offset.</a:t>
            </a:r>
          </a:p>
          <a:p>
            <a:pPr>
              <a:spcAft>
                <a:spcPts val="900"/>
              </a:spcAft>
            </a:pPr>
            <a:r>
              <a:rPr sz="1050" b="1">
                <a:solidFill>
                  <a:srgbClr val="1E2761"/>
                </a:solidFill>
                <a:latin typeface="Arial"/>
              </a:rPr>
              <a:t>Cable and backfill</a:t>
            </a:r>
          </a:p>
          <a:p>
            <a:pPr>
              <a:spcAft>
                <a:spcPts val="900"/>
              </a:spcAft>
            </a:pPr>
            <a:r>
              <a:rPr sz="1050" b="0">
                <a:solidFill>
                  <a:srgbClr val="1F2937"/>
                </a:solidFill>
                <a:latin typeface="Arial"/>
              </a:rPr>
              <a:t>5.  Cable protection within the cut — sleeve, tape or direct — and its fixing.</a:t>
            </a:r>
          </a:p>
          <a:p>
            <a:pPr>
              <a:spcAft>
                <a:spcPts val="900"/>
              </a:spcAft>
            </a:pPr>
            <a:r>
              <a:rPr sz="1050" b="0">
                <a:solidFill>
                  <a:srgbClr val="1F2937"/>
                </a:solidFill>
                <a:latin typeface="Arial"/>
              </a:rPr>
              <a:t>6.  Backfill and sealant specification, layer by layer, with cure time before the area returns to operational service.</a:t>
            </a:r>
          </a:p>
          <a:p>
            <a:pPr>
              <a:spcAft>
                <a:spcPts val="900"/>
              </a:spcAft>
            </a:pPr>
            <a:r>
              <a:rPr sz="1050" b="0">
                <a:solidFill>
                  <a:srgbClr val="1F2937"/>
                </a:solidFill>
                <a:latin typeface="Arial"/>
              </a:rPr>
              <a:t>7.  Reinstatement of the pavement surface and the finished surface tolerance.</a:t>
            </a:r>
          </a:p>
          <a:p>
            <a:pPr>
              <a:spcAft>
                <a:spcPts val="900"/>
              </a:spcAft>
            </a:pPr>
            <a:r>
              <a:rPr sz="1050" b="1">
                <a:solidFill>
                  <a:srgbClr val="1E2761"/>
                </a:solidFill>
                <a:latin typeface="Arial"/>
              </a:rPr>
              <a:t>Transition</a:t>
            </a:r>
          </a:p>
          <a:p>
            <a:pPr>
              <a:spcAft>
                <a:spcPts val="900"/>
              </a:spcAft>
            </a:pPr>
            <a:r>
              <a:rPr sz="1050" b="0">
                <a:solidFill>
                  <a:srgbClr val="B3261E"/>
                </a:solidFill>
                <a:latin typeface="Arial"/>
              </a:rPr>
              <a:t>8.  How the saw cut route transitions into the existing duct in the NON-CONSTRUCTION area — this is open technical query Q3 and it governs the ends of every run.</a:t>
            </a:r>
          </a:p>
          <a:p>
            <a:pPr>
              <a:spcAft>
                <a:spcPts val="900"/>
              </a:spcAft>
            </a:pPr>
            <a:r>
              <a:rPr sz="1050" b="0">
                <a:solidFill>
                  <a:srgbClr val="B3261E"/>
                </a:solidFill>
                <a:latin typeface="Arial"/>
              </a:rPr>
              <a:t>9.  Treatment where the saw cut crosses the existing 4 x 110 mm secondary duct bank exposed at 50 mm milling depth.</a:t>
            </a:r>
          </a:p>
          <a:p>
            <a:pPr>
              <a:spcAft>
                <a:spcPts val="900"/>
              </a:spcAft>
            </a:pPr>
            <a:r>
              <a:rPr sz="1050" b="0">
                <a:solidFill>
                  <a:srgbClr val="B3261E"/>
                </a:solidFill>
                <a:latin typeface="Arial"/>
              </a:rPr>
              <a:t>Items 8 and 9 are the two that are not purely detailing. Item 8 is open technical query Q3 — the transition into the non-construction area was never answered, and every run has two ends. Item 9 is a physical clash with a duct bank the field already found at 50 mm. Neither can be closed out on site.</a:t>
            </a:r>
          </a:p>
        </p:txBody>
      </p:sp>
      <p:sp>
        <p:nvSpPr>
          <p:cNvPr id="16" name="TextBox 15"/>
          <p:cNvSpPr txBox="1"/>
          <p:nvPr/>
        </p:nvSpPr>
        <p:spPr>
          <a:xfrm>
            <a:off x="457200" y="10149840"/>
            <a:ext cx="14173200" cy="365760"/>
          </a:xfrm>
          <a:prstGeom prst="rect">
            <a:avLst/>
          </a:prstGeom>
          <a:noFill/>
        </p:spPr>
        <p:txBody>
          <a:bodyPr wrap="square" lIns="0" rIns="0" tIns="0" bIns="0">
            <a:spAutoFit/>
          </a:bodyPr>
          <a:lstStyle/>
          <a:p>
            <a:r>
              <a:rPr sz="750">
                <a:solidFill>
                  <a:srgbClr val="5F6368"/>
                </a:solidFill>
                <a:latin typeface="Arial"/>
              </a:rPr>
              <a:t>This sheet is a HOLD. It states what the awaited detail has to resolve and the quantities that depend on it; it does not show a section, because none has been issued. Quantities are per the Rev P08 final scope of work (30.07.2026) and are FOR CHECK by the Engineer.     ·     AUH-SK-AGL-TWYE-001 REV P08  ·  Prepared: Mohammed, AGL Team Leader — ADB SAFEGATE  ·  Approved: Ragesh Menon, AGL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b38ddd-8735-419b-ba7b-70cccd79be33}" enabled="0" method="" siteId="{94b38ddd-8735-419b-ba7b-70cccd79be33}" removed="1"/>
</clbl:labelList>
</file>

<file path=docProps/app.xml><?xml version="1.0" encoding="utf-8"?>
<Properties xmlns="http://schemas.openxmlformats.org/officeDocument/2006/extended-properties" xmlns:vt="http://schemas.openxmlformats.org/officeDocument/2006/docPropsVTypes">
  <TotalTime>1</TotalTime>
  <Words>2622</Words>
  <Application>Microsoft Office PowerPoint</Application>
  <PresentationFormat>Custom</PresentationFormat>
  <Paragraphs>461</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Faheem</cp:lastModifiedBy>
  <cp:revision>1</cp:revision>
  <dcterms:created xsi:type="dcterms:W3CDTF">2026-07-28T13:45:45Z</dcterms:created>
  <dcterms:modified xsi:type="dcterms:W3CDTF">2026-07-28T13:47:42Z</dcterms:modified>
</cp:coreProperties>
</file>