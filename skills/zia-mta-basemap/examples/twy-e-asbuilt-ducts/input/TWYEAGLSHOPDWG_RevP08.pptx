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96" r:id="rId2"/>
    <p:sldId id="302" r:id="rId3"/>
    <p:sldId id="303" r:id="rId4"/>
    <p:sldId id="304" r:id="rId5"/>
    <p:sldId id="305" r:id="rId6"/>
    <p:sldId id="300" r:id="rId7"/>
    <p:sldId id="265" r:id="rId8"/>
  </p:sldIdLst>
  <p:sldSz cx="15124113" cy="10688638"/>
  <p:notesSz cx="10688638" cy="151241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04" autoAdjust="0"/>
    <p:restoredTop sz="94610"/>
  </p:normalViewPr>
  <p:slideViewPr>
    <p:cSldViewPr snapToGrid="0" snapToObjects="1">
      <p:cViewPr>
        <p:scale>
          <a:sx n="75" d="100"/>
          <a:sy n="75" d="100"/>
        </p:scale>
        <p:origin x="-90" y="-22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4975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914400" y="1920240"/>
            <a:ext cx="1325880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SHOP DRAWINGS — ELECTRICAL / AGL SCOPE</a:t>
            </a:r>
            <a:endParaRPr lang="en-US" sz="4000" dirty="0"/>
          </a:p>
        </p:txBody>
      </p:sp>
      <p:sp>
        <p:nvSpPr>
          <p:cNvPr id="3" name="Text 1"/>
          <p:cNvSpPr/>
          <p:nvPr/>
        </p:nvSpPr>
        <p:spPr>
          <a:xfrm>
            <a:off x="914400" y="2926080"/>
            <a:ext cx="13258800" cy="1097280"/>
          </a:xfrm>
          <a:prstGeom prst="rect">
            <a:avLst/>
          </a:prstGeom>
          <a:noFill/>
          <a:ln/>
        </p:spPr>
        <p:txBody>
          <a:bodyPr wrap="square" lIns="0" tIns="0" rIns="0" bIns="0" rtlCol="0" anchor="ctr"/>
          <a:lstStyle/>
          <a:p>
            <a:pPr marL="0" indent="0">
              <a:buNone/>
            </a:pPr>
            <a:r>
              <a:rPr lang="en-US" sz="2000" dirty="0">
                <a:solidFill>
                  <a:srgbClr val="CADCFC"/>
                </a:solidFill>
                <a:latin typeface="Arial" pitchFamily="34" charset="0"/>
                <a:ea typeface="Arial" pitchFamily="34" charset="-122"/>
                <a:cs typeface="Arial" pitchFamily="34" charset="-120"/>
              </a:rPr>
              <a:t>RECTIFICATION OF TWY E BETWEEN E4 &amp; E6 (ZIA)</a:t>
            </a:r>
            <a:endParaRPr lang="en-US" sz="2000" dirty="0"/>
          </a:p>
          <a:p>
            <a:pPr marL="0" indent="0">
              <a:buNone/>
            </a:pPr>
            <a:r>
              <a:rPr lang="en-US" sz="2000" dirty="0">
                <a:solidFill>
                  <a:srgbClr val="CADCFC"/>
                </a:solidFill>
                <a:latin typeface="Arial" pitchFamily="34" charset="0"/>
                <a:ea typeface="Arial" pitchFamily="34" charset="-122"/>
                <a:cs typeface="Arial" pitchFamily="34" charset="-120"/>
              </a:rPr>
              <a:t>AGL WORKS AT THREE (3) MILLING LOCATIONS — FIELD CONDITION SCOPE</a:t>
            </a:r>
            <a:endParaRPr lang="en-US" sz="2000" dirty="0"/>
          </a:p>
        </p:txBody>
      </p:sp>
      <p:sp>
        <p:nvSpPr>
          <p:cNvPr id="4" name="Text 2"/>
          <p:cNvSpPr/>
          <p:nvPr/>
        </p:nvSpPr>
        <p:spPr>
          <a:xfrm>
            <a:off x="914400" y="4937760"/>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Document No.</a:t>
            </a:r>
            <a:endParaRPr lang="en-US" sz="1300" dirty="0"/>
          </a:p>
        </p:txBody>
      </p:sp>
      <p:sp>
        <p:nvSpPr>
          <p:cNvPr id="5" name="Text 3"/>
          <p:cNvSpPr/>
          <p:nvPr/>
        </p:nvSpPr>
        <p:spPr>
          <a:xfrm>
            <a:off x="4023360" y="4937760"/>
            <a:ext cx="10241280" cy="384048"/>
          </a:xfrm>
          <a:prstGeom prst="rect">
            <a:avLst/>
          </a:prstGeom>
          <a:noFill/>
          <a:ln/>
        </p:spPr>
        <p:txBody>
          <a:bodyPr wrap="square" lIns="0" tIns="0" rIns="0" bIns="0" rtlCol="0" anchor="ctr"/>
          <a:lstStyle/>
          <a:p>
            <a:pPr marL="0" indent="0">
              <a:buNone/>
            </a:pPr>
            <a:r>
              <a:rPr sz="1300">
                <a:solidFill>
                  <a:srgbClr val="FFFFFF"/>
                </a:solidFill>
                <a:latin typeface="Arial"/>
              </a:rPr>
              <a:t>AUH-SK-AGL-TWYE-001 (sheets 1001 / 1002 / 1003)  ·  Revision P08 — FINAL SCOPE OF WORK</a:t>
            </a:r>
            <a:endParaRPr lang="en-US" sz="1300" dirty="0"/>
          </a:p>
        </p:txBody>
      </p:sp>
      <p:sp>
        <p:nvSpPr>
          <p:cNvPr id="6" name="Text 4"/>
          <p:cNvSpPr/>
          <p:nvPr/>
        </p:nvSpPr>
        <p:spPr>
          <a:xfrm>
            <a:off x="914400" y="5413248"/>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Basis of scope</a:t>
            </a:r>
            <a:endParaRPr lang="en-US" sz="1300" dirty="0"/>
          </a:p>
        </p:txBody>
      </p:sp>
      <p:sp>
        <p:nvSpPr>
          <p:cNvPr id="7" name="Text 5"/>
          <p:cNvSpPr/>
          <p:nvPr/>
        </p:nvSpPr>
        <p:spPr>
          <a:xfrm>
            <a:off x="4023360" y="5413248"/>
            <a:ext cx="10241280" cy="384048"/>
          </a:xfrm>
          <a:prstGeom prst="rect">
            <a:avLst/>
          </a:prstGeom>
          <a:noFill/>
          <a:ln/>
        </p:spPr>
        <p:txBody>
          <a:bodyPr wrap="square" lIns="0" tIns="0" rIns="0" bIns="0" rtlCol="0" anchor="ctr"/>
          <a:lstStyle/>
          <a:p>
            <a:pPr marL="0" indent="0">
              <a:buNone/>
            </a:pPr>
            <a:r>
              <a:rPr sz="1300">
                <a:solidFill>
                  <a:srgbClr val="FFFFFF"/>
                </a:solidFill>
                <a:latin typeface="Arial"/>
              </a:rPr>
              <a:t>Final scope of work issued 30.07.2026 — supersedes the Rev P06 / P07 field-sheet quantities. Field verification sheets: Document_3 (LOC-01) · Second_milling_area rev _1 (LOC-02 / LOC-03).</a:t>
            </a:r>
            <a:endParaRPr lang="en-US" sz="1300" dirty="0"/>
          </a:p>
        </p:txBody>
      </p:sp>
      <p:sp>
        <p:nvSpPr>
          <p:cNvPr id="8" name="Text 6"/>
          <p:cNvSpPr/>
          <p:nvPr/>
        </p:nvSpPr>
        <p:spPr>
          <a:xfrm>
            <a:off x="914400" y="5888736"/>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Base layer</a:t>
            </a:r>
            <a:endParaRPr lang="en-US" sz="1300" dirty="0"/>
          </a:p>
        </p:txBody>
      </p:sp>
      <p:sp>
        <p:nvSpPr>
          <p:cNvPr id="9" name="Text 7"/>
          <p:cNvSpPr/>
          <p:nvPr/>
        </p:nvSpPr>
        <p:spPr>
          <a:xfrm>
            <a:off x="4023360" y="5888736"/>
            <a:ext cx="10241280" cy="384048"/>
          </a:xfrm>
          <a:prstGeom prst="rect">
            <a:avLst/>
          </a:prstGeom>
          <a:noFill/>
          <a:ln/>
        </p:spPr>
        <p:txBody>
          <a:bodyPr wrap="square" lIns="0" tIns="0" rIns="0" bIns="0" rtlCol="0" anchor="ctr"/>
          <a:lstStyle/>
          <a:p>
            <a:pPr marL="0" indent="0">
              <a:buNone/>
            </a:pPr>
            <a:endParaRPr lang="en-US" sz="1300" dirty="0"/>
          </a:p>
        </p:txBody>
      </p:sp>
      <p:sp>
        <p:nvSpPr>
          <p:cNvPr id="10" name="Text 8"/>
          <p:cNvSpPr/>
          <p:nvPr/>
        </p:nvSpPr>
        <p:spPr>
          <a:xfrm>
            <a:off x="914400" y="6364224"/>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Prepared by</a:t>
            </a:r>
            <a:endParaRPr lang="en-US" sz="1300" dirty="0"/>
          </a:p>
        </p:txBody>
      </p:sp>
      <p:sp>
        <p:nvSpPr>
          <p:cNvPr id="11" name="Text 9"/>
          <p:cNvSpPr/>
          <p:nvPr/>
        </p:nvSpPr>
        <p:spPr>
          <a:xfrm>
            <a:off x="4023360" y="6364224"/>
            <a:ext cx="10241280"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Mohammed — AGL Team Leader, ADB SAFEGATE AGL Team  ·  Issued 28.07.2026 · Rev P08 30.07.2026</a:t>
            </a:r>
            <a:endParaRPr lang="en-US" sz="1300" dirty="0"/>
          </a:p>
        </p:txBody>
      </p:sp>
      <p:sp>
        <p:nvSpPr>
          <p:cNvPr id="12" name="Text 10"/>
          <p:cNvSpPr/>
          <p:nvPr/>
        </p:nvSpPr>
        <p:spPr>
          <a:xfrm>
            <a:off x="914400" y="7863840"/>
            <a:ext cx="13258800" cy="822960"/>
          </a:xfrm>
          <a:prstGeom prst="rect">
            <a:avLst/>
          </a:prstGeom>
          <a:noFill/>
          <a:ln/>
        </p:spPr>
        <p:txBody>
          <a:bodyPr wrap="square" lIns="0" tIns="0" rIns="0" bIns="0" rtlCol="0" anchor="ctr"/>
          <a:lstStyle/>
          <a:p>
            <a:pPr marL="0" indent="0">
              <a:buNone/>
            </a:pPr>
            <a:r>
              <a:rPr sz="1200">
                <a:solidFill>
                  <a:srgbClr val="CADCFC"/>
                </a:solidFill>
                <a:latin typeface="Arial"/>
              </a:rPr>
              <a:t>REV P08 — the final scope of work. All secondary routes at all three locations are SAW CUT; no duct route remains in the AGL scope. New SIDE-ENTRY SHALLOW BASES: LOC-01 11 No. 8" (9 bases cored out — 3 No. 12" + 6 No. 8" — and 2 No. 12" removed prior); LOC-02 1 No. 12" (cored at TCCECH-03/008); LOC-03 1 No. 12" at TCCECH-03/003 only — balance 3 No. TCC secondary cable only into existing 12" bases. The affected-asset list reduces from 30 to 16. A saw cut and side-entry base detail sheet is added and is held for the detail drawing. The as-built duct geometry, registration and stated limits of Rev P06 are carried forward unchanged.</a:t>
            </a:r>
            <a:endParaRPr lang="en-US" sz="1200" dirty="0"/>
          </a:p>
        </p:txBody>
      </p:sp>
    </p:spTree>
    <p:extLst>
      <p:ext uri="{BB962C8B-B14F-4D97-AF65-F5344CB8AC3E}">
        <p14:creationId xmlns:p14="http://schemas.microsoft.com/office/powerpoint/2010/main" val="1546317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4173200" cy="502920"/>
          </a:xfrm>
          <a:prstGeom prst="rect">
            <a:avLst/>
          </a:prstGeom>
          <a:noFill/>
        </p:spPr>
        <p:txBody>
          <a:bodyPr wrap="square" lIns="0" rIns="0" anchor="ctr">
            <a:spAutoFit/>
          </a:bodyPr>
          <a:lstStyle/>
          <a:p>
            <a:r>
              <a:rPr sz="2000" b="1">
                <a:solidFill>
                  <a:srgbClr val="1E2761"/>
                </a:solidFill>
                <a:latin typeface="Arial"/>
              </a:rPr>
              <a:t>SCOPE OF WORK &amp; SEQUENCE — TWY E (E4–E6)  ·  REV P08 (FINAL SCOPE)</a:t>
            </a:r>
          </a:p>
        </p:txBody>
      </p:sp>
      <p:sp>
        <p:nvSpPr>
          <p:cNvPr id="3" name="P08 PANEL · SCOPE OF WORK — SEQUENCE OF "/>
          <p:cNvSpPr/>
          <p:nvPr/>
        </p:nvSpPr>
        <p:spPr>
          <a:xfrm>
            <a:off x="457200" y="914400"/>
            <a:ext cx="6958584" cy="594360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3504" y="1024128"/>
            <a:ext cx="6665976" cy="237744"/>
          </a:xfrm>
          <a:prstGeom prst="rect">
            <a:avLst/>
          </a:prstGeom>
          <a:noFill/>
        </p:spPr>
        <p:txBody>
          <a:bodyPr wrap="square" lIns="0" tIns="0" rIns="0" bIns="0">
            <a:spAutoFit/>
          </a:bodyPr>
          <a:lstStyle/>
          <a:p>
            <a:r>
              <a:rPr sz="950" b="1">
                <a:solidFill>
                  <a:srgbClr val="1E2761"/>
                </a:solidFill>
                <a:latin typeface="Arial"/>
              </a:rPr>
              <a:t>SCOPE OF WORK — SEQUENCE OF AGL ACTIVITIES</a:t>
            </a:r>
          </a:p>
        </p:txBody>
      </p:sp>
      <p:sp>
        <p:nvSpPr>
          <p:cNvPr id="5" name="TextBox 4"/>
          <p:cNvSpPr txBox="1"/>
          <p:nvPr/>
        </p:nvSpPr>
        <p:spPr>
          <a:xfrm>
            <a:off x="603504" y="1316736"/>
            <a:ext cx="6665976" cy="5435600"/>
          </a:xfrm>
          <a:prstGeom prst="rect">
            <a:avLst/>
          </a:prstGeom>
          <a:noFill/>
        </p:spPr>
        <p:txBody>
          <a:bodyPr wrap="square" lIns="0" tIns="0" rIns="0" bIns="0">
            <a:spAutoFit/>
          </a:bodyPr>
          <a:lstStyle/>
          <a:p>
            <a:pPr>
              <a:spcAft>
                <a:spcPts val="800"/>
              </a:spcAft>
            </a:pPr>
            <a:r>
              <a:rPr sz="1050" b="1">
                <a:solidFill>
                  <a:srgbClr val="1E2761"/>
                </a:solidFill>
                <a:latin typeface="Arial"/>
              </a:rPr>
              <a:t>PHASE 1 — BEFORE ASPHALT MILLING · AGL ASSET REMOVAL (BEFORE CIVIL WORKS)</a:t>
            </a:r>
          </a:p>
          <a:p>
            <a:pPr>
              <a:spcAft>
                <a:spcPts val="800"/>
              </a:spcAft>
            </a:pPr>
            <a:r>
              <a:rPr sz="1050" b="0">
                <a:solidFill>
                  <a:srgbClr val="1F2937"/>
                </a:solidFill>
                <a:latin typeface="Arial"/>
              </a:rPr>
              <a:t>R1.  Isolate affected circuits; remove affected fittings; core out bases — LOC-01 9 No. (3 No. 12" + 6 No. 8"; 2 No. 12" bases removed prior); LOC-02 TCCECH-03/008 12"; LOC-03 TCCECH-03/003 12".</a:t>
            </a:r>
          </a:p>
          <a:p>
            <a:pPr>
              <a:spcAft>
                <a:spcPts val="800"/>
              </a:spcAft>
            </a:pPr>
            <a:r>
              <a:rPr sz="1050" b="0">
                <a:solidFill>
                  <a:srgbClr val="1F2937"/>
                </a:solidFill>
                <a:latin typeface="Arial"/>
              </a:rPr>
              <a:t>R2.  RRMs removed and protected (RRM.555, RRM.557, RRM.670) — re-fixed after civil works.</a:t>
            </a:r>
          </a:p>
          <a:p>
            <a:pPr>
              <a:spcAft>
                <a:spcPts val="800"/>
              </a:spcAft>
            </a:pPr>
            <a:r>
              <a:rPr sz="1050" b="0">
                <a:solidFill>
                  <a:srgbClr val="1F2937"/>
                </a:solidFill>
                <a:latin typeface="Arial"/>
              </a:rPr>
              <a:t>R3.  Dummy plates installed on open bases for protection during milling and civil works.</a:t>
            </a:r>
          </a:p>
          <a:p>
            <a:pPr>
              <a:spcAft>
                <a:spcPts val="800"/>
              </a:spcAft>
            </a:pPr>
            <a:r>
              <a:rPr sz="1050" b="1">
                <a:solidFill>
                  <a:srgbClr val="1E2761"/>
                </a:solidFill>
                <a:latin typeface="Arial"/>
              </a:rPr>
              <a:t>PHASE 2 — CIVIL WORKS · ASPHALT MILLING &amp; LAYING (AGL ATTENDANCE)</a:t>
            </a:r>
          </a:p>
          <a:p>
            <a:pPr>
              <a:spcAft>
                <a:spcPts val="800"/>
              </a:spcAft>
            </a:pPr>
            <a:r>
              <a:rPr sz="1050" b="0">
                <a:solidFill>
                  <a:srgbClr val="1F2937"/>
                </a:solidFill>
                <a:latin typeface="Arial"/>
              </a:rPr>
              <a:t>A1.  Where secondary duct or secondary cable is laid by the civil team, a mandrel test is to be carried out on every duct and witnessed by the AGL team BEFORE asphalt laying. No asphalt to be laid over an unwitnessed duct.</a:t>
            </a:r>
          </a:p>
          <a:p>
            <a:pPr>
              <a:spcAft>
                <a:spcPts val="800"/>
              </a:spcAft>
            </a:pPr>
            <a:r>
              <a:rPr sz="1050" b="1">
                <a:solidFill>
                  <a:srgbClr val="1E2761"/>
                </a:solidFill>
                <a:latin typeface="Arial"/>
              </a:rPr>
              <a:t>PHASE 3 — AFTER CIVIL WORKS · AGL INSTALLATION</a:t>
            </a:r>
          </a:p>
          <a:p>
            <a:pPr>
              <a:spcAft>
                <a:spcPts val="800"/>
              </a:spcAft>
            </a:pPr>
            <a:r>
              <a:rPr sz="1050" b="0">
                <a:solidFill>
                  <a:srgbClr val="1F2937"/>
                </a:solidFill>
                <a:latin typeface="Arial"/>
              </a:rPr>
              <a:t>1.  AGL installation works to commence only after written confirmation from the civil team that the asphalt curing period is complete.</a:t>
            </a:r>
          </a:p>
          <a:p>
            <a:pPr>
              <a:spcAft>
                <a:spcPts val="800"/>
              </a:spcAft>
            </a:pPr>
            <a:r>
              <a:rPr sz="1050" b="0">
                <a:solidFill>
                  <a:srgbClr val="1F2937"/>
                </a:solidFill>
                <a:latin typeface="Arial"/>
              </a:rPr>
              <a:t>2.  Saw cutting to commence only after the survey points are confirmed in the field by the civil survey team, and not before the saw cut detail drawing is issued. At Rev P08 EVERY secondary route at all three locations is saw cut — no duct route remains in the AGL scope.</a:t>
            </a:r>
          </a:p>
          <a:p>
            <a:pPr>
              <a:spcAft>
                <a:spcPts val="800"/>
              </a:spcAft>
            </a:pPr>
            <a:r>
              <a:rPr sz="1050" b="0">
                <a:solidFill>
                  <a:srgbClr val="1F2937"/>
                </a:solidFill>
                <a:latin typeface="Arial"/>
              </a:rPr>
              <a:t>3.  Installation of new bases — SIDE-ENTRY SHALLOW BASE: 11 No. 8" at Location 1; 1 No. 12" at Location 2; 1 No. 12" at Location 3 (TCCECH-03/003 — no side-entry provision in existing base). Balance 3 No. TCC at Location 3: existing 12" shallow base maintained, new side-entry cable only.</a:t>
            </a:r>
          </a:p>
          <a:p>
            <a:pPr>
              <a:spcAft>
                <a:spcPts val="800"/>
              </a:spcAft>
            </a:pPr>
            <a:r>
              <a:rPr sz="1050" b="0">
                <a:solidFill>
                  <a:srgbClr val="1F2937"/>
                </a:solidFill>
                <a:latin typeface="Arial"/>
              </a:rPr>
              <a:t>4.  Laying of new secondary cable through the saw cut. No joints — full manhole-to-light replacement.</a:t>
            </a:r>
          </a:p>
          <a:p>
            <a:pPr>
              <a:spcAft>
                <a:spcPts val="800"/>
              </a:spcAft>
            </a:pPr>
            <a:r>
              <a:rPr sz="1050" b="0">
                <a:solidFill>
                  <a:srgbClr val="1F2937"/>
                </a:solidFill>
                <a:latin typeface="Arial"/>
              </a:rPr>
              <a:t>5.  Secondary cable termination, insulation resistance and continuity testing.</a:t>
            </a:r>
          </a:p>
          <a:p>
            <a:pPr>
              <a:spcAft>
                <a:spcPts val="800"/>
              </a:spcAft>
            </a:pPr>
            <a:r>
              <a:rPr sz="1050" b="0">
                <a:solidFill>
                  <a:srgbClr val="1F2937"/>
                </a:solidFill>
                <a:latin typeface="Arial"/>
              </a:rPr>
              <a:t>6.  Testing and commissioning of all affected circuits.</a:t>
            </a:r>
          </a:p>
          <a:p>
            <a:pPr>
              <a:spcAft>
                <a:spcPts val="800"/>
              </a:spcAft>
            </a:pPr>
            <a:r>
              <a:rPr sz="1050" b="0">
                <a:solidFill>
                  <a:srgbClr val="1F2937"/>
                </a:solidFill>
                <a:latin typeface="Arial"/>
              </a:rPr>
              <a:t>7.  Final functionality check, then handover to Operations for final inspection and return of the area to operational service.</a:t>
            </a:r>
          </a:p>
        </p:txBody>
      </p:sp>
      <p:sp>
        <p:nvSpPr>
          <p:cNvPr id="6" name="P08 PANEL · HOLD POINTS &amp; WITNESS REQUIR"/>
          <p:cNvSpPr/>
          <p:nvPr/>
        </p:nvSpPr>
        <p:spPr>
          <a:xfrm>
            <a:off x="457200" y="7010400"/>
            <a:ext cx="6958584" cy="243992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4" y="7112000"/>
            <a:ext cx="6665976" cy="237744"/>
          </a:xfrm>
          <a:prstGeom prst="rect">
            <a:avLst/>
          </a:prstGeom>
          <a:noFill/>
        </p:spPr>
        <p:txBody>
          <a:bodyPr wrap="square" lIns="0" tIns="0" rIns="0" bIns="0">
            <a:spAutoFit/>
          </a:bodyPr>
          <a:lstStyle/>
          <a:p>
            <a:r>
              <a:rPr sz="950" b="1">
                <a:solidFill>
                  <a:srgbClr val="1E2761"/>
                </a:solidFill>
                <a:latin typeface="Arial"/>
              </a:rPr>
              <a:t>HOLD POINTS &amp; WITNESS REQUIREMENTS</a:t>
            </a:r>
          </a:p>
        </p:txBody>
      </p:sp>
      <p:sp>
        <p:nvSpPr>
          <p:cNvPr id="8" name="TextBox 7"/>
          <p:cNvSpPr txBox="1"/>
          <p:nvPr/>
        </p:nvSpPr>
        <p:spPr>
          <a:xfrm>
            <a:off x="603504" y="7404100"/>
            <a:ext cx="6665976" cy="1754326"/>
          </a:xfrm>
          <a:prstGeom prst="rect">
            <a:avLst/>
          </a:prstGeom>
          <a:noFill/>
        </p:spPr>
        <p:txBody>
          <a:bodyPr wrap="square" lIns="0" tIns="0" rIns="0" bIns="0">
            <a:spAutoFit/>
          </a:bodyPr>
          <a:lstStyle/>
          <a:p>
            <a:pPr>
              <a:spcAft>
                <a:spcPts val="900"/>
              </a:spcAft>
            </a:pPr>
            <a:r>
              <a:rPr sz="1050" b="0">
                <a:solidFill>
                  <a:srgbClr val="1F2937"/>
                </a:solidFill>
                <a:latin typeface="Arial"/>
              </a:rPr>
              <a:t>H2   Curing complete — Civil.  Written confirmation of the asphalt curing period before AGL installation works start (Phase 3, Item 1).</a:t>
            </a:r>
          </a:p>
          <a:p>
            <a:pPr>
              <a:spcAft>
                <a:spcPts val="900"/>
              </a:spcAft>
            </a:pPr>
            <a:r>
              <a:rPr sz="1050" b="0">
                <a:solidFill>
                  <a:srgbClr val="1F2937"/>
                </a:solidFill>
                <a:latin typeface="Arial"/>
              </a:rPr>
              <a:t>H3   Setting-out — Civil survey.  Coordinates issued and field points confirmed before coring (Phase 1, R1) and before saw cutting (Phase 3, Item 2).</a:t>
            </a:r>
          </a:p>
          <a:p>
            <a:pPr>
              <a:spcAft>
                <a:spcPts val="900"/>
              </a:spcAft>
            </a:pPr>
            <a:r>
              <a:rPr sz="1050" b="0">
                <a:solidFill>
                  <a:srgbClr val="1F2937"/>
                </a:solidFill>
                <a:latin typeface="Arial"/>
              </a:rPr>
              <a:t>H4   Mandrel test — AGL witness.  Every duct laid by the civil team, before asphalt laying (Item A1).</a:t>
            </a:r>
          </a:p>
          <a:p>
            <a:pPr>
              <a:spcAft>
                <a:spcPts val="900"/>
              </a:spcAft>
            </a:pPr>
            <a:r>
              <a:rPr sz="1050" b="0">
                <a:solidFill>
                  <a:srgbClr val="1F2937"/>
                </a:solidFill>
                <a:latin typeface="Arial"/>
              </a:rPr>
              <a:t>H5   Functionality check — AGL / Operations.  Witnessed before handover (Phase 3, Item 7).</a:t>
            </a:r>
          </a:p>
          <a:p>
            <a:pPr>
              <a:spcAft>
                <a:spcPts val="900"/>
              </a:spcAft>
            </a:pPr>
            <a:r>
              <a:rPr sz="1050" b="0">
                <a:solidFill>
                  <a:srgbClr val="B3261E"/>
                </a:solidFill>
                <a:latin typeface="Arial"/>
              </a:rPr>
              <a:t>H6   Saw cut detail — AGL / Engineer.  No saw cutting before the saw cut and side-entry base detail drawing is issued and accepted (Rev P08).</a:t>
            </a:r>
          </a:p>
        </p:txBody>
      </p:sp>
      <p:sp>
        <p:nvSpPr>
          <p:cNvPr id="9" name="P08 PANEL · TECHNICAL QUERY — CONFIRMATI"/>
          <p:cNvSpPr/>
          <p:nvPr/>
        </p:nvSpPr>
        <p:spPr>
          <a:xfrm>
            <a:off x="7699248" y="914400"/>
            <a:ext cx="6958584" cy="243992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45552" y="1024128"/>
            <a:ext cx="6665976" cy="237744"/>
          </a:xfrm>
          <a:prstGeom prst="rect">
            <a:avLst/>
          </a:prstGeom>
          <a:noFill/>
        </p:spPr>
        <p:txBody>
          <a:bodyPr wrap="square" lIns="0" tIns="0" rIns="0" bIns="0">
            <a:spAutoFit/>
          </a:bodyPr>
          <a:lstStyle/>
          <a:p>
            <a:r>
              <a:rPr sz="950" b="1">
                <a:solidFill>
                  <a:srgbClr val="1E2761"/>
                </a:solidFill>
                <a:latin typeface="Arial"/>
              </a:rPr>
              <a:t>TECHNICAL QUERY — CONFIRMATION REQUIRED (NOT A CONSTRUCTION INSTRUCTION)</a:t>
            </a:r>
          </a:p>
        </p:txBody>
      </p:sp>
      <p:sp>
        <p:nvSpPr>
          <p:cNvPr id="11" name="TextBox 10"/>
          <p:cNvSpPr txBox="1"/>
          <p:nvPr/>
        </p:nvSpPr>
        <p:spPr>
          <a:xfrm>
            <a:off x="7845552" y="1316736"/>
            <a:ext cx="6665976" cy="1005840"/>
          </a:xfrm>
          <a:prstGeom prst="rect">
            <a:avLst/>
          </a:prstGeom>
          <a:noFill/>
        </p:spPr>
        <p:txBody>
          <a:bodyPr wrap="square" lIns="0" tIns="0" rIns="0" bIns="0">
            <a:spAutoFit/>
          </a:bodyPr>
          <a:lstStyle/>
          <a:p>
            <a:pPr>
              <a:spcAft>
                <a:spcPts val="900"/>
              </a:spcAft>
            </a:pPr>
            <a:r>
              <a:rPr sz="1050" b="1">
                <a:solidFill>
                  <a:srgbClr val="1F2937"/>
                </a:solidFill>
                <a:latin typeface="Arial"/>
              </a:rPr>
              <a:t>Subject:  existing 4 x 110 mm secondary duct — cover, reuse and continuity</a:t>
            </a:r>
          </a:p>
          <a:p>
            <a:pPr>
              <a:spcAft>
                <a:spcPts val="900"/>
              </a:spcAft>
            </a:pPr>
            <a:r>
              <a:rPr sz="1050" b="0">
                <a:solidFill>
                  <a:srgbClr val="1F2937"/>
                </a:solidFill>
                <a:latin typeface="Arial"/>
              </a:rPr>
              <a:t>Field condition:  the existing 4 x 110 mm secondary duct bank was exposed at 50 mm milling depth.</a:t>
            </a:r>
          </a:p>
          <a:p>
            <a:pPr>
              <a:spcAft>
                <a:spcPts val="900"/>
              </a:spcAft>
            </a:pPr>
            <a:r>
              <a:rPr sz="1050" b="0">
                <a:solidFill>
                  <a:srgbClr val="1F2937"/>
                </a:solidFill>
                <a:latin typeface="Arial"/>
              </a:rPr>
              <a:t>Q1.  Confirmation required from the civil team before any duct is re-laid on the existing duct alignment.</a:t>
            </a:r>
          </a:p>
          <a:p>
            <a:pPr>
              <a:spcAft>
                <a:spcPts val="900"/>
              </a:spcAft>
            </a:pPr>
            <a:r>
              <a:rPr sz="1050" b="0">
                <a:solidFill>
                  <a:srgbClr val="1F2937"/>
                </a:solidFill>
                <a:latin typeface="Arial"/>
              </a:rPr>
              <a:t>Q2.  The existing duct cannot be reused for the new secondary cable. The existing cables are obsolete and are to be withdrawn, and the existing duct cross-section will not accommodate the new secondary cable.</a:t>
            </a:r>
          </a:p>
          <a:p>
            <a:pPr>
              <a:spcAft>
                <a:spcPts val="900"/>
              </a:spcAft>
            </a:pPr>
            <a:r>
              <a:rPr sz="1050" b="0">
                <a:solidFill>
                  <a:srgbClr val="1F2937"/>
                </a:solidFill>
                <a:latin typeface="Arial"/>
              </a:rPr>
              <a:t>Q3.  If new duct sized for the new secondary cable is laid within the construction area, confirmation is required from Civil on how the transition into the duct in the non-construction area is to be made. The same condition is expected over the full length, which would otherwise require saw cutting for the full length.</a:t>
            </a:r>
          </a:p>
        </p:txBody>
      </p:sp>
      <p:sp>
        <p:nvSpPr>
          <p:cNvPr id="12" name="P08 PANEL · AGL TEAM PROPOSAL"/>
          <p:cNvSpPr/>
          <p:nvPr/>
        </p:nvSpPr>
        <p:spPr>
          <a:xfrm>
            <a:off x="7699248" y="3500628"/>
            <a:ext cx="6958584" cy="221132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45552" y="3610356"/>
            <a:ext cx="6665976" cy="237744"/>
          </a:xfrm>
          <a:prstGeom prst="rect">
            <a:avLst/>
          </a:prstGeom>
          <a:noFill/>
        </p:spPr>
        <p:txBody>
          <a:bodyPr wrap="square" lIns="0" tIns="0" rIns="0" bIns="0">
            <a:spAutoFit/>
          </a:bodyPr>
          <a:lstStyle/>
          <a:p>
            <a:r>
              <a:rPr sz="950" b="1">
                <a:solidFill>
                  <a:srgbClr val="1E2761"/>
                </a:solidFill>
                <a:latin typeface="Arial"/>
              </a:rPr>
              <a:t>AGL TEAM PROPOSAL</a:t>
            </a:r>
          </a:p>
        </p:txBody>
      </p:sp>
      <p:sp>
        <p:nvSpPr>
          <p:cNvPr id="14" name="TextBox 13"/>
          <p:cNvSpPr txBox="1"/>
          <p:nvPr/>
        </p:nvSpPr>
        <p:spPr>
          <a:xfrm>
            <a:off x="7845552" y="3902964"/>
            <a:ext cx="6665976" cy="603504"/>
          </a:xfrm>
          <a:prstGeom prst="rect">
            <a:avLst/>
          </a:prstGeom>
          <a:noFill/>
        </p:spPr>
        <p:txBody>
          <a:bodyPr wrap="square" lIns="0" tIns="0" rIns="0" bIns="0">
            <a:spAutoFit/>
          </a:bodyPr>
          <a:lstStyle/>
          <a:p>
            <a:pPr>
              <a:spcAft>
                <a:spcPts val="900"/>
              </a:spcAft>
            </a:pPr>
            <a:r>
              <a:rPr sz="1050" b="0">
                <a:solidFill>
                  <a:srgbClr val="1F2937"/>
                </a:solidFill>
                <a:latin typeface="Arial"/>
              </a:rPr>
              <a:t>Lay a full-stretch new secondary duct sized to accommodate the new secondary cable, giving a continuous route end to end and minimising saw cutting in the finished pavement.</a:t>
            </a:r>
          </a:p>
          <a:p>
            <a:pPr>
              <a:spcAft>
                <a:spcPts val="900"/>
              </a:spcAft>
            </a:pPr>
            <a:r>
              <a:rPr sz="1050" b="1">
                <a:solidFill>
                  <a:srgbClr val="B3261E"/>
                </a:solidFill>
                <a:latin typeface="Arial"/>
              </a:rPr>
              <a:t>Status at Rev P08:  NOT ADOPTED. The final scope of work issued 30.07.2026 adopts SAW CUT for every secondary route at all three locations, which answers Q3 — the full length is saw cut and no new duct is laid under the AGL scope.</a:t>
            </a:r>
          </a:p>
          <a:p>
            <a:pPr>
              <a:spcAft>
                <a:spcPts val="900"/>
              </a:spcAft>
            </a:pPr>
            <a:r>
              <a:rPr sz="1050" b="0">
                <a:solidFill>
                  <a:srgbClr val="1F2937"/>
                </a:solidFill>
                <a:latin typeface="Arial"/>
              </a:rPr>
              <a:t>Q1 and Q2 remain OPEN on the existing 4 x 110 mm duct bank: whether it is to be left in place, and confirmation that the obsolete cables are withdrawn. To be raised under RFI AUH-WP-AGL-TWYE-001. Not a construction instruction until answered.</a:t>
            </a:r>
          </a:p>
        </p:txBody>
      </p:sp>
      <p:sp>
        <p:nvSpPr>
          <p:cNvPr id="15" name="P08 PANEL · REV P08 — WHAT CHANGED"/>
          <p:cNvSpPr/>
          <p:nvPr/>
        </p:nvSpPr>
        <p:spPr>
          <a:xfrm>
            <a:off x="7699248" y="5858256"/>
            <a:ext cx="6958584" cy="4162044"/>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45552" y="5967984"/>
            <a:ext cx="6665976" cy="237744"/>
          </a:xfrm>
          <a:prstGeom prst="rect">
            <a:avLst/>
          </a:prstGeom>
          <a:noFill/>
        </p:spPr>
        <p:txBody>
          <a:bodyPr wrap="square" lIns="0" tIns="0" rIns="0" bIns="0">
            <a:spAutoFit/>
          </a:bodyPr>
          <a:lstStyle/>
          <a:p>
            <a:r>
              <a:rPr sz="950" b="1">
                <a:solidFill>
                  <a:srgbClr val="1E2761"/>
                </a:solidFill>
                <a:latin typeface="Arial"/>
              </a:rPr>
              <a:t>REV P08 — WHAT CHANGED</a:t>
            </a:r>
          </a:p>
        </p:txBody>
      </p:sp>
      <p:sp>
        <p:nvSpPr>
          <p:cNvPr id="17" name="TextBox 16"/>
          <p:cNvSpPr txBox="1"/>
          <p:nvPr/>
        </p:nvSpPr>
        <p:spPr>
          <a:xfrm>
            <a:off x="7845552" y="6260592"/>
            <a:ext cx="6665976" cy="3658108"/>
          </a:xfrm>
          <a:prstGeom prst="rect">
            <a:avLst/>
          </a:prstGeom>
          <a:noFill/>
        </p:spPr>
        <p:txBody>
          <a:bodyPr wrap="square" lIns="0" tIns="0" rIns="0" bIns="0">
            <a:spAutoFit/>
          </a:bodyPr>
          <a:lstStyle/>
          <a:p>
            <a:pPr>
              <a:spcAft>
                <a:spcPts val="800"/>
              </a:spcAft>
            </a:pPr>
            <a:r>
              <a:rPr sz="1050" b="0">
                <a:solidFill>
                  <a:srgbClr val="1F2937"/>
                </a:solidFill>
                <a:latin typeface="Arial"/>
              </a:rPr>
              <a:t>All secondary routes saw cut at all three locations; no duct route remains in the AGL scope.</a:t>
            </a:r>
          </a:p>
          <a:p>
            <a:pPr>
              <a:spcAft>
                <a:spcPts val="800"/>
              </a:spcAft>
            </a:pPr>
            <a:r>
              <a:rPr sz="1050" b="0">
                <a:solidFill>
                  <a:srgbClr val="1F2937"/>
                </a:solidFill>
                <a:latin typeface="Arial"/>
              </a:rPr>
              <a:t>New SIDE-ENTRY SHALLOW BASES — LOC-01 11 No. 8" (3 No. 12" + 6 No. 8" cored out, 2 No. 12" removed prior); LOC-02 and LOC-03 1 No. 12" each.</a:t>
            </a:r>
          </a:p>
          <a:p>
            <a:pPr>
              <a:spcAft>
                <a:spcPts val="800"/>
              </a:spcAft>
            </a:pPr>
            <a:r>
              <a:rPr sz="1050" b="0">
                <a:solidFill>
                  <a:srgbClr val="1F2937"/>
                </a:solidFill>
                <a:latin typeface="Arial"/>
              </a:rPr>
              <a:t>Affected fittings reduce from 30 to 16: LOC-01 11, LOC-02 1 (TCCECH-03/008), LOC-03 4 (TCC only — 03/003 cored, balance 3 secondary cable only).</a:t>
            </a:r>
          </a:p>
          <a:p>
            <a:pPr>
              <a:spcAft>
                <a:spcPts val="800"/>
              </a:spcAft>
            </a:pPr>
            <a:r>
              <a:rPr sz="1050" b="0">
                <a:solidFill>
                  <a:srgbClr val="B3261E"/>
                </a:solidFill>
                <a:latin typeface="Arial"/>
              </a:rPr>
              <a:t>Coring applies at all three locations: LOC-01 mixed 12"/8" (9 cored); LOC-02 and LOC-03 one 12" core each.</a:t>
            </a:r>
          </a:p>
        </p:txBody>
      </p:sp>
      <p:sp>
        <p:nvSpPr>
          <p:cNvPr id="18" name="TextBox 17"/>
          <p:cNvSpPr txBox="1"/>
          <p:nvPr/>
        </p:nvSpPr>
        <p:spPr>
          <a:xfrm>
            <a:off x="457200" y="10149840"/>
            <a:ext cx="14173200" cy="365760"/>
          </a:xfrm>
          <a:prstGeom prst="rect">
            <a:avLst/>
          </a:prstGeom>
          <a:noFill/>
        </p:spPr>
        <p:txBody>
          <a:bodyPr wrap="square" lIns="0" tIns="0" rIns="0" bIns="0">
            <a:spAutoFit/>
          </a:bodyPr>
          <a:lstStyle/>
          <a:p>
            <a:r>
              <a:rPr sz="750">
                <a:solidFill>
                  <a:srgbClr val="5F6368"/>
                </a:solidFill>
                <a:latin typeface="Arial"/>
              </a:rPr>
              <a:t>Sequence and hold points apply to all three milling locations (sheets 1001, 1002, 1003). Field condition governs. Where this sequence conflicts with a civil programme instruction, the AGL Team Leader is to be notified before work proceeds.     ·     AUH-SK-AGL-TWYE-001 REV P08 (FINAL SCOPE)  ·  Prepared: Mohammed, AGL Team Leader — ADB SAFEGATE  ·  Approved: Ragesh Menon, AGL Manager</a:t>
            </a:r>
          </a:p>
        </p:txBody>
      </p:sp>
    </p:spTree>
    <p:extLst>
      <p:ext uri="{BB962C8B-B14F-4D97-AF65-F5344CB8AC3E}">
        <p14:creationId xmlns:p14="http://schemas.microsoft.com/office/powerpoint/2010/main" val="149422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1   ·   DWG NO AUH-SK-AGL-TWYE-001-1001 REV P08</a:t>
            </a:r>
            <a:endParaRPr lang="en-US" sz="1500" dirty="0"/>
          </a:p>
        </p:txBody>
      </p:sp>
      <p:sp useBgFill="1">
        <p:nvSpPr>
          <p:cNvPr id="3" name="Shape 1"/>
          <p:cNvSpPr/>
          <p:nvPr/>
        </p:nvSpPr>
        <p:spPr>
          <a:xfrm>
            <a:off x="144426" y="552233"/>
            <a:ext cx="9555480" cy="9555480"/>
          </a:xfrm>
          <a:prstGeom prst="rect">
            <a:avLst/>
          </a:prstGeom>
          <a:ln w="12700">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prstDash val="solid"/>
          </a:ln>
        </p:spPr>
        <p:txBody>
          <a:bodyPr/>
          <a:lstStyle/>
          <a:p>
            <a:endParaRPr lang="en-US" dirty="0"/>
          </a:p>
        </p:txBody>
      </p:sp>
      <p:sp>
        <p:nvSpPr>
          <p:cNvPr id="105" name="ASBUILT DUCT · CV-NEW SEC SAWCUT · 29.7 m"/>
          <p:cNvSpPr/>
          <p:nvPr/>
        </p:nvSpPr>
        <p:spPr>
          <a:xfrm>
            <a:off x="4675694" y="3440146"/>
            <a:ext cx="2200193" cy="1699483"/>
          </a:xfrm>
          <a:custGeom>
            <a:avLst/>
            <a:gdLst/>
            <a:ahLst/>
            <a:cxnLst/>
            <a:rect l="l" t="t" r="r" b="b"/>
            <a:pathLst>
              <a:path w="2200193" h="1699483">
                <a:moveTo>
                  <a:pt x="0" y="1699483"/>
                </a:moveTo>
                <a:lnTo>
                  <a:pt x="2200193"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ASBUILT DUCT · CV-NEW SEC SAWCUT · 28.9 m"/>
          <p:cNvSpPr/>
          <p:nvPr/>
        </p:nvSpPr>
        <p:spPr>
          <a:xfrm>
            <a:off x="5222602" y="3440146"/>
            <a:ext cx="1653285" cy="2139824"/>
          </a:xfrm>
          <a:custGeom>
            <a:avLst/>
            <a:gdLst/>
            <a:ahLst/>
            <a:cxnLst/>
            <a:rect l="l" t="t" r="r" b="b"/>
            <a:pathLst>
              <a:path w="1653285" h="2139824">
                <a:moveTo>
                  <a:pt x="0" y="2139824"/>
                </a:moveTo>
                <a:lnTo>
                  <a:pt x="1653285"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ASBUILT DUCT · CV-NEW SEC SAWCUT · 30.0 m"/>
          <p:cNvSpPr/>
          <p:nvPr/>
        </p:nvSpPr>
        <p:spPr>
          <a:xfrm>
            <a:off x="5770408" y="3440146"/>
            <a:ext cx="1105479" cy="2585163"/>
          </a:xfrm>
          <a:custGeom>
            <a:avLst/>
            <a:gdLst/>
            <a:ahLst/>
            <a:cxnLst/>
            <a:rect l="l" t="t" r="r" b="b"/>
            <a:pathLst>
              <a:path w="1105479" h="2585163">
                <a:moveTo>
                  <a:pt x="0" y="2585163"/>
                </a:moveTo>
                <a:lnTo>
                  <a:pt x="1105479"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ASBUILT DUCT · CV-NEW SEC SAWCUT · 32.9 m"/>
          <p:cNvSpPr/>
          <p:nvPr/>
        </p:nvSpPr>
        <p:spPr>
          <a:xfrm>
            <a:off x="6315294" y="3440146"/>
            <a:ext cx="560593" cy="3028761"/>
          </a:xfrm>
          <a:custGeom>
            <a:avLst/>
            <a:gdLst/>
            <a:ahLst/>
            <a:cxnLst/>
            <a:rect l="l" t="t" r="r" b="b"/>
            <a:pathLst>
              <a:path w="560593" h="3028761">
                <a:moveTo>
                  <a:pt x="560593" y="0"/>
                </a:moveTo>
                <a:lnTo>
                  <a:pt x="0" y="3028761"/>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ASBUILT DUCT · CV-NEW SEC SAWCUT · 31.3 m"/>
          <p:cNvSpPr/>
          <p:nvPr/>
        </p:nvSpPr>
        <p:spPr>
          <a:xfrm>
            <a:off x="6857615" y="4147005"/>
            <a:ext cx="987563" cy="2757449"/>
          </a:xfrm>
          <a:custGeom>
            <a:avLst/>
            <a:gdLst/>
            <a:ahLst/>
            <a:cxnLst/>
            <a:rect l="l" t="t" r="r" b="b"/>
            <a:pathLst>
              <a:path w="987563" h="2757449">
                <a:moveTo>
                  <a:pt x="0" y="2757449"/>
                </a:moveTo>
                <a:lnTo>
                  <a:pt x="987563"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ASBUILT DUCT · CV-NEW SEC SAWCUT · 34.5 m"/>
          <p:cNvSpPr/>
          <p:nvPr/>
        </p:nvSpPr>
        <p:spPr>
          <a:xfrm>
            <a:off x="7405234" y="4147005"/>
            <a:ext cx="439944" cy="3197734"/>
          </a:xfrm>
          <a:custGeom>
            <a:avLst/>
            <a:gdLst/>
            <a:ahLst/>
            <a:cxnLst/>
            <a:rect l="l" t="t" r="r" b="b"/>
            <a:pathLst>
              <a:path w="439944" h="3197734">
                <a:moveTo>
                  <a:pt x="439944" y="0"/>
                </a:moveTo>
                <a:lnTo>
                  <a:pt x="0" y="3197734"/>
                </a:lnTo>
              </a:path>
            </a:pathLst>
          </a:custGeom>
          <a:noFill/>
          <a:ln w="15875" cap="flat" cmpd="sng" algn="ctr">
            <a:solidFill>
              <a:srgbClr val="70AD47">
                <a:lumMod val="75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ASBUILT DUCT · CV-NEW SEC SAWCUT · 35.1 m"/>
          <p:cNvSpPr/>
          <p:nvPr/>
        </p:nvSpPr>
        <p:spPr>
          <a:xfrm>
            <a:off x="7918320" y="4487928"/>
            <a:ext cx="394363" cy="3258901"/>
          </a:xfrm>
          <a:custGeom>
            <a:avLst/>
            <a:gdLst/>
            <a:ahLst/>
            <a:cxnLst/>
            <a:rect l="l" t="t" r="r" b="b"/>
            <a:pathLst>
              <a:path w="394363" h="3258901">
                <a:moveTo>
                  <a:pt x="0" y="3258901"/>
                </a:moveTo>
                <a:lnTo>
                  <a:pt x="394363" y="0"/>
                </a:lnTo>
              </a:path>
            </a:pathLst>
          </a:custGeom>
          <a:noFill/>
          <a:ln w="15875" cap="flat" cmpd="sng" algn="ctr">
            <a:solidFill>
              <a:srgbClr val="70AD47">
                <a:lumMod val="75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ASBUILT DUCT · CV-NEW SEC CONDUIT · 11.5 m"/>
          <p:cNvSpPr/>
          <p:nvPr/>
        </p:nvSpPr>
        <p:spPr>
          <a:xfrm>
            <a:off x="8623140" y="4945559"/>
            <a:ext cx="527252" cy="937061"/>
          </a:xfrm>
          <a:custGeom>
            <a:avLst/>
            <a:gdLst/>
            <a:ahLst/>
            <a:cxnLst/>
            <a:rect l="l" t="t" r="r" b="b"/>
            <a:pathLst>
              <a:path w="527252" h="937061">
                <a:moveTo>
                  <a:pt x="527252" y="0"/>
                </a:moveTo>
                <a:lnTo>
                  <a:pt x="0" y="937061"/>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ASBUILT DUCT · CV-EX SEC CONDUIT · 30.1 m"/>
          <p:cNvSpPr/>
          <p:nvPr/>
        </p:nvSpPr>
        <p:spPr>
          <a:xfrm>
            <a:off x="8623140" y="5882620"/>
            <a:ext cx="419186" cy="2784666"/>
          </a:xfrm>
          <a:custGeom>
            <a:avLst/>
            <a:gdLst/>
            <a:ahLst/>
            <a:cxnLst/>
            <a:rect l="l" t="t" r="r" b="b"/>
            <a:pathLst>
              <a:path w="419186" h="2784666">
                <a:moveTo>
                  <a:pt x="419186" y="2784666"/>
                </a:move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ASBUILT DUCT · CV-NEW SEC SAWCUT · 15.6 m"/>
          <p:cNvSpPr/>
          <p:nvPr/>
        </p:nvSpPr>
        <p:spPr>
          <a:xfrm>
            <a:off x="8311092" y="4488817"/>
            <a:ext cx="142467" cy="1454034"/>
          </a:xfrm>
          <a:custGeom>
            <a:avLst/>
            <a:gdLst/>
            <a:ahLst/>
            <a:cxnLst/>
            <a:rect l="l" t="t" r="r" b="b"/>
            <a:pathLst>
              <a:path w="142467" h="1454034">
                <a:moveTo>
                  <a:pt x="142467" y="1454034"/>
                </a:moveTo>
                <a:lnTo>
                  <a:pt x="0" y="0"/>
                </a:lnTo>
              </a:path>
            </a:pathLst>
          </a:custGeom>
          <a:noFill/>
          <a:ln w="15875" cap="flat" cmpd="sng" algn="ctr">
            <a:solidFill>
              <a:srgbClr val="E8710A">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ASBUILT DUCT · CV-NEW SEC SAWCUT · 14.8 m"/>
          <p:cNvSpPr/>
          <p:nvPr/>
        </p:nvSpPr>
        <p:spPr>
          <a:xfrm>
            <a:off x="7623489" y="4147005"/>
            <a:ext cx="221689" cy="1363621"/>
          </a:xfrm>
          <a:custGeom>
            <a:avLst/>
            <a:gdLst/>
            <a:ahLst/>
            <a:cxnLst/>
            <a:rect l="l" t="t" r="r" b="b"/>
            <a:pathLst>
              <a:path w="221689" h="1363621">
                <a:moveTo>
                  <a:pt x="0" y="1363621"/>
                </a:moveTo>
                <a:lnTo>
                  <a:pt x="221689"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ASBUILT DUCT · CV-EX SEC CONDUIT · 26.2 m"/>
          <p:cNvSpPr/>
          <p:nvPr/>
        </p:nvSpPr>
        <p:spPr>
          <a:xfrm>
            <a:off x="6455728" y="4732573"/>
            <a:ext cx="2167412" cy="1150047"/>
          </a:xfrm>
          <a:custGeom>
            <a:avLst/>
            <a:gdLst/>
            <a:ahLst/>
            <a:cxnLst/>
            <a:rect l="l" t="t" r="r" b="b"/>
            <a:pathLst>
              <a:path w="2167412" h="1150047">
                <a:moveTo>
                  <a:pt x="0" y="0"/>
                </a:moveTo>
                <a:lnTo>
                  <a:pt x="2167412" y="1150047"/>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ASBUILT DUCT · CV-NEW SEC SAWCUT · 14.5 m"/>
          <p:cNvSpPr/>
          <p:nvPr/>
        </p:nvSpPr>
        <p:spPr>
          <a:xfrm>
            <a:off x="9149559" y="4945063"/>
            <a:ext cx="166648" cy="1350048"/>
          </a:xfrm>
          <a:custGeom>
            <a:avLst/>
            <a:gdLst/>
            <a:ahLst/>
            <a:cxnLst/>
            <a:rect l="l" t="t" r="r" b="b"/>
            <a:pathLst>
              <a:path w="166648" h="1350048">
                <a:moveTo>
                  <a:pt x="166648" y="1350048"/>
                </a:moveTo>
                <a:lnTo>
                  <a:pt x="0" y="0"/>
                </a:lnTo>
              </a:path>
            </a:pathLst>
          </a:custGeom>
          <a:noFill/>
          <a:ln w="15875" cap="flat" cmpd="sng" algn="ctr">
            <a:solidFill>
              <a:srgbClr val="E8710A">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ASBUILT DUCT · CV-NEW SEC SAWCUT · 61.4 m"/>
          <p:cNvSpPr/>
          <p:nvPr/>
        </p:nvSpPr>
        <p:spPr>
          <a:xfrm>
            <a:off x="1811240" y="4726249"/>
            <a:ext cx="2340462" cy="1433125"/>
          </a:xfrm>
          <a:custGeom>
            <a:avLst/>
            <a:gdLst/>
            <a:ahLst/>
            <a:cxnLst/>
            <a:rect l="l" t="t" r="r" b="b"/>
            <a:pathLst>
              <a:path w="2340462" h="1433125">
                <a:moveTo>
                  <a:pt x="2295191" y="6151"/>
                </a:moveTo>
                <a:lnTo>
                  <a:pt x="1096392" y="1234882"/>
                </a:lnTo>
                <a:lnTo>
                  <a:pt x="0" y="1433125"/>
                </a:lnTo>
                <a:lnTo>
                  <a:pt x="1185325" y="1280181"/>
                </a:lnTo>
                <a:lnTo>
                  <a:pt x="2340462"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9" name="ASBUILT DUCT · CV-NEW SEC SAWCUT · 8.9 m"/>
          <p:cNvSpPr/>
          <p:nvPr/>
        </p:nvSpPr>
        <p:spPr>
          <a:xfrm>
            <a:off x="4419153" y="5758687"/>
            <a:ext cx="644193" cy="521622"/>
          </a:xfrm>
          <a:custGeom>
            <a:avLst/>
            <a:gdLst/>
            <a:ahLst/>
            <a:cxnLst/>
            <a:rect l="l" t="t" r="r" b="b"/>
            <a:pathLst>
              <a:path w="644193" h="521622">
                <a:moveTo>
                  <a:pt x="644193" y="0"/>
                </a:moveTo>
                <a:lnTo>
                  <a:pt x="0" y="521622"/>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ASBUILT DUCT · CV-NEW SEC SAWCUT · 37.0 m"/>
          <p:cNvSpPr/>
          <p:nvPr/>
        </p:nvSpPr>
        <p:spPr>
          <a:xfrm>
            <a:off x="3683964" y="5251825"/>
            <a:ext cx="906064" cy="3307316"/>
          </a:xfrm>
          <a:custGeom>
            <a:avLst/>
            <a:gdLst/>
            <a:ahLst/>
            <a:cxnLst/>
            <a:rect l="l" t="t" r="r" b="b"/>
            <a:pathLst>
              <a:path w="906064" h="3307316">
                <a:moveTo>
                  <a:pt x="906064" y="0"/>
                </a:moveTo>
                <a:lnTo>
                  <a:pt x="537755" y="2216917"/>
                </a:lnTo>
                <a:lnTo>
                  <a:pt x="0" y="3307316"/>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ASBUILT DUCT · CV-NEW SEC SAWCUT · 30.7 m"/>
          <p:cNvSpPr/>
          <p:nvPr/>
        </p:nvSpPr>
        <p:spPr>
          <a:xfrm>
            <a:off x="3683964" y="6320650"/>
            <a:ext cx="1800642" cy="2238491"/>
          </a:xfrm>
          <a:custGeom>
            <a:avLst/>
            <a:gdLst/>
            <a:ahLst/>
            <a:cxnLst/>
            <a:rect l="l" t="t" r="r" b="b"/>
            <a:pathLst>
              <a:path w="1800642" h="2238491">
                <a:moveTo>
                  <a:pt x="1800642" y="0"/>
                </a:moveTo>
                <a:lnTo>
                  <a:pt x="0" y="2238491"/>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ASBUILT DUCT · CV-NEW SEC SAWCUT · 9.7 m"/>
          <p:cNvSpPr/>
          <p:nvPr/>
        </p:nvSpPr>
        <p:spPr>
          <a:xfrm>
            <a:off x="4957897" y="6909947"/>
            <a:ext cx="906965" cy="65491"/>
          </a:xfrm>
          <a:custGeom>
            <a:avLst/>
            <a:gdLst/>
            <a:ahLst/>
            <a:cxnLst/>
            <a:rect l="l" t="t" r="r" b="b"/>
            <a:pathLst>
              <a:path w="906965" h="65491">
                <a:moveTo>
                  <a:pt x="906965" y="0"/>
                </a:moveTo>
                <a:lnTo>
                  <a:pt x="0" y="65491"/>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ASBUILT DUCT · CV-NEW SEC SAWCUT · 30.3 m"/>
          <p:cNvSpPr/>
          <p:nvPr/>
        </p:nvSpPr>
        <p:spPr>
          <a:xfrm>
            <a:off x="3683964" y="8162385"/>
            <a:ext cx="2809473" cy="396756"/>
          </a:xfrm>
          <a:custGeom>
            <a:avLst/>
            <a:gdLst/>
            <a:ahLst/>
            <a:cxnLst/>
            <a:rect l="l" t="t" r="r" b="b"/>
            <a:pathLst>
              <a:path w="2809473" h="396756">
                <a:moveTo>
                  <a:pt x="2809473" y="0"/>
                </a:moveTo>
                <a:lnTo>
                  <a:pt x="0" y="396756"/>
                </a:lnTo>
              </a:path>
            </a:pathLst>
          </a:custGeom>
          <a:noFill/>
          <a:ln w="15875" cap="flat" cmpd="sng" algn="ctr">
            <a:solidFill>
              <a:srgbClr val="548235">
                <a:alpha val="20000"/>
              </a:srgbClr>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0" name="P08 NEW SAWCUT 04036 TRUNK"/>
          <p:cNvSpPr/>
          <p:nvPr/>
        </p:nvSpPr>
        <p:spPr>
          <a:xfrm flipV="1">
            <a:off x="3683000" y="8305800"/>
            <a:ext cx="1866900" cy="254000"/>
          </a:xfrm>
          <a:prstGeom prst="line">
            <a:avLst/>
          </a:prstGeom>
          <a:ln w="31750">
            <a:solidFill>
              <a:srgbClr val="7030A0"/>
            </a:solidFill>
          </a:ln>
        </p:spPr>
        <p:txBody>
          <a:bodyPr/>
          <a:lstStyle/>
          <a:p>
            <a:endParaRPr lang="en-US"/>
          </a:p>
        </p:txBody>
      </p:sp>
      <p:sp>
        <p:nvSpPr>
          <p:cNvPr id="124" name="ASBUILT DUCT · CV-NEW SEC SAWCUT · 10.8 m"/>
          <p:cNvSpPr/>
          <p:nvPr/>
        </p:nvSpPr>
        <p:spPr>
          <a:xfrm>
            <a:off x="5553482" y="7525176"/>
            <a:ext cx="650260" cy="769951"/>
          </a:xfrm>
          <a:custGeom>
            <a:avLst/>
            <a:gdLst/>
            <a:ahLst/>
            <a:cxnLst/>
            <a:rect l="l" t="t" r="r" b="b"/>
            <a:pathLst>
              <a:path w="650260" h="769951">
                <a:moveTo>
                  <a:pt x="650260" y="0"/>
                </a:moveTo>
                <a:lnTo>
                  <a:pt x="0" y="769951"/>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ASBUILT DUCT · CV-NEW SEC SAWCUT · 29.2 m"/>
          <p:cNvSpPr/>
          <p:nvPr/>
        </p:nvSpPr>
        <p:spPr>
          <a:xfrm>
            <a:off x="4314550" y="8793547"/>
            <a:ext cx="2403343" cy="1308936"/>
          </a:xfrm>
          <a:custGeom>
            <a:avLst/>
            <a:gdLst/>
            <a:ahLst/>
            <a:cxnLst/>
            <a:rect l="l" t="t" r="r" b="b"/>
            <a:pathLst>
              <a:path w="2403343" h="1308936">
                <a:moveTo>
                  <a:pt x="2403343" y="0"/>
                </a:moveTo>
                <a:lnTo>
                  <a:pt x="0" y="1308936"/>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ASBUILT DUCT · CV-NEW SEC SAWCUT · 10.7 m"/>
          <p:cNvSpPr/>
          <p:nvPr/>
        </p:nvSpPr>
        <p:spPr>
          <a:xfrm>
            <a:off x="5958742" y="9207008"/>
            <a:ext cx="967205" cy="267128"/>
          </a:xfrm>
          <a:custGeom>
            <a:avLst/>
            <a:gdLst/>
            <a:ahLst/>
            <a:cxnLst/>
            <a:rect l="l" t="t" r="r" b="b"/>
            <a:pathLst>
              <a:path w="967205" h="267128">
                <a:moveTo>
                  <a:pt x="967205" y="267128"/>
                </a:moveTo>
                <a:lnTo>
                  <a:pt x="0" y="0"/>
                </a:lnTo>
              </a:path>
            </a:pathLst>
          </a:custGeom>
          <a:noFill/>
          <a:ln w="15875" cap="flat" cmpd="sng" algn="ctr">
            <a:solidFill>
              <a:srgbClr val="70AD47">
                <a:lumMod val="75000"/>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ASBUILT DUCT · CV-NEW SEC SAWCUT · 29.4 m"/>
          <p:cNvSpPr/>
          <p:nvPr/>
        </p:nvSpPr>
        <p:spPr>
          <a:xfrm>
            <a:off x="4314550" y="10102483"/>
            <a:ext cx="2752219" cy="50951"/>
          </a:xfrm>
          <a:custGeom>
            <a:avLst/>
            <a:gdLst/>
            <a:ahLst/>
            <a:cxnLst/>
            <a:rect l="l" t="t" r="r" b="b"/>
            <a:pathLst>
              <a:path w="2752219" h="50951">
                <a:moveTo>
                  <a:pt x="2752219" y="50951"/>
                </a:moveTo>
                <a:lnTo>
                  <a:pt x="0"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ASBUILT DUCT · CV-EX SEC CONDUIT · 23.3 m"/>
          <p:cNvSpPr/>
          <p:nvPr/>
        </p:nvSpPr>
        <p:spPr>
          <a:xfrm>
            <a:off x="8466913" y="5882620"/>
            <a:ext cx="156227" cy="2173602"/>
          </a:xfrm>
          <a:custGeom>
            <a:avLst/>
            <a:gdLst/>
            <a:ahLst/>
            <a:cxnLst/>
            <a:rect l="l" t="t" r="r" b="b"/>
            <a:pathLst>
              <a:path w="156227" h="2173602">
                <a:moveTo>
                  <a:pt x="0" y="2173602"/>
                </a:moveTo>
                <a:lnTo>
                  <a:pt x="156227"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ASBUILT DUCT · CV-EX SEC CONDUIT · 19.9 m"/>
          <p:cNvSpPr/>
          <p:nvPr/>
        </p:nvSpPr>
        <p:spPr>
          <a:xfrm>
            <a:off x="968053" y="987696"/>
            <a:ext cx="1434873" cy="1182018"/>
          </a:xfrm>
          <a:custGeom>
            <a:avLst/>
            <a:gdLst/>
            <a:ahLst/>
            <a:cxnLst/>
            <a:rect l="l" t="t" r="r" b="b"/>
            <a:pathLst>
              <a:path w="1434873" h="1182018">
                <a:moveTo>
                  <a:pt x="1434873" y="0"/>
                </a:moveTo>
                <a:lnTo>
                  <a:pt x="0" y="1182018"/>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ASBUILT DUCT · CV-EX SEC CONDUIT · 19.7 m"/>
          <p:cNvSpPr/>
          <p:nvPr/>
        </p:nvSpPr>
        <p:spPr>
          <a:xfrm>
            <a:off x="1489769" y="987696"/>
            <a:ext cx="913157" cy="1600836"/>
          </a:xfrm>
          <a:custGeom>
            <a:avLst/>
            <a:gdLst/>
            <a:ahLst/>
            <a:cxnLst/>
            <a:rect l="l" t="t" r="r" b="b"/>
            <a:pathLst>
              <a:path w="913157" h="1600836">
                <a:moveTo>
                  <a:pt x="0" y="1600836"/>
                </a:moveTo>
                <a:lnTo>
                  <a:pt x="913157"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ASBUILT DUCT · CV-EX SEC CONDUIT · 22.5 m"/>
          <p:cNvSpPr/>
          <p:nvPr/>
        </p:nvSpPr>
        <p:spPr>
          <a:xfrm>
            <a:off x="440607" y="987696"/>
            <a:ext cx="1962319" cy="763882"/>
          </a:xfrm>
          <a:custGeom>
            <a:avLst/>
            <a:gdLst/>
            <a:ahLst/>
            <a:cxnLst/>
            <a:rect l="l" t="t" r="r" b="b"/>
            <a:pathLst>
              <a:path w="1962319" h="763882">
                <a:moveTo>
                  <a:pt x="0" y="763882"/>
                </a:moveTo>
                <a:lnTo>
                  <a:pt x="1962319"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ASBUILT DUCT · CV-EX SEC CONDUIT · 22.0 m"/>
          <p:cNvSpPr/>
          <p:nvPr/>
        </p:nvSpPr>
        <p:spPr>
          <a:xfrm>
            <a:off x="2013190" y="987696"/>
            <a:ext cx="389736" cy="2021621"/>
          </a:xfrm>
          <a:custGeom>
            <a:avLst/>
            <a:gdLst/>
            <a:ahLst/>
            <a:cxnLst/>
            <a:rect l="l" t="t" r="r" b="b"/>
            <a:pathLst>
              <a:path w="389736" h="2021621">
                <a:moveTo>
                  <a:pt x="0" y="2021621"/>
                </a:moveTo>
                <a:lnTo>
                  <a:pt x="389736"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ASBUILT DUCT · CV-NEW SEC SAWCUT · 28.4 m"/>
          <p:cNvSpPr/>
          <p:nvPr/>
        </p:nvSpPr>
        <p:spPr>
          <a:xfrm>
            <a:off x="2535459" y="777225"/>
            <a:ext cx="200786" cy="2651276"/>
          </a:xfrm>
          <a:custGeom>
            <a:avLst/>
            <a:gdLst/>
            <a:ahLst/>
            <a:cxnLst/>
            <a:rect l="l" t="t" r="r" b="b"/>
            <a:pathLst>
              <a:path w="200786" h="2651276">
                <a:moveTo>
                  <a:pt x="0" y="2651276"/>
                </a:moveTo>
                <a:lnTo>
                  <a:pt x="200786"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ASBUILT DUCT · CV-NEW SEC SAWCUT · 16.9 m"/>
          <p:cNvSpPr/>
          <p:nvPr/>
        </p:nvSpPr>
        <p:spPr>
          <a:xfrm>
            <a:off x="320039" y="777223"/>
            <a:ext cx="1528168" cy="418310"/>
          </a:xfrm>
          <a:custGeom>
            <a:avLst/>
            <a:gdLst/>
            <a:ahLst/>
            <a:cxnLst/>
            <a:rect l="l" t="t" r="r" b="b"/>
            <a:pathLst>
              <a:path w="1528168" h="418310">
                <a:moveTo>
                  <a:pt x="0" y="418310"/>
                </a:moveTo>
                <a:lnTo>
                  <a:pt x="152816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ASBUILT DUCT · CV-NEW SEC CONDUIT · 2.8 m"/>
          <p:cNvSpPr/>
          <p:nvPr/>
        </p:nvSpPr>
        <p:spPr>
          <a:xfrm>
            <a:off x="2402832" y="777224"/>
            <a:ext cx="161582" cy="210407"/>
          </a:xfrm>
          <a:custGeom>
            <a:avLst/>
            <a:gdLst/>
            <a:ahLst/>
            <a:cxnLst/>
            <a:rect l="l" t="t" r="r" b="b"/>
            <a:pathLst>
              <a:path w="161582" h="210407">
                <a:moveTo>
                  <a:pt x="161582" y="0"/>
                </a:moveTo>
                <a:lnTo>
                  <a:pt x="0" y="210407"/>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ASBUILT DUCT · CV-EX SEC CONDUIT · 22.4 m"/>
          <p:cNvSpPr/>
          <p:nvPr/>
        </p:nvSpPr>
        <p:spPr>
          <a:xfrm>
            <a:off x="2046024" y="3849163"/>
            <a:ext cx="1013529" cy="1837744"/>
          </a:xfrm>
          <a:custGeom>
            <a:avLst/>
            <a:gdLst/>
            <a:ahLst/>
            <a:cxnLst/>
            <a:rect l="l" t="t" r="r" b="b"/>
            <a:pathLst>
              <a:path w="1013529" h="1837744">
                <a:moveTo>
                  <a:pt x="1013529" y="0"/>
                </a:moveTo>
                <a:lnTo>
                  <a:pt x="0" y="1837744"/>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ASBUILT DUCT · CV-EX SEC CONDUIT · 22.3 m"/>
          <p:cNvSpPr/>
          <p:nvPr/>
        </p:nvSpPr>
        <p:spPr>
          <a:xfrm>
            <a:off x="2046024" y="4269133"/>
            <a:ext cx="1536285" cy="1417774"/>
          </a:xfrm>
          <a:custGeom>
            <a:avLst/>
            <a:gdLst/>
            <a:ahLst/>
            <a:cxnLst/>
            <a:rect l="l" t="t" r="r" b="b"/>
            <a:pathLst>
              <a:path w="1536285" h="1417774">
                <a:moveTo>
                  <a:pt x="0" y="1417774"/>
                </a:moveTo>
                <a:lnTo>
                  <a:pt x="1536285"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ASBUILT DUCT · CV-NEW SEC CONDUIT · 5.6 m"/>
          <p:cNvSpPr/>
          <p:nvPr/>
        </p:nvSpPr>
        <p:spPr>
          <a:xfrm>
            <a:off x="1811455" y="5686907"/>
            <a:ext cx="234569" cy="472223"/>
          </a:xfrm>
          <a:custGeom>
            <a:avLst/>
            <a:gdLst/>
            <a:ahLst/>
            <a:cxnLst/>
            <a:rect l="l" t="t" r="r" b="b"/>
            <a:pathLst>
              <a:path w="234569" h="472223">
                <a:moveTo>
                  <a:pt x="234569" y="0"/>
                </a:moveTo>
                <a:lnTo>
                  <a:pt x="0" y="472223"/>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ASBUILT DUCT · CV-EX SEC CONDUIT · 9.7 m"/>
          <p:cNvSpPr/>
          <p:nvPr/>
        </p:nvSpPr>
        <p:spPr>
          <a:xfrm>
            <a:off x="4560299" y="3363941"/>
            <a:ext cx="793544" cy="432736"/>
          </a:xfrm>
          <a:custGeom>
            <a:avLst/>
            <a:gdLst/>
            <a:ahLst/>
            <a:cxnLst/>
            <a:rect l="l" t="t" r="r" b="b"/>
            <a:pathLst>
              <a:path w="793544" h="432736">
                <a:moveTo>
                  <a:pt x="0" y="432736"/>
                </a:moveTo>
                <a:lnTo>
                  <a:pt x="793544"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ASBUILT DUCT · CV-EX SEC CONDUIT · 30.1 m"/>
          <p:cNvSpPr/>
          <p:nvPr/>
        </p:nvSpPr>
        <p:spPr>
          <a:xfrm>
            <a:off x="3333425" y="3363941"/>
            <a:ext cx="2020418" cy="1960918"/>
          </a:xfrm>
          <a:custGeom>
            <a:avLst/>
            <a:gdLst/>
            <a:ahLst/>
            <a:cxnLst/>
            <a:rect l="l" t="t" r="r" b="b"/>
            <a:pathLst>
              <a:path w="2020418" h="1960918">
                <a:moveTo>
                  <a:pt x="2020418" y="0"/>
                </a:moveTo>
                <a:lnTo>
                  <a:pt x="0" y="1960918"/>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ASBUILT DUCT · CV-EX SEC CONDUIT · 12.5 m"/>
          <p:cNvSpPr/>
          <p:nvPr/>
        </p:nvSpPr>
        <p:spPr>
          <a:xfrm>
            <a:off x="4384483" y="3363941"/>
            <a:ext cx="969360" cy="651736"/>
          </a:xfrm>
          <a:custGeom>
            <a:avLst/>
            <a:gdLst/>
            <a:ahLst/>
            <a:cxnLst/>
            <a:rect l="l" t="t" r="r" b="b"/>
            <a:pathLst>
              <a:path w="969360" h="651736">
                <a:moveTo>
                  <a:pt x="0" y="651736"/>
                </a:moveTo>
                <a:lnTo>
                  <a:pt x="969360"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ASBUILT DUCT · CV-EX SEC CONDUIT · 15.4 m"/>
          <p:cNvSpPr/>
          <p:nvPr/>
        </p:nvSpPr>
        <p:spPr>
          <a:xfrm>
            <a:off x="4208742" y="3363941"/>
            <a:ext cx="1145101" cy="870791"/>
          </a:xfrm>
          <a:custGeom>
            <a:avLst/>
            <a:gdLst/>
            <a:ahLst/>
            <a:cxnLst/>
            <a:rect l="l" t="t" r="r" b="b"/>
            <a:pathLst>
              <a:path w="1145101" h="870791">
                <a:moveTo>
                  <a:pt x="0" y="870791"/>
                </a:moveTo>
                <a:lnTo>
                  <a:pt x="1145101"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ASBUILT DUCT · CV-NEW SEC CONDUIT · 8.9 m"/>
          <p:cNvSpPr/>
          <p:nvPr/>
        </p:nvSpPr>
        <p:spPr>
          <a:xfrm>
            <a:off x="5354040" y="2712486"/>
            <a:ext cx="512517" cy="651474"/>
          </a:xfrm>
          <a:custGeom>
            <a:avLst/>
            <a:gdLst/>
            <a:ahLst/>
            <a:cxnLst/>
            <a:rect l="l" t="t" r="r" b="b"/>
            <a:pathLst>
              <a:path w="512517" h="651474">
                <a:moveTo>
                  <a:pt x="512517" y="0"/>
                </a:moveTo>
                <a:lnTo>
                  <a:pt x="0" y="651474"/>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ASBUILT DUCT · CV-NEW SEC CONDUIT · 9.2 m"/>
          <p:cNvSpPr/>
          <p:nvPr/>
        </p:nvSpPr>
        <p:spPr>
          <a:xfrm>
            <a:off x="5354040" y="2547426"/>
            <a:ext cx="285298" cy="816534"/>
          </a:xfrm>
          <a:custGeom>
            <a:avLst/>
            <a:gdLst/>
            <a:ahLst/>
            <a:cxnLst/>
            <a:rect l="l" t="t" r="r" b="b"/>
            <a:pathLst>
              <a:path w="285298" h="816534">
                <a:moveTo>
                  <a:pt x="285298" y="0"/>
                </a:moveTo>
                <a:lnTo>
                  <a:pt x="0" y="816534"/>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ASBUILT DUCT · CV-EX SEC CONDUIT · 27.2 m"/>
          <p:cNvSpPr/>
          <p:nvPr/>
        </p:nvSpPr>
        <p:spPr>
          <a:xfrm>
            <a:off x="3505469" y="3363960"/>
            <a:ext cx="1848571" cy="1746759"/>
          </a:xfrm>
          <a:custGeom>
            <a:avLst/>
            <a:gdLst/>
            <a:ahLst/>
            <a:cxnLst/>
            <a:rect l="l" t="t" r="r" b="b"/>
            <a:pathLst>
              <a:path w="1848571" h="1746759">
                <a:moveTo>
                  <a:pt x="0" y="1746759"/>
                </a:moveTo>
                <a:lnTo>
                  <a:pt x="1848571"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ASBUILT DUCT · CV-EX SEC CONDUIT · 24.2 m"/>
          <p:cNvSpPr/>
          <p:nvPr/>
        </p:nvSpPr>
        <p:spPr>
          <a:xfrm>
            <a:off x="3681285" y="3363960"/>
            <a:ext cx="1672755" cy="1527760"/>
          </a:xfrm>
          <a:custGeom>
            <a:avLst/>
            <a:gdLst/>
            <a:ahLst/>
            <a:cxnLst/>
            <a:rect l="l" t="t" r="r" b="b"/>
            <a:pathLst>
              <a:path w="1672755" h="1527760">
                <a:moveTo>
                  <a:pt x="1672755" y="0"/>
                </a:moveTo>
                <a:lnTo>
                  <a:pt x="0" y="152776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ASBUILT DUCT · CV-NEW SEC CONDUIT · 3.6 m"/>
          <p:cNvSpPr/>
          <p:nvPr/>
        </p:nvSpPr>
        <p:spPr>
          <a:xfrm>
            <a:off x="5639338" y="2309705"/>
            <a:ext cx="239174" cy="237721"/>
          </a:xfrm>
          <a:custGeom>
            <a:avLst/>
            <a:gdLst/>
            <a:ahLst/>
            <a:cxnLst/>
            <a:rect l="l" t="t" r="r" b="b"/>
            <a:pathLst>
              <a:path w="239174" h="237721">
                <a:moveTo>
                  <a:pt x="239174" y="0"/>
                </a:moveTo>
                <a:lnTo>
                  <a:pt x="0" y="237721"/>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ASBUILT DUCT · CV-NEW SEC CONDUIT · 7.3 m"/>
          <p:cNvSpPr/>
          <p:nvPr/>
        </p:nvSpPr>
        <p:spPr>
          <a:xfrm>
            <a:off x="1585948" y="6159130"/>
            <a:ext cx="225507" cy="647712"/>
          </a:xfrm>
          <a:custGeom>
            <a:avLst/>
            <a:gdLst/>
            <a:ahLst/>
            <a:cxnLst/>
            <a:rect l="l" t="t" r="r" b="b"/>
            <a:pathLst>
              <a:path w="225507" h="647712">
                <a:moveTo>
                  <a:pt x="0" y="647712"/>
                </a:moveTo>
                <a:lnTo>
                  <a:pt x="225507" y="0"/>
                </a:lnTo>
              </a:path>
            </a:pathLst>
          </a:custGeom>
          <a:noFill/>
          <a:ln w="15875" cap="flat" cmpd="sng" algn="ctr">
            <a:solidFill>
              <a:srgbClr val="1E8E3E">
                <a:alpha val="30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ASBUILT DUCT · CV-EX SEC CONDUIT · 35.4 m"/>
          <p:cNvSpPr/>
          <p:nvPr/>
        </p:nvSpPr>
        <p:spPr>
          <a:xfrm>
            <a:off x="8623140" y="5882620"/>
            <a:ext cx="1252383" cy="3066156"/>
          </a:xfrm>
          <a:custGeom>
            <a:avLst/>
            <a:gdLst/>
            <a:ahLst/>
            <a:cxnLst/>
            <a:rect l="l" t="t" r="r" b="b"/>
            <a:pathLst>
              <a:path w="1252383" h="3066156">
                <a:moveTo>
                  <a:pt x="1252383" y="3066156"/>
                </a:moveTo>
                <a:lnTo>
                  <a:pt x="1145935" y="2921690"/>
                </a:ln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ASBUILT DUCT · CV-EX SEC CONDUIT · 30.4 m"/>
          <p:cNvSpPr/>
          <p:nvPr/>
        </p:nvSpPr>
        <p:spPr>
          <a:xfrm>
            <a:off x="8623140" y="5882620"/>
            <a:ext cx="1174938" cy="2592123"/>
          </a:xfrm>
          <a:custGeom>
            <a:avLst/>
            <a:gdLst/>
            <a:ahLst/>
            <a:cxnLst/>
            <a:rect l="l" t="t" r="r" b="b"/>
            <a:pathLst>
              <a:path w="1174938" h="2592123">
                <a:moveTo>
                  <a:pt x="1174938" y="2592123"/>
                </a:move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ASBUILT DUCT · CV-NEW SEC SAWCUT · 36.0 m"/>
          <p:cNvSpPr/>
          <p:nvPr/>
        </p:nvSpPr>
        <p:spPr>
          <a:xfrm>
            <a:off x="7952854" y="4488602"/>
            <a:ext cx="358509" cy="3296412"/>
          </a:xfrm>
          <a:custGeom>
            <a:avLst/>
            <a:gdLst/>
            <a:ahLst/>
            <a:cxnLst/>
            <a:rect l="l" t="t" r="r" b="b"/>
            <a:pathLst>
              <a:path w="358509" h="3296412">
                <a:moveTo>
                  <a:pt x="0" y="3296412"/>
                </a:moveTo>
                <a:lnTo>
                  <a:pt x="207747" y="3037646"/>
                </a:lnTo>
                <a:lnTo>
                  <a:pt x="358509" y="0"/>
                </a:lnTo>
              </a:path>
            </a:pathLst>
          </a:custGeom>
          <a:noFill/>
          <a:ln w="15875" cap="flat" cmpd="sng" algn="ctr">
            <a:solidFill>
              <a:srgbClr val="70AD47">
                <a:lumMod val="75000"/>
                <a:alpha val="20000"/>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ASBUILT DUCT · CV-EX SEC CONDUIT · 21.2 m"/>
          <p:cNvSpPr/>
          <p:nvPr/>
        </p:nvSpPr>
        <p:spPr>
          <a:xfrm>
            <a:off x="3857101" y="3363960"/>
            <a:ext cx="1496939" cy="1308761"/>
          </a:xfrm>
          <a:custGeom>
            <a:avLst/>
            <a:gdLst/>
            <a:ahLst/>
            <a:cxnLst/>
            <a:rect l="l" t="t" r="r" b="b"/>
            <a:pathLst>
              <a:path w="1496939" h="1308761">
                <a:moveTo>
                  <a:pt x="0" y="1308761"/>
                </a:moveTo>
                <a:lnTo>
                  <a:pt x="1496939"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ASBUILT DUCT · CV-EX SEC CONDUIT · 18.3 m"/>
          <p:cNvSpPr/>
          <p:nvPr/>
        </p:nvSpPr>
        <p:spPr>
          <a:xfrm>
            <a:off x="4032917" y="3363960"/>
            <a:ext cx="1321123" cy="1089771"/>
          </a:xfrm>
          <a:custGeom>
            <a:avLst/>
            <a:gdLst/>
            <a:ahLst/>
            <a:cxnLst/>
            <a:rect l="l" t="t" r="r" b="b"/>
            <a:pathLst>
              <a:path w="1321123" h="1089771">
                <a:moveTo>
                  <a:pt x="0" y="1089771"/>
                </a:moveTo>
                <a:lnTo>
                  <a:pt x="1321123"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ASBUILT DUCT · CV-EX SEC CONDUIT · 31.4 m"/>
          <p:cNvSpPr/>
          <p:nvPr/>
        </p:nvSpPr>
        <p:spPr>
          <a:xfrm>
            <a:off x="8623140" y="5882620"/>
            <a:ext cx="746085" cy="2748316"/>
          </a:xfrm>
          <a:custGeom>
            <a:avLst/>
            <a:gdLst/>
            <a:ahLst/>
            <a:cxnLst/>
            <a:rect l="l" t="t" r="r" b="b"/>
            <a:pathLst>
              <a:path w="746085" h="2748316">
                <a:moveTo>
                  <a:pt x="489331" y="2748316"/>
                </a:moveTo>
                <a:lnTo>
                  <a:pt x="746085" y="2315691"/>
                </a:ln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ASBUILT DUCT · CV-EX SEC CONDUIT · 26.8 m"/>
          <p:cNvSpPr/>
          <p:nvPr/>
        </p:nvSpPr>
        <p:spPr>
          <a:xfrm>
            <a:off x="8623140" y="5882620"/>
            <a:ext cx="562500" cy="2432277"/>
          </a:xfrm>
          <a:custGeom>
            <a:avLst/>
            <a:gdLst/>
            <a:ahLst/>
            <a:cxnLst/>
            <a:rect l="l" t="t" r="r" b="b"/>
            <a:pathLst>
              <a:path w="562500" h="2432277">
                <a:moveTo>
                  <a:pt x="494480" y="2432277"/>
                </a:moveTo>
                <a:lnTo>
                  <a:pt x="562500" y="2151361"/>
                </a:lnTo>
                <a:lnTo>
                  <a:pt x="0" y="0"/>
                </a:lnTo>
              </a:path>
            </a:pathLst>
          </a:custGeom>
          <a:noFill/>
          <a:ln w="15875" cap="flat" cmpd="sng" algn="ctr">
            <a:solidFill>
              <a:srgbClr val="00838F">
                <a:alpha val="30000"/>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ASBUILT DUCT · CV_DUCT CROSSING 6x110mm dia · 53.3 m"/>
          <p:cNvSpPr/>
          <p:nvPr/>
        </p:nvSpPr>
        <p:spPr>
          <a:xfrm>
            <a:off x="910679" y="1500196"/>
            <a:ext cx="3125287" cy="3892621"/>
          </a:xfrm>
          <a:custGeom>
            <a:avLst/>
            <a:gdLst/>
            <a:ahLst/>
            <a:cxnLst/>
            <a:rect l="l" t="t" r="r" b="b"/>
            <a:pathLst>
              <a:path w="3125287" h="3892621">
                <a:moveTo>
                  <a:pt x="3125287" y="0"/>
                </a:moveTo>
                <a:lnTo>
                  <a:pt x="0" y="3892621"/>
                </a:lnTo>
              </a:path>
            </a:pathLst>
          </a:custGeom>
          <a:noFill/>
          <a:ln w="22225" cap="flat" cmpd="sng" algn="ctr">
            <a:solidFill>
              <a:srgbClr val="C2185B">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ASBUILT DUCT · CV_OUTER DUCT 4x110mm dia · 72.2 m"/>
          <p:cNvSpPr/>
          <p:nvPr/>
        </p:nvSpPr>
        <p:spPr>
          <a:xfrm>
            <a:off x="4243488" y="1436446"/>
            <a:ext cx="5632043" cy="3708898"/>
          </a:xfrm>
          <a:custGeom>
            <a:avLst/>
            <a:gdLst/>
            <a:ahLst/>
            <a:cxnLst/>
            <a:rect l="l" t="t" r="r" b="b"/>
            <a:pathLst>
              <a:path w="5632043" h="3708898">
                <a:moveTo>
                  <a:pt x="0" y="0"/>
                </a:moveTo>
                <a:lnTo>
                  <a:pt x="4186952" y="2928502"/>
                </a:lnTo>
                <a:lnTo>
                  <a:pt x="4552709" y="3145808"/>
                </a:lnTo>
                <a:lnTo>
                  <a:pt x="5284756" y="3598646"/>
                </a:lnTo>
                <a:lnTo>
                  <a:pt x="5617823" y="3707089"/>
                </a:lnTo>
                <a:lnTo>
                  <a:pt x="5632043" y="3708898"/>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ASBUILT DUCT · CV_INNER DUCT 4x110mm dia · 54.4 m"/>
          <p:cNvSpPr/>
          <p:nvPr/>
        </p:nvSpPr>
        <p:spPr>
          <a:xfrm>
            <a:off x="4169056" y="1529226"/>
            <a:ext cx="4142036" cy="2959591"/>
          </a:xfrm>
          <a:custGeom>
            <a:avLst/>
            <a:gdLst/>
            <a:ahLst/>
            <a:cxnLst/>
            <a:rect l="l" t="t" r="r" b="b"/>
            <a:pathLst>
              <a:path w="4142036" h="2959591">
                <a:moveTo>
                  <a:pt x="0" y="0"/>
                </a:moveTo>
                <a:lnTo>
                  <a:pt x="4142036" y="2959591"/>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ASBUILT DUCT · CV_GRND DUCT · 1.5 m"/>
          <p:cNvSpPr/>
          <p:nvPr/>
        </p:nvSpPr>
        <p:spPr>
          <a:xfrm>
            <a:off x="7447864" y="3593711"/>
            <a:ext cx="85264" cy="117326"/>
          </a:xfrm>
          <a:custGeom>
            <a:avLst/>
            <a:gdLst/>
            <a:ahLst/>
            <a:cxnLst/>
            <a:rect l="l" t="t" r="r" b="b"/>
            <a:pathLst>
              <a:path w="85264" h="117326">
                <a:moveTo>
                  <a:pt x="85264" y="0"/>
                </a:moveTo>
                <a:lnTo>
                  <a:pt x="0" y="117326"/>
                </a:lnTo>
              </a:path>
            </a:pathLst>
          </a:custGeom>
          <a:noFill/>
          <a:ln w="9525" cap="flat" cmpd="sng" algn="ctr">
            <a:solidFill>
              <a:srgbClr val="795548">
                <a:alpha val="30000"/>
                <a:alpha val="20000"/>
                <a:alpha val="20000"/>
              </a:srgbClr>
            </a:solidFill>
            <a:prstDash val="sysDot"/>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ASBUILT DUCT · CV_STH DUCT 6x110mm dia · 65.6 m"/>
          <p:cNvSpPr/>
          <p:nvPr/>
        </p:nvSpPr>
        <p:spPr>
          <a:xfrm>
            <a:off x="910679" y="5392817"/>
            <a:ext cx="3448108" cy="4939912"/>
          </a:xfrm>
          <a:custGeom>
            <a:avLst/>
            <a:gdLst/>
            <a:ahLst/>
            <a:cxnLst/>
            <a:rect l="l" t="t" r="r" b="b"/>
            <a:pathLst>
              <a:path w="3448108" h="4939912">
                <a:moveTo>
                  <a:pt x="0" y="0"/>
                </a:moveTo>
                <a:lnTo>
                  <a:pt x="900561" y="766557"/>
                </a:lnTo>
                <a:lnTo>
                  <a:pt x="2034124" y="1977328"/>
                </a:lnTo>
                <a:lnTo>
                  <a:pt x="2773069" y="3166577"/>
                </a:lnTo>
                <a:lnTo>
                  <a:pt x="3328541" y="4462030"/>
                </a:lnTo>
                <a:lnTo>
                  <a:pt x="3448108" y="4939912"/>
                </a:lnTo>
              </a:path>
            </a:pathLst>
          </a:custGeom>
          <a:noFill/>
          <a:ln w="22225" cap="flat" cmpd="sng" algn="ctr">
            <a:solidFill>
              <a:srgbClr val="6A1B9A">
                <a:alpha val="20000"/>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ASBUILT DUCT · CV_INNER DUCT 4x110mm dia · 11.5 m"/>
          <p:cNvSpPr/>
          <p:nvPr/>
        </p:nvSpPr>
        <p:spPr>
          <a:xfrm>
            <a:off x="3078664" y="777225"/>
            <a:ext cx="897314" cy="602968"/>
          </a:xfrm>
          <a:custGeom>
            <a:avLst/>
            <a:gdLst/>
            <a:ahLst/>
            <a:cxnLst/>
            <a:rect l="l" t="t" r="r" b="b"/>
            <a:pathLst>
              <a:path w="897314" h="602968">
                <a:moveTo>
                  <a:pt x="897314" y="602968"/>
                </a:move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ASBUILT DUCT · CV_OUTER DUCT 4x110mm dia · 9.3 m"/>
          <p:cNvSpPr/>
          <p:nvPr/>
        </p:nvSpPr>
        <p:spPr>
          <a:xfrm>
            <a:off x="3343370" y="777226"/>
            <a:ext cx="705580" cy="512003"/>
          </a:xfrm>
          <a:custGeom>
            <a:avLst/>
            <a:gdLst/>
            <a:ahLst/>
            <a:cxnLst/>
            <a:rect l="l" t="t" r="r" b="b"/>
            <a:pathLst>
              <a:path w="705580" h="512003">
                <a:moveTo>
                  <a:pt x="705580" y="512003"/>
                </a:move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ASBUILT DUCT · CV_INNER DUCT 4x110mm dia · 18.7 m"/>
          <p:cNvSpPr/>
          <p:nvPr/>
        </p:nvSpPr>
        <p:spPr>
          <a:xfrm>
            <a:off x="8311148" y="4488845"/>
            <a:ext cx="1564383" cy="768399"/>
          </a:xfrm>
          <a:custGeom>
            <a:avLst/>
            <a:gdLst/>
            <a:ahLst/>
            <a:cxnLst/>
            <a:rect l="l" t="t" r="r" b="b"/>
            <a:pathLst>
              <a:path w="1564383" h="768399">
                <a:moveTo>
                  <a:pt x="0" y="0"/>
                </a:moveTo>
                <a:lnTo>
                  <a:pt x="349814" y="195747"/>
                </a:lnTo>
                <a:lnTo>
                  <a:pt x="1182347" y="653753"/>
                </a:lnTo>
                <a:lnTo>
                  <a:pt x="1515723" y="762223"/>
                </a:lnTo>
                <a:lnTo>
                  <a:pt x="1564383" y="768399"/>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ASBUILT ASSET · Runway guard light / RRM"/>
          <p:cNvSpPr/>
          <p:nvPr/>
        </p:nvSpPr>
        <p:spPr>
          <a:xfrm>
            <a:off x="4301026" y="7078249"/>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ASBUILT ASSET · Taxiway centreline light"/>
          <p:cNvSpPr/>
          <p:nvPr/>
        </p:nvSpPr>
        <p:spPr>
          <a:xfrm>
            <a:off x="6672172" y="8747836"/>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ASBUILT ASSET · Taxiway centreline light"/>
          <p:cNvSpPr/>
          <p:nvPr/>
        </p:nvSpPr>
        <p:spPr>
          <a:xfrm>
            <a:off x="6880227" y="9428425"/>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ASBUILT ASSET · Taxiway centreline light"/>
          <p:cNvSpPr/>
          <p:nvPr/>
        </p:nvSpPr>
        <p:spPr>
          <a:xfrm>
            <a:off x="7021048" y="1010771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ASBUILT ASSET · Taxiway centreline light"/>
          <p:cNvSpPr/>
          <p:nvPr/>
        </p:nvSpPr>
        <p:spPr>
          <a:xfrm>
            <a:off x="9752357" y="8429023"/>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ASBUILT ASSET · Taxiway centreline light"/>
          <p:cNvSpPr/>
          <p:nvPr/>
        </p:nvSpPr>
        <p:spPr>
          <a:xfrm>
            <a:off x="9071900" y="8269176"/>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ASBUILT ASSET · Taxiway centreline light"/>
          <p:cNvSpPr/>
          <p:nvPr/>
        </p:nvSpPr>
        <p:spPr>
          <a:xfrm>
            <a:off x="8421193" y="8010502"/>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ASBUILT ASSET · Taxiway centreline light"/>
          <p:cNvSpPr/>
          <p:nvPr/>
        </p:nvSpPr>
        <p:spPr>
          <a:xfrm>
            <a:off x="2489691" y="3382836"/>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ASBUILT ASSET · Taxiway centreline light"/>
          <p:cNvSpPr/>
          <p:nvPr/>
        </p:nvSpPr>
        <p:spPr>
          <a:xfrm>
            <a:off x="1967516" y="2963540"/>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ASBUILT ASSET · Taxiway centreline light"/>
          <p:cNvSpPr/>
          <p:nvPr/>
        </p:nvSpPr>
        <p:spPr>
          <a:xfrm>
            <a:off x="1444030" y="2542840"/>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ASBUILT ASSET · Taxiway centreline light"/>
          <p:cNvSpPr/>
          <p:nvPr/>
        </p:nvSpPr>
        <p:spPr>
          <a:xfrm>
            <a:off x="922323" y="2124012"/>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ASBUILT ASSET · Taxiway centreline light"/>
          <p:cNvSpPr/>
          <p:nvPr/>
        </p:nvSpPr>
        <p:spPr>
          <a:xfrm>
            <a:off x="397639" y="1704828"/>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ASBUILT ASSET · Taxiway edge light"/>
          <p:cNvSpPr/>
          <p:nvPr/>
        </p:nvSpPr>
        <p:spPr>
          <a:xfrm>
            <a:off x="9270486" y="6249390"/>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ASBUILT ASSET · Runway guard light / RRM"/>
          <p:cNvSpPr/>
          <p:nvPr/>
        </p:nvSpPr>
        <p:spPr>
          <a:xfrm>
            <a:off x="3403556" y="5994015"/>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ASBUILT ASSET · Runway guard light / RRM"/>
          <p:cNvSpPr/>
          <p:nvPr/>
        </p:nvSpPr>
        <p:spPr>
          <a:xfrm>
            <a:off x="2374277" y="5041402"/>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ASBUILT ASSET · Runway guard light / RRM"/>
          <p:cNvSpPr/>
          <p:nvPr/>
        </p:nvSpPr>
        <p:spPr>
          <a:xfrm>
            <a:off x="972605" y="3797556"/>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ASBUILT ASSET · Runway guard light / RRM"/>
          <p:cNvSpPr/>
          <p:nvPr/>
        </p:nvSpPr>
        <p:spPr>
          <a:xfrm>
            <a:off x="4998257" y="8296162"/>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ASBUILT ASSET · Taxiway centreline light"/>
          <p:cNvSpPr/>
          <p:nvPr/>
        </p:nvSpPr>
        <p:spPr>
          <a:xfrm>
            <a:off x="9066750" y="8585215"/>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ASBUILT ASSET · Runway guard light / RRM"/>
          <p:cNvSpPr/>
          <p:nvPr/>
        </p:nvSpPr>
        <p:spPr>
          <a:xfrm>
            <a:off x="5485906" y="9607670"/>
            <a:ext cx="100584" cy="100584"/>
          </a:xfrm>
          <a:prstGeom prst="ellipse">
            <a:avLst/>
          </a:prstGeom>
          <a:solidFill>
            <a:srgbClr val="E8B000">
              <a:alpha val="30000"/>
              <a:alpha val="20000"/>
              <a:alpha val="20000"/>
            </a:srgbClr>
          </a:solidFill>
          <a:ln w="9525" cap="flat" cmpd="sng" algn="ctr">
            <a:solidFill>
              <a:srgbClr val="8A690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ASBUILT ASSET · Taxiway centreline light"/>
          <p:cNvSpPr/>
          <p:nvPr/>
        </p:nvSpPr>
        <p:spPr>
          <a:xfrm>
            <a:off x="7872599" y="7701108"/>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ASBUILT ASSET · Taxiway centreline light"/>
          <p:cNvSpPr/>
          <p:nvPr/>
        </p:nvSpPr>
        <p:spPr>
          <a:xfrm>
            <a:off x="5724688" y="5979588"/>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0" name="ASBUILT ASSET · Taxiway centreline light"/>
          <p:cNvSpPr/>
          <p:nvPr/>
        </p:nvSpPr>
        <p:spPr>
          <a:xfrm>
            <a:off x="6811895" y="6858734"/>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1" name="ASBUILT ASSET · Taxiway centreline light"/>
          <p:cNvSpPr/>
          <p:nvPr/>
        </p:nvSpPr>
        <p:spPr>
          <a:xfrm>
            <a:off x="7907133" y="7739293"/>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ASBUILT ASSET · Taxiway centreline light"/>
          <p:cNvSpPr/>
          <p:nvPr/>
        </p:nvSpPr>
        <p:spPr>
          <a:xfrm>
            <a:off x="9001895" y="8621247"/>
            <a:ext cx="91440" cy="91440"/>
          </a:xfrm>
          <a:prstGeom prst="ellipse">
            <a:avLst/>
          </a:prstGeom>
          <a:solidFill>
            <a:srgbClr val="1E8E3E">
              <a:alpha val="30000"/>
              <a:alpha val="20000"/>
              <a:alpha val="20000"/>
            </a:srgbClr>
          </a:solidFill>
          <a:ln w="9525" cap="flat" cmpd="sng" algn="ctr">
            <a:solidFill>
              <a:srgbClr val="0B53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ASBUILT ASSET · Taxiway centreline light"/>
          <p:cNvSpPr/>
          <p:nvPr/>
        </p:nvSpPr>
        <p:spPr>
          <a:xfrm>
            <a:off x="6269574" y="6423187"/>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5" name="ASBUILT ASSET · Taxiway centreline light"/>
          <p:cNvSpPr/>
          <p:nvPr/>
        </p:nvSpPr>
        <p:spPr>
          <a:xfrm>
            <a:off x="5177097" y="5540212"/>
            <a:ext cx="91440" cy="91440"/>
          </a:xfrm>
          <a:prstGeom prst="ellipse">
            <a:avLst/>
          </a:prstGeom>
          <a:solidFill>
            <a:srgbClr val="5B9BD5">
              <a:lumMod val="50000"/>
              <a:alpha val="30000"/>
              <a:alpha val="20000"/>
              <a:alpha val="20000"/>
              <a:alpha val="100000"/>
              <a:alpha val="100000"/>
            </a:srgbClr>
          </a:solidFill>
          <a:ln w="6350">
            <a:solidFill>
              <a:srgbClr val="9AA0A6">
                <a:alpha val="30000"/>
                <a:alpha val="20000"/>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396" name="ASBUILT ASSET · Sign foundation"/>
          <p:cNvSpPr/>
          <p:nvPr/>
        </p:nvSpPr>
        <p:spPr>
          <a:xfrm>
            <a:off x="1535656" y="6756549"/>
            <a:ext cx="100584" cy="100584"/>
          </a:xfrm>
          <a:prstGeom prst="rect">
            <a:avLst/>
          </a:prstGeom>
          <a:solidFill>
            <a:srgbClr val="5D4037">
              <a:alpha val="30000"/>
              <a:alpha val="20000"/>
              <a:alpha val="20000"/>
            </a:srgbClr>
          </a:solidFill>
          <a:ln w="9525" cap="flat" cmpd="sng" algn="ctr">
            <a:solidFill>
              <a:srgbClr val="3A252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ASBUILT ASSET · Sign foundation"/>
          <p:cNvSpPr/>
          <p:nvPr/>
        </p:nvSpPr>
        <p:spPr>
          <a:xfrm>
            <a:off x="5852531" y="2249489"/>
            <a:ext cx="100584" cy="100584"/>
          </a:xfrm>
          <a:prstGeom prst="rect">
            <a:avLst/>
          </a:prstGeom>
          <a:solidFill>
            <a:srgbClr val="5D4037">
              <a:alpha val="30000"/>
              <a:alpha val="20000"/>
              <a:alpha val="20000"/>
            </a:srgbClr>
          </a:solidFill>
          <a:ln w="9525" cap="flat" cmpd="sng" algn="ctr">
            <a:solidFill>
              <a:srgbClr val="3A2520">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ASBUILT ASSET · Taxiway edge light"/>
          <p:cNvSpPr/>
          <p:nvPr/>
        </p:nvSpPr>
        <p:spPr>
          <a:xfrm>
            <a:off x="6409202" y="4680805"/>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ASBUILT ASSET · Taxiway edge light"/>
          <p:cNvSpPr/>
          <p:nvPr/>
        </p:nvSpPr>
        <p:spPr>
          <a:xfrm>
            <a:off x="7575372" y="5460571"/>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ASBUILT ASSET · Taxiway edge light"/>
          <p:cNvSpPr/>
          <p:nvPr/>
        </p:nvSpPr>
        <p:spPr>
          <a:xfrm>
            <a:off x="8408194" y="5891532"/>
            <a:ext cx="91440" cy="91440"/>
          </a:xfrm>
          <a:prstGeom prst="ellipse">
            <a:avLst/>
          </a:prstGeom>
          <a:solidFill>
            <a:srgbClr val="1A56DB">
              <a:alpha val="30000"/>
              <a:alpha val="20000"/>
              <a:alpha val="20000"/>
            </a:srgbClr>
          </a:solidFill>
          <a:ln w="9525" cap="flat" cmpd="sng" algn="ctr">
            <a:solidFill>
              <a:srgbClr val="0B2E7A">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ASBUILT ASSET · Earthing point"/>
          <p:cNvSpPr/>
          <p:nvPr/>
        </p:nvSpPr>
        <p:spPr>
          <a:xfrm>
            <a:off x="5517596" y="3398873"/>
            <a:ext cx="82296" cy="82296"/>
          </a:xfrm>
          <a:prstGeom prst="triangle">
            <a:avLst/>
          </a:prstGeom>
          <a:solidFill>
            <a:srgbClr val="795548">
              <a:alpha val="30000"/>
              <a:alpha val="20000"/>
              <a:alpha val="20000"/>
              <a:alpha val="100000"/>
            </a:srgbClr>
          </a:solidFill>
          <a:ln w="9525" cap="flat" cmpd="sng" algn="ctr">
            <a:solidFill>
              <a:srgbClr val="3E2A23">
                <a:alpha val="30000"/>
                <a:alpha val="200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ASBUILT ASSET · Earthing point"/>
          <p:cNvSpPr/>
          <p:nvPr/>
        </p:nvSpPr>
        <p:spPr>
          <a:xfrm>
            <a:off x="534513" y="7001522"/>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ASBUILT ASSET · Handhole"/>
          <p:cNvSpPr/>
          <p:nvPr/>
        </p:nvSpPr>
        <p:spPr>
          <a:xfrm>
            <a:off x="5575330" y="2483418"/>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ASBUILT ASSET · Handhole"/>
          <p:cNvSpPr/>
          <p:nvPr/>
        </p:nvSpPr>
        <p:spPr>
          <a:xfrm>
            <a:off x="5802548" y="2648478"/>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ASBUILT ASSET · Handhole"/>
          <p:cNvSpPr/>
          <p:nvPr/>
        </p:nvSpPr>
        <p:spPr>
          <a:xfrm>
            <a:off x="6808564" y="3379395"/>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ASBUILT ASSET · Handhole"/>
          <p:cNvSpPr/>
          <p:nvPr/>
        </p:nvSpPr>
        <p:spPr>
          <a:xfrm>
            <a:off x="7779026" y="4084644"/>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ASBUILT ASSET · Handhole"/>
          <p:cNvSpPr/>
          <p:nvPr/>
        </p:nvSpPr>
        <p:spPr>
          <a:xfrm>
            <a:off x="2880804" y="7306052"/>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ASBUILT ASSET · Handhole"/>
          <p:cNvSpPr/>
          <p:nvPr/>
        </p:nvSpPr>
        <p:spPr>
          <a:xfrm>
            <a:off x="3619740" y="8495386"/>
            <a:ext cx="128016" cy="128016"/>
          </a:xfrm>
          <a:prstGeom prst="rect">
            <a:avLst/>
          </a:prstGeom>
          <a:noFill/>
          <a:ln w="9525" cap="flat" cmpd="sng" algn="ctr">
            <a:solidFill>
              <a:srgbClr val="BB00BB">
                <a:alpha val="200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ASBUILT ASSET · Handhole"/>
          <p:cNvSpPr/>
          <p:nvPr/>
        </p:nvSpPr>
        <p:spPr>
          <a:xfrm>
            <a:off x="4250326" y="10038718"/>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ASBUILT ASSET · Handhole"/>
          <p:cNvSpPr/>
          <p:nvPr/>
        </p:nvSpPr>
        <p:spPr>
          <a:xfrm>
            <a:off x="8247158" y="4424556"/>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ASBUILT ASSET · Handhole"/>
          <p:cNvSpPr/>
          <p:nvPr/>
        </p:nvSpPr>
        <p:spPr>
          <a:xfrm>
            <a:off x="9085550" y="4881055"/>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ASBUILT ASSET · Handhole"/>
          <p:cNvSpPr/>
          <p:nvPr/>
        </p:nvSpPr>
        <p:spPr>
          <a:xfrm>
            <a:off x="1747231" y="6095365"/>
            <a:ext cx="128016" cy="128016"/>
          </a:xfrm>
          <a:prstGeom prst="rect">
            <a:avLst/>
          </a:prstGeom>
          <a:noFill/>
          <a:ln w="9525" cap="flat" cmpd="sng" algn="ctr">
            <a:solidFill>
              <a:srgbClr val="BB00BB">
                <a:alpha val="200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ASBUILT ASSET · Earthing pit"/>
          <p:cNvSpPr/>
          <p:nvPr/>
        </p:nvSpPr>
        <p:spPr>
          <a:xfrm>
            <a:off x="4284064" y="2610562"/>
            <a:ext cx="100584" cy="100584"/>
          </a:xfrm>
          <a:prstGeom prst="triangle">
            <a:avLst/>
          </a:prstGeom>
          <a:noFill/>
          <a:ln w="9525" cap="flat" cmpd="sng" algn="ctr">
            <a:solidFill>
              <a:srgbClr val="795548">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ASBUILT ASSET · Earthing point"/>
          <p:cNvSpPr/>
          <p:nvPr/>
        </p:nvSpPr>
        <p:spPr>
          <a:xfrm>
            <a:off x="6022584" y="3629987"/>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ASBUILT ASSET · Earthing point"/>
          <p:cNvSpPr/>
          <p:nvPr/>
        </p:nvSpPr>
        <p:spPr>
          <a:xfrm>
            <a:off x="4584009" y="2584536"/>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ASBUILT ASSET · Earthing point"/>
          <p:cNvSpPr/>
          <p:nvPr/>
        </p:nvSpPr>
        <p:spPr>
          <a:xfrm>
            <a:off x="3577983" y="1853628"/>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ASBUILT ASSET · Earthing point"/>
          <p:cNvSpPr/>
          <p:nvPr/>
        </p:nvSpPr>
        <p:spPr>
          <a:xfrm>
            <a:off x="3350774" y="1688568"/>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ASBUILT ASSET · Earthing point"/>
          <p:cNvSpPr/>
          <p:nvPr/>
        </p:nvSpPr>
        <p:spPr>
          <a:xfrm>
            <a:off x="1664075" y="9861399"/>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ASBUILT ASSET · Earthing point"/>
          <p:cNvSpPr/>
          <p:nvPr/>
        </p:nvSpPr>
        <p:spPr>
          <a:xfrm>
            <a:off x="9831504" y="3046942"/>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ASBUILT ASSET · Earthing point"/>
          <p:cNvSpPr/>
          <p:nvPr/>
        </p:nvSpPr>
        <p:spPr>
          <a:xfrm>
            <a:off x="9362416" y="3078648"/>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ASBUILT ASSET · Earthing point"/>
          <p:cNvSpPr/>
          <p:nvPr/>
        </p:nvSpPr>
        <p:spPr>
          <a:xfrm>
            <a:off x="6716014" y="4907626"/>
            <a:ext cx="82296" cy="82296"/>
          </a:xfrm>
          <a:prstGeom prst="triangle">
            <a:avLst/>
          </a:prstGeom>
          <a:solidFill>
            <a:srgbClr val="795548">
              <a:alpha val="30000"/>
              <a:alpha val="20000"/>
              <a:alpha val="20000"/>
            </a:srgbClr>
          </a:solidFill>
          <a:ln w="9525" cap="flat" cmpd="sng" algn="ctr">
            <a:solidFill>
              <a:srgbClr val="3E2A23">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ASBUILT ASSET · Handhole"/>
          <p:cNvSpPr/>
          <p:nvPr/>
        </p:nvSpPr>
        <p:spPr>
          <a:xfrm>
            <a:off x="8549305" y="4409597"/>
            <a:ext cx="128016" cy="128016"/>
          </a:xfrm>
          <a:prstGeom prst="rect">
            <a:avLst/>
          </a:prstGeom>
          <a:noFill/>
          <a:ln w="9525" cap="flat" cmpd="sng" algn="ctr">
            <a:solidFill>
              <a:srgbClr val="BB00BB">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ASBUILT ASSET · Existing transformer manhole"/>
          <p:cNvSpPr/>
          <p:nvPr/>
        </p:nvSpPr>
        <p:spPr>
          <a:xfrm>
            <a:off x="3348482" y="1718937"/>
            <a:ext cx="173736" cy="173736"/>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ASBUILT ASSET · Existing transformer manhole"/>
          <p:cNvSpPr/>
          <p:nvPr/>
        </p:nvSpPr>
        <p:spPr>
          <a:xfrm>
            <a:off x="913681" y="4744980"/>
            <a:ext cx="173736" cy="173736"/>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ASBUILT ASSET · Manhole"/>
          <p:cNvSpPr/>
          <p:nvPr/>
        </p:nvSpPr>
        <p:spPr>
          <a:xfrm>
            <a:off x="823811" y="5305949"/>
            <a:ext cx="173736" cy="173736"/>
          </a:xfrm>
          <a:prstGeom prst="rect">
            <a:avLst/>
          </a:prstGeom>
          <a:noFill/>
          <a:ln w="9525" cap="flat" cmpd="sng" algn="ctr">
            <a:solidFill>
              <a:srgbClr val="7B1FA2">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ASBUILT ASSET · Manhole"/>
          <p:cNvSpPr/>
          <p:nvPr/>
        </p:nvSpPr>
        <p:spPr>
          <a:xfrm>
            <a:off x="4025439" y="1318245"/>
            <a:ext cx="173736" cy="173736"/>
          </a:xfrm>
          <a:prstGeom prst="rect">
            <a:avLst/>
          </a:prstGeom>
          <a:noFill/>
          <a:ln w="9525" cap="flat" cmpd="sng" algn="ctr">
            <a:solidFill>
              <a:srgbClr val="7B1FA2">
                <a:alpha val="30000"/>
                <a:alpha val="200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ASBUILT ASSET · Existing transformer handhole"/>
          <p:cNvSpPr/>
          <p:nvPr/>
        </p:nvSpPr>
        <p:spPr>
          <a:xfrm>
            <a:off x="5280597" y="3290723"/>
            <a:ext cx="146304" cy="146304"/>
          </a:xfrm>
          <a:prstGeom prst="rect">
            <a:avLst/>
          </a:prstGeom>
          <a:noFill/>
          <a:ln w="9525" cap="flat" cmpd="sng" algn="ctr">
            <a:solidFill>
              <a:srgbClr val="00838F">
                <a:alpha val="30000"/>
                <a:alpha val="20000"/>
                <a:alpha val="20000"/>
                <a:alpha val="10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ASBUILT ASSET · Existing transformer handhole"/>
          <p:cNvSpPr/>
          <p:nvPr/>
        </p:nvSpPr>
        <p:spPr>
          <a:xfrm>
            <a:off x="1972787" y="5613670"/>
            <a:ext cx="146304" cy="146304"/>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ASBUILT ASSET · Existing transformer handhole"/>
          <p:cNvSpPr/>
          <p:nvPr/>
        </p:nvSpPr>
        <p:spPr>
          <a:xfrm>
            <a:off x="4179523" y="8144310"/>
            <a:ext cx="146304" cy="146304"/>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ASBUILT ASSET · Existing transformer handhole"/>
          <p:cNvSpPr/>
          <p:nvPr/>
        </p:nvSpPr>
        <p:spPr>
          <a:xfrm>
            <a:off x="2329680" y="914478"/>
            <a:ext cx="146304" cy="146304"/>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ASBUILT ASSET · Existing transformer handhole"/>
          <p:cNvSpPr/>
          <p:nvPr/>
        </p:nvSpPr>
        <p:spPr>
          <a:xfrm>
            <a:off x="8549988" y="5809467"/>
            <a:ext cx="146304" cy="146304"/>
          </a:xfrm>
          <a:prstGeom prst="rect">
            <a:avLst/>
          </a:prstGeom>
          <a:noFill/>
          <a:ln w="9525" cap="flat" cmpd="sng" algn="ctr">
            <a:solidFill>
              <a:srgbClr val="00838F">
                <a:alpha val="30000"/>
                <a:alpha val="20000"/>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p>
        </p:txBody>
      </p:sp>
      <p:sp>
        <p:nvSpPr>
          <p:cNvPr id="5" name="Shape 3"/>
          <p:cNvSpPr/>
          <p:nvPr/>
        </p:nvSpPr>
        <p:spPr>
          <a:xfrm>
            <a:off x="951025" y="777240"/>
            <a:ext cx="166132" cy="134108"/>
          </a:xfrm>
          <a:prstGeom prst="line">
            <a:avLst/>
          </a:prstGeom>
          <a:noFill/>
          <a:ln w="12700">
            <a:solidFill>
              <a:srgbClr val="7A8288">
                <a:alpha val="20000"/>
              </a:srgbClr>
            </a:solidFill>
            <a:prstDash val="solid"/>
          </a:ln>
        </p:spPr>
        <p:txBody>
          <a:bodyPr/>
          <a:lstStyle/>
          <a:p>
            <a:endParaRPr lang="en-US"/>
          </a:p>
        </p:txBody>
      </p:sp>
      <p:sp>
        <p:nvSpPr>
          <p:cNvPr id="6" name="Shape 4"/>
          <p:cNvSpPr/>
          <p:nvPr/>
        </p:nvSpPr>
        <p:spPr>
          <a:xfrm>
            <a:off x="1117157" y="911348"/>
            <a:ext cx="522676" cy="417486"/>
          </a:xfrm>
          <a:prstGeom prst="line">
            <a:avLst/>
          </a:prstGeom>
          <a:noFill/>
          <a:ln w="12700">
            <a:solidFill>
              <a:srgbClr val="7A8288">
                <a:alpha val="20000"/>
              </a:srgbClr>
            </a:solidFill>
            <a:prstDash val="solid"/>
          </a:ln>
        </p:spPr>
        <p:txBody>
          <a:bodyPr/>
          <a:lstStyle/>
          <a:p>
            <a:endParaRPr lang="en-US"/>
          </a:p>
        </p:txBody>
      </p:sp>
      <p:sp>
        <p:nvSpPr>
          <p:cNvPr id="7" name="Shape 5"/>
          <p:cNvSpPr/>
          <p:nvPr/>
        </p:nvSpPr>
        <p:spPr>
          <a:xfrm>
            <a:off x="1639833" y="1328834"/>
            <a:ext cx="2059" cy="1685"/>
          </a:xfrm>
          <a:prstGeom prst="line">
            <a:avLst/>
          </a:prstGeom>
          <a:noFill/>
          <a:ln w="12700">
            <a:solidFill>
              <a:srgbClr val="7A8288">
                <a:alpha val="30000"/>
                <a:alpha val="20000"/>
                <a:alpha val="20000"/>
              </a:srgbClr>
            </a:solidFill>
            <a:prstDash val="solid"/>
          </a:ln>
        </p:spPr>
        <p:txBody>
          <a:bodyPr/>
          <a:lstStyle/>
          <a:p>
            <a:endParaRPr lang="en-US"/>
          </a:p>
        </p:txBody>
      </p:sp>
      <p:sp>
        <p:nvSpPr>
          <p:cNvPr id="8" name="Shape 6"/>
          <p:cNvSpPr/>
          <p:nvPr/>
        </p:nvSpPr>
        <p:spPr>
          <a:xfrm>
            <a:off x="1641892" y="1330519"/>
            <a:ext cx="521647" cy="418890"/>
          </a:xfrm>
          <a:prstGeom prst="line">
            <a:avLst/>
          </a:prstGeom>
          <a:noFill/>
          <a:ln w="12700">
            <a:solidFill>
              <a:srgbClr val="7A8288">
                <a:alpha val="30000"/>
                <a:alpha val="20000"/>
                <a:alpha val="20000"/>
              </a:srgbClr>
            </a:solidFill>
            <a:prstDash val="solid"/>
          </a:ln>
        </p:spPr>
        <p:txBody>
          <a:bodyPr/>
          <a:lstStyle/>
          <a:p>
            <a:endParaRPr lang="en-US"/>
          </a:p>
        </p:txBody>
      </p:sp>
      <p:sp>
        <p:nvSpPr>
          <p:cNvPr id="9" name="Shape 7"/>
          <p:cNvSpPr/>
          <p:nvPr/>
        </p:nvSpPr>
        <p:spPr>
          <a:xfrm>
            <a:off x="2163539" y="1749409"/>
            <a:ext cx="523612" cy="420762"/>
          </a:xfrm>
          <a:prstGeom prst="line">
            <a:avLst/>
          </a:prstGeom>
          <a:noFill/>
          <a:ln w="12700">
            <a:solidFill>
              <a:srgbClr val="7A8288">
                <a:alpha val="30000"/>
                <a:alpha val="20000"/>
                <a:alpha val="20000"/>
              </a:srgbClr>
            </a:solidFill>
            <a:prstDash val="solid"/>
          </a:ln>
        </p:spPr>
        <p:txBody>
          <a:bodyPr/>
          <a:lstStyle/>
          <a:p>
            <a:endParaRPr lang="en-US"/>
          </a:p>
        </p:txBody>
      </p:sp>
      <p:sp>
        <p:nvSpPr>
          <p:cNvPr id="10" name="Shape 8"/>
          <p:cNvSpPr/>
          <p:nvPr/>
        </p:nvSpPr>
        <p:spPr>
          <a:xfrm>
            <a:off x="2687151" y="2170170"/>
            <a:ext cx="522021" cy="419077"/>
          </a:xfrm>
          <a:prstGeom prst="line">
            <a:avLst/>
          </a:prstGeom>
          <a:noFill/>
          <a:ln w="12700">
            <a:solidFill>
              <a:srgbClr val="7A8288">
                <a:alpha val="30000"/>
                <a:alpha val="20000"/>
                <a:alpha val="20000"/>
              </a:srgbClr>
            </a:solidFill>
            <a:prstDash val="solid"/>
          </a:ln>
        </p:spPr>
        <p:txBody>
          <a:bodyPr/>
          <a:lstStyle/>
          <a:p>
            <a:endParaRPr lang="en-US"/>
          </a:p>
        </p:txBody>
      </p:sp>
      <p:sp>
        <p:nvSpPr>
          <p:cNvPr id="11" name="Shape 9"/>
          <p:cNvSpPr/>
          <p:nvPr/>
        </p:nvSpPr>
        <p:spPr>
          <a:xfrm>
            <a:off x="3209173" y="2589247"/>
            <a:ext cx="523987" cy="420668"/>
          </a:xfrm>
          <a:prstGeom prst="line">
            <a:avLst/>
          </a:prstGeom>
          <a:noFill/>
          <a:ln w="12700">
            <a:solidFill>
              <a:srgbClr val="7A8288">
                <a:alpha val="30000"/>
                <a:alpha val="20000"/>
                <a:alpha val="20000"/>
              </a:srgbClr>
            </a:solidFill>
            <a:prstDash val="solid"/>
          </a:ln>
        </p:spPr>
        <p:txBody>
          <a:bodyPr/>
          <a:lstStyle/>
          <a:p>
            <a:endParaRPr lang="en-US"/>
          </a:p>
        </p:txBody>
      </p:sp>
      <p:sp>
        <p:nvSpPr>
          <p:cNvPr id="12" name="Shape 10"/>
          <p:cNvSpPr/>
          <p:nvPr/>
        </p:nvSpPr>
        <p:spPr>
          <a:xfrm>
            <a:off x="3733159" y="3009915"/>
            <a:ext cx="522957" cy="419639"/>
          </a:xfrm>
          <a:prstGeom prst="line">
            <a:avLst/>
          </a:prstGeom>
          <a:noFill/>
          <a:ln w="12700">
            <a:solidFill>
              <a:srgbClr val="7A8288">
                <a:alpha val="30000"/>
                <a:alpha val="20000"/>
                <a:alpha val="20000"/>
              </a:srgbClr>
            </a:solidFill>
            <a:prstDash val="solid"/>
          </a:ln>
        </p:spPr>
        <p:txBody>
          <a:bodyPr/>
          <a:lstStyle/>
          <a:p>
            <a:endParaRPr lang="en-US"/>
          </a:p>
        </p:txBody>
      </p:sp>
      <p:sp>
        <p:nvSpPr>
          <p:cNvPr id="13" name="Shape 11"/>
          <p:cNvSpPr/>
          <p:nvPr/>
        </p:nvSpPr>
        <p:spPr>
          <a:xfrm>
            <a:off x="4256117" y="3429554"/>
            <a:ext cx="566381" cy="455108"/>
          </a:xfrm>
          <a:prstGeom prst="line">
            <a:avLst/>
          </a:prstGeom>
          <a:noFill/>
          <a:ln w="12700">
            <a:solidFill>
              <a:srgbClr val="7A8288">
                <a:alpha val="30000"/>
                <a:alpha val="20000"/>
                <a:alpha val="20000"/>
              </a:srgbClr>
            </a:solidFill>
            <a:prstDash val="solid"/>
          </a:ln>
        </p:spPr>
        <p:txBody>
          <a:bodyPr/>
          <a:lstStyle/>
          <a:p>
            <a:endParaRPr lang="en-US"/>
          </a:p>
        </p:txBody>
      </p:sp>
      <p:sp>
        <p:nvSpPr>
          <p:cNvPr id="14" name="Shape 12"/>
          <p:cNvSpPr/>
          <p:nvPr/>
        </p:nvSpPr>
        <p:spPr>
          <a:xfrm>
            <a:off x="4822497" y="3884661"/>
            <a:ext cx="522957" cy="413462"/>
          </a:xfrm>
          <a:prstGeom prst="line">
            <a:avLst/>
          </a:prstGeom>
          <a:noFill/>
          <a:ln w="12700">
            <a:solidFill>
              <a:srgbClr val="7A8288">
                <a:alpha val="30000"/>
                <a:alpha val="20000"/>
                <a:alpha val="20000"/>
              </a:srgbClr>
            </a:solidFill>
            <a:prstDash val="solid"/>
          </a:ln>
        </p:spPr>
        <p:txBody>
          <a:bodyPr/>
          <a:lstStyle/>
          <a:p>
            <a:endParaRPr lang="en-US"/>
          </a:p>
        </p:txBody>
      </p:sp>
      <p:sp>
        <p:nvSpPr>
          <p:cNvPr id="15" name="Shape 13"/>
          <p:cNvSpPr/>
          <p:nvPr/>
        </p:nvSpPr>
        <p:spPr>
          <a:xfrm>
            <a:off x="5345455" y="4298123"/>
            <a:ext cx="11885" cy="9546"/>
          </a:xfrm>
          <a:prstGeom prst="line">
            <a:avLst/>
          </a:prstGeom>
          <a:noFill/>
          <a:ln w="12700">
            <a:solidFill>
              <a:srgbClr val="7A8288">
                <a:alpha val="30000"/>
                <a:alpha val="20000"/>
                <a:alpha val="20000"/>
              </a:srgbClr>
            </a:solidFill>
            <a:prstDash val="solid"/>
          </a:ln>
        </p:spPr>
        <p:txBody>
          <a:bodyPr/>
          <a:lstStyle/>
          <a:p>
            <a:endParaRPr lang="en-US"/>
          </a:p>
        </p:txBody>
      </p:sp>
      <p:sp>
        <p:nvSpPr>
          <p:cNvPr id="16" name="Shape 14"/>
          <p:cNvSpPr/>
          <p:nvPr/>
        </p:nvSpPr>
        <p:spPr>
          <a:xfrm>
            <a:off x="5357340" y="4307669"/>
            <a:ext cx="544950" cy="443596"/>
          </a:xfrm>
          <a:prstGeom prst="line">
            <a:avLst/>
          </a:prstGeom>
          <a:noFill/>
          <a:ln w="12700">
            <a:solidFill>
              <a:srgbClr val="7A8288">
                <a:alpha val="30000"/>
                <a:alpha val="20000"/>
                <a:alpha val="20000"/>
              </a:srgbClr>
            </a:solidFill>
            <a:prstDash val="solid"/>
          </a:ln>
        </p:spPr>
        <p:txBody>
          <a:bodyPr/>
          <a:lstStyle/>
          <a:p>
            <a:endParaRPr lang="en-US"/>
          </a:p>
        </p:txBody>
      </p:sp>
      <p:sp>
        <p:nvSpPr>
          <p:cNvPr id="17" name="Shape 15"/>
          <p:cNvSpPr/>
          <p:nvPr/>
        </p:nvSpPr>
        <p:spPr>
          <a:xfrm>
            <a:off x="5902290" y="4751266"/>
            <a:ext cx="76927" cy="69066"/>
          </a:xfrm>
          <a:prstGeom prst="line">
            <a:avLst/>
          </a:prstGeom>
          <a:noFill/>
          <a:ln w="12700">
            <a:solidFill>
              <a:srgbClr val="7A8288">
                <a:alpha val="30000"/>
                <a:alpha val="20000"/>
                <a:alpha val="20000"/>
              </a:srgbClr>
            </a:solidFill>
            <a:prstDash val="solid"/>
          </a:ln>
        </p:spPr>
        <p:txBody>
          <a:bodyPr/>
          <a:lstStyle/>
          <a:p>
            <a:endParaRPr lang="en-US"/>
          </a:p>
        </p:txBody>
      </p:sp>
      <p:sp>
        <p:nvSpPr>
          <p:cNvPr id="18" name="Shape 16"/>
          <p:cNvSpPr/>
          <p:nvPr/>
        </p:nvSpPr>
        <p:spPr>
          <a:xfrm>
            <a:off x="5979217" y="4820332"/>
            <a:ext cx="69909" cy="76085"/>
          </a:xfrm>
          <a:prstGeom prst="line">
            <a:avLst/>
          </a:prstGeom>
          <a:noFill/>
          <a:ln w="12700">
            <a:solidFill>
              <a:srgbClr val="7A8288">
                <a:alpha val="30000"/>
                <a:alpha val="20000"/>
                <a:alpha val="20000"/>
              </a:srgbClr>
            </a:solidFill>
            <a:prstDash val="solid"/>
          </a:ln>
        </p:spPr>
        <p:txBody>
          <a:bodyPr/>
          <a:lstStyle/>
          <a:p>
            <a:endParaRPr lang="en-US"/>
          </a:p>
        </p:txBody>
      </p:sp>
      <p:sp>
        <p:nvSpPr>
          <p:cNvPr id="19" name="Shape 17"/>
          <p:cNvSpPr/>
          <p:nvPr/>
        </p:nvSpPr>
        <p:spPr>
          <a:xfrm>
            <a:off x="6049126" y="4896417"/>
            <a:ext cx="62328" cy="82355"/>
          </a:xfrm>
          <a:prstGeom prst="line">
            <a:avLst/>
          </a:prstGeom>
          <a:noFill/>
          <a:ln w="12700">
            <a:solidFill>
              <a:srgbClr val="7A8288">
                <a:alpha val="30000"/>
                <a:alpha val="20000"/>
                <a:alpha val="20000"/>
              </a:srgbClr>
            </a:solidFill>
            <a:prstDash val="solid"/>
          </a:ln>
        </p:spPr>
        <p:txBody>
          <a:bodyPr/>
          <a:lstStyle/>
          <a:p>
            <a:endParaRPr lang="en-US"/>
          </a:p>
        </p:txBody>
      </p:sp>
      <p:sp>
        <p:nvSpPr>
          <p:cNvPr id="20" name="Shape 18"/>
          <p:cNvSpPr/>
          <p:nvPr/>
        </p:nvSpPr>
        <p:spPr>
          <a:xfrm>
            <a:off x="6111454" y="4978773"/>
            <a:ext cx="21244" cy="34533"/>
          </a:xfrm>
          <a:prstGeom prst="line">
            <a:avLst/>
          </a:prstGeom>
          <a:noFill/>
          <a:ln w="12700">
            <a:solidFill>
              <a:srgbClr val="7A8288">
                <a:alpha val="30000"/>
                <a:alpha val="20000"/>
                <a:alpha val="20000"/>
              </a:srgbClr>
            </a:solidFill>
            <a:prstDash val="solid"/>
          </a:ln>
        </p:spPr>
        <p:txBody>
          <a:bodyPr/>
          <a:lstStyle/>
          <a:p>
            <a:endParaRPr lang="en-US"/>
          </a:p>
        </p:txBody>
      </p:sp>
      <p:sp>
        <p:nvSpPr>
          <p:cNvPr id="21" name="Shape 19"/>
          <p:cNvSpPr/>
          <p:nvPr/>
        </p:nvSpPr>
        <p:spPr>
          <a:xfrm>
            <a:off x="6132698" y="5013306"/>
            <a:ext cx="43237" cy="15161"/>
          </a:xfrm>
          <a:prstGeom prst="line">
            <a:avLst/>
          </a:prstGeom>
          <a:noFill/>
          <a:ln w="12700">
            <a:solidFill>
              <a:srgbClr val="7A8288">
                <a:alpha val="30000"/>
                <a:alpha val="20000"/>
                <a:alpha val="20000"/>
              </a:srgbClr>
            </a:solidFill>
            <a:prstDash val="solid"/>
          </a:ln>
        </p:spPr>
        <p:txBody>
          <a:bodyPr/>
          <a:lstStyle/>
          <a:p>
            <a:endParaRPr lang="en-US"/>
          </a:p>
        </p:txBody>
      </p:sp>
      <p:sp>
        <p:nvSpPr>
          <p:cNvPr id="22" name="Shape 20"/>
          <p:cNvSpPr/>
          <p:nvPr/>
        </p:nvSpPr>
        <p:spPr>
          <a:xfrm>
            <a:off x="6175935" y="5028467"/>
            <a:ext cx="96580" cy="44921"/>
          </a:xfrm>
          <a:prstGeom prst="line">
            <a:avLst/>
          </a:prstGeom>
          <a:noFill/>
          <a:ln w="12700">
            <a:solidFill>
              <a:srgbClr val="7A8288">
                <a:alpha val="30000"/>
                <a:alpha val="20000"/>
                <a:alpha val="20000"/>
              </a:srgbClr>
            </a:solidFill>
            <a:prstDash val="solid"/>
          </a:ln>
        </p:spPr>
        <p:txBody>
          <a:bodyPr/>
          <a:lstStyle/>
          <a:p>
            <a:endParaRPr lang="en-US"/>
          </a:p>
        </p:txBody>
      </p:sp>
      <p:sp>
        <p:nvSpPr>
          <p:cNvPr id="23" name="Shape 21"/>
          <p:cNvSpPr/>
          <p:nvPr/>
        </p:nvSpPr>
        <p:spPr>
          <a:xfrm>
            <a:off x="6272515" y="5073388"/>
            <a:ext cx="91620" cy="54280"/>
          </a:xfrm>
          <a:prstGeom prst="line">
            <a:avLst/>
          </a:prstGeom>
          <a:noFill/>
          <a:ln w="12700">
            <a:solidFill>
              <a:srgbClr val="7A8288">
                <a:alpha val="30000"/>
                <a:alpha val="20000"/>
                <a:alpha val="20000"/>
              </a:srgbClr>
            </a:solidFill>
            <a:prstDash val="solid"/>
          </a:ln>
        </p:spPr>
        <p:txBody>
          <a:bodyPr/>
          <a:lstStyle/>
          <a:p>
            <a:endParaRPr lang="en-US"/>
          </a:p>
        </p:txBody>
      </p:sp>
      <p:sp>
        <p:nvSpPr>
          <p:cNvPr id="24" name="Shape 22"/>
          <p:cNvSpPr/>
          <p:nvPr/>
        </p:nvSpPr>
        <p:spPr>
          <a:xfrm>
            <a:off x="6364136" y="5127667"/>
            <a:ext cx="85818" cy="63077"/>
          </a:xfrm>
          <a:prstGeom prst="line">
            <a:avLst/>
          </a:prstGeom>
          <a:noFill/>
          <a:ln w="12700">
            <a:solidFill>
              <a:srgbClr val="7A8288">
                <a:alpha val="30000"/>
                <a:alpha val="20000"/>
                <a:alpha val="20000"/>
              </a:srgbClr>
            </a:solidFill>
            <a:prstDash val="solid"/>
          </a:ln>
        </p:spPr>
        <p:txBody>
          <a:bodyPr/>
          <a:lstStyle/>
          <a:p>
            <a:endParaRPr lang="en-US"/>
          </a:p>
        </p:txBody>
      </p:sp>
      <p:sp>
        <p:nvSpPr>
          <p:cNvPr id="25" name="Shape 23"/>
          <p:cNvSpPr/>
          <p:nvPr/>
        </p:nvSpPr>
        <p:spPr>
          <a:xfrm>
            <a:off x="6449954" y="5190744"/>
            <a:ext cx="544856" cy="443596"/>
          </a:xfrm>
          <a:prstGeom prst="line">
            <a:avLst/>
          </a:prstGeom>
          <a:noFill/>
          <a:ln w="12700">
            <a:solidFill>
              <a:srgbClr val="7A8288">
                <a:alpha val="30000"/>
                <a:alpha val="20000"/>
                <a:alpha val="20000"/>
              </a:srgbClr>
            </a:solidFill>
            <a:prstDash val="solid"/>
          </a:ln>
        </p:spPr>
        <p:txBody>
          <a:bodyPr/>
          <a:lstStyle/>
          <a:p>
            <a:endParaRPr lang="en-US"/>
          </a:p>
        </p:txBody>
      </p:sp>
      <p:sp>
        <p:nvSpPr>
          <p:cNvPr id="26" name="Shape 24"/>
          <p:cNvSpPr/>
          <p:nvPr/>
        </p:nvSpPr>
        <p:spPr>
          <a:xfrm>
            <a:off x="6994810" y="5634341"/>
            <a:ext cx="79174" cy="71219"/>
          </a:xfrm>
          <a:prstGeom prst="line">
            <a:avLst/>
          </a:prstGeom>
          <a:noFill/>
          <a:ln w="12700">
            <a:solidFill>
              <a:srgbClr val="7A8288">
                <a:alpha val="30000"/>
                <a:alpha val="20000"/>
                <a:alpha val="20000"/>
              </a:srgbClr>
            </a:solidFill>
            <a:prstDash val="solid"/>
          </a:ln>
        </p:spPr>
        <p:txBody>
          <a:bodyPr/>
          <a:lstStyle/>
          <a:p>
            <a:endParaRPr lang="en-US"/>
          </a:p>
        </p:txBody>
      </p:sp>
      <p:sp>
        <p:nvSpPr>
          <p:cNvPr id="27" name="Shape 25"/>
          <p:cNvSpPr/>
          <p:nvPr/>
        </p:nvSpPr>
        <p:spPr>
          <a:xfrm>
            <a:off x="7073984" y="5705559"/>
            <a:ext cx="71780" cy="78799"/>
          </a:xfrm>
          <a:prstGeom prst="line">
            <a:avLst/>
          </a:prstGeom>
          <a:noFill/>
          <a:ln w="12700">
            <a:solidFill>
              <a:srgbClr val="7A8288">
                <a:alpha val="30000"/>
                <a:alpha val="20000"/>
                <a:alpha val="20000"/>
              </a:srgbClr>
            </a:solidFill>
            <a:prstDash val="solid"/>
          </a:ln>
        </p:spPr>
        <p:txBody>
          <a:bodyPr/>
          <a:lstStyle/>
          <a:p>
            <a:endParaRPr lang="en-US"/>
          </a:p>
        </p:txBody>
      </p:sp>
      <p:sp>
        <p:nvSpPr>
          <p:cNvPr id="28" name="Shape 26"/>
          <p:cNvSpPr/>
          <p:nvPr/>
        </p:nvSpPr>
        <p:spPr>
          <a:xfrm>
            <a:off x="7145764" y="5784359"/>
            <a:ext cx="63545" cy="85444"/>
          </a:xfrm>
          <a:prstGeom prst="line">
            <a:avLst/>
          </a:prstGeom>
          <a:noFill/>
          <a:ln w="12700">
            <a:solidFill>
              <a:srgbClr val="7A8288">
                <a:alpha val="30000"/>
                <a:alpha val="20000"/>
                <a:alpha val="20000"/>
              </a:srgbClr>
            </a:solidFill>
            <a:prstDash val="solid"/>
          </a:ln>
        </p:spPr>
        <p:txBody>
          <a:bodyPr/>
          <a:lstStyle/>
          <a:p>
            <a:endParaRPr lang="en-US"/>
          </a:p>
        </p:txBody>
      </p:sp>
      <p:sp>
        <p:nvSpPr>
          <p:cNvPr id="29" name="Shape 27"/>
          <p:cNvSpPr/>
          <p:nvPr/>
        </p:nvSpPr>
        <p:spPr>
          <a:xfrm>
            <a:off x="7209309" y="5869802"/>
            <a:ext cx="14225" cy="23677"/>
          </a:xfrm>
          <a:prstGeom prst="line">
            <a:avLst/>
          </a:prstGeom>
          <a:noFill/>
          <a:ln w="12700">
            <a:solidFill>
              <a:srgbClr val="7A8288">
                <a:alpha val="30000"/>
                <a:alpha val="20000"/>
                <a:alpha val="20000"/>
              </a:srgbClr>
            </a:solidFill>
            <a:prstDash val="solid"/>
          </a:ln>
        </p:spPr>
        <p:txBody>
          <a:bodyPr/>
          <a:lstStyle/>
          <a:p>
            <a:endParaRPr lang="en-US"/>
          </a:p>
        </p:txBody>
      </p:sp>
      <p:sp>
        <p:nvSpPr>
          <p:cNvPr id="30" name="Shape 28"/>
          <p:cNvSpPr/>
          <p:nvPr/>
        </p:nvSpPr>
        <p:spPr>
          <a:xfrm>
            <a:off x="9167403" y="7240459"/>
            <a:ext cx="91340" cy="7487"/>
          </a:xfrm>
          <a:prstGeom prst="line">
            <a:avLst/>
          </a:prstGeom>
          <a:noFill/>
          <a:ln w="12700">
            <a:solidFill>
              <a:srgbClr val="7A8288">
                <a:alpha val="30000"/>
                <a:alpha val="20000"/>
                <a:alpha val="20000"/>
              </a:srgbClr>
            </a:solidFill>
            <a:prstDash val="solid"/>
          </a:ln>
        </p:spPr>
        <p:txBody>
          <a:bodyPr/>
          <a:lstStyle/>
          <a:p>
            <a:endParaRPr lang="en-US"/>
          </a:p>
        </p:txBody>
      </p:sp>
      <p:sp>
        <p:nvSpPr>
          <p:cNvPr id="31" name="Shape 29"/>
          <p:cNvSpPr/>
          <p:nvPr/>
        </p:nvSpPr>
        <p:spPr>
          <a:xfrm>
            <a:off x="9258743" y="7247946"/>
            <a:ext cx="105003" cy="19279"/>
          </a:xfrm>
          <a:prstGeom prst="line">
            <a:avLst/>
          </a:prstGeom>
          <a:noFill/>
          <a:ln w="12700">
            <a:solidFill>
              <a:srgbClr val="7A8288">
                <a:alpha val="30000"/>
                <a:alpha val="20000"/>
                <a:alpha val="20000"/>
              </a:srgbClr>
            </a:solidFill>
            <a:prstDash val="solid"/>
          </a:ln>
        </p:spPr>
        <p:txBody>
          <a:bodyPr/>
          <a:lstStyle/>
          <a:p>
            <a:endParaRPr lang="en-US"/>
          </a:p>
        </p:txBody>
      </p:sp>
      <p:sp>
        <p:nvSpPr>
          <p:cNvPr id="32" name="Shape 30"/>
          <p:cNvSpPr/>
          <p:nvPr/>
        </p:nvSpPr>
        <p:spPr>
          <a:xfrm>
            <a:off x="9363746" y="7267225"/>
            <a:ext cx="338968" cy="79596"/>
          </a:xfrm>
          <a:prstGeom prst="line">
            <a:avLst/>
          </a:prstGeom>
          <a:noFill/>
          <a:ln w="12700">
            <a:solidFill>
              <a:srgbClr val="7A8288">
                <a:alpha val="30000"/>
                <a:alpha val="20000"/>
                <a:alpha val="20000"/>
              </a:srgbClr>
            </a:solidFill>
            <a:prstDash val="solid"/>
          </a:ln>
        </p:spPr>
        <p:txBody>
          <a:bodyPr/>
          <a:lstStyle/>
          <a:p>
            <a:endParaRPr lang="en-US"/>
          </a:p>
        </p:txBody>
      </p:sp>
      <p:sp>
        <p:nvSpPr>
          <p:cNvPr id="33" name="Shape 31"/>
          <p:cNvSpPr/>
          <p:nvPr/>
        </p:nvSpPr>
        <p:spPr>
          <a:xfrm>
            <a:off x="9206522" y="10155469"/>
            <a:ext cx="199079" cy="177251"/>
          </a:xfrm>
          <a:prstGeom prst="line">
            <a:avLst/>
          </a:prstGeom>
          <a:noFill/>
          <a:ln w="12700">
            <a:solidFill>
              <a:srgbClr val="7A8288">
                <a:alpha val="20000"/>
              </a:srgbClr>
            </a:solidFill>
            <a:prstDash val="solid"/>
          </a:ln>
        </p:spPr>
        <p:txBody>
          <a:bodyPr/>
          <a:lstStyle/>
          <a:p>
            <a:endParaRPr lang="en-US"/>
          </a:p>
        </p:txBody>
      </p:sp>
      <p:sp>
        <p:nvSpPr>
          <p:cNvPr id="34" name="Shape 32"/>
          <p:cNvSpPr/>
          <p:nvPr/>
        </p:nvSpPr>
        <p:spPr>
          <a:xfrm>
            <a:off x="492846" y="3168387"/>
            <a:ext cx="322871" cy="259295"/>
          </a:xfrm>
          <a:prstGeom prst="line">
            <a:avLst/>
          </a:prstGeom>
          <a:noFill/>
          <a:ln w="12700">
            <a:solidFill>
              <a:srgbClr val="7A8288">
                <a:alpha val="30000"/>
                <a:alpha val="20000"/>
                <a:alpha val="20000"/>
              </a:srgbClr>
            </a:solidFill>
            <a:prstDash val="solid"/>
          </a:ln>
        </p:spPr>
        <p:txBody>
          <a:bodyPr/>
          <a:lstStyle/>
          <a:p>
            <a:endParaRPr lang="en-US"/>
          </a:p>
        </p:txBody>
      </p:sp>
      <p:sp>
        <p:nvSpPr>
          <p:cNvPr id="35" name="Shape 33"/>
          <p:cNvSpPr/>
          <p:nvPr/>
        </p:nvSpPr>
        <p:spPr>
          <a:xfrm>
            <a:off x="815717" y="3427682"/>
            <a:ext cx="523706" cy="420762"/>
          </a:xfrm>
          <a:prstGeom prst="line">
            <a:avLst/>
          </a:prstGeom>
          <a:noFill/>
          <a:ln w="12700">
            <a:solidFill>
              <a:srgbClr val="7A8288">
                <a:alpha val="30000"/>
                <a:alpha val="20000"/>
                <a:alpha val="20000"/>
              </a:srgbClr>
            </a:solidFill>
            <a:prstDash val="solid"/>
          </a:ln>
        </p:spPr>
        <p:txBody>
          <a:bodyPr/>
          <a:lstStyle/>
          <a:p>
            <a:endParaRPr lang="en-US"/>
          </a:p>
        </p:txBody>
      </p:sp>
      <p:sp>
        <p:nvSpPr>
          <p:cNvPr id="36" name="Shape 34"/>
          <p:cNvSpPr/>
          <p:nvPr/>
        </p:nvSpPr>
        <p:spPr>
          <a:xfrm>
            <a:off x="1339423" y="3848444"/>
            <a:ext cx="522302" cy="419358"/>
          </a:xfrm>
          <a:prstGeom prst="line">
            <a:avLst/>
          </a:prstGeom>
          <a:noFill/>
          <a:ln w="12700">
            <a:solidFill>
              <a:srgbClr val="7A8288">
                <a:alpha val="30000"/>
                <a:alpha val="20000"/>
                <a:alpha val="20000"/>
              </a:srgbClr>
            </a:solidFill>
            <a:prstDash val="solid"/>
          </a:ln>
        </p:spPr>
        <p:txBody>
          <a:bodyPr/>
          <a:lstStyle/>
          <a:p>
            <a:endParaRPr lang="en-US"/>
          </a:p>
        </p:txBody>
      </p:sp>
      <p:sp>
        <p:nvSpPr>
          <p:cNvPr id="37" name="Shape 35"/>
          <p:cNvSpPr/>
          <p:nvPr/>
        </p:nvSpPr>
        <p:spPr>
          <a:xfrm>
            <a:off x="1861725" y="4267802"/>
            <a:ext cx="524174" cy="420762"/>
          </a:xfrm>
          <a:prstGeom prst="line">
            <a:avLst/>
          </a:prstGeom>
          <a:noFill/>
          <a:ln w="12700">
            <a:solidFill>
              <a:srgbClr val="7A8288">
                <a:alpha val="30000"/>
                <a:alpha val="20000"/>
                <a:alpha val="20000"/>
              </a:srgbClr>
            </a:solidFill>
            <a:prstDash val="solid"/>
          </a:ln>
        </p:spPr>
        <p:txBody>
          <a:bodyPr/>
          <a:lstStyle/>
          <a:p>
            <a:endParaRPr lang="en-US"/>
          </a:p>
        </p:txBody>
      </p:sp>
      <p:sp>
        <p:nvSpPr>
          <p:cNvPr id="38" name="Shape 36"/>
          <p:cNvSpPr/>
          <p:nvPr/>
        </p:nvSpPr>
        <p:spPr>
          <a:xfrm>
            <a:off x="2385899" y="4688563"/>
            <a:ext cx="522676" cy="419545"/>
          </a:xfrm>
          <a:prstGeom prst="line">
            <a:avLst/>
          </a:prstGeom>
          <a:noFill/>
          <a:ln w="12700">
            <a:solidFill>
              <a:srgbClr val="7A8288">
                <a:alpha val="30000"/>
                <a:alpha val="20000"/>
                <a:alpha val="20000"/>
              </a:srgbClr>
            </a:solidFill>
            <a:prstDash val="solid"/>
          </a:ln>
        </p:spPr>
        <p:txBody>
          <a:bodyPr/>
          <a:lstStyle/>
          <a:p>
            <a:endParaRPr lang="en-US"/>
          </a:p>
        </p:txBody>
      </p:sp>
      <p:sp>
        <p:nvSpPr>
          <p:cNvPr id="39" name="Shape 37"/>
          <p:cNvSpPr/>
          <p:nvPr/>
        </p:nvSpPr>
        <p:spPr>
          <a:xfrm>
            <a:off x="2908575" y="5108108"/>
            <a:ext cx="569001" cy="457166"/>
          </a:xfrm>
          <a:prstGeom prst="line">
            <a:avLst/>
          </a:prstGeom>
          <a:noFill/>
          <a:ln w="12700">
            <a:solidFill>
              <a:srgbClr val="7A8288">
                <a:alpha val="30000"/>
                <a:alpha val="20000"/>
                <a:alpha val="20000"/>
              </a:srgbClr>
            </a:solidFill>
            <a:prstDash val="solid"/>
          </a:ln>
        </p:spPr>
        <p:txBody>
          <a:bodyPr/>
          <a:lstStyle/>
          <a:p>
            <a:endParaRPr lang="en-US"/>
          </a:p>
        </p:txBody>
      </p:sp>
      <p:sp>
        <p:nvSpPr>
          <p:cNvPr id="40" name="Shape 38"/>
          <p:cNvSpPr/>
          <p:nvPr/>
        </p:nvSpPr>
        <p:spPr>
          <a:xfrm>
            <a:off x="3477577" y="5565274"/>
            <a:ext cx="6551" cy="5241"/>
          </a:xfrm>
          <a:prstGeom prst="line">
            <a:avLst/>
          </a:prstGeom>
          <a:noFill/>
          <a:ln w="12700">
            <a:solidFill>
              <a:srgbClr val="7A8288">
                <a:alpha val="30000"/>
                <a:alpha val="20000"/>
                <a:alpha val="20000"/>
              </a:srgbClr>
            </a:solidFill>
            <a:prstDash val="solid"/>
          </a:ln>
        </p:spPr>
        <p:txBody>
          <a:bodyPr/>
          <a:lstStyle/>
          <a:p>
            <a:endParaRPr lang="en-US"/>
          </a:p>
        </p:txBody>
      </p:sp>
      <p:sp>
        <p:nvSpPr>
          <p:cNvPr id="41" name="Shape 39"/>
          <p:cNvSpPr/>
          <p:nvPr/>
        </p:nvSpPr>
        <p:spPr>
          <a:xfrm>
            <a:off x="3484128" y="5570515"/>
            <a:ext cx="520243" cy="411309"/>
          </a:xfrm>
          <a:prstGeom prst="line">
            <a:avLst/>
          </a:prstGeom>
          <a:noFill/>
          <a:ln w="12700">
            <a:solidFill>
              <a:srgbClr val="7A8288">
                <a:alpha val="30000"/>
                <a:alpha val="20000"/>
                <a:alpha val="20000"/>
              </a:srgbClr>
            </a:solidFill>
            <a:prstDash val="solid"/>
          </a:ln>
        </p:spPr>
        <p:txBody>
          <a:bodyPr/>
          <a:lstStyle/>
          <a:p>
            <a:endParaRPr lang="en-US"/>
          </a:p>
        </p:txBody>
      </p:sp>
      <p:sp>
        <p:nvSpPr>
          <p:cNvPr id="42" name="Shape 40"/>
          <p:cNvSpPr/>
          <p:nvPr/>
        </p:nvSpPr>
        <p:spPr>
          <a:xfrm>
            <a:off x="4004371" y="5981825"/>
            <a:ext cx="8891" cy="7206"/>
          </a:xfrm>
          <a:prstGeom prst="line">
            <a:avLst/>
          </a:prstGeom>
          <a:noFill/>
          <a:ln w="12700">
            <a:solidFill>
              <a:srgbClr val="7A8288">
                <a:alpha val="30000"/>
                <a:alpha val="20000"/>
                <a:alpha val="20000"/>
              </a:srgbClr>
            </a:solidFill>
            <a:prstDash val="solid"/>
          </a:ln>
        </p:spPr>
        <p:txBody>
          <a:bodyPr/>
          <a:lstStyle/>
          <a:p>
            <a:endParaRPr lang="en-US"/>
          </a:p>
        </p:txBody>
      </p:sp>
      <p:sp>
        <p:nvSpPr>
          <p:cNvPr id="43" name="Shape 41"/>
          <p:cNvSpPr/>
          <p:nvPr/>
        </p:nvSpPr>
        <p:spPr>
          <a:xfrm>
            <a:off x="4013261" y="5989031"/>
            <a:ext cx="6457" cy="32287"/>
          </a:xfrm>
          <a:prstGeom prst="line">
            <a:avLst/>
          </a:prstGeom>
          <a:noFill/>
          <a:ln w="12700">
            <a:solidFill>
              <a:srgbClr val="7A8288">
                <a:alpha val="30000"/>
                <a:alpha val="20000"/>
                <a:alpha val="20000"/>
              </a:srgbClr>
            </a:solidFill>
            <a:prstDash val="solid"/>
          </a:ln>
        </p:spPr>
        <p:txBody>
          <a:bodyPr/>
          <a:lstStyle/>
          <a:p>
            <a:endParaRPr lang="en-US"/>
          </a:p>
        </p:txBody>
      </p:sp>
      <p:sp>
        <p:nvSpPr>
          <p:cNvPr id="44" name="Shape 42"/>
          <p:cNvSpPr/>
          <p:nvPr/>
        </p:nvSpPr>
        <p:spPr>
          <a:xfrm>
            <a:off x="4019719" y="6021318"/>
            <a:ext cx="31070" cy="102102"/>
          </a:xfrm>
          <a:prstGeom prst="line">
            <a:avLst/>
          </a:prstGeom>
          <a:noFill/>
          <a:ln w="12700">
            <a:solidFill>
              <a:srgbClr val="7A8288">
                <a:alpha val="30000"/>
                <a:alpha val="20000"/>
                <a:alpha val="20000"/>
              </a:srgbClr>
            </a:solidFill>
            <a:prstDash val="solid"/>
          </a:ln>
        </p:spPr>
        <p:txBody>
          <a:bodyPr/>
          <a:lstStyle/>
          <a:p>
            <a:endParaRPr lang="en-US"/>
          </a:p>
        </p:txBody>
      </p:sp>
      <p:sp>
        <p:nvSpPr>
          <p:cNvPr id="45" name="Shape 43"/>
          <p:cNvSpPr/>
          <p:nvPr/>
        </p:nvSpPr>
        <p:spPr>
          <a:xfrm>
            <a:off x="4050789" y="6123420"/>
            <a:ext cx="41084" cy="98452"/>
          </a:xfrm>
          <a:prstGeom prst="line">
            <a:avLst/>
          </a:prstGeom>
          <a:noFill/>
          <a:ln w="12700">
            <a:solidFill>
              <a:srgbClr val="7A8288">
                <a:alpha val="30000"/>
                <a:alpha val="20000"/>
                <a:alpha val="20000"/>
              </a:srgbClr>
            </a:solidFill>
            <a:prstDash val="solid"/>
          </a:ln>
        </p:spPr>
        <p:txBody>
          <a:bodyPr/>
          <a:lstStyle/>
          <a:p>
            <a:endParaRPr lang="en-US"/>
          </a:p>
        </p:txBody>
      </p:sp>
      <p:sp>
        <p:nvSpPr>
          <p:cNvPr id="46" name="Shape 44"/>
          <p:cNvSpPr/>
          <p:nvPr/>
        </p:nvSpPr>
        <p:spPr>
          <a:xfrm>
            <a:off x="4091874" y="6221872"/>
            <a:ext cx="50723" cy="93960"/>
          </a:xfrm>
          <a:prstGeom prst="line">
            <a:avLst/>
          </a:prstGeom>
          <a:noFill/>
          <a:ln w="12700">
            <a:solidFill>
              <a:srgbClr val="7A8288">
                <a:alpha val="30000"/>
                <a:alpha val="20000"/>
                <a:alpha val="20000"/>
              </a:srgbClr>
            </a:solidFill>
            <a:prstDash val="solid"/>
          </a:ln>
        </p:spPr>
        <p:txBody>
          <a:bodyPr/>
          <a:lstStyle/>
          <a:p>
            <a:endParaRPr lang="en-US"/>
          </a:p>
        </p:txBody>
      </p:sp>
      <p:sp>
        <p:nvSpPr>
          <p:cNvPr id="47" name="Shape 45"/>
          <p:cNvSpPr/>
          <p:nvPr/>
        </p:nvSpPr>
        <p:spPr>
          <a:xfrm>
            <a:off x="4142597" y="6315832"/>
            <a:ext cx="59708" cy="88439"/>
          </a:xfrm>
          <a:prstGeom prst="line">
            <a:avLst/>
          </a:prstGeom>
          <a:noFill/>
          <a:ln w="12700">
            <a:solidFill>
              <a:srgbClr val="7A8288">
                <a:alpha val="30000"/>
                <a:alpha val="20000"/>
                <a:alpha val="20000"/>
              </a:srgbClr>
            </a:solidFill>
            <a:prstDash val="solid"/>
          </a:ln>
        </p:spPr>
        <p:txBody>
          <a:bodyPr/>
          <a:lstStyle/>
          <a:p>
            <a:endParaRPr lang="en-US"/>
          </a:p>
        </p:txBody>
      </p:sp>
      <p:sp>
        <p:nvSpPr>
          <p:cNvPr id="48" name="Shape 46"/>
          <p:cNvSpPr/>
          <p:nvPr/>
        </p:nvSpPr>
        <p:spPr>
          <a:xfrm>
            <a:off x="4202305" y="6404271"/>
            <a:ext cx="421229" cy="561889"/>
          </a:xfrm>
          <a:prstGeom prst="line">
            <a:avLst/>
          </a:prstGeom>
          <a:noFill/>
          <a:ln w="12700">
            <a:solidFill>
              <a:srgbClr val="7A8288">
                <a:alpha val="30000"/>
                <a:alpha val="20000"/>
                <a:alpha val="20000"/>
              </a:srgbClr>
            </a:solidFill>
            <a:prstDash val="solid"/>
          </a:ln>
        </p:spPr>
        <p:txBody>
          <a:bodyPr/>
          <a:lstStyle/>
          <a:p>
            <a:endParaRPr lang="en-US"/>
          </a:p>
        </p:txBody>
      </p:sp>
      <p:sp>
        <p:nvSpPr>
          <p:cNvPr id="49" name="Shape 47"/>
          <p:cNvSpPr/>
          <p:nvPr/>
        </p:nvSpPr>
        <p:spPr>
          <a:xfrm>
            <a:off x="4623534" y="6966160"/>
            <a:ext cx="65884" cy="79641"/>
          </a:xfrm>
          <a:prstGeom prst="line">
            <a:avLst/>
          </a:prstGeom>
          <a:noFill/>
          <a:ln w="12700">
            <a:solidFill>
              <a:srgbClr val="7A8288">
                <a:alpha val="30000"/>
                <a:alpha val="20000"/>
                <a:alpha val="20000"/>
              </a:srgbClr>
            </a:solidFill>
            <a:prstDash val="solid"/>
          </a:ln>
        </p:spPr>
        <p:txBody>
          <a:bodyPr/>
          <a:lstStyle/>
          <a:p>
            <a:endParaRPr lang="en-US"/>
          </a:p>
        </p:txBody>
      </p:sp>
      <p:sp>
        <p:nvSpPr>
          <p:cNvPr id="50" name="Shape 48"/>
          <p:cNvSpPr/>
          <p:nvPr/>
        </p:nvSpPr>
        <p:spPr>
          <a:xfrm>
            <a:off x="4689419" y="7045801"/>
            <a:ext cx="73184" cy="72903"/>
          </a:xfrm>
          <a:prstGeom prst="line">
            <a:avLst/>
          </a:prstGeom>
          <a:noFill/>
          <a:ln w="12700">
            <a:solidFill>
              <a:srgbClr val="7A8288">
                <a:alpha val="30000"/>
                <a:alpha val="20000"/>
                <a:alpha val="20000"/>
              </a:srgbClr>
            </a:solidFill>
            <a:prstDash val="solid"/>
          </a:ln>
        </p:spPr>
        <p:txBody>
          <a:bodyPr/>
          <a:lstStyle/>
          <a:p>
            <a:endParaRPr lang="en-US"/>
          </a:p>
        </p:txBody>
      </p:sp>
      <p:sp>
        <p:nvSpPr>
          <p:cNvPr id="51" name="Shape 49"/>
          <p:cNvSpPr/>
          <p:nvPr/>
        </p:nvSpPr>
        <p:spPr>
          <a:xfrm>
            <a:off x="4762603" y="7118704"/>
            <a:ext cx="58398" cy="47916"/>
          </a:xfrm>
          <a:prstGeom prst="line">
            <a:avLst/>
          </a:prstGeom>
          <a:noFill/>
          <a:ln w="12700">
            <a:solidFill>
              <a:srgbClr val="7A8288">
                <a:alpha val="30000"/>
                <a:alpha val="20000"/>
                <a:alpha val="20000"/>
              </a:srgbClr>
            </a:solidFill>
            <a:prstDash val="solid"/>
          </a:ln>
        </p:spPr>
        <p:txBody>
          <a:bodyPr/>
          <a:lstStyle/>
          <a:p>
            <a:endParaRPr lang="en-US"/>
          </a:p>
        </p:txBody>
      </p:sp>
      <p:sp>
        <p:nvSpPr>
          <p:cNvPr id="52" name="Shape 50"/>
          <p:cNvSpPr/>
          <p:nvPr/>
        </p:nvSpPr>
        <p:spPr>
          <a:xfrm>
            <a:off x="4821000" y="7166620"/>
            <a:ext cx="16845" cy="64949"/>
          </a:xfrm>
          <a:prstGeom prst="line">
            <a:avLst/>
          </a:prstGeom>
          <a:noFill/>
          <a:ln w="12700">
            <a:solidFill>
              <a:srgbClr val="7A8288">
                <a:alpha val="30000"/>
                <a:alpha val="20000"/>
                <a:alpha val="20000"/>
              </a:srgbClr>
            </a:solidFill>
            <a:prstDash val="solid"/>
          </a:ln>
        </p:spPr>
        <p:txBody>
          <a:bodyPr/>
          <a:lstStyle/>
          <a:p>
            <a:endParaRPr lang="en-US"/>
          </a:p>
        </p:txBody>
      </p:sp>
      <p:sp>
        <p:nvSpPr>
          <p:cNvPr id="53" name="Shape 51"/>
          <p:cNvSpPr/>
          <p:nvPr/>
        </p:nvSpPr>
        <p:spPr>
          <a:xfrm>
            <a:off x="4837846" y="7231569"/>
            <a:ext cx="37247" cy="100885"/>
          </a:xfrm>
          <a:prstGeom prst="line">
            <a:avLst/>
          </a:prstGeom>
          <a:noFill/>
          <a:ln w="12700">
            <a:solidFill>
              <a:srgbClr val="7A8288">
                <a:alpha val="30000"/>
                <a:alpha val="20000"/>
                <a:alpha val="20000"/>
              </a:srgbClr>
            </a:solidFill>
            <a:prstDash val="solid"/>
          </a:ln>
        </p:spPr>
        <p:txBody>
          <a:bodyPr/>
          <a:lstStyle/>
          <a:p>
            <a:endParaRPr lang="en-US"/>
          </a:p>
        </p:txBody>
      </p:sp>
      <p:sp>
        <p:nvSpPr>
          <p:cNvPr id="54" name="Shape 52"/>
          <p:cNvSpPr/>
          <p:nvPr/>
        </p:nvSpPr>
        <p:spPr>
          <a:xfrm>
            <a:off x="4875093" y="7332454"/>
            <a:ext cx="47074" cy="96674"/>
          </a:xfrm>
          <a:prstGeom prst="line">
            <a:avLst/>
          </a:prstGeom>
          <a:noFill/>
          <a:ln w="12700">
            <a:solidFill>
              <a:srgbClr val="7A8288">
                <a:alpha val="30000"/>
                <a:alpha val="20000"/>
                <a:alpha val="20000"/>
              </a:srgbClr>
            </a:solidFill>
            <a:prstDash val="solid"/>
          </a:ln>
        </p:spPr>
        <p:txBody>
          <a:bodyPr/>
          <a:lstStyle/>
          <a:p>
            <a:endParaRPr lang="en-US"/>
          </a:p>
        </p:txBody>
      </p:sp>
      <p:sp>
        <p:nvSpPr>
          <p:cNvPr id="55" name="Shape 53"/>
          <p:cNvSpPr/>
          <p:nvPr/>
        </p:nvSpPr>
        <p:spPr>
          <a:xfrm>
            <a:off x="4922166" y="7429128"/>
            <a:ext cx="318940" cy="579109"/>
          </a:xfrm>
          <a:prstGeom prst="line">
            <a:avLst/>
          </a:prstGeom>
          <a:noFill/>
          <a:ln w="12700">
            <a:solidFill>
              <a:srgbClr val="7A8288">
                <a:alpha val="30000"/>
                <a:alpha val="20000"/>
                <a:alpha val="20000"/>
              </a:srgbClr>
            </a:solidFill>
            <a:prstDash val="solid"/>
          </a:ln>
        </p:spPr>
        <p:txBody>
          <a:bodyPr/>
          <a:lstStyle/>
          <a:p>
            <a:endParaRPr lang="en-US"/>
          </a:p>
        </p:txBody>
      </p:sp>
      <p:sp>
        <p:nvSpPr>
          <p:cNvPr id="56" name="Shape 54"/>
          <p:cNvSpPr/>
          <p:nvPr/>
        </p:nvSpPr>
        <p:spPr>
          <a:xfrm>
            <a:off x="5241107" y="8008237"/>
            <a:ext cx="253711" cy="557865"/>
          </a:xfrm>
          <a:prstGeom prst="line">
            <a:avLst/>
          </a:prstGeom>
          <a:noFill/>
          <a:ln w="12700">
            <a:solidFill>
              <a:srgbClr val="7A8288">
                <a:alpha val="30000"/>
                <a:alpha val="20000"/>
                <a:alpha val="20000"/>
              </a:srgbClr>
            </a:solidFill>
            <a:prstDash val="solid"/>
          </a:ln>
        </p:spPr>
        <p:txBody>
          <a:bodyPr/>
          <a:lstStyle/>
          <a:p>
            <a:endParaRPr lang="en-US"/>
          </a:p>
        </p:txBody>
      </p:sp>
      <p:sp>
        <p:nvSpPr>
          <p:cNvPr id="57" name="Shape 55"/>
          <p:cNvSpPr/>
          <p:nvPr/>
        </p:nvSpPr>
        <p:spPr>
          <a:xfrm>
            <a:off x="5494818" y="8566102"/>
            <a:ext cx="200929" cy="565164"/>
          </a:xfrm>
          <a:prstGeom prst="line">
            <a:avLst/>
          </a:prstGeom>
          <a:noFill/>
          <a:ln w="12700">
            <a:solidFill>
              <a:srgbClr val="7A8288">
                <a:alpha val="30000"/>
                <a:alpha val="20000"/>
                <a:alpha val="20000"/>
              </a:srgbClr>
            </a:solidFill>
            <a:prstDash val="solid"/>
          </a:ln>
        </p:spPr>
        <p:txBody>
          <a:bodyPr/>
          <a:lstStyle/>
          <a:p>
            <a:endParaRPr lang="en-US"/>
          </a:p>
        </p:txBody>
      </p:sp>
      <p:sp>
        <p:nvSpPr>
          <p:cNvPr id="58" name="Shape 56"/>
          <p:cNvSpPr/>
          <p:nvPr/>
        </p:nvSpPr>
        <p:spPr>
          <a:xfrm>
            <a:off x="5695746" y="9131266"/>
            <a:ext cx="186423" cy="609992"/>
          </a:xfrm>
          <a:prstGeom prst="line">
            <a:avLst/>
          </a:prstGeom>
          <a:noFill/>
          <a:ln w="12700">
            <a:solidFill>
              <a:srgbClr val="7A8288">
                <a:alpha val="30000"/>
                <a:alpha val="20000"/>
                <a:alpha val="20000"/>
              </a:srgbClr>
            </a:solidFill>
            <a:prstDash val="solid"/>
          </a:ln>
        </p:spPr>
        <p:txBody>
          <a:bodyPr/>
          <a:lstStyle/>
          <a:p>
            <a:endParaRPr lang="en-US"/>
          </a:p>
        </p:txBody>
      </p:sp>
      <p:sp>
        <p:nvSpPr>
          <p:cNvPr id="59" name="Shape 57"/>
          <p:cNvSpPr/>
          <p:nvPr/>
        </p:nvSpPr>
        <p:spPr>
          <a:xfrm>
            <a:off x="5882169" y="9741258"/>
            <a:ext cx="122674" cy="591462"/>
          </a:xfrm>
          <a:prstGeom prst="line">
            <a:avLst/>
          </a:prstGeom>
          <a:noFill/>
          <a:ln w="12700">
            <a:solidFill>
              <a:srgbClr val="7A8288">
                <a:alpha val="30000"/>
                <a:alpha val="20000"/>
                <a:alpha val="20000"/>
              </a:srgbClr>
            </a:solidFill>
            <a:prstDash val="solid"/>
          </a:ln>
        </p:spPr>
        <p:txBody>
          <a:bodyPr/>
          <a:lstStyle/>
          <a:p>
            <a:endParaRPr lang="en-US"/>
          </a:p>
        </p:txBody>
      </p:sp>
      <p:sp>
        <p:nvSpPr>
          <p:cNvPr id="60" name="Shape 58"/>
          <p:cNvSpPr/>
          <p:nvPr/>
        </p:nvSpPr>
        <p:spPr>
          <a:xfrm flipV="1">
            <a:off x="9050973" y="10155469"/>
            <a:ext cx="155549" cy="177251"/>
          </a:xfrm>
          <a:prstGeom prst="line">
            <a:avLst/>
          </a:prstGeom>
          <a:noFill/>
          <a:ln w="12700">
            <a:solidFill>
              <a:srgbClr val="7A8288">
                <a:alpha val="20000"/>
              </a:srgbClr>
            </a:solidFill>
            <a:prstDash val="solid"/>
          </a:ln>
        </p:spPr>
        <p:txBody>
          <a:bodyPr/>
          <a:lstStyle/>
          <a:p>
            <a:endParaRPr lang="en-US"/>
          </a:p>
        </p:txBody>
      </p:sp>
      <p:sp>
        <p:nvSpPr>
          <p:cNvPr id="61" name="Shape 59"/>
          <p:cNvSpPr/>
          <p:nvPr/>
        </p:nvSpPr>
        <p:spPr>
          <a:xfrm>
            <a:off x="9080275" y="7171861"/>
            <a:ext cx="87128" cy="68598"/>
          </a:xfrm>
          <a:prstGeom prst="line">
            <a:avLst/>
          </a:prstGeom>
          <a:noFill/>
          <a:ln w="12700">
            <a:solidFill>
              <a:srgbClr val="7A8288">
                <a:alpha val="30000"/>
                <a:alpha val="20000"/>
                <a:alpha val="20000"/>
              </a:srgbClr>
            </a:solidFill>
            <a:prstDash val="solid"/>
          </a:ln>
        </p:spPr>
        <p:txBody>
          <a:bodyPr/>
          <a:lstStyle/>
          <a:p>
            <a:endParaRPr lang="en-US"/>
          </a:p>
        </p:txBody>
      </p:sp>
      <p:sp>
        <p:nvSpPr>
          <p:cNvPr id="62" name="Shape 60"/>
          <p:cNvSpPr/>
          <p:nvPr/>
        </p:nvSpPr>
        <p:spPr>
          <a:xfrm>
            <a:off x="8969095" y="7104386"/>
            <a:ext cx="111180" cy="67475"/>
          </a:xfrm>
          <a:prstGeom prst="line">
            <a:avLst/>
          </a:prstGeom>
          <a:noFill/>
          <a:ln w="12700">
            <a:solidFill>
              <a:srgbClr val="7A8288">
                <a:alpha val="30000"/>
                <a:alpha val="20000"/>
                <a:alpha val="20000"/>
              </a:srgbClr>
            </a:solidFill>
            <a:prstDash val="solid"/>
          </a:ln>
        </p:spPr>
        <p:txBody>
          <a:bodyPr/>
          <a:lstStyle/>
          <a:p>
            <a:endParaRPr lang="en-US"/>
          </a:p>
        </p:txBody>
      </p:sp>
      <p:sp>
        <p:nvSpPr>
          <p:cNvPr id="63" name="Shape 61"/>
          <p:cNvSpPr/>
          <p:nvPr/>
        </p:nvSpPr>
        <p:spPr>
          <a:xfrm>
            <a:off x="8584177" y="6901305"/>
            <a:ext cx="384918" cy="203081"/>
          </a:xfrm>
          <a:prstGeom prst="line">
            <a:avLst/>
          </a:prstGeom>
          <a:noFill/>
          <a:ln w="12700">
            <a:solidFill>
              <a:srgbClr val="7A8288">
                <a:alpha val="30000"/>
                <a:alpha val="20000"/>
                <a:alpha val="20000"/>
              </a:srgbClr>
            </a:solidFill>
            <a:prstDash val="solid"/>
          </a:ln>
        </p:spPr>
        <p:txBody>
          <a:bodyPr/>
          <a:lstStyle/>
          <a:p>
            <a:endParaRPr lang="en-US"/>
          </a:p>
        </p:txBody>
      </p:sp>
      <p:sp>
        <p:nvSpPr>
          <p:cNvPr id="64" name="Shape 62"/>
          <p:cNvSpPr/>
          <p:nvPr/>
        </p:nvSpPr>
        <p:spPr>
          <a:xfrm>
            <a:off x="8081341" y="6499167"/>
            <a:ext cx="502836" cy="402138"/>
          </a:xfrm>
          <a:prstGeom prst="line">
            <a:avLst/>
          </a:prstGeom>
          <a:noFill/>
          <a:ln w="12700">
            <a:solidFill>
              <a:srgbClr val="7A8288">
                <a:alpha val="30000"/>
                <a:alpha val="20000"/>
                <a:alpha val="20000"/>
              </a:srgbClr>
            </a:solidFill>
            <a:prstDash val="solid"/>
          </a:ln>
        </p:spPr>
        <p:txBody>
          <a:bodyPr/>
          <a:lstStyle/>
          <a:p>
            <a:endParaRPr lang="en-US"/>
          </a:p>
        </p:txBody>
      </p:sp>
      <p:sp>
        <p:nvSpPr>
          <p:cNvPr id="65" name="Shape 63"/>
          <p:cNvSpPr/>
          <p:nvPr/>
        </p:nvSpPr>
        <p:spPr>
          <a:xfrm>
            <a:off x="8075913" y="6494862"/>
            <a:ext cx="5428" cy="4305"/>
          </a:xfrm>
          <a:prstGeom prst="line">
            <a:avLst/>
          </a:prstGeom>
          <a:noFill/>
          <a:ln w="12700">
            <a:solidFill>
              <a:srgbClr val="7A8288">
                <a:alpha val="30000"/>
                <a:alpha val="20000"/>
                <a:alpha val="20000"/>
              </a:srgbClr>
            </a:solidFill>
            <a:prstDash val="solid"/>
          </a:ln>
        </p:spPr>
        <p:txBody>
          <a:bodyPr/>
          <a:lstStyle/>
          <a:p>
            <a:endParaRPr lang="en-US"/>
          </a:p>
        </p:txBody>
      </p:sp>
      <p:sp>
        <p:nvSpPr>
          <p:cNvPr id="66" name="Shape 64"/>
          <p:cNvSpPr/>
          <p:nvPr/>
        </p:nvSpPr>
        <p:spPr>
          <a:xfrm>
            <a:off x="7524318" y="6059594"/>
            <a:ext cx="551594" cy="435267"/>
          </a:xfrm>
          <a:prstGeom prst="line">
            <a:avLst/>
          </a:prstGeom>
          <a:noFill/>
          <a:ln w="12700">
            <a:solidFill>
              <a:srgbClr val="7A8288">
                <a:alpha val="30000"/>
                <a:alpha val="20000"/>
                <a:alpha val="20000"/>
              </a:srgbClr>
            </a:solidFill>
            <a:prstDash val="solid"/>
          </a:ln>
        </p:spPr>
        <p:txBody>
          <a:bodyPr/>
          <a:lstStyle/>
          <a:p>
            <a:endParaRPr lang="en-US"/>
          </a:p>
        </p:txBody>
      </p:sp>
      <p:sp>
        <p:nvSpPr>
          <p:cNvPr id="67" name="Shape 65"/>
          <p:cNvSpPr/>
          <p:nvPr/>
        </p:nvSpPr>
        <p:spPr>
          <a:xfrm>
            <a:off x="492846" y="1790079"/>
            <a:ext cx="475228" cy="379623"/>
          </a:xfrm>
          <a:prstGeom prst="line">
            <a:avLst/>
          </a:prstGeom>
          <a:noFill/>
          <a:ln w="19050">
            <a:solidFill>
              <a:srgbClr val="C7A400">
                <a:alpha val="30000"/>
                <a:alpha val="20000"/>
                <a:alpha val="20000"/>
              </a:srgbClr>
            </a:solidFill>
            <a:prstDash val="dashDot"/>
          </a:ln>
        </p:spPr>
        <p:txBody>
          <a:bodyPr/>
          <a:lstStyle/>
          <a:p>
            <a:endParaRPr lang="en-US"/>
          </a:p>
        </p:txBody>
      </p:sp>
      <p:sp>
        <p:nvSpPr>
          <p:cNvPr id="68" name="Shape 66"/>
          <p:cNvSpPr/>
          <p:nvPr/>
        </p:nvSpPr>
        <p:spPr>
          <a:xfrm>
            <a:off x="968075" y="2169702"/>
            <a:ext cx="521647" cy="418890"/>
          </a:xfrm>
          <a:prstGeom prst="line">
            <a:avLst/>
          </a:prstGeom>
          <a:noFill/>
          <a:ln w="19050">
            <a:solidFill>
              <a:srgbClr val="C7A400">
                <a:alpha val="30000"/>
                <a:alpha val="20000"/>
                <a:alpha val="20000"/>
              </a:srgbClr>
            </a:solidFill>
            <a:prstDash val="dashDot"/>
          </a:ln>
        </p:spPr>
        <p:txBody>
          <a:bodyPr/>
          <a:lstStyle/>
          <a:p>
            <a:endParaRPr lang="en-US"/>
          </a:p>
        </p:txBody>
      </p:sp>
      <p:sp>
        <p:nvSpPr>
          <p:cNvPr id="69" name="Shape 67"/>
          <p:cNvSpPr/>
          <p:nvPr/>
        </p:nvSpPr>
        <p:spPr>
          <a:xfrm>
            <a:off x="1489722" y="2588592"/>
            <a:ext cx="523519" cy="420668"/>
          </a:xfrm>
          <a:prstGeom prst="line">
            <a:avLst/>
          </a:prstGeom>
          <a:noFill/>
          <a:ln w="19050">
            <a:solidFill>
              <a:srgbClr val="C7A400">
                <a:alpha val="30000"/>
                <a:alpha val="20000"/>
                <a:alpha val="20000"/>
              </a:srgbClr>
            </a:solidFill>
            <a:prstDash val="dashDot"/>
          </a:ln>
        </p:spPr>
        <p:txBody>
          <a:bodyPr/>
          <a:lstStyle/>
          <a:p>
            <a:endParaRPr lang="en-US"/>
          </a:p>
        </p:txBody>
      </p:sp>
      <p:sp>
        <p:nvSpPr>
          <p:cNvPr id="70" name="Shape 68"/>
          <p:cNvSpPr/>
          <p:nvPr/>
        </p:nvSpPr>
        <p:spPr>
          <a:xfrm>
            <a:off x="2013240" y="3009260"/>
            <a:ext cx="522209" cy="419264"/>
          </a:xfrm>
          <a:prstGeom prst="line">
            <a:avLst/>
          </a:prstGeom>
          <a:noFill/>
          <a:ln w="19050">
            <a:solidFill>
              <a:srgbClr val="C7A400">
                <a:alpha val="30000"/>
                <a:alpha val="20000"/>
                <a:alpha val="20000"/>
              </a:srgbClr>
            </a:solidFill>
            <a:prstDash val="dashDot"/>
          </a:ln>
        </p:spPr>
        <p:txBody>
          <a:bodyPr/>
          <a:lstStyle/>
          <a:p>
            <a:endParaRPr lang="en-US"/>
          </a:p>
        </p:txBody>
      </p:sp>
      <p:sp>
        <p:nvSpPr>
          <p:cNvPr id="71" name="Shape 69"/>
          <p:cNvSpPr/>
          <p:nvPr/>
        </p:nvSpPr>
        <p:spPr>
          <a:xfrm>
            <a:off x="2535449" y="3428524"/>
            <a:ext cx="524080" cy="420668"/>
          </a:xfrm>
          <a:prstGeom prst="line">
            <a:avLst/>
          </a:prstGeom>
          <a:noFill/>
          <a:ln w="19050">
            <a:solidFill>
              <a:srgbClr val="C7A400">
                <a:alpha val="30000"/>
                <a:alpha val="20000"/>
                <a:alpha val="20000"/>
              </a:srgbClr>
            </a:solidFill>
            <a:prstDash val="dashDot"/>
          </a:ln>
        </p:spPr>
        <p:txBody>
          <a:bodyPr/>
          <a:lstStyle/>
          <a:p>
            <a:endParaRPr lang="en-US"/>
          </a:p>
        </p:txBody>
      </p:sp>
      <p:sp>
        <p:nvSpPr>
          <p:cNvPr id="72" name="Shape 70"/>
          <p:cNvSpPr/>
          <p:nvPr/>
        </p:nvSpPr>
        <p:spPr>
          <a:xfrm>
            <a:off x="3059529" y="3849192"/>
            <a:ext cx="522957" cy="419732"/>
          </a:xfrm>
          <a:prstGeom prst="line">
            <a:avLst/>
          </a:prstGeom>
          <a:noFill/>
          <a:ln w="19050">
            <a:solidFill>
              <a:srgbClr val="C7A400">
                <a:alpha val="30000"/>
                <a:alpha val="20000"/>
                <a:alpha val="20000"/>
              </a:srgbClr>
            </a:solidFill>
            <a:prstDash val="dashDot"/>
          </a:ln>
        </p:spPr>
        <p:txBody>
          <a:bodyPr/>
          <a:lstStyle/>
          <a:p>
            <a:endParaRPr lang="en-US"/>
          </a:p>
        </p:txBody>
      </p:sp>
      <p:sp>
        <p:nvSpPr>
          <p:cNvPr id="73" name="Shape 71"/>
          <p:cNvSpPr/>
          <p:nvPr/>
        </p:nvSpPr>
        <p:spPr>
          <a:xfrm>
            <a:off x="3582486" y="4268925"/>
            <a:ext cx="569189" cy="457354"/>
          </a:xfrm>
          <a:prstGeom prst="line">
            <a:avLst/>
          </a:prstGeom>
          <a:noFill/>
          <a:ln w="19050">
            <a:solidFill>
              <a:srgbClr val="C7A400">
                <a:alpha val="30000"/>
                <a:alpha val="20000"/>
                <a:alpha val="20000"/>
              </a:srgbClr>
            </a:solidFill>
            <a:prstDash val="dashDot"/>
          </a:ln>
        </p:spPr>
        <p:txBody>
          <a:bodyPr/>
          <a:lstStyle/>
          <a:p>
            <a:endParaRPr lang="en-US"/>
          </a:p>
        </p:txBody>
      </p:sp>
      <p:sp>
        <p:nvSpPr>
          <p:cNvPr id="74" name="Shape 72"/>
          <p:cNvSpPr/>
          <p:nvPr/>
        </p:nvSpPr>
        <p:spPr>
          <a:xfrm>
            <a:off x="4151675" y="4726278"/>
            <a:ext cx="914" cy="914"/>
          </a:xfrm>
          <a:prstGeom prst="line">
            <a:avLst/>
          </a:prstGeom>
          <a:noFill/>
          <a:ln w="19050">
            <a:solidFill>
              <a:srgbClr val="C7A400">
                <a:alpha val="30000"/>
                <a:alpha val="20000"/>
                <a:alpha val="20000"/>
              </a:srgbClr>
            </a:solidFill>
            <a:prstDash val="dashDot"/>
          </a:ln>
        </p:spPr>
        <p:txBody>
          <a:bodyPr/>
          <a:lstStyle/>
          <a:p>
            <a:endParaRPr lang="en-US"/>
          </a:p>
        </p:txBody>
      </p:sp>
      <p:sp>
        <p:nvSpPr>
          <p:cNvPr id="76" name="Shape 74"/>
          <p:cNvSpPr/>
          <p:nvPr/>
        </p:nvSpPr>
        <p:spPr>
          <a:xfrm>
            <a:off x="4677908" y="5142360"/>
            <a:ext cx="914" cy="914"/>
          </a:xfrm>
          <a:prstGeom prst="line">
            <a:avLst/>
          </a:prstGeom>
          <a:noFill/>
          <a:ln w="19050">
            <a:solidFill>
              <a:srgbClr val="C7A400">
                <a:alpha val="30000"/>
                <a:alpha val="20000"/>
                <a:alpha val="20000"/>
              </a:srgbClr>
            </a:solidFill>
            <a:prstDash val="dashDot"/>
          </a:ln>
        </p:spPr>
        <p:txBody>
          <a:bodyPr/>
          <a:lstStyle/>
          <a:p>
            <a:endParaRPr lang="en-US"/>
          </a:p>
        </p:txBody>
      </p:sp>
      <p:sp>
        <p:nvSpPr>
          <p:cNvPr id="83" name="Shape 81"/>
          <p:cNvSpPr/>
          <p:nvPr/>
        </p:nvSpPr>
        <p:spPr>
          <a:xfrm>
            <a:off x="5864856" y="6909915"/>
            <a:ext cx="338874" cy="615233"/>
          </a:xfrm>
          <a:prstGeom prst="line">
            <a:avLst/>
          </a:prstGeom>
          <a:noFill/>
          <a:ln w="19050">
            <a:solidFill>
              <a:srgbClr val="C7A400">
                <a:alpha val="30000"/>
                <a:alpha val="20000"/>
                <a:alpha val="20000"/>
              </a:srgbClr>
            </a:solidFill>
            <a:prstDash val="dashDot"/>
          </a:ln>
        </p:spPr>
        <p:txBody>
          <a:bodyPr/>
          <a:lstStyle/>
          <a:p>
            <a:endParaRPr lang="en-US"/>
          </a:p>
        </p:txBody>
      </p:sp>
      <p:sp>
        <p:nvSpPr>
          <p:cNvPr id="84" name="Shape 82"/>
          <p:cNvSpPr/>
          <p:nvPr/>
        </p:nvSpPr>
        <p:spPr>
          <a:xfrm>
            <a:off x="6203730" y="7525147"/>
            <a:ext cx="289741" cy="637225"/>
          </a:xfrm>
          <a:prstGeom prst="line">
            <a:avLst/>
          </a:prstGeom>
          <a:noFill/>
          <a:ln w="19050">
            <a:solidFill>
              <a:srgbClr val="C7A400">
                <a:alpha val="30000"/>
                <a:alpha val="20000"/>
                <a:alpha val="20000"/>
              </a:srgbClr>
            </a:solidFill>
            <a:prstDash val="dashDot"/>
          </a:ln>
        </p:spPr>
        <p:txBody>
          <a:bodyPr/>
          <a:lstStyle/>
          <a:p>
            <a:endParaRPr lang="en-US"/>
          </a:p>
        </p:txBody>
      </p:sp>
      <p:sp>
        <p:nvSpPr>
          <p:cNvPr id="85" name="Shape 83"/>
          <p:cNvSpPr/>
          <p:nvPr/>
        </p:nvSpPr>
        <p:spPr>
          <a:xfrm>
            <a:off x="6493471" y="8162373"/>
            <a:ext cx="224419" cy="631142"/>
          </a:xfrm>
          <a:prstGeom prst="line">
            <a:avLst/>
          </a:prstGeom>
          <a:noFill/>
          <a:ln w="19050">
            <a:solidFill>
              <a:srgbClr val="C7A400">
                <a:alpha val="30000"/>
                <a:alpha val="20000"/>
                <a:alpha val="20000"/>
              </a:srgbClr>
            </a:solidFill>
            <a:prstDash val="dashDot"/>
          </a:ln>
        </p:spPr>
        <p:txBody>
          <a:bodyPr/>
          <a:lstStyle/>
          <a:p>
            <a:endParaRPr lang="en-US"/>
          </a:p>
        </p:txBody>
      </p:sp>
      <p:sp>
        <p:nvSpPr>
          <p:cNvPr id="86" name="Shape 84"/>
          <p:cNvSpPr/>
          <p:nvPr/>
        </p:nvSpPr>
        <p:spPr>
          <a:xfrm>
            <a:off x="6717890" y="8793515"/>
            <a:ext cx="208041" cy="680649"/>
          </a:xfrm>
          <a:prstGeom prst="line">
            <a:avLst/>
          </a:prstGeom>
          <a:noFill/>
          <a:ln w="19050">
            <a:solidFill>
              <a:srgbClr val="C7A400">
                <a:alpha val="30000"/>
                <a:alpha val="20000"/>
                <a:alpha val="20000"/>
              </a:srgbClr>
            </a:solidFill>
            <a:prstDash val="dashDot"/>
          </a:ln>
        </p:spPr>
        <p:txBody>
          <a:bodyPr/>
          <a:lstStyle/>
          <a:p>
            <a:endParaRPr lang="en-US"/>
          </a:p>
        </p:txBody>
      </p:sp>
      <p:sp>
        <p:nvSpPr>
          <p:cNvPr id="87" name="Shape 85"/>
          <p:cNvSpPr/>
          <p:nvPr/>
        </p:nvSpPr>
        <p:spPr>
          <a:xfrm>
            <a:off x="6925931" y="9474164"/>
            <a:ext cx="140847" cy="679245"/>
          </a:xfrm>
          <a:prstGeom prst="line">
            <a:avLst/>
          </a:prstGeom>
          <a:noFill/>
          <a:ln w="19050">
            <a:solidFill>
              <a:srgbClr val="C7A400">
                <a:alpha val="30000"/>
                <a:alpha val="20000"/>
                <a:alpha val="20000"/>
              </a:srgbClr>
            </a:solidFill>
            <a:prstDash val="dashDot"/>
          </a:ln>
        </p:spPr>
        <p:txBody>
          <a:bodyPr/>
          <a:lstStyle/>
          <a:p>
            <a:endParaRPr lang="en-US"/>
          </a:p>
        </p:txBody>
      </p:sp>
      <p:sp>
        <p:nvSpPr>
          <p:cNvPr id="88" name="Shape 86"/>
          <p:cNvSpPr/>
          <p:nvPr/>
        </p:nvSpPr>
        <p:spPr>
          <a:xfrm>
            <a:off x="7066778" y="10153410"/>
            <a:ext cx="25992" cy="179310"/>
          </a:xfrm>
          <a:prstGeom prst="line">
            <a:avLst/>
          </a:prstGeom>
          <a:noFill/>
          <a:ln w="19050">
            <a:solidFill>
              <a:srgbClr val="C7A400">
                <a:alpha val="20000"/>
              </a:srgbClr>
            </a:solidFill>
            <a:prstDash val="dashDot"/>
          </a:ln>
        </p:spPr>
        <p:txBody>
          <a:bodyPr/>
          <a:lstStyle/>
          <a:p>
            <a:endParaRPr lang="en-US"/>
          </a:p>
        </p:txBody>
      </p:sp>
      <p:sp>
        <p:nvSpPr>
          <p:cNvPr id="89" name="Shape 87"/>
          <p:cNvSpPr/>
          <p:nvPr/>
        </p:nvSpPr>
        <p:spPr>
          <a:xfrm flipV="1">
            <a:off x="7619078" y="8630957"/>
            <a:ext cx="1493390" cy="1701763"/>
          </a:xfrm>
          <a:prstGeom prst="line">
            <a:avLst/>
          </a:prstGeom>
          <a:noFill/>
          <a:ln w="19050">
            <a:solidFill>
              <a:srgbClr val="C7A400">
                <a:alpha val="30000"/>
                <a:alpha val="20000"/>
                <a:alpha val="20000"/>
              </a:srgbClr>
            </a:solidFill>
            <a:prstDash val="dashDot"/>
          </a:ln>
        </p:spPr>
        <p:txBody>
          <a:bodyPr/>
          <a:lstStyle/>
          <a:p>
            <a:endParaRPr lang="en-US"/>
          </a:p>
        </p:txBody>
      </p:sp>
      <p:sp>
        <p:nvSpPr>
          <p:cNvPr id="90" name="Shape 88"/>
          <p:cNvSpPr/>
          <p:nvPr/>
        </p:nvSpPr>
        <p:spPr>
          <a:xfrm>
            <a:off x="9112469" y="8630957"/>
            <a:ext cx="914" cy="914"/>
          </a:xfrm>
          <a:prstGeom prst="line">
            <a:avLst/>
          </a:prstGeom>
          <a:noFill/>
          <a:ln w="19050">
            <a:solidFill>
              <a:srgbClr val="C7A400">
                <a:alpha val="30000"/>
                <a:alpha val="20000"/>
                <a:alpha val="20000"/>
              </a:srgbClr>
            </a:solidFill>
            <a:prstDash val="dashDot"/>
          </a:ln>
        </p:spPr>
        <p:txBody>
          <a:bodyPr/>
          <a:lstStyle/>
          <a:p>
            <a:endParaRPr lang="en-US"/>
          </a:p>
        </p:txBody>
      </p:sp>
      <p:sp>
        <p:nvSpPr>
          <p:cNvPr id="91" name="Shape 89"/>
          <p:cNvSpPr/>
          <p:nvPr/>
        </p:nvSpPr>
        <p:spPr>
          <a:xfrm flipV="1">
            <a:off x="9112469" y="8314918"/>
            <a:ext cx="5147" cy="316039"/>
          </a:xfrm>
          <a:prstGeom prst="line">
            <a:avLst/>
          </a:prstGeom>
          <a:noFill/>
          <a:ln w="19050">
            <a:solidFill>
              <a:srgbClr val="C7A400">
                <a:alpha val="30000"/>
                <a:alpha val="20000"/>
                <a:alpha val="20000"/>
              </a:srgbClr>
            </a:solidFill>
            <a:prstDash val="dashDot"/>
          </a:ln>
        </p:spPr>
        <p:txBody>
          <a:bodyPr/>
          <a:lstStyle/>
          <a:p>
            <a:endParaRPr lang="en-US"/>
          </a:p>
        </p:txBody>
      </p:sp>
      <p:sp>
        <p:nvSpPr>
          <p:cNvPr id="92" name="Shape 90"/>
          <p:cNvSpPr/>
          <p:nvPr/>
        </p:nvSpPr>
        <p:spPr>
          <a:xfrm>
            <a:off x="9117616" y="8314918"/>
            <a:ext cx="585098" cy="137443"/>
          </a:xfrm>
          <a:prstGeom prst="line">
            <a:avLst/>
          </a:prstGeom>
          <a:noFill/>
          <a:ln w="19050">
            <a:solidFill>
              <a:srgbClr val="C7A400">
                <a:alpha val="30000"/>
                <a:alpha val="20000"/>
                <a:alpha val="20000"/>
              </a:srgbClr>
            </a:solidFill>
            <a:prstDash val="dashDot"/>
          </a:ln>
        </p:spPr>
        <p:txBody>
          <a:bodyPr/>
          <a:lstStyle/>
          <a:p>
            <a:endParaRPr lang="en-US"/>
          </a:p>
        </p:txBody>
      </p:sp>
      <p:sp>
        <p:nvSpPr>
          <p:cNvPr id="93" name="Shape 91"/>
          <p:cNvSpPr/>
          <p:nvPr/>
        </p:nvSpPr>
        <p:spPr>
          <a:xfrm>
            <a:off x="8466914" y="8056246"/>
            <a:ext cx="1235800" cy="1100085"/>
          </a:xfrm>
          <a:prstGeom prst="line">
            <a:avLst/>
          </a:prstGeom>
          <a:noFill/>
          <a:ln w="19050">
            <a:solidFill>
              <a:srgbClr val="C7A400">
                <a:alpha val="30000"/>
                <a:alpha val="20000"/>
                <a:alpha val="20000"/>
              </a:srgbClr>
            </a:solidFill>
            <a:prstDash val="dashDot"/>
          </a:ln>
        </p:spPr>
        <p:txBody>
          <a:bodyPr/>
          <a:lstStyle/>
          <a:p>
            <a:endParaRPr lang="en-US"/>
          </a:p>
        </p:txBody>
      </p:sp>
      <p:sp>
        <p:nvSpPr>
          <p:cNvPr id="94" name="Shape 92"/>
          <p:cNvSpPr/>
          <p:nvPr/>
        </p:nvSpPr>
        <p:spPr>
          <a:xfrm>
            <a:off x="7952847" y="7785035"/>
            <a:ext cx="514067" cy="271212"/>
          </a:xfrm>
          <a:prstGeom prst="line">
            <a:avLst/>
          </a:prstGeom>
          <a:noFill/>
          <a:ln w="19050">
            <a:solidFill>
              <a:srgbClr val="C7A400">
                <a:alpha val="30000"/>
                <a:alpha val="20000"/>
                <a:alpha val="20000"/>
              </a:srgbClr>
            </a:solidFill>
            <a:prstDash val="dashDot"/>
          </a:ln>
        </p:spPr>
        <p:txBody>
          <a:bodyPr/>
          <a:lstStyle/>
          <a:p>
            <a:endParaRPr lang="en-US"/>
          </a:p>
        </p:txBody>
      </p:sp>
      <p:sp>
        <p:nvSpPr>
          <p:cNvPr id="95" name="Shape 93"/>
          <p:cNvSpPr/>
          <p:nvPr/>
        </p:nvSpPr>
        <p:spPr>
          <a:xfrm>
            <a:off x="7918314" y="7746852"/>
            <a:ext cx="34533" cy="38183"/>
          </a:xfrm>
          <a:prstGeom prst="line">
            <a:avLst/>
          </a:prstGeom>
          <a:noFill/>
          <a:ln w="19050">
            <a:solidFill>
              <a:srgbClr val="C7A400">
                <a:alpha val="30000"/>
                <a:alpha val="20000"/>
                <a:alpha val="20000"/>
              </a:srgbClr>
            </a:solidFill>
            <a:prstDash val="dashDot"/>
          </a:ln>
        </p:spPr>
        <p:txBody>
          <a:bodyPr/>
          <a:lstStyle/>
          <a:p>
            <a:endParaRPr lang="en-US"/>
          </a:p>
        </p:txBody>
      </p:sp>
      <p:sp>
        <p:nvSpPr>
          <p:cNvPr id="96" name="Shape 94"/>
          <p:cNvSpPr/>
          <p:nvPr/>
        </p:nvSpPr>
        <p:spPr>
          <a:xfrm>
            <a:off x="7409208" y="7339754"/>
            <a:ext cx="509107" cy="407098"/>
          </a:xfrm>
          <a:prstGeom prst="line">
            <a:avLst/>
          </a:prstGeom>
          <a:noFill/>
          <a:ln w="19050">
            <a:solidFill>
              <a:srgbClr val="C7A400">
                <a:alpha val="30000"/>
                <a:alpha val="20000"/>
                <a:alpha val="20000"/>
              </a:srgbClr>
            </a:solidFill>
            <a:prstDash val="dashDot"/>
          </a:ln>
        </p:spPr>
        <p:txBody>
          <a:bodyPr/>
          <a:lstStyle/>
          <a:p>
            <a:endParaRPr lang="en-US"/>
          </a:p>
        </p:txBody>
      </p:sp>
      <p:sp>
        <p:nvSpPr>
          <p:cNvPr id="97" name="Shape 95"/>
          <p:cNvSpPr/>
          <p:nvPr/>
        </p:nvSpPr>
        <p:spPr>
          <a:xfrm>
            <a:off x="6857613" y="6904487"/>
            <a:ext cx="551594" cy="435267"/>
          </a:xfrm>
          <a:prstGeom prst="line">
            <a:avLst/>
          </a:prstGeom>
          <a:noFill/>
          <a:ln w="19050">
            <a:solidFill>
              <a:srgbClr val="C7A400">
                <a:alpha val="30000"/>
                <a:alpha val="20000"/>
                <a:alpha val="20000"/>
              </a:srgbClr>
            </a:solidFill>
            <a:prstDash val="dashDot"/>
          </a:ln>
        </p:spPr>
        <p:txBody>
          <a:bodyPr/>
          <a:lstStyle/>
          <a:p>
            <a:endParaRPr lang="en-US"/>
          </a:p>
        </p:txBody>
      </p:sp>
      <p:sp>
        <p:nvSpPr>
          <p:cNvPr id="98" name="Shape 96"/>
          <p:cNvSpPr/>
          <p:nvPr/>
        </p:nvSpPr>
        <p:spPr>
          <a:xfrm flipV="1">
            <a:off x="4384516" y="3796691"/>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99" name="Shape 97"/>
          <p:cNvSpPr/>
          <p:nvPr/>
        </p:nvSpPr>
        <p:spPr>
          <a:xfrm flipV="1">
            <a:off x="4208762" y="4015681"/>
            <a:ext cx="175754" cy="219084"/>
          </a:xfrm>
          <a:prstGeom prst="line">
            <a:avLst/>
          </a:prstGeom>
          <a:noFill/>
          <a:ln w="28575">
            <a:solidFill>
              <a:srgbClr val="8B0000">
                <a:alpha val="30000"/>
                <a:alpha val="20000"/>
                <a:alpha val="20000"/>
              </a:srgbClr>
            </a:solidFill>
            <a:prstDash val="solid"/>
          </a:ln>
        </p:spPr>
        <p:txBody>
          <a:bodyPr/>
          <a:lstStyle/>
          <a:p>
            <a:endParaRPr lang="en-US"/>
          </a:p>
        </p:txBody>
      </p:sp>
      <p:sp>
        <p:nvSpPr>
          <p:cNvPr id="100" name="Shape 98"/>
          <p:cNvSpPr/>
          <p:nvPr/>
        </p:nvSpPr>
        <p:spPr>
          <a:xfrm flipV="1">
            <a:off x="4032914" y="4234766"/>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1" name="Shape 99"/>
          <p:cNvSpPr/>
          <p:nvPr/>
        </p:nvSpPr>
        <p:spPr>
          <a:xfrm flipV="1">
            <a:off x="3857067" y="4453756"/>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2" name="Shape 100"/>
          <p:cNvSpPr/>
          <p:nvPr/>
        </p:nvSpPr>
        <p:spPr>
          <a:xfrm flipV="1">
            <a:off x="3681313" y="4672747"/>
            <a:ext cx="175754"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3" name="Shape 101"/>
          <p:cNvSpPr/>
          <p:nvPr/>
        </p:nvSpPr>
        <p:spPr>
          <a:xfrm flipV="1">
            <a:off x="3505465" y="4891738"/>
            <a:ext cx="175848" cy="218991"/>
          </a:xfrm>
          <a:prstGeom prst="line">
            <a:avLst/>
          </a:prstGeom>
          <a:noFill/>
          <a:ln w="28575">
            <a:solidFill>
              <a:srgbClr val="8B0000">
                <a:alpha val="30000"/>
                <a:alpha val="20000"/>
                <a:alpha val="20000"/>
              </a:srgbClr>
            </a:solidFill>
            <a:prstDash val="solid"/>
          </a:ln>
        </p:spPr>
        <p:txBody>
          <a:bodyPr/>
          <a:lstStyle/>
          <a:p>
            <a:endParaRPr lang="en-US"/>
          </a:p>
        </p:txBody>
      </p:sp>
      <p:sp>
        <p:nvSpPr>
          <p:cNvPr id="104" name="Shape 102"/>
          <p:cNvSpPr/>
          <p:nvPr/>
        </p:nvSpPr>
        <p:spPr>
          <a:xfrm flipV="1">
            <a:off x="3334952" y="5110728"/>
            <a:ext cx="170513" cy="217587"/>
          </a:xfrm>
          <a:prstGeom prst="line">
            <a:avLst/>
          </a:prstGeom>
          <a:noFill/>
          <a:ln w="28575">
            <a:solidFill>
              <a:srgbClr val="8B0000">
                <a:alpha val="30000"/>
                <a:alpha val="20000"/>
                <a:alpha val="20000"/>
              </a:srgbClr>
            </a:solidFill>
            <a:prstDash val="solid"/>
          </a:ln>
        </p:spPr>
        <p:txBody>
          <a:bodyPr/>
          <a:lstStyle/>
          <a:p>
            <a:endParaRPr lang="en-US"/>
          </a:p>
        </p:txBody>
      </p:sp>
      <p:sp>
        <p:nvSpPr>
          <p:cNvPr id="149" name="Shape 147"/>
          <p:cNvSpPr/>
          <p:nvPr/>
        </p:nvSpPr>
        <p:spPr>
          <a:xfrm>
            <a:off x="1870241" y="5422837"/>
            <a:ext cx="131020" cy="131020"/>
          </a:xfrm>
          <a:prstGeom prst="rect">
            <a:avLst/>
          </a:prstGeom>
          <a:ln w="19050">
            <a:solidFill>
              <a:srgbClr val="BB00BB">
                <a:alpha val="20000"/>
                <a:alpha val="20000"/>
              </a:srgbClr>
            </a:solidFill>
            <a:prstDash val="solid"/>
          </a:ln>
        </p:spPr>
        <p:txBody>
          <a:bodyPr/>
          <a:lstStyle/>
          <a:p>
            <a:endParaRPr lang="en-US"/>
          </a:p>
        </p:txBody>
      </p:sp>
      <p:sp>
        <p:nvSpPr>
          <p:cNvPr id="150" name="Shape 148"/>
          <p:cNvSpPr/>
          <p:nvPr/>
        </p:nvSpPr>
        <p:spPr>
          <a:xfrm>
            <a:off x="5175784" y="3104250"/>
            <a:ext cx="131020" cy="131020"/>
          </a:xfrm>
          <a:prstGeom prst="rect">
            <a:avLst/>
          </a:prstGeom>
          <a:ln w="19050">
            <a:solidFill>
              <a:srgbClr val="BB00BB">
                <a:alpha val="20000"/>
                <a:alpha val="20000"/>
                <a:alpha val="100000"/>
              </a:srgbClr>
            </a:solidFill>
            <a:prstDash val="solid"/>
          </a:ln>
        </p:spPr>
        <p:txBody>
          <a:bodyPr/>
          <a:lstStyle/>
          <a:p>
            <a:endParaRPr lang="en-US"/>
          </a:p>
        </p:txBody>
      </p:sp>
      <p:sp>
        <p:nvSpPr>
          <p:cNvPr id="151" name="Shape 149"/>
          <p:cNvSpPr/>
          <p:nvPr/>
        </p:nvSpPr>
        <p:spPr>
          <a:xfrm>
            <a:off x="4067728" y="7959572"/>
            <a:ext cx="131020" cy="131020"/>
          </a:xfrm>
          <a:prstGeom prst="rect">
            <a:avLst/>
          </a:prstGeom>
          <a:ln w="19050">
            <a:solidFill>
              <a:srgbClr val="BB00BB">
                <a:alpha val="20000"/>
                <a:alpha val="20000"/>
              </a:srgbClr>
            </a:solidFill>
            <a:prstDash val="solid"/>
          </a:ln>
        </p:spPr>
        <p:txBody>
          <a:bodyPr/>
          <a:lstStyle/>
          <a:p>
            <a:endParaRPr lang="en-US"/>
          </a:p>
        </p:txBody>
      </p:sp>
      <p:sp>
        <p:nvSpPr>
          <p:cNvPr id="152" name="Shape 150"/>
          <p:cNvSpPr/>
          <p:nvPr/>
        </p:nvSpPr>
        <p:spPr>
          <a:xfrm>
            <a:off x="8437154" y="5617589"/>
            <a:ext cx="131020" cy="131020"/>
          </a:xfrm>
          <a:prstGeom prst="rect">
            <a:avLst/>
          </a:prstGeom>
          <a:ln w="19050">
            <a:solidFill>
              <a:srgbClr val="BB00BB">
                <a:alpha val="20000"/>
                <a:alpha val="20000"/>
              </a:srgbClr>
            </a:solidFill>
            <a:prstDash val="solid"/>
          </a:ln>
        </p:spPr>
        <p:txBody>
          <a:bodyPr/>
          <a:lstStyle/>
          <a:p>
            <a:endParaRPr lang="en-US"/>
          </a:p>
        </p:txBody>
      </p:sp>
      <p:sp>
        <p:nvSpPr>
          <p:cNvPr id="153" name="Text 151"/>
          <p:cNvSpPr/>
          <p:nvPr/>
        </p:nvSpPr>
        <p:spPr>
          <a:xfrm>
            <a:off x="2019978" y="5313109"/>
            <a:ext cx="1097280" cy="182880"/>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X_CV_STH_PITS &amp;.27153</a:t>
            </a:r>
            <a:endParaRPr lang="en-US" sz="650" dirty="0">
              <a:solidFill>
                <a:srgbClr val="C9CDD1"/>
              </a:solidFill>
            </a:endParaRPr>
          </a:p>
        </p:txBody>
      </p:sp>
      <p:sp>
        <p:nvSpPr>
          <p:cNvPr id="154" name="Text 152"/>
          <p:cNvSpPr/>
          <p:nvPr/>
        </p:nvSpPr>
        <p:spPr>
          <a:xfrm>
            <a:off x="5325521" y="2994522"/>
            <a:ext cx="1097280" cy="182880"/>
          </a:xfrm>
          <a:prstGeom prst="rect">
            <a:avLst/>
          </a:prstGeom>
          <a:noFill/>
          <a:ln/>
        </p:spPr>
        <p:txBody>
          <a:bodyPr wrap="square" lIns="0" tIns="0" rIns="0" bIns="0" rtlCol="0" anchor="ctr"/>
          <a:lstStyle/>
          <a:p>
            <a:pPr marL="0" indent="0">
              <a:buNone/>
            </a:pPr>
            <a:r>
              <a:rPr lang="en-US" sz="650" b="1" dirty="0">
                <a:solidFill>
                  <a:srgbClr val="333333"/>
                </a:solidFill>
                <a:latin typeface="Arial" pitchFamily="34" charset="0"/>
                <a:ea typeface="Arial" pitchFamily="34" charset="-122"/>
                <a:cs typeface="Arial" pitchFamily="34" charset="-120"/>
              </a:rPr>
              <a:t>X_CV_STH_PITS &amp;.27152</a:t>
            </a:r>
            <a:endParaRPr lang="en-US" sz="650" dirty="0">
              <a:solidFill>
                <a:srgbClr val="333333"/>
              </a:solidFill>
            </a:endParaRPr>
          </a:p>
        </p:txBody>
      </p:sp>
      <p:sp>
        <p:nvSpPr>
          <p:cNvPr id="155" name="Text 153"/>
          <p:cNvSpPr/>
          <p:nvPr/>
        </p:nvSpPr>
        <p:spPr>
          <a:xfrm>
            <a:off x="4217466" y="7849844"/>
            <a:ext cx="1097280" cy="182880"/>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X_CV_STH_PITS &amp;.27154</a:t>
            </a:r>
            <a:endParaRPr lang="en-US" sz="650" dirty="0">
              <a:solidFill>
                <a:srgbClr val="C9CDD1"/>
              </a:solidFill>
            </a:endParaRPr>
          </a:p>
        </p:txBody>
      </p:sp>
      <p:sp>
        <p:nvSpPr>
          <p:cNvPr id="156" name="Text 154"/>
          <p:cNvSpPr/>
          <p:nvPr/>
        </p:nvSpPr>
        <p:spPr>
          <a:xfrm>
            <a:off x="8586891" y="5507861"/>
            <a:ext cx="1097280" cy="182880"/>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X_CV_STH_PITS &amp;.27162</a:t>
            </a:r>
            <a:endParaRPr lang="en-US" sz="650" dirty="0">
              <a:solidFill>
                <a:srgbClr val="C9CDD1"/>
              </a:solidFill>
            </a:endParaRPr>
          </a:p>
        </p:txBody>
      </p:sp>
      <p:sp>
        <p:nvSpPr>
          <p:cNvPr id="900" name="AGL WORKS AREA FILL 1"/>
          <p:cNvSpPr/>
          <p:nvPr/>
        </p:nvSpPr>
        <p:spPr>
          <a:xfrm>
            <a:off x="3221521" y="3741827"/>
            <a:ext cx="1460500" cy="1549400"/>
          </a:xfrm>
          <a:custGeom>
            <a:avLst/>
            <a:gdLst/>
            <a:ahLst/>
            <a:cxnLst/>
            <a:rect l="0" t="0" r="r" b="b"/>
            <a:pathLst>
              <a:path w="1460500" h="1549400">
                <a:moveTo>
                  <a:pt x="0" y="1244600"/>
                </a:moveTo>
                <a:lnTo>
                  <a:pt x="1117600" y="0"/>
                </a:lnTo>
                <a:lnTo>
                  <a:pt x="1460500" y="304800"/>
                </a:lnTo>
                <a:lnTo>
                  <a:pt x="342900" y="1549400"/>
                </a:lnTo>
                <a:close/>
              </a:path>
            </a:pathLst>
          </a:custGeom>
          <a:solidFill>
            <a:srgbClr val="CC0000">
              <a:alpha val="34000"/>
            </a:srgbClr>
          </a:solidFill>
          <a:ln>
            <a:noFill/>
          </a:ln>
        </p:spPr>
        <p:txBody>
          <a:bodyPr/>
          <a:lstStyle/>
          <a:p>
            <a:endParaRPr/>
          </a:p>
        </p:txBody>
      </p:sp>
      <p:sp>
        <p:nvSpPr>
          <p:cNvPr id="901" name="AGL WORKS AREA FILL 2"/>
          <p:cNvSpPr/>
          <p:nvPr/>
        </p:nvSpPr>
        <p:spPr>
          <a:xfrm>
            <a:off x="3522218" y="4677497"/>
            <a:ext cx="3352800" cy="3124200"/>
          </a:xfrm>
          <a:custGeom>
            <a:avLst/>
            <a:gdLst/>
            <a:ahLst/>
            <a:cxnLst/>
            <a:rect l="0" t="0" r="r" b="b"/>
            <a:pathLst>
              <a:path w="3352800" h="3124200">
                <a:moveTo>
                  <a:pt x="0" y="584200"/>
                </a:moveTo>
                <a:lnTo>
                  <a:pt x="520700" y="0"/>
                </a:lnTo>
                <a:lnTo>
                  <a:pt x="3340100" y="2540000"/>
                </a:lnTo>
                <a:lnTo>
                  <a:pt x="2832100" y="3124200"/>
                </a:lnTo>
                <a:close/>
              </a:path>
            </a:pathLst>
          </a:custGeom>
          <a:solidFill>
            <a:srgbClr val="CC0000">
              <a:alpha val="34000"/>
            </a:srgbClr>
          </a:solidFill>
          <a:ln>
            <a:noFill/>
          </a:ln>
        </p:spPr>
        <p:txBody>
          <a:bodyPr/>
          <a:lstStyle/>
          <a:p>
            <a:endParaRPr dirty="0"/>
          </a:p>
        </p:txBody>
      </p:sp>
      <p:sp>
        <p:nvSpPr>
          <p:cNvPr id="157" name="Shape 155"/>
          <p:cNvSpPr/>
          <p:nvPr/>
        </p:nvSpPr>
        <p:spPr>
          <a:xfrm flipV="1">
            <a:off x="3228323" y="3753233"/>
            <a:ext cx="1116291" cy="1243661"/>
          </a:xfrm>
          <a:prstGeom prst="line">
            <a:avLst/>
          </a:prstGeom>
          <a:noFill/>
          <a:ln w="31750">
            <a:solidFill>
              <a:srgbClr val="CC0000">
                <a:alpha val="34000"/>
              </a:srgbClr>
            </a:solidFill>
            <a:prstDash val="solid"/>
          </a:ln>
        </p:spPr>
        <p:txBody>
          <a:bodyPr/>
          <a:lstStyle/>
          <a:p>
            <a:endParaRPr lang="en-US"/>
          </a:p>
        </p:txBody>
      </p:sp>
      <p:sp>
        <p:nvSpPr>
          <p:cNvPr id="158" name="Shape 156"/>
          <p:cNvSpPr/>
          <p:nvPr/>
        </p:nvSpPr>
        <p:spPr>
          <a:xfrm>
            <a:off x="4327634" y="3741827"/>
            <a:ext cx="279990" cy="255511"/>
          </a:xfrm>
          <a:prstGeom prst="line">
            <a:avLst/>
          </a:prstGeom>
          <a:noFill/>
          <a:ln w="31750">
            <a:solidFill>
              <a:srgbClr val="CC0000">
                <a:alpha val="39000"/>
              </a:srgbClr>
            </a:solidFill>
            <a:prstDash val="solid"/>
          </a:ln>
        </p:spPr>
        <p:txBody>
          <a:bodyPr/>
          <a:lstStyle/>
          <a:p>
            <a:endParaRPr lang="en-US"/>
          </a:p>
        </p:txBody>
      </p:sp>
      <p:sp>
        <p:nvSpPr>
          <p:cNvPr id="159" name="Shape 157"/>
          <p:cNvSpPr/>
          <p:nvPr/>
        </p:nvSpPr>
        <p:spPr>
          <a:xfrm flipV="1">
            <a:off x="3491334" y="3997339"/>
            <a:ext cx="1116291" cy="1243568"/>
          </a:xfrm>
          <a:prstGeom prst="line">
            <a:avLst/>
          </a:prstGeom>
          <a:noFill/>
          <a:ln w="31750">
            <a:solidFill>
              <a:srgbClr val="CC0000">
                <a:alpha val="42000"/>
              </a:srgbClr>
            </a:solidFill>
            <a:prstDash val="solid"/>
          </a:ln>
        </p:spPr>
        <p:txBody>
          <a:bodyPr/>
          <a:lstStyle/>
          <a:p>
            <a:endParaRPr lang="en-US"/>
          </a:p>
        </p:txBody>
      </p:sp>
      <p:sp>
        <p:nvSpPr>
          <p:cNvPr id="160" name="Shape 158"/>
          <p:cNvSpPr/>
          <p:nvPr/>
        </p:nvSpPr>
        <p:spPr>
          <a:xfrm>
            <a:off x="3228323" y="4978772"/>
            <a:ext cx="263010" cy="262134"/>
          </a:xfrm>
          <a:prstGeom prst="line">
            <a:avLst/>
          </a:prstGeom>
          <a:noFill/>
          <a:ln w="31750">
            <a:solidFill>
              <a:srgbClr val="CC0000">
                <a:alpha val="34000"/>
              </a:srgbClr>
            </a:solidFill>
            <a:prstDash val="solid"/>
          </a:ln>
        </p:spPr>
        <p:txBody>
          <a:bodyPr/>
          <a:lstStyle/>
          <a:p>
            <a:endParaRPr lang="en-US"/>
          </a:p>
        </p:txBody>
      </p:sp>
      <p:sp>
        <p:nvSpPr>
          <p:cNvPr id="161" name="Shape 159"/>
          <p:cNvSpPr/>
          <p:nvPr/>
        </p:nvSpPr>
        <p:spPr>
          <a:xfrm flipV="1">
            <a:off x="3484128" y="4649912"/>
            <a:ext cx="522115" cy="581729"/>
          </a:xfrm>
          <a:prstGeom prst="line">
            <a:avLst/>
          </a:prstGeom>
          <a:noFill/>
          <a:ln w="31750">
            <a:solidFill>
              <a:srgbClr val="CC0000">
                <a:alpha val="34000"/>
              </a:srgbClr>
            </a:solidFill>
            <a:prstDash val="solid"/>
          </a:ln>
        </p:spPr>
        <p:txBody>
          <a:bodyPr/>
          <a:lstStyle/>
          <a:p>
            <a:endParaRPr lang="en-US"/>
          </a:p>
        </p:txBody>
      </p:sp>
      <p:sp>
        <p:nvSpPr>
          <p:cNvPr id="162" name="Shape 160"/>
          <p:cNvSpPr/>
          <p:nvPr/>
        </p:nvSpPr>
        <p:spPr>
          <a:xfrm>
            <a:off x="4006243" y="4649912"/>
            <a:ext cx="2822921" cy="2533928"/>
          </a:xfrm>
          <a:prstGeom prst="line">
            <a:avLst/>
          </a:prstGeom>
          <a:noFill/>
          <a:ln w="31750">
            <a:solidFill>
              <a:srgbClr val="CC0000">
                <a:alpha val="34000"/>
              </a:srgbClr>
            </a:solidFill>
            <a:prstDash val="solid"/>
          </a:ln>
        </p:spPr>
        <p:txBody>
          <a:bodyPr/>
          <a:lstStyle/>
          <a:p>
            <a:endParaRPr lang="en-US"/>
          </a:p>
        </p:txBody>
      </p:sp>
      <p:sp>
        <p:nvSpPr>
          <p:cNvPr id="163" name="Shape 161"/>
          <p:cNvSpPr/>
          <p:nvPr/>
        </p:nvSpPr>
        <p:spPr>
          <a:xfrm flipV="1">
            <a:off x="6307048" y="7183840"/>
            <a:ext cx="522115" cy="581635"/>
          </a:xfrm>
          <a:prstGeom prst="line">
            <a:avLst/>
          </a:prstGeom>
          <a:noFill/>
          <a:ln w="31750">
            <a:solidFill>
              <a:srgbClr val="CC0000">
                <a:alpha val="34000"/>
              </a:srgbClr>
            </a:solidFill>
            <a:prstDash val="solid"/>
          </a:ln>
        </p:spPr>
        <p:txBody>
          <a:bodyPr/>
          <a:lstStyle/>
          <a:p>
            <a:endParaRPr lang="en-US"/>
          </a:p>
        </p:txBody>
      </p:sp>
      <p:sp>
        <p:nvSpPr>
          <p:cNvPr id="164" name="Shape 162"/>
          <p:cNvSpPr/>
          <p:nvPr/>
        </p:nvSpPr>
        <p:spPr>
          <a:xfrm>
            <a:off x="3484128" y="5231641"/>
            <a:ext cx="2822921" cy="2533834"/>
          </a:xfrm>
          <a:prstGeom prst="line">
            <a:avLst/>
          </a:prstGeom>
          <a:noFill/>
          <a:ln w="31750">
            <a:solidFill>
              <a:srgbClr val="CC0000">
                <a:alpha val="34000"/>
              </a:srgbClr>
            </a:solidFill>
            <a:prstDash val="solid"/>
          </a:ln>
        </p:spPr>
        <p:txBody>
          <a:bodyPr/>
          <a:lstStyle/>
          <a:p>
            <a:endParaRPr lang="en-US"/>
          </a:p>
        </p:txBody>
      </p:sp>
      <p:sp>
        <p:nvSpPr>
          <p:cNvPr id="165" name="Text 163"/>
          <p:cNvSpPr/>
          <p:nvPr/>
        </p:nvSpPr>
        <p:spPr>
          <a:xfrm>
            <a:off x="1891779" y="3419239"/>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(425.3 m² TOTAL)</a:t>
            </a:r>
            <a:endParaRPr lang="en-US" sz="800" dirty="0"/>
          </a:p>
        </p:txBody>
      </p:sp>
      <p:sp>
        <p:nvSpPr>
          <p:cNvPr id="216" name="Text 214"/>
          <p:cNvSpPr/>
          <p:nvPr/>
        </p:nvSpPr>
        <p:spPr>
          <a:xfrm>
            <a:off x="5479294" y="934704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RRM.76</a:t>
            </a:r>
            <a:endParaRPr lang="en-US" sz="500" dirty="0">
              <a:solidFill>
                <a:srgbClr val="C9CDD1"/>
              </a:solidFill>
            </a:endParaRPr>
          </a:p>
        </p:txBody>
      </p:sp>
      <p:sp>
        <p:nvSpPr>
          <p:cNvPr id="217" name="Text 215"/>
          <p:cNvSpPr/>
          <p:nvPr/>
        </p:nvSpPr>
        <p:spPr>
          <a:xfrm>
            <a:off x="4297399" y="682752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RRM.282</a:t>
            </a:r>
            <a:endParaRPr lang="en-US" sz="500" dirty="0">
              <a:solidFill>
                <a:srgbClr val="C9CDD1"/>
              </a:solidFill>
            </a:endParaRPr>
          </a:p>
        </p:txBody>
      </p:sp>
      <p:sp>
        <p:nvSpPr>
          <p:cNvPr id="218" name="Text 216"/>
          <p:cNvSpPr/>
          <p:nvPr/>
        </p:nvSpPr>
        <p:spPr>
          <a:xfrm>
            <a:off x="7978501" y="763648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TCCECH.04.018</a:t>
            </a:r>
            <a:endParaRPr lang="en-US" sz="500" dirty="0">
              <a:solidFill>
                <a:srgbClr val="C9CDD1"/>
              </a:solidFill>
            </a:endParaRPr>
          </a:p>
        </p:txBody>
      </p:sp>
      <p:sp>
        <p:nvSpPr>
          <p:cNvPr id="219" name="Text 217"/>
          <p:cNvSpPr/>
          <p:nvPr/>
        </p:nvSpPr>
        <p:spPr>
          <a:xfrm>
            <a:off x="3394858" y="5743989"/>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RRM.539</a:t>
            </a:r>
            <a:endParaRPr lang="en-US" sz="500" dirty="0">
              <a:solidFill>
                <a:srgbClr val="C9CDD1"/>
              </a:solidFill>
            </a:endParaRPr>
          </a:p>
        </p:txBody>
      </p:sp>
      <p:sp>
        <p:nvSpPr>
          <p:cNvPr id="220" name="Text 218"/>
          <p:cNvSpPr/>
          <p:nvPr/>
        </p:nvSpPr>
        <p:spPr>
          <a:xfrm>
            <a:off x="2366819" y="478277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RRM.540</a:t>
            </a:r>
            <a:endParaRPr lang="en-US" sz="500" dirty="0">
              <a:solidFill>
                <a:srgbClr val="C9CDD1"/>
              </a:solidFill>
            </a:endParaRPr>
          </a:p>
        </p:txBody>
      </p:sp>
      <p:sp>
        <p:nvSpPr>
          <p:cNvPr id="221" name="Text 219"/>
          <p:cNvSpPr/>
          <p:nvPr/>
        </p:nvSpPr>
        <p:spPr>
          <a:xfrm>
            <a:off x="973233" y="354566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RRM.541</a:t>
            </a:r>
            <a:endParaRPr lang="en-US" sz="500" dirty="0">
              <a:solidFill>
                <a:srgbClr val="C9CDD1"/>
              </a:solidFill>
            </a:endParaRPr>
          </a:p>
        </p:txBody>
      </p:sp>
      <p:sp>
        <p:nvSpPr>
          <p:cNvPr id="222" name="Text 220"/>
          <p:cNvSpPr/>
          <p:nvPr/>
        </p:nvSpPr>
        <p:spPr>
          <a:xfrm>
            <a:off x="4988811" y="8042362"/>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RRM.636</a:t>
            </a:r>
            <a:endParaRPr lang="en-US" sz="500" dirty="0">
              <a:solidFill>
                <a:srgbClr val="C9CDD1"/>
              </a:solidFill>
            </a:endParaRPr>
          </a:p>
        </p:txBody>
      </p:sp>
      <p:sp>
        <p:nvSpPr>
          <p:cNvPr id="223" name="Text 221"/>
          <p:cNvSpPr/>
          <p:nvPr/>
        </p:nvSpPr>
        <p:spPr>
          <a:xfrm>
            <a:off x="8013034" y="767466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TCC103.12.019</a:t>
            </a:r>
            <a:endParaRPr lang="en-US" sz="500" dirty="0">
              <a:solidFill>
                <a:srgbClr val="C9CDD1"/>
              </a:solidFill>
            </a:endParaRPr>
          </a:p>
        </p:txBody>
      </p:sp>
      <p:sp>
        <p:nvSpPr>
          <p:cNvPr id="224" name="Text 222"/>
          <p:cNvSpPr/>
          <p:nvPr/>
        </p:nvSpPr>
        <p:spPr>
          <a:xfrm>
            <a:off x="9107801" y="855661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TCC103.11.019</a:t>
            </a:r>
            <a:endParaRPr lang="en-US" sz="500" dirty="0">
              <a:solidFill>
                <a:srgbClr val="C9CDD1"/>
              </a:solidFill>
            </a:endParaRPr>
          </a:p>
        </p:txBody>
      </p:sp>
      <p:sp>
        <p:nvSpPr>
          <p:cNvPr id="225" name="Text 223"/>
          <p:cNvSpPr/>
          <p:nvPr/>
        </p:nvSpPr>
        <p:spPr>
          <a:xfrm>
            <a:off x="7469395" y="7229382"/>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TCC103.11.020</a:t>
            </a:r>
            <a:endParaRPr lang="en-US" sz="500" dirty="0">
              <a:solidFill>
                <a:srgbClr val="C9CDD1"/>
              </a:solidFill>
            </a:endParaRPr>
          </a:p>
        </p:txBody>
      </p:sp>
      <p:sp>
        <p:nvSpPr>
          <p:cNvPr id="226" name="Text 224"/>
          <p:cNvSpPr/>
          <p:nvPr/>
        </p:nvSpPr>
        <p:spPr>
          <a:xfrm>
            <a:off x="6515101" y="4616187"/>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TEC102.02.047</a:t>
            </a:r>
            <a:endParaRPr lang="en-US" sz="500" dirty="0">
              <a:solidFill>
                <a:srgbClr val="C9CDD1"/>
              </a:solidFill>
            </a:endParaRPr>
          </a:p>
        </p:txBody>
      </p:sp>
      <p:sp>
        <p:nvSpPr>
          <p:cNvPr id="227" name="Text 225"/>
          <p:cNvSpPr/>
          <p:nvPr/>
        </p:nvSpPr>
        <p:spPr>
          <a:xfrm>
            <a:off x="7681273" y="539594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TEC102.02.048</a:t>
            </a:r>
            <a:endParaRPr lang="en-US" sz="500" dirty="0">
              <a:solidFill>
                <a:srgbClr val="C9CDD1"/>
              </a:solidFill>
            </a:endParaRPr>
          </a:p>
        </p:txBody>
      </p:sp>
      <p:sp>
        <p:nvSpPr>
          <p:cNvPr id="228" name="Text 226"/>
          <p:cNvSpPr/>
          <p:nvPr/>
        </p:nvSpPr>
        <p:spPr>
          <a:xfrm>
            <a:off x="8514093" y="582690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TEC102.02.049</a:t>
            </a:r>
            <a:endParaRPr lang="en-US" sz="500" dirty="0">
              <a:solidFill>
                <a:srgbClr val="C9CDD1"/>
              </a:solidFill>
            </a:endParaRPr>
          </a:p>
        </p:txBody>
      </p:sp>
      <p:sp>
        <p:nvSpPr>
          <p:cNvPr id="229" name="Text 227"/>
          <p:cNvSpPr/>
          <p:nvPr/>
        </p:nvSpPr>
        <p:spPr>
          <a:xfrm>
            <a:off x="8558171" y="417259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HH.E6.033</a:t>
            </a:r>
            <a:endParaRPr lang="en-US" sz="500" dirty="0">
              <a:solidFill>
                <a:srgbClr val="C9CDD1"/>
              </a:solidFill>
            </a:endParaRPr>
          </a:p>
        </p:txBody>
      </p:sp>
      <p:sp>
        <p:nvSpPr>
          <p:cNvPr id="230" name="Text 228"/>
          <p:cNvSpPr/>
          <p:nvPr/>
        </p:nvSpPr>
        <p:spPr>
          <a:xfrm>
            <a:off x="3119716" y="373882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TCCECH.03.017</a:t>
            </a:r>
            <a:endParaRPr lang="en-US" sz="500" dirty="0">
              <a:solidFill>
                <a:srgbClr val="C9CDD1"/>
              </a:solidFill>
            </a:endParaRPr>
          </a:p>
        </p:txBody>
      </p:sp>
      <p:sp>
        <p:nvSpPr>
          <p:cNvPr id="231" name="Text 229"/>
          <p:cNvSpPr/>
          <p:nvPr/>
        </p:nvSpPr>
        <p:spPr>
          <a:xfrm>
            <a:off x="2595636" y="331815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TCCECH.04.016</a:t>
            </a:r>
            <a:endParaRPr lang="en-US" sz="500" dirty="0">
              <a:solidFill>
                <a:srgbClr val="C9CDD1"/>
              </a:solidFill>
            </a:endParaRPr>
          </a:p>
        </p:txBody>
      </p:sp>
      <p:sp>
        <p:nvSpPr>
          <p:cNvPr id="232" name="Text 230"/>
          <p:cNvSpPr/>
          <p:nvPr/>
        </p:nvSpPr>
        <p:spPr>
          <a:xfrm>
            <a:off x="2073427" y="2898889"/>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TCCECH.03.016</a:t>
            </a:r>
            <a:endParaRPr lang="en-US" sz="500" dirty="0">
              <a:solidFill>
                <a:srgbClr val="C9CDD1"/>
              </a:solidFill>
            </a:endParaRPr>
          </a:p>
        </p:txBody>
      </p:sp>
      <p:sp>
        <p:nvSpPr>
          <p:cNvPr id="233" name="Text 231"/>
          <p:cNvSpPr/>
          <p:nvPr/>
        </p:nvSpPr>
        <p:spPr>
          <a:xfrm>
            <a:off x="1549909" y="247822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TCCECH.04.015</a:t>
            </a:r>
            <a:endParaRPr lang="en-US" sz="500" dirty="0">
              <a:solidFill>
                <a:srgbClr val="C9CDD1"/>
              </a:solidFill>
            </a:endParaRPr>
          </a:p>
        </p:txBody>
      </p:sp>
      <p:sp>
        <p:nvSpPr>
          <p:cNvPr id="234" name="Text 232"/>
          <p:cNvSpPr/>
          <p:nvPr/>
        </p:nvSpPr>
        <p:spPr>
          <a:xfrm>
            <a:off x="1028262" y="205933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TCCECH.03.015</a:t>
            </a:r>
            <a:endParaRPr lang="en-US" sz="500" dirty="0">
              <a:solidFill>
                <a:srgbClr val="C9CDD1"/>
              </a:solidFill>
            </a:endParaRPr>
          </a:p>
        </p:txBody>
      </p:sp>
      <p:sp>
        <p:nvSpPr>
          <p:cNvPr id="235" name="Text 233"/>
          <p:cNvSpPr/>
          <p:nvPr/>
        </p:nvSpPr>
        <p:spPr>
          <a:xfrm>
            <a:off x="3395139" y="5217944"/>
            <a:ext cx="1051560" cy="146304"/>
          </a:xfrm>
          <a:prstGeom prst="rect">
            <a:avLst/>
          </a:prstGeom>
          <a:noFill/>
          <a:ln/>
        </p:spPr>
        <p:txBody>
          <a:bodyPr wrap="square" lIns="0" tIns="0" rIns="0" bIns="0" rtlCol="0" anchor="ctr"/>
          <a:lstStyle/>
          <a:p>
            <a:pPr marL="0" indent="0">
              <a:buNone/>
            </a:pPr>
            <a:r>
              <a:rPr lang="en-US" sz="500" dirty="0">
                <a:solidFill>
                  <a:srgbClr val="333333"/>
                </a:solidFill>
                <a:latin typeface="Arial" pitchFamily="34" charset="0"/>
                <a:ea typeface="Arial" pitchFamily="34" charset="-122"/>
                <a:cs typeface="Arial" pitchFamily="34" charset="-120"/>
              </a:rPr>
              <a:t>SBC102.02.027</a:t>
            </a:r>
            <a:endParaRPr lang="en-US" sz="500" dirty="0">
              <a:solidFill>
                <a:srgbClr val="333333"/>
              </a:solidFill>
            </a:endParaRPr>
          </a:p>
        </p:txBody>
      </p:sp>
      <p:sp>
        <p:nvSpPr>
          <p:cNvPr id="236" name="Text 234"/>
          <p:cNvSpPr/>
          <p:nvPr/>
        </p:nvSpPr>
        <p:spPr>
          <a:xfrm>
            <a:off x="9172656" y="852058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TCC103.11.027</a:t>
            </a:r>
            <a:endParaRPr lang="en-US" sz="500" dirty="0">
              <a:solidFill>
                <a:srgbClr val="C9CDD1"/>
              </a:solidFill>
            </a:endParaRPr>
          </a:p>
        </p:txBody>
      </p:sp>
      <p:sp>
        <p:nvSpPr>
          <p:cNvPr id="237" name="Text 235"/>
          <p:cNvSpPr/>
          <p:nvPr/>
        </p:nvSpPr>
        <p:spPr>
          <a:xfrm>
            <a:off x="6553658" y="805200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TCCECH.03.038</a:t>
            </a:r>
            <a:endParaRPr lang="en-US" sz="500" dirty="0">
              <a:solidFill>
                <a:srgbClr val="C9CDD1"/>
              </a:solidFill>
            </a:endParaRPr>
          </a:p>
        </p:txBody>
      </p:sp>
      <p:sp>
        <p:nvSpPr>
          <p:cNvPr id="238" name="Text 236"/>
          <p:cNvSpPr/>
          <p:nvPr/>
        </p:nvSpPr>
        <p:spPr>
          <a:xfrm>
            <a:off x="6778077" y="868314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TCCECH.04.037</a:t>
            </a:r>
            <a:endParaRPr lang="en-US" sz="500" dirty="0">
              <a:solidFill>
                <a:srgbClr val="C9CDD1"/>
              </a:solidFill>
            </a:endParaRPr>
          </a:p>
        </p:txBody>
      </p:sp>
      <p:sp>
        <p:nvSpPr>
          <p:cNvPr id="239" name="Text 237"/>
          <p:cNvSpPr/>
          <p:nvPr/>
        </p:nvSpPr>
        <p:spPr>
          <a:xfrm>
            <a:off x="6986118" y="936379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TCCECH.03.039</a:t>
            </a:r>
            <a:endParaRPr lang="en-US" sz="500" dirty="0">
              <a:solidFill>
                <a:srgbClr val="C9CDD1"/>
              </a:solidFill>
            </a:endParaRPr>
          </a:p>
        </p:txBody>
      </p:sp>
      <p:sp>
        <p:nvSpPr>
          <p:cNvPr id="240" name="Text 238"/>
          <p:cNvSpPr/>
          <p:nvPr/>
        </p:nvSpPr>
        <p:spPr>
          <a:xfrm>
            <a:off x="7126965" y="100430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TCCECH.04.038</a:t>
            </a:r>
            <a:endParaRPr lang="en-US" sz="500" dirty="0"/>
          </a:p>
        </p:txBody>
      </p:sp>
      <p:sp>
        <p:nvSpPr>
          <p:cNvPr id="241" name="Text 239"/>
          <p:cNvSpPr/>
          <p:nvPr/>
        </p:nvSpPr>
        <p:spPr>
          <a:xfrm>
            <a:off x="9177803" y="820454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TCCECH.04.019</a:t>
            </a:r>
            <a:endParaRPr lang="en-US" sz="500" dirty="0">
              <a:solidFill>
                <a:srgbClr val="C9CDD1"/>
              </a:solidFill>
            </a:endParaRPr>
          </a:p>
        </p:txBody>
      </p:sp>
      <p:sp>
        <p:nvSpPr>
          <p:cNvPr id="242" name="Text 240"/>
          <p:cNvSpPr/>
          <p:nvPr/>
        </p:nvSpPr>
        <p:spPr>
          <a:xfrm>
            <a:off x="8527101" y="794587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TCCECH.03.020</a:t>
            </a:r>
            <a:endParaRPr lang="en-US" sz="500" dirty="0">
              <a:solidFill>
                <a:srgbClr val="C9CDD1"/>
              </a:solidFill>
            </a:endParaRPr>
          </a:p>
        </p:txBody>
      </p:sp>
      <p:sp>
        <p:nvSpPr>
          <p:cNvPr id="243" name="Text 241"/>
          <p:cNvSpPr/>
          <p:nvPr/>
        </p:nvSpPr>
        <p:spPr>
          <a:xfrm>
            <a:off x="5301481" y="3059388"/>
            <a:ext cx="1051560" cy="146304"/>
          </a:xfrm>
          <a:prstGeom prst="rect">
            <a:avLst/>
          </a:prstGeom>
          <a:noFill/>
          <a:ln/>
        </p:spPr>
        <p:txBody>
          <a:bodyPr wrap="square" lIns="0" tIns="0" rIns="0" bIns="0" rtlCol="0" anchor="ctr"/>
          <a:lstStyle/>
          <a:p>
            <a:pPr marL="0" indent="0">
              <a:buNone/>
            </a:pPr>
            <a:r>
              <a:rPr lang="en-US" sz="500" dirty="0">
                <a:solidFill>
                  <a:srgbClr val="333333"/>
                </a:solidFill>
                <a:latin typeface="Arial" pitchFamily="34" charset="0"/>
                <a:ea typeface="Arial" pitchFamily="34" charset="-122"/>
                <a:cs typeface="Arial" pitchFamily="34" charset="-120"/>
              </a:rPr>
              <a:t>X_CV_STH_PITS &amp;.27152</a:t>
            </a:r>
            <a:endParaRPr lang="en-US" sz="500" dirty="0">
              <a:solidFill>
                <a:srgbClr val="333333"/>
              </a:solidFill>
            </a:endParaRPr>
          </a:p>
        </p:txBody>
      </p:sp>
      <p:sp>
        <p:nvSpPr>
          <p:cNvPr id="244" name="Text 242"/>
          <p:cNvSpPr/>
          <p:nvPr/>
        </p:nvSpPr>
        <p:spPr>
          <a:xfrm>
            <a:off x="1995938" y="537797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&amp;.27153</a:t>
            </a:r>
            <a:endParaRPr lang="en-US" sz="500" dirty="0">
              <a:solidFill>
                <a:srgbClr val="C9CDD1"/>
              </a:solidFill>
            </a:endParaRPr>
          </a:p>
        </p:txBody>
      </p:sp>
      <p:sp>
        <p:nvSpPr>
          <p:cNvPr id="245" name="Text 243"/>
          <p:cNvSpPr/>
          <p:nvPr/>
        </p:nvSpPr>
        <p:spPr>
          <a:xfrm>
            <a:off x="4193425" y="791471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&amp;.27154</a:t>
            </a:r>
            <a:endParaRPr lang="en-US" sz="500" dirty="0">
              <a:solidFill>
                <a:srgbClr val="C9CDD1"/>
              </a:solidFill>
            </a:endParaRPr>
          </a:p>
        </p:txBody>
      </p:sp>
      <p:sp>
        <p:nvSpPr>
          <p:cNvPr id="246" name="Text 244"/>
          <p:cNvSpPr/>
          <p:nvPr/>
        </p:nvSpPr>
        <p:spPr>
          <a:xfrm>
            <a:off x="8562851" y="5572727"/>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&amp;.27162</a:t>
            </a:r>
            <a:endParaRPr lang="en-US" sz="500" dirty="0">
              <a:solidFill>
                <a:srgbClr val="C9CDD1"/>
              </a:solidFill>
            </a:endParaRPr>
          </a:p>
        </p:txBody>
      </p:sp>
      <p:sp>
        <p:nvSpPr>
          <p:cNvPr id="247" name="Text 245"/>
          <p:cNvSpPr/>
          <p:nvPr/>
        </p:nvSpPr>
        <p:spPr>
          <a:xfrm>
            <a:off x="5581209" y="2244818"/>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HH.E6.038</a:t>
            </a:r>
            <a:endParaRPr lang="en-US" sz="500" dirty="0">
              <a:solidFill>
                <a:srgbClr val="C9CDD1"/>
              </a:solidFill>
            </a:endParaRPr>
          </a:p>
        </p:txBody>
      </p:sp>
      <p:sp>
        <p:nvSpPr>
          <p:cNvPr id="248" name="Text 246"/>
          <p:cNvSpPr/>
          <p:nvPr/>
        </p:nvSpPr>
        <p:spPr>
          <a:xfrm>
            <a:off x="5806376" y="240419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HH.E6.037</a:t>
            </a:r>
            <a:endParaRPr lang="en-US" sz="500" dirty="0">
              <a:solidFill>
                <a:srgbClr val="C9CDD1"/>
              </a:solidFill>
            </a:endParaRPr>
          </a:p>
        </p:txBody>
      </p:sp>
      <p:sp>
        <p:nvSpPr>
          <p:cNvPr id="249" name="Text 247"/>
          <p:cNvSpPr/>
          <p:nvPr/>
        </p:nvSpPr>
        <p:spPr>
          <a:xfrm>
            <a:off x="6819255" y="313706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HH.E6.036</a:t>
            </a:r>
            <a:endParaRPr lang="en-US" sz="500" dirty="0">
              <a:solidFill>
                <a:srgbClr val="C9CDD1"/>
              </a:solidFill>
            </a:endParaRPr>
          </a:p>
        </p:txBody>
      </p:sp>
      <p:sp>
        <p:nvSpPr>
          <p:cNvPr id="250" name="Text 248"/>
          <p:cNvSpPr/>
          <p:nvPr/>
        </p:nvSpPr>
        <p:spPr>
          <a:xfrm>
            <a:off x="7785153" y="384831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HH.E6.035</a:t>
            </a:r>
            <a:endParaRPr lang="en-US" sz="500" dirty="0">
              <a:solidFill>
                <a:srgbClr val="C9CDD1"/>
              </a:solidFill>
            </a:endParaRPr>
          </a:p>
        </p:txBody>
      </p:sp>
      <p:sp>
        <p:nvSpPr>
          <p:cNvPr id="251" name="Text 249"/>
          <p:cNvSpPr/>
          <p:nvPr/>
        </p:nvSpPr>
        <p:spPr>
          <a:xfrm>
            <a:off x="2888185" y="7062800"/>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HH.E6.040</a:t>
            </a:r>
            <a:endParaRPr lang="en-US" sz="500" dirty="0">
              <a:solidFill>
                <a:srgbClr val="C9CDD1"/>
              </a:solidFill>
            </a:endParaRPr>
          </a:p>
        </p:txBody>
      </p:sp>
      <p:sp>
        <p:nvSpPr>
          <p:cNvPr id="252" name="Text 250"/>
          <p:cNvSpPr/>
          <p:nvPr/>
        </p:nvSpPr>
        <p:spPr>
          <a:xfrm>
            <a:off x="3627419" y="825770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HH.E6.041</a:t>
            </a:r>
            <a:endParaRPr lang="en-US" sz="500" dirty="0">
              <a:solidFill>
                <a:srgbClr val="C9CDD1"/>
              </a:solidFill>
            </a:endParaRPr>
          </a:p>
        </p:txBody>
      </p:sp>
      <p:sp>
        <p:nvSpPr>
          <p:cNvPr id="253" name="Text 251"/>
          <p:cNvSpPr/>
          <p:nvPr/>
        </p:nvSpPr>
        <p:spPr>
          <a:xfrm>
            <a:off x="4256409" y="979288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HH.E6.042</a:t>
            </a:r>
            <a:endParaRPr lang="en-US" sz="500" dirty="0">
              <a:solidFill>
                <a:srgbClr val="C9CDD1"/>
              </a:solidFill>
            </a:endParaRPr>
          </a:p>
        </p:txBody>
      </p:sp>
      <p:sp>
        <p:nvSpPr>
          <p:cNvPr id="254" name="Text 252"/>
          <p:cNvSpPr/>
          <p:nvPr/>
        </p:nvSpPr>
        <p:spPr>
          <a:xfrm>
            <a:off x="8254018" y="4188126"/>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HH.E6.034</a:t>
            </a:r>
            <a:endParaRPr lang="en-US" sz="500" dirty="0">
              <a:solidFill>
                <a:srgbClr val="C9CDD1"/>
              </a:solidFill>
            </a:endParaRPr>
          </a:p>
        </p:txBody>
      </p:sp>
      <p:sp>
        <p:nvSpPr>
          <p:cNvPr id="255" name="Text 253"/>
          <p:cNvSpPr/>
          <p:nvPr/>
        </p:nvSpPr>
        <p:spPr>
          <a:xfrm>
            <a:off x="9091423" y="463799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HH.E6.032</a:t>
            </a:r>
            <a:endParaRPr lang="en-US" sz="500" dirty="0">
              <a:solidFill>
                <a:srgbClr val="C9CDD1"/>
              </a:solidFill>
            </a:endParaRPr>
          </a:p>
        </p:txBody>
      </p:sp>
      <p:sp>
        <p:nvSpPr>
          <p:cNvPr id="256" name="Text 254"/>
          <p:cNvSpPr/>
          <p:nvPr/>
        </p:nvSpPr>
        <p:spPr>
          <a:xfrm>
            <a:off x="1760009" y="5851051"/>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HH.E6.039</a:t>
            </a:r>
            <a:endParaRPr lang="en-US" sz="500" dirty="0">
              <a:solidFill>
                <a:srgbClr val="C9CDD1"/>
              </a:solidFill>
            </a:endParaRPr>
          </a:p>
        </p:txBody>
      </p:sp>
      <p:sp>
        <p:nvSpPr>
          <p:cNvPr id="257" name="Text 255"/>
          <p:cNvSpPr/>
          <p:nvPr/>
        </p:nvSpPr>
        <p:spPr>
          <a:xfrm>
            <a:off x="3381663" y="150221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P6.009</a:t>
            </a:r>
            <a:endParaRPr lang="en-US" sz="500" dirty="0">
              <a:solidFill>
                <a:srgbClr val="C9CDD1"/>
              </a:solidFill>
            </a:endParaRPr>
          </a:p>
        </p:txBody>
      </p:sp>
      <p:sp>
        <p:nvSpPr>
          <p:cNvPr id="258" name="Text 256"/>
          <p:cNvSpPr/>
          <p:nvPr/>
        </p:nvSpPr>
        <p:spPr>
          <a:xfrm>
            <a:off x="947029" y="4530463"/>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P6.038</a:t>
            </a:r>
            <a:endParaRPr lang="en-US" sz="500" dirty="0">
              <a:solidFill>
                <a:srgbClr val="C9CDD1"/>
              </a:solidFill>
            </a:endParaRPr>
          </a:p>
        </p:txBody>
      </p:sp>
      <p:sp>
        <p:nvSpPr>
          <p:cNvPr id="259" name="Text 257"/>
          <p:cNvSpPr/>
          <p:nvPr/>
        </p:nvSpPr>
        <p:spPr>
          <a:xfrm>
            <a:off x="852040" y="5088889"/>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MH.E.024</a:t>
            </a:r>
            <a:endParaRPr lang="en-US" sz="500" dirty="0">
              <a:solidFill>
                <a:srgbClr val="C9CDD1"/>
              </a:solidFill>
            </a:endParaRPr>
          </a:p>
        </p:txBody>
      </p:sp>
      <p:sp>
        <p:nvSpPr>
          <p:cNvPr id="260" name="Text 258"/>
          <p:cNvSpPr/>
          <p:nvPr/>
        </p:nvSpPr>
        <p:spPr>
          <a:xfrm>
            <a:off x="4053140" y="1098767"/>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MH.E.014</a:t>
            </a:r>
            <a:endParaRPr lang="en-US" sz="500" dirty="0">
              <a:solidFill>
                <a:srgbClr val="C9CDD1"/>
              </a:solidFill>
            </a:endParaRPr>
          </a:p>
        </p:txBody>
      </p:sp>
      <p:sp>
        <p:nvSpPr>
          <p:cNvPr id="261" name="Text 259"/>
          <p:cNvSpPr/>
          <p:nvPr/>
        </p:nvSpPr>
        <p:spPr>
          <a:xfrm>
            <a:off x="4278588" y="235749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X_CV_STH_PITS &amp;.23918</a:t>
            </a:r>
            <a:endParaRPr lang="en-US" sz="500" dirty="0">
              <a:solidFill>
                <a:srgbClr val="C9CDD1"/>
              </a:solidFill>
            </a:endParaRPr>
          </a:p>
        </p:txBody>
      </p:sp>
      <p:sp>
        <p:nvSpPr>
          <p:cNvPr id="262" name="Text 260"/>
          <p:cNvSpPr/>
          <p:nvPr/>
        </p:nvSpPr>
        <p:spPr>
          <a:xfrm>
            <a:off x="1646115" y="669650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SGC102.02.017</a:t>
            </a:r>
            <a:endParaRPr lang="en-US" sz="500" dirty="0">
              <a:solidFill>
                <a:srgbClr val="C9CDD1"/>
              </a:solidFill>
            </a:endParaRPr>
          </a:p>
        </p:txBody>
      </p:sp>
      <p:sp>
        <p:nvSpPr>
          <p:cNvPr id="263" name="Text 261"/>
          <p:cNvSpPr/>
          <p:nvPr/>
        </p:nvSpPr>
        <p:spPr>
          <a:xfrm>
            <a:off x="5963038" y="2189415"/>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SGC102.02.016</a:t>
            </a:r>
            <a:endParaRPr lang="en-US" sz="500" dirty="0">
              <a:solidFill>
                <a:srgbClr val="C9CDD1"/>
              </a:solidFill>
            </a:endParaRPr>
          </a:p>
        </p:txBody>
      </p:sp>
      <p:sp>
        <p:nvSpPr>
          <p:cNvPr id="264" name="Text 262"/>
          <p:cNvSpPr/>
          <p:nvPr/>
        </p:nvSpPr>
        <p:spPr>
          <a:xfrm>
            <a:off x="9376392" y="6184684"/>
            <a:ext cx="1051560" cy="146304"/>
          </a:xfrm>
          <a:prstGeom prst="rect">
            <a:avLst/>
          </a:prstGeom>
          <a:noFill/>
          <a:ln/>
        </p:spPr>
        <p:txBody>
          <a:bodyPr wrap="square" lIns="0" tIns="0" rIns="0" bIns="0" rtlCol="0" anchor="ctr"/>
          <a:lstStyle/>
          <a:p>
            <a:pPr marL="0" indent="0">
              <a:buNone/>
            </a:pPr>
            <a:r>
              <a:rPr lang="en-US" sz="500" dirty="0">
                <a:solidFill>
                  <a:srgbClr val="C9CDD1"/>
                </a:solidFill>
                <a:latin typeface="Arial" pitchFamily="34" charset="0"/>
                <a:ea typeface="Arial" pitchFamily="34" charset="-122"/>
                <a:cs typeface="Arial" pitchFamily="34" charset="-120"/>
              </a:rPr>
              <a:t>TEC102.02.050</a:t>
            </a:r>
            <a:endParaRPr lang="en-US" sz="500" dirty="0">
              <a:solidFill>
                <a:srgbClr val="C9CDD1"/>
              </a:solidFill>
            </a:endParaRPr>
          </a:p>
        </p:txBody>
      </p:sp>
      <p:sp>
        <p:nvSpPr>
          <p:cNvPr id="265" name="Shape 263"/>
          <p:cNvSpPr/>
          <p:nvPr/>
        </p:nvSpPr>
        <p:spPr>
          <a:xfrm>
            <a:off x="4279360" y="3910525"/>
            <a:ext cx="210312" cy="210312"/>
          </a:xfrm>
          <a:prstGeom prst="ellipse">
            <a:avLst/>
          </a:prstGeom>
          <a:noFill/>
          <a:ln w="28575">
            <a:solidFill>
              <a:srgbClr val="0070C0">
                <a:alpha val="100000"/>
              </a:srgbClr>
            </a:solidFill>
            <a:prstDash val="solid"/>
          </a:ln>
        </p:spPr>
        <p:txBody>
          <a:bodyPr/>
          <a:lstStyle/>
          <a:p>
            <a:endParaRPr lang="en-US"/>
          </a:p>
        </p:txBody>
      </p:sp>
      <p:sp>
        <p:nvSpPr>
          <p:cNvPr id="266" name="Shape 264"/>
          <p:cNvSpPr/>
          <p:nvPr/>
        </p:nvSpPr>
        <p:spPr>
          <a:xfrm>
            <a:off x="4329652" y="3960817"/>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67" name="Text 265"/>
          <p:cNvSpPr/>
          <p:nvPr/>
        </p:nvSpPr>
        <p:spPr>
          <a:xfrm>
            <a:off x="4503388" y="379622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SBC102-02/024</a:t>
            </a:r>
            <a:endParaRPr lang="en-US" sz="650" dirty="0"/>
          </a:p>
        </p:txBody>
      </p:sp>
      <p:sp>
        <p:nvSpPr>
          <p:cNvPr id="268" name="Shape 266"/>
          <p:cNvSpPr/>
          <p:nvPr/>
        </p:nvSpPr>
        <p:spPr>
          <a:xfrm>
            <a:off x="4103606" y="4129610"/>
            <a:ext cx="210312" cy="210312"/>
          </a:xfrm>
          <a:prstGeom prst="ellipse">
            <a:avLst/>
          </a:prstGeom>
          <a:noFill/>
          <a:ln w="28575">
            <a:solidFill>
              <a:srgbClr val="0070C0">
                <a:alpha val="100000"/>
              </a:srgbClr>
            </a:solidFill>
            <a:prstDash val="solid"/>
          </a:ln>
        </p:spPr>
        <p:txBody>
          <a:bodyPr/>
          <a:lstStyle/>
          <a:p>
            <a:endParaRPr lang="en-US"/>
          </a:p>
        </p:txBody>
      </p:sp>
      <p:sp>
        <p:nvSpPr>
          <p:cNvPr id="269" name="Shape 267"/>
          <p:cNvSpPr/>
          <p:nvPr/>
        </p:nvSpPr>
        <p:spPr>
          <a:xfrm>
            <a:off x="4153898" y="417990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0" name="Text 268"/>
          <p:cNvSpPr/>
          <p:nvPr/>
        </p:nvSpPr>
        <p:spPr>
          <a:xfrm>
            <a:off x="4327634" y="401531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SBC102-01/027</a:t>
            </a:r>
            <a:endParaRPr lang="en-US" sz="650" dirty="0"/>
          </a:p>
        </p:txBody>
      </p:sp>
      <p:sp>
        <p:nvSpPr>
          <p:cNvPr id="271" name="Shape 269"/>
          <p:cNvSpPr/>
          <p:nvPr/>
        </p:nvSpPr>
        <p:spPr>
          <a:xfrm>
            <a:off x="3927758" y="4348600"/>
            <a:ext cx="210312" cy="210312"/>
          </a:xfrm>
          <a:prstGeom prst="ellipse">
            <a:avLst/>
          </a:prstGeom>
          <a:noFill/>
          <a:ln w="28575">
            <a:solidFill>
              <a:srgbClr val="0070C0">
                <a:alpha val="100000"/>
              </a:srgbClr>
            </a:solidFill>
            <a:prstDash val="solid"/>
          </a:ln>
        </p:spPr>
        <p:txBody>
          <a:bodyPr/>
          <a:lstStyle/>
          <a:p>
            <a:endParaRPr lang="en-US"/>
          </a:p>
        </p:txBody>
      </p:sp>
      <p:sp>
        <p:nvSpPr>
          <p:cNvPr id="272" name="Shape 270"/>
          <p:cNvSpPr/>
          <p:nvPr/>
        </p:nvSpPr>
        <p:spPr>
          <a:xfrm>
            <a:off x="3978050" y="439889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3" name="Text 271"/>
          <p:cNvSpPr/>
          <p:nvPr/>
        </p:nvSpPr>
        <p:spPr>
          <a:xfrm>
            <a:off x="4151786" y="423430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SBC102-02/025</a:t>
            </a:r>
            <a:endParaRPr lang="en-US" sz="650" dirty="0"/>
          </a:p>
        </p:txBody>
      </p:sp>
      <p:sp>
        <p:nvSpPr>
          <p:cNvPr id="274" name="Shape 272"/>
          <p:cNvSpPr/>
          <p:nvPr/>
        </p:nvSpPr>
        <p:spPr>
          <a:xfrm>
            <a:off x="3751911" y="4567591"/>
            <a:ext cx="210312" cy="210312"/>
          </a:xfrm>
          <a:prstGeom prst="ellipse">
            <a:avLst/>
          </a:prstGeom>
          <a:noFill/>
          <a:ln w="28575">
            <a:solidFill>
              <a:srgbClr val="0070C0">
                <a:alpha val="100000"/>
              </a:srgbClr>
            </a:solidFill>
            <a:prstDash val="solid"/>
          </a:ln>
        </p:spPr>
        <p:txBody>
          <a:bodyPr/>
          <a:lstStyle/>
          <a:p>
            <a:endParaRPr lang="en-US"/>
          </a:p>
        </p:txBody>
      </p:sp>
      <p:sp>
        <p:nvSpPr>
          <p:cNvPr id="275" name="Shape 273"/>
          <p:cNvSpPr/>
          <p:nvPr/>
        </p:nvSpPr>
        <p:spPr>
          <a:xfrm>
            <a:off x="3802203" y="4617883"/>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6" name="Text 274"/>
          <p:cNvSpPr/>
          <p:nvPr/>
        </p:nvSpPr>
        <p:spPr>
          <a:xfrm>
            <a:off x="3975939" y="44532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SBC102-01/028</a:t>
            </a:r>
            <a:endParaRPr lang="en-US" sz="650" dirty="0"/>
          </a:p>
        </p:txBody>
      </p:sp>
      <p:sp>
        <p:nvSpPr>
          <p:cNvPr id="277" name="Shape 275"/>
          <p:cNvSpPr/>
          <p:nvPr/>
        </p:nvSpPr>
        <p:spPr>
          <a:xfrm>
            <a:off x="3576157" y="4786582"/>
            <a:ext cx="210312" cy="210312"/>
          </a:xfrm>
          <a:prstGeom prst="ellipse">
            <a:avLst/>
          </a:prstGeom>
          <a:noFill/>
          <a:ln w="28575">
            <a:solidFill>
              <a:srgbClr val="0070C0">
                <a:alpha val="100000"/>
              </a:srgbClr>
            </a:solidFill>
            <a:prstDash val="solid"/>
          </a:ln>
        </p:spPr>
        <p:txBody>
          <a:bodyPr/>
          <a:lstStyle/>
          <a:p>
            <a:endParaRPr lang="en-US"/>
          </a:p>
        </p:txBody>
      </p:sp>
      <p:sp>
        <p:nvSpPr>
          <p:cNvPr id="278" name="Shape 276"/>
          <p:cNvSpPr/>
          <p:nvPr/>
        </p:nvSpPr>
        <p:spPr>
          <a:xfrm>
            <a:off x="3626449" y="4836874"/>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79" name="Text 277"/>
          <p:cNvSpPr/>
          <p:nvPr/>
        </p:nvSpPr>
        <p:spPr>
          <a:xfrm>
            <a:off x="3800185" y="467228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SBC102-02/026</a:t>
            </a:r>
            <a:endParaRPr lang="en-US" sz="650" dirty="0"/>
          </a:p>
        </p:txBody>
      </p:sp>
      <p:sp>
        <p:nvSpPr>
          <p:cNvPr id="280" name="Shape 278"/>
          <p:cNvSpPr/>
          <p:nvPr/>
        </p:nvSpPr>
        <p:spPr>
          <a:xfrm>
            <a:off x="3400309" y="5005572"/>
            <a:ext cx="210312" cy="210312"/>
          </a:xfrm>
          <a:prstGeom prst="ellipse">
            <a:avLst/>
          </a:prstGeom>
          <a:noFill/>
          <a:ln w="28575">
            <a:solidFill>
              <a:srgbClr val="0070C0">
                <a:alpha val="100000"/>
              </a:srgbClr>
            </a:solidFill>
            <a:prstDash val="solid"/>
          </a:ln>
        </p:spPr>
        <p:txBody>
          <a:bodyPr/>
          <a:lstStyle/>
          <a:p>
            <a:endParaRPr lang="en-US"/>
          </a:p>
        </p:txBody>
      </p:sp>
      <p:sp>
        <p:nvSpPr>
          <p:cNvPr id="281" name="Shape 279"/>
          <p:cNvSpPr/>
          <p:nvPr/>
        </p:nvSpPr>
        <p:spPr>
          <a:xfrm>
            <a:off x="3450601" y="5055864"/>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82" name="Text 280"/>
          <p:cNvSpPr/>
          <p:nvPr/>
        </p:nvSpPr>
        <p:spPr>
          <a:xfrm>
            <a:off x="3624337" y="4891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SBC102-01/029</a:t>
            </a:r>
            <a:endParaRPr lang="en-US" sz="650" dirty="0"/>
          </a:p>
        </p:txBody>
      </p:sp>
      <p:sp>
        <p:nvSpPr>
          <p:cNvPr id="283" name="Shape 281"/>
          <p:cNvSpPr/>
          <p:nvPr/>
        </p:nvSpPr>
        <p:spPr>
          <a:xfrm>
            <a:off x="4499193" y="5122929"/>
            <a:ext cx="210312" cy="210312"/>
          </a:xfrm>
          <a:prstGeom prst="ellipse">
            <a:avLst/>
          </a:prstGeom>
          <a:noFill/>
          <a:ln w="28575">
            <a:solidFill>
              <a:srgbClr val="0070C0">
                <a:alpha val="100000"/>
              </a:srgbClr>
            </a:solidFill>
            <a:prstDash val="solid"/>
          </a:ln>
        </p:spPr>
        <p:txBody>
          <a:bodyPr/>
          <a:lstStyle/>
          <a:p>
            <a:endParaRPr lang="en-US"/>
          </a:p>
        </p:txBody>
      </p:sp>
      <p:sp>
        <p:nvSpPr>
          <p:cNvPr id="284" name="Shape 282"/>
          <p:cNvSpPr/>
          <p:nvPr/>
        </p:nvSpPr>
        <p:spPr>
          <a:xfrm>
            <a:off x="4549485" y="5173221"/>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85" name="Text 283"/>
          <p:cNvSpPr/>
          <p:nvPr/>
        </p:nvSpPr>
        <p:spPr>
          <a:xfrm>
            <a:off x="4723221" y="500862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TCCECH-04/034</a:t>
            </a:r>
            <a:endParaRPr lang="en-US" sz="650" dirty="0"/>
          </a:p>
        </p:txBody>
      </p:sp>
      <p:sp>
        <p:nvSpPr>
          <p:cNvPr id="286" name="Shape 284"/>
          <p:cNvSpPr/>
          <p:nvPr/>
        </p:nvSpPr>
        <p:spPr>
          <a:xfrm>
            <a:off x="4958231" y="5653560"/>
            <a:ext cx="210312" cy="210312"/>
          </a:xfrm>
          <a:prstGeom prst="ellipse">
            <a:avLst/>
          </a:prstGeom>
          <a:noFill/>
          <a:ln w="28575">
            <a:solidFill>
              <a:srgbClr val="0070C0">
                <a:alpha val="100000"/>
              </a:srgbClr>
            </a:solidFill>
            <a:prstDash val="solid"/>
          </a:ln>
        </p:spPr>
        <p:txBody>
          <a:bodyPr/>
          <a:lstStyle/>
          <a:p>
            <a:endParaRPr lang="en-US"/>
          </a:p>
        </p:txBody>
      </p:sp>
      <p:sp>
        <p:nvSpPr>
          <p:cNvPr id="287" name="Shape 285"/>
          <p:cNvSpPr/>
          <p:nvPr/>
        </p:nvSpPr>
        <p:spPr>
          <a:xfrm>
            <a:off x="5008523" y="570385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88" name="Text 286"/>
          <p:cNvSpPr/>
          <p:nvPr/>
        </p:nvSpPr>
        <p:spPr>
          <a:xfrm>
            <a:off x="5182259" y="553926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TCCECH-03/036</a:t>
            </a:r>
            <a:endParaRPr lang="en-US" sz="650" dirty="0"/>
          </a:p>
        </p:txBody>
      </p:sp>
      <p:sp>
        <p:nvSpPr>
          <p:cNvPr id="289" name="Shape 287"/>
          <p:cNvSpPr/>
          <p:nvPr/>
        </p:nvSpPr>
        <p:spPr>
          <a:xfrm>
            <a:off x="5379461" y="6215449"/>
            <a:ext cx="210312" cy="210312"/>
          </a:xfrm>
          <a:prstGeom prst="ellipse">
            <a:avLst/>
          </a:prstGeom>
          <a:noFill/>
          <a:ln w="28575">
            <a:solidFill>
              <a:srgbClr val="0070C0">
                <a:alpha val="100000"/>
              </a:srgbClr>
            </a:solidFill>
            <a:prstDash val="solid"/>
          </a:ln>
        </p:spPr>
        <p:txBody>
          <a:bodyPr/>
          <a:lstStyle/>
          <a:p>
            <a:endParaRPr lang="en-US"/>
          </a:p>
        </p:txBody>
      </p:sp>
      <p:sp>
        <p:nvSpPr>
          <p:cNvPr id="290" name="Shape 288"/>
          <p:cNvSpPr/>
          <p:nvPr/>
        </p:nvSpPr>
        <p:spPr>
          <a:xfrm>
            <a:off x="5429753" y="6265741"/>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1" name="Text 289"/>
          <p:cNvSpPr/>
          <p:nvPr/>
        </p:nvSpPr>
        <p:spPr>
          <a:xfrm>
            <a:off x="5603489" y="610114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TCCECH-04/035</a:t>
            </a:r>
            <a:endParaRPr lang="en-US" sz="650" dirty="0"/>
          </a:p>
        </p:txBody>
      </p:sp>
      <p:sp>
        <p:nvSpPr>
          <p:cNvPr id="292" name="Shape 290"/>
          <p:cNvSpPr/>
          <p:nvPr/>
        </p:nvSpPr>
        <p:spPr>
          <a:xfrm>
            <a:off x="5759700" y="6804759"/>
            <a:ext cx="210312" cy="210312"/>
          </a:xfrm>
          <a:prstGeom prst="ellipse">
            <a:avLst/>
          </a:prstGeom>
          <a:noFill/>
          <a:ln w="28575">
            <a:solidFill>
              <a:srgbClr val="0070C0">
                <a:alpha val="100000"/>
              </a:srgbClr>
            </a:solidFill>
            <a:prstDash val="solid"/>
          </a:ln>
        </p:spPr>
        <p:txBody>
          <a:bodyPr/>
          <a:lstStyle/>
          <a:p>
            <a:endParaRPr lang="en-US"/>
          </a:p>
        </p:txBody>
      </p:sp>
      <p:sp>
        <p:nvSpPr>
          <p:cNvPr id="293" name="Shape 291"/>
          <p:cNvSpPr/>
          <p:nvPr/>
        </p:nvSpPr>
        <p:spPr>
          <a:xfrm>
            <a:off x="5809992" y="6855051"/>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4" name="Text 292"/>
          <p:cNvSpPr/>
          <p:nvPr/>
        </p:nvSpPr>
        <p:spPr>
          <a:xfrm>
            <a:off x="5983728" y="66904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TCCECH-03/037</a:t>
            </a:r>
            <a:endParaRPr lang="en-US" sz="650" dirty="0"/>
          </a:p>
        </p:txBody>
      </p:sp>
      <p:sp>
        <p:nvSpPr>
          <p:cNvPr id="295" name="Shape 293"/>
          <p:cNvSpPr/>
          <p:nvPr/>
        </p:nvSpPr>
        <p:spPr>
          <a:xfrm>
            <a:off x="6098574" y="7419991"/>
            <a:ext cx="210312" cy="210312"/>
          </a:xfrm>
          <a:prstGeom prst="ellipse">
            <a:avLst/>
          </a:prstGeom>
          <a:noFill/>
          <a:ln w="28575">
            <a:solidFill>
              <a:srgbClr val="0070C0">
                <a:alpha val="100000"/>
              </a:srgbClr>
            </a:solidFill>
            <a:prstDash val="solid"/>
          </a:ln>
        </p:spPr>
        <p:txBody>
          <a:bodyPr/>
          <a:lstStyle/>
          <a:p>
            <a:endParaRPr lang="en-US"/>
          </a:p>
        </p:txBody>
      </p:sp>
      <p:sp>
        <p:nvSpPr>
          <p:cNvPr id="296" name="Shape 294"/>
          <p:cNvSpPr/>
          <p:nvPr/>
        </p:nvSpPr>
        <p:spPr>
          <a:xfrm>
            <a:off x="6148866" y="7470283"/>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7" name="Text 295"/>
          <p:cNvSpPr/>
          <p:nvPr/>
        </p:nvSpPr>
        <p:spPr>
          <a:xfrm>
            <a:off x="6322602" y="73056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TCCECH-04/036</a:t>
            </a:r>
            <a:endParaRPr lang="en-US" sz="650" dirty="0"/>
          </a:p>
        </p:txBody>
      </p:sp>
      <p:sp>
        <p:nvSpPr>
          <p:cNvPr id="299" name="Shape 297"/>
          <p:cNvSpPr/>
          <p:nvPr/>
        </p:nvSpPr>
        <p:spPr>
          <a:xfrm>
            <a:off x="3280088" y="5273451"/>
            <a:ext cx="109728" cy="109728"/>
          </a:xfrm>
          <a:prstGeom prst="ellipse">
            <a:avLst/>
          </a:prstGeom>
          <a:solidFill>
            <a:srgbClr val="70AD47"/>
          </a:solidFill>
          <a:ln w="6350">
            <a:solidFill>
              <a:srgbClr val="9AA0A6"/>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300" name="Text 298"/>
          <p:cNvSpPr/>
          <p:nvPr/>
        </p:nvSpPr>
        <p:spPr>
          <a:xfrm>
            <a:off x="3453824" y="5108859"/>
            <a:ext cx="1143000" cy="164592"/>
          </a:xfrm>
          <a:prstGeom prst="rect">
            <a:avLst/>
          </a:prstGeom>
          <a:noFill/>
          <a:ln/>
        </p:spPr>
        <p:txBody>
          <a:bodyPr wrap="square" lIns="0" tIns="0" rIns="0" bIns="0" rtlCol="0" anchor="ctr"/>
          <a:lstStyle/>
          <a:p>
            <a:pPr marL="0" indent="0">
              <a:buNone/>
            </a:pPr>
            <a:r>
              <a:rPr lang="en-US" sz="650" b="1" dirty="0">
                <a:solidFill>
                  <a:srgbClr val="333333"/>
                </a:solidFill>
                <a:latin typeface="Arial" pitchFamily="34" charset="0"/>
                <a:ea typeface="Arial" pitchFamily="34" charset="-122"/>
                <a:cs typeface="Arial" pitchFamily="34" charset="-120"/>
              </a:rPr>
              <a:t>SBC102-02/027</a:t>
            </a:r>
            <a:endParaRPr lang="en-US" sz="650" dirty="0">
              <a:solidFill>
                <a:srgbClr val="333333"/>
              </a:solidFill>
            </a:endParaRPr>
          </a:p>
        </p:txBody>
      </p:sp>
      <p:sp>
        <p:nvSpPr>
          <p:cNvPr id="302" name="Shape 300"/>
          <p:cNvSpPr/>
          <p:nvPr/>
        </p:nvSpPr>
        <p:spPr>
          <a:xfrm>
            <a:off x="4051609" y="4677497"/>
            <a:ext cx="109728" cy="109728"/>
          </a:xfrm>
          <a:prstGeom prst="ellipse">
            <a:avLst/>
          </a:prstGeom>
          <a:solidFill>
            <a:srgbClr val="70AD47"/>
          </a:solidFill>
          <a:ln w="6350">
            <a:solidFill>
              <a:srgbClr val="9AA0A6">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303" name="Text 301"/>
          <p:cNvSpPr/>
          <p:nvPr/>
        </p:nvSpPr>
        <p:spPr>
          <a:xfrm>
            <a:off x="4225345" y="4512905"/>
            <a:ext cx="1143000" cy="164592"/>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TCCECH-03/035</a:t>
            </a:r>
            <a:endParaRPr lang="en-US" sz="650" dirty="0">
              <a:solidFill>
                <a:srgbClr val="C9CDD1"/>
              </a:solidFill>
            </a:endParaRPr>
          </a:p>
        </p:txBody>
      </p:sp>
      <p:sp>
        <p:nvSpPr>
          <p:cNvPr id="305" name="Shape 303"/>
          <p:cNvSpPr/>
          <p:nvPr/>
        </p:nvSpPr>
        <p:spPr>
          <a:xfrm>
            <a:off x="4096811" y="4671414"/>
            <a:ext cx="109728" cy="109728"/>
          </a:xfrm>
          <a:prstGeom prst="ellipse">
            <a:avLst/>
          </a:prstGeom>
          <a:solidFill>
            <a:srgbClr val="70AD47"/>
          </a:solidFill>
          <a:ln w="6350">
            <a:solidFill>
              <a:srgbClr val="9AA0A6">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306" name="Text 304"/>
          <p:cNvSpPr/>
          <p:nvPr/>
        </p:nvSpPr>
        <p:spPr>
          <a:xfrm>
            <a:off x="4270547" y="4506822"/>
            <a:ext cx="911712" cy="164592"/>
          </a:xfrm>
          <a:prstGeom prst="rect">
            <a:avLst/>
          </a:prstGeom>
          <a:noFill/>
          <a:ln/>
        </p:spPr>
        <p:txBody>
          <a:bodyPr wrap="square" lIns="0" tIns="0" rIns="0" bIns="0" rtlCol="0" anchor="ctr"/>
          <a:lstStyle/>
          <a:p>
            <a:pPr marL="0" indent="0">
              <a:buNone/>
            </a:pPr>
            <a:r>
              <a:rPr lang="en-US" sz="650" b="1" dirty="0">
                <a:solidFill>
                  <a:srgbClr val="C9CDD1"/>
                </a:solidFill>
                <a:latin typeface="Arial" pitchFamily="34" charset="0"/>
                <a:ea typeface="Arial" pitchFamily="34" charset="-122"/>
                <a:cs typeface="Arial" pitchFamily="34" charset="-120"/>
              </a:rPr>
              <a:t>TCCECH-03/018</a:t>
            </a:r>
            <a:endParaRPr lang="en-US" sz="650" dirty="0">
              <a:solidFill>
                <a:srgbClr val="C9CDD1"/>
              </a:solidFill>
            </a:endParaRPr>
          </a:p>
        </p:txBody>
      </p:sp>
      <p:sp>
        <p:nvSpPr>
          <p:cNvPr id="308" name="Text 306"/>
          <p:cNvSpPr/>
          <p:nvPr/>
        </p:nvSpPr>
        <p:spPr>
          <a:xfrm>
            <a:off x="4679236" y="3577235"/>
            <a:ext cx="1143000" cy="164592"/>
          </a:xfrm>
          <a:prstGeom prst="rect">
            <a:avLst/>
          </a:prstGeom>
          <a:noFill/>
          <a:ln/>
        </p:spPr>
        <p:txBody>
          <a:bodyPr wrap="square" lIns="0" tIns="0" rIns="0" bIns="0" rtlCol="0" anchor="ctr"/>
          <a:lstStyle/>
          <a:p>
            <a:pPr marL="0" indent="0">
              <a:buNone/>
            </a:pPr>
            <a:r>
              <a:rPr lang="en-US" sz="650" b="1" dirty="0">
                <a:solidFill>
                  <a:srgbClr val="333333"/>
                </a:solidFill>
                <a:latin typeface="Arial" pitchFamily="34" charset="0"/>
                <a:ea typeface="Arial" pitchFamily="34" charset="-122"/>
                <a:cs typeface="Arial" pitchFamily="34" charset="-120"/>
              </a:rPr>
              <a:t>SBC102-01/026</a:t>
            </a:r>
            <a:endParaRPr lang="en-US" sz="650" dirty="0">
              <a:solidFill>
                <a:srgbClr val="333333"/>
              </a:solidFill>
            </a:endParaRPr>
          </a:p>
        </p:txBody>
      </p:sp>
      <p:sp>
        <p:nvSpPr>
          <p:cNvPr id="309" name="Shape 307"/>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10" name="Text 308"/>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1 — 1001  ·  REV P08 (FINAL SCOPE)</a:t>
            </a:r>
            <a:endParaRPr lang="en-US" sz="1250" dirty="0"/>
          </a:p>
        </p:txBody>
      </p:sp>
      <p:sp>
        <p:nvSpPr>
          <p:cNvPr id="311" name="Text 309"/>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Rev P06/P07 quantities) — FIELD CONDITION GOVERNS</a:t>
            </a:r>
            <a:endParaRPr lang="en-US" sz="800" dirty="0"/>
          </a:p>
        </p:txBody>
      </p:sp>
      <p:sp>
        <p:nvSpPr>
          <p:cNvPr id="312" name="Text 310"/>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p>
        </p:txBody>
      </p:sp>
      <p:sp>
        <p:nvSpPr>
          <p:cNvPr id="313" name="Shape 311"/>
          <p:cNvSpPr/>
          <p:nvPr/>
        </p:nvSpPr>
        <p:spPr>
          <a:xfrm>
            <a:off x="10104120" y="2057400"/>
            <a:ext cx="4709160" cy="2502713"/>
          </a:xfrm>
          <a:prstGeom prst="rect">
            <a:avLst/>
          </a:prstGeom>
          <a:solidFill>
            <a:srgbClr val="F4F6F8"/>
          </a:solidFill>
          <a:ln w="9525">
            <a:solidFill>
              <a:srgbClr val="D5DAE0"/>
            </a:solidFill>
            <a:prstDash val="solid"/>
          </a:ln>
        </p:spPr>
        <p:txBody>
          <a:bodyPr/>
          <a:lstStyle/>
          <a:p>
            <a:endParaRPr lang="en-US"/>
          </a:p>
        </p:txBody>
      </p:sp>
      <p:sp>
        <p:nvSpPr>
          <p:cNvPr id="314" name="Text 312"/>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15" name="Text 313"/>
          <p:cNvSpPr/>
          <p:nvPr/>
        </p:nvSpPr>
        <p:spPr>
          <a:xfrm>
            <a:off x="10241280" y="2386584"/>
            <a:ext cx="4434840" cy="2305609"/>
          </a:xfrm>
          <a:prstGeom prst="rect">
            <a:avLst/>
          </a:prstGeom>
          <a:noFill/>
          <a:ln/>
        </p:spPr>
        <p:txBody>
          <a:bodyPr wrap="square" lIns="0" tIns="0" rIns="0" bIns="0" rtlCol="0" anchor="t"/>
          <a:lstStyle/>
          <a:p>
            <a:pPr marL="0" indent="0">
              <a:lnSpc>
                <a:spcPct val="112000"/>
              </a:lnSpc>
              <a:buNone/>
            </a:pPr>
            <a:r>
              <a:rPr sz="720">
                <a:solidFill>
                  <a:srgbClr val="1F2937"/>
                </a:solidFill>
                <a:latin typeface="Arial"/>
              </a:rPr>
              <a:t>FINAL SCOPE (REV P08) — 11 FITTINGS AFFECTED, ALL ROUTES SAW CUT</a:t>
            </a:r>
            <a:endParaRPr lang="en-US" sz="760" dirty="0"/>
          </a:p>
          <a:p>
            <a:r>
              <a:rPr sz="720">
                <a:solidFill>
                  <a:srgbClr val="1F2937"/>
                </a:solidFill>
                <a:latin typeface="Arial"/>
              </a:rPr>
              <a:t>CORE OUT 3 No. 12" + 6 No. 8" (9 No. cored); 2 No. 12" bases REMOVED PRIOR — INSTALL 11 No. 8" SIDE-ENTRY SHALLOW BASE + NEW CABLE.</a:t>
            </a:r>
          </a:p>
          <a:p>
            <a:r>
              <a:rPr sz="720">
                <a:solidFill>
                  <a:srgbClr val="1F2937"/>
                </a:solidFill>
                <a:latin typeface="Arial"/>
              </a:rPr>
              <a:t>   • SBC (6): SBC102-02/024, 01/027, 02/025, 01/028, 02/026, 01/029</a:t>
            </a:r>
          </a:p>
          <a:p>
            <a:r>
              <a:rPr sz="720">
                <a:solidFill>
                  <a:srgbClr val="1F2937"/>
                </a:solidFill>
                <a:latin typeface="Arial"/>
              </a:rPr>
              <a:t>   • TCC (5): TCCECH-04/034, 03/036, 04/035, 03/037, 04/036</a:t>
            </a:r>
          </a:p>
          <a:p>
            <a:r>
              <a:rPr sz="720">
                <a:solidFill>
                  <a:srgbClr val="1F2937"/>
                </a:solidFill>
                <a:latin typeface="Arial"/>
              </a:rPr>
              <a:t>ROUTE: SAW CUT throughout — all Rev P06/P07 VIA DUCT routes change to saw cut secondary cable laying at P08.</a:t>
            </a:r>
          </a:p>
          <a:p>
            <a:r>
              <a:rPr sz="720">
                <a:solidFill>
                  <a:srgbClr val="1F2937"/>
                </a:solidFill>
                <a:latin typeface="Arial"/>
              </a:rPr>
              <a:t>   Saw cut detail per sheet SAW CUT &amp; SIDE-ENTRY SHALLOW BASE DETAIL — detail drawing to be issued.</a:t>
            </a:r>
          </a:p>
          <a:p>
            <a:r>
              <a:rPr sz="720">
                <a:solidFill>
                  <a:srgbClr val="1F2937"/>
                </a:solidFill>
                <a:latin typeface="Arial"/>
              </a:rPr>
              <a:t>REMOVED FROM SCOPE AT REV P08 — no works: SBC102-02/027, TCCECH-03/035, TCCECH-03/018</a:t>
            </a:r>
          </a:p>
          <a:p>
            <a:r>
              <a:rPr sz="720">
                <a:solidFill>
                  <a:srgbClr val="1F2937"/>
                </a:solidFill>
                <a:latin typeface="Arial"/>
              </a:rPr>
              <a:t>FIELD VERIFIED NOT AFFECTED: SBC102-01/026 (no works)</a:t>
            </a:r>
          </a:p>
          <a:p>
            <a:r>
              <a:rPr sz="720">
                <a:solidFill>
                  <a:srgbClr val="1F2937"/>
                </a:solidFill>
                <a:latin typeface="Arial"/>
              </a:rPr>
              <a:t>TCC103 FITTINGS NOT IN FIELD SCOPE — SHOWN AS EXISTING ONLY</a:t>
            </a:r>
          </a:p>
          <a:p>
            <a:r>
              <a:rPr sz="720">
                <a:solidFill>
                  <a:srgbClr val="1F2937"/>
                </a:solidFill>
                <a:latin typeface="Arial"/>
              </a:rPr>
              <a:t>ISOLATE CIRCUITS: SBC102.01/.02, TCCECH.03/.04</a:t>
            </a:r>
          </a:p>
          <a:p>
            <a:r>
              <a:rPr sz="720">
                <a:solidFill>
                  <a:srgbClr val="1F2937"/>
                </a:solidFill>
                <a:latin typeface="Arial"/>
              </a:rPr>
              <a:t>SITE RECORD 23.07.2026: 9 cored + 2 removals worked. 30.07.2026: PREPARING INSTALLATION — ALL 11 NEW BASES 8".</a:t>
            </a:r>
          </a:p>
          <a:p>
            <a:r>
              <a:rPr sz="720">
                <a:solidFill>
                  <a:srgbClr val="1F2937"/>
                </a:solidFill>
                <a:latin typeface="Arial"/>
              </a:rPr>
              <a:t>REV P08 SUPERSEDES the Rev P06/P07 quantities. SUPERSEDED = no works; NOT a field verification that the asset is unaffected.</a:t>
            </a:r>
          </a:p>
          <a:p>
            <a:r>
              <a:rPr sz="720">
                <a:solidFill>
                  <a:srgbClr val="1F2937"/>
                </a:solidFill>
                <a:latin typeface="Arial"/>
              </a:rPr>
              <a:t>RED AGL WORKS AREA = Rev P05 field-condition milling extent, UNCHANGED at P08 — the civil milling limit, not a hull of the affected assets.</a:t>
            </a:r>
          </a:p>
        </p:txBody>
      </p:sp>
      <p:sp>
        <p:nvSpPr>
          <p:cNvPr id="316" name="Shape 314"/>
          <p:cNvSpPr/>
          <p:nvPr/>
        </p:nvSpPr>
        <p:spPr>
          <a:xfrm>
            <a:off x="10104120" y="4669841"/>
            <a:ext cx="4709160" cy="2267712"/>
          </a:xfrm>
          <a:prstGeom prst="rect">
            <a:avLst/>
          </a:prstGeom>
          <a:solidFill>
            <a:srgbClr val="FFFFFF"/>
          </a:solidFill>
          <a:ln w="9525">
            <a:solidFill>
              <a:srgbClr val="D5DAE0"/>
            </a:solidFill>
            <a:prstDash val="solid"/>
          </a:ln>
        </p:spPr>
        <p:txBody>
          <a:bodyPr/>
          <a:lstStyle/>
          <a:p>
            <a:endParaRPr lang="en-US"/>
          </a:p>
        </p:txBody>
      </p:sp>
      <p:sp>
        <p:nvSpPr>
          <p:cNvPr id="317" name="Text 315"/>
          <p:cNvSpPr/>
          <p:nvPr/>
        </p:nvSpPr>
        <p:spPr>
          <a:xfrm>
            <a:off x="10241280" y="4742993"/>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8" name="Text 316"/>
          <p:cNvSpPr/>
          <p:nvPr/>
        </p:nvSpPr>
        <p:spPr>
          <a:xfrm>
            <a:off x="10241280" y="4999025"/>
            <a:ext cx="4434840" cy="1883664"/>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 NOT UTM 40N. The Rev P06 "EPSG:32640" label was wrong; no surveyed local-to-UTM transform exists. Do not issue a UTM coordinate from this sheet.</a:t>
            </a:r>
            <a:endParaRPr lang="en-US" sz="680" dirty="0"/>
          </a:p>
          <a:p>
            <a:r>
              <a:rPr sz="700">
                <a:solidFill>
                  <a:srgbClr val="5F6368"/>
                </a:solidFill>
                <a:latin typeface="Arial"/>
              </a:rPr>
              <a:t>2. AGL works area (red) per field condition — the Rev P05 milling extent, UNCHANGED at Rev P08. Coring at P08: LOC-01 3 No. 12" + 6 No. 8" cored, 11 No. 8" side-entry bases installed; LOC-02 12" at TCCECH-03/008; LOC-03 12" at TCCECH-03/003 only — balance 3 No. TCC secondary cable only.</a:t>
            </a:r>
          </a:p>
          <a:p>
            <a:r>
              <a:rPr sz="700">
                <a:solidFill>
                  <a:srgbClr val="5F6368"/>
                </a:solidFill>
                <a:latin typeface="Arial"/>
              </a:rPr>
              <a:t>3. Duct / ductbank / conduit / sawcut lines are REAL as-built geometry from ADA drawing Z1-Z2-Z3-MTA_SEGMENTATION.dxf — not light-to-nearest-pit construction lines. Layer name carries size and way-count; see sheet 6.</a:t>
            </a:r>
          </a:p>
          <a:p>
            <a:r>
              <a:rPr sz="700">
                <a:solidFill>
                  <a:srgbClr val="5F6368"/>
                </a:solidFill>
                <a:latin typeface="Arial"/>
              </a:rPr>
              <a:t>4. Ducts are drawn as the separate segments they are in the source. Continuity NOT proven — do not take a continuous pull length off this sheet.</a:t>
            </a:r>
          </a:p>
          <a:p>
            <a:r>
              <a:rPr sz="700">
                <a:solidFill>
                  <a:srgbClr val="5F6368"/>
                </a:solidFill>
                <a:latin typeface="Arial"/>
              </a:rPr>
              <a:t>5. Isolate, lock out &amp; prove dead all listed circuits at CCR under permit before cutting, coring or excavation.</a:t>
            </a:r>
          </a:p>
          <a:p>
            <a:r>
              <a:rPr sz="700">
                <a:solidFill>
                  <a:srgbClr val="5F6368"/>
                </a:solidFill>
                <a:latin typeface="Arial"/>
              </a:rPr>
              <a:t>6. HH / MH / transformer-pit / RRM symbols sit ~2.1-2.3 m off the source insertion point (sheet 6) — set out civil features from survey.</a:t>
            </a:r>
          </a:p>
          <a:p>
            <a:r>
              <a:rPr sz="700">
                <a:solidFill>
                  <a:srgbClr val="5F6368"/>
                </a:solidFill>
                <a:latin typeface="Arial"/>
              </a:rPr>
              <a:t>7. Centerline &amp; stop bar from as-built TCC / SBC fittings. Edge indicative 23 m — confirm on site.</a:t>
            </a:r>
          </a:p>
          <a:p>
            <a:r>
              <a:rPr sz="700">
                <a:solidFill>
                  <a:srgbClr val="5F6368"/>
                </a:solidFill>
                <a:latin typeface="Arial"/>
              </a:rPr>
              <a:t>8. Every asset in frame carries its own as-built symbol, legended right. Type comes from the source layer, not the label. Assets with a works-action marker keep that marker.</a:t>
            </a:r>
          </a:p>
        </p:txBody>
      </p:sp>
      <p:sp>
        <p:nvSpPr>
          <p:cNvPr id="319" name="Shape 317"/>
          <p:cNvSpPr/>
          <p:nvPr/>
        </p:nvSpPr>
        <p:spPr>
          <a:xfrm>
            <a:off x="10104120" y="6945589"/>
            <a:ext cx="4709160" cy="3641357"/>
          </a:xfrm>
          <a:prstGeom prst="rect">
            <a:avLst/>
          </a:prstGeom>
          <a:solidFill>
            <a:srgbClr val="F4F6F8"/>
          </a:solidFill>
          <a:ln w="9525">
            <a:solidFill>
              <a:srgbClr val="D5DAE0"/>
            </a:solidFill>
            <a:prstDash val="solid"/>
          </a:ln>
        </p:spPr>
        <p:txBody>
          <a:bodyPr/>
          <a:lstStyle/>
          <a:p>
            <a:endParaRPr lang="en-US"/>
          </a:p>
        </p:txBody>
      </p:sp>
      <p:sp>
        <p:nvSpPr>
          <p:cNvPr id="320" name="Text 318"/>
          <p:cNvSpPr/>
          <p:nvPr/>
        </p:nvSpPr>
        <p:spPr>
          <a:xfrm>
            <a:off x="10241280" y="7120433"/>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21" name="Shape 319"/>
          <p:cNvSpPr/>
          <p:nvPr/>
        </p:nvSpPr>
        <p:spPr>
          <a:xfrm>
            <a:off x="10241280" y="7621270"/>
            <a:ext cx="192024" cy="192024"/>
          </a:xfrm>
          <a:prstGeom prst="ellipse">
            <a:avLst/>
          </a:prstGeom>
          <a:noFill/>
          <a:ln w="28575">
            <a:solidFill>
              <a:srgbClr val="CC0000"/>
            </a:solidFill>
            <a:prstDash val="solid"/>
          </a:ln>
        </p:spPr>
        <p:txBody>
          <a:bodyPr/>
          <a:lstStyle/>
          <a:p>
            <a:endParaRPr lang="en-US"/>
          </a:p>
        </p:txBody>
      </p:sp>
      <p:sp>
        <p:nvSpPr>
          <p:cNvPr id="322" name="Shape 320"/>
          <p:cNvSpPr/>
          <p:nvPr/>
        </p:nvSpPr>
        <p:spPr>
          <a:xfrm>
            <a:off x="10287000" y="7666990"/>
            <a:ext cx="100584" cy="100584"/>
          </a:xfrm>
          <a:prstGeom prst="ellipse">
            <a:avLst/>
          </a:prstGeom>
          <a:solidFill>
            <a:srgbClr val="E8710A"/>
          </a:solidFill>
          <a:ln w="6350">
            <a:solidFill>
              <a:srgbClr val="E8710A"/>
            </a:solidFill>
            <a:prstDash val="solid"/>
          </a:ln>
        </p:spPr>
        <p:txBody>
          <a:bodyPr/>
          <a:lstStyle/>
          <a:p>
            <a:endParaRPr lang="en-US"/>
          </a:p>
        </p:txBody>
      </p:sp>
      <p:sp>
        <p:nvSpPr>
          <p:cNvPr id="323" name="Text 321"/>
          <p:cNvSpPr/>
          <p:nvPr/>
        </p:nvSpPr>
        <p:spPr>
          <a:xfrm>
            <a:off x="10552176" y="7607300"/>
            <a:ext cx="1876524" cy="237744"/>
          </a:xfrm>
          <a:prstGeom prst="rect">
            <a:avLst/>
          </a:prstGeom>
          <a:noFill/>
          <a:ln/>
        </p:spPr>
        <p:txBody>
          <a:bodyPr wrap="square" lIns="0" tIns="0" rIns="0" bIns="0" rtlCol="0" anchor="ctr"/>
          <a:lstStyle/>
          <a:p>
            <a:pPr marL="0" indent="0">
              <a:buNone/>
            </a:pPr>
            <a:r>
              <a:rPr sz="700" dirty="0">
                <a:solidFill>
                  <a:srgbClr val="1F2937"/>
                </a:solidFill>
                <a:latin typeface="Arial"/>
              </a:rPr>
              <a:t>CORE OUT 12" — NEW 8" SIDE-ENTRY BASE (SAWCUT)</a:t>
            </a:r>
            <a:endParaRPr lang="en-US" sz="740" dirty="0"/>
          </a:p>
        </p:txBody>
      </p:sp>
      <p:sp>
        <p:nvSpPr>
          <p:cNvPr id="326" name="Text 324"/>
          <p:cNvSpPr/>
          <p:nvPr/>
        </p:nvSpPr>
        <p:spPr>
          <a:xfrm>
            <a:off x="10552176" y="8155940"/>
            <a:ext cx="1876524" cy="237744"/>
          </a:xfrm>
          <a:prstGeom prst="rect">
            <a:avLst/>
          </a:prstGeom>
          <a:noFill/>
          <a:ln/>
        </p:spPr>
        <p:txBody>
          <a:bodyPr wrap="square" lIns="0" tIns="0" rIns="0" bIns="0" rtlCol="0" anchor="ctr"/>
          <a:lstStyle/>
          <a:p>
            <a:pPr marL="0" indent="0">
              <a:buNone/>
            </a:pPr>
            <a:r>
              <a:rPr lang="en-US" sz="740" dirty="0"/>
              <a:t>ONLY SECONDARY CABLE AFFECTED (SAWCUT)</a:t>
            </a:r>
          </a:p>
        </p:txBody>
      </p:sp>
      <p:sp>
        <p:nvSpPr>
          <p:cNvPr id="337" name="Shape 335"/>
          <p:cNvSpPr/>
          <p:nvPr/>
        </p:nvSpPr>
        <p:spPr>
          <a:xfrm>
            <a:off x="10241280" y="9088120"/>
            <a:ext cx="274320" cy="914"/>
          </a:xfrm>
          <a:prstGeom prst="line">
            <a:avLst/>
          </a:prstGeom>
          <a:noFill/>
          <a:ln w="22225">
            <a:solidFill>
              <a:srgbClr val="0B3D91"/>
            </a:solidFill>
            <a:prstDash val="solid"/>
          </a:ln>
        </p:spPr>
        <p:txBody>
          <a:bodyPr/>
          <a:lstStyle/>
          <a:p>
            <a:endParaRPr lang="en-US"/>
          </a:p>
        </p:txBody>
      </p:sp>
      <p:sp>
        <p:nvSpPr>
          <p:cNvPr id="338" name="Text 336"/>
          <p:cNvSpPr/>
          <p:nvPr/>
        </p:nvSpPr>
        <p:spPr>
          <a:xfrm>
            <a:off x="10588752" y="897890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SECONDARY CABLE — SAW CUT ROUTE (REV P08)</a:t>
            </a:r>
            <a:endParaRPr lang="en-US" sz="740" dirty="0"/>
          </a:p>
        </p:txBody>
      </p:sp>
      <p:sp>
        <p:nvSpPr>
          <p:cNvPr id="341" name="Shape 339"/>
          <p:cNvSpPr/>
          <p:nvPr/>
        </p:nvSpPr>
        <p:spPr>
          <a:xfrm>
            <a:off x="10241280" y="9636760"/>
            <a:ext cx="274320" cy="914"/>
          </a:xfrm>
          <a:prstGeom prst="line">
            <a:avLst/>
          </a:prstGeom>
          <a:noFill/>
          <a:ln w="31750">
            <a:solidFill>
              <a:srgbClr val="CC0000"/>
            </a:solidFill>
            <a:prstDash val="solid"/>
          </a:ln>
        </p:spPr>
        <p:txBody>
          <a:bodyPr/>
          <a:lstStyle/>
          <a:p>
            <a:endParaRPr lang="en-US"/>
          </a:p>
        </p:txBody>
      </p:sp>
      <p:sp>
        <p:nvSpPr>
          <p:cNvPr id="342" name="Text 340"/>
          <p:cNvSpPr/>
          <p:nvPr/>
        </p:nvSpPr>
        <p:spPr>
          <a:xfrm>
            <a:off x="10588752" y="952754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432" name="TextBox 431"/>
          <p:cNvSpPr txBox="1"/>
          <p:nvPr/>
        </p:nvSpPr>
        <p:spPr>
          <a:xfrm>
            <a:off x="10241280" y="7377281"/>
            <a:ext cx="2187420" cy="200000"/>
          </a:xfrm>
          <a:prstGeom prst="rect">
            <a:avLst/>
          </a:prstGeom>
          <a:noFill/>
        </p:spPr>
        <p:txBody>
          <a:bodyPr wrap="square" lIns="0" tIns="0" rIns="0" bIns="0">
            <a:spAutoFit/>
          </a:bodyPr>
          <a:lstStyle/>
          <a:p>
            <a:r>
              <a:rPr sz="750" b="1">
                <a:solidFill>
                  <a:srgbClr val="5F6368"/>
                </a:solidFill>
              </a:rPr>
              <a:t>WORKS ACTIONS &amp; LINEWORK</a:t>
            </a:r>
          </a:p>
        </p:txBody>
      </p:sp>
      <p:sp>
        <p:nvSpPr>
          <p:cNvPr id="440" name="ASBUILT ASSET · Runway guard light / RRM"/>
          <p:cNvSpPr/>
          <p:nvPr/>
        </p:nvSpPr>
        <p:spPr>
          <a:xfrm>
            <a:off x="12548408" y="7716308"/>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TextBox 440"/>
          <p:cNvSpPr txBox="1"/>
          <p:nvPr/>
        </p:nvSpPr>
        <p:spPr>
          <a:xfrm>
            <a:off x="12738700" y="7651600"/>
            <a:ext cx="1937420" cy="230000"/>
          </a:xfrm>
          <a:prstGeom prst="rect">
            <a:avLst/>
          </a:prstGeom>
          <a:noFill/>
        </p:spPr>
        <p:txBody>
          <a:bodyPr wrap="square" lIns="0" tIns="0" rIns="0" bIns="0">
            <a:spAutoFit/>
          </a:bodyPr>
          <a:lstStyle/>
          <a:p>
            <a:r>
              <a:rPr sz="700">
                <a:solidFill>
                  <a:srgbClr val="20242A"/>
                </a:solidFill>
              </a:rPr>
              <a:t>RUNWAY GUARD LIGHT / RRM  (6)</a:t>
            </a:r>
          </a:p>
        </p:txBody>
      </p:sp>
      <p:sp>
        <p:nvSpPr>
          <p:cNvPr id="444" name="ASBUILT ASSET · Handhole"/>
          <p:cNvSpPr/>
          <p:nvPr/>
        </p:nvSpPr>
        <p:spPr>
          <a:xfrm>
            <a:off x="12534692" y="7976912"/>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TextBox 444"/>
          <p:cNvSpPr txBox="1"/>
          <p:nvPr/>
        </p:nvSpPr>
        <p:spPr>
          <a:xfrm>
            <a:off x="12738700" y="7925920"/>
            <a:ext cx="1937420" cy="230000"/>
          </a:xfrm>
          <a:prstGeom prst="rect">
            <a:avLst/>
          </a:prstGeom>
          <a:noFill/>
        </p:spPr>
        <p:txBody>
          <a:bodyPr wrap="square" lIns="0" tIns="0" rIns="0" bIns="0">
            <a:spAutoFit/>
          </a:bodyPr>
          <a:lstStyle/>
          <a:p>
            <a:r>
              <a:rPr sz="700">
                <a:solidFill>
                  <a:srgbClr val="20242A"/>
                </a:solidFill>
              </a:rPr>
              <a:t>HANDHOLE (HH)  (11)</a:t>
            </a:r>
          </a:p>
        </p:txBody>
      </p:sp>
      <p:sp>
        <p:nvSpPr>
          <p:cNvPr id="446" name="ASBUILT ASSET · Existing transformer handhole"/>
          <p:cNvSpPr/>
          <p:nvPr/>
        </p:nvSpPr>
        <p:spPr>
          <a:xfrm>
            <a:off x="12525548" y="8242088"/>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TextBox 446"/>
          <p:cNvSpPr txBox="1"/>
          <p:nvPr/>
        </p:nvSpPr>
        <p:spPr>
          <a:xfrm>
            <a:off x="12738700" y="8200240"/>
            <a:ext cx="1937420" cy="230000"/>
          </a:xfrm>
          <a:prstGeom prst="rect">
            <a:avLst/>
          </a:prstGeom>
          <a:noFill/>
        </p:spPr>
        <p:txBody>
          <a:bodyPr wrap="square" lIns="0" tIns="0" rIns="0" bIns="0">
            <a:spAutoFit/>
          </a:bodyPr>
          <a:lstStyle/>
          <a:p>
            <a:r>
              <a:rPr sz="700">
                <a:solidFill>
                  <a:srgbClr val="20242A"/>
                </a:solidFill>
              </a:rPr>
              <a:t>TRANSFORMER HH (SEC. FEED HUB)  (5)</a:t>
            </a:r>
          </a:p>
        </p:txBody>
      </p:sp>
      <p:sp>
        <p:nvSpPr>
          <p:cNvPr id="167" name="ASBUILT ASSET · Taxiway centreline light">
            <a:extLst>
              <a:ext uri="{FF2B5EF4-FFF2-40B4-BE49-F238E27FC236}">
                <a16:creationId xmlns:a16="http://schemas.microsoft.com/office/drawing/2014/main" id="{B81055BA-0682-4A6A-5083-B7F6714053A7}"/>
              </a:ext>
            </a:extLst>
          </p:cNvPr>
          <p:cNvSpPr/>
          <p:nvPr/>
        </p:nvSpPr>
        <p:spPr>
          <a:xfrm>
            <a:off x="4672170" y="5063139"/>
            <a:ext cx="91440" cy="91440"/>
          </a:xfrm>
          <a:prstGeom prst="ellipse">
            <a:avLst/>
          </a:prstGeom>
          <a:solidFill>
            <a:srgbClr val="5B9BD5">
              <a:lumMod val="50000"/>
              <a:alpha val="30000"/>
              <a:alpha val="20000"/>
              <a:alpha val="20000"/>
              <a:alpha val="100000"/>
              <a:alpha val="100000"/>
            </a:srgbClr>
          </a:solidFill>
          <a:ln w="6350">
            <a:solidFill>
              <a:srgbClr val="9AA0A6">
                <a:alpha val="30000"/>
                <a:alpha val="20000"/>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171" name="ASBUILT ASSET · Taxiway centreline light">
            <a:extLst>
              <a:ext uri="{FF2B5EF4-FFF2-40B4-BE49-F238E27FC236}">
                <a16:creationId xmlns:a16="http://schemas.microsoft.com/office/drawing/2014/main" id="{B8018824-6A6A-CC50-D0B8-CB12FCBCBCAD}"/>
              </a:ext>
            </a:extLst>
          </p:cNvPr>
          <p:cNvSpPr/>
          <p:nvPr/>
        </p:nvSpPr>
        <p:spPr>
          <a:xfrm>
            <a:off x="7355859" y="7294034"/>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173" name="Shape 297">
            <a:extLst>
              <a:ext uri="{FF2B5EF4-FFF2-40B4-BE49-F238E27FC236}">
                <a16:creationId xmlns:a16="http://schemas.microsoft.com/office/drawing/2014/main" id="{EE56069B-EF84-3BA1-E8FE-1024D4FF04C5}"/>
              </a:ext>
            </a:extLst>
          </p:cNvPr>
          <p:cNvSpPr/>
          <p:nvPr/>
        </p:nvSpPr>
        <p:spPr>
          <a:xfrm>
            <a:off x="3523119" y="4201753"/>
            <a:ext cx="109728" cy="109728"/>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175" name="Shape 297">
            <a:extLst>
              <a:ext uri="{FF2B5EF4-FFF2-40B4-BE49-F238E27FC236}">
                <a16:creationId xmlns:a16="http://schemas.microsoft.com/office/drawing/2014/main" id="{525F8850-DA3E-016D-1224-6F77C367EE98}"/>
              </a:ext>
            </a:extLst>
          </p:cNvPr>
          <p:cNvSpPr/>
          <p:nvPr/>
        </p:nvSpPr>
        <p:spPr>
          <a:xfrm>
            <a:off x="3015259" y="3800797"/>
            <a:ext cx="109728" cy="109728"/>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177" name="Shape 297">
            <a:extLst>
              <a:ext uri="{FF2B5EF4-FFF2-40B4-BE49-F238E27FC236}">
                <a16:creationId xmlns:a16="http://schemas.microsoft.com/office/drawing/2014/main" id="{2828E62E-E190-8F8F-FD67-A8B30C94A617}"/>
              </a:ext>
            </a:extLst>
          </p:cNvPr>
          <p:cNvSpPr/>
          <p:nvPr/>
        </p:nvSpPr>
        <p:spPr>
          <a:xfrm>
            <a:off x="4513806" y="3738588"/>
            <a:ext cx="109728" cy="109728"/>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77" name="ASBUILT ASSET · Taxiway centreline light">
            <a:extLst>
              <a:ext uri="{FF2B5EF4-FFF2-40B4-BE49-F238E27FC236}">
                <a16:creationId xmlns:a16="http://schemas.microsoft.com/office/drawing/2014/main" id="{DCAF525D-FEA4-E048-55C8-3D9040C552E7}"/>
              </a:ext>
            </a:extLst>
          </p:cNvPr>
          <p:cNvSpPr/>
          <p:nvPr/>
        </p:nvSpPr>
        <p:spPr>
          <a:xfrm>
            <a:off x="6447751" y="8107626"/>
            <a:ext cx="91440" cy="91440"/>
          </a:xfrm>
          <a:prstGeom prst="ellipse">
            <a:avLst/>
          </a:prstGeom>
          <a:solidFill>
            <a:srgbClr val="5B9BD5">
              <a:lumMod val="50000"/>
              <a:alpha val="30000"/>
              <a:alpha val="20000"/>
              <a:alpha val="20000"/>
              <a:alpha val="100000"/>
            </a:srgbClr>
          </a:solidFill>
          <a:ln w="6350">
            <a:solidFill>
              <a:srgbClr val="9AA0A6">
                <a:alpha val="30000"/>
                <a:alpha val="20000"/>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79" name="Shape 297">
            <a:extLst>
              <a:ext uri="{FF2B5EF4-FFF2-40B4-BE49-F238E27FC236}">
                <a16:creationId xmlns:a16="http://schemas.microsoft.com/office/drawing/2014/main" id="{502F01DE-7AA1-6E79-4AF1-E9DD804EDE80}"/>
              </a:ext>
            </a:extLst>
          </p:cNvPr>
          <p:cNvSpPr/>
          <p:nvPr/>
        </p:nvSpPr>
        <p:spPr>
          <a:xfrm>
            <a:off x="10291259" y="8214360"/>
            <a:ext cx="109728" cy="109728"/>
          </a:xfrm>
          <a:prstGeom prst="ellipse">
            <a:avLst/>
          </a:prstGeom>
          <a:solidFill>
            <a:srgbClr val="70AD47"/>
          </a:solidFill>
          <a:ln w="6350">
            <a:solidFill>
              <a:srgbClr val="9AA0A6"/>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166" name="ASBUILT ASSET · Taxiway centreline light">
            <a:extLst>
              <a:ext uri="{FF2B5EF4-FFF2-40B4-BE49-F238E27FC236}">
                <a16:creationId xmlns:a16="http://schemas.microsoft.com/office/drawing/2014/main" id="{743327F5-D5D8-0A80-2429-4F14DC93F669}"/>
              </a:ext>
            </a:extLst>
          </p:cNvPr>
          <p:cNvSpPr/>
          <p:nvPr/>
        </p:nvSpPr>
        <p:spPr>
          <a:xfrm>
            <a:off x="10319240" y="8783320"/>
            <a:ext cx="91440" cy="91440"/>
          </a:xfrm>
          <a:prstGeom prst="ellipse">
            <a:avLst/>
          </a:prstGeom>
          <a:solidFill>
            <a:schemeClr val="accent5">
              <a:lumMod val="50000"/>
            </a:schemeClr>
          </a:solidFill>
          <a:ln w="6350">
            <a:solidFill>
              <a:srgbClr val="9AA0A6"/>
            </a:solidFill>
            <a:prstDash val="solid"/>
          </a:ln>
          <a:effectLst>
            <a:outerShdw blurRad="50800" dist="50800" dir="5400000" sx="1000" sy="1000" algn="ctr" rotWithShape="0">
              <a:schemeClr val="accent5">
                <a:lumMod val="50000"/>
              </a:schemeClr>
            </a:outerShdw>
          </a:effectLst>
        </p:spPr>
        <p:txBody>
          <a:bodyPr/>
          <a:lstStyle/>
          <a:p>
            <a:endParaRPr>
              <a:solidFill>
                <a:schemeClr val="tx1"/>
              </a:solidFill>
            </a:endParaRPr>
          </a:p>
        </p:txBody>
      </p:sp>
      <p:sp>
        <p:nvSpPr>
          <p:cNvPr id="169" name="Text 324">
            <a:extLst>
              <a:ext uri="{FF2B5EF4-FFF2-40B4-BE49-F238E27FC236}">
                <a16:creationId xmlns:a16="http://schemas.microsoft.com/office/drawing/2014/main" id="{EC4D6E56-C0F0-08DB-E38C-523961B3BF69}"/>
              </a:ext>
            </a:extLst>
          </p:cNvPr>
          <p:cNvSpPr/>
          <p:nvPr/>
        </p:nvSpPr>
        <p:spPr>
          <a:xfrm>
            <a:off x="10552176" y="8704580"/>
            <a:ext cx="1876524" cy="237744"/>
          </a:xfrm>
          <a:prstGeom prst="rect">
            <a:avLst/>
          </a:prstGeom>
          <a:noFill/>
          <a:ln/>
        </p:spPr>
        <p:txBody>
          <a:bodyPr wrap="square" lIns="0" tIns="0" rIns="0" bIns="0" rtlCol="0" anchor="ctr"/>
          <a:lstStyle/>
          <a:p>
            <a:pPr marL="0" indent="0">
              <a:buNone/>
            </a:pPr>
            <a:r>
              <a:rPr lang="en-US" sz="740" dirty="0"/>
              <a:t>DUMMY PLATE</a:t>
            </a:r>
          </a:p>
        </p:txBody>
      </p:sp>
      <p:sp>
        <p:nvSpPr>
          <p:cNvPr id="9104" name="P08 LEG RRM RING"/>
          <p:cNvSpPr/>
          <p:nvPr/>
        </p:nvSpPr>
        <p:spPr>
          <a:xfrm>
            <a:off x="10241280" y="8444230"/>
            <a:ext cx="192024" cy="192024"/>
          </a:xfrm>
          <a:prstGeom prst="ellipse">
            <a:avLst/>
          </a:prstGeom>
          <a:noFill/>
          <a:ln w="28575">
            <a:solidFill>
              <a:srgbClr val="BB00BB"/>
            </a:solidFill>
            <a:prstDash val="solid"/>
          </a:ln>
        </p:spPr>
        <p:txBody>
          <a:bodyPr/>
          <a:lstStyle/>
          <a:p>
            <a:endParaRPr lang="en-US"/>
          </a:p>
        </p:txBody>
      </p:sp>
      <p:sp>
        <p:nvSpPr>
          <p:cNvPr id="9105" name="P08 LEG RRM DOT"/>
          <p:cNvSpPr/>
          <p:nvPr/>
        </p:nvSpPr>
        <p:spPr>
          <a:xfrm>
            <a:off x="10287000" y="8489950"/>
            <a:ext cx="100584" cy="100584"/>
          </a:xfrm>
          <a:prstGeom prst="ellipse">
            <a:avLst/>
          </a:prstGeom>
          <a:solidFill>
            <a:srgbClr val="FFFFFF"/>
          </a:solidFill>
          <a:ln w="6350">
            <a:solidFill>
              <a:srgbClr val="FFFFFF"/>
            </a:solidFill>
            <a:prstDash val="solid"/>
          </a:ln>
        </p:spPr>
        <p:txBody>
          <a:bodyPr/>
          <a:lstStyle/>
          <a:p>
            <a:endParaRPr lang="en-US"/>
          </a:p>
        </p:txBody>
      </p:sp>
      <p:sp>
        <p:nvSpPr>
          <p:cNvPr id="9106" name="P08 LEG RRM TXT"/>
          <p:cNvSpPr/>
          <p:nvPr/>
        </p:nvSpPr>
        <p:spPr>
          <a:xfrm>
            <a:off x="10552430" y="8430260"/>
            <a:ext cx="1876524" cy="237744"/>
          </a:xfrm>
          <a:prstGeom prst="rect">
            <a:avLst/>
          </a:prstGeom>
          <a:noFill/>
          <a:ln/>
        </p:spPr>
        <p:txBody>
          <a:bodyPr wrap="square" lIns="0" tIns="0" rIns="0" bIns="0" rtlCol="0" anchor="ctr"/>
          <a:lstStyle/>
          <a:p>
            <a:pPr marL="0" indent="0">
              <a:buNone/>
            </a:pPr>
            <a:r>
              <a:rPr lang="en-US" sz="740" dirty="0"/>
              <a:t>RRM — REMOVE / PROTECT / RE-FIX</a:t>
            </a:r>
          </a:p>
        </p:txBody>
      </p:sp>
      <p:sp>
        <p:nvSpPr>
          <p:cNvPr id="9107" name="P08 LEG 8IN RING"/>
          <p:cNvSpPr/>
          <p:nvPr/>
        </p:nvSpPr>
        <p:spPr>
          <a:xfrm>
            <a:off x="10241280" y="7895590"/>
            <a:ext cx="192024" cy="192024"/>
          </a:xfrm>
          <a:prstGeom prst="ellipse">
            <a:avLst/>
          </a:prstGeom>
          <a:noFill/>
          <a:ln w="28575">
            <a:solidFill>
              <a:srgbClr val="0070C0"/>
            </a:solidFill>
            <a:prstDash val="solid"/>
          </a:ln>
        </p:spPr>
        <p:txBody>
          <a:bodyPr/>
          <a:lstStyle/>
          <a:p>
            <a:endParaRPr lang="en-US"/>
          </a:p>
        </p:txBody>
      </p:sp>
      <p:sp>
        <p:nvSpPr>
          <p:cNvPr id="9108" name="P08 LEG 8IN DOT"/>
          <p:cNvSpPr/>
          <p:nvPr/>
        </p:nvSpPr>
        <p:spPr>
          <a:xfrm>
            <a:off x="10287000" y="7941310"/>
            <a:ext cx="100584" cy="100584"/>
          </a:xfrm>
          <a:prstGeom prst="ellipse">
            <a:avLst/>
          </a:prstGeom>
          <a:solidFill>
            <a:srgbClr val="E8710A"/>
          </a:solidFill>
          <a:ln w="6350">
            <a:solidFill>
              <a:srgbClr val="E8710A"/>
            </a:solidFill>
            <a:prstDash val="solid"/>
          </a:ln>
        </p:spPr>
        <p:txBody>
          <a:bodyPr/>
          <a:lstStyle/>
          <a:p>
            <a:endParaRPr lang="en-US"/>
          </a:p>
        </p:txBody>
      </p:sp>
      <p:sp>
        <p:nvSpPr>
          <p:cNvPr id="9109" name="P08 LEG 8IN TXT"/>
          <p:cNvSpPr/>
          <p:nvPr/>
        </p:nvSpPr>
        <p:spPr>
          <a:xfrm>
            <a:off x="10552430" y="7881620"/>
            <a:ext cx="1876524" cy="237744"/>
          </a:xfrm>
          <a:prstGeom prst="rect">
            <a:avLst/>
          </a:prstGeom>
          <a:noFill/>
          <a:ln/>
        </p:spPr>
        <p:txBody>
          <a:bodyPr wrap="square" lIns="0" tIns="0" rIns="0" bIns="0" rtlCol="0" anchor="ctr"/>
          <a:lstStyle/>
          <a:p>
            <a:pPr marL="0" indent="0">
              <a:buNone/>
            </a:pPr>
            <a:r>
              <a:rPr sz="700" dirty="0">
                <a:solidFill>
                  <a:srgbClr val="1F2937"/>
                </a:solidFill>
                <a:latin typeface="Arial"/>
              </a:rPr>
              <a:t>CORE OUT 8" — NEW 8" SIDE-ENTRY BASE (SAWCUT)</a:t>
            </a:r>
            <a:endParaRPr lang="en-US" sz="740" dirty="0"/>
          </a:p>
        </p:txBody>
      </p:sp>
      <p:sp>
        <p:nvSpPr>
          <p:cNvPr id="9201" name="P08 LEG NEWSC LINE"/>
          <p:cNvSpPr/>
          <p:nvPr/>
        </p:nvSpPr>
        <p:spPr>
          <a:xfrm>
            <a:off x="10241280" y="9362440"/>
            <a:ext cx="274320" cy="914"/>
          </a:xfrm>
          <a:prstGeom prst="line">
            <a:avLst/>
          </a:prstGeom>
          <a:noFill/>
          <a:ln w="31750">
            <a:solidFill>
              <a:srgbClr val="7030A0"/>
            </a:solidFill>
            <a:prstDash val="solid"/>
          </a:ln>
        </p:spPr>
        <p:txBody>
          <a:bodyPr/>
          <a:lstStyle/>
          <a:p>
            <a:endParaRPr lang="en-US"/>
          </a:p>
        </p:txBody>
      </p:sp>
      <p:sp>
        <p:nvSpPr>
          <p:cNvPr id="9202" name="P08 LEG NEWSC TXT"/>
          <p:cNvSpPr/>
          <p:nvPr/>
        </p:nvSpPr>
        <p:spPr>
          <a:xfrm>
            <a:off x="10589260" y="925322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SAW CUT — SECONDARY CABLE (REV P08)</a:t>
            </a:r>
            <a:endParaRPr lang="en-US" sz="740" dirty="0"/>
          </a:p>
        </p:txBody>
      </p:sp>
      <p:sp>
        <p:nvSpPr>
          <p:cNvPr id="9301" name="P08 ASBUILT HDR"/>
          <p:cNvSpPr txBox="1"/>
          <p:nvPr/>
        </p:nvSpPr>
        <p:spPr>
          <a:xfrm>
            <a:off x="12453620" y="7377280"/>
            <a:ext cx="2187420" cy="200000"/>
          </a:xfrm>
          <a:prstGeom prst="rect">
            <a:avLst/>
          </a:prstGeom>
          <a:noFill/>
        </p:spPr>
        <p:txBody>
          <a:bodyPr wrap="square" lIns="0" tIns="0" rIns="0" bIns="0">
            <a:spAutoFit/>
          </a:bodyPr>
          <a:lstStyle/>
          <a:p>
            <a:r>
              <a:rPr sz="750" b="1">
                <a:solidFill>
                  <a:srgbClr val="5F6368"/>
                </a:solidFill>
              </a:rPr>
              <a:t>AS-BUILT AGL ASSETS</a:t>
            </a:r>
          </a:p>
        </p:txBody>
      </p:sp>
    </p:spTree>
    <p:extLst>
      <p:ext uri="{BB962C8B-B14F-4D97-AF65-F5344CB8AC3E}">
        <p14:creationId xmlns:p14="http://schemas.microsoft.com/office/powerpoint/2010/main" val="2269112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2   ·   DWG NO AUH-SK-AGL-TWYE-001-1002 REV P08</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36" name="ASBUILT DUCT · CV-EX SEC CONDUIT · 34.9 m"/>
          <p:cNvSpPr/>
          <p:nvPr/>
        </p:nvSpPr>
        <p:spPr>
          <a:xfrm>
            <a:off x="808260" y="777240"/>
            <a:ext cx="1211595" cy="2807538"/>
          </a:xfrm>
          <a:custGeom>
            <a:avLst/>
            <a:gdLst/>
            <a:ahLst/>
            <a:cxnLst/>
            <a:rect l="l" t="t" r="r" b="b"/>
            <a:pathLst>
              <a:path w="1211595" h="2807538">
                <a:moveTo>
                  <a:pt x="1211595" y="2807538"/>
                </a:moveTo>
                <a:lnTo>
                  <a:pt x="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ASBUILT DUCT · CV-EX SEC CONDUIT · 2.3 m"/>
          <p:cNvSpPr/>
          <p:nvPr/>
        </p:nvSpPr>
        <p:spPr>
          <a:xfrm>
            <a:off x="320040" y="777240"/>
            <a:ext cx="68644" cy="188847"/>
          </a:xfrm>
          <a:custGeom>
            <a:avLst/>
            <a:gdLst/>
            <a:ahLst/>
            <a:cxnLst/>
            <a:rect l="l" t="t" r="r" b="b"/>
            <a:pathLst>
              <a:path w="68644" h="188847">
                <a:moveTo>
                  <a:pt x="0" y="188847"/>
                </a:moveTo>
                <a:lnTo>
                  <a:pt x="686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ASBUILT DUCT · CV-EX SEC CONDUIT · 22.9 m"/>
          <p:cNvSpPr/>
          <p:nvPr/>
        </p:nvSpPr>
        <p:spPr>
          <a:xfrm>
            <a:off x="667270" y="777240"/>
            <a:ext cx="326156" cy="1984003"/>
          </a:xfrm>
          <a:custGeom>
            <a:avLst/>
            <a:gdLst/>
            <a:ahLst/>
            <a:cxnLst/>
            <a:rect l="l" t="t" r="r" b="b"/>
            <a:pathLst>
              <a:path w="326156" h="1984003">
                <a:moveTo>
                  <a:pt x="0" y="0"/>
                </a:moveTo>
                <a:lnTo>
                  <a:pt x="326156" y="1984003"/>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ASBUILT DUCT · CV-EX SEC CONDUIT · 20.5 m"/>
          <p:cNvSpPr/>
          <p:nvPr/>
        </p:nvSpPr>
        <p:spPr>
          <a:xfrm>
            <a:off x="5097724" y="4360955"/>
            <a:ext cx="606439" cy="1694682"/>
          </a:xfrm>
          <a:custGeom>
            <a:avLst/>
            <a:gdLst/>
            <a:ahLst/>
            <a:cxnLst/>
            <a:rect l="l" t="t" r="r" b="b"/>
            <a:pathLst>
              <a:path w="606439" h="1694682">
                <a:moveTo>
                  <a:pt x="0" y="1694682"/>
                </a:moveTo>
                <a:lnTo>
                  <a:pt x="606439" y="0"/>
                </a:lnTo>
              </a:path>
            </a:pathLst>
          </a:custGeom>
          <a:noFill/>
          <a:ln w="31750" cap="flat" cmpd="sng" algn="ctr">
            <a:solidFill>
              <a:srgbClr val="7030A0"/>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ASBUILT DUCT · CV-EX SEC CONDUIT · 21.1 m"/>
          <p:cNvSpPr/>
          <p:nvPr/>
        </p:nvSpPr>
        <p:spPr>
          <a:xfrm>
            <a:off x="4070812" y="4360955"/>
            <a:ext cx="1633351" cy="869656"/>
          </a:xfrm>
          <a:custGeom>
            <a:avLst/>
            <a:gdLst/>
            <a:ahLst/>
            <a:cxnLst/>
            <a:rect l="l" t="t" r="r" b="b"/>
            <a:pathLst>
              <a:path w="1633351" h="869656">
                <a:moveTo>
                  <a:pt x="1633351" y="0"/>
                </a:moveTo>
                <a:lnTo>
                  <a:pt x="0" y="869656"/>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ASBUILT DUCT · CV-EX SEC CONDUIT · 29.1 m"/>
          <p:cNvSpPr/>
          <p:nvPr/>
        </p:nvSpPr>
        <p:spPr>
          <a:xfrm>
            <a:off x="5704163" y="4360955"/>
            <a:ext cx="420561" cy="2518042"/>
          </a:xfrm>
          <a:custGeom>
            <a:avLst/>
            <a:gdLst/>
            <a:ahLst/>
            <a:cxnLst/>
            <a:rect l="l" t="t" r="r" b="b"/>
            <a:pathLst>
              <a:path w="420561" h="2518042">
                <a:moveTo>
                  <a:pt x="0" y="0"/>
                </a:moveTo>
                <a:lnTo>
                  <a:pt x="420561" y="251804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ASBUILT DUCT · CV-EX SEC CONDUIT · 30.3 m"/>
          <p:cNvSpPr/>
          <p:nvPr/>
        </p:nvSpPr>
        <p:spPr>
          <a:xfrm>
            <a:off x="3046364" y="4360955"/>
            <a:ext cx="2657799" cy="46121"/>
          </a:xfrm>
          <a:custGeom>
            <a:avLst/>
            <a:gdLst/>
            <a:ahLst/>
            <a:cxnLst/>
            <a:rect l="l" t="t" r="r" b="b"/>
            <a:pathLst>
              <a:path w="2657799" h="46121">
                <a:moveTo>
                  <a:pt x="0" y="46121"/>
                </a:moveTo>
                <a:lnTo>
                  <a:pt x="2657799"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ASBUILT DUCT · CV-EX SEC CONDUIT · 41.5 m"/>
          <p:cNvSpPr/>
          <p:nvPr/>
        </p:nvSpPr>
        <p:spPr>
          <a:xfrm>
            <a:off x="5661464" y="4207931"/>
            <a:ext cx="1445359" cy="3340866"/>
          </a:xfrm>
          <a:custGeom>
            <a:avLst/>
            <a:gdLst/>
            <a:ahLst/>
            <a:cxnLst/>
            <a:rect l="l" t="t" r="r" b="b"/>
            <a:pathLst>
              <a:path w="1445359" h="3340866">
                <a:moveTo>
                  <a:pt x="0" y="0"/>
                </a:moveTo>
                <a:lnTo>
                  <a:pt x="1445359" y="3340866"/>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ASBUILT DUCT · CV-EX SEC CONDUIT · 8.7 m"/>
          <p:cNvSpPr/>
          <p:nvPr/>
        </p:nvSpPr>
        <p:spPr>
          <a:xfrm>
            <a:off x="9203040" y="8993029"/>
            <a:ext cx="672480" cy="357976"/>
          </a:xfrm>
          <a:custGeom>
            <a:avLst/>
            <a:gdLst/>
            <a:ahLst/>
            <a:cxnLst/>
            <a:rect l="l" t="t" r="r" b="b"/>
            <a:pathLst>
              <a:path w="672480" h="357976">
                <a:moveTo>
                  <a:pt x="672480" y="0"/>
                </a:moveTo>
                <a:lnTo>
                  <a:pt x="0" y="357976"/>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ASBUILT DUCT · CV-EX SEC CONDUIT · 19.4 m"/>
          <p:cNvSpPr/>
          <p:nvPr/>
        </p:nvSpPr>
        <p:spPr>
          <a:xfrm>
            <a:off x="8176127" y="8503662"/>
            <a:ext cx="1699393" cy="23282"/>
          </a:xfrm>
          <a:custGeom>
            <a:avLst/>
            <a:gdLst/>
            <a:ahLst/>
            <a:cxnLst/>
            <a:rect l="l" t="t" r="r" b="b"/>
            <a:pathLst>
              <a:path w="1699393" h="23282">
                <a:moveTo>
                  <a:pt x="0" y="23282"/>
                </a:moveTo>
                <a:lnTo>
                  <a:pt x="1699393"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ASBUILT DUCT · CV-NEW SEC CONDUIT · 6.2 m"/>
          <p:cNvSpPr/>
          <p:nvPr/>
        </p:nvSpPr>
        <p:spPr>
          <a:xfrm>
            <a:off x="5704058" y="3935114"/>
            <a:ext cx="342064" cy="426043"/>
          </a:xfrm>
          <a:custGeom>
            <a:avLst/>
            <a:gdLst/>
            <a:ahLst/>
            <a:cxnLst/>
            <a:rect l="l" t="t" r="r" b="b"/>
            <a:pathLst>
              <a:path w="342064" h="426043">
                <a:moveTo>
                  <a:pt x="342064" y="0"/>
                </a:moveTo>
                <a:lnTo>
                  <a:pt x="0" y="426043"/>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ASBUILT DUCT · CV_OUTER DUCT 4x110mm dia · 110.8 m"/>
          <p:cNvSpPr/>
          <p:nvPr/>
        </p:nvSpPr>
        <p:spPr>
          <a:xfrm>
            <a:off x="2306059" y="777240"/>
            <a:ext cx="7569461" cy="6098335"/>
          </a:xfrm>
          <a:custGeom>
            <a:avLst/>
            <a:gdLst/>
            <a:ahLst/>
            <a:cxnLst/>
            <a:rect l="l" t="t" r="r" b="b"/>
            <a:pathLst>
              <a:path w="7569461" h="6098335">
                <a:moveTo>
                  <a:pt x="7569461" y="6098335"/>
                </a:moveTo>
                <a:lnTo>
                  <a:pt x="2595392" y="2099489"/>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ASBUILT DUCT · CV_GRND DUCT · 1.6 m"/>
          <p:cNvSpPr/>
          <p:nvPr/>
        </p:nvSpPr>
        <p:spPr>
          <a:xfrm>
            <a:off x="5467164" y="3219750"/>
            <a:ext cx="90102" cy="112241"/>
          </a:xfrm>
          <a:custGeom>
            <a:avLst/>
            <a:gdLst/>
            <a:ahLst/>
            <a:cxnLst/>
            <a:rect l="l" t="t" r="r" b="b"/>
            <a:pathLst>
              <a:path w="90102" h="112241">
                <a:moveTo>
                  <a:pt x="90102" y="0"/>
                </a:moveTo>
                <a:lnTo>
                  <a:pt x="0" y="112241"/>
                </a:lnTo>
              </a:path>
            </a:pathLst>
          </a:custGeom>
          <a:noFill/>
          <a:ln w="9525" cap="flat" cmpd="sng" algn="ctr">
            <a:solidFill>
              <a:srgbClr val="795548">
                <a:alpha val="20000"/>
              </a:srgbClr>
            </a:solidFill>
            <a:prstDash val="sysDot"/>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ASBUILT ASSET · Taxiway centreline light"/>
          <p:cNvSpPr/>
          <p:nvPr/>
        </p:nvSpPr>
        <p:spPr>
          <a:xfrm>
            <a:off x="9157293" y="930531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ASBUILT ASSET · Taxiway centreline light"/>
          <p:cNvSpPr/>
          <p:nvPr/>
        </p:nvSpPr>
        <p:spPr>
          <a:xfrm>
            <a:off x="8130407" y="848122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ASBUILT ASSET · Taxiway centreline light"/>
          <p:cNvSpPr/>
          <p:nvPr/>
        </p:nvSpPr>
        <p:spPr>
          <a:xfrm>
            <a:off x="1974056" y="3539154"/>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ASBUILT ASSET · Taxiway centreline light"/>
          <p:cNvSpPr/>
          <p:nvPr/>
        </p:nvSpPr>
        <p:spPr>
          <a:xfrm>
            <a:off x="947644" y="271559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ASBUILT ASSET · Runway guard light / RRM"/>
          <p:cNvSpPr/>
          <p:nvPr/>
        </p:nvSpPr>
        <p:spPr>
          <a:xfrm>
            <a:off x="5856458" y="8038161"/>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ASBUILT ASSET · Runway guard light / RRM"/>
          <p:cNvSpPr/>
          <p:nvPr/>
        </p:nvSpPr>
        <p:spPr>
          <a:xfrm>
            <a:off x="2437920" y="5289156"/>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ASBUILT ASSET · Runway guard light / RRM"/>
          <p:cNvSpPr/>
          <p:nvPr/>
        </p:nvSpPr>
        <p:spPr>
          <a:xfrm>
            <a:off x="7200173" y="6358759"/>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ASBUILT ASSET · Runway guard light / RRM"/>
          <p:cNvSpPr/>
          <p:nvPr/>
        </p:nvSpPr>
        <p:spPr>
          <a:xfrm>
            <a:off x="3781284" y="3613351"/>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ASBUILT ASSET · Runway guard light / RRM"/>
          <p:cNvSpPr/>
          <p:nvPr/>
        </p:nvSpPr>
        <p:spPr>
          <a:xfrm>
            <a:off x="1724179" y="1965263"/>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ASBUILT ASSET · Earthing point"/>
          <p:cNvSpPr/>
          <p:nvPr/>
        </p:nvSpPr>
        <p:spPr>
          <a:xfrm>
            <a:off x="3898949" y="3127998"/>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ASBUILT ASSET · Handhole"/>
          <p:cNvSpPr/>
          <p:nvPr/>
        </p:nvSpPr>
        <p:spPr>
          <a:xfrm>
            <a:off x="5982113" y="3871105"/>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ASBUILT ASSET · Handhole"/>
          <p:cNvSpPr/>
          <p:nvPr/>
        </p:nvSpPr>
        <p:spPr>
          <a:xfrm>
            <a:off x="4837443" y="2812721"/>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ASBUILT ASSET · Earthing point"/>
          <p:cNvSpPr/>
          <p:nvPr/>
        </p:nvSpPr>
        <p:spPr>
          <a:xfrm>
            <a:off x="2754279" y="2069614"/>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ASBUILT ASSET · Earthing point"/>
          <p:cNvSpPr/>
          <p:nvPr/>
        </p:nvSpPr>
        <p:spPr>
          <a:xfrm>
            <a:off x="9029949" y="7267119"/>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ASBUILT ASSET · Earthing pit"/>
          <p:cNvSpPr/>
          <p:nvPr/>
        </p:nvSpPr>
        <p:spPr>
          <a:xfrm>
            <a:off x="2555134" y="2152571"/>
            <a:ext cx="100584" cy="100584"/>
          </a:xfrm>
          <a:prstGeom prst="triangle">
            <a:avLst/>
          </a:prstGeom>
          <a:noFill/>
          <a:ln w="9525" cap="flat" cmpd="sng" algn="ctr">
            <a:solidFill>
              <a:srgbClr val="795548">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ASBUILT ASSET · Existing transformer handhole"/>
          <p:cNvSpPr/>
          <p:nvPr/>
        </p:nvSpPr>
        <p:spPr>
          <a:xfrm>
            <a:off x="5630923" y="4287733"/>
            <a:ext cx="146304" cy="146304"/>
          </a:xfrm>
          <a:prstGeom prst="rect">
            <a:avLst/>
          </a:prstGeom>
          <a:noFill/>
          <a:ln w="9525" cap="flat" cmpd="sng" algn="ctr">
            <a:solidFill>
              <a:srgbClr val="00838F">
                <a:alpha val="20000"/>
                <a:alpha val="10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p>
        </p:txBody>
      </p:sp>
      <p:sp>
        <p:nvSpPr>
          <p:cNvPr id="5" name="Shape 3"/>
          <p:cNvSpPr/>
          <p:nvPr/>
        </p:nvSpPr>
        <p:spPr>
          <a:xfrm>
            <a:off x="8571627" y="10137349"/>
            <a:ext cx="243215" cy="195371"/>
          </a:xfrm>
          <a:prstGeom prst="line">
            <a:avLst/>
          </a:prstGeom>
          <a:noFill/>
          <a:ln w="12700">
            <a:solidFill>
              <a:srgbClr val="7A8288">
                <a:alpha val="20000"/>
              </a:srgbClr>
            </a:solidFill>
            <a:prstDash val="solid"/>
          </a:ln>
        </p:spPr>
        <p:txBody>
          <a:bodyPr/>
          <a:lstStyle/>
          <a:p>
            <a:endParaRPr lang="en-US"/>
          </a:p>
        </p:txBody>
      </p:sp>
      <p:sp>
        <p:nvSpPr>
          <p:cNvPr id="6" name="Shape 4"/>
          <p:cNvSpPr/>
          <p:nvPr/>
        </p:nvSpPr>
        <p:spPr>
          <a:xfrm>
            <a:off x="7544963" y="9313422"/>
            <a:ext cx="1026664" cy="823927"/>
          </a:xfrm>
          <a:prstGeom prst="line">
            <a:avLst/>
          </a:prstGeom>
          <a:noFill/>
          <a:ln w="12700">
            <a:solidFill>
              <a:srgbClr val="7A8288">
                <a:alpha val="20000"/>
              </a:srgbClr>
            </a:solidFill>
            <a:prstDash val="solid"/>
          </a:ln>
        </p:spPr>
        <p:txBody>
          <a:bodyPr/>
          <a:lstStyle/>
          <a:p>
            <a:endParaRPr lang="en-US"/>
          </a:p>
        </p:txBody>
      </p:sp>
      <p:sp>
        <p:nvSpPr>
          <p:cNvPr id="7" name="Shape 5"/>
          <p:cNvSpPr/>
          <p:nvPr/>
        </p:nvSpPr>
        <p:spPr>
          <a:xfrm>
            <a:off x="6517861" y="8488268"/>
            <a:ext cx="1027102" cy="825154"/>
          </a:xfrm>
          <a:prstGeom prst="line">
            <a:avLst/>
          </a:prstGeom>
          <a:noFill/>
          <a:ln w="12700">
            <a:solidFill>
              <a:srgbClr val="7A8288">
                <a:alpha val="20000"/>
              </a:srgbClr>
            </a:solidFill>
            <a:prstDash val="solid"/>
          </a:ln>
        </p:spPr>
        <p:txBody>
          <a:bodyPr/>
          <a:lstStyle/>
          <a:p>
            <a:endParaRPr lang="en-US"/>
          </a:p>
        </p:txBody>
      </p:sp>
      <p:sp>
        <p:nvSpPr>
          <p:cNvPr id="8" name="Shape 6"/>
          <p:cNvSpPr/>
          <p:nvPr/>
        </p:nvSpPr>
        <p:spPr>
          <a:xfrm>
            <a:off x="5493477" y="7665744"/>
            <a:ext cx="1024384" cy="822524"/>
          </a:xfrm>
          <a:prstGeom prst="line">
            <a:avLst/>
          </a:prstGeom>
          <a:noFill/>
          <a:ln w="12700">
            <a:solidFill>
              <a:srgbClr val="7A8288">
                <a:alpha val="20000"/>
              </a:srgbClr>
            </a:solidFill>
            <a:prstDash val="solid"/>
          </a:ln>
        </p:spPr>
        <p:txBody>
          <a:bodyPr/>
          <a:lstStyle/>
          <a:p>
            <a:endParaRPr lang="en-US"/>
          </a:p>
        </p:txBody>
      </p:sp>
      <p:sp>
        <p:nvSpPr>
          <p:cNvPr id="9" name="Shape 7"/>
          <p:cNvSpPr/>
          <p:nvPr/>
        </p:nvSpPr>
        <p:spPr>
          <a:xfrm>
            <a:off x="4466813" y="6842694"/>
            <a:ext cx="1026664" cy="823050"/>
          </a:xfrm>
          <a:prstGeom prst="line">
            <a:avLst/>
          </a:prstGeom>
          <a:noFill/>
          <a:ln w="12700">
            <a:solidFill>
              <a:srgbClr val="7A8288">
                <a:alpha val="20000"/>
              </a:srgbClr>
            </a:solidFill>
            <a:prstDash val="solid"/>
          </a:ln>
        </p:spPr>
        <p:txBody>
          <a:bodyPr/>
          <a:lstStyle/>
          <a:p>
            <a:endParaRPr lang="en-US"/>
          </a:p>
        </p:txBody>
      </p:sp>
      <p:sp>
        <p:nvSpPr>
          <p:cNvPr id="10" name="Shape 8"/>
          <p:cNvSpPr/>
          <p:nvPr/>
        </p:nvSpPr>
        <p:spPr>
          <a:xfrm>
            <a:off x="4465936" y="6841993"/>
            <a:ext cx="914" cy="914"/>
          </a:xfrm>
          <a:prstGeom prst="line">
            <a:avLst/>
          </a:prstGeom>
          <a:noFill/>
          <a:ln w="12700">
            <a:solidFill>
              <a:srgbClr val="7A8288">
                <a:alpha val="20000"/>
              </a:srgbClr>
            </a:solidFill>
            <a:prstDash val="solid"/>
          </a:ln>
        </p:spPr>
        <p:txBody>
          <a:bodyPr/>
          <a:lstStyle/>
          <a:p>
            <a:endParaRPr lang="en-US"/>
          </a:p>
        </p:txBody>
      </p:sp>
      <p:sp>
        <p:nvSpPr>
          <p:cNvPr id="11" name="Shape 9"/>
          <p:cNvSpPr/>
          <p:nvPr/>
        </p:nvSpPr>
        <p:spPr>
          <a:xfrm>
            <a:off x="3439097" y="6016926"/>
            <a:ext cx="1026839" cy="825067"/>
          </a:xfrm>
          <a:prstGeom prst="line">
            <a:avLst/>
          </a:prstGeom>
          <a:noFill/>
          <a:ln w="12700">
            <a:solidFill>
              <a:srgbClr val="7A8288">
                <a:alpha val="20000"/>
              </a:srgbClr>
            </a:solidFill>
            <a:prstDash val="solid"/>
          </a:ln>
        </p:spPr>
        <p:txBody>
          <a:bodyPr/>
          <a:lstStyle/>
          <a:p>
            <a:endParaRPr lang="en-US"/>
          </a:p>
        </p:txBody>
      </p:sp>
      <p:sp>
        <p:nvSpPr>
          <p:cNvPr id="12" name="Shape 10"/>
          <p:cNvSpPr/>
          <p:nvPr/>
        </p:nvSpPr>
        <p:spPr>
          <a:xfrm>
            <a:off x="2415064" y="5193701"/>
            <a:ext cx="1024033" cy="823225"/>
          </a:xfrm>
          <a:prstGeom prst="line">
            <a:avLst/>
          </a:prstGeom>
          <a:noFill/>
          <a:ln w="12700">
            <a:solidFill>
              <a:srgbClr val="7A8288">
                <a:alpha val="20000"/>
              </a:srgbClr>
            </a:solidFill>
            <a:prstDash val="solid"/>
          </a:ln>
        </p:spPr>
        <p:txBody>
          <a:bodyPr/>
          <a:lstStyle/>
          <a:p>
            <a:endParaRPr lang="en-US"/>
          </a:p>
        </p:txBody>
      </p:sp>
      <p:sp>
        <p:nvSpPr>
          <p:cNvPr id="13" name="Shape 11"/>
          <p:cNvSpPr/>
          <p:nvPr/>
        </p:nvSpPr>
        <p:spPr>
          <a:xfrm>
            <a:off x="1389277" y="4371879"/>
            <a:ext cx="1025787" cy="821822"/>
          </a:xfrm>
          <a:prstGeom prst="line">
            <a:avLst/>
          </a:prstGeom>
          <a:noFill/>
          <a:ln w="12700">
            <a:solidFill>
              <a:srgbClr val="7A8288">
                <a:alpha val="20000"/>
              </a:srgbClr>
            </a:solidFill>
            <a:prstDash val="solid"/>
          </a:ln>
        </p:spPr>
        <p:txBody>
          <a:bodyPr/>
          <a:lstStyle/>
          <a:p>
            <a:endParaRPr lang="en-US"/>
          </a:p>
        </p:txBody>
      </p:sp>
      <p:sp>
        <p:nvSpPr>
          <p:cNvPr id="14" name="Shape 12"/>
          <p:cNvSpPr/>
          <p:nvPr/>
        </p:nvSpPr>
        <p:spPr>
          <a:xfrm>
            <a:off x="415577" y="3590641"/>
            <a:ext cx="973700" cy="781238"/>
          </a:xfrm>
          <a:prstGeom prst="line">
            <a:avLst/>
          </a:prstGeom>
          <a:noFill/>
          <a:ln w="12700">
            <a:solidFill>
              <a:srgbClr val="7A8288">
                <a:alpha val="20000"/>
              </a:srgbClr>
            </a:solidFill>
            <a:prstDash val="solid"/>
          </a:ln>
        </p:spPr>
        <p:txBody>
          <a:bodyPr/>
          <a:lstStyle/>
          <a:p>
            <a:endParaRPr lang="en-US"/>
          </a:p>
        </p:txBody>
      </p:sp>
      <p:sp>
        <p:nvSpPr>
          <p:cNvPr id="15" name="Shape 13"/>
          <p:cNvSpPr/>
          <p:nvPr/>
        </p:nvSpPr>
        <p:spPr>
          <a:xfrm>
            <a:off x="8807511" y="7740631"/>
            <a:ext cx="972472" cy="780436"/>
          </a:xfrm>
          <a:prstGeom prst="line">
            <a:avLst/>
          </a:prstGeom>
          <a:noFill/>
          <a:ln w="12700">
            <a:solidFill>
              <a:srgbClr val="7A8288">
                <a:alpha val="20000"/>
              </a:srgbClr>
            </a:solidFill>
            <a:prstDash val="solid"/>
          </a:ln>
        </p:spPr>
        <p:txBody>
          <a:bodyPr/>
          <a:lstStyle/>
          <a:p>
            <a:endParaRPr lang="en-US"/>
          </a:p>
        </p:txBody>
      </p:sp>
      <p:sp>
        <p:nvSpPr>
          <p:cNvPr id="16" name="Shape 14"/>
          <p:cNvSpPr/>
          <p:nvPr/>
        </p:nvSpPr>
        <p:spPr>
          <a:xfrm>
            <a:off x="7780672" y="6915739"/>
            <a:ext cx="1026839" cy="824891"/>
          </a:xfrm>
          <a:prstGeom prst="line">
            <a:avLst/>
          </a:prstGeom>
          <a:noFill/>
          <a:ln w="12700">
            <a:solidFill>
              <a:srgbClr val="7A8288">
                <a:alpha val="20000"/>
              </a:srgbClr>
            </a:solidFill>
            <a:prstDash val="solid"/>
          </a:ln>
        </p:spPr>
        <p:txBody>
          <a:bodyPr/>
          <a:lstStyle/>
          <a:p>
            <a:endParaRPr lang="en-US"/>
          </a:p>
        </p:txBody>
      </p:sp>
      <p:sp>
        <p:nvSpPr>
          <p:cNvPr id="17" name="Shape 15"/>
          <p:cNvSpPr/>
          <p:nvPr/>
        </p:nvSpPr>
        <p:spPr>
          <a:xfrm>
            <a:off x="6755323" y="6092339"/>
            <a:ext cx="1025349" cy="823401"/>
          </a:xfrm>
          <a:prstGeom prst="line">
            <a:avLst/>
          </a:prstGeom>
          <a:noFill/>
          <a:ln w="12700">
            <a:solidFill>
              <a:srgbClr val="7A8288">
                <a:alpha val="20000"/>
              </a:srgbClr>
            </a:solidFill>
            <a:prstDash val="solid"/>
          </a:ln>
        </p:spPr>
        <p:txBody>
          <a:bodyPr/>
          <a:lstStyle/>
          <a:p>
            <a:endParaRPr lang="en-US"/>
          </a:p>
        </p:txBody>
      </p:sp>
      <p:sp>
        <p:nvSpPr>
          <p:cNvPr id="18" name="Shape 16"/>
          <p:cNvSpPr/>
          <p:nvPr/>
        </p:nvSpPr>
        <p:spPr>
          <a:xfrm>
            <a:off x="5728747" y="5269377"/>
            <a:ext cx="1026576" cy="822962"/>
          </a:xfrm>
          <a:prstGeom prst="line">
            <a:avLst/>
          </a:prstGeom>
          <a:noFill/>
          <a:ln w="12700">
            <a:solidFill>
              <a:srgbClr val="7A8288">
                <a:alpha val="20000"/>
              </a:srgbClr>
            </a:solidFill>
            <a:prstDash val="solid"/>
          </a:ln>
        </p:spPr>
        <p:txBody>
          <a:bodyPr/>
          <a:lstStyle/>
          <a:p>
            <a:endParaRPr lang="en-US"/>
          </a:p>
        </p:txBody>
      </p:sp>
      <p:sp>
        <p:nvSpPr>
          <p:cNvPr id="19" name="Shape 17"/>
          <p:cNvSpPr/>
          <p:nvPr/>
        </p:nvSpPr>
        <p:spPr>
          <a:xfrm>
            <a:off x="4702434" y="4444748"/>
            <a:ext cx="1026313" cy="824628"/>
          </a:xfrm>
          <a:prstGeom prst="line">
            <a:avLst/>
          </a:prstGeom>
          <a:noFill/>
          <a:ln w="12700">
            <a:solidFill>
              <a:srgbClr val="7A8288">
                <a:alpha val="20000"/>
              </a:srgbClr>
            </a:solidFill>
            <a:prstDash val="solid"/>
          </a:ln>
        </p:spPr>
        <p:txBody>
          <a:bodyPr/>
          <a:lstStyle/>
          <a:p>
            <a:endParaRPr lang="en-US"/>
          </a:p>
        </p:txBody>
      </p:sp>
      <p:sp>
        <p:nvSpPr>
          <p:cNvPr id="20" name="Shape 18"/>
          <p:cNvSpPr/>
          <p:nvPr/>
        </p:nvSpPr>
        <p:spPr>
          <a:xfrm>
            <a:off x="4837443" y="4033004"/>
            <a:ext cx="1024384" cy="823488"/>
          </a:xfrm>
          <a:prstGeom prst="line">
            <a:avLst/>
          </a:prstGeom>
          <a:noFill/>
          <a:ln w="12700">
            <a:solidFill>
              <a:srgbClr val="7A8288">
                <a:alpha val="20000"/>
              </a:srgbClr>
            </a:solidFill>
            <a:prstDash val="solid"/>
          </a:ln>
        </p:spPr>
        <p:txBody>
          <a:bodyPr/>
          <a:lstStyle/>
          <a:p>
            <a:endParaRPr lang="en-US"/>
          </a:p>
        </p:txBody>
      </p:sp>
      <p:sp>
        <p:nvSpPr>
          <p:cNvPr id="21" name="Shape 19"/>
          <p:cNvSpPr/>
          <p:nvPr/>
        </p:nvSpPr>
        <p:spPr>
          <a:xfrm>
            <a:off x="3676734" y="3620208"/>
            <a:ext cx="1315" cy="1052"/>
          </a:xfrm>
          <a:prstGeom prst="line">
            <a:avLst/>
          </a:prstGeom>
          <a:noFill/>
          <a:ln w="12700">
            <a:solidFill>
              <a:srgbClr val="7A8288">
                <a:alpha val="20000"/>
              </a:srgbClr>
            </a:solidFill>
            <a:prstDash val="solid"/>
          </a:ln>
        </p:spPr>
        <p:txBody>
          <a:bodyPr/>
          <a:lstStyle/>
          <a:p>
            <a:endParaRPr lang="en-US"/>
          </a:p>
        </p:txBody>
      </p:sp>
      <p:sp>
        <p:nvSpPr>
          <p:cNvPr id="22" name="Shape 20"/>
          <p:cNvSpPr/>
          <p:nvPr/>
        </p:nvSpPr>
        <p:spPr>
          <a:xfrm>
            <a:off x="2650597" y="2798123"/>
            <a:ext cx="1026138" cy="822085"/>
          </a:xfrm>
          <a:prstGeom prst="line">
            <a:avLst/>
          </a:prstGeom>
          <a:noFill/>
          <a:ln w="12700">
            <a:solidFill>
              <a:srgbClr val="7A8288">
                <a:alpha val="20000"/>
              </a:srgbClr>
            </a:solidFill>
            <a:prstDash val="solid"/>
          </a:ln>
        </p:spPr>
        <p:txBody>
          <a:bodyPr/>
          <a:lstStyle/>
          <a:p>
            <a:endParaRPr lang="en-US"/>
          </a:p>
        </p:txBody>
      </p:sp>
      <p:sp>
        <p:nvSpPr>
          <p:cNvPr id="23" name="Shape 21"/>
          <p:cNvSpPr/>
          <p:nvPr/>
        </p:nvSpPr>
        <p:spPr>
          <a:xfrm>
            <a:off x="1624722" y="1974898"/>
            <a:ext cx="1025875" cy="823225"/>
          </a:xfrm>
          <a:prstGeom prst="line">
            <a:avLst/>
          </a:prstGeom>
          <a:noFill/>
          <a:ln w="12700">
            <a:solidFill>
              <a:srgbClr val="7A8288">
                <a:alpha val="20000"/>
              </a:srgbClr>
            </a:solidFill>
            <a:prstDash val="solid"/>
          </a:ln>
        </p:spPr>
        <p:txBody>
          <a:bodyPr/>
          <a:lstStyle/>
          <a:p>
            <a:endParaRPr lang="en-US"/>
          </a:p>
        </p:txBody>
      </p:sp>
      <p:sp>
        <p:nvSpPr>
          <p:cNvPr id="24" name="Shape 22"/>
          <p:cNvSpPr/>
          <p:nvPr/>
        </p:nvSpPr>
        <p:spPr>
          <a:xfrm>
            <a:off x="599198" y="1151146"/>
            <a:ext cx="1025524" cy="823751"/>
          </a:xfrm>
          <a:prstGeom prst="line">
            <a:avLst/>
          </a:prstGeom>
          <a:noFill/>
          <a:ln w="12700">
            <a:solidFill>
              <a:srgbClr val="7A8288">
                <a:alpha val="20000"/>
              </a:srgbClr>
            </a:solidFill>
            <a:prstDash val="solid"/>
          </a:ln>
        </p:spPr>
        <p:txBody>
          <a:bodyPr/>
          <a:lstStyle/>
          <a:p>
            <a:endParaRPr lang="en-US"/>
          </a:p>
        </p:txBody>
      </p:sp>
      <p:sp>
        <p:nvSpPr>
          <p:cNvPr id="25" name="Shape 23"/>
          <p:cNvSpPr/>
          <p:nvPr/>
        </p:nvSpPr>
        <p:spPr>
          <a:xfrm>
            <a:off x="415577" y="1003267"/>
            <a:ext cx="183621" cy="147879"/>
          </a:xfrm>
          <a:prstGeom prst="line">
            <a:avLst/>
          </a:prstGeom>
          <a:noFill/>
          <a:ln w="12700">
            <a:solidFill>
              <a:srgbClr val="7A8288">
                <a:alpha val="20000"/>
              </a:srgbClr>
            </a:solidFill>
            <a:prstDash val="solid"/>
          </a:ln>
        </p:spPr>
        <p:txBody>
          <a:bodyPr/>
          <a:lstStyle/>
          <a:p>
            <a:endParaRPr lang="en-US"/>
          </a:p>
        </p:txBody>
      </p:sp>
      <p:sp>
        <p:nvSpPr>
          <p:cNvPr id="26" name="Shape 24"/>
          <p:cNvSpPr/>
          <p:nvPr/>
        </p:nvSpPr>
        <p:spPr>
          <a:xfrm>
            <a:off x="9202989" y="9351041"/>
            <a:ext cx="576994" cy="463511"/>
          </a:xfrm>
          <a:prstGeom prst="line">
            <a:avLst/>
          </a:prstGeom>
          <a:noFill/>
          <a:ln w="19050">
            <a:solidFill>
              <a:srgbClr val="C7A400">
                <a:alpha val="20000"/>
              </a:srgbClr>
            </a:solidFill>
            <a:prstDash val="dashDot"/>
          </a:ln>
        </p:spPr>
        <p:txBody>
          <a:bodyPr/>
          <a:lstStyle/>
          <a:p>
            <a:endParaRPr lang="en-US"/>
          </a:p>
        </p:txBody>
      </p:sp>
      <p:sp>
        <p:nvSpPr>
          <p:cNvPr id="27" name="Shape 25"/>
          <p:cNvSpPr/>
          <p:nvPr/>
        </p:nvSpPr>
        <p:spPr>
          <a:xfrm>
            <a:off x="8176149" y="8526939"/>
            <a:ext cx="1026839" cy="824102"/>
          </a:xfrm>
          <a:prstGeom prst="line">
            <a:avLst/>
          </a:prstGeom>
          <a:noFill/>
          <a:ln w="19050">
            <a:solidFill>
              <a:srgbClr val="C7A400">
                <a:alpha val="20000"/>
              </a:srgbClr>
            </a:solidFill>
            <a:prstDash val="dashDot"/>
          </a:ln>
        </p:spPr>
        <p:txBody>
          <a:bodyPr/>
          <a:lstStyle/>
          <a:p>
            <a:endParaRPr lang="en-US"/>
          </a:p>
        </p:txBody>
      </p:sp>
      <p:sp>
        <p:nvSpPr>
          <p:cNvPr id="28" name="Shape 26"/>
          <p:cNvSpPr/>
          <p:nvPr/>
        </p:nvSpPr>
        <p:spPr>
          <a:xfrm>
            <a:off x="7149310" y="7702047"/>
            <a:ext cx="1026839" cy="824891"/>
          </a:xfrm>
          <a:prstGeom prst="line">
            <a:avLst/>
          </a:prstGeom>
          <a:noFill/>
          <a:ln w="19050">
            <a:solidFill>
              <a:srgbClr val="C7A400">
                <a:alpha val="20000"/>
              </a:srgbClr>
            </a:solidFill>
            <a:prstDash val="dashDot"/>
          </a:ln>
        </p:spPr>
        <p:txBody>
          <a:bodyPr/>
          <a:lstStyle/>
          <a:p>
            <a:endParaRPr lang="en-US"/>
          </a:p>
        </p:txBody>
      </p:sp>
      <p:sp>
        <p:nvSpPr>
          <p:cNvPr id="29" name="Shape 27"/>
          <p:cNvSpPr/>
          <p:nvPr/>
        </p:nvSpPr>
        <p:spPr>
          <a:xfrm>
            <a:off x="6124575" y="6879173"/>
            <a:ext cx="1024735" cy="822874"/>
          </a:xfrm>
          <a:prstGeom prst="line">
            <a:avLst/>
          </a:prstGeom>
          <a:noFill/>
          <a:ln w="19050">
            <a:solidFill>
              <a:srgbClr val="C7A400">
                <a:alpha val="20000"/>
              </a:srgbClr>
            </a:solidFill>
            <a:prstDash val="dashDot"/>
          </a:ln>
        </p:spPr>
        <p:txBody>
          <a:bodyPr/>
          <a:lstStyle/>
          <a:p>
            <a:endParaRPr lang="en-US"/>
          </a:p>
        </p:txBody>
      </p:sp>
      <p:sp>
        <p:nvSpPr>
          <p:cNvPr id="30" name="Shape 28"/>
          <p:cNvSpPr/>
          <p:nvPr/>
        </p:nvSpPr>
        <p:spPr>
          <a:xfrm>
            <a:off x="5097561" y="6055860"/>
            <a:ext cx="1027015" cy="823313"/>
          </a:xfrm>
          <a:prstGeom prst="line">
            <a:avLst/>
          </a:prstGeom>
          <a:noFill/>
          <a:ln w="19050">
            <a:solidFill>
              <a:srgbClr val="C7A400">
                <a:alpha val="20000"/>
              </a:srgbClr>
            </a:solidFill>
            <a:prstDash val="dashDot"/>
          </a:ln>
        </p:spPr>
        <p:txBody>
          <a:bodyPr/>
          <a:lstStyle/>
          <a:p>
            <a:endParaRPr lang="en-US"/>
          </a:p>
        </p:txBody>
      </p:sp>
      <p:sp>
        <p:nvSpPr>
          <p:cNvPr id="31" name="Shape 29"/>
          <p:cNvSpPr/>
          <p:nvPr/>
        </p:nvSpPr>
        <p:spPr>
          <a:xfrm>
            <a:off x="4070722" y="5230793"/>
            <a:ext cx="1026839" cy="825067"/>
          </a:xfrm>
          <a:prstGeom prst="line">
            <a:avLst/>
          </a:prstGeom>
          <a:noFill/>
          <a:ln w="19050">
            <a:solidFill>
              <a:srgbClr val="C7A400">
                <a:alpha val="20000"/>
              </a:srgbClr>
            </a:solidFill>
            <a:prstDash val="dashDot"/>
          </a:ln>
        </p:spPr>
        <p:txBody>
          <a:bodyPr/>
          <a:lstStyle/>
          <a:p>
            <a:endParaRPr lang="en-US"/>
          </a:p>
        </p:txBody>
      </p:sp>
      <p:sp>
        <p:nvSpPr>
          <p:cNvPr id="32" name="Shape 30"/>
          <p:cNvSpPr/>
          <p:nvPr/>
        </p:nvSpPr>
        <p:spPr>
          <a:xfrm>
            <a:off x="3046250" y="4407218"/>
            <a:ext cx="1024472" cy="823576"/>
          </a:xfrm>
          <a:prstGeom prst="line">
            <a:avLst/>
          </a:prstGeom>
          <a:noFill/>
          <a:ln w="19050">
            <a:solidFill>
              <a:srgbClr val="C7A400">
                <a:alpha val="20000"/>
              </a:srgbClr>
            </a:solidFill>
            <a:prstDash val="dashDot"/>
          </a:ln>
        </p:spPr>
        <p:txBody>
          <a:bodyPr/>
          <a:lstStyle/>
          <a:p>
            <a:endParaRPr lang="en-US"/>
          </a:p>
        </p:txBody>
      </p:sp>
      <p:sp>
        <p:nvSpPr>
          <p:cNvPr id="33" name="Shape 31"/>
          <p:cNvSpPr/>
          <p:nvPr/>
        </p:nvSpPr>
        <p:spPr>
          <a:xfrm>
            <a:off x="2019761" y="3584869"/>
            <a:ext cx="1026488" cy="822348"/>
          </a:xfrm>
          <a:prstGeom prst="line">
            <a:avLst/>
          </a:prstGeom>
          <a:noFill/>
          <a:ln w="19050">
            <a:solidFill>
              <a:srgbClr val="C7A400">
                <a:alpha val="20000"/>
              </a:srgbClr>
            </a:solidFill>
            <a:prstDash val="dashDot"/>
          </a:ln>
        </p:spPr>
        <p:txBody>
          <a:bodyPr/>
          <a:lstStyle/>
          <a:p>
            <a:endParaRPr lang="en-US"/>
          </a:p>
        </p:txBody>
      </p:sp>
      <p:sp>
        <p:nvSpPr>
          <p:cNvPr id="34" name="Shape 32"/>
          <p:cNvSpPr/>
          <p:nvPr/>
        </p:nvSpPr>
        <p:spPr>
          <a:xfrm>
            <a:off x="993361" y="2761293"/>
            <a:ext cx="1026401" cy="823576"/>
          </a:xfrm>
          <a:prstGeom prst="line">
            <a:avLst/>
          </a:prstGeom>
          <a:noFill/>
          <a:ln w="19050">
            <a:solidFill>
              <a:srgbClr val="C7A400">
                <a:alpha val="20000"/>
              </a:srgbClr>
            </a:solidFill>
            <a:prstDash val="dashDot"/>
          </a:ln>
        </p:spPr>
        <p:txBody>
          <a:bodyPr/>
          <a:lstStyle/>
          <a:p>
            <a:endParaRPr lang="en-US"/>
          </a:p>
        </p:txBody>
      </p:sp>
      <p:sp>
        <p:nvSpPr>
          <p:cNvPr id="35" name="Shape 33"/>
          <p:cNvSpPr/>
          <p:nvPr/>
        </p:nvSpPr>
        <p:spPr>
          <a:xfrm>
            <a:off x="415577" y="2297161"/>
            <a:ext cx="577783" cy="464132"/>
          </a:xfrm>
          <a:prstGeom prst="line">
            <a:avLst/>
          </a:prstGeom>
          <a:noFill/>
          <a:ln w="19050">
            <a:solidFill>
              <a:srgbClr val="C7A400">
                <a:alpha val="20000"/>
              </a:srgbClr>
            </a:solidFill>
            <a:prstDash val="dashDot"/>
          </a:ln>
        </p:spPr>
        <p:txBody>
          <a:bodyPr/>
          <a:lstStyle/>
          <a:p>
            <a:endParaRPr lang="en-US"/>
          </a:p>
        </p:txBody>
      </p:sp>
      <p:sp>
        <p:nvSpPr>
          <p:cNvPr id="47" name="Shape 45"/>
          <p:cNvSpPr/>
          <p:nvPr/>
        </p:nvSpPr>
        <p:spPr>
          <a:xfrm>
            <a:off x="5538286" y="4125648"/>
            <a:ext cx="122765" cy="122765"/>
          </a:xfrm>
          <a:prstGeom prst="rect">
            <a:avLst/>
          </a:prstGeom>
          <a:ln w="19050">
            <a:solidFill>
              <a:srgbClr val="BB00BB">
                <a:alpha val="20000"/>
                <a:alpha val="100000"/>
              </a:srgbClr>
            </a:solidFill>
            <a:prstDash val="solid"/>
          </a:ln>
        </p:spPr>
        <p:txBody>
          <a:bodyPr/>
          <a:lstStyle/>
          <a:p>
            <a:endParaRPr lang="en-US"/>
          </a:p>
        </p:txBody>
      </p:sp>
      <p:sp>
        <p:nvSpPr>
          <p:cNvPr id="48" name="Text 46"/>
          <p:cNvSpPr/>
          <p:nvPr/>
        </p:nvSpPr>
        <p:spPr>
          <a:xfrm>
            <a:off x="5678589" y="401592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P2.002</a:t>
            </a:r>
            <a:endParaRPr lang="en-US" sz="650" dirty="0"/>
          </a:p>
        </p:txBody>
      </p:sp>
      <p:sp>
        <p:nvSpPr>
          <p:cNvPr id="71" name="Text 69"/>
          <p:cNvSpPr/>
          <p:nvPr/>
        </p:nvSpPr>
        <p:spPr>
          <a:xfrm>
            <a:off x="5861230" y="780354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RRM.545</a:t>
            </a:r>
            <a:endParaRPr lang="en-US" sz="500" dirty="0"/>
          </a:p>
        </p:txBody>
      </p:sp>
      <p:sp>
        <p:nvSpPr>
          <p:cNvPr id="72" name="Text 70"/>
          <p:cNvSpPr/>
          <p:nvPr/>
        </p:nvSpPr>
        <p:spPr>
          <a:xfrm>
            <a:off x="2447494" y="50537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RRM.546</a:t>
            </a:r>
            <a:endParaRPr lang="en-US" sz="500" dirty="0"/>
          </a:p>
        </p:txBody>
      </p:sp>
      <p:sp>
        <p:nvSpPr>
          <p:cNvPr id="73" name="Text 71"/>
          <p:cNvSpPr/>
          <p:nvPr/>
        </p:nvSpPr>
        <p:spPr>
          <a:xfrm>
            <a:off x="7206469" y="612596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RRM.554</a:t>
            </a:r>
            <a:endParaRPr lang="en-US" sz="500" dirty="0"/>
          </a:p>
        </p:txBody>
      </p:sp>
      <p:sp>
        <p:nvSpPr>
          <p:cNvPr id="74" name="Text 72"/>
          <p:cNvSpPr/>
          <p:nvPr/>
        </p:nvSpPr>
        <p:spPr>
          <a:xfrm>
            <a:off x="1730110" y="172800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RRM.556</a:t>
            </a:r>
            <a:endParaRPr lang="en-US" sz="500" dirty="0"/>
          </a:p>
        </p:txBody>
      </p:sp>
      <p:sp>
        <p:nvSpPr>
          <p:cNvPr id="75" name="Text 73"/>
          <p:cNvSpPr/>
          <p:nvPr/>
        </p:nvSpPr>
        <p:spPr>
          <a:xfrm>
            <a:off x="2563156" y="19170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&amp;.24043</a:t>
            </a:r>
            <a:endParaRPr lang="en-US" sz="500" dirty="0"/>
          </a:p>
        </p:txBody>
      </p:sp>
      <p:sp>
        <p:nvSpPr>
          <p:cNvPr id="76" name="Text 74"/>
          <p:cNvSpPr/>
          <p:nvPr/>
        </p:nvSpPr>
        <p:spPr>
          <a:xfrm>
            <a:off x="9261112" y="92424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TCCECH.03.010</a:t>
            </a:r>
            <a:endParaRPr lang="en-US" sz="500" dirty="0"/>
          </a:p>
        </p:txBody>
      </p:sp>
      <p:sp>
        <p:nvSpPr>
          <p:cNvPr id="77" name="Text 75"/>
          <p:cNvSpPr/>
          <p:nvPr/>
        </p:nvSpPr>
        <p:spPr>
          <a:xfrm>
            <a:off x="8234272" y="841833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TCCECH.04.009</a:t>
            </a:r>
            <a:endParaRPr lang="en-US" sz="500" dirty="0"/>
          </a:p>
        </p:txBody>
      </p:sp>
      <p:sp>
        <p:nvSpPr>
          <p:cNvPr id="78" name="Text 76"/>
          <p:cNvSpPr/>
          <p:nvPr/>
        </p:nvSpPr>
        <p:spPr>
          <a:xfrm>
            <a:off x="4128845" y="51221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TCCECH.04.007</a:t>
            </a:r>
            <a:endParaRPr lang="en-US" sz="500" dirty="0"/>
          </a:p>
        </p:txBody>
      </p:sp>
      <p:sp>
        <p:nvSpPr>
          <p:cNvPr id="79" name="Text 77"/>
          <p:cNvSpPr/>
          <p:nvPr/>
        </p:nvSpPr>
        <p:spPr>
          <a:xfrm>
            <a:off x="3104373" y="42986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TCCECH.03.007</a:t>
            </a:r>
            <a:endParaRPr lang="en-US" sz="500" dirty="0"/>
          </a:p>
        </p:txBody>
      </p:sp>
      <p:sp>
        <p:nvSpPr>
          <p:cNvPr id="80" name="Text 78"/>
          <p:cNvSpPr/>
          <p:nvPr/>
        </p:nvSpPr>
        <p:spPr>
          <a:xfrm>
            <a:off x="2077885" y="34762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TCCECH.04.006</a:t>
            </a:r>
            <a:endParaRPr lang="en-US" sz="500" dirty="0"/>
          </a:p>
        </p:txBody>
      </p:sp>
      <p:sp>
        <p:nvSpPr>
          <p:cNvPr id="81" name="Text 79"/>
          <p:cNvSpPr/>
          <p:nvPr/>
        </p:nvSpPr>
        <p:spPr>
          <a:xfrm>
            <a:off x="1051484" y="26526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82" name="Text 80"/>
          <p:cNvSpPr/>
          <p:nvPr/>
        </p:nvSpPr>
        <p:spPr>
          <a:xfrm>
            <a:off x="5155684" y="594725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TCCECH.03.008</a:t>
            </a:r>
            <a:endParaRPr lang="en-US" sz="500" dirty="0"/>
          </a:p>
        </p:txBody>
      </p:sp>
      <p:sp>
        <p:nvSpPr>
          <p:cNvPr id="83" name="Text 81"/>
          <p:cNvSpPr/>
          <p:nvPr/>
        </p:nvSpPr>
        <p:spPr>
          <a:xfrm>
            <a:off x="6182699" y="677057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TCCECH.04.008</a:t>
            </a:r>
            <a:endParaRPr lang="en-US" sz="500" dirty="0"/>
          </a:p>
        </p:txBody>
      </p:sp>
      <p:sp>
        <p:nvSpPr>
          <p:cNvPr id="84" name="Text 82"/>
          <p:cNvSpPr/>
          <p:nvPr/>
        </p:nvSpPr>
        <p:spPr>
          <a:xfrm>
            <a:off x="7207433" y="759344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TCCECH.03.009</a:t>
            </a:r>
            <a:endParaRPr lang="en-US" sz="500" dirty="0"/>
          </a:p>
        </p:txBody>
      </p:sp>
      <p:sp>
        <p:nvSpPr>
          <p:cNvPr id="85" name="Text 83"/>
          <p:cNvSpPr/>
          <p:nvPr/>
        </p:nvSpPr>
        <p:spPr>
          <a:xfrm>
            <a:off x="5657792" y="407842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P2.002</a:t>
            </a:r>
            <a:endParaRPr lang="en-US" sz="500" dirty="0"/>
          </a:p>
        </p:txBody>
      </p:sp>
      <p:sp>
        <p:nvSpPr>
          <p:cNvPr id="86" name="Text 84"/>
          <p:cNvSpPr/>
          <p:nvPr/>
        </p:nvSpPr>
        <p:spPr>
          <a:xfrm>
            <a:off x="6003199" y="364699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HH.E.055</a:t>
            </a:r>
            <a:endParaRPr lang="en-US" sz="500" dirty="0"/>
          </a:p>
        </p:txBody>
      </p:sp>
      <p:sp>
        <p:nvSpPr>
          <p:cNvPr id="87" name="Text 85"/>
          <p:cNvSpPr/>
          <p:nvPr/>
        </p:nvSpPr>
        <p:spPr>
          <a:xfrm>
            <a:off x="4855875" y="25877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HH.E.056</a:t>
            </a:r>
            <a:endParaRPr lang="en-US" sz="500" dirty="0"/>
          </a:p>
        </p:txBody>
      </p:sp>
      <p:sp>
        <p:nvSpPr>
          <p:cNvPr id="88" name="Shape 86"/>
          <p:cNvSpPr/>
          <p:nvPr/>
        </p:nvSpPr>
        <p:spPr>
          <a:xfrm>
            <a:off x="2941094" y="4302062"/>
            <a:ext cx="210312" cy="210312"/>
          </a:xfrm>
          <a:prstGeom prst="ellipse">
            <a:avLst/>
          </a:prstGeom>
          <a:noFill/>
          <a:ln w="28575">
            <a:solidFill>
              <a:srgbClr val="9AA0A6">
                <a:alpha val="20000"/>
              </a:srgbClr>
            </a:solidFill>
            <a:prstDash val="solid"/>
          </a:ln>
        </p:spPr>
        <p:txBody>
          <a:bodyPr/>
          <a:lstStyle/>
          <a:p>
            <a:endParaRPr lang="en-US"/>
          </a:p>
        </p:txBody>
      </p:sp>
      <p:sp>
        <p:nvSpPr>
          <p:cNvPr id="89" name="Shape 87"/>
          <p:cNvSpPr/>
          <p:nvPr/>
        </p:nvSpPr>
        <p:spPr>
          <a:xfrm>
            <a:off x="2991386" y="4352354"/>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90" name="Text 88"/>
          <p:cNvSpPr/>
          <p:nvPr/>
        </p:nvSpPr>
        <p:spPr>
          <a:xfrm>
            <a:off x="3165122" y="418776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TCCECH-03/007</a:t>
            </a:r>
            <a:endParaRPr lang="en-US" sz="650" dirty="0"/>
          </a:p>
        </p:txBody>
      </p:sp>
      <p:sp>
        <p:nvSpPr>
          <p:cNvPr id="91" name="Shape 89"/>
          <p:cNvSpPr/>
          <p:nvPr/>
        </p:nvSpPr>
        <p:spPr>
          <a:xfrm>
            <a:off x="3965566" y="5125637"/>
            <a:ext cx="210312" cy="210312"/>
          </a:xfrm>
          <a:prstGeom prst="ellipse">
            <a:avLst/>
          </a:prstGeom>
          <a:noFill/>
          <a:ln w="28575">
            <a:solidFill>
              <a:srgbClr val="9AA0A6">
                <a:alpha val="20000"/>
              </a:srgbClr>
            </a:solidFill>
            <a:prstDash val="solid"/>
          </a:ln>
        </p:spPr>
        <p:txBody>
          <a:bodyPr/>
          <a:lstStyle/>
          <a:p>
            <a:endParaRPr lang="en-US"/>
          </a:p>
        </p:txBody>
      </p:sp>
      <p:sp>
        <p:nvSpPr>
          <p:cNvPr id="92" name="Shape 90"/>
          <p:cNvSpPr/>
          <p:nvPr/>
        </p:nvSpPr>
        <p:spPr>
          <a:xfrm>
            <a:off x="4015858" y="5175929"/>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93" name="Text 91"/>
          <p:cNvSpPr/>
          <p:nvPr/>
        </p:nvSpPr>
        <p:spPr>
          <a:xfrm>
            <a:off x="4189594" y="501133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TCCECH-04/007</a:t>
            </a:r>
            <a:endParaRPr lang="en-US" sz="650" dirty="0"/>
          </a:p>
        </p:txBody>
      </p:sp>
      <p:sp>
        <p:nvSpPr>
          <p:cNvPr id="94" name="Shape 92"/>
          <p:cNvSpPr/>
          <p:nvPr/>
        </p:nvSpPr>
        <p:spPr>
          <a:xfrm>
            <a:off x="4992405" y="5950704"/>
            <a:ext cx="210312" cy="210312"/>
          </a:xfrm>
          <a:prstGeom prst="ellipse">
            <a:avLst/>
          </a:prstGeom>
          <a:noFill/>
          <a:ln w="28575">
            <a:solidFill>
              <a:srgbClr val="CC0000">
                <a:alpha val="100000"/>
              </a:srgbClr>
            </a:solidFill>
            <a:prstDash val="solid"/>
          </a:ln>
        </p:spPr>
        <p:txBody>
          <a:bodyPr/>
          <a:lstStyle/>
          <a:p>
            <a:endParaRPr lang="en-US"/>
          </a:p>
        </p:txBody>
      </p:sp>
      <p:sp>
        <p:nvSpPr>
          <p:cNvPr id="95" name="Shape 93"/>
          <p:cNvSpPr/>
          <p:nvPr/>
        </p:nvSpPr>
        <p:spPr>
          <a:xfrm>
            <a:off x="5042697" y="6000996"/>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96" name="Text 94"/>
          <p:cNvSpPr/>
          <p:nvPr/>
        </p:nvSpPr>
        <p:spPr>
          <a:xfrm>
            <a:off x="5216433" y="583640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TCCECH-03/008</a:t>
            </a:r>
            <a:endParaRPr lang="en-US" sz="650" dirty="0"/>
          </a:p>
        </p:txBody>
      </p:sp>
      <p:sp>
        <p:nvSpPr>
          <p:cNvPr id="97" name="Shape 95"/>
          <p:cNvSpPr/>
          <p:nvPr/>
        </p:nvSpPr>
        <p:spPr>
          <a:xfrm>
            <a:off x="6019419" y="6774017"/>
            <a:ext cx="210312" cy="210312"/>
          </a:xfrm>
          <a:prstGeom prst="ellipse">
            <a:avLst/>
          </a:prstGeom>
          <a:noFill/>
          <a:ln w="28575">
            <a:solidFill>
              <a:srgbClr val="9AA0A6">
                <a:alpha val="20000"/>
              </a:srgbClr>
            </a:solidFill>
            <a:prstDash val="solid"/>
          </a:ln>
        </p:spPr>
        <p:txBody>
          <a:bodyPr/>
          <a:lstStyle/>
          <a:p>
            <a:endParaRPr lang="en-US"/>
          </a:p>
        </p:txBody>
      </p:sp>
      <p:sp>
        <p:nvSpPr>
          <p:cNvPr id="98" name="Shape 96"/>
          <p:cNvSpPr/>
          <p:nvPr/>
        </p:nvSpPr>
        <p:spPr>
          <a:xfrm>
            <a:off x="6069711" y="6824309"/>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99" name="Text 97"/>
          <p:cNvSpPr/>
          <p:nvPr/>
        </p:nvSpPr>
        <p:spPr>
          <a:xfrm>
            <a:off x="6243447" y="665971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TCCECH-04/008</a:t>
            </a:r>
            <a:endParaRPr lang="en-US" sz="650" dirty="0"/>
          </a:p>
        </p:txBody>
      </p:sp>
      <p:sp>
        <p:nvSpPr>
          <p:cNvPr id="100" name="Shape 98"/>
          <p:cNvSpPr/>
          <p:nvPr/>
        </p:nvSpPr>
        <p:spPr>
          <a:xfrm>
            <a:off x="7044154" y="7596891"/>
            <a:ext cx="210312" cy="210312"/>
          </a:xfrm>
          <a:prstGeom prst="ellipse">
            <a:avLst/>
          </a:prstGeom>
          <a:noFill/>
          <a:ln w="28575">
            <a:solidFill>
              <a:srgbClr val="9AA0A6">
                <a:alpha val="20000"/>
              </a:srgbClr>
            </a:solidFill>
            <a:prstDash val="solid"/>
          </a:ln>
        </p:spPr>
        <p:txBody>
          <a:bodyPr/>
          <a:lstStyle/>
          <a:p>
            <a:endParaRPr lang="en-US"/>
          </a:p>
        </p:txBody>
      </p:sp>
      <p:sp>
        <p:nvSpPr>
          <p:cNvPr id="101" name="Shape 99"/>
          <p:cNvSpPr/>
          <p:nvPr/>
        </p:nvSpPr>
        <p:spPr>
          <a:xfrm>
            <a:off x="7094446" y="7647183"/>
            <a:ext cx="109728" cy="109728"/>
          </a:xfrm>
          <a:prstGeom prst="ellipse">
            <a:avLst/>
          </a:prstGeom>
          <a:solidFill>
            <a:srgbClr val="9AA0A6">
              <a:alpha val="20000"/>
            </a:srgbClr>
          </a:solidFill>
          <a:ln w="6350">
            <a:solidFill>
              <a:srgbClr val="9AA0A6">
                <a:alpha val="20000"/>
              </a:srgbClr>
            </a:solidFill>
            <a:prstDash val="solid"/>
          </a:ln>
        </p:spPr>
        <p:txBody>
          <a:bodyPr/>
          <a:lstStyle/>
          <a:p>
            <a:endParaRPr lang="en-US"/>
          </a:p>
        </p:txBody>
      </p:sp>
      <p:sp>
        <p:nvSpPr>
          <p:cNvPr id="102" name="Text 100"/>
          <p:cNvSpPr/>
          <p:nvPr/>
        </p:nvSpPr>
        <p:spPr>
          <a:xfrm>
            <a:off x="7268182" y="74825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TCCECH-03/009</a:t>
            </a:r>
            <a:endParaRPr lang="en-US" sz="650" dirty="0"/>
          </a:p>
        </p:txBody>
      </p:sp>
      <p:sp>
        <p:nvSpPr>
          <p:cNvPr id="103" name="Shape 101"/>
          <p:cNvSpPr/>
          <p:nvPr/>
        </p:nvSpPr>
        <p:spPr>
          <a:xfrm>
            <a:off x="3620509" y="3379485"/>
            <a:ext cx="210312" cy="210312"/>
          </a:xfrm>
          <a:prstGeom prst="ellipse">
            <a:avLst/>
          </a:prstGeom>
          <a:ln w="28575">
            <a:solidFill>
              <a:srgbClr val="BB00BB"/>
            </a:solidFill>
            <a:prstDash val="solid"/>
          </a:ln>
        </p:spPr>
        <p:txBody>
          <a:bodyPr/>
          <a:lstStyle/>
          <a:p>
            <a:endParaRPr lang="en-US"/>
          </a:p>
        </p:txBody>
      </p:sp>
      <p:sp>
        <p:nvSpPr>
          <p:cNvPr id="104" name="Shape 102"/>
          <p:cNvSpPr/>
          <p:nvPr/>
        </p:nvSpPr>
        <p:spPr>
          <a:xfrm>
            <a:off x="3670801" y="3429777"/>
            <a:ext cx="109728" cy="109728"/>
          </a:xfrm>
          <a:prstGeom prst="ellipse">
            <a:avLst/>
          </a:prstGeom>
          <a:solidFill>
            <a:srgbClr val="FFFFFF"/>
          </a:solidFill>
          <a:ln w="6350">
            <a:solidFill>
              <a:srgbClr val="FFFFFF"/>
            </a:solidFill>
            <a:prstDash val="solid"/>
          </a:ln>
        </p:spPr>
        <p:txBody>
          <a:bodyPr/>
          <a:lstStyle/>
          <a:p>
            <a:endParaRPr lang="en-US"/>
          </a:p>
        </p:txBody>
      </p:sp>
      <p:sp>
        <p:nvSpPr>
          <p:cNvPr id="105" name="Text 103"/>
          <p:cNvSpPr/>
          <p:nvPr/>
        </p:nvSpPr>
        <p:spPr>
          <a:xfrm>
            <a:off x="3844537" y="326518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RRM.555</a:t>
            </a:r>
            <a:endParaRPr lang="en-US" sz="650" dirty="0"/>
          </a:p>
        </p:txBody>
      </p:sp>
      <p:sp>
        <p:nvSpPr>
          <p:cNvPr id="106" name="Shape 104"/>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107" name="Text 105"/>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2 — 1002  ·  REV P08 (FINAL SCOPE)</a:t>
            </a:r>
            <a:endParaRPr lang="en-US" sz="1250" dirty="0"/>
          </a:p>
        </p:txBody>
      </p:sp>
      <p:sp>
        <p:nvSpPr>
          <p:cNvPr id="108" name="Text 106"/>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Rev P06/P07 quantities) — FIELD CONDITION GOVERNS</a:t>
            </a:r>
            <a:endParaRPr lang="en-US" sz="800" dirty="0"/>
          </a:p>
        </p:txBody>
      </p:sp>
      <p:sp>
        <p:nvSpPr>
          <p:cNvPr id="109" name="Text 107"/>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p>
        </p:txBody>
      </p:sp>
      <p:sp>
        <p:nvSpPr>
          <p:cNvPr id="110" name="Shape 108"/>
          <p:cNvSpPr/>
          <p:nvPr/>
        </p:nvSpPr>
        <p:spPr>
          <a:xfrm>
            <a:off x="10104120" y="2057400"/>
            <a:ext cx="4709160" cy="2040026"/>
          </a:xfrm>
          <a:prstGeom prst="rect">
            <a:avLst/>
          </a:prstGeom>
          <a:solidFill>
            <a:srgbClr val="F4F6F8"/>
          </a:solidFill>
          <a:ln w="9525">
            <a:solidFill>
              <a:srgbClr val="D5DAE0"/>
            </a:solidFill>
            <a:prstDash val="solid"/>
          </a:ln>
        </p:spPr>
        <p:txBody>
          <a:bodyPr/>
          <a:lstStyle/>
          <a:p>
            <a:endParaRPr lang="en-US"/>
          </a:p>
        </p:txBody>
      </p:sp>
      <p:sp>
        <p:nvSpPr>
          <p:cNvPr id="111" name="Text 109"/>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112" name="Text 110"/>
          <p:cNvSpPr/>
          <p:nvPr/>
        </p:nvSpPr>
        <p:spPr>
          <a:xfrm>
            <a:off x="10241280" y="2386584"/>
            <a:ext cx="4434840" cy="1655978"/>
          </a:xfrm>
          <a:prstGeom prst="rect">
            <a:avLst/>
          </a:prstGeom>
          <a:noFill/>
          <a:ln/>
        </p:spPr>
        <p:txBody>
          <a:bodyPr wrap="square" lIns="0" tIns="0" rIns="0" bIns="0" rtlCol="0" anchor="t"/>
          <a:lstStyle/>
          <a:p>
            <a:pPr marL="0" indent="0">
              <a:lnSpc>
                <a:spcPct val="112000"/>
              </a:lnSpc>
              <a:buNone/>
            </a:pPr>
            <a:r>
              <a:rPr sz="720">
                <a:solidFill>
                  <a:srgbClr val="1F2937"/>
                </a:solidFill>
                <a:latin typeface="Arial"/>
              </a:rPr>
              <a:t>FINAL SCOPE (REV P08) — ONE FITTING AFFECTED, SAW CUT</a:t>
            </a:r>
            <a:endParaRPr lang="en-US" sz="760" dirty="0"/>
          </a:p>
          <a:p>
            <a:r>
              <a:rPr sz="720">
                <a:solidFill>
                  <a:srgbClr val="1F2937"/>
                </a:solidFill>
                <a:latin typeface="Arial"/>
              </a:rPr>
              <a:t>CORE OUT 12" EXISTING SHALLOW BASE + INSTALL NEW 12" SIDE-ENTRY SHALLOW BASE + NEW CABLE: 1 No.</a:t>
            </a:r>
          </a:p>
          <a:p>
            <a:r>
              <a:rPr sz="720">
                <a:solidFill>
                  <a:srgbClr val="1F2937"/>
                </a:solidFill>
                <a:latin typeface="Arial"/>
              </a:rPr>
              <a:t>   • TCCECH-03/008 — 12" coring of existing shallow base; new 12" side-entry base installed; secondary cable via SAW CUT.</a:t>
            </a:r>
          </a:p>
          <a:p>
            <a:r>
              <a:rPr sz="720">
                <a:solidFill>
                  <a:srgbClr val="1F2937"/>
                </a:solidFill>
                <a:latin typeface="Arial"/>
              </a:rPr>
              <a:t>   Saw cut detail per sheet SAW CUT &amp; SIDE-ENTRY SHALLOW BASE DETAIL — detail drawing to be issued.</a:t>
            </a:r>
            <a:br/>
            <a:r>
              <a:rPr sz="720">
                <a:solidFill>
                  <a:srgbClr val="1F2937"/>
                </a:solidFill>
                <a:latin typeface="Arial"/>
              </a:rPr>
              <a:t>DUCTS: remaining ducts in frame NOT AFFECTED during milling — no duct works at LOC-02.</a:t>
            </a:r>
          </a:p>
          <a:p>
            <a:r>
              <a:rPr sz="720">
                <a:solidFill>
                  <a:srgbClr val="1F2937"/>
                </a:solidFill>
                <a:latin typeface="Arial"/>
              </a:rPr>
              <a:t>REMOVED FROM SCOPE AT REV P08 — no works: TCCECH-03/007, 04/007, 04/008, 03/009</a:t>
            </a:r>
          </a:p>
          <a:p>
            <a:r>
              <a:rPr sz="720">
                <a:solidFill>
                  <a:srgbClr val="1F2937"/>
                </a:solidFill>
                <a:latin typeface="Arial"/>
              </a:rPr>
              <a:t>   Rev P06/P07 carried all 5 No. as new-secondary-cable-only via duct. The final scope names 03/008 only.</a:t>
            </a:r>
          </a:p>
          <a:p>
            <a:r>
              <a:rPr sz="720">
                <a:solidFill>
                  <a:srgbClr val="1F2937"/>
                </a:solidFill>
                <a:latin typeface="Arial"/>
              </a:rPr>
              <a:t>RRM.555 (0.41 m from cut): REMOVE / PROTECT BEFORE SAWCUT, RE-FIX AFTER PAVING</a:t>
            </a:r>
          </a:p>
          <a:p>
            <a:r>
              <a:rPr sz="720">
                <a:solidFill>
                  <a:srgbClr val="1F2937"/>
                </a:solidFill>
                <a:latin typeface="Arial"/>
              </a:rPr>
              <a:t>ISOLATE CIRCUITS: TCCECH.03, TCCECH.04</a:t>
            </a:r>
          </a:p>
          <a:p>
            <a:r>
              <a:rPr sz="720">
                <a:solidFill>
                  <a:srgbClr val="1F2937"/>
                </a:solidFill>
                <a:latin typeface="Arial"/>
              </a:rPr>
              <a:t>REV P08 SUPERSEDES the Rev P06/P07 quantities. SUPERSEDED = no works; NOT a field verification that the asset is unaffected.</a:t>
            </a:r>
          </a:p>
          <a:p>
            <a:r>
              <a:rPr sz="720">
                <a:solidFill>
                  <a:srgbClr val="1F2937"/>
                </a:solidFill>
                <a:latin typeface="Arial"/>
              </a:rPr>
              <a:t>RED AGL WORKS AREA = Rev P05 field-condition milling extent, UNCHANGED at P08 — the civil milling limit, not a hull of the affected assets.</a:t>
            </a:r>
          </a:p>
        </p:txBody>
      </p:sp>
      <p:sp>
        <p:nvSpPr>
          <p:cNvPr id="113" name="Shape 111"/>
          <p:cNvSpPr/>
          <p:nvPr/>
        </p:nvSpPr>
        <p:spPr>
          <a:xfrm>
            <a:off x="10104120" y="4207154"/>
            <a:ext cx="4709160" cy="2267712"/>
          </a:xfrm>
          <a:prstGeom prst="rect">
            <a:avLst/>
          </a:prstGeom>
          <a:solidFill>
            <a:srgbClr val="FFFFFF"/>
          </a:solidFill>
          <a:ln w="9525">
            <a:solidFill>
              <a:srgbClr val="D5DAE0"/>
            </a:solidFill>
            <a:prstDash val="solid"/>
          </a:ln>
        </p:spPr>
        <p:txBody>
          <a:bodyPr/>
          <a:lstStyle/>
          <a:p>
            <a:endParaRPr lang="en-US"/>
          </a:p>
        </p:txBody>
      </p:sp>
      <p:sp>
        <p:nvSpPr>
          <p:cNvPr id="114" name="Text 112"/>
          <p:cNvSpPr/>
          <p:nvPr/>
        </p:nvSpPr>
        <p:spPr>
          <a:xfrm>
            <a:off x="10241280" y="4280306"/>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115" name="Text 113"/>
          <p:cNvSpPr/>
          <p:nvPr/>
        </p:nvSpPr>
        <p:spPr>
          <a:xfrm>
            <a:off x="10241280" y="4536338"/>
            <a:ext cx="4434840" cy="1883664"/>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 NOT UTM 40N. The Rev P06 "EPSG:32640" label was wrong; no surveyed local-to-UTM transform exists. Do not issue a UTM coordinate from this sheet.</a:t>
            </a:r>
            <a:endParaRPr lang="en-US" sz="680" dirty="0"/>
          </a:p>
          <a:p>
            <a:r>
              <a:rPr sz="700">
                <a:solidFill>
                  <a:srgbClr val="5F6368"/>
                </a:solidFill>
                <a:latin typeface="Arial"/>
              </a:rPr>
              <a:t>2. AGL works area (red) per field condition — the Rev P05 milling extent, UNCHANGED at Rev P08. Coring at P08: LOC-01 3 No. 12" + 6 No. 8" cored, 11 No. 8" side-entry bases installed; LOC-02 12" at TCCECH-03/008; LOC-03 12" at TCCECH-03/003 only — balance 3 No. TCC secondary cable only.</a:t>
            </a:r>
          </a:p>
          <a:p>
            <a:r>
              <a:rPr sz="700">
                <a:solidFill>
                  <a:srgbClr val="5F6368"/>
                </a:solidFill>
                <a:latin typeface="Arial"/>
              </a:rPr>
              <a:t>3. Duct / ductbank / conduit / sawcut lines are REAL as-built geometry from ADA drawing Z1-Z2-Z3-MTA_SEGMENTATION.dxf — not light-to-nearest-pit construction lines. Layer name carries size and way-count; see sheet 6.</a:t>
            </a:r>
          </a:p>
          <a:p>
            <a:r>
              <a:rPr sz="700">
                <a:solidFill>
                  <a:srgbClr val="5F6368"/>
                </a:solidFill>
                <a:latin typeface="Arial"/>
              </a:rPr>
              <a:t>4. Ducts are drawn as the separate segments they are in the source. Continuity NOT proven — do not take a continuous pull length off this sheet.</a:t>
            </a:r>
          </a:p>
          <a:p>
            <a:r>
              <a:rPr sz="700">
                <a:solidFill>
                  <a:srgbClr val="5F6368"/>
                </a:solidFill>
                <a:latin typeface="Arial"/>
              </a:rPr>
              <a:t>5. Isolate, lock out &amp; prove dead all listed circuits at CCR under permit before cutting, coring or excavation.</a:t>
            </a:r>
          </a:p>
          <a:p>
            <a:r>
              <a:rPr sz="700">
                <a:solidFill>
                  <a:srgbClr val="5F6368"/>
                </a:solidFill>
                <a:latin typeface="Arial"/>
              </a:rPr>
              <a:t>6. HH / MH / transformer-pit / RRM symbols sit ~2.1-2.3 m off the source insertion point (sheet 6) — set out civil features from survey.</a:t>
            </a:r>
          </a:p>
          <a:p>
            <a:r>
              <a:rPr sz="700">
                <a:solidFill>
                  <a:srgbClr val="5F6368"/>
                </a:solidFill>
                <a:latin typeface="Arial"/>
              </a:rPr>
              <a:t>7. Centerline &amp; stop bar from as-built TCC / SBC fittings. Edge indicative 23 m — confirm on site.</a:t>
            </a:r>
          </a:p>
          <a:p>
            <a:r>
              <a:rPr sz="700">
                <a:solidFill>
                  <a:srgbClr val="5F6368"/>
                </a:solidFill>
                <a:latin typeface="Arial"/>
              </a:rPr>
              <a:t>8. Every asset in frame carries its own as-built symbol, legended right. Type comes from the source layer, not the label. Assets with a works-action marker keep that marker.</a:t>
            </a:r>
          </a:p>
        </p:txBody>
      </p:sp>
      <p:sp>
        <p:nvSpPr>
          <p:cNvPr id="116" name="Shape 114"/>
          <p:cNvSpPr/>
          <p:nvPr/>
        </p:nvSpPr>
        <p:spPr>
          <a:xfrm>
            <a:off x="10104120" y="6584594"/>
            <a:ext cx="4709160" cy="4104044"/>
          </a:xfrm>
          <a:prstGeom prst="rect">
            <a:avLst/>
          </a:prstGeom>
          <a:solidFill>
            <a:srgbClr val="F4F6F8"/>
          </a:solidFill>
          <a:ln w="9525">
            <a:solidFill>
              <a:srgbClr val="D5DAE0"/>
            </a:solidFill>
            <a:prstDash val="solid"/>
          </a:ln>
        </p:spPr>
        <p:txBody>
          <a:bodyPr/>
          <a:lstStyle/>
          <a:p>
            <a:endParaRPr lang="en-US"/>
          </a:p>
        </p:txBody>
      </p:sp>
      <p:sp>
        <p:nvSpPr>
          <p:cNvPr id="117" name="Text 115"/>
          <p:cNvSpPr/>
          <p:nvPr/>
        </p:nvSpPr>
        <p:spPr>
          <a:xfrm>
            <a:off x="10241280" y="6657746"/>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118" name="Shape 116"/>
          <p:cNvSpPr/>
          <p:nvPr/>
        </p:nvSpPr>
        <p:spPr>
          <a:xfrm>
            <a:off x="10241280" y="7157720"/>
            <a:ext cx="192024" cy="192024"/>
          </a:xfrm>
          <a:prstGeom prst="ellipse">
            <a:avLst/>
          </a:prstGeom>
          <a:noFill/>
          <a:ln w="28575">
            <a:solidFill>
              <a:srgbClr val="CC0000"/>
            </a:solidFill>
            <a:prstDash val="solid"/>
          </a:ln>
        </p:spPr>
        <p:txBody>
          <a:bodyPr/>
          <a:lstStyle/>
          <a:p>
            <a:endParaRPr lang="en-US"/>
          </a:p>
        </p:txBody>
      </p:sp>
      <p:sp>
        <p:nvSpPr>
          <p:cNvPr id="170" name="P08 170"/>
          <p:cNvSpPr/>
          <p:nvPr/>
        </p:nvSpPr>
        <p:spPr>
          <a:xfrm>
            <a:off x="10241280" y="7980680"/>
            <a:ext cx="192024" cy="192024"/>
          </a:xfrm>
          <a:prstGeom prst="ellipse">
            <a:avLst/>
          </a:prstGeom>
          <a:noFill/>
          <a:ln w="28575">
            <a:solidFill>
              <a:srgbClr val="BB00BB"/>
            </a:solidFill>
            <a:prstDash val="solid"/>
          </a:ln>
        </p:spPr>
        <p:txBody>
          <a:bodyPr/>
          <a:lstStyle/>
          <a:p>
            <a:endParaRPr lang="en-US"/>
          </a:p>
        </p:txBody>
      </p:sp>
      <p:sp>
        <p:nvSpPr>
          <p:cNvPr id="119" name="Shape 117"/>
          <p:cNvSpPr/>
          <p:nvPr/>
        </p:nvSpPr>
        <p:spPr>
          <a:xfrm>
            <a:off x="10287000" y="7203440"/>
            <a:ext cx="100584" cy="100584"/>
          </a:xfrm>
          <a:prstGeom prst="ellipse">
            <a:avLst/>
          </a:prstGeom>
          <a:solidFill>
            <a:srgbClr val="E8710A"/>
          </a:solidFill>
          <a:ln w="6350">
            <a:solidFill>
              <a:srgbClr val="E8710A"/>
            </a:solidFill>
            <a:prstDash val="solid"/>
          </a:ln>
        </p:spPr>
        <p:txBody>
          <a:bodyPr/>
          <a:lstStyle/>
          <a:p>
            <a:endParaRPr lang="en-US"/>
          </a:p>
        </p:txBody>
      </p:sp>
      <p:sp>
        <p:nvSpPr>
          <p:cNvPr id="171" name="P08 171"/>
          <p:cNvSpPr/>
          <p:nvPr/>
        </p:nvSpPr>
        <p:spPr>
          <a:xfrm>
            <a:off x="10287000" y="8026400"/>
            <a:ext cx="100584" cy="100584"/>
          </a:xfrm>
          <a:prstGeom prst="ellipse">
            <a:avLst/>
          </a:prstGeom>
          <a:solidFill>
            <a:srgbClr val="FFFFFF"/>
          </a:solidFill>
          <a:ln w="6350">
            <a:solidFill>
              <a:srgbClr val="FFFFFF"/>
            </a:solidFill>
            <a:prstDash val="solid"/>
          </a:ln>
        </p:spPr>
        <p:txBody>
          <a:bodyPr/>
          <a:lstStyle/>
          <a:p>
            <a:endParaRPr lang="en-US"/>
          </a:p>
        </p:txBody>
      </p:sp>
      <p:sp>
        <p:nvSpPr>
          <p:cNvPr id="120" name="Text 118"/>
          <p:cNvSpPr/>
          <p:nvPr/>
        </p:nvSpPr>
        <p:spPr>
          <a:xfrm>
            <a:off x="10552176" y="714502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CORE OUT 12" — NEW 12" SIDE-ENTRY BASE (SAWCUT)</a:t>
            </a:r>
            <a:endParaRPr lang="en-US" sz="740" dirty="0"/>
          </a:p>
        </p:txBody>
      </p:sp>
      <p:sp>
        <p:nvSpPr>
          <p:cNvPr id="172" name="P08 172"/>
          <p:cNvSpPr/>
          <p:nvPr/>
        </p:nvSpPr>
        <p:spPr>
          <a:xfrm>
            <a:off x="10552176" y="796798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RRM — REMOVE / PROTECT / RE-FIX</a:t>
            </a:r>
            <a:endParaRPr lang="en-US" sz="740" dirty="0"/>
          </a:p>
        </p:txBody>
      </p:sp>
      <p:sp>
        <p:nvSpPr>
          <p:cNvPr id="126" name="Shape 124"/>
          <p:cNvSpPr/>
          <p:nvPr/>
        </p:nvSpPr>
        <p:spPr>
          <a:xfrm>
            <a:off x="10241280" y="8625840"/>
            <a:ext cx="274320" cy="914"/>
          </a:xfrm>
          <a:prstGeom prst="line">
            <a:avLst/>
          </a:prstGeom>
          <a:noFill/>
          <a:ln w="22225">
            <a:solidFill>
              <a:srgbClr val="0B3D91"/>
            </a:solidFill>
            <a:prstDash val="solid"/>
          </a:ln>
        </p:spPr>
        <p:txBody>
          <a:bodyPr/>
          <a:lstStyle/>
          <a:p>
            <a:endParaRPr lang="en-US"/>
          </a:p>
        </p:txBody>
      </p:sp>
      <p:sp>
        <p:nvSpPr>
          <p:cNvPr id="127" name="Text 125"/>
          <p:cNvSpPr/>
          <p:nvPr/>
        </p:nvSpPr>
        <p:spPr>
          <a:xfrm>
            <a:off x="10588752" y="851662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SECONDARY CABLE — SAW CUT ROUTE (REV P08)</a:t>
            </a:r>
            <a:endParaRPr lang="en-US" sz="740" dirty="0"/>
          </a:p>
        </p:txBody>
      </p:sp>
      <p:sp>
        <p:nvSpPr>
          <p:cNvPr id="130" name="Shape 128"/>
          <p:cNvSpPr/>
          <p:nvPr/>
        </p:nvSpPr>
        <p:spPr>
          <a:xfrm>
            <a:off x="10241280" y="9174480"/>
            <a:ext cx="274320" cy="914"/>
          </a:xfrm>
          <a:prstGeom prst="line">
            <a:avLst/>
          </a:prstGeom>
          <a:noFill/>
          <a:ln w="31750">
            <a:solidFill>
              <a:srgbClr val="CC0000"/>
            </a:solidFill>
            <a:prstDash val="solid"/>
          </a:ln>
        </p:spPr>
        <p:txBody>
          <a:bodyPr/>
          <a:lstStyle/>
          <a:p>
            <a:endParaRPr lang="en-US"/>
          </a:p>
        </p:txBody>
      </p:sp>
      <p:sp>
        <p:nvSpPr>
          <p:cNvPr id="131" name="Text 129"/>
          <p:cNvSpPr/>
          <p:nvPr/>
        </p:nvSpPr>
        <p:spPr>
          <a:xfrm>
            <a:off x="10588752" y="906526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156" name="TextBox 155"/>
          <p:cNvSpPr txBox="1"/>
          <p:nvPr/>
        </p:nvSpPr>
        <p:spPr>
          <a:xfrm>
            <a:off x="10241280" y="6914594"/>
            <a:ext cx="2187420" cy="200000"/>
          </a:xfrm>
          <a:prstGeom prst="rect">
            <a:avLst/>
          </a:prstGeom>
          <a:noFill/>
        </p:spPr>
        <p:txBody>
          <a:bodyPr wrap="square" lIns="0" tIns="0" rIns="0" bIns="0">
            <a:spAutoFit/>
          </a:bodyPr>
          <a:lstStyle/>
          <a:p>
            <a:r>
              <a:rPr sz="750" b="1">
                <a:solidFill>
                  <a:srgbClr val="5F6368"/>
                </a:solidFill>
              </a:rPr>
              <a:t>WORKS ACTIONS &amp; LINEWORK</a:t>
            </a:r>
          </a:p>
        </p:txBody>
      </p:sp>
      <p:sp>
        <p:nvSpPr>
          <p:cNvPr id="157" name="TextBox 156"/>
          <p:cNvSpPr txBox="1"/>
          <p:nvPr/>
        </p:nvSpPr>
        <p:spPr>
          <a:xfrm>
            <a:off x="12488700" y="6914594"/>
            <a:ext cx="2187420" cy="200000"/>
          </a:xfrm>
          <a:prstGeom prst="rect">
            <a:avLst/>
          </a:prstGeom>
          <a:noFill/>
        </p:spPr>
        <p:txBody>
          <a:bodyPr wrap="square" lIns="0" tIns="0" rIns="0" bIns="0">
            <a:spAutoFit/>
          </a:bodyPr>
          <a:lstStyle/>
          <a:p>
            <a:r>
              <a:rPr sz="750" b="1">
                <a:solidFill>
                  <a:srgbClr val="5F6368"/>
                </a:solidFill>
              </a:rPr>
              <a:t>AS-BUILT AGL ASSETS</a:t>
            </a:r>
          </a:p>
        </p:txBody>
      </p:sp>
      <p:sp>
        <p:nvSpPr>
          <p:cNvPr id="160" name="ASBUILT ASSET · Runway guard light / RRM"/>
          <p:cNvSpPr/>
          <p:nvPr/>
        </p:nvSpPr>
        <p:spPr>
          <a:xfrm>
            <a:off x="12548408" y="720917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12738700" y="7144464"/>
            <a:ext cx="1937420" cy="230000"/>
          </a:xfrm>
          <a:prstGeom prst="rect">
            <a:avLst/>
          </a:prstGeom>
          <a:noFill/>
        </p:spPr>
        <p:txBody>
          <a:bodyPr wrap="square" lIns="0" tIns="0" rIns="0" bIns="0">
            <a:spAutoFit/>
          </a:bodyPr>
          <a:lstStyle/>
          <a:p>
            <a:r>
              <a:rPr sz="700">
                <a:solidFill>
                  <a:srgbClr val="20242A"/>
                </a:solidFill>
              </a:rPr>
              <a:t>RUNWAY GUARD LIGHT / RRM  (5)</a:t>
            </a:r>
          </a:p>
        </p:txBody>
      </p:sp>
      <p:sp>
        <p:nvSpPr>
          <p:cNvPr id="162" name="ASBUILT ASSET · Handhole"/>
          <p:cNvSpPr/>
          <p:nvPr/>
        </p:nvSpPr>
        <p:spPr>
          <a:xfrm>
            <a:off x="12534692" y="746977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12738700" y="7418784"/>
            <a:ext cx="1937420" cy="230000"/>
          </a:xfrm>
          <a:prstGeom prst="rect">
            <a:avLst/>
          </a:prstGeom>
          <a:noFill/>
        </p:spPr>
        <p:txBody>
          <a:bodyPr wrap="square" lIns="0" tIns="0" rIns="0" bIns="0">
            <a:spAutoFit/>
          </a:bodyPr>
          <a:lstStyle/>
          <a:p>
            <a:r>
              <a:rPr sz="700">
                <a:solidFill>
                  <a:srgbClr val="20242A"/>
                </a:solidFill>
              </a:rPr>
              <a:t>HANDHOLE (HH)  (2)</a:t>
            </a:r>
          </a:p>
        </p:txBody>
      </p:sp>
      <p:sp>
        <p:nvSpPr>
          <p:cNvPr id="164" name="ASBUILT ASSET · Existing transformer handhole"/>
          <p:cNvSpPr/>
          <p:nvPr/>
        </p:nvSpPr>
        <p:spPr>
          <a:xfrm>
            <a:off x="12525548" y="7734952"/>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12738700" y="7693104"/>
            <a:ext cx="1937420" cy="230000"/>
          </a:xfrm>
          <a:prstGeom prst="rect">
            <a:avLst/>
          </a:prstGeom>
          <a:noFill/>
        </p:spPr>
        <p:txBody>
          <a:bodyPr wrap="square" lIns="0" tIns="0" rIns="0" bIns="0">
            <a:spAutoFit/>
          </a:bodyPr>
          <a:lstStyle/>
          <a:p>
            <a:r>
              <a:rPr sz="700">
                <a:solidFill>
                  <a:srgbClr val="20242A"/>
                </a:solidFill>
              </a:rPr>
              <a:t>TRANSFORMER HH (SEC. FEED HUB)  (1)</a:t>
            </a:r>
          </a:p>
        </p:txBody>
      </p:sp>
      <p:sp>
        <p:nvSpPr>
          <p:cNvPr id="9001" name="P08 LEG GREEN DOT"/>
          <p:cNvSpPr/>
          <p:nvPr/>
        </p:nvSpPr>
        <p:spPr>
          <a:xfrm>
            <a:off x="10287000" y="7752080"/>
            <a:ext cx="100584" cy="100584"/>
          </a:xfrm>
          <a:prstGeom prst="ellipse">
            <a:avLst/>
          </a:prstGeom>
          <a:solidFill>
            <a:srgbClr val="70AD47"/>
          </a:solidFill>
          <a:ln w="6350">
            <a:solidFill>
              <a:srgbClr val="9AA0A6"/>
            </a:solidFill>
            <a:prstDash val="solid"/>
          </a:ln>
        </p:spPr>
        <p:txBody>
          <a:bodyPr/>
          <a:lstStyle/>
          <a:p>
            <a:endParaRPr lang="en-US"/>
          </a:p>
        </p:txBody>
      </p:sp>
      <p:sp>
        <p:nvSpPr>
          <p:cNvPr id="9002" name="P08 LEG GREEN TXT"/>
          <p:cNvSpPr/>
          <p:nvPr/>
        </p:nvSpPr>
        <p:spPr>
          <a:xfrm>
            <a:off x="10552430" y="769366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ONLY SECONDARY CABLE AFFECTED (SAWCUT)</a:t>
            </a:r>
            <a:endParaRPr lang="en-US" sz="740" dirty="0"/>
          </a:p>
        </p:txBody>
      </p:sp>
      <p:sp>
        <p:nvSpPr>
          <p:cNvPr id="9003" name="P08 LEG DUMMY DOT"/>
          <p:cNvSpPr/>
          <p:nvPr/>
        </p:nvSpPr>
        <p:spPr>
          <a:xfrm>
            <a:off x="10318750" y="8321040"/>
            <a:ext cx="91440" cy="91440"/>
          </a:xfrm>
          <a:prstGeom prst="ellipse">
            <a:avLst/>
          </a:prstGeom>
          <a:solidFill>
            <a:srgbClr val="1F4E79"/>
          </a:solidFill>
          <a:ln w="6350">
            <a:solidFill>
              <a:srgbClr val="9AA0A6"/>
            </a:solidFill>
            <a:prstDash val="solid"/>
          </a:ln>
        </p:spPr>
        <p:txBody>
          <a:bodyPr/>
          <a:lstStyle/>
          <a:p>
            <a:endParaRPr lang="en-US"/>
          </a:p>
        </p:txBody>
      </p:sp>
      <p:sp>
        <p:nvSpPr>
          <p:cNvPr id="9004" name="P08 LEG DUMMY TXT"/>
          <p:cNvSpPr/>
          <p:nvPr/>
        </p:nvSpPr>
        <p:spPr>
          <a:xfrm>
            <a:off x="10552430" y="824230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DUMMY PLATE</a:t>
            </a:r>
            <a:endParaRPr lang="en-US" sz="740" dirty="0"/>
          </a:p>
        </p:txBody>
      </p:sp>
      <p:sp>
        <p:nvSpPr>
          <p:cNvPr id="9107" name="P08 LEG 8IN RING"/>
          <p:cNvSpPr/>
          <p:nvPr/>
        </p:nvSpPr>
        <p:spPr>
          <a:xfrm>
            <a:off x="10241280" y="7432040"/>
            <a:ext cx="192024" cy="192024"/>
          </a:xfrm>
          <a:prstGeom prst="ellipse">
            <a:avLst/>
          </a:prstGeom>
          <a:noFill/>
          <a:ln w="28575">
            <a:solidFill>
              <a:srgbClr val="0070C0"/>
            </a:solidFill>
            <a:prstDash val="solid"/>
          </a:ln>
        </p:spPr>
        <p:txBody>
          <a:bodyPr/>
          <a:lstStyle/>
          <a:p>
            <a:endParaRPr lang="en-US"/>
          </a:p>
        </p:txBody>
      </p:sp>
      <p:sp>
        <p:nvSpPr>
          <p:cNvPr id="9108" name="P08 LEG 8IN DOT"/>
          <p:cNvSpPr/>
          <p:nvPr/>
        </p:nvSpPr>
        <p:spPr>
          <a:xfrm>
            <a:off x="10287000" y="7477760"/>
            <a:ext cx="100584" cy="100584"/>
          </a:xfrm>
          <a:prstGeom prst="ellipse">
            <a:avLst/>
          </a:prstGeom>
          <a:solidFill>
            <a:srgbClr val="E8710A"/>
          </a:solidFill>
          <a:ln w="6350">
            <a:solidFill>
              <a:srgbClr val="E8710A"/>
            </a:solidFill>
            <a:prstDash val="solid"/>
          </a:ln>
        </p:spPr>
        <p:txBody>
          <a:bodyPr/>
          <a:lstStyle/>
          <a:p>
            <a:endParaRPr lang="en-US"/>
          </a:p>
        </p:txBody>
      </p:sp>
      <p:sp>
        <p:nvSpPr>
          <p:cNvPr id="9109" name="P08 LEG 8IN TXT"/>
          <p:cNvSpPr/>
          <p:nvPr/>
        </p:nvSpPr>
        <p:spPr>
          <a:xfrm>
            <a:off x="10552430" y="741934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CORE OUT 8" — NEW 8" SIDE-ENTRY BASE (SAWCUT)</a:t>
            </a:r>
            <a:endParaRPr lang="en-US" sz="740" dirty="0"/>
          </a:p>
        </p:txBody>
      </p:sp>
      <p:sp>
        <p:nvSpPr>
          <p:cNvPr id="9201" name="P08 LEG NEWSC LINE"/>
          <p:cNvSpPr/>
          <p:nvPr/>
        </p:nvSpPr>
        <p:spPr>
          <a:xfrm>
            <a:off x="10241280" y="8900160"/>
            <a:ext cx="274320" cy="914"/>
          </a:xfrm>
          <a:prstGeom prst="line">
            <a:avLst/>
          </a:prstGeom>
          <a:noFill/>
          <a:ln w="31750">
            <a:solidFill>
              <a:srgbClr val="7030A0"/>
            </a:solidFill>
            <a:prstDash val="solid"/>
          </a:ln>
        </p:spPr>
        <p:txBody>
          <a:bodyPr/>
          <a:lstStyle/>
          <a:p>
            <a:endParaRPr lang="en-US"/>
          </a:p>
        </p:txBody>
      </p:sp>
      <p:sp>
        <p:nvSpPr>
          <p:cNvPr id="9202" name="P08 LEG NEWSC TXT"/>
          <p:cNvSpPr/>
          <p:nvPr/>
        </p:nvSpPr>
        <p:spPr>
          <a:xfrm>
            <a:off x="10589260" y="879094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SAW CUT — SECONDARY CABLE (REV P08)</a:t>
            </a:r>
            <a:endParaRPr lang="en-US" sz="740" dirty="0"/>
          </a:p>
        </p:txBody>
      </p:sp>
      <p:sp>
        <p:nvSpPr>
          <p:cNvPr id="9185" name="AGL WORKS AREA FILL 1">
            <a:extLst>
              <a:ext uri="{FF2B5EF4-FFF2-40B4-BE49-F238E27FC236}">
                <a16:creationId xmlns:a16="http://schemas.microsoft.com/office/drawing/2014/main" id="{3544423F-780D-FA4E-DCF5-9687E0CEDE99}"/>
              </a:ext>
            </a:extLst>
          </p:cNvPr>
          <p:cNvSpPr/>
          <p:nvPr/>
        </p:nvSpPr>
        <p:spPr>
          <a:xfrm rot="15612738">
            <a:off x="4040578" y="4353915"/>
            <a:ext cx="2705714" cy="2338945"/>
          </a:xfrm>
          <a:custGeom>
            <a:avLst/>
            <a:gdLst/>
            <a:ahLst/>
            <a:cxnLst/>
            <a:rect l="0" t="0" r="r" b="b"/>
            <a:pathLst>
              <a:path w="1460500" h="1549400">
                <a:moveTo>
                  <a:pt x="0" y="1244600"/>
                </a:moveTo>
                <a:lnTo>
                  <a:pt x="1117600" y="0"/>
                </a:lnTo>
                <a:lnTo>
                  <a:pt x="1460500" y="304800"/>
                </a:lnTo>
                <a:lnTo>
                  <a:pt x="342900" y="1549400"/>
                </a:lnTo>
                <a:close/>
              </a:path>
            </a:pathLst>
          </a:custGeom>
          <a:solidFill>
            <a:srgbClr val="CC0000">
              <a:alpha val="34000"/>
            </a:srgbClr>
          </a:solidFill>
          <a:ln>
            <a:noFill/>
          </a:ln>
        </p:spPr>
        <p:txBody>
          <a:bodyPr/>
          <a:lstStyle/>
          <a:p>
            <a:endParaRPr/>
          </a:p>
        </p:txBody>
      </p:sp>
    </p:spTree>
    <p:extLst>
      <p:ext uri="{BB962C8B-B14F-4D97-AF65-F5344CB8AC3E}">
        <p14:creationId xmlns:p14="http://schemas.microsoft.com/office/powerpoint/2010/main" val="243710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3   ·   DWG NO AUH-SK-AGL-TWYE-001-1003 REV P08</a:t>
            </a:r>
            <a:endParaRPr lang="en-US" sz="1500" dirty="0"/>
          </a:p>
        </p:txBody>
      </p:sp>
      <p:sp>
        <p:nvSpPr>
          <p:cNvPr id="3" name="Shape 1"/>
          <p:cNvSpPr/>
          <p:nvPr/>
        </p:nvSpPr>
        <p:spPr>
          <a:xfrm>
            <a:off x="320040" y="777240"/>
            <a:ext cx="9555480" cy="9555480"/>
          </a:xfrm>
          <a:prstGeom prst="rect">
            <a:avLst/>
          </a:pr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lt1"/>
              </a:solidFill>
            </a:endParaRPr>
          </a:p>
        </p:txBody>
      </p:sp>
      <p:sp>
        <p:nvSpPr>
          <p:cNvPr id="113" name="ASBUILT DUCT · CV-EX SEC CONDUIT · 3.8 m"/>
          <p:cNvSpPr/>
          <p:nvPr/>
        </p:nvSpPr>
        <p:spPr>
          <a:xfrm>
            <a:off x="320037" y="776809"/>
            <a:ext cx="378241" cy="68678"/>
          </a:xfrm>
          <a:custGeom>
            <a:avLst/>
            <a:gdLst/>
            <a:ahLst/>
            <a:cxnLst/>
            <a:rect l="l" t="t" r="r" b="b"/>
            <a:pathLst>
              <a:path w="378241" h="68678">
                <a:moveTo>
                  <a:pt x="378241" y="0"/>
                </a:moveTo>
                <a:lnTo>
                  <a:pt x="0" y="6867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ASBUILT DUCT · CV-EX SEC CONDUIT · 19.5 m"/>
          <p:cNvSpPr/>
          <p:nvPr/>
        </p:nvSpPr>
        <p:spPr>
          <a:xfrm>
            <a:off x="319991" y="776869"/>
            <a:ext cx="1653130" cy="1046796"/>
          </a:xfrm>
          <a:custGeom>
            <a:avLst/>
            <a:gdLst/>
            <a:ahLst/>
            <a:cxnLst/>
            <a:rect l="l" t="t" r="r" b="b"/>
            <a:pathLst>
              <a:path w="1653130" h="1046796">
                <a:moveTo>
                  <a:pt x="0" y="1046796"/>
                </a:moveTo>
                <a:lnTo>
                  <a:pt x="165313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ASBUILT DUCT · CV-EX SEC CONDUIT · 18.4 m"/>
          <p:cNvSpPr/>
          <p:nvPr/>
        </p:nvSpPr>
        <p:spPr>
          <a:xfrm>
            <a:off x="924668" y="776879"/>
            <a:ext cx="1258208" cy="1348502"/>
          </a:xfrm>
          <a:custGeom>
            <a:avLst/>
            <a:gdLst/>
            <a:ahLst/>
            <a:cxnLst/>
            <a:rect l="l" t="t" r="r" b="b"/>
            <a:pathLst>
              <a:path w="1258208" h="1348502">
                <a:moveTo>
                  <a:pt x="1258208" y="0"/>
                </a:moveTo>
                <a:lnTo>
                  <a:pt x="0" y="134850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ASBUILT DUCT · CV-EX SEC CONDUIT · 25.5 m"/>
          <p:cNvSpPr/>
          <p:nvPr/>
        </p:nvSpPr>
        <p:spPr>
          <a:xfrm>
            <a:off x="1085699" y="776885"/>
            <a:ext cx="1223250" cy="2245867"/>
          </a:xfrm>
          <a:custGeom>
            <a:avLst/>
            <a:gdLst/>
            <a:ahLst/>
            <a:cxnLst/>
            <a:rect l="l" t="t" r="r" b="b"/>
            <a:pathLst>
              <a:path w="1223250" h="2245867">
                <a:moveTo>
                  <a:pt x="0" y="2245867"/>
                </a:moveTo>
                <a:lnTo>
                  <a:pt x="122325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ASBUILT DUCT · CV-EX SEC CONDUIT · 22.0 m"/>
          <p:cNvSpPr/>
          <p:nvPr/>
        </p:nvSpPr>
        <p:spPr>
          <a:xfrm>
            <a:off x="1342419" y="776886"/>
            <a:ext cx="982055" cy="1976592"/>
          </a:xfrm>
          <a:custGeom>
            <a:avLst/>
            <a:gdLst/>
            <a:ahLst/>
            <a:cxnLst/>
            <a:rect l="l" t="t" r="r" b="b"/>
            <a:pathLst>
              <a:path w="982055" h="1976592">
                <a:moveTo>
                  <a:pt x="982055" y="0"/>
                </a:moveTo>
                <a:lnTo>
                  <a:pt x="0" y="197659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ASBUILT DUCT · CV-EX SEC CONDUIT · 26.3 m"/>
          <p:cNvSpPr/>
          <p:nvPr/>
        </p:nvSpPr>
        <p:spPr>
          <a:xfrm>
            <a:off x="1803778" y="776890"/>
            <a:ext cx="605543" cy="2571530"/>
          </a:xfrm>
          <a:custGeom>
            <a:avLst/>
            <a:gdLst/>
            <a:ahLst/>
            <a:cxnLst/>
            <a:rect l="l" t="t" r="r" b="b"/>
            <a:pathLst>
              <a:path w="605543" h="2571530">
                <a:moveTo>
                  <a:pt x="0" y="2571530"/>
                </a:moveTo>
                <a:lnTo>
                  <a:pt x="605543"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ASBUILT DUCT · CV-EX SEC CONDUIT · 31.2 m"/>
          <p:cNvSpPr/>
          <p:nvPr/>
        </p:nvSpPr>
        <p:spPr>
          <a:xfrm>
            <a:off x="2309047" y="776892"/>
            <a:ext cx="160111" cy="3129697"/>
          </a:xfrm>
          <a:custGeom>
            <a:avLst/>
            <a:gdLst/>
            <a:ahLst/>
            <a:cxnLst/>
            <a:rect l="l" t="t" r="r" b="b"/>
            <a:pathLst>
              <a:path w="160111" h="3129697">
                <a:moveTo>
                  <a:pt x="160111" y="0"/>
                </a:moveTo>
                <a:lnTo>
                  <a:pt x="0" y="3129697"/>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ASBUILT DUCT · CV-NEW SEC SAWCUT · 30.1 m"/>
          <p:cNvSpPr/>
          <p:nvPr/>
        </p:nvSpPr>
        <p:spPr>
          <a:xfrm>
            <a:off x="3236505" y="1966772"/>
            <a:ext cx="1181340" cy="2783058"/>
          </a:xfrm>
          <a:custGeom>
            <a:avLst/>
            <a:gdLst/>
            <a:ahLst/>
            <a:cxnLst/>
            <a:rect l="l" t="t" r="r" b="b"/>
            <a:pathLst>
              <a:path w="1181340" h="2783058">
                <a:moveTo>
                  <a:pt x="0" y="2783058"/>
                </a:moveTo>
                <a:lnTo>
                  <a:pt x="1181340"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ASBUILT DUCT · CV-NEW SEC SAWCUT · 10.4 m"/>
          <p:cNvSpPr/>
          <p:nvPr/>
        </p:nvSpPr>
        <p:spPr>
          <a:xfrm>
            <a:off x="584900" y="3338817"/>
            <a:ext cx="328742" cy="990742"/>
          </a:xfrm>
          <a:custGeom>
            <a:avLst/>
            <a:gdLst/>
            <a:ahLst/>
            <a:cxnLst/>
            <a:rect l="l" t="t" r="r" b="b"/>
            <a:pathLst>
              <a:path w="328742" h="990742">
                <a:moveTo>
                  <a:pt x="0" y="0"/>
                </a:moveTo>
                <a:lnTo>
                  <a:pt x="328742" y="990742"/>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ASBUILT DUCT · CV-NEW SEC SAWCUT · 24.5 m"/>
          <p:cNvSpPr/>
          <p:nvPr/>
        </p:nvSpPr>
        <p:spPr>
          <a:xfrm>
            <a:off x="319805" y="3948874"/>
            <a:ext cx="1640085" cy="1833041"/>
          </a:xfrm>
          <a:custGeom>
            <a:avLst/>
            <a:gdLst/>
            <a:ahLst/>
            <a:cxnLst/>
            <a:rect l="l" t="t" r="r" b="b"/>
            <a:pathLst>
              <a:path w="1640085" h="1833041">
                <a:moveTo>
                  <a:pt x="0" y="1833041"/>
                </a:moveTo>
                <a:lnTo>
                  <a:pt x="1640085"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ASBUILT DUCT · CV-NEW SEC SAWCUT · 27.8 m"/>
          <p:cNvSpPr/>
          <p:nvPr/>
        </p:nvSpPr>
        <p:spPr>
          <a:xfrm>
            <a:off x="319798" y="4329408"/>
            <a:ext cx="2291965" cy="1599046"/>
          </a:xfrm>
          <a:custGeom>
            <a:avLst/>
            <a:gdLst/>
            <a:ahLst/>
            <a:cxnLst/>
            <a:rect l="l" t="t" r="r" b="b"/>
            <a:pathLst>
              <a:path w="2291965" h="1599046">
                <a:moveTo>
                  <a:pt x="2291965" y="0"/>
                </a:moveTo>
                <a:lnTo>
                  <a:pt x="0" y="159904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ASBUILT DUCT · CV-NEW SEC SAWCUT · 20.8 m"/>
          <p:cNvSpPr/>
          <p:nvPr/>
        </p:nvSpPr>
        <p:spPr>
          <a:xfrm>
            <a:off x="319820" y="3618375"/>
            <a:ext cx="964181" cy="1851476"/>
          </a:xfrm>
          <a:custGeom>
            <a:avLst/>
            <a:gdLst/>
            <a:ahLst/>
            <a:cxnLst/>
            <a:rect l="l" t="t" r="r" b="b"/>
            <a:pathLst>
              <a:path w="964181" h="1851476">
                <a:moveTo>
                  <a:pt x="964181" y="0"/>
                </a:moveTo>
                <a:lnTo>
                  <a:pt x="0" y="185147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ASBUILT DUCT · CV-EX SEC CONDUIT · 23.1 m"/>
          <p:cNvSpPr/>
          <p:nvPr/>
        </p:nvSpPr>
        <p:spPr>
          <a:xfrm>
            <a:off x="5201446" y="4034168"/>
            <a:ext cx="396447" cy="2290420"/>
          </a:xfrm>
          <a:custGeom>
            <a:avLst/>
            <a:gdLst/>
            <a:ahLst/>
            <a:cxnLst/>
            <a:rect l="l" t="t" r="r" b="b"/>
            <a:pathLst>
              <a:path w="396447" h="2290420">
                <a:moveTo>
                  <a:pt x="0" y="2290420"/>
                </a:moveTo>
                <a:lnTo>
                  <a:pt x="396447"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ASBUILT DUCT · CV-EX SEC CONDUIT · 20.6 m"/>
          <p:cNvSpPr/>
          <p:nvPr/>
        </p:nvSpPr>
        <p:spPr>
          <a:xfrm>
            <a:off x="4612577" y="4034168"/>
            <a:ext cx="985316" cy="1816244"/>
          </a:xfrm>
          <a:custGeom>
            <a:avLst/>
            <a:gdLst/>
            <a:ahLst/>
            <a:cxnLst/>
            <a:rect l="l" t="t" r="r" b="b"/>
            <a:pathLst>
              <a:path w="985316" h="1816244">
                <a:moveTo>
                  <a:pt x="985316" y="0"/>
                </a:moveTo>
                <a:lnTo>
                  <a:pt x="0" y="1816244"/>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ASBUILT DUCT · CV-EX SEC CONDUIT · 20.7 m"/>
          <p:cNvSpPr/>
          <p:nvPr/>
        </p:nvSpPr>
        <p:spPr>
          <a:xfrm>
            <a:off x="4020452" y="4034168"/>
            <a:ext cx="1577441" cy="1352267"/>
          </a:xfrm>
          <a:custGeom>
            <a:avLst/>
            <a:gdLst/>
            <a:ahLst/>
            <a:cxnLst/>
            <a:rect l="l" t="t" r="r" b="b"/>
            <a:pathLst>
              <a:path w="1577441" h="1352267">
                <a:moveTo>
                  <a:pt x="0" y="1352267"/>
                </a:moveTo>
                <a:lnTo>
                  <a:pt x="1577441" y="0"/>
                </a:lnTo>
              </a:path>
            </a:pathLst>
          </a:custGeom>
          <a:noFill/>
          <a:ln w="317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0" name="P08 NEW SAWCUT RUN 9210"/>
          <p:cNvSpPr/>
          <p:nvPr/>
        </p:nvSpPr>
        <p:spPr>
          <a:xfrm flipH="1">
            <a:off x="4610100" y="4038600"/>
            <a:ext cx="990600" cy="1816100"/>
          </a:xfrm>
          <a:prstGeom prst="line">
            <a:avLst/>
          </a:prstGeom>
          <a:ln w="31750" cap="rnd">
            <a:solidFill>
              <a:srgbClr val="7030A0"/>
            </a:solidFill>
          </a:ln>
        </p:spPr>
        <p:txBody>
          <a:bodyPr/>
          <a:lstStyle/>
          <a:p>
            <a:endParaRPr lang="en-US"/>
          </a:p>
        </p:txBody>
      </p:sp>
      <p:sp>
        <p:nvSpPr>
          <p:cNvPr id="9211" name="P08 NEW SAWCUT RUN 9211"/>
          <p:cNvSpPr/>
          <p:nvPr/>
        </p:nvSpPr>
        <p:spPr>
          <a:xfrm flipH="1">
            <a:off x="5207000" y="4038600"/>
            <a:ext cx="393700" cy="2286000"/>
          </a:xfrm>
          <a:prstGeom prst="line">
            <a:avLst/>
          </a:prstGeom>
          <a:ln w="31750" cap="rnd">
            <a:solidFill>
              <a:srgbClr val="7030A0"/>
            </a:solidFill>
          </a:ln>
        </p:spPr>
        <p:txBody>
          <a:bodyPr/>
          <a:lstStyle/>
          <a:p>
            <a:endParaRPr lang="en-US"/>
          </a:p>
        </p:txBody>
      </p:sp>
      <p:sp>
        <p:nvSpPr>
          <p:cNvPr id="9212" name="P08 NEW SAWCUT RUN 9212"/>
          <p:cNvSpPr/>
          <p:nvPr/>
        </p:nvSpPr>
        <p:spPr>
          <a:xfrm>
            <a:off x="5600700" y="4038600"/>
            <a:ext cx="190500" cy="2755900"/>
          </a:xfrm>
          <a:prstGeom prst="line">
            <a:avLst/>
          </a:prstGeom>
          <a:ln w="31750" cap="rnd">
            <a:solidFill>
              <a:srgbClr val="7030A0"/>
            </a:solidFill>
          </a:ln>
        </p:spPr>
        <p:txBody>
          <a:bodyPr/>
          <a:lstStyle/>
          <a:p>
            <a:endParaRPr lang="en-US"/>
          </a:p>
        </p:txBody>
      </p:sp>
      <p:sp>
        <p:nvSpPr>
          <p:cNvPr id="128" name="ASBUILT DUCT · CV-EX SEC CONDUIT · 27.6 m"/>
          <p:cNvSpPr/>
          <p:nvPr/>
        </p:nvSpPr>
        <p:spPr>
          <a:xfrm>
            <a:off x="5597893" y="4034168"/>
            <a:ext cx="188525" cy="2763329"/>
          </a:xfrm>
          <a:custGeom>
            <a:avLst/>
            <a:gdLst/>
            <a:ahLst/>
            <a:cxnLst/>
            <a:rect l="l" t="t" r="r" b="b"/>
            <a:pathLst>
              <a:path w="188525" h="2763329">
                <a:moveTo>
                  <a:pt x="0" y="0"/>
                </a:moveTo>
                <a:lnTo>
                  <a:pt x="188525" y="2763329"/>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ASBUILT DUCT · CV-EX SEC CONDUIT · 26.0 m"/>
          <p:cNvSpPr/>
          <p:nvPr/>
        </p:nvSpPr>
        <p:spPr>
          <a:xfrm>
            <a:off x="8840910" y="6749381"/>
            <a:ext cx="1034666" cy="2397861"/>
          </a:xfrm>
          <a:custGeom>
            <a:avLst/>
            <a:gdLst/>
            <a:ahLst/>
            <a:cxnLst/>
            <a:rect l="l" t="t" r="r" b="b"/>
            <a:pathLst>
              <a:path w="1034666" h="2397861">
                <a:moveTo>
                  <a:pt x="1034666" y="2397861"/>
                </a:moveTo>
                <a:lnTo>
                  <a:pt x="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ASBUILT DUCT · CV-EX SEC CONDUIT · 20.5 m"/>
          <p:cNvSpPr/>
          <p:nvPr/>
        </p:nvSpPr>
        <p:spPr>
          <a:xfrm>
            <a:off x="8138229" y="6749381"/>
            <a:ext cx="702681" cy="1932861"/>
          </a:xfrm>
          <a:custGeom>
            <a:avLst/>
            <a:gdLst/>
            <a:ahLst/>
            <a:cxnLst/>
            <a:rect l="l" t="t" r="r" b="b"/>
            <a:pathLst>
              <a:path w="702681" h="1932861">
                <a:moveTo>
                  <a:pt x="0" y="1932861"/>
                </a:moveTo>
                <a:lnTo>
                  <a:pt x="702681"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ASBUILT DUCT · CV-EX SEC CONDUIT · 29.0 m"/>
          <p:cNvSpPr/>
          <p:nvPr/>
        </p:nvSpPr>
        <p:spPr>
          <a:xfrm>
            <a:off x="8840910" y="6749381"/>
            <a:ext cx="472848" cy="2877172"/>
          </a:xfrm>
          <a:custGeom>
            <a:avLst/>
            <a:gdLst/>
            <a:ahLst/>
            <a:cxnLst/>
            <a:rect l="l" t="t" r="r" b="b"/>
            <a:pathLst>
              <a:path w="472848" h="2877172">
                <a:moveTo>
                  <a:pt x="0" y="0"/>
                </a:moveTo>
                <a:lnTo>
                  <a:pt x="472848" y="2877172"/>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ASBUILT DUCT · CV-EX SEC CONDUIT · 21.1 m"/>
          <p:cNvSpPr/>
          <p:nvPr/>
        </p:nvSpPr>
        <p:spPr>
          <a:xfrm>
            <a:off x="6964740" y="6749452"/>
            <a:ext cx="1876180" cy="990829"/>
          </a:xfrm>
          <a:custGeom>
            <a:avLst/>
            <a:gdLst/>
            <a:ahLst/>
            <a:cxnLst/>
            <a:rect l="l" t="t" r="r" b="b"/>
            <a:pathLst>
              <a:path w="1876180" h="990829">
                <a:moveTo>
                  <a:pt x="1876180" y="0"/>
                </a:moveTo>
                <a:lnTo>
                  <a:pt x="0" y="990829"/>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ASBUILT DUCT · CV-EX SEC CONDUIT · 25.1 m"/>
          <p:cNvSpPr/>
          <p:nvPr/>
        </p:nvSpPr>
        <p:spPr>
          <a:xfrm>
            <a:off x="6376272" y="6749452"/>
            <a:ext cx="2464648" cy="518161"/>
          </a:xfrm>
          <a:custGeom>
            <a:avLst/>
            <a:gdLst/>
            <a:ahLst/>
            <a:cxnLst/>
            <a:rect l="l" t="t" r="r" b="b"/>
            <a:pathLst>
              <a:path w="2464648" h="518161">
                <a:moveTo>
                  <a:pt x="0" y="518161"/>
                </a:moveTo>
                <a:lnTo>
                  <a:pt x="2464648"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ASBUILT DUCT · CV-NEW SEC SAWCUT · 20.3 m"/>
          <p:cNvSpPr/>
          <p:nvPr/>
        </p:nvSpPr>
        <p:spPr>
          <a:xfrm>
            <a:off x="7552012" y="6735833"/>
            <a:ext cx="1414354" cy="1474333"/>
          </a:xfrm>
          <a:custGeom>
            <a:avLst/>
            <a:gdLst/>
            <a:ahLst/>
            <a:cxnLst/>
            <a:rect l="l" t="t" r="r" b="b"/>
            <a:pathLst>
              <a:path w="1414354" h="1474333">
                <a:moveTo>
                  <a:pt x="0" y="1474333"/>
                </a:moveTo>
                <a:lnTo>
                  <a:pt x="1414354"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ASBUILT DUCT · CV-NEW SEC SAWCUT · 5.4 m"/>
          <p:cNvSpPr/>
          <p:nvPr/>
        </p:nvSpPr>
        <p:spPr>
          <a:xfrm>
            <a:off x="8966366" y="6286547"/>
            <a:ext cx="300144" cy="449286"/>
          </a:xfrm>
          <a:custGeom>
            <a:avLst/>
            <a:gdLst/>
            <a:ahLst/>
            <a:cxnLst/>
            <a:rect l="l" t="t" r="r" b="b"/>
            <a:pathLst>
              <a:path w="300144" h="449286">
                <a:moveTo>
                  <a:pt x="0" y="449286"/>
                </a:moveTo>
                <a:lnTo>
                  <a:pt x="300144"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ASBUILT DUCT · CV-NEW SEC SAWCUT · 30.1 m"/>
          <p:cNvSpPr/>
          <p:nvPr/>
        </p:nvSpPr>
        <p:spPr>
          <a:xfrm>
            <a:off x="3237057" y="1966772"/>
            <a:ext cx="1180788" cy="2783922"/>
          </a:xfrm>
          <a:custGeom>
            <a:avLst/>
            <a:gdLst/>
            <a:ahLst/>
            <a:cxnLst/>
            <a:rect l="l" t="t" r="r" b="b"/>
            <a:pathLst>
              <a:path w="1180788" h="2783922">
                <a:moveTo>
                  <a:pt x="0" y="2783922"/>
                </a:moveTo>
                <a:lnTo>
                  <a:pt x="1180788"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ASBUILT DUCT · CV-NEW SEC CONDUIT · 6.8 m"/>
          <p:cNvSpPr/>
          <p:nvPr/>
        </p:nvSpPr>
        <p:spPr>
          <a:xfrm>
            <a:off x="5597893" y="3567157"/>
            <a:ext cx="498495" cy="467011"/>
          </a:xfrm>
          <a:custGeom>
            <a:avLst/>
            <a:gdLst/>
            <a:ahLst/>
            <a:cxnLst/>
            <a:rect l="l" t="t" r="r" b="b"/>
            <a:pathLst>
              <a:path w="498495" h="467011">
                <a:moveTo>
                  <a:pt x="498495" y="0"/>
                </a:moveTo>
                <a:lnTo>
                  <a:pt x="0" y="467011"/>
                </a:lnTo>
              </a:path>
            </a:pathLst>
          </a:custGeom>
          <a:noFill/>
          <a:ln w="15875" cap="flat" cmpd="sng" algn="ctr">
            <a:solidFill>
              <a:srgbClr val="1E8E3E">
                <a:alpha val="20000"/>
                <a:alpha val="10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ASBUILT DUCT · CV-NEW SEC CONDUIT · 7.0 m"/>
          <p:cNvSpPr/>
          <p:nvPr/>
        </p:nvSpPr>
        <p:spPr>
          <a:xfrm>
            <a:off x="5597893" y="3392419"/>
            <a:ext cx="288568" cy="641749"/>
          </a:xfrm>
          <a:custGeom>
            <a:avLst/>
            <a:gdLst/>
            <a:ahLst/>
            <a:cxnLst/>
            <a:rect l="l" t="t" r="r" b="b"/>
            <a:pathLst>
              <a:path w="288568" h="641749">
                <a:moveTo>
                  <a:pt x="0" y="641749"/>
                </a:moveTo>
                <a:lnTo>
                  <a:pt x="288568" y="0"/>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ASBUILT DUCT · CV-NEW SEC CONDUIT · 6.3 m"/>
          <p:cNvSpPr/>
          <p:nvPr/>
        </p:nvSpPr>
        <p:spPr>
          <a:xfrm>
            <a:off x="8840910" y="6286547"/>
            <a:ext cx="425600" cy="462834"/>
          </a:xfrm>
          <a:custGeom>
            <a:avLst/>
            <a:gdLst/>
            <a:ahLst/>
            <a:cxnLst/>
            <a:rect l="l" t="t" r="r" b="b"/>
            <a:pathLst>
              <a:path w="425600" h="462834">
                <a:moveTo>
                  <a:pt x="0" y="462834"/>
                </a:moveTo>
                <a:lnTo>
                  <a:pt x="425600" y="0"/>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ASBUILT DUCT · CV-NEW SEC SAWCUT · 30.8 m"/>
          <p:cNvSpPr/>
          <p:nvPr/>
        </p:nvSpPr>
        <p:spPr>
          <a:xfrm>
            <a:off x="3435903" y="1966772"/>
            <a:ext cx="981942" cy="2934184"/>
          </a:xfrm>
          <a:custGeom>
            <a:avLst/>
            <a:gdLst/>
            <a:ahLst/>
            <a:cxnLst/>
            <a:rect l="l" t="t" r="r" b="b"/>
            <a:pathLst>
              <a:path w="981942" h="2934184">
                <a:moveTo>
                  <a:pt x="0" y="2934184"/>
                </a:moveTo>
                <a:lnTo>
                  <a:pt x="981942"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ASBUILT DUCT · CV-EX SEC CONDUIT · 13.5 m"/>
          <p:cNvSpPr/>
          <p:nvPr/>
        </p:nvSpPr>
        <p:spPr>
          <a:xfrm>
            <a:off x="4458899" y="4034168"/>
            <a:ext cx="1138994" cy="728279"/>
          </a:xfrm>
          <a:custGeom>
            <a:avLst/>
            <a:gdLst/>
            <a:ahLst/>
            <a:cxnLst/>
            <a:rect l="l" t="t" r="r" b="b"/>
            <a:pathLst>
              <a:path w="1138994" h="728279">
                <a:moveTo>
                  <a:pt x="1138994" y="0"/>
                </a:moveTo>
                <a:lnTo>
                  <a:pt x="0" y="728279"/>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ASBUILT DUCT · CV-EX SEC CONDUIT · 10.6 m"/>
          <p:cNvSpPr/>
          <p:nvPr/>
        </p:nvSpPr>
        <p:spPr>
          <a:xfrm>
            <a:off x="4648107" y="4034168"/>
            <a:ext cx="949786" cy="491867"/>
          </a:xfrm>
          <a:custGeom>
            <a:avLst/>
            <a:gdLst/>
            <a:ahLst/>
            <a:cxnLst/>
            <a:rect l="l" t="t" r="r" b="b"/>
            <a:pathLst>
              <a:path w="949786" h="491867">
                <a:moveTo>
                  <a:pt x="0" y="491867"/>
                </a:moveTo>
                <a:lnTo>
                  <a:pt x="949786"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ASBUILT DUCT · CV-EX SEC CONDUIT · 16.3 m"/>
          <p:cNvSpPr/>
          <p:nvPr/>
        </p:nvSpPr>
        <p:spPr>
          <a:xfrm>
            <a:off x="4269993" y="4034168"/>
            <a:ext cx="1327900" cy="965093"/>
          </a:xfrm>
          <a:custGeom>
            <a:avLst/>
            <a:gdLst/>
            <a:ahLst/>
            <a:cxnLst/>
            <a:rect l="l" t="t" r="r" b="b"/>
            <a:pathLst>
              <a:path w="1327900" h="965093">
                <a:moveTo>
                  <a:pt x="0" y="965093"/>
                </a:moveTo>
                <a:lnTo>
                  <a:pt x="1327900"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ASBUILT DUCT · CV-EX SEC CONDUIT · 19.2 m"/>
          <p:cNvSpPr/>
          <p:nvPr/>
        </p:nvSpPr>
        <p:spPr>
          <a:xfrm>
            <a:off x="4082794" y="4034168"/>
            <a:ext cx="1515099" cy="1200601"/>
          </a:xfrm>
          <a:custGeom>
            <a:avLst/>
            <a:gdLst/>
            <a:ahLst/>
            <a:cxnLst/>
            <a:rect l="l" t="t" r="r" b="b"/>
            <a:pathLst>
              <a:path w="1515099" h="1200601">
                <a:moveTo>
                  <a:pt x="1515099" y="0"/>
                </a:moveTo>
                <a:lnTo>
                  <a:pt x="0" y="1200601"/>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ASBUILT DUCT · CV-EX SEC CONDUIT · 19.2 m"/>
          <p:cNvSpPr/>
          <p:nvPr/>
        </p:nvSpPr>
        <p:spPr>
          <a:xfrm>
            <a:off x="4175233" y="4036522"/>
            <a:ext cx="1411443" cy="1313863"/>
          </a:xfrm>
          <a:custGeom>
            <a:avLst/>
            <a:gdLst/>
            <a:ahLst/>
            <a:cxnLst/>
            <a:rect l="l" t="t" r="r" b="b"/>
            <a:pathLst>
              <a:path w="1411443" h="1313863">
                <a:moveTo>
                  <a:pt x="1411443" y="0"/>
                </a:moveTo>
                <a:lnTo>
                  <a:pt x="0" y="1313863"/>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0" name="ASBUILT DUCT · CV-EX SEC CONDUIT · 20.2 m"/>
          <p:cNvSpPr/>
          <p:nvPr/>
        </p:nvSpPr>
        <p:spPr>
          <a:xfrm>
            <a:off x="4137675" y="4034168"/>
            <a:ext cx="1460218" cy="1407997"/>
          </a:xfrm>
          <a:custGeom>
            <a:avLst/>
            <a:gdLst/>
            <a:ahLst/>
            <a:cxnLst/>
            <a:rect l="l" t="t" r="r" b="b"/>
            <a:pathLst>
              <a:path w="1460218" h="1407997">
                <a:moveTo>
                  <a:pt x="0" y="1407997"/>
                </a:moveTo>
                <a:lnTo>
                  <a:pt x="1460218"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ASBUILT DUCT · CV-EX SEC CONDUIT · 20.0 m"/>
          <p:cNvSpPr/>
          <p:nvPr/>
        </p:nvSpPr>
        <p:spPr>
          <a:xfrm>
            <a:off x="4182698" y="4034168"/>
            <a:ext cx="1415195" cy="1420980"/>
          </a:xfrm>
          <a:custGeom>
            <a:avLst/>
            <a:gdLst/>
            <a:ahLst/>
            <a:cxnLst/>
            <a:rect l="l" t="t" r="r" b="b"/>
            <a:pathLst>
              <a:path w="1415195" h="1420980">
                <a:moveTo>
                  <a:pt x="0" y="1420980"/>
                </a:moveTo>
                <a:lnTo>
                  <a:pt x="1415195"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ASBUILT DUCT · CV-EX SEC CONDUIT · 20.0 m"/>
          <p:cNvSpPr/>
          <p:nvPr/>
        </p:nvSpPr>
        <p:spPr>
          <a:xfrm>
            <a:off x="4208749" y="4034168"/>
            <a:ext cx="1389144" cy="1455445"/>
          </a:xfrm>
          <a:custGeom>
            <a:avLst/>
            <a:gdLst/>
            <a:ahLst/>
            <a:cxnLst/>
            <a:rect l="l" t="t" r="r" b="b"/>
            <a:pathLst>
              <a:path w="1389144" h="1455445">
                <a:moveTo>
                  <a:pt x="0" y="1455445"/>
                </a:moveTo>
                <a:lnTo>
                  <a:pt x="1389144"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ASBUILT DUCT · CV-EX SEC CONDUIT · 3.1 m"/>
          <p:cNvSpPr/>
          <p:nvPr/>
        </p:nvSpPr>
        <p:spPr>
          <a:xfrm>
            <a:off x="3893888" y="5348031"/>
            <a:ext cx="292562" cy="120236"/>
          </a:xfrm>
          <a:custGeom>
            <a:avLst/>
            <a:gdLst/>
            <a:ahLst/>
            <a:cxnLst/>
            <a:rect l="l" t="t" r="r" b="b"/>
            <a:pathLst>
              <a:path w="292562" h="120236">
                <a:moveTo>
                  <a:pt x="292562" y="0"/>
                </a:moveTo>
                <a:lnTo>
                  <a:pt x="0" y="120236"/>
                </a:lnTo>
              </a:path>
            </a:pathLst>
          </a:custGeom>
          <a:noFill/>
          <a:ln w="15875" cap="flat" cmpd="sng" algn="ctr">
            <a:solidFill>
              <a:srgbClr val="00838F">
                <a:alpha val="20000"/>
                <a:alpha val="10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ASBUILT DUCT · CV-EX SEC CONDUIT · 5.0 m"/>
          <p:cNvSpPr/>
          <p:nvPr/>
        </p:nvSpPr>
        <p:spPr>
          <a:xfrm>
            <a:off x="3703876" y="5442165"/>
            <a:ext cx="433799" cy="260906"/>
          </a:xfrm>
          <a:custGeom>
            <a:avLst/>
            <a:gdLst/>
            <a:ahLst/>
            <a:cxnLst/>
            <a:rect l="l" t="t" r="r" b="b"/>
            <a:pathLst>
              <a:path w="433799" h="260906">
                <a:moveTo>
                  <a:pt x="0" y="260906"/>
                </a:moveTo>
                <a:lnTo>
                  <a:pt x="433799" y="0"/>
                </a:lnTo>
              </a:path>
            </a:pathLst>
          </a:custGeom>
          <a:noFill/>
          <a:ln w="15875" cap="flat" cmpd="sng" algn="ctr">
            <a:solidFill>
              <a:srgbClr val="00838F">
                <a:alpha val="20000"/>
                <a:alpha val="10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ASBUILT DUCT · CV-EX SEC CONDUIT · 8.2 m"/>
          <p:cNvSpPr/>
          <p:nvPr/>
        </p:nvSpPr>
        <p:spPr>
          <a:xfrm>
            <a:off x="3515371" y="5455148"/>
            <a:ext cx="667327" cy="483431"/>
          </a:xfrm>
          <a:custGeom>
            <a:avLst/>
            <a:gdLst/>
            <a:ahLst/>
            <a:cxnLst/>
            <a:rect l="l" t="t" r="r" b="b"/>
            <a:pathLst>
              <a:path w="667327" h="483431">
                <a:moveTo>
                  <a:pt x="0" y="483431"/>
                </a:moveTo>
                <a:lnTo>
                  <a:pt x="667327"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ASBUILT DUCT · CV-EX SEC CONDUIT · 11.1 m"/>
          <p:cNvSpPr/>
          <p:nvPr/>
        </p:nvSpPr>
        <p:spPr>
          <a:xfrm>
            <a:off x="3327570" y="5489613"/>
            <a:ext cx="881179" cy="684172"/>
          </a:xfrm>
          <a:custGeom>
            <a:avLst/>
            <a:gdLst/>
            <a:ahLst/>
            <a:cxnLst/>
            <a:rect l="l" t="t" r="r" b="b"/>
            <a:pathLst>
              <a:path w="881179" h="684172">
                <a:moveTo>
                  <a:pt x="0" y="684172"/>
                </a:moveTo>
                <a:lnTo>
                  <a:pt x="881179"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ASBUILT DUCT · CV-NEW SEC CONDUIT · 12.7 m"/>
          <p:cNvSpPr/>
          <p:nvPr/>
        </p:nvSpPr>
        <p:spPr>
          <a:xfrm>
            <a:off x="1662554" y="8046874"/>
            <a:ext cx="1208585" cy="327456"/>
          </a:xfrm>
          <a:custGeom>
            <a:avLst/>
            <a:gdLst/>
            <a:ahLst/>
            <a:cxnLst/>
            <a:rect l="l" t="t" r="r" b="b"/>
            <a:pathLst>
              <a:path w="1208585" h="327456">
                <a:moveTo>
                  <a:pt x="0" y="327456"/>
                </a:moveTo>
                <a:lnTo>
                  <a:pt x="1118875" y="103104"/>
                </a:lnTo>
                <a:lnTo>
                  <a:pt x="1208585" y="0"/>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ASBUILT DUCT · CV-NEW SEC CONDUIT · 13.8 m"/>
          <p:cNvSpPr/>
          <p:nvPr/>
        </p:nvSpPr>
        <p:spPr>
          <a:xfrm>
            <a:off x="4485378" y="1909815"/>
            <a:ext cx="1297671" cy="456213"/>
          </a:xfrm>
          <a:custGeom>
            <a:avLst/>
            <a:gdLst/>
            <a:ahLst/>
            <a:cxnLst/>
            <a:rect l="l" t="t" r="r" b="b"/>
            <a:pathLst>
              <a:path w="1297671" h="456213">
                <a:moveTo>
                  <a:pt x="0" y="9314"/>
                </a:moveTo>
                <a:lnTo>
                  <a:pt x="224946" y="0"/>
                </a:lnTo>
                <a:lnTo>
                  <a:pt x="1297671" y="456213"/>
                </a:lnTo>
              </a:path>
            </a:pathLst>
          </a:custGeom>
          <a:noFill/>
          <a:ln w="15875" cap="flat" cmpd="sng" algn="ctr">
            <a:solidFill>
              <a:srgbClr val="1E8E3E">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ASBUILT DUCT · CV-NEW SEC SAWCUT · 29.1 m"/>
          <p:cNvSpPr/>
          <p:nvPr/>
        </p:nvSpPr>
        <p:spPr>
          <a:xfrm>
            <a:off x="2851595" y="1966772"/>
            <a:ext cx="1566250" cy="2472769"/>
          </a:xfrm>
          <a:custGeom>
            <a:avLst/>
            <a:gdLst/>
            <a:ahLst/>
            <a:cxnLst/>
            <a:rect l="l" t="t" r="r" b="b"/>
            <a:pathLst>
              <a:path w="1566250" h="2472769">
                <a:moveTo>
                  <a:pt x="0" y="2472769"/>
                </a:moveTo>
                <a:lnTo>
                  <a:pt x="1566250"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ASBUILT DUCT · CV-NEW SEC SAWCUT · 29.8 m"/>
          <p:cNvSpPr/>
          <p:nvPr/>
        </p:nvSpPr>
        <p:spPr>
          <a:xfrm>
            <a:off x="2263137" y="1966772"/>
            <a:ext cx="2154708" cy="2004130"/>
          </a:xfrm>
          <a:custGeom>
            <a:avLst/>
            <a:gdLst/>
            <a:ahLst/>
            <a:cxnLst/>
            <a:rect l="l" t="t" r="r" b="b"/>
            <a:pathLst>
              <a:path w="2154708" h="2004130">
                <a:moveTo>
                  <a:pt x="0" y="2004130"/>
                </a:moveTo>
                <a:lnTo>
                  <a:pt x="420138" y="1873079"/>
                </a:lnTo>
                <a:lnTo>
                  <a:pt x="2154708" y="0"/>
                </a:lnTo>
              </a:path>
            </a:pathLst>
          </a:custGeom>
          <a:noFill/>
          <a:ln w="15875" cap="flat" cmpd="sng" algn="ctr">
            <a:solidFill>
              <a:srgbClr val="E8710A">
                <a:alpha val="20000"/>
              </a:srgbClr>
            </a:solidFill>
            <a:prstDash val="sysDash"/>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ASBUILT DUCT · CV-EX SEC CONDUIT · 14.8 m"/>
          <p:cNvSpPr/>
          <p:nvPr/>
        </p:nvSpPr>
        <p:spPr>
          <a:xfrm>
            <a:off x="554795" y="776864"/>
            <a:ext cx="1313363" cy="690299"/>
          </a:xfrm>
          <a:custGeom>
            <a:avLst/>
            <a:gdLst/>
            <a:ahLst/>
            <a:cxnLst/>
            <a:rect l="l" t="t" r="r" b="b"/>
            <a:pathLst>
              <a:path w="1313363" h="690299">
                <a:moveTo>
                  <a:pt x="0" y="690299"/>
                </a:moveTo>
                <a:lnTo>
                  <a:pt x="1313363" y="0"/>
                </a:lnTo>
              </a:path>
            </a:pathLst>
          </a:custGeom>
          <a:noFill/>
          <a:ln w="15875" cap="flat" cmpd="sng" algn="ctr">
            <a:solidFill>
              <a:srgbClr val="00838F">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ASBUILT DUCT · CV_DUCT CROSSING 6x110mm dia · 57.8 m"/>
          <p:cNvSpPr/>
          <p:nvPr/>
        </p:nvSpPr>
        <p:spPr>
          <a:xfrm>
            <a:off x="1131007" y="2324144"/>
            <a:ext cx="3673113" cy="4495289"/>
          </a:xfrm>
          <a:custGeom>
            <a:avLst/>
            <a:gdLst/>
            <a:ahLst/>
            <a:cxnLst/>
            <a:rect l="l" t="t" r="r" b="b"/>
            <a:pathLst>
              <a:path w="3673113" h="4495289">
                <a:moveTo>
                  <a:pt x="3673113" y="0"/>
                </a:moveTo>
                <a:lnTo>
                  <a:pt x="0" y="4495289"/>
                </a:lnTo>
              </a:path>
            </a:pathLst>
          </a:custGeom>
          <a:noFill/>
          <a:ln w="22225" cap="flat" cmpd="sng" algn="ctr">
            <a:solidFill>
              <a:srgbClr val="C2185B">
                <a:alpha val="20000"/>
              </a:srgbClr>
            </a:solidFill>
            <a:prstDash val="solid"/>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ASBUILT DUCT · CV_GRND DUCT · 1.4 m"/>
          <p:cNvSpPr/>
          <p:nvPr/>
        </p:nvSpPr>
        <p:spPr>
          <a:xfrm>
            <a:off x="4175233" y="1280764"/>
            <a:ext cx="110659" cy="78456"/>
          </a:xfrm>
          <a:custGeom>
            <a:avLst/>
            <a:gdLst/>
            <a:ahLst/>
            <a:cxnLst/>
            <a:rect l="l" t="t" r="r" b="b"/>
            <a:pathLst>
              <a:path w="110659" h="78456">
                <a:moveTo>
                  <a:pt x="110659" y="0"/>
                </a:moveTo>
                <a:lnTo>
                  <a:pt x="0" y="78456"/>
                </a:lnTo>
              </a:path>
            </a:pathLst>
          </a:custGeom>
          <a:noFill/>
          <a:ln w="9525" cap="flat" cmpd="sng" algn="ctr">
            <a:solidFill>
              <a:srgbClr val="795548">
                <a:alpha val="20000"/>
              </a:srgbClr>
            </a:solidFill>
            <a:prstDash val="sysDot"/>
            <a:miter lim="800000"/>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ASBUILT DUCT · CV_GRND DUCT · 1.0 m"/>
          <p:cNvSpPr/>
          <p:nvPr/>
        </p:nvSpPr>
        <p:spPr>
          <a:xfrm>
            <a:off x="319771" y="6406902"/>
            <a:ext cx="46851" cy="92772"/>
          </a:xfrm>
          <a:custGeom>
            <a:avLst/>
            <a:gdLst/>
            <a:ahLst/>
            <a:cxnLst/>
            <a:rect l="l" t="t" r="r" b="b"/>
            <a:pathLst>
              <a:path w="46851" h="92772">
                <a:moveTo>
                  <a:pt x="0" y="92772"/>
                </a:moveTo>
                <a:lnTo>
                  <a:pt x="46851" y="0"/>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ASBUILT DUCT · CV_INNER DUCT 4x110mm dia · 66.6 m"/>
          <p:cNvSpPr/>
          <p:nvPr/>
        </p:nvSpPr>
        <p:spPr>
          <a:xfrm>
            <a:off x="4836208" y="2399704"/>
            <a:ext cx="5039478" cy="4389855"/>
          </a:xfrm>
          <a:custGeom>
            <a:avLst/>
            <a:gdLst/>
            <a:ahLst/>
            <a:cxnLst/>
            <a:rect l="l" t="t" r="r" b="b"/>
            <a:pathLst>
              <a:path w="5039478" h="4389855">
                <a:moveTo>
                  <a:pt x="5039478" y="4389855"/>
                </a:moveTo>
                <a:lnTo>
                  <a:pt x="3319165" y="3007241"/>
                </a:lnTo>
                <a:lnTo>
                  <a:pt x="2258067" y="2096524"/>
                </a:lnTo>
                <a:lnTo>
                  <a:pt x="1050253" y="992715"/>
                </a:ln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ASBUILT DUCT · CV_OUTER DUCT 4x110mm dia · 65.3 m"/>
          <p:cNvSpPr/>
          <p:nvPr/>
        </p:nvSpPr>
        <p:spPr>
          <a:xfrm>
            <a:off x="4917197" y="2298759"/>
            <a:ext cx="4958499" cy="4293338"/>
          </a:xfrm>
          <a:custGeom>
            <a:avLst/>
            <a:gdLst/>
            <a:ahLst/>
            <a:cxnLst/>
            <a:rect l="l" t="t" r="r" b="b"/>
            <a:pathLst>
              <a:path w="4958499" h="4293338">
                <a:moveTo>
                  <a:pt x="4958499" y="4293338"/>
                </a:moveTo>
                <a:lnTo>
                  <a:pt x="2307006" y="2148262"/>
                </a:lnTo>
                <a:lnTo>
                  <a:pt x="2250400" y="2099277"/>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ASBUILT DUCT · CV_STH DUCT 6x110mm dia · 30.4 m"/>
          <p:cNvSpPr/>
          <p:nvPr/>
        </p:nvSpPr>
        <p:spPr>
          <a:xfrm>
            <a:off x="319777" y="6379430"/>
            <a:ext cx="2551362" cy="1667444"/>
          </a:xfrm>
          <a:custGeom>
            <a:avLst/>
            <a:gdLst/>
            <a:ahLst/>
            <a:cxnLst/>
            <a:rect l="l" t="t" r="r" b="b"/>
            <a:pathLst>
              <a:path w="2551362" h="1667444">
                <a:moveTo>
                  <a:pt x="2551362" y="1667444"/>
                </a:moveTo>
                <a:lnTo>
                  <a:pt x="2493429" y="1620840"/>
                </a:lnTo>
                <a:lnTo>
                  <a:pt x="913280" y="521947"/>
                </a:lnTo>
                <a:lnTo>
                  <a:pt x="709190" y="358070"/>
                </a:lnTo>
                <a:lnTo>
                  <a:pt x="0" y="0"/>
                </a:lnTo>
              </a:path>
            </a:pathLst>
          </a:cu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ASBUILT DUCT · CV_INNER DUCT 4x110mm dia · 17.6 m"/>
          <p:cNvSpPr/>
          <p:nvPr/>
        </p:nvSpPr>
        <p:spPr>
          <a:xfrm>
            <a:off x="3625220" y="776947"/>
            <a:ext cx="1010827" cy="1453977"/>
          </a:xfrm>
          <a:custGeom>
            <a:avLst/>
            <a:gdLst/>
            <a:ahLst/>
            <a:cxnLst/>
            <a:rect l="l" t="t" r="r" b="b"/>
            <a:pathLst>
              <a:path w="1010827" h="1453977">
                <a:moveTo>
                  <a:pt x="0" y="0"/>
                </a:moveTo>
                <a:lnTo>
                  <a:pt x="792625" y="1189825"/>
                </a:lnTo>
                <a:lnTo>
                  <a:pt x="1010827" y="1453977"/>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ASBUILT DUCT · CV_OUTER DUCT 4x110mm dia · 16.4 m"/>
          <p:cNvSpPr/>
          <p:nvPr/>
        </p:nvSpPr>
        <p:spPr>
          <a:xfrm>
            <a:off x="3783650" y="776954"/>
            <a:ext cx="929387" cy="1358009"/>
          </a:xfrm>
          <a:custGeom>
            <a:avLst/>
            <a:gdLst/>
            <a:ahLst/>
            <a:cxnLst/>
            <a:rect l="l" t="t" r="r" b="b"/>
            <a:pathLst>
              <a:path w="929387" h="1358009">
                <a:moveTo>
                  <a:pt x="0" y="0"/>
                </a:moveTo>
                <a:lnTo>
                  <a:pt x="830494" y="1234911"/>
                </a:lnTo>
                <a:lnTo>
                  <a:pt x="929387" y="1358009"/>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ASBUILT ASSET · Existing light base"/>
          <p:cNvSpPr/>
          <p:nvPr/>
        </p:nvSpPr>
        <p:spPr>
          <a:xfrm>
            <a:off x="906444" y="3434474"/>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ASBUILT ASSET · Existing light base"/>
          <p:cNvSpPr/>
          <p:nvPr/>
        </p:nvSpPr>
        <p:spPr>
          <a:xfrm>
            <a:off x="1591778" y="3739050"/>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ASBUILT ASSET · Existing light base"/>
          <p:cNvSpPr/>
          <p:nvPr/>
        </p:nvSpPr>
        <p:spPr>
          <a:xfrm>
            <a:off x="2257518" y="4095672"/>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ASBUILT ASSET · Existing light base"/>
          <p:cNvSpPr/>
          <p:nvPr/>
        </p:nvSpPr>
        <p:spPr>
          <a:xfrm>
            <a:off x="2895825" y="4499315"/>
            <a:ext cx="100584" cy="100584"/>
          </a:xfrm>
          <a:prstGeom prst="ellipse">
            <a:avLst/>
          </a:prstGeom>
          <a:noFill/>
          <a:ln w="9525" cap="flat" cmpd="sng" algn="ctr">
            <a:solidFill>
              <a:srgbClr val="5F6368">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ASBUILT ASSET · Taxiway centreline light"/>
          <p:cNvSpPr/>
          <p:nvPr/>
        </p:nvSpPr>
        <p:spPr>
          <a:xfrm>
            <a:off x="539180" y="3293097"/>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ASBUILT ASSET · Taxiway centreline light"/>
          <p:cNvSpPr/>
          <p:nvPr/>
        </p:nvSpPr>
        <p:spPr>
          <a:xfrm>
            <a:off x="1914170" y="390315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ASBUILT ASSET · Taxiway centreline light"/>
          <p:cNvSpPr/>
          <p:nvPr/>
        </p:nvSpPr>
        <p:spPr>
          <a:xfrm>
            <a:off x="2566042" y="4283688"/>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ASBUILT ASSET · Taxiway centreline light"/>
          <p:cNvSpPr/>
          <p:nvPr/>
        </p:nvSpPr>
        <p:spPr>
          <a:xfrm>
            <a:off x="1238281" y="3572655"/>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ASBUILT ASSET · Taxiway centreline light"/>
          <p:cNvSpPr/>
          <p:nvPr/>
        </p:nvSpPr>
        <p:spPr>
          <a:xfrm>
            <a:off x="3190784" y="4704110"/>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ASBUILT ASSET · Taxiway centreline light"/>
          <p:cNvSpPr/>
          <p:nvPr/>
        </p:nvSpPr>
        <p:spPr>
          <a:xfrm>
            <a:off x="510330" y="1424688"/>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ASBUILT ASSET · Taxiway centreline light"/>
          <p:cNvSpPr/>
          <p:nvPr/>
        </p:nvSpPr>
        <p:spPr>
          <a:xfrm>
            <a:off x="1296698" y="2707757"/>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ASBUILT ASSET · Taxiway centreline light"/>
          <p:cNvSpPr/>
          <p:nvPr/>
        </p:nvSpPr>
        <p:spPr>
          <a:xfrm>
            <a:off x="2805874" y="439382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ASBUILT ASSET · Taxiway centreline light"/>
          <p:cNvSpPr/>
          <p:nvPr/>
        </p:nvSpPr>
        <p:spPr>
          <a:xfrm>
            <a:off x="878947" y="2079660"/>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ASBUILT ASSET · Taxiway centreline light"/>
          <p:cNvSpPr/>
          <p:nvPr/>
        </p:nvSpPr>
        <p:spPr>
          <a:xfrm>
            <a:off x="1758058" y="3302699"/>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ASBUILT ASSET · Taxiway centreline light"/>
          <p:cNvSpPr/>
          <p:nvPr/>
        </p:nvSpPr>
        <p:spPr>
          <a:xfrm>
            <a:off x="3395045" y="4867092"/>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ASBUILT ASSET · Taxiway centreline light"/>
          <p:cNvSpPr/>
          <p:nvPr/>
        </p:nvSpPr>
        <p:spPr>
          <a:xfrm>
            <a:off x="2263327" y="3860869"/>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ASBUILT ASSET · Runway guard light / RRM"/>
          <p:cNvSpPr/>
          <p:nvPr/>
        </p:nvSpPr>
        <p:spPr>
          <a:xfrm>
            <a:off x="8201575" y="7144362"/>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ASBUILT ASSET · Taxiway centreline light"/>
          <p:cNvSpPr/>
          <p:nvPr/>
        </p:nvSpPr>
        <p:spPr>
          <a:xfrm>
            <a:off x="9267967" y="958091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ASBUILT ASSET · Taxiway centreline light"/>
          <p:cNvSpPr/>
          <p:nvPr/>
        </p:nvSpPr>
        <p:spPr>
          <a:xfrm>
            <a:off x="6330551" y="7221893"/>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ASBUILT ASSET · Taxiway centreline light"/>
          <p:cNvSpPr/>
          <p:nvPr/>
        </p:nvSpPr>
        <p:spPr>
          <a:xfrm>
            <a:off x="8092468" y="863657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ASBUILT ASSET · Taxiway centreline light"/>
          <p:cNvSpPr/>
          <p:nvPr/>
        </p:nvSpPr>
        <p:spPr>
          <a:xfrm>
            <a:off x="6919019" y="7694561"/>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ASBUILT ASSET · Runway guard light / RRM"/>
          <p:cNvSpPr/>
          <p:nvPr/>
        </p:nvSpPr>
        <p:spPr>
          <a:xfrm>
            <a:off x="4339061" y="7200649"/>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ASBUILT ASSET · Runway guard light / RRM"/>
          <p:cNvSpPr/>
          <p:nvPr/>
        </p:nvSpPr>
        <p:spPr>
          <a:xfrm>
            <a:off x="2642573" y="6018968"/>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ASBUILT ASSET · Runway guard light / RRM"/>
          <p:cNvSpPr/>
          <p:nvPr/>
        </p:nvSpPr>
        <p:spPr>
          <a:xfrm>
            <a:off x="6684343" y="5826142"/>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ASBUILT ASSET · Runway guard light / RRM"/>
          <p:cNvSpPr/>
          <p:nvPr/>
        </p:nvSpPr>
        <p:spPr>
          <a:xfrm>
            <a:off x="3343246" y="2781954"/>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ASBUILT ASSET · Runway guard light / RRM"/>
          <p:cNvSpPr/>
          <p:nvPr/>
        </p:nvSpPr>
        <p:spPr>
          <a:xfrm>
            <a:off x="2385962" y="1619298"/>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ASBUILT ASSET · Runway guard light / RRM"/>
          <p:cNvSpPr/>
          <p:nvPr/>
        </p:nvSpPr>
        <p:spPr>
          <a:xfrm>
            <a:off x="1333702" y="5297787"/>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ASBUILT ASSET · Runway guard light / RRM"/>
          <p:cNvSpPr/>
          <p:nvPr/>
        </p:nvSpPr>
        <p:spPr>
          <a:xfrm>
            <a:off x="4423619" y="3833992"/>
            <a:ext cx="100584" cy="100584"/>
          </a:xfrm>
          <a:prstGeom prst="ellipse">
            <a:avLst/>
          </a:prstGeom>
          <a:solidFill>
            <a:srgbClr val="E8B000">
              <a:alpha val="20000"/>
              <a:alpha val="100000"/>
            </a:srgbClr>
          </a:solidFill>
          <a:ln w="9525" cap="flat" cmpd="sng" algn="ctr">
            <a:solidFill>
              <a:srgbClr val="8A6900">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ASBUILT ASSET · Runway guard light / RRM"/>
          <p:cNvSpPr/>
          <p:nvPr/>
        </p:nvSpPr>
        <p:spPr>
          <a:xfrm>
            <a:off x="5555639" y="4831775"/>
            <a:ext cx="100584" cy="100584"/>
          </a:xfrm>
          <a:prstGeom prst="ellipse">
            <a:avLst/>
          </a:prstGeom>
          <a:solidFill>
            <a:srgbClr val="E8B000">
              <a:alpha val="20000"/>
            </a:srgbClr>
          </a:solidFill>
          <a:ln w="9525" cap="flat" cmpd="sng" algn="ctr">
            <a:solidFill>
              <a:srgbClr val="8A690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ASBUILT ASSET · Taxiway centreline light"/>
          <p:cNvSpPr/>
          <p:nvPr/>
        </p:nvSpPr>
        <p:spPr>
          <a:xfrm>
            <a:off x="1039979" y="2977032"/>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ASBUILT ASSET · Taxiway centreline light"/>
          <p:cNvSpPr/>
          <p:nvPr/>
        </p:nvSpPr>
        <p:spPr>
          <a:xfrm>
            <a:off x="2217416" y="3925182"/>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ASBUILT ASSET · Sign foundation"/>
          <p:cNvSpPr/>
          <p:nvPr/>
        </p:nvSpPr>
        <p:spPr>
          <a:xfrm>
            <a:off x="1612261" y="8324037"/>
            <a:ext cx="100584" cy="100584"/>
          </a:xfrm>
          <a:prstGeom prst="rect">
            <a:avLst/>
          </a:prstGeom>
          <a:solidFill>
            <a:srgbClr val="5D4037">
              <a:alpha val="20000"/>
            </a:srgbClr>
          </a:solidFill>
          <a:ln w="9525" cap="flat" cmpd="sng" algn="ctr">
            <a:solidFill>
              <a:srgbClr val="3A252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ASBUILT ASSET · Sign foundation"/>
          <p:cNvSpPr/>
          <p:nvPr/>
        </p:nvSpPr>
        <p:spPr>
          <a:xfrm>
            <a:off x="5732756" y="2315736"/>
            <a:ext cx="100584" cy="100584"/>
          </a:xfrm>
          <a:prstGeom prst="rect">
            <a:avLst/>
          </a:prstGeom>
          <a:solidFill>
            <a:srgbClr val="5D4037">
              <a:alpha val="20000"/>
            </a:srgbClr>
          </a:solidFill>
          <a:ln w="9525" cap="flat" cmpd="sng" algn="ctr">
            <a:solidFill>
              <a:srgbClr val="3A2520">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ASBUILT ASSET · Handhole"/>
          <p:cNvSpPr/>
          <p:nvPr/>
        </p:nvSpPr>
        <p:spPr>
          <a:xfrm>
            <a:off x="9202501" y="6222539"/>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ASBUILT ASSET · Handhole"/>
          <p:cNvSpPr/>
          <p:nvPr/>
        </p:nvSpPr>
        <p:spPr>
          <a:xfrm>
            <a:off x="5822452" y="3328411"/>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ASBUILT ASSET · Handhole"/>
          <p:cNvSpPr/>
          <p:nvPr/>
        </p:nvSpPr>
        <p:spPr>
          <a:xfrm>
            <a:off x="6032379" y="3503149"/>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ASBUILT ASSET · Handhole"/>
          <p:cNvSpPr/>
          <p:nvPr/>
        </p:nvSpPr>
        <p:spPr>
          <a:xfrm>
            <a:off x="4353837" y="1902763"/>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ASBUILT ASSET · Handhole"/>
          <p:cNvSpPr/>
          <p:nvPr/>
        </p:nvSpPr>
        <p:spPr>
          <a:xfrm>
            <a:off x="8091365" y="5342937"/>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ASBUILT ASSET · Handhole"/>
          <p:cNvSpPr/>
          <p:nvPr/>
        </p:nvSpPr>
        <p:spPr>
          <a:xfrm>
            <a:off x="7129018" y="4358003"/>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ASBUILT ASSET · Earthing point"/>
          <p:cNvSpPr/>
          <p:nvPr/>
        </p:nvSpPr>
        <p:spPr>
          <a:xfrm>
            <a:off x="6812996" y="5367896"/>
            <a:ext cx="82296" cy="82296"/>
          </a:xfrm>
          <a:prstGeom prst="triangle">
            <a:avLst/>
          </a:prstGeom>
          <a:solidFill>
            <a:srgbClr val="795548">
              <a:alpha val="20000"/>
              <a:alpha val="100000"/>
            </a:srgbClr>
          </a:solidFill>
          <a:ln w="9525" cap="flat" cmpd="sng" algn="ctr">
            <a:solidFill>
              <a:srgbClr val="3E2A23">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ASBUILT ASSET · Earthing point"/>
          <p:cNvSpPr/>
          <p:nvPr/>
        </p:nvSpPr>
        <p:spPr>
          <a:xfrm>
            <a:off x="5701859" y="4488294"/>
            <a:ext cx="82296" cy="82296"/>
          </a:xfrm>
          <a:prstGeom prst="triangle">
            <a:avLst/>
          </a:prstGeom>
          <a:solidFill>
            <a:srgbClr val="795548">
              <a:alpha val="20000"/>
              <a:alpha val="100000"/>
            </a:srgbClr>
          </a:solidFill>
          <a:ln w="9525" cap="flat" cmpd="sng" algn="ctr">
            <a:solidFill>
              <a:srgbClr val="3E2A23">
                <a:alpha val="20000"/>
                <a:alpha val="10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ASBUILT ASSET · Earthing point"/>
          <p:cNvSpPr/>
          <p:nvPr/>
        </p:nvSpPr>
        <p:spPr>
          <a:xfrm>
            <a:off x="4741472" y="3504927"/>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ASBUILT ASSET · Earthing point"/>
          <p:cNvSpPr/>
          <p:nvPr/>
        </p:nvSpPr>
        <p:spPr>
          <a:xfrm>
            <a:off x="3642874" y="2648506"/>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ASBUILT ASSET · Earthing point"/>
          <p:cNvSpPr/>
          <p:nvPr/>
        </p:nvSpPr>
        <p:spPr>
          <a:xfrm>
            <a:off x="3432947" y="2473768"/>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ASBUILT ASSET · Earthing point"/>
          <p:cNvSpPr/>
          <p:nvPr/>
        </p:nvSpPr>
        <p:spPr>
          <a:xfrm>
            <a:off x="2042752" y="856878"/>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ASBUILT ASSET · Handhole"/>
          <p:cNvSpPr/>
          <p:nvPr/>
        </p:nvSpPr>
        <p:spPr>
          <a:xfrm>
            <a:off x="2807170" y="7982815"/>
            <a:ext cx="128016" cy="128016"/>
          </a:xfrm>
          <a:prstGeom prst="rect">
            <a:avLst/>
          </a:prstGeom>
          <a:noFill/>
          <a:ln w="9525" cap="flat" cmpd="sng" algn="ctr">
            <a:solidFill>
              <a:srgbClr val="BB00BB">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ASBUILT ASSET · Earthing point"/>
          <p:cNvSpPr/>
          <p:nvPr/>
        </p:nvSpPr>
        <p:spPr>
          <a:xfrm>
            <a:off x="417625" y="7128212"/>
            <a:ext cx="82296" cy="82296"/>
          </a:xfrm>
          <a:prstGeom prst="triangle">
            <a:avLst/>
          </a:prstGeom>
          <a:solidFill>
            <a:srgbClr val="795548">
              <a:alpha val="20000"/>
            </a:srgbClr>
          </a:solidFill>
          <a:ln w="9525" cap="flat" cmpd="sng" algn="ctr">
            <a:solidFill>
              <a:srgbClr val="3E2A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ASBUILT ASSET · Existing transformer manhole"/>
          <p:cNvSpPr/>
          <p:nvPr/>
        </p:nvSpPr>
        <p:spPr>
          <a:xfrm>
            <a:off x="1695903" y="6411473"/>
            <a:ext cx="173736" cy="173736"/>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ASBUILT ASSET · Existing transformer manhole"/>
          <p:cNvSpPr/>
          <p:nvPr/>
        </p:nvSpPr>
        <p:spPr>
          <a:xfrm>
            <a:off x="4532435" y="2880346"/>
            <a:ext cx="173736" cy="173736"/>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ASBUILT ASSET · Manhole"/>
          <p:cNvSpPr/>
          <p:nvPr/>
        </p:nvSpPr>
        <p:spPr>
          <a:xfrm>
            <a:off x="4690718" y="2176778"/>
            <a:ext cx="173736" cy="173736"/>
          </a:xfrm>
          <a:prstGeom prst="rect">
            <a:avLst/>
          </a:prstGeom>
          <a:noFill/>
          <a:ln w="9525" cap="flat" cmpd="sng" algn="ctr">
            <a:solidFill>
              <a:srgbClr val="7B1FA2">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ASBUILT ASSET · Manhole"/>
          <p:cNvSpPr/>
          <p:nvPr/>
        </p:nvSpPr>
        <p:spPr>
          <a:xfrm>
            <a:off x="1044138" y="6732565"/>
            <a:ext cx="173736" cy="173736"/>
          </a:xfrm>
          <a:prstGeom prst="rect">
            <a:avLst/>
          </a:prstGeom>
          <a:noFill/>
          <a:ln w="9525" cap="flat" cmpd="sng" algn="ctr">
            <a:solidFill>
              <a:srgbClr val="7B1FA2">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ASBUILT ASSET · Existing transformer handhole"/>
          <p:cNvSpPr/>
          <p:nvPr/>
        </p:nvSpPr>
        <p:spPr>
          <a:xfrm>
            <a:off x="5524740" y="3961015"/>
            <a:ext cx="146304" cy="146304"/>
          </a:xfrm>
          <a:prstGeom prst="rect">
            <a:avLst/>
          </a:prstGeom>
          <a:noFill/>
          <a:ln w="9525" cap="flat" cmpd="sng" algn="ctr">
            <a:solidFill>
              <a:srgbClr val="00838F">
                <a:alpha val="20000"/>
                <a:alpha val="10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ASBUILT ASSET · Existing transformer handhole"/>
          <p:cNvSpPr/>
          <p:nvPr/>
        </p:nvSpPr>
        <p:spPr>
          <a:xfrm>
            <a:off x="8767657" y="6676148"/>
            <a:ext cx="146304" cy="146304"/>
          </a:xfrm>
          <a:prstGeom prst="rect">
            <a:avLst/>
          </a:prstGeom>
          <a:noFill/>
          <a:ln w="9525" cap="flat" cmpd="sng" algn="ctr">
            <a:solidFill>
              <a:srgbClr val="00838F">
                <a:alpha val="20000"/>
              </a:srgbClr>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p>
        </p:txBody>
      </p:sp>
      <p:sp>
        <p:nvSpPr>
          <p:cNvPr id="5" name="Shape 3"/>
          <p:cNvSpPr/>
          <p:nvPr/>
        </p:nvSpPr>
        <p:spPr>
          <a:xfrm>
            <a:off x="7415709" y="9583565"/>
            <a:ext cx="283772" cy="227954"/>
          </a:xfrm>
          <a:prstGeom prst="line">
            <a:avLst/>
          </a:prstGeom>
          <a:noFill/>
          <a:ln w="12700">
            <a:solidFill>
              <a:srgbClr val="7A8288">
                <a:alpha val="20000"/>
              </a:srgbClr>
            </a:solidFill>
            <a:prstDash val="solid"/>
          </a:ln>
        </p:spPr>
        <p:txBody>
          <a:bodyPr/>
          <a:lstStyle/>
          <a:p>
            <a:endParaRPr lang="en-US"/>
          </a:p>
        </p:txBody>
      </p:sp>
      <p:sp>
        <p:nvSpPr>
          <p:cNvPr id="6" name="Shape 4"/>
          <p:cNvSpPr/>
          <p:nvPr/>
        </p:nvSpPr>
        <p:spPr>
          <a:xfrm>
            <a:off x="7414605" y="9582661"/>
            <a:ext cx="1104" cy="914"/>
          </a:xfrm>
          <a:prstGeom prst="line">
            <a:avLst/>
          </a:prstGeom>
          <a:noFill/>
          <a:ln w="12700">
            <a:solidFill>
              <a:srgbClr val="7A8288">
                <a:alpha val="20000"/>
              </a:srgbClr>
            </a:solidFill>
            <a:prstDash val="solid"/>
          </a:ln>
        </p:spPr>
        <p:txBody>
          <a:bodyPr/>
          <a:lstStyle/>
          <a:p>
            <a:endParaRPr lang="en-US"/>
          </a:p>
        </p:txBody>
      </p:sp>
      <p:sp>
        <p:nvSpPr>
          <p:cNvPr id="7" name="Shape 5"/>
          <p:cNvSpPr/>
          <p:nvPr/>
        </p:nvSpPr>
        <p:spPr>
          <a:xfrm>
            <a:off x="6830317" y="9112099"/>
            <a:ext cx="584288" cy="470562"/>
          </a:xfrm>
          <a:prstGeom prst="line">
            <a:avLst/>
          </a:prstGeom>
          <a:noFill/>
          <a:ln w="12700">
            <a:solidFill>
              <a:srgbClr val="7A8288">
                <a:alpha val="20000"/>
              </a:srgbClr>
            </a:solidFill>
            <a:prstDash val="solid"/>
          </a:ln>
        </p:spPr>
        <p:txBody>
          <a:bodyPr/>
          <a:lstStyle/>
          <a:p>
            <a:endParaRPr lang="en-US"/>
          </a:p>
        </p:txBody>
      </p:sp>
      <p:sp>
        <p:nvSpPr>
          <p:cNvPr id="8" name="Shape 6"/>
          <p:cNvSpPr/>
          <p:nvPr/>
        </p:nvSpPr>
        <p:spPr>
          <a:xfrm>
            <a:off x="6244925" y="8643746"/>
            <a:ext cx="585392" cy="468354"/>
          </a:xfrm>
          <a:prstGeom prst="line">
            <a:avLst/>
          </a:prstGeom>
          <a:noFill/>
          <a:ln w="12700">
            <a:solidFill>
              <a:srgbClr val="7A8288">
                <a:alpha val="20000"/>
              </a:srgbClr>
            </a:solidFill>
            <a:prstDash val="solid"/>
          </a:ln>
        </p:spPr>
        <p:txBody>
          <a:bodyPr/>
          <a:lstStyle/>
          <a:p>
            <a:endParaRPr lang="en-US"/>
          </a:p>
        </p:txBody>
      </p:sp>
      <p:sp>
        <p:nvSpPr>
          <p:cNvPr id="9" name="Shape 7"/>
          <p:cNvSpPr/>
          <p:nvPr/>
        </p:nvSpPr>
        <p:spPr>
          <a:xfrm>
            <a:off x="6243018" y="8642240"/>
            <a:ext cx="1907" cy="1506"/>
          </a:xfrm>
          <a:prstGeom prst="line">
            <a:avLst/>
          </a:prstGeom>
          <a:noFill/>
          <a:ln w="12700">
            <a:solidFill>
              <a:srgbClr val="7A8288">
                <a:alpha val="20000"/>
              </a:srgbClr>
            </a:solidFill>
            <a:prstDash val="solid"/>
          </a:ln>
        </p:spPr>
        <p:txBody>
          <a:bodyPr/>
          <a:lstStyle/>
          <a:p>
            <a:endParaRPr lang="en-US"/>
          </a:p>
        </p:txBody>
      </p:sp>
      <p:sp>
        <p:nvSpPr>
          <p:cNvPr id="10" name="Shape 8"/>
          <p:cNvSpPr/>
          <p:nvPr/>
        </p:nvSpPr>
        <p:spPr>
          <a:xfrm>
            <a:off x="5656723" y="8171377"/>
            <a:ext cx="586295" cy="470863"/>
          </a:xfrm>
          <a:prstGeom prst="line">
            <a:avLst/>
          </a:prstGeom>
          <a:noFill/>
          <a:ln w="12700">
            <a:solidFill>
              <a:srgbClr val="7A8288">
                <a:alpha val="20000"/>
              </a:srgbClr>
            </a:solidFill>
            <a:prstDash val="solid"/>
          </a:ln>
        </p:spPr>
        <p:txBody>
          <a:bodyPr/>
          <a:lstStyle/>
          <a:p>
            <a:endParaRPr lang="en-US"/>
          </a:p>
        </p:txBody>
      </p:sp>
      <p:sp>
        <p:nvSpPr>
          <p:cNvPr id="11" name="Shape 9"/>
          <p:cNvSpPr/>
          <p:nvPr/>
        </p:nvSpPr>
        <p:spPr>
          <a:xfrm>
            <a:off x="5069022" y="7703023"/>
            <a:ext cx="587701" cy="468354"/>
          </a:xfrm>
          <a:prstGeom prst="line">
            <a:avLst/>
          </a:prstGeom>
          <a:noFill/>
          <a:ln w="12700">
            <a:solidFill>
              <a:srgbClr val="7A8288">
                <a:alpha val="20000"/>
              </a:srgbClr>
            </a:solidFill>
            <a:prstDash val="solid"/>
          </a:ln>
        </p:spPr>
        <p:txBody>
          <a:bodyPr/>
          <a:lstStyle/>
          <a:p>
            <a:endParaRPr lang="en-US"/>
          </a:p>
        </p:txBody>
      </p:sp>
      <p:sp>
        <p:nvSpPr>
          <p:cNvPr id="12" name="Shape 10"/>
          <p:cNvSpPr/>
          <p:nvPr/>
        </p:nvSpPr>
        <p:spPr>
          <a:xfrm>
            <a:off x="5062799" y="7698004"/>
            <a:ext cx="6223" cy="5019"/>
          </a:xfrm>
          <a:prstGeom prst="line">
            <a:avLst/>
          </a:prstGeom>
          <a:noFill/>
          <a:ln w="12700">
            <a:solidFill>
              <a:srgbClr val="7A8288">
                <a:alpha val="20000"/>
              </a:srgbClr>
            </a:solidFill>
            <a:prstDash val="solid"/>
          </a:ln>
        </p:spPr>
        <p:txBody>
          <a:bodyPr/>
          <a:lstStyle/>
          <a:p>
            <a:endParaRPr lang="en-US"/>
          </a:p>
        </p:txBody>
      </p:sp>
      <p:sp>
        <p:nvSpPr>
          <p:cNvPr id="13" name="Shape 11"/>
          <p:cNvSpPr/>
          <p:nvPr/>
        </p:nvSpPr>
        <p:spPr>
          <a:xfrm>
            <a:off x="4479013" y="7226138"/>
            <a:ext cx="583786" cy="471867"/>
          </a:xfrm>
          <a:prstGeom prst="line">
            <a:avLst/>
          </a:prstGeom>
          <a:noFill/>
          <a:ln w="12700">
            <a:solidFill>
              <a:srgbClr val="7A8288">
                <a:alpha val="20000"/>
              </a:srgbClr>
            </a:solidFill>
            <a:prstDash val="solid"/>
          </a:ln>
        </p:spPr>
        <p:txBody>
          <a:bodyPr/>
          <a:lstStyle/>
          <a:p>
            <a:endParaRPr lang="en-US"/>
          </a:p>
        </p:txBody>
      </p:sp>
      <p:sp>
        <p:nvSpPr>
          <p:cNvPr id="14" name="Shape 12"/>
          <p:cNvSpPr/>
          <p:nvPr/>
        </p:nvSpPr>
        <p:spPr>
          <a:xfrm>
            <a:off x="3893521" y="6754572"/>
            <a:ext cx="585492" cy="471566"/>
          </a:xfrm>
          <a:prstGeom prst="line">
            <a:avLst/>
          </a:prstGeom>
          <a:noFill/>
          <a:ln w="12700">
            <a:solidFill>
              <a:srgbClr val="7A8288">
                <a:alpha val="20000"/>
              </a:srgbClr>
            </a:solidFill>
            <a:prstDash val="solid"/>
          </a:ln>
        </p:spPr>
        <p:txBody>
          <a:bodyPr/>
          <a:lstStyle/>
          <a:p>
            <a:endParaRPr lang="en-US"/>
          </a:p>
        </p:txBody>
      </p:sp>
      <p:sp>
        <p:nvSpPr>
          <p:cNvPr id="15" name="Shape 13"/>
          <p:cNvSpPr/>
          <p:nvPr/>
        </p:nvSpPr>
        <p:spPr>
          <a:xfrm>
            <a:off x="3307928" y="6287523"/>
            <a:ext cx="585593" cy="467049"/>
          </a:xfrm>
          <a:prstGeom prst="line">
            <a:avLst/>
          </a:prstGeom>
          <a:noFill/>
          <a:ln w="12700">
            <a:solidFill>
              <a:srgbClr val="7A8288">
                <a:alpha val="20000"/>
              </a:srgbClr>
            </a:solidFill>
            <a:prstDash val="solid"/>
          </a:ln>
        </p:spPr>
        <p:txBody>
          <a:bodyPr/>
          <a:lstStyle/>
          <a:p>
            <a:endParaRPr lang="en-US"/>
          </a:p>
        </p:txBody>
      </p:sp>
      <p:sp>
        <p:nvSpPr>
          <p:cNvPr id="16" name="Shape 14"/>
          <p:cNvSpPr/>
          <p:nvPr/>
        </p:nvSpPr>
        <p:spPr>
          <a:xfrm>
            <a:off x="3305419" y="6285515"/>
            <a:ext cx="2509" cy="2008"/>
          </a:xfrm>
          <a:prstGeom prst="line">
            <a:avLst/>
          </a:prstGeom>
          <a:noFill/>
          <a:ln w="12700">
            <a:solidFill>
              <a:srgbClr val="7A8288">
                <a:alpha val="20000"/>
              </a:srgbClr>
            </a:solidFill>
            <a:prstDash val="solid"/>
          </a:ln>
        </p:spPr>
        <p:txBody>
          <a:bodyPr/>
          <a:lstStyle/>
          <a:p>
            <a:endParaRPr lang="en-US"/>
          </a:p>
        </p:txBody>
      </p:sp>
      <p:sp>
        <p:nvSpPr>
          <p:cNvPr id="17" name="Shape 15"/>
          <p:cNvSpPr/>
          <p:nvPr/>
        </p:nvSpPr>
        <p:spPr>
          <a:xfrm>
            <a:off x="2723339" y="5818366"/>
            <a:ext cx="582080" cy="467149"/>
          </a:xfrm>
          <a:prstGeom prst="line">
            <a:avLst/>
          </a:prstGeom>
          <a:noFill/>
          <a:ln w="12700">
            <a:solidFill>
              <a:srgbClr val="7A8288">
                <a:alpha val="20000"/>
              </a:srgbClr>
            </a:solidFill>
            <a:prstDash val="solid"/>
          </a:ln>
        </p:spPr>
        <p:txBody>
          <a:bodyPr/>
          <a:lstStyle/>
          <a:p>
            <a:endParaRPr lang="en-US"/>
          </a:p>
        </p:txBody>
      </p:sp>
      <p:sp>
        <p:nvSpPr>
          <p:cNvPr id="18" name="Shape 16"/>
          <p:cNvSpPr/>
          <p:nvPr/>
        </p:nvSpPr>
        <p:spPr>
          <a:xfrm>
            <a:off x="2520479" y="5656661"/>
            <a:ext cx="202860" cy="161705"/>
          </a:xfrm>
          <a:prstGeom prst="line">
            <a:avLst/>
          </a:prstGeom>
          <a:noFill/>
          <a:ln w="12700">
            <a:solidFill>
              <a:srgbClr val="7A8288">
                <a:alpha val="20000"/>
              </a:srgbClr>
            </a:solidFill>
            <a:prstDash val="solid"/>
          </a:ln>
        </p:spPr>
        <p:txBody>
          <a:bodyPr/>
          <a:lstStyle/>
          <a:p>
            <a:endParaRPr lang="en-US"/>
          </a:p>
        </p:txBody>
      </p:sp>
      <p:sp>
        <p:nvSpPr>
          <p:cNvPr id="19" name="Shape 17"/>
          <p:cNvSpPr/>
          <p:nvPr/>
        </p:nvSpPr>
        <p:spPr>
          <a:xfrm>
            <a:off x="2515762" y="5652846"/>
            <a:ext cx="4718" cy="3814"/>
          </a:xfrm>
          <a:prstGeom prst="line">
            <a:avLst/>
          </a:prstGeom>
          <a:noFill/>
          <a:ln w="12700">
            <a:solidFill>
              <a:srgbClr val="7A8288">
                <a:alpha val="20000"/>
              </a:srgbClr>
            </a:solidFill>
            <a:prstDash val="solid"/>
          </a:ln>
        </p:spPr>
        <p:txBody>
          <a:bodyPr/>
          <a:lstStyle/>
          <a:p>
            <a:endParaRPr lang="en-US"/>
          </a:p>
        </p:txBody>
      </p:sp>
      <p:sp>
        <p:nvSpPr>
          <p:cNvPr id="20" name="Shape 18"/>
          <p:cNvSpPr/>
          <p:nvPr/>
        </p:nvSpPr>
        <p:spPr>
          <a:xfrm>
            <a:off x="2243141" y="5433124"/>
            <a:ext cx="272621" cy="219723"/>
          </a:xfrm>
          <a:prstGeom prst="line">
            <a:avLst/>
          </a:prstGeom>
          <a:noFill/>
          <a:ln w="12700">
            <a:solidFill>
              <a:srgbClr val="7A8288">
                <a:alpha val="20000"/>
              </a:srgbClr>
            </a:solidFill>
            <a:prstDash val="solid"/>
          </a:ln>
        </p:spPr>
        <p:txBody>
          <a:bodyPr/>
          <a:lstStyle/>
          <a:p>
            <a:endParaRPr lang="en-US"/>
          </a:p>
        </p:txBody>
      </p:sp>
      <p:sp>
        <p:nvSpPr>
          <p:cNvPr id="21" name="Shape 19"/>
          <p:cNvSpPr/>
          <p:nvPr/>
        </p:nvSpPr>
        <p:spPr>
          <a:xfrm>
            <a:off x="2134233" y="5383137"/>
            <a:ext cx="108908" cy="49987"/>
          </a:xfrm>
          <a:prstGeom prst="line">
            <a:avLst/>
          </a:prstGeom>
          <a:noFill/>
          <a:ln w="12700">
            <a:solidFill>
              <a:srgbClr val="7A8288">
                <a:alpha val="20000"/>
              </a:srgbClr>
            </a:solidFill>
            <a:prstDash val="solid"/>
          </a:ln>
        </p:spPr>
        <p:txBody>
          <a:bodyPr/>
          <a:lstStyle/>
          <a:p>
            <a:endParaRPr lang="en-US"/>
          </a:p>
        </p:txBody>
      </p:sp>
      <p:sp>
        <p:nvSpPr>
          <p:cNvPr id="22" name="Shape 20"/>
          <p:cNvSpPr/>
          <p:nvPr/>
        </p:nvSpPr>
        <p:spPr>
          <a:xfrm>
            <a:off x="2028136" y="5327629"/>
            <a:ext cx="106097" cy="55508"/>
          </a:xfrm>
          <a:prstGeom prst="line">
            <a:avLst/>
          </a:prstGeom>
          <a:noFill/>
          <a:ln w="12700">
            <a:solidFill>
              <a:srgbClr val="7A8288">
                <a:alpha val="20000"/>
              </a:srgbClr>
            </a:solidFill>
            <a:prstDash val="solid"/>
          </a:ln>
        </p:spPr>
        <p:txBody>
          <a:bodyPr/>
          <a:lstStyle/>
          <a:p>
            <a:endParaRPr lang="en-US"/>
          </a:p>
        </p:txBody>
      </p:sp>
      <p:sp>
        <p:nvSpPr>
          <p:cNvPr id="23" name="Shape 21"/>
          <p:cNvSpPr/>
          <p:nvPr/>
        </p:nvSpPr>
        <p:spPr>
          <a:xfrm>
            <a:off x="1928362" y="5261280"/>
            <a:ext cx="99774" cy="66348"/>
          </a:xfrm>
          <a:prstGeom prst="line">
            <a:avLst/>
          </a:prstGeom>
          <a:noFill/>
          <a:ln w="12700">
            <a:solidFill>
              <a:srgbClr val="7A8288">
                <a:alpha val="20000"/>
              </a:srgbClr>
            </a:solidFill>
            <a:prstDash val="solid"/>
          </a:ln>
        </p:spPr>
        <p:txBody>
          <a:bodyPr/>
          <a:lstStyle/>
          <a:p>
            <a:endParaRPr lang="en-US"/>
          </a:p>
        </p:txBody>
      </p:sp>
      <p:sp>
        <p:nvSpPr>
          <p:cNvPr id="24" name="Shape 22"/>
          <p:cNvSpPr/>
          <p:nvPr/>
        </p:nvSpPr>
        <p:spPr>
          <a:xfrm>
            <a:off x="1836016" y="5185095"/>
            <a:ext cx="92346" cy="76185"/>
          </a:xfrm>
          <a:prstGeom prst="line">
            <a:avLst/>
          </a:prstGeom>
          <a:noFill/>
          <a:ln w="12700">
            <a:solidFill>
              <a:srgbClr val="7A8288">
                <a:alpha val="20000"/>
              </a:srgbClr>
            </a:solidFill>
            <a:prstDash val="solid"/>
          </a:ln>
        </p:spPr>
        <p:txBody>
          <a:bodyPr/>
          <a:lstStyle/>
          <a:p>
            <a:endParaRPr lang="en-US"/>
          </a:p>
        </p:txBody>
      </p:sp>
      <p:sp>
        <p:nvSpPr>
          <p:cNvPr id="25" name="Shape 23"/>
          <p:cNvSpPr/>
          <p:nvPr/>
        </p:nvSpPr>
        <p:spPr>
          <a:xfrm>
            <a:off x="1752002" y="5099675"/>
            <a:ext cx="84015" cy="85420"/>
          </a:xfrm>
          <a:prstGeom prst="line">
            <a:avLst/>
          </a:prstGeom>
          <a:noFill/>
          <a:ln w="12700">
            <a:solidFill>
              <a:srgbClr val="7A8288">
                <a:alpha val="20000"/>
              </a:srgbClr>
            </a:solidFill>
            <a:prstDash val="solid"/>
          </a:ln>
        </p:spPr>
        <p:txBody>
          <a:bodyPr/>
          <a:lstStyle/>
          <a:p>
            <a:endParaRPr lang="en-US"/>
          </a:p>
        </p:txBody>
      </p:sp>
      <p:sp>
        <p:nvSpPr>
          <p:cNvPr id="26" name="Shape 24"/>
          <p:cNvSpPr/>
          <p:nvPr/>
        </p:nvSpPr>
        <p:spPr>
          <a:xfrm>
            <a:off x="1740358" y="5085121"/>
            <a:ext cx="11644" cy="14554"/>
          </a:xfrm>
          <a:prstGeom prst="line">
            <a:avLst/>
          </a:prstGeom>
          <a:noFill/>
          <a:ln w="12700">
            <a:solidFill>
              <a:srgbClr val="7A8288">
                <a:alpha val="20000"/>
              </a:srgbClr>
            </a:solidFill>
            <a:prstDash val="solid"/>
          </a:ln>
        </p:spPr>
        <p:txBody>
          <a:bodyPr/>
          <a:lstStyle/>
          <a:p>
            <a:endParaRPr lang="en-US"/>
          </a:p>
        </p:txBody>
      </p:sp>
      <p:sp>
        <p:nvSpPr>
          <p:cNvPr id="27" name="Shape 25"/>
          <p:cNvSpPr/>
          <p:nvPr/>
        </p:nvSpPr>
        <p:spPr>
          <a:xfrm>
            <a:off x="1665076" y="5068659"/>
            <a:ext cx="75282" cy="16462"/>
          </a:xfrm>
          <a:prstGeom prst="line">
            <a:avLst/>
          </a:prstGeom>
          <a:noFill/>
          <a:ln w="12700">
            <a:solidFill>
              <a:srgbClr val="7A8288">
                <a:alpha val="20000"/>
              </a:srgbClr>
            </a:solidFill>
            <a:prstDash val="solid"/>
          </a:ln>
        </p:spPr>
        <p:txBody>
          <a:bodyPr/>
          <a:lstStyle/>
          <a:p>
            <a:endParaRPr lang="en-US"/>
          </a:p>
        </p:txBody>
      </p:sp>
      <p:sp>
        <p:nvSpPr>
          <p:cNvPr id="28" name="Shape 26"/>
          <p:cNvSpPr/>
          <p:nvPr/>
        </p:nvSpPr>
        <p:spPr>
          <a:xfrm>
            <a:off x="1559782" y="5034933"/>
            <a:ext cx="105294" cy="33726"/>
          </a:xfrm>
          <a:prstGeom prst="line">
            <a:avLst/>
          </a:prstGeom>
          <a:noFill/>
          <a:ln w="12700">
            <a:solidFill>
              <a:srgbClr val="7A8288">
                <a:alpha val="20000"/>
              </a:srgbClr>
            </a:solidFill>
            <a:prstDash val="solid"/>
          </a:ln>
        </p:spPr>
        <p:txBody>
          <a:bodyPr/>
          <a:lstStyle/>
          <a:p>
            <a:endParaRPr lang="en-US"/>
          </a:p>
        </p:txBody>
      </p:sp>
      <p:sp>
        <p:nvSpPr>
          <p:cNvPr id="29" name="Shape 27"/>
          <p:cNvSpPr/>
          <p:nvPr/>
        </p:nvSpPr>
        <p:spPr>
          <a:xfrm>
            <a:off x="1458202" y="4991269"/>
            <a:ext cx="101580" cy="43663"/>
          </a:xfrm>
          <a:prstGeom prst="line">
            <a:avLst/>
          </a:prstGeom>
          <a:noFill/>
          <a:ln w="12700">
            <a:solidFill>
              <a:srgbClr val="7A8288">
                <a:alpha val="20000"/>
              </a:srgbClr>
            </a:solidFill>
            <a:prstDash val="solid"/>
          </a:ln>
        </p:spPr>
        <p:txBody>
          <a:bodyPr/>
          <a:lstStyle/>
          <a:p>
            <a:endParaRPr lang="en-US"/>
          </a:p>
        </p:txBody>
      </p:sp>
      <p:sp>
        <p:nvSpPr>
          <p:cNvPr id="30" name="Shape 28"/>
          <p:cNvSpPr/>
          <p:nvPr/>
        </p:nvSpPr>
        <p:spPr>
          <a:xfrm>
            <a:off x="1361339" y="4938070"/>
            <a:ext cx="96863" cy="53199"/>
          </a:xfrm>
          <a:prstGeom prst="line">
            <a:avLst/>
          </a:prstGeom>
          <a:noFill/>
          <a:ln w="12700">
            <a:solidFill>
              <a:srgbClr val="7A8288">
                <a:alpha val="20000"/>
              </a:srgbClr>
            </a:solidFill>
            <a:prstDash val="solid"/>
          </a:ln>
        </p:spPr>
        <p:txBody>
          <a:bodyPr/>
          <a:lstStyle/>
          <a:p>
            <a:endParaRPr lang="en-US"/>
          </a:p>
        </p:txBody>
      </p:sp>
      <p:sp>
        <p:nvSpPr>
          <p:cNvPr id="31" name="Shape 29"/>
          <p:cNvSpPr/>
          <p:nvPr/>
        </p:nvSpPr>
        <p:spPr>
          <a:xfrm>
            <a:off x="1269897" y="4875837"/>
            <a:ext cx="91442" cy="62233"/>
          </a:xfrm>
          <a:prstGeom prst="line">
            <a:avLst/>
          </a:prstGeom>
          <a:noFill/>
          <a:ln w="12700">
            <a:solidFill>
              <a:srgbClr val="7A8288">
                <a:alpha val="20000"/>
              </a:srgbClr>
            </a:solidFill>
            <a:prstDash val="solid"/>
          </a:ln>
        </p:spPr>
        <p:txBody>
          <a:bodyPr/>
          <a:lstStyle/>
          <a:p>
            <a:endParaRPr lang="en-US"/>
          </a:p>
        </p:txBody>
      </p:sp>
      <p:sp>
        <p:nvSpPr>
          <p:cNvPr id="32" name="Shape 30"/>
          <p:cNvSpPr/>
          <p:nvPr/>
        </p:nvSpPr>
        <p:spPr>
          <a:xfrm>
            <a:off x="1184878" y="4805172"/>
            <a:ext cx="85018" cy="70665"/>
          </a:xfrm>
          <a:prstGeom prst="line">
            <a:avLst/>
          </a:prstGeom>
          <a:noFill/>
          <a:ln w="12700">
            <a:solidFill>
              <a:srgbClr val="7A8288">
                <a:alpha val="20000"/>
              </a:srgbClr>
            </a:solidFill>
            <a:prstDash val="solid"/>
          </a:ln>
        </p:spPr>
        <p:txBody>
          <a:bodyPr/>
          <a:lstStyle/>
          <a:p>
            <a:endParaRPr lang="en-US"/>
          </a:p>
        </p:txBody>
      </p:sp>
      <p:sp>
        <p:nvSpPr>
          <p:cNvPr id="33" name="Shape 31"/>
          <p:cNvSpPr/>
          <p:nvPr/>
        </p:nvSpPr>
        <p:spPr>
          <a:xfrm>
            <a:off x="1148342" y="4768334"/>
            <a:ext cx="36537" cy="36838"/>
          </a:xfrm>
          <a:prstGeom prst="line">
            <a:avLst/>
          </a:prstGeom>
          <a:noFill/>
          <a:ln w="12700">
            <a:solidFill>
              <a:srgbClr val="7A8288">
                <a:alpha val="20000"/>
              </a:srgbClr>
            </a:solidFill>
            <a:prstDash val="solid"/>
          </a:ln>
        </p:spPr>
        <p:txBody>
          <a:bodyPr/>
          <a:lstStyle/>
          <a:p>
            <a:endParaRPr lang="en-US"/>
          </a:p>
        </p:txBody>
      </p:sp>
      <p:sp>
        <p:nvSpPr>
          <p:cNvPr id="34" name="Shape 32"/>
          <p:cNvSpPr/>
          <p:nvPr/>
        </p:nvSpPr>
        <p:spPr>
          <a:xfrm>
            <a:off x="1067639" y="4756490"/>
            <a:ext cx="80702" cy="11844"/>
          </a:xfrm>
          <a:prstGeom prst="line">
            <a:avLst/>
          </a:prstGeom>
          <a:noFill/>
          <a:ln w="12700">
            <a:solidFill>
              <a:srgbClr val="7A8288">
                <a:alpha val="20000"/>
              </a:srgbClr>
            </a:solidFill>
            <a:prstDash val="solid"/>
          </a:ln>
        </p:spPr>
        <p:txBody>
          <a:bodyPr/>
          <a:lstStyle/>
          <a:p>
            <a:endParaRPr lang="en-US"/>
          </a:p>
        </p:txBody>
      </p:sp>
      <p:sp>
        <p:nvSpPr>
          <p:cNvPr id="35" name="Shape 33"/>
          <p:cNvSpPr/>
          <p:nvPr/>
        </p:nvSpPr>
        <p:spPr>
          <a:xfrm>
            <a:off x="960036" y="4730091"/>
            <a:ext cx="107603" cy="26399"/>
          </a:xfrm>
          <a:prstGeom prst="line">
            <a:avLst/>
          </a:prstGeom>
          <a:noFill/>
          <a:ln w="12700">
            <a:solidFill>
              <a:srgbClr val="7A8288">
                <a:alpha val="20000"/>
              </a:srgbClr>
            </a:solidFill>
            <a:prstDash val="solid"/>
          </a:ln>
        </p:spPr>
        <p:txBody>
          <a:bodyPr/>
          <a:lstStyle/>
          <a:p>
            <a:endParaRPr lang="en-US"/>
          </a:p>
        </p:txBody>
      </p:sp>
      <p:sp>
        <p:nvSpPr>
          <p:cNvPr id="36" name="Shape 34"/>
          <p:cNvSpPr/>
          <p:nvPr/>
        </p:nvSpPr>
        <p:spPr>
          <a:xfrm>
            <a:off x="855445" y="4693454"/>
            <a:ext cx="104592" cy="36637"/>
          </a:xfrm>
          <a:prstGeom prst="line">
            <a:avLst/>
          </a:prstGeom>
          <a:noFill/>
          <a:ln w="12700">
            <a:solidFill>
              <a:srgbClr val="7A8288">
                <a:alpha val="20000"/>
              </a:srgbClr>
            </a:solidFill>
            <a:prstDash val="solid"/>
          </a:ln>
        </p:spPr>
        <p:txBody>
          <a:bodyPr/>
          <a:lstStyle/>
          <a:p>
            <a:endParaRPr lang="en-US"/>
          </a:p>
        </p:txBody>
      </p:sp>
      <p:sp>
        <p:nvSpPr>
          <p:cNvPr id="37" name="Shape 35"/>
          <p:cNvSpPr/>
          <p:nvPr/>
        </p:nvSpPr>
        <p:spPr>
          <a:xfrm>
            <a:off x="754868" y="4646980"/>
            <a:ext cx="100577" cy="46474"/>
          </a:xfrm>
          <a:prstGeom prst="line">
            <a:avLst/>
          </a:prstGeom>
          <a:noFill/>
          <a:ln w="12700">
            <a:solidFill>
              <a:srgbClr val="7A8288">
                <a:alpha val="20000"/>
              </a:srgbClr>
            </a:solidFill>
            <a:prstDash val="solid"/>
          </a:ln>
        </p:spPr>
        <p:txBody>
          <a:bodyPr/>
          <a:lstStyle/>
          <a:p>
            <a:endParaRPr lang="en-US"/>
          </a:p>
        </p:txBody>
      </p:sp>
      <p:sp>
        <p:nvSpPr>
          <p:cNvPr id="38" name="Shape 36"/>
          <p:cNvSpPr/>
          <p:nvPr/>
        </p:nvSpPr>
        <p:spPr>
          <a:xfrm>
            <a:off x="659210" y="4590970"/>
            <a:ext cx="95658" cy="56010"/>
          </a:xfrm>
          <a:prstGeom prst="line">
            <a:avLst/>
          </a:prstGeom>
          <a:noFill/>
          <a:ln w="12700">
            <a:solidFill>
              <a:srgbClr val="7A8288">
                <a:alpha val="20000"/>
              </a:srgbClr>
            </a:solidFill>
            <a:prstDash val="solid"/>
          </a:ln>
        </p:spPr>
        <p:txBody>
          <a:bodyPr/>
          <a:lstStyle/>
          <a:p>
            <a:endParaRPr lang="en-US"/>
          </a:p>
        </p:txBody>
      </p:sp>
      <p:sp>
        <p:nvSpPr>
          <p:cNvPr id="39" name="Shape 37"/>
          <p:cNvSpPr/>
          <p:nvPr/>
        </p:nvSpPr>
        <p:spPr>
          <a:xfrm>
            <a:off x="569374" y="4526128"/>
            <a:ext cx="89836" cy="64843"/>
          </a:xfrm>
          <a:prstGeom prst="line">
            <a:avLst/>
          </a:prstGeom>
          <a:noFill/>
          <a:ln w="12700">
            <a:solidFill>
              <a:srgbClr val="7A8288">
                <a:alpha val="20000"/>
              </a:srgbClr>
            </a:solidFill>
            <a:prstDash val="solid"/>
          </a:ln>
        </p:spPr>
        <p:txBody>
          <a:bodyPr/>
          <a:lstStyle/>
          <a:p>
            <a:endParaRPr lang="en-US"/>
          </a:p>
        </p:txBody>
      </p:sp>
      <p:sp>
        <p:nvSpPr>
          <p:cNvPr id="40" name="Shape 38"/>
          <p:cNvSpPr/>
          <p:nvPr/>
        </p:nvSpPr>
        <p:spPr>
          <a:xfrm>
            <a:off x="535145" y="4496115"/>
            <a:ext cx="34228" cy="30012"/>
          </a:xfrm>
          <a:prstGeom prst="line">
            <a:avLst/>
          </a:prstGeom>
          <a:noFill/>
          <a:ln w="12700">
            <a:solidFill>
              <a:srgbClr val="7A8288">
                <a:alpha val="20000"/>
              </a:srgbClr>
            </a:solidFill>
            <a:prstDash val="solid"/>
          </a:ln>
        </p:spPr>
        <p:txBody>
          <a:bodyPr/>
          <a:lstStyle/>
          <a:p>
            <a:endParaRPr lang="en-US"/>
          </a:p>
        </p:txBody>
      </p:sp>
      <p:sp>
        <p:nvSpPr>
          <p:cNvPr id="41" name="Shape 39"/>
          <p:cNvSpPr/>
          <p:nvPr/>
        </p:nvSpPr>
        <p:spPr>
          <a:xfrm>
            <a:off x="496300" y="4494810"/>
            <a:ext cx="38845" cy="1305"/>
          </a:xfrm>
          <a:prstGeom prst="line">
            <a:avLst/>
          </a:prstGeom>
          <a:noFill/>
          <a:ln w="12700">
            <a:solidFill>
              <a:srgbClr val="7A8288">
                <a:alpha val="20000"/>
              </a:srgbClr>
            </a:solidFill>
            <a:prstDash val="solid"/>
          </a:ln>
        </p:spPr>
        <p:txBody>
          <a:bodyPr/>
          <a:lstStyle/>
          <a:p>
            <a:endParaRPr lang="en-US"/>
          </a:p>
        </p:txBody>
      </p:sp>
      <p:sp>
        <p:nvSpPr>
          <p:cNvPr id="42" name="Shape 40"/>
          <p:cNvSpPr/>
          <p:nvPr/>
        </p:nvSpPr>
        <p:spPr>
          <a:xfrm>
            <a:off x="385284" y="4480256"/>
            <a:ext cx="111016" cy="14554"/>
          </a:xfrm>
          <a:prstGeom prst="line">
            <a:avLst/>
          </a:prstGeom>
          <a:noFill/>
          <a:ln w="12700">
            <a:solidFill>
              <a:srgbClr val="7A8288">
                <a:alpha val="20000"/>
              </a:srgbClr>
            </a:solidFill>
            <a:prstDash val="solid"/>
          </a:ln>
        </p:spPr>
        <p:txBody>
          <a:bodyPr/>
          <a:lstStyle/>
          <a:p>
            <a:endParaRPr lang="en-US"/>
          </a:p>
        </p:txBody>
      </p:sp>
      <p:sp>
        <p:nvSpPr>
          <p:cNvPr id="43" name="Shape 41"/>
          <p:cNvSpPr/>
          <p:nvPr/>
        </p:nvSpPr>
        <p:spPr>
          <a:xfrm>
            <a:off x="320040" y="4465190"/>
            <a:ext cx="65244" cy="15066"/>
          </a:xfrm>
          <a:prstGeom prst="line">
            <a:avLst/>
          </a:prstGeom>
          <a:noFill/>
          <a:ln w="12700">
            <a:solidFill>
              <a:srgbClr val="7A8288"/>
            </a:solidFill>
            <a:prstDash val="solid"/>
          </a:ln>
        </p:spPr>
        <p:txBody>
          <a:bodyPr/>
          <a:lstStyle/>
          <a:p>
            <a:endParaRPr lang="en-US"/>
          </a:p>
        </p:txBody>
      </p:sp>
      <p:sp>
        <p:nvSpPr>
          <p:cNvPr id="44" name="Shape 42"/>
          <p:cNvSpPr/>
          <p:nvPr/>
        </p:nvSpPr>
        <p:spPr>
          <a:xfrm>
            <a:off x="8862125" y="7784127"/>
            <a:ext cx="1013395" cy="814008"/>
          </a:xfrm>
          <a:prstGeom prst="line">
            <a:avLst/>
          </a:prstGeom>
          <a:noFill/>
          <a:ln w="12700">
            <a:solidFill>
              <a:srgbClr val="7A8288">
                <a:alpha val="20000"/>
              </a:srgbClr>
            </a:solidFill>
            <a:prstDash val="solid"/>
          </a:ln>
        </p:spPr>
        <p:txBody>
          <a:bodyPr/>
          <a:lstStyle/>
          <a:p>
            <a:endParaRPr lang="en-US"/>
          </a:p>
        </p:txBody>
      </p:sp>
      <p:sp>
        <p:nvSpPr>
          <p:cNvPr id="45" name="Shape 43"/>
          <p:cNvSpPr/>
          <p:nvPr/>
        </p:nvSpPr>
        <p:spPr>
          <a:xfrm>
            <a:off x="8276834" y="7312762"/>
            <a:ext cx="585292" cy="471365"/>
          </a:xfrm>
          <a:prstGeom prst="line">
            <a:avLst/>
          </a:prstGeom>
          <a:noFill/>
          <a:ln w="12700">
            <a:solidFill>
              <a:srgbClr val="7A8288">
                <a:alpha val="20000"/>
              </a:srgbClr>
            </a:solidFill>
            <a:prstDash val="solid"/>
          </a:ln>
        </p:spPr>
        <p:txBody>
          <a:bodyPr/>
          <a:lstStyle/>
          <a:p>
            <a:endParaRPr lang="en-US"/>
          </a:p>
        </p:txBody>
      </p:sp>
      <p:sp>
        <p:nvSpPr>
          <p:cNvPr id="46" name="Shape 44"/>
          <p:cNvSpPr/>
          <p:nvPr/>
        </p:nvSpPr>
        <p:spPr>
          <a:xfrm>
            <a:off x="8273823" y="7310453"/>
            <a:ext cx="3011" cy="2309"/>
          </a:xfrm>
          <a:prstGeom prst="line">
            <a:avLst/>
          </a:prstGeom>
          <a:noFill/>
          <a:ln w="12700">
            <a:solidFill>
              <a:srgbClr val="7A8288">
                <a:alpha val="20000"/>
              </a:srgbClr>
            </a:solidFill>
            <a:prstDash val="solid"/>
          </a:ln>
        </p:spPr>
        <p:txBody>
          <a:bodyPr/>
          <a:lstStyle/>
          <a:p>
            <a:endParaRPr lang="en-US"/>
          </a:p>
        </p:txBody>
      </p:sp>
      <p:sp>
        <p:nvSpPr>
          <p:cNvPr id="47" name="Shape 45"/>
          <p:cNvSpPr/>
          <p:nvPr/>
        </p:nvSpPr>
        <p:spPr>
          <a:xfrm>
            <a:off x="7687929" y="6841698"/>
            <a:ext cx="585894" cy="468755"/>
          </a:xfrm>
          <a:prstGeom prst="line">
            <a:avLst/>
          </a:prstGeom>
          <a:noFill/>
          <a:ln w="12700">
            <a:solidFill>
              <a:srgbClr val="7A8288">
                <a:alpha val="20000"/>
              </a:srgbClr>
            </a:solidFill>
            <a:prstDash val="solid"/>
          </a:ln>
        </p:spPr>
        <p:txBody>
          <a:bodyPr/>
          <a:lstStyle/>
          <a:p>
            <a:endParaRPr lang="en-US"/>
          </a:p>
        </p:txBody>
      </p:sp>
      <p:sp>
        <p:nvSpPr>
          <p:cNvPr id="48" name="Shape 46"/>
          <p:cNvSpPr/>
          <p:nvPr/>
        </p:nvSpPr>
        <p:spPr>
          <a:xfrm>
            <a:off x="7100830" y="6370132"/>
            <a:ext cx="587098" cy="471566"/>
          </a:xfrm>
          <a:prstGeom prst="line">
            <a:avLst/>
          </a:prstGeom>
          <a:noFill/>
          <a:ln w="12700">
            <a:solidFill>
              <a:srgbClr val="7A8288">
                <a:alpha val="20000"/>
              </a:srgbClr>
            </a:solidFill>
            <a:prstDash val="solid"/>
          </a:ln>
        </p:spPr>
        <p:txBody>
          <a:bodyPr/>
          <a:lstStyle/>
          <a:p>
            <a:endParaRPr lang="en-US"/>
          </a:p>
        </p:txBody>
      </p:sp>
      <p:sp>
        <p:nvSpPr>
          <p:cNvPr id="49" name="Shape 47"/>
          <p:cNvSpPr/>
          <p:nvPr/>
        </p:nvSpPr>
        <p:spPr>
          <a:xfrm>
            <a:off x="7097317" y="6367221"/>
            <a:ext cx="3513" cy="2911"/>
          </a:xfrm>
          <a:prstGeom prst="line">
            <a:avLst/>
          </a:prstGeom>
          <a:noFill/>
          <a:ln w="12700">
            <a:solidFill>
              <a:srgbClr val="7A8288">
                <a:alpha val="20000"/>
              </a:srgbClr>
            </a:solidFill>
            <a:prstDash val="solid"/>
          </a:ln>
        </p:spPr>
        <p:txBody>
          <a:bodyPr/>
          <a:lstStyle/>
          <a:p>
            <a:endParaRPr lang="en-US"/>
          </a:p>
        </p:txBody>
      </p:sp>
      <p:sp>
        <p:nvSpPr>
          <p:cNvPr id="50" name="Shape 48"/>
          <p:cNvSpPr/>
          <p:nvPr/>
        </p:nvSpPr>
        <p:spPr>
          <a:xfrm>
            <a:off x="6510921" y="5899972"/>
            <a:ext cx="586396" cy="467250"/>
          </a:xfrm>
          <a:prstGeom prst="line">
            <a:avLst/>
          </a:prstGeom>
          <a:noFill/>
          <a:ln w="12700">
            <a:solidFill>
              <a:srgbClr val="7A8288">
                <a:alpha val="20000"/>
              </a:srgbClr>
            </a:solidFill>
            <a:prstDash val="solid"/>
          </a:ln>
        </p:spPr>
        <p:txBody>
          <a:bodyPr/>
          <a:lstStyle/>
          <a:p>
            <a:endParaRPr lang="en-US"/>
          </a:p>
        </p:txBody>
      </p:sp>
      <p:sp>
        <p:nvSpPr>
          <p:cNvPr id="51" name="Shape 49"/>
          <p:cNvSpPr/>
          <p:nvPr/>
        </p:nvSpPr>
        <p:spPr>
          <a:xfrm>
            <a:off x="5929444" y="5430012"/>
            <a:ext cx="581477" cy="469960"/>
          </a:xfrm>
          <a:prstGeom prst="line">
            <a:avLst/>
          </a:prstGeom>
          <a:noFill/>
          <a:ln w="12700">
            <a:solidFill>
              <a:srgbClr val="7A8288">
                <a:alpha val="20000"/>
              </a:srgbClr>
            </a:solidFill>
            <a:prstDash val="solid"/>
          </a:ln>
        </p:spPr>
        <p:txBody>
          <a:bodyPr/>
          <a:lstStyle/>
          <a:p>
            <a:endParaRPr lang="en-US"/>
          </a:p>
        </p:txBody>
      </p:sp>
      <p:sp>
        <p:nvSpPr>
          <p:cNvPr id="52" name="Shape 50"/>
          <p:cNvSpPr/>
          <p:nvPr/>
        </p:nvSpPr>
        <p:spPr>
          <a:xfrm>
            <a:off x="5927838" y="5428707"/>
            <a:ext cx="1606" cy="1305"/>
          </a:xfrm>
          <a:prstGeom prst="line">
            <a:avLst/>
          </a:prstGeom>
          <a:noFill/>
          <a:ln w="12700">
            <a:solidFill>
              <a:srgbClr val="7A8288">
                <a:alpha val="20000"/>
              </a:srgbClr>
            </a:solidFill>
            <a:prstDash val="solid"/>
          </a:ln>
        </p:spPr>
        <p:txBody>
          <a:bodyPr/>
          <a:lstStyle/>
          <a:p>
            <a:endParaRPr lang="en-US"/>
          </a:p>
        </p:txBody>
      </p:sp>
      <p:sp>
        <p:nvSpPr>
          <p:cNvPr id="53" name="Shape 51"/>
          <p:cNvSpPr/>
          <p:nvPr/>
        </p:nvSpPr>
        <p:spPr>
          <a:xfrm>
            <a:off x="5339435" y="4954833"/>
            <a:ext cx="588403" cy="473874"/>
          </a:xfrm>
          <a:prstGeom prst="line">
            <a:avLst/>
          </a:prstGeom>
          <a:noFill/>
          <a:ln w="12700">
            <a:solidFill>
              <a:srgbClr val="7A8288">
                <a:alpha val="20000"/>
              </a:srgbClr>
            </a:solidFill>
            <a:prstDash val="solid"/>
          </a:ln>
        </p:spPr>
        <p:txBody>
          <a:bodyPr/>
          <a:lstStyle/>
          <a:p>
            <a:endParaRPr lang="en-US"/>
          </a:p>
        </p:txBody>
      </p:sp>
      <p:sp>
        <p:nvSpPr>
          <p:cNvPr id="54" name="Shape 52"/>
          <p:cNvSpPr/>
          <p:nvPr/>
        </p:nvSpPr>
        <p:spPr>
          <a:xfrm>
            <a:off x="5335319" y="4951520"/>
            <a:ext cx="4115" cy="3312"/>
          </a:xfrm>
          <a:prstGeom prst="line">
            <a:avLst/>
          </a:prstGeom>
          <a:noFill/>
          <a:ln w="12700">
            <a:solidFill>
              <a:srgbClr val="7A8288">
                <a:alpha val="20000"/>
              </a:srgbClr>
            </a:solidFill>
            <a:prstDash val="solid"/>
          </a:ln>
        </p:spPr>
        <p:txBody>
          <a:bodyPr/>
          <a:lstStyle/>
          <a:p>
            <a:endParaRPr lang="en-US"/>
          </a:p>
        </p:txBody>
      </p:sp>
      <p:sp>
        <p:nvSpPr>
          <p:cNvPr id="55" name="Shape 53"/>
          <p:cNvSpPr/>
          <p:nvPr/>
        </p:nvSpPr>
        <p:spPr>
          <a:xfrm>
            <a:off x="4748924" y="4483769"/>
            <a:ext cx="586396" cy="467751"/>
          </a:xfrm>
          <a:prstGeom prst="line">
            <a:avLst/>
          </a:prstGeom>
          <a:noFill/>
          <a:ln w="12700">
            <a:solidFill>
              <a:srgbClr val="7A8288">
                <a:alpha val="20000"/>
              </a:srgbClr>
            </a:solidFill>
            <a:prstDash val="solid"/>
          </a:ln>
        </p:spPr>
        <p:txBody>
          <a:bodyPr/>
          <a:lstStyle/>
          <a:p>
            <a:endParaRPr lang="en-US"/>
          </a:p>
        </p:txBody>
      </p:sp>
      <p:sp>
        <p:nvSpPr>
          <p:cNvPr id="56" name="Shape 54"/>
          <p:cNvSpPr/>
          <p:nvPr/>
        </p:nvSpPr>
        <p:spPr>
          <a:xfrm>
            <a:off x="4166744" y="4016620"/>
            <a:ext cx="582180" cy="467149"/>
          </a:xfrm>
          <a:prstGeom prst="line">
            <a:avLst/>
          </a:prstGeom>
          <a:noFill/>
          <a:ln w="12700">
            <a:solidFill>
              <a:srgbClr val="7A8288">
                <a:alpha val="20000"/>
              </a:srgbClr>
            </a:solidFill>
            <a:prstDash val="solid"/>
          </a:ln>
        </p:spPr>
        <p:txBody>
          <a:bodyPr/>
          <a:lstStyle/>
          <a:p>
            <a:endParaRPr lang="en-US"/>
          </a:p>
        </p:txBody>
      </p:sp>
      <p:sp>
        <p:nvSpPr>
          <p:cNvPr id="57" name="Shape 55"/>
          <p:cNvSpPr/>
          <p:nvPr/>
        </p:nvSpPr>
        <p:spPr>
          <a:xfrm>
            <a:off x="4164034" y="4014512"/>
            <a:ext cx="2710" cy="2108"/>
          </a:xfrm>
          <a:prstGeom prst="line">
            <a:avLst/>
          </a:prstGeom>
          <a:noFill/>
          <a:ln w="12700">
            <a:solidFill>
              <a:srgbClr val="7A8288">
                <a:alpha val="20000"/>
              </a:srgbClr>
            </a:solidFill>
            <a:prstDash val="solid"/>
          </a:ln>
        </p:spPr>
        <p:txBody>
          <a:bodyPr/>
          <a:lstStyle/>
          <a:p>
            <a:endParaRPr lang="en-US"/>
          </a:p>
        </p:txBody>
      </p:sp>
      <p:sp>
        <p:nvSpPr>
          <p:cNvPr id="58" name="Shape 56"/>
          <p:cNvSpPr/>
          <p:nvPr/>
        </p:nvSpPr>
        <p:spPr>
          <a:xfrm>
            <a:off x="3962278" y="3853609"/>
            <a:ext cx="201755" cy="160902"/>
          </a:xfrm>
          <a:prstGeom prst="line">
            <a:avLst/>
          </a:prstGeom>
          <a:noFill/>
          <a:ln w="12700">
            <a:solidFill>
              <a:srgbClr val="7A8288">
                <a:alpha val="20000"/>
              </a:srgbClr>
            </a:solidFill>
            <a:prstDash val="solid"/>
          </a:ln>
        </p:spPr>
        <p:txBody>
          <a:bodyPr/>
          <a:lstStyle/>
          <a:p>
            <a:endParaRPr lang="en-US"/>
          </a:p>
        </p:txBody>
      </p:sp>
      <p:sp>
        <p:nvSpPr>
          <p:cNvPr id="59" name="Shape 57"/>
          <p:cNvSpPr/>
          <p:nvPr/>
        </p:nvSpPr>
        <p:spPr>
          <a:xfrm>
            <a:off x="3579947" y="3545455"/>
            <a:ext cx="382332" cy="308154"/>
          </a:xfrm>
          <a:prstGeom prst="line">
            <a:avLst/>
          </a:prstGeom>
          <a:noFill/>
          <a:ln w="12700">
            <a:solidFill>
              <a:srgbClr val="7A8288">
                <a:alpha val="20000"/>
              </a:srgbClr>
            </a:solidFill>
            <a:prstDash val="solid"/>
          </a:ln>
        </p:spPr>
        <p:txBody>
          <a:bodyPr/>
          <a:lstStyle/>
          <a:p>
            <a:endParaRPr lang="en-US"/>
          </a:p>
        </p:txBody>
      </p:sp>
      <p:sp>
        <p:nvSpPr>
          <p:cNvPr id="60" name="Shape 58"/>
          <p:cNvSpPr/>
          <p:nvPr/>
        </p:nvSpPr>
        <p:spPr>
          <a:xfrm>
            <a:off x="3503259" y="3488643"/>
            <a:ext cx="76687" cy="56813"/>
          </a:xfrm>
          <a:prstGeom prst="line">
            <a:avLst/>
          </a:prstGeom>
          <a:noFill/>
          <a:ln w="12700">
            <a:solidFill>
              <a:srgbClr val="7A8288">
                <a:alpha val="20000"/>
              </a:srgbClr>
            </a:solidFill>
            <a:prstDash val="solid"/>
          </a:ln>
        </p:spPr>
        <p:txBody>
          <a:bodyPr/>
          <a:lstStyle/>
          <a:p>
            <a:endParaRPr lang="en-US"/>
          </a:p>
        </p:txBody>
      </p:sp>
      <p:sp>
        <p:nvSpPr>
          <p:cNvPr id="61" name="Shape 59"/>
          <p:cNvSpPr/>
          <p:nvPr/>
        </p:nvSpPr>
        <p:spPr>
          <a:xfrm>
            <a:off x="3422156" y="3438455"/>
            <a:ext cx="81104" cy="50188"/>
          </a:xfrm>
          <a:prstGeom prst="line">
            <a:avLst/>
          </a:prstGeom>
          <a:noFill/>
          <a:ln w="12700">
            <a:solidFill>
              <a:srgbClr val="7A8288">
                <a:alpha val="20000"/>
              </a:srgbClr>
            </a:solidFill>
            <a:prstDash val="solid"/>
          </a:ln>
        </p:spPr>
        <p:txBody>
          <a:bodyPr/>
          <a:lstStyle/>
          <a:p>
            <a:endParaRPr lang="en-US"/>
          </a:p>
        </p:txBody>
      </p:sp>
      <p:sp>
        <p:nvSpPr>
          <p:cNvPr id="62" name="Shape 60"/>
          <p:cNvSpPr/>
          <p:nvPr/>
        </p:nvSpPr>
        <p:spPr>
          <a:xfrm>
            <a:off x="3378392" y="3416071"/>
            <a:ext cx="43764" cy="22384"/>
          </a:xfrm>
          <a:prstGeom prst="line">
            <a:avLst/>
          </a:prstGeom>
          <a:noFill/>
          <a:ln w="12700">
            <a:solidFill>
              <a:srgbClr val="7A8288">
                <a:alpha val="20000"/>
              </a:srgbClr>
            </a:solidFill>
            <a:prstDash val="solid"/>
          </a:ln>
        </p:spPr>
        <p:txBody>
          <a:bodyPr/>
          <a:lstStyle/>
          <a:p>
            <a:endParaRPr lang="en-US"/>
          </a:p>
        </p:txBody>
      </p:sp>
      <p:sp>
        <p:nvSpPr>
          <p:cNvPr id="63" name="Shape 61"/>
          <p:cNvSpPr/>
          <p:nvPr/>
        </p:nvSpPr>
        <p:spPr>
          <a:xfrm>
            <a:off x="3252019" y="3239610"/>
            <a:ext cx="126373" cy="176461"/>
          </a:xfrm>
          <a:prstGeom prst="line">
            <a:avLst/>
          </a:prstGeom>
          <a:noFill/>
          <a:ln w="12700">
            <a:solidFill>
              <a:srgbClr val="7A8288">
                <a:alpha val="20000"/>
              </a:srgbClr>
            </a:solidFill>
            <a:prstDash val="solid"/>
          </a:ln>
        </p:spPr>
        <p:txBody>
          <a:bodyPr/>
          <a:lstStyle/>
          <a:p>
            <a:endParaRPr lang="en-US"/>
          </a:p>
        </p:txBody>
      </p:sp>
      <p:sp>
        <p:nvSpPr>
          <p:cNvPr id="64" name="Shape 62"/>
          <p:cNvSpPr/>
          <p:nvPr/>
        </p:nvSpPr>
        <p:spPr>
          <a:xfrm>
            <a:off x="3182257" y="3151581"/>
            <a:ext cx="69761" cy="88030"/>
          </a:xfrm>
          <a:prstGeom prst="line">
            <a:avLst/>
          </a:prstGeom>
          <a:noFill/>
          <a:ln w="12700">
            <a:solidFill>
              <a:srgbClr val="7A8288">
                <a:alpha val="20000"/>
              </a:srgbClr>
            </a:solidFill>
            <a:prstDash val="solid"/>
          </a:ln>
        </p:spPr>
        <p:txBody>
          <a:bodyPr/>
          <a:lstStyle/>
          <a:p>
            <a:endParaRPr lang="en-US"/>
          </a:p>
        </p:txBody>
      </p:sp>
      <p:sp>
        <p:nvSpPr>
          <p:cNvPr id="65" name="Shape 63"/>
          <p:cNvSpPr/>
          <p:nvPr/>
        </p:nvSpPr>
        <p:spPr>
          <a:xfrm>
            <a:off x="3104366" y="3070778"/>
            <a:ext cx="77892" cy="80803"/>
          </a:xfrm>
          <a:prstGeom prst="line">
            <a:avLst/>
          </a:prstGeom>
          <a:noFill/>
          <a:ln w="12700">
            <a:solidFill>
              <a:srgbClr val="7A8288">
                <a:alpha val="20000"/>
              </a:srgbClr>
            </a:solidFill>
            <a:prstDash val="solid"/>
          </a:ln>
        </p:spPr>
        <p:txBody>
          <a:bodyPr/>
          <a:lstStyle/>
          <a:p>
            <a:endParaRPr lang="en-US"/>
          </a:p>
        </p:txBody>
      </p:sp>
      <p:sp>
        <p:nvSpPr>
          <p:cNvPr id="66" name="Shape 64"/>
          <p:cNvSpPr/>
          <p:nvPr/>
        </p:nvSpPr>
        <p:spPr>
          <a:xfrm>
            <a:off x="3018946" y="2997905"/>
            <a:ext cx="85420" cy="72873"/>
          </a:xfrm>
          <a:prstGeom prst="line">
            <a:avLst/>
          </a:prstGeom>
          <a:noFill/>
          <a:ln w="12700">
            <a:solidFill>
              <a:srgbClr val="7A8288">
                <a:alpha val="20000"/>
              </a:srgbClr>
            </a:solidFill>
            <a:prstDash val="solid"/>
          </a:ln>
        </p:spPr>
        <p:txBody>
          <a:bodyPr/>
          <a:lstStyle/>
          <a:p>
            <a:endParaRPr lang="en-US"/>
          </a:p>
        </p:txBody>
      </p:sp>
      <p:sp>
        <p:nvSpPr>
          <p:cNvPr id="67" name="Shape 65"/>
          <p:cNvSpPr/>
          <p:nvPr/>
        </p:nvSpPr>
        <p:spPr>
          <a:xfrm>
            <a:off x="2926801" y="2933665"/>
            <a:ext cx="92145" cy="64241"/>
          </a:xfrm>
          <a:prstGeom prst="line">
            <a:avLst/>
          </a:prstGeom>
          <a:noFill/>
          <a:ln w="12700">
            <a:solidFill>
              <a:srgbClr val="7A8288">
                <a:alpha val="20000"/>
              </a:srgbClr>
            </a:solidFill>
            <a:prstDash val="solid"/>
          </a:ln>
        </p:spPr>
        <p:txBody>
          <a:bodyPr/>
          <a:lstStyle/>
          <a:p>
            <a:endParaRPr lang="en-US"/>
          </a:p>
        </p:txBody>
      </p:sp>
      <p:sp>
        <p:nvSpPr>
          <p:cNvPr id="68" name="Shape 66"/>
          <p:cNvSpPr/>
          <p:nvPr/>
        </p:nvSpPr>
        <p:spPr>
          <a:xfrm>
            <a:off x="2868683" y="2901042"/>
            <a:ext cx="58118" cy="32622"/>
          </a:xfrm>
          <a:prstGeom prst="line">
            <a:avLst/>
          </a:prstGeom>
          <a:noFill/>
          <a:ln w="12700">
            <a:solidFill>
              <a:srgbClr val="7A8288">
                <a:alpha val="20000"/>
              </a:srgbClr>
            </a:solidFill>
            <a:prstDash val="solid"/>
          </a:ln>
        </p:spPr>
        <p:txBody>
          <a:bodyPr/>
          <a:lstStyle/>
          <a:p>
            <a:endParaRPr lang="en-US"/>
          </a:p>
        </p:txBody>
      </p:sp>
      <p:sp>
        <p:nvSpPr>
          <p:cNvPr id="69" name="Shape 67"/>
          <p:cNvSpPr/>
          <p:nvPr/>
        </p:nvSpPr>
        <p:spPr>
          <a:xfrm>
            <a:off x="2845798" y="2847643"/>
            <a:ext cx="22886" cy="53400"/>
          </a:xfrm>
          <a:prstGeom prst="line">
            <a:avLst/>
          </a:prstGeom>
          <a:noFill/>
          <a:ln w="12700">
            <a:solidFill>
              <a:srgbClr val="7A8288">
                <a:alpha val="20000"/>
              </a:srgbClr>
            </a:solidFill>
            <a:prstDash val="solid"/>
          </a:ln>
        </p:spPr>
        <p:txBody>
          <a:bodyPr/>
          <a:lstStyle/>
          <a:p>
            <a:endParaRPr lang="en-US"/>
          </a:p>
        </p:txBody>
      </p:sp>
      <p:sp>
        <p:nvSpPr>
          <p:cNvPr id="70" name="Shape 68"/>
          <p:cNvSpPr/>
          <p:nvPr/>
        </p:nvSpPr>
        <p:spPr>
          <a:xfrm>
            <a:off x="2790290" y="2746865"/>
            <a:ext cx="55508" cy="100777"/>
          </a:xfrm>
          <a:prstGeom prst="line">
            <a:avLst/>
          </a:prstGeom>
          <a:noFill/>
          <a:ln w="12700">
            <a:solidFill>
              <a:srgbClr val="7A8288">
                <a:alpha val="20000"/>
              </a:srgbClr>
            </a:solidFill>
            <a:prstDash val="solid"/>
          </a:ln>
        </p:spPr>
        <p:txBody>
          <a:bodyPr/>
          <a:lstStyle/>
          <a:p>
            <a:endParaRPr lang="en-US"/>
          </a:p>
        </p:txBody>
      </p:sp>
      <p:sp>
        <p:nvSpPr>
          <p:cNvPr id="71" name="Shape 69"/>
          <p:cNvSpPr/>
          <p:nvPr/>
        </p:nvSpPr>
        <p:spPr>
          <a:xfrm>
            <a:off x="2724945" y="2652110"/>
            <a:ext cx="65345" cy="94755"/>
          </a:xfrm>
          <a:prstGeom prst="line">
            <a:avLst/>
          </a:prstGeom>
          <a:noFill/>
          <a:ln w="12700">
            <a:solidFill>
              <a:srgbClr val="7A8288">
                <a:alpha val="20000"/>
              </a:srgbClr>
            </a:solidFill>
            <a:prstDash val="solid"/>
          </a:ln>
        </p:spPr>
        <p:txBody>
          <a:bodyPr/>
          <a:lstStyle/>
          <a:p>
            <a:endParaRPr lang="en-US"/>
          </a:p>
        </p:txBody>
      </p:sp>
      <p:sp>
        <p:nvSpPr>
          <p:cNvPr id="72" name="Shape 70"/>
          <p:cNvSpPr/>
          <p:nvPr/>
        </p:nvSpPr>
        <p:spPr>
          <a:xfrm>
            <a:off x="2650466" y="2564281"/>
            <a:ext cx="74479" cy="87829"/>
          </a:xfrm>
          <a:prstGeom prst="line">
            <a:avLst/>
          </a:prstGeom>
          <a:noFill/>
          <a:ln w="12700">
            <a:solidFill>
              <a:srgbClr val="7A8288">
                <a:alpha val="20000"/>
              </a:srgbClr>
            </a:solidFill>
            <a:prstDash val="solid"/>
          </a:ln>
        </p:spPr>
        <p:txBody>
          <a:bodyPr/>
          <a:lstStyle/>
          <a:p>
            <a:endParaRPr lang="en-US"/>
          </a:p>
        </p:txBody>
      </p:sp>
      <p:sp>
        <p:nvSpPr>
          <p:cNvPr id="73" name="Shape 71"/>
          <p:cNvSpPr/>
          <p:nvPr/>
        </p:nvSpPr>
        <p:spPr>
          <a:xfrm>
            <a:off x="2567656" y="2484382"/>
            <a:ext cx="82810" cy="79899"/>
          </a:xfrm>
          <a:prstGeom prst="line">
            <a:avLst/>
          </a:prstGeom>
          <a:noFill/>
          <a:ln w="12700">
            <a:solidFill>
              <a:srgbClr val="7A8288">
                <a:alpha val="20000"/>
              </a:srgbClr>
            </a:solidFill>
            <a:prstDash val="solid"/>
          </a:ln>
        </p:spPr>
        <p:txBody>
          <a:bodyPr/>
          <a:lstStyle/>
          <a:p>
            <a:endParaRPr lang="en-US"/>
          </a:p>
        </p:txBody>
      </p:sp>
      <p:sp>
        <p:nvSpPr>
          <p:cNvPr id="74" name="Shape 72"/>
          <p:cNvSpPr/>
          <p:nvPr/>
        </p:nvSpPr>
        <p:spPr>
          <a:xfrm>
            <a:off x="2477318" y="2413115"/>
            <a:ext cx="90338" cy="71267"/>
          </a:xfrm>
          <a:prstGeom prst="line">
            <a:avLst/>
          </a:prstGeom>
          <a:noFill/>
          <a:ln w="12700">
            <a:solidFill>
              <a:srgbClr val="7A8288">
                <a:alpha val="20000"/>
              </a:srgbClr>
            </a:solidFill>
            <a:prstDash val="solid"/>
          </a:ln>
        </p:spPr>
        <p:txBody>
          <a:bodyPr/>
          <a:lstStyle/>
          <a:p>
            <a:endParaRPr lang="en-US"/>
          </a:p>
        </p:txBody>
      </p:sp>
      <p:sp>
        <p:nvSpPr>
          <p:cNvPr id="75" name="Shape 73"/>
          <p:cNvSpPr/>
          <p:nvPr/>
        </p:nvSpPr>
        <p:spPr>
          <a:xfrm>
            <a:off x="2439476" y="2388925"/>
            <a:ext cx="37842" cy="24191"/>
          </a:xfrm>
          <a:prstGeom prst="line">
            <a:avLst/>
          </a:prstGeom>
          <a:noFill/>
          <a:ln w="12700">
            <a:solidFill>
              <a:srgbClr val="7A8288">
                <a:alpha val="20000"/>
              </a:srgbClr>
            </a:solidFill>
            <a:prstDash val="solid"/>
          </a:ln>
        </p:spPr>
        <p:txBody>
          <a:bodyPr/>
          <a:lstStyle/>
          <a:p>
            <a:endParaRPr lang="en-US"/>
          </a:p>
        </p:txBody>
      </p:sp>
      <p:sp>
        <p:nvSpPr>
          <p:cNvPr id="76" name="Shape 74"/>
          <p:cNvSpPr/>
          <p:nvPr/>
        </p:nvSpPr>
        <p:spPr>
          <a:xfrm>
            <a:off x="2413178" y="2315851"/>
            <a:ext cx="26298" cy="73074"/>
          </a:xfrm>
          <a:prstGeom prst="line">
            <a:avLst/>
          </a:prstGeom>
          <a:noFill/>
          <a:ln w="12700">
            <a:solidFill>
              <a:srgbClr val="7A8288">
                <a:alpha val="20000"/>
              </a:srgbClr>
            </a:solidFill>
            <a:prstDash val="solid"/>
          </a:ln>
        </p:spPr>
        <p:txBody>
          <a:bodyPr/>
          <a:lstStyle/>
          <a:p>
            <a:endParaRPr lang="en-US"/>
          </a:p>
        </p:txBody>
      </p:sp>
      <p:sp>
        <p:nvSpPr>
          <p:cNvPr id="77" name="Shape 75"/>
          <p:cNvSpPr/>
          <p:nvPr/>
        </p:nvSpPr>
        <p:spPr>
          <a:xfrm>
            <a:off x="2365599" y="2215475"/>
            <a:ext cx="47578" cy="100376"/>
          </a:xfrm>
          <a:prstGeom prst="line">
            <a:avLst/>
          </a:prstGeom>
          <a:noFill/>
          <a:ln w="12700">
            <a:solidFill>
              <a:srgbClr val="7A8288">
                <a:alpha val="20000"/>
              </a:srgbClr>
            </a:solidFill>
            <a:prstDash val="solid"/>
          </a:ln>
        </p:spPr>
        <p:txBody>
          <a:bodyPr/>
          <a:lstStyle/>
          <a:p>
            <a:endParaRPr lang="en-US"/>
          </a:p>
        </p:txBody>
      </p:sp>
      <p:sp>
        <p:nvSpPr>
          <p:cNvPr id="78" name="Shape 76"/>
          <p:cNvSpPr/>
          <p:nvPr/>
        </p:nvSpPr>
        <p:spPr>
          <a:xfrm>
            <a:off x="2308486" y="2120018"/>
            <a:ext cx="57114" cy="95457"/>
          </a:xfrm>
          <a:prstGeom prst="line">
            <a:avLst/>
          </a:prstGeom>
          <a:noFill/>
          <a:ln w="12700">
            <a:solidFill>
              <a:srgbClr val="7A8288">
                <a:alpha val="20000"/>
              </a:srgbClr>
            </a:solidFill>
            <a:prstDash val="solid"/>
          </a:ln>
        </p:spPr>
        <p:txBody>
          <a:bodyPr/>
          <a:lstStyle/>
          <a:p>
            <a:endParaRPr lang="en-US"/>
          </a:p>
        </p:txBody>
      </p:sp>
      <p:sp>
        <p:nvSpPr>
          <p:cNvPr id="79" name="Shape 77"/>
          <p:cNvSpPr/>
          <p:nvPr/>
        </p:nvSpPr>
        <p:spPr>
          <a:xfrm>
            <a:off x="1914812" y="1528102"/>
            <a:ext cx="393674" cy="591916"/>
          </a:xfrm>
          <a:prstGeom prst="line">
            <a:avLst/>
          </a:prstGeom>
          <a:noFill/>
          <a:ln w="12700">
            <a:solidFill>
              <a:srgbClr val="7A8288">
                <a:alpha val="20000"/>
              </a:srgbClr>
            </a:solidFill>
            <a:prstDash val="solid"/>
          </a:ln>
        </p:spPr>
        <p:txBody>
          <a:bodyPr/>
          <a:lstStyle/>
          <a:p>
            <a:endParaRPr lang="en-US"/>
          </a:p>
        </p:txBody>
      </p:sp>
      <p:sp>
        <p:nvSpPr>
          <p:cNvPr id="80" name="Shape 78"/>
          <p:cNvSpPr/>
          <p:nvPr/>
        </p:nvSpPr>
        <p:spPr>
          <a:xfrm>
            <a:off x="1785546" y="1298442"/>
            <a:ext cx="129266" cy="229660"/>
          </a:xfrm>
          <a:prstGeom prst="line">
            <a:avLst/>
          </a:prstGeom>
          <a:noFill/>
          <a:ln w="12700">
            <a:solidFill>
              <a:srgbClr val="7A8288">
                <a:alpha val="20000"/>
              </a:srgbClr>
            </a:solidFill>
            <a:prstDash val="solid"/>
          </a:ln>
        </p:spPr>
        <p:txBody>
          <a:bodyPr/>
          <a:lstStyle/>
          <a:p>
            <a:endParaRPr lang="en-US"/>
          </a:p>
        </p:txBody>
      </p:sp>
      <p:sp>
        <p:nvSpPr>
          <p:cNvPr id="81" name="Shape 79"/>
          <p:cNvSpPr/>
          <p:nvPr/>
        </p:nvSpPr>
        <p:spPr>
          <a:xfrm>
            <a:off x="9313315" y="9627228"/>
            <a:ext cx="229676" cy="184290"/>
          </a:xfrm>
          <a:prstGeom prst="line">
            <a:avLst/>
          </a:prstGeom>
          <a:noFill/>
          <a:ln w="19050">
            <a:solidFill>
              <a:srgbClr val="C7A400">
                <a:alpha val="20000"/>
              </a:srgbClr>
            </a:solidFill>
            <a:prstDash val="dashDot"/>
          </a:ln>
        </p:spPr>
        <p:txBody>
          <a:bodyPr/>
          <a:lstStyle/>
          <a:p>
            <a:endParaRPr lang="en-US"/>
          </a:p>
        </p:txBody>
      </p:sp>
      <p:sp>
        <p:nvSpPr>
          <p:cNvPr id="82" name="Shape 80"/>
          <p:cNvSpPr/>
          <p:nvPr/>
        </p:nvSpPr>
        <p:spPr>
          <a:xfrm>
            <a:off x="8138616" y="8683595"/>
            <a:ext cx="1174699" cy="943633"/>
          </a:xfrm>
          <a:prstGeom prst="line">
            <a:avLst/>
          </a:prstGeom>
          <a:noFill/>
          <a:ln w="19050">
            <a:solidFill>
              <a:srgbClr val="C7A400">
                <a:alpha val="20000"/>
              </a:srgbClr>
            </a:solidFill>
            <a:prstDash val="dashDot"/>
          </a:ln>
        </p:spPr>
        <p:txBody>
          <a:bodyPr/>
          <a:lstStyle/>
          <a:p>
            <a:endParaRPr lang="en-US"/>
          </a:p>
        </p:txBody>
      </p:sp>
      <p:sp>
        <p:nvSpPr>
          <p:cNvPr id="83" name="Shape 81"/>
          <p:cNvSpPr/>
          <p:nvPr/>
        </p:nvSpPr>
        <p:spPr>
          <a:xfrm>
            <a:off x="7552823" y="8211828"/>
            <a:ext cx="585793" cy="471767"/>
          </a:xfrm>
          <a:prstGeom prst="line">
            <a:avLst/>
          </a:prstGeom>
          <a:noFill/>
          <a:ln w="19050">
            <a:solidFill>
              <a:srgbClr val="C7A400">
                <a:alpha val="20000"/>
              </a:srgbClr>
            </a:solidFill>
            <a:prstDash val="dashDot"/>
          </a:ln>
        </p:spPr>
        <p:txBody>
          <a:bodyPr/>
          <a:lstStyle/>
          <a:p>
            <a:endParaRPr lang="en-US"/>
          </a:p>
        </p:txBody>
      </p:sp>
      <p:sp>
        <p:nvSpPr>
          <p:cNvPr id="84" name="Shape 82"/>
          <p:cNvSpPr/>
          <p:nvPr/>
        </p:nvSpPr>
        <p:spPr>
          <a:xfrm>
            <a:off x="6965925" y="7742371"/>
            <a:ext cx="586898" cy="469458"/>
          </a:xfrm>
          <a:prstGeom prst="line">
            <a:avLst/>
          </a:prstGeom>
          <a:noFill/>
          <a:ln w="19050">
            <a:solidFill>
              <a:srgbClr val="C7A400">
                <a:alpha val="20000"/>
              </a:srgbClr>
            </a:solidFill>
            <a:prstDash val="dashDot"/>
          </a:ln>
        </p:spPr>
        <p:txBody>
          <a:bodyPr/>
          <a:lstStyle/>
          <a:p>
            <a:endParaRPr lang="en-US"/>
          </a:p>
        </p:txBody>
      </p:sp>
      <p:sp>
        <p:nvSpPr>
          <p:cNvPr id="85" name="Shape 83"/>
          <p:cNvSpPr/>
          <p:nvPr/>
        </p:nvSpPr>
        <p:spPr>
          <a:xfrm>
            <a:off x="6377923" y="7270002"/>
            <a:ext cx="588002" cy="472369"/>
          </a:xfrm>
          <a:prstGeom prst="line">
            <a:avLst/>
          </a:prstGeom>
          <a:noFill/>
          <a:ln w="19050">
            <a:solidFill>
              <a:srgbClr val="C7A400">
                <a:alpha val="20000"/>
              </a:srgbClr>
            </a:solidFill>
            <a:prstDash val="dashDot"/>
          </a:ln>
        </p:spPr>
        <p:txBody>
          <a:bodyPr/>
          <a:lstStyle/>
          <a:p>
            <a:endParaRPr lang="en-US"/>
          </a:p>
        </p:txBody>
      </p:sp>
      <p:sp>
        <p:nvSpPr>
          <p:cNvPr id="86" name="Shape 84"/>
          <p:cNvSpPr/>
          <p:nvPr/>
        </p:nvSpPr>
        <p:spPr>
          <a:xfrm>
            <a:off x="5788416" y="6800243"/>
            <a:ext cx="589507" cy="469759"/>
          </a:xfrm>
          <a:prstGeom prst="line">
            <a:avLst/>
          </a:prstGeom>
          <a:noFill/>
          <a:ln w="19050">
            <a:solidFill>
              <a:srgbClr val="C7A400">
                <a:alpha val="20000"/>
              </a:srgbClr>
            </a:solidFill>
            <a:prstDash val="dashDot"/>
          </a:ln>
        </p:spPr>
        <p:txBody>
          <a:bodyPr/>
          <a:lstStyle/>
          <a:p>
            <a:endParaRPr lang="en-US"/>
          </a:p>
        </p:txBody>
      </p:sp>
      <p:sp>
        <p:nvSpPr>
          <p:cNvPr id="87" name="Shape 85"/>
          <p:cNvSpPr/>
          <p:nvPr/>
        </p:nvSpPr>
        <p:spPr>
          <a:xfrm>
            <a:off x="5203827" y="6327774"/>
            <a:ext cx="584589" cy="472469"/>
          </a:xfrm>
          <a:prstGeom prst="line">
            <a:avLst/>
          </a:prstGeom>
          <a:noFill/>
          <a:ln w="19050">
            <a:solidFill>
              <a:srgbClr val="C7A400">
                <a:alpha val="20000"/>
              </a:srgbClr>
            </a:solidFill>
            <a:prstDash val="dashDot"/>
          </a:ln>
        </p:spPr>
        <p:txBody>
          <a:bodyPr/>
          <a:lstStyle/>
          <a:p>
            <a:endParaRPr lang="en-US"/>
          </a:p>
        </p:txBody>
      </p:sp>
      <p:sp>
        <p:nvSpPr>
          <p:cNvPr id="88" name="Shape 86"/>
          <p:cNvSpPr/>
          <p:nvPr/>
        </p:nvSpPr>
        <p:spPr>
          <a:xfrm>
            <a:off x="4615424" y="5853899"/>
            <a:ext cx="588403" cy="473874"/>
          </a:xfrm>
          <a:prstGeom prst="line">
            <a:avLst/>
          </a:prstGeom>
          <a:noFill/>
          <a:ln w="19050">
            <a:solidFill>
              <a:srgbClr val="C7A400">
                <a:alpha val="20000"/>
              </a:srgbClr>
            </a:solidFill>
            <a:prstDash val="dashDot"/>
          </a:ln>
        </p:spPr>
        <p:txBody>
          <a:bodyPr/>
          <a:lstStyle/>
          <a:p>
            <a:endParaRPr lang="en-US"/>
          </a:p>
        </p:txBody>
      </p:sp>
      <p:sp>
        <p:nvSpPr>
          <p:cNvPr id="89" name="Shape 87"/>
          <p:cNvSpPr/>
          <p:nvPr/>
        </p:nvSpPr>
        <p:spPr>
          <a:xfrm>
            <a:off x="4027824" y="5385144"/>
            <a:ext cx="587600" cy="468755"/>
          </a:xfrm>
          <a:prstGeom prst="line">
            <a:avLst/>
          </a:prstGeom>
          <a:noFill/>
          <a:ln w="19050">
            <a:solidFill>
              <a:srgbClr val="C7A400">
                <a:alpha val="20000"/>
              </a:srgbClr>
            </a:solidFill>
            <a:prstDash val="dashDot"/>
          </a:ln>
        </p:spPr>
        <p:txBody>
          <a:bodyPr/>
          <a:lstStyle/>
          <a:p>
            <a:endParaRPr lang="en-US"/>
          </a:p>
        </p:txBody>
      </p:sp>
      <p:sp>
        <p:nvSpPr>
          <p:cNvPr id="90" name="Shape 88"/>
          <p:cNvSpPr/>
          <p:nvPr/>
        </p:nvSpPr>
        <p:spPr>
          <a:xfrm>
            <a:off x="3444339" y="4916991"/>
            <a:ext cx="583485" cy="468153"/>
          </a:xfrm>
          <a:prstGeom prst="line">
            <a:avLst/>
          </a:prstGeom>
          <a:noFill/>
          <a:ln w="19050">
            <a:solidFill>
              <a:srgbClr val="C7A400">
                <a:alpha val="20000"/>
              </a:srgbClr>
            </a:solidFill>
            <a:prstDash val="dashDot"/>
          </a:ln>
        </p:spPr>
        <p:txBody>
          <a:bodyPr/>
          <a:lstStyle/>
          <a:p>
            <a:endParaRPr lang="en-US"/>
          </a:p>
        </p:txBody>
      </p:sp>
      <p:sp>
        <p:nvSpPr>
          <p:cNvPr id="91" name="Shape 89"/>
          <p:cNvSpPr/>
          <p:nvPr/>
        </p:nvSpPr>
        <p:spPr>
          <a:xfrm>
            <a:off x="3240174" y="4754181"/>
            <a:ext cx="204164" cy="162810"/>
          </a:xfrm>
          <a:prstGeom prst="line">
            <a:avLst/>
          </a:prstGeom>
          <a:noFill/>
          <a:ln w="19050">
            <a:solidFill>
              <a:srgbClr val="C7A400">
                <a:alpha val="20000"/>
              </a:srgbClr>
            </a:solidFill>
            <a:prstDash val="dashDot"/>
          </a:ln>
        </p:spPr>
        <p:txBody>
          <a:bodyPr/>
          <a:lstStyle/>
          <a:p>
            <a:endParaRPr lang="en-US"/>
          </a:p>
        </p:txBody>
      </p:sp>
      <p:sp>
        <p:nvSpPr>
          <p:cNvPr id="92" name="Shape 90"/>
          <p:cNvSpPr/>
          <p:nvPr/>
        </p:nvSpPr>
        <p:spPr>
          <a:xfrm>
            <a:off x="2855534" y="4444120"/>
            <a:ext cx="384640" cy="310061"/>
          </a:xfrm>
          <a:prstGeom prst="line">
            <a:avLst/>
          </a:prstGeom>
          <a:noFill/>
          <a:ln w="19050">
            <a:solidFill>
              <a:srgbClr val="C7A400">
                <a:alpha val="20000"/>
              </a:srgbClr>
            </a:solidFill>
            <a:prstDash val="dashDot"/>
          </a:ln>
        </p:spPr>
        <p:txBody>
          <a:bodyPr/>
          <a:lstStyle/>
          <a:p>
            <a:endParaRPr lang="en-US"/>
          </a:p>
        </p:txBody>
      </p:sp>
      <p:sp>
        <p:nvSpPr>
          <p:cNvPr id="93" name="Shape 91"/>
          <p:cNvSpPr/>
          <p:nvPr/>
        </p:nvSpPr>
        <p:spPr>
          <a:xfrm>
            <a:off x="2615937" y="4334109"/>
            <a:ext cx="239597" cy="110012"/>
          </a:xfrm>
          <a:prstGeom prst="line">
            <a:avLst/>
          </a:prstGeom>
          <a:noFill/>
          <a:ln w="19050">
            <a:solidFill>
              <a:srgbClr val="C7A400">
                <a:alpha val="20000"/>
              </a:srgbClr>
            </a:solidFill>
            <a:prstDash val="dashDot"/>
          </a:ln>
        </p:spPr>
        <p:txBody>
          <a:bodyPr/>
          <a:lstStyle/>
          <a:p>
            <a:endParaRPr lang="en-US"/>
          </a:p>
        </p:txBody>
      </p:sp>
      <p:sp>
        <p:nvSpPr>
          <p:cNvPr id="94" name="Shape 92"/>
          <p:cNvSpPr/>
          <p:nvPr/>
        </p:nvSpPr>
        <p:spPr>
          <a:xfrm>
            <a:off x="2313404" y="3911526"/>
            <a:ext cx="302533" cy="422582"/>
          </a:xfrm>
          <a:prstGeom prst="line">
            <a:avLst/>
          </a:prstGeom>
          <a:noFill/>
          <a:ln w="19050">
            <a:solidFill>
              <a:srgbClr val="C7A400">
                <a:alpha val="20000"/>
              </a:srgbClr>
            </a:solidFill>
            <a:prstDash val="dashDot"/>
          </a:ln>
        </p:spPr>
        <p:txBody>
          <a:bodyPr/>
          <a:lstStyle/>
          <a:p>
            <a:endParaRPr lang="en-US"/>
          </a:p>
        </p:txBody>
      </p:sp>
      <p:sp>
        <p:nvSpPr>
          <p:cNvPr id="95" name="Shape 93"/>
          <p:cNvSpPr/>
          <p:nvPr/>
        </p:nvSpPr>
        <p:spPr>
          <a:xfrm>
            <a:off x="2313404" y="3911526"/>
            <a:ext cx="914" cy="914"/>
          </a:xfrm>
          <a:prstGeom prst="line">
            <a:avLst/>
          </a:prstGeom>
          <a:noFill/>
          <a:ln w="19050">
            <a:solidFill>
              <a:srgbClr val="C7A400">
                <a:alpha val="20000"/>
              </a:srgbClr>
            </a:solidFill>
            <a:prstDash val="dashDot"/>
          </a:ln>
        </p:spPr>
        <p:txBody>
          <a:bodyPr/>
          <a:lstStyle/>
          <a:p>
            <a:endParaRPr lang="en-US"/>
          </a:p>
        </p:txBody>
      </p:sp>
      <p:sp>
        <p:nvSpPr>
          <p:cNvPr id="96" name="Shape 94"/>
          <p:cNvSpPr/>
          <p:nvPr/>
        </p:nvSpPr>
        <p:spPr>
          <a:xfrm flipV="1">
            <a:off x="1964498" y="3911526"/>
            <a:ext cx="348906" cy="42359"/>
          </a:xfrm>
          <a:prstGeom prst="line">
            <a:avLst/>
          </a:prstGeom>
          <a:noFill/>
          <a:ln w="19050">
            <a:solidFill>
              <a:srgbClr val="C7A400">
                <a:alpha val="20000"/>
              </a:srgbClr>
            </a:solidFill>
            <a:prstDash val="dashDot"/>
          </a:ln>
        </p:spPr>
        <p:txBody>
          <a:bodyPr/>
          <a:lstStyle/>
          <a:p>
            <a:endParaRPr lang="en-US"/>
          </a:p>
        </p:txBody>
      </p:sp>
      <p:sp>
        <p:nvSpPr>
          <p:cNvPr id="97" name="Shape 95"/>
          <p:cNvSpPr/>
          <p:nvPr/>
        </p:nvSpPr>
        <p:spPr>
          <a:xfrm>
            <a:off x="1808413" y="3353838"/>
            <a:ext cx="156084" cy="600047"/>
          </a:xfrm>
          <a:prstGeom prst="line">
            <a:avLst/>
          </a:prstGeom>
          <a:noFill/>
          <a:ln w="19050">
            <a:solidFill>
              <a:srgbClr val="C7A400">
                <a:alpha val="20000"/>
              </a:srgbClr>
            </a:solidFill>
            <a:prstDash val="dashDot"/>
          </a:ln>
        </p:spPr>
        <p:txBody>
          <a:bodyPr/>
          <a:lstStyle/>
          <a:p>
            <a:endParaRPr lang="en-US"/>
          </a:p>
        </p:txBody>
      </p:sp>
      <p:sp>
        <p:nvSpPr>
          <p:cNvPr id="98" name="Shape 96"/>
          <p:cNvSpPr/>
          <p:nvPr/>
        </p:nvSpPr>
        <p:spPr>
          <a:xfrm flipV="1">
            <a:off x="1289068" y="3353838"/>
            <a:ext cx="519345" cy="269810"/>
          </a:xfrm>
          <a:prstGeom prst="line">
            <a:avLst/>
          </a:prstGeom>
          <a:noFill/>
          <a:ln w="19050">
            <a:solidFill>
              <a:srgbClr val="C7A400">
                <a:alpha val="20000"/>
              </a:srgbClr>
            </a:solidFill>
            <a:prstDash val="dashDot"/>
          </a:ln>
        </p:spPr>
        <p:txBody>
          <a:bodyPr/>
          <a:lstStyle/>
          <a:p>
            <a:endParaRPr lang="en-US"/>
          </a:p>
        </p:txBody>
      </p:sp>
      <p:sp>
        <p:nvSpPr>
          <p:cNvPr id="99" name="Shape 97"/>
          <p:cNvSpPr/>
          <p:nvPr/>
        </p:nvSpPr>
        <p:spPr>
          <a:xfrm>
            <a:off x="1090826" y="3028419"/>
            <a:ext cx="198242" cy="595229"/>
          </a:xfrm>
          <a:prstGeom prst="line">
            <a:avLst/>
          </a:prstGeom>
          <a:noFill/>
          <a:ln w="19050">
            <a:solidFill>
              <a:srgbClr val="C7A400">
                <a:alpha val="20000"/>
              </a:srgbClr>
            </a:solidFill>
            <a:prstDash val="dashDot"/>
          </a:ln>
        </p:spPr>
        <p:txBody>
          <a:bodyPr/>
          <a:lstStyle/>
          <a:p>
            <a:endParaRPr lang="en-US"/>
          </a:p>
        </p:txBody>
      </p:sp>
      <p:sp>
        <p:nvSpPr>
          <p:cNvPr id="100" name="Shape 98"/>
          <p:cNvSpPr/>
          <p:nvPr/>
        </p:nvSpPr>
        <p:spPr>
          <a:xfrm flipV="1">
            <a:off x="1090826" y="2759312"/>
            <a:ext cx="256561" cy="269108"/>
          </a:xfrm>
          <a:prstGeom prst="line">
            <a:avLst/>
          </a:prstGeom>
          <a:noFill/>
          <a:ln w="19050">
            <a:solidFill>
              <a:srgbClr val="C7A400">
                <a:alpha val="20000"/>
              </a:srgbClr>
            </a:solidFill>
            <a:prstDash val="dashDot"/>
          </a:ln>
        </p:spPr>
        <p:txBody>
          <a:bodyPr/>
          <a:lstStyle/>
          <a:p>
            <a:endParaRPr lang="en-US"/>
          </a:p>
        </p:txBody>
      </p:sp>
      <p:sp>
        <p:nvSpPr>
          <p:cNvPr id="101" name="Shape 99"/>
          <p:cNvSpPr/>
          <p:nvPr/>
        </p:nvSpPr>
        <p:spPr>
          <a:xfrm>
            <a:off x="929924" y="2131662"/>
            <a:ext cx="417463" cy="627650"/>
          </a:xfrm>
          <a:prstGeom prst="line">
            <a:avLst/>
          </a:prstGeom>
          <a:noFill/>
          <a:ln w="19050">
            <a:solidFill>
              <a:srgbClr val="C7A400">
                <a:alpha val="20000"/>
              </a:srgbClr>
            </a:solidFill>
            <a:prstDash val="dashDot"/>
          </a:ln>
        </p:spPr>
        <p:txBody>
          <a:bodyPr/>
          <a:lstStyle/>
          <a:p>
            <a:endParaRPr lang="en-US"/>
          </a:p>
        </p:txBody>
      </p:sp>
      <p:sp>
        <p:nvSpPr>
          <p:cNvPr id="102" name="Shape 100"/>
          <p:cNvSpPr/>
          <p:nvPr/>
        </p:nvSpPr>
        <p:spPr>
          <a:xfrm>
            <a:off x="561544" y="1477211"/>
            <a:ext cx="368379" cy="654451"/>
          </a:xfrm>
          <a:prstGeom prst="line">
            <a:avLst/>
          </a:prstGeom>
          <a:noFill/>
          <a:ln w="19050">
            <a:solidFill>
              <a:srgbClr val="C7A400">
                <a:alpha val="20000"/>
              </a:srgbClr>
            </a:solidFill>
            <a:prstDash val="dashDot"/>
          </a:ln>
        </p:spPr>
        <p:txBody>
          <a:bodyPr/>
          <a:lstStyle/>
          <a:p>
            <a:endParaRPr lang="en-US"/>
          </a:p>
        </p:txBody>
      </p:sp>
      <p:sp>
        <p:nvSpPr>
          <p:cNvPr id="103" name="Shape 101"/>
          <p:cNvSpPr/>
          <p:nvPr/>
        </p:nvSpPr>
        <p:spPr>
          <a:xfrm>
            <a:off x="478115" y="1298442"/>
            <a:ext cx="83429" cy="178769"/>
          </a:xfrm>
          <a:prstGeom prst="line">
            <a:avLst/>
          </a:prstGeom>
          <a:noFill/>
          <a:ln w="19050">
            <a:solidFill>
              <a:srgbClr val="C7A400">
                <a:alpha val="20000"/>
              </a:srgbClr>
            </a:solidFill>
            <a:prstDash val="dashDot"/>
          </a:ln>
        </p:spPr>
        <p:txBody>
          <a:bodyPr/>
          <a:lstStyle/>
          <a:p>
            <a:endParaRPr lang="en-US"/>
          </a:p>
        </p:txBody>
      </p:sp>
      <p:sp>
        <p:nvSpPr>
          <p:cNvPr id="104" name="Shape 102"/>
          <p:cNvSpPr/>
          <p:nvPr/>
        </p:nvSpPr>
        <p:spPr>
          <a:xfrm>
            <a:off x="320040" y="3256882"/>
            <a:ext cx="270413" cy="87421"/>
          </a:xfrm>
          <a:prstGeom prst="line">
            <a:avLst/>
          </a:prstGeom>
          <a:noFill/>
          <a:ln w="19050">
            <a:solidFill>
              <a:srgbClr val="C7A400"/>
            </a:solidFill>
            <a:prstDash val="dashDot"/>
          </a:ln>
        </p:spPr>
        <p:txBody>
          <a:bodyPr/>
          <a:lstStyle/>
          <a:p>
            <a:endParaRPr lang="en-US"/>
          </a:p>
        </p:txBody>
      </p:sp>
      <p:sp>
        <p:nvSpPr>
          <p:cNvPr id="105" name="Shape 103"/>
          <p:cNvSpPr/>
          <p:nvPr/>
        </p:nvSpPr>
        <p:spPr>
          <a:xfrm>
            <a:off x="320040" y="3267801"/>
            <a:ext cx="270413" cy="76501"/>
          </a:xfrm>
          <a:prstGeom prst="line">
            <a:avLst/>
          </a:prstGeom>
          <a:noFill/>
          <a:ln w="19050">
            <a:solidFill>
              <a:srgbClr val="C7A400"/>
            </a:solidFill>
            <a:prstDash val="dashDot"/>
          </a:ln>
        </p:spPr>
        <p:txBody>
          <a:bodyPr/>
          <a:lstStyle/>
          <a:p>
            <a:endParaRPr lang="en-US"/>
          </a:p>
        </p:txBody>
      </p:sp>
      <p:sp>
        <p:nvSpPr>
          <p:cNvPr id="106" name="Shape 104"/>
          <p:cNvSpPr/>
          <p:nvPr/>
        </p:nvSpPr>
        <p:spPr>
          <a:xfrm flipV="1">
            <a:off x="4461748" y="4530444"/>
            <a:ext cx="189108" cy="236285"/>
          </a:xfrm>
          <a:prstGeom prst="line">
            <a:avLst/>
          </a:prstGeom>
          <a:noFill/>
          <a:ln w="28575">
            <a:solidFill>
              <a:srgbClr val="8B0000">
                <a:alpha val="20000"/>
              </a:srgbClr>
            </a:solidFill>
            <a:prstDash val="solid"/>
          </a:ln>
        </p:spPr>
        <p:txBody>
          <a:bodyPr/>
          <a:lstStyle/>
          <a:p>
            <a:endParaRPr lang="en-US"/>
          </a:p>
        </p:txBody>
      </p:sp>
      <p:sp>
        <p:nvSpPr>
          <p:cNvPr id="107" name="Shape 105"/>
          <p:cNvSpPr/>
          <p:nvPr/>
        </p:nvSpPr>
        <p:spPr>
          <a:xfrm flipV="1">
            <a:off x="4273042" y="4766728"/>
            <a:ext cx="188707" cy="236686"/>
          </a:xfrm>
          <a:prstGeom prst="line">
            <a:avLst/>
          </a:prstGeom>
          <a:noFill/>
          <a:ln w="28575">
            <a:solidFill>
              <a:srgbClr val="8B0000">
                <a:alpha val="20000"/>
              </a:srgbClr>
            </a:solidFill>
            <a:prstDash val="solid"/>
          </a:ln>
        </p:spPr>
        <p:txBody>
          <a:bodyPr/>
          <a:lstStyle/>
          <a:p>
            <a:endParaRPr lang="en-US"/>
          </a:p>
        </p:txBody>
      </p:sp>
      <p:sp>
        <p:nvSpPr>
          <p:cNvPr id="108" name="Shape 106"/>
          <p:cNvSpPr/>
          <p:nvPr/>
        </p:nvSpPr>
        <p:spPr>
          <a:xfrm flipV="1">
            <a:off x="4085941" y="5003415"/>
            <a:ext cx="187101" cy="235281"/>
          </a:xfrm>
          <a:prstGeom prst="line">
            <a:avLst/>
          </a:prstGeom>
          <a:noFill/>
          <a:ln w="28575">
            <a:solidFill>
              <a:srgbClr val="8B0000">
                <a:alpha val="20000"/>
              </a:srgbClr>
            </a:solidFill>
            <a:prstDash val="solid"/>
          </a:ln>
        </p:spPr>
        <p:txBody>
          <a:bodyPr/>
          <a:lstStyle/>
          <a:p>
            <a:endParaRPr lang="en-US"/>
          </a:p>
        </p:txBody>
      </p:sp>
      <p:sp>
        <p:nvSpPr>
          <p:cNvPr id="109" name="Shape 107"/>
          <p:cNvSpPr/>
          <p:nvPr/>
        </p:nvSpPr>
        <p:spPr>
          <a:xfrm flipV="1">
            <a:off x="3897134" y="5238696"/>
            <a:ext cx="188807" cy="233374"/>
          </a:xfrm>
          <a:prstGeom prst="line">
            <a:avLst/>
          </a:prstGeom>
          <a:noFill/>
          <a:ln w="28575">
            <a:solidFill>
              <a:srgbClr val="8B0000">
                <a:alpha val="20000"/>
              </a:srgbClr>
            </a:solidFill>
            <a:prstDash val="solid"/>
          </a:ln>
        </p:spPr>
        <p:txBody>
          <a:bodyPr/>
          <a:lstStyle/>
          <a:p>
            <a:endParaRPr lang="en-US"/>
          </a:p>
        </p:txBody>
      </p:sp>
      <p:sp>
        <p:nvSpPr>
          <p:cNvPr id="110" name="Shape 108"/>
          <p:cNvSpPr/>
          <p:nvPr/>
        </p:nvSpPr>
        <p:spPr>
          <a:xfrm flipV="1">
            <a:off x="3707324" y="5472070"/>
            <a:ext cx="189811" cy="234679"/>
          </a:xfrm>
          <a:prstGeom prst="line">
            <a:avLst/>
          </a:prstGeom>
          <a:noFill/>
          <a:ln w="28575">
            <a:solidFill>
              <a:srgbClr val="8B0000">
                <a:alpha val="20000"/>
              </a:srgbClr>
            </a:solidFill>
            <a:prstDash val="solid"/>
          </a:ln>
        </p:spPr>
        <p:txBody>
          <a:bodyPr/>
          <a:lstStyle/>
          <a:p>
            <a:endParaRPr lang="en-US"/>
          </a:p>
        </p:txBody>
      </p:sp>
      <p:sp>
        <p:nvSpPr>
          <p:cNvPr id="111" name="Shape 109"/>
          <p:cNvSpPr/>
          <p:nvPr/>
        </p:nvSpPr>
        <p:spPr>
          <a:xfrm flipV="1">
            <a:off x="3518918" y="5706748"/>
            <a:ext cx="188405" cy="235281"/>
          </a:xfrm>
          <a:prstGeom prst="line">
            <a:avLst/>
          </a:prstGeom>
          <a:noFill/>
          <a:ln w="28575">
            <a:solidFill>
              <a:srgbClr val="8B0000">
                <a:alpha val="20000"/>
              </a:srgbClr>
            </a:solidFill>
            <a:prstDash val="solid"/>
          </a:ln>
        </p:spPr>
        <p:txBody>
          <a:bodyPr/>
          <a:lstStyle/>
          <a:p>
            <a:endParaRPr lang="en-US"/>
          </a:p>
        </p:txBody>
      </p:sp>
      <p:sp>
        <p:nvSpPr>
          <p:cNvPr id="112" name="Shape 110"/>
          <p:cNvSpPr/>
          <p:nvPr/>
        </p:nvSpPr>
        <p:spPr>
          <a:xfrm flipV="1">
            <a:off x="3331316" y="5942029"/>
            <a:ext cx="187602" cy="235080"/>
          </a:xfrm>
          <a:prstGeom prst="line">
            <a:avLst/>
          </a:prstGeom>
          <a:noFill/>
          <a:ln w="28575">
            <a:solidFill>
              <a:srgbClr val="8B0000">
                <a:alpha val="20000"/>
              </a:srgbClr>
            </a:solidFill>
            <a:prstDash val="solid"/>
          </a:ln>
        </p:spPr>
        <p:txBody>
          <a:bodyPr/>
          <a:lstStyle/>
          <a:p>
            <a:endParaRPr lang="en-US"/>
          </a:p>
        </p:txBody>
      </p:sp>
      <p:sp>
        <p:nvSpPr>
          <p:cNvPr id="144" name="Shape 142"/>
          <p:cNvSpPr/>
          <p:nvPr/>
        </p:nvSpPr>
        <p:spPr>
          <a:xfrm>
            <a:off x="5416222" y="3770598"/>
            <a:ext cx="140526" cy="140526"/>
          </a:xfrm>
          <a:prstGeom prst="rect">
            <a:avLst/>
          </a:prstGeom>
          <a:ln w="19050">
            <a:solidFill>
              <a:srgbClr val="BB00BB">
                <a:alpha val="20000"/>
                <a:alpha val="100000"/>
              </a:srgbClr>
            </a:solidFill>
            <a:prstDash val="solid"/>
          </a:ln>
        </p:spPr>
        <p:txBody>
          <a:bodyPr/>
          <a:lstStyle/>
          <a:p>
            <a:endParaRPr lang="en-US"/>
          </a:p>
        </p:txBody>
      </p:sp>
      <p:sp>
        <p:nvSpPr>
          <p:cNvPr id="145" name="Shape 143"/>
          <p:cNvSpPr/>
          <p:nvPr/>
        </p:nvSpPr>
        <p:spPr>
          <a:xfrm>
            <a:off x="7969282" y="5137718"/>
            <a:ext cx="140526" cy="140526"/>
          </a:xfrm>
          <a:prstGeom prst="rect">
            <a:avLst/>
          </a:prstGeom>
          <a:ln w="19050">
            <a:solidFill>
              <a:srgbClr val="BB00BB">
                <a:alpha val="20000"/>
              </a:srgbClr>
            </a:solidFill>
            <a:prstDash val="solid"/>
          </a:ln>
        </p:spPr>
        <p:txBody>
          <a:bodyPr/>
          <a:lstStyle/>
          <a:p>
            <a:endParaRPr lang="en-US"/>
          </a:p>
        </p:txBody>
      </p:sp>
      <p:sp>
        <p:nvSpPr>
          <p:cNvPr id="146" name="Text 144"/>
          <p:cNvSpPr/>
          <p:nvPr/>
        </p:nvSpPr>
        <p:spPr>
          <a:xfrm>
            <a:off x="5576824" y="366087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P4.037</a:t>
            </a:r>
            <a:endParaRPr lang="en-US" sz="650" dirty="0"/>
          </a:p>
        </p:txBody>
      </p:sp>
      <p:sp>
        <p:nvSpPr>
          <p:cNvPr id="147" name="Text 145"/>
          <p:cNvSpPr/>
          <p:nvPr/>
        </p:nvSpPr>
        <p:spPr>
          <a:xfrm>
            <a:off x="8129884" y="502799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HH.E.058</a:t>
            </a:r>
            <a:endParaRPr lang="en-US" sz="650" dirty="0"/>
          </a:p>
        </p:txBody>
      </p:sp>
      <p:sp>
        <p:nvSpPr>
          <p:cNvPr id="152" name="Text 150"/>
          <p:cNvSpPr/>
          <p:nvPr/>
        </p:nvSpPr>
        <p:spPr>
          <a:xfrm>
            <a:off x="1280699" y="3797306"/>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(676.7 m² TOTAL)</a:t>
            </a:r>
            <a:endParaRPr lang="en-US" sz="800" dirty="0"/>
          </a:p>
        </p:txBody>
      </p:sp>
      <p:sp>
        <p:nvSpPr>
          <p:cNvPr id="206" name="Text 204"/>
          <p:cNvSpPr/>
          <p:nvPr/>
        </p:nvSpPr>
        <p:spPr>
          <a:xfrm>
            <a:off x="8193953" y="687684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RRM.283</a:t>
            </a:r>
            <a:endParaRPr lang="en-US" sz="500" dirty="0"/>
          </a:p>
        </p:txBody>
      </p:sp>
      <p:sp>
        <p:nvSpPr>
          <p:cNvPr id="207" name="Text 205"/>
          <p:cNvSpPr/>
          <p:nvPr/>
        </p:nvSpPr>
        <p:spPr>
          <a:xfrm>
            <a:off x="4569381" y="265503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P4.036.399</a:t>
            </a:r>
            <a:endParaRPr lang="en-US" sz="500" dirty="0"/>
          </a:p>
        </p:txBody>
      </p:sp>
      <p:sp>
        <p:nvSpPr>
          <p:cNvPr id="208" name="Text 206"/>
          <p:cNvSpPr/>
          <p:nvPr/>
        </p:nvSpPr>
        <p:spPr>
          <a:xfrm>
            <a:off x="8201180" y="857118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TCCECH.04.005</a:t>
            </a:r>
            <a:endParaRPr lang="en-US" sz="500" dirty="0"/>
          </a:p>
        </p:txBody>
      </p:sp>
      <p:sp>
        <p:nvSpPr>
          <p:cNvPr id="209" name="Text 207"/>
          <p:cNvSpPr/>
          <p:nvPr/>
        </p:nvSpPr>
        <p:spPr>
          <a:xfrm>
            <a:off x="7028489" y="762996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TCCECH.04.004</a:t>
            </a:r>
            <a:endParaRPr lang="en-US" sz="500" dirty="0"/>
          </a:p>
        </p:txBody>
      </p:sp>
      <p:sp>
        <p:nvSpPr>
          <p:cNvPr id="210" name="Text 208"/>
          <p:cNvSpPr/>
          <p:nvPr/>
        </p:nvSpPr>
        <p:spPr>
          <a:xfrm>
            <a:off x="4343736" y="693355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RRM.547</a:t>
            </a:r>
            <a:endParaRPr lang="en-US" sz="500" dirty="0"/>
          </a:p>
        </p:txBody>
      </p:sp>
      <p:sp>
        <p:nvSpPr>
          <p:cNvPr id="211" name="Text 209"/>
          <p:cNvSpPr/>
          <p:nvPr/>
        </p:nvSpPr>
        <p:spPr>
          <a:xfrm>
            <a:off x="2642767" y="575885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RRM.548</a:t>
            </a:r>
            <a:endParaRPr lang="en-US" sz="500" dirty="0"/>
          </a:p>
        </p:txBody>
      </p:sp>
      <p:sp>
        <p:nvSpPr>
          <p:cNvPr id="212" name="Text 210"/>
          <p:cNvSpPr/>
          <p:nvPr/>
        </p:nvSpPr>
        <p:spPr>
          <a:xfrm>
            <a:off x="3339475" y="25228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RRM.558</a:t>
            </a:r>
            <a:endParaRPr lang="en-US" sz="500" dirty="0"/>
          </a:p>
        </p:txBody>
      </p:sp>
      <p:sp>
        <p:nvSpPr>
          <p:cNvPr id="213" name="Text 211"/>
          <p:cNvSpPr/>
          <p:nvPr/>
        </p:nvSpPr>
        <p:spPr>
          <a:xfrm>
            <a:off x="2391827" y="136098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RRM.559</a:t>
            </a:r>
            <a:endParaRPr lang="en-US" sz="500" dirty="0"/>
          </a:p>
        </p:txBody>
      </p:sp>
      <p:sp>
        <p:nvSpPr>
          <p:cNvPr id="214" name="Text 212"/>
          <p:cNvSpPr/>
          <p:nvPr/>
        </p:nvSpPr>
        <p:spPr>
          <a:xfrm>
            <a:off x="1341394" y="50359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RRM.655</a:t>
            </a:r>
            <a:endParaRPr lang="en-US" sz="500" dirty="0"/>
          </a:p>
        </p:txBody>
      </p:sp>
      <p:sp>
        <p:nvSpPr>
          <p:cNvPr id="215" name="Text 213"/>
          <p:cNvSpPr/>
          <p:nvPr/>
        </p:nvSpPr>
        <p:spPr>
          <a:xfrm>
            <a:off x="4421326" y="357568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RRM.669</a:t>
            </a:r>
            <a:endParaRPr lang="en-US" sz="500" dirty="0"/>
          </a:p>
        </p:txBody>
      </p:sp>
      <p:sp>
        <p:nvSpPr>
          <p:cNvPr id="216" name="Text 214"/>
          <p:cNvSpPr/>
          <p:nvPr/>
        </p:nvSpPr>
        <p:spPr>
          <a:xfrm>
            <a:off x="2822941" y="77307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HH.E.144</a:t>
            </a:r>
            <a:endParaRPr lang="en-US" sz="500" dirty="0"/>
          </a:p>
        </p:txBody>
      </p:sp>
      <p:sp>
        <p:nvSpPr>
          <p:cNvPr id="217" name="Text 215"/>
          <p:cNvSpPr/>
          <p:nvPr/>
        </p:nvSpPr>
        <p:spPr>
          <a:xfrm>
            <a:off x="9375878" y="95148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218" name="Text 216"/>
          <p:cNvSpPr/>
          <p:nvPr/>
        </p:nvSpPr>
        <p:spPr>
          <a:xfrm>
            <a:off x="6440487" y="7157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TCCECH.03.004</a:t>
            </a:r>
            <a:endParaRPr lang="en-US" sz="500" dirty="0"/>
          </a:p>
        </p:txBody>
      </p:sp>
      <p:sp>
        <p:nvSpPr>
          <p:cNvPr id="219" name="Text 217"/>
          <p:cNvSpPr/>
          <p:nvPr/>
        </p:nvSpPr>
        <p:spPr>
          <a:xfrm>
            <a:off x="5850980" y="66878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TCCECH.04.003</a:t>
            </a:r>
            <a:endParaRPr lang="en-US" sz="500" dirty="0"/>
          </a:p>
        </p:txBody>
      </p:sp>
      <p:sp>
        <p:nvSpPr>
          <p:cNvPr id="220" name="Text 218"/>
          <p:cNvSpPr/>
          <p:nvPr/>
        </p:nvSpPr>
        <p:spPr>
          <a:xfrm>
            <a:off x="5266391" y="621536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TCCECH.03.003</a:t>
            </a:r>
            <a:endParaRPr lang="en-US" sz="500" dirty="0"/>
          </a:p>
        </p:txBody>
      </p:sp>
      <p:sp>
        <p:nvSpPr>
          <p:cNvPr id="221" name="Text 219"/>
          <p:cNvSpPr/>
          <p:nvPr/>
        </p:nvSpPr>
        <p:spPr>
          <a:xfrm>
            <a:off x="4677987" y="57414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TCCECH.04.002</a:t>
            </a:r>
            <a:endParaRPr lang="en-US" sz="500" dirty="0"/>
          </a:p>
        </p:txBody>
      </p:sp>
      <p:sp>
        <p:nvSpPr>
          <p:cNvPr id="222" name="Text 220"/>
          <p:cNvSpPr/>
          <p:nvPr/>
        </p:nvSpPr>
        <p:spPr>
          <a:xfrm>
            <a:off x="7615386" y="80994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TCCECH.03.005</a:t>
            </a:r>
            <a:endParaRPr lang="en-US" sz="500" dirty="0"/>
          </a:p>
        </p:txBody>
      </p:sp>
      <p:sp>
        <p:nvSpPr>
          <p:cNvPr id="223" name="Text 221"/>
          <p:cNvSpPr/>
          <p:nvPr/>
        </p:nvSpPr>
        <p:spPr>
          <a:xfrm>
            <a:off x="653016" y="32318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TCCECH.05.034</a:t>
            </a:r>
            <a:endParaRPr lang="en-US" sz="500" dirty="0"/>
          </a:p>
        </p:txBody>
      </p:sp>
      <p:sp>
        <p:nvSpPr>
          <p:cNvPr id="224" name="Text 222"/>
          <p:cNvSpPr/>
          <p:nvPr/>
        </p:nvSpPr>
        <p:spPr>
          <a:xfrm>
            <a:off x="2027061" y="384147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TCCECH.05.033</a:t>
            </a:r>
            <a:endParaRPr lang="en-US" sz="500" dirty="0"/>
          </a:p>
        </p:txBody>
      </p:sp>
      <p:sp>
        <p:nvSpPr>
          <p:cNvPr id="225" name="Text 223"/>
          <p:cNvSpPr/>
          <p:nvPr/>
        </p:nvSpPr>
        <p:spPr>
          <a:xfrm>
            <a:off x="2678500" y="422170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TCCECH.06.035</a:t>
            </a:r>
            <a:endParaRPr lang="en-US" sz="500" dirty="0"/>
          </a:p>
        </p:txBody>
      </p:sp>
      <p:sp>
        <p:nvSpPr>
          <p:cNvPr id="226" name="Text 224"/>
          <p:cNvSpPr/>
          <p:nvPr/>
        </p:nvSpPr>
        <p:spPr>
          <a:xfrm>
            <a:off x="1351632" y="35112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TCCECH.06.036</a:t>
            </a:r>
            <a:endParaRPr lang="en-US" sz="500" dirty="0"/>
          </a:p>
        </p:txBody>
      </p:sp>
      <p:sp>
        <p:nvSpPr>
          <p:cNvPr id="227" name="Text 225"/>
          <p:cNvSpPr/>
          <p:nvPr/>
        </p:nvSpPr>
        <p:spPr>
          <a:xfrm>
            <a:off x="914997" y="31711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EL.EBASE.13328</a:t>
            </a:r>
            <a:endParaRPr lang="en-US" sz="500" dirty="0"/>
          </a:p>
        </p:txBody>
      </p:sp>
      <p:sp>
        <p:nvSpPr>
          <p:cNvPr id="228" name="Text 226"/>
          <p:cNvSpPr/>
          <p:nvPr/>
        </p:nvSpPr>
        <p:spPr>
          <a:xfrm>
            <a:off x="1591932" y="34830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EL.EBASE.13329</a:t>
            </a:r>
            <a:endParaRPr lang="en-US" sz="500" dirty="0"/>
          </a:p>
        </p:txBody>
      </p:sp>
      <p:sp>
        <p:nvSpPr>
          <p:cNvPr id="229" name="Text 227"/>
          <p:cNvSpPr/>
          <p:nvPr/>
        </p:nvSpPr>
        <p:spPr>
          <a:xfrm>
            <a:off x="2257926" y="38391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EL.EBASE.13330</a:t>
            </a:r>
            <a:endParaRPr lang="en-US" sz="500" dirty="0"/>
          </a:p>
        </p:txBody>
      </p:sp>
      <p:sp>
        <p:nvSpPr>
          <p:cNvPr id="230" name="Text 228"/>
          <p:cNvSpPr/>
          <p:nvPr/>
        </p:nvSpPr>
        <p:spPr>
          <a:xfrm>
            <a:off x="2892702" y="42392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EL.EBASE.13331</a:t>
            </a:r>
            <a:endParaRPr lang="en-US" sz="500" dirty="0"/>
          </a:p>
        </p:txBody>
      </p:sp>
      <p:sp>
        <p:nvSpPr>
          <p:cNvPr id="231" name="Text 229"/>
          <p:cNvSpPr/>
          <p:nvPr/>
        </p:nvSpPr>
        <p:spPr>
          <a:xfrm>
            <a:off x="4090387" y="52727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TCCECH.03.002</a:t>
            </a:r>
            <a:endParaRPr lang="en-US" sz="500" dirty="0"/>
          </a:p>
        </p:txBody>
      </p:sp>
      <p:sp>
        <p:nvSpPr>
          <p:cNvPr id="232" name="Text 230"/>
          <p:cNvSpPr/>
          <p:nvPr/>
        </p:nvSpPr>
        <p:spPr>
          <a:xfrm>
            <a:off x="3959698" y="535966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SBC102.01.040</a:t>
            </a:r>
            <a:endParaRPr lang="en-US" sz="500" dirty="0"/>
          </a:p>
        </p:txBody>
      </p:sp>
      <p:sp>
        <p:nvSpPr>
          <p:cNvPr id="233" name="Text 231"/>
          <p:cNvSpPr/>
          <p:nvPr/>
        </p:nvSpPr>
        <p:spPr>
          <a:xfrm>
            <a:off x="3769887" y="559434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SBC102.02.037</a:t>
            </a:r>
            <a:endParaRPr lang="en-US" sz="500" dirty="0"/>
          </a:p>
        </p:txBody>
      </p:sp>
      <p:sp>
        <p:nvSpPr>
          <p:cNvPr id="234" name="Text 232"/>
          <p:cNvSpPr/>
          <p:nvPr/>
        </p:nvSpPr>
        <p:spPr>
          <a:xfrm>
            <a:off x="3581482" y="58296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SBC102.01.041</a:t>
            </a:r>
            <a:endParaRPr lang="en-US" sz="500" dirty="0"/>
          </a:p>
        </p:txBody>
      </p:sp>
      <p:sp>
        <p:nvSpPr>
          <p:cNvPr id="235" name="Text 233"/>
          <p:cNvSpPr/>
          <p:nvPr/>
        </p:nvSpPr>
        <p:spPr>
          <a:xfrm>
            <a:off x="3393879" y="606470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SBC102.02.038</a:t>
            </a:r>
            <a:endParaRPr lang="en-US" sz="500" dirty="0"/>
          </a:p>
        </p:txBody>
      </p:sp>
      <p:sp>
        <p:nvSpPr>
          <p:cNvPr id="236" name="Text 234"/>
          <p:cNvSpPr/>
          <p:nvPr/>
        </p:nvSpPr>
        <p:spPr>
          <a:xfrm>
            <a:off x="1153390" y="291601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TCC102.01.052</a:t>
            </a:r>
            <a:endParaRPr lang="en-US" sz="500" dirty="0"/>
          </a:p>
        </p:txBody>
      </p:sp>
      <p:sp>
        <p:nvSpPr>
          <p:cNvPr id="237" name="Text 235"/>
          <p:cNvSpPr/>
          <p:nvPr/>
        </p:nvSpPr>
        <p:spPr>
          <a:xfrm>
            <a:off x="2330096" y="386345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TCC102.02.050</a:t>
            </a:r>
            <a:endParaRPr lang="en-US" sz="500" dirty="0"/>
          </a:p>
        </p:txBody>
      </p:sp>
      <p:sp>
        <p:nvSpPr>
          <p:cNvPr id="238" name="Text 236"/>
          <p:cNvSpPr/>
          <p:nvPr/>
        </p:nvSpPr>
        <p:spPr>
          <a:xfrm>
            <a:off x="3302738" y="464177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TCCECH.03.001</a:t>
            </a:r>
            <a:endParaRPr lang="en-US" sz="500" dirty="0"/>
          </a:p>
        </p:txBody>
      </p:sp>
      <p:sp>
        <p:nvSpPr>
          <p:cNvPr id="239" name="Text 237"/>
          <p:cNvSpPr/>
          <p:nvPr/>
        </p:nvSpPr>
        <p:spPr>
          <a:xfrm>
            <a:off x="624108" y="136480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TCCECH.05.016</a:t>
            </a:r>
            <a:endParaRPr lang="en-US" sz="500" dirty="0"/>
          </a:p>
        </p:txBody>
      </p:sp>
      <p:sp>
        <p:nvSpPr>
          <p:cNvPr id="240" name="Text 238"/>
          <p:cNvSpPr/>
          <p:nvPr/>
        </p:nvSpPr>
        <p:spPr>
          <a:xfrm>
            <a:off x="1409950" y="264690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TCCECH.05.017</a:t>
            </a:r>
            <a:endParaRPr lang="en-US" sz="500" dirty="0"/>
          </a:p>
        </p:txBody>
      </p:sp>
      <p:sp>
        <p:nvSpPr>
          <p:cNvPr id="241" name="Text 239"/>
          <p:cNvSpPr/>
          <p:nvPr/>
        </p:nvSpPr>
        <p:spPr>
          <a:xfrm>
            <a:off x="2918098" y="433171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TCCECH.06.019</a:t>
            </a:r>
            <a:endParaRPr lang="en-US" sz="500" dirty="0"/>
          </a:p>
        </p:txBody>
      </p:sp>
      <p:sp>
        <p:nvSpPr>
          <p:cNvPr id="242" name="Text 240"/>
          <p:cNvSpPr/>
          <p:nvPr/>
        </p:nvSpPr>
        <p:spPr>
          <a:xfrm>
            <a:off x="992487" y="20192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TCCECH.06.017</a:t>
            </a:r>
            <a:endParaRPr lang="en-US" sz="500" dirty="0"/>
          </a:p>
        </p:txBody>
      </p:sp>
      <p:sp>
        <p:nvSpPr>
          <p:cNvPr id="243" name="Text 241"/>
          <p:cNvSpPr/>
          <p:nvPr/>
        </p:nvSpPr>
        <p:spPr>
          <a:xfrm>
            <a:off x="1870977" y="324142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TCCECH.06.018</a:t>
            </a:r>
            <a:endParaRPr lang="en-US" sz="500" dirty="0"/>
          </a:p>
        </p:txBody>
      </p:sp>
      <p:sp>
        <p:nvSpPr>
          <p:cNvPr id="244" name="Text 242"/>
          <p:cNvSpPr/>
          <p:nvPr/>
        </p:nvSpPr>
        <p:spPr>
          <a:xfrm>
            <a:off x="3506902" y="480458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TCCECH.04.001</a:t>
            </a:r>
            <a:endParaRPr lang="en-US" sz="500" dirty="0"/>
          </a:p>
        </p:txBody>
      </p:sp>
      <p:sp>
        <p:nvSpPr>
          <p:cNvPr id="245" name="Text 243"/>
          <p:cNvSpPr/>
          <p:nvPr/>
        </p:nvSpPr>
        <p:spPr>
          <a:xfrm>
            <a:off x="2375968" y="379911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TCCECH.05.018</a:t>
            </a:r>
            <a:endParaRPr lang="en-US" sz="500" dirty="0"/>
          </a:p>
        </p:txBody>
      </p:sp>
      <p:sp>
        <p:nvSpPr>
          <p:cNvPr id="246" name="Text 244"/>
          <p:cNvSpPr/>
          <p:nvPr/>
        </p:nvSpPr>
        <p:spPr>
          <a:xfrm>
            <a:off x="5549049" y="37284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P4.037</a:t>
            </a:r>
            <a:endParaRPr lang="en-US" sz="500" dirty="0"/>
          </a:p>
        </p:txBody>
      </p:sp>
      <p:sp>
        <p:nvSpPr>
          <p:cNvPr id="247" name="Text 245"/>
          <p:cNvSpPr/>
          <p:nvPr/>
        </p:nvSpPr>
        <p:spPr>
          <a:xfrm>
            <a:off x="8781754" y="64419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P4.039</a:t>
            </a:r>
            <a:endParaRPr lang="en-US" sz="500" dirty="0"/>
          </a:p>
        </p:txBody>
      </p:sp>
      <p:sp>
        <p:nvSpPr>
          <p:cNvPr id="248" name="Text 246"/>
          <p:cNvSpPr/>
          <p:nvPr/>
        </p:nvSpPr>
        <p:spPr>
          <a:xfrm>
            <a:off x="9207347" y="59708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HH.E.057</a:t>
            </a:r>
            <a:endParaRPr lang="en-US" sz="500" dirty="0"/>
          </a:p>
        </p:txBody>
      </p:sp>
      <p:sp>
        <p:nvSpPr>
          <p:cNvPr id="249" name="Text 247"/>
          <p:cNvSpPr/>
          <p:nvPr/>
        </p:nvSpPr>
        <p:spPr>
          <a:xfrm>
            <a:off x="5834919" y="308815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HH.E.061</a:t>
            </a:r>
            <a:endParaRPr lang="en-US" sz="500" dirty="0"/>
          </a:p>
        </p:txBody>
      </p:sp>
      <p:sp>
        <p:nvSpPr>
          <p:cNvPr id="250" name="Text 248"/>
          <p:cNvSpPr/>
          <p:nvPr/>
        </p:nvSpPr>
        <p:spPr>
          <a:xfrm>
            <a:off x="6045809" y="3258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HH.E.060</a:t>
            </a:r>
            <a:endParaRPr lang="en-US" sz="500" dirty="0"/>
          </a:p>
        </p:txBody>
      </p:sp>
      <p:sp>
        <p:nvSpPr>
          <p:cNvPr id="251" name="Text 249"/>
          <p:cNvSpPr/>
          <p:nvPr/>
        </p:nvSpPr>
        <p:spPr>
          <a:xfrm>
            <a:off x="4372443" y="166171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HH.E4.010</a:t>
            </a:r>
            <a:endParaRPr lang="en-US" sz="500" dirty="0"/>
          </a:p>
        </p:txBody>
      </p:sp>
      <p:sp>
        <p:nvSpPr>
          <p:cNvPr id="252" name="Text 250"/>
          <p:cNvSpPr/>
          <p:nvPr/>
        </p:nvSpPr>
        <p:spPr>
          <a:xfrm>
            <a:off x="8102109" y="509557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HH.E.058</a:t>
            </a:r>
            <a:endParaRPr lang="en-US" sz="500" dirty="0"/>
          </a:p>
        </p:txBody>
      </p:sp>
      <p:sp>
        <p:nvSpPr>
          <p:cNvPr id="253" name="Text 251"/>
          <p:cNvSpPr/>
          <p:nvPr/>
        </p:nvSpPr>
        <p:spPr>
          <a:xfrm>
            <a:off x="7141211" y="411148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HH.E.059</a:t>
            </a:r>
            <a:endParaRPr lang="en-US" sz="500" dirty="0"/>
          </a:p>
        </p:txBody>
      </p:sp>
      <p:sp>
        <p:nvSpPr>
          <p:cNvPr id="254" name="Text 252"/>
          <p:cNvSpPr/>
          <p:nvPr/>
        </p:nvSpPr>
        <p:spPr>
          <a:xfrm>
            <a:off x="1739284" y="618846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P4.041</a:t>
            </a:r>
            <a:endParaRPr lang="en-US" sz="500" dirty="0"/>
          </a:p>
        </p:txBody>
      </p:sp>
      <p:sp>
        <p:nvSpPr>
          <p:cNvPr id="255" name="Text 253"/>
          <p:cNvSpPr/>
          <p:nvPr/>
        </p:nvSpPr>
        <p:spPr>
          <a:xfrm>
            <a:off x="4723859" y="195691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MH.E.015</a:t>
            </a:r>
            <a:endParaRPr lang="en-US" sz="500" dirty="0"/>
          </a:p>
        </p:txBody>
      </p:sp>
      <p:sp>
        <p:nvSpPr>
          <p:cNvPr id="256" name="Text 254"/>
          <p:cNvSpPr/>
          <p:nvPr/>
        </p:nvSpPr>
        <p:spPr>
          <a:xfrm>
            <a:off x="1082123" y="651087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MH.E.023</a:t>
            </a:r>
            <a:endParaRPr lang="en-US" sz="500" dirty="0"/>
          </a:p>
        </p:txBody>
      </p:sp>
      <p:sp>
        <p:nvSpPr>
          <p:cNvPr id="257" name="Text 255"/>
          <p:cNvSpPr/>
          <p:nvPr/>
        </p:nvSpPr>
        <p:spPr>
          <a:xfrm>
            <a:off x="1730149" y="82638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SGC102.02.015</a:t>
            </a:r>
            <a:endParaRPr lang="en-US" sz="500" dirty="0"/>
          </a:p>
        </p:txBody>
      </p:sp>
      <p:sp>
        <p:nvSpPr>
          <p:cNvPr id="258" name="Text 256"/>
          <p:cNvSpPr/>
          <p:nvPr/>
        </p:nvSpPr>
        <p:spPr>
          <a:xfrm>
            <a:off x="5847466" y="22595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SGC102.02.014</a:t>
            </a:r>
            <a:endParaRPr lang="en-US" sz="500" dirty="0"/>
          </a:p>
        </p:txBody>
      </p:sp>
      <p:sp>
        <p:nvSpPr>
          <p:cNvPr id="261" name="Text 259"/>
          <p:cNvSpPr/>
          <p:nvPr/>
        </p:nvSpPr>
        <p:spPr>
          <a:xfrm>
            <a:off x="4769729" y="43109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SBC102-01/038</a:t>
            </a:r>
            <a:endParaRPr lang="en-US" sz="650" dirty="0"/>
          </a:p>
        </p:txBody>
      </p:sp>
      <p:sp>
        <p:nvSpPr>
          <p:cNvPr id="263" name="Shape 261"/>
          <p:cNvSpPr/>
          <p:nvPr/>
        </p:nvSpPr>
        <p:spPr>
          <a:xfrm>
            <a:off x="4218178" y="4948551"/>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64" name="Text 262"/>
          <p:cNvSpPr/>
          <p:nvPr/>
        </p:nvSpPr>
        <p:spPr>
          <a:xfrm>
            <a:off x="4391914" y="47839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SBC102-01/039</a:t>
            </a:r>
            <a:endParaRPr lang="en-US" sz="650" dirty="0"/>
          </a:p>
        </p:txBody>
      </p:sp>
      <p:sp>
        <p:nvSpPr>
          <p:cNvPr id="266" name="Shape 264"/>
          <p:cNvSpPr/>
          <p:nvPr/>
        </p:nvSpPr>
        <p:spPr>
          <a:xfrm>
            <a:off x="4406884" y="4711864"/>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67" name="Text 265"/>
          <p:cNvSpPr/>
          <p:nvPr/>
        </p:nvSpPr>
        <p:spPr>
          <a:xfrm>
            <a:off x="4580620" y="4547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SBC102-02/035</a:t>
            </a:r>
            <a:endParaRPr lang="en-US" sz="650" dirty="0"/>
          </a:p>
        </p:txBody>
      </p:sp>
      <p:sp>
        <p:nvSpPr>
          <p:cNvPr id="269" name="Shape 267"/>
          <p:cNvSpPr/>
          <p:nvPr/>
        </p:nvSpPr>
        <p:spPr>
          <a:xfrm>
            <a:off x="4031077" y="5183832"/>
            <a:ext cx="109728" cy="109728"/>
          </a:xfrm>
          <a:prstGeom prst="ellipse">
            <a:avLst/>
          </a:prstGeom>
          <a:solidFill>
            <a:srgbClr val="5B9BD5">
              <a:lumMod val="50000"/>
              <a:alpha val="20000"/>
              <a:alpha val="100000"/>
              <a:alpha val="100000"/>
            </a:srgbClr>
          </a:solidFill>
          <a:ln w="6350">
            <a:solidFill>
              <a:srgbClr val="9AA0A6">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0" name="Text 268"/>
          <p:cNvSpPr/>
          <p:nvPr/>
        </p:nvSpPr>
        <p:spPr>
          <a:xfrm>
            <a:off x="4204813" y="501924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SBC102-02/036</a:t>
            </a:r>
            <a:endParaRPr lang="en-US" sz="650" dirty="0"/>
          </a:p>
        </p:txBody>
      </p:sp>
      <p:sp>
        <p:nvSpPr>
          <p:cNvPr id="272" name="Shape 270"/>
          <p:cNvSpPr/>
          <p:nvPr/>
        </p:nvSpPr>
        <p:spPr>
          <a:xfrm>
            <a:off x="3842270" y="5417206"/>
            <a:ext cx="109728" cy="109728"/>
          </a:xfrm>
          <a:prstGeom prst="ellipse">
            <a:avLst/>
          </a:prstGeom>
          <a:solidFill>
            <a:srgbClr val="5B9BD5">
              <a:lumMod val="50000"/>
              <a:alpha val="20000"/>
              <a:alpha val="100000"/>
              <a:alpha val="100000"/>
            </a:srgbClr>
          </a:solidFill>
          <a:ln w="6350">
            <a:solidFill>
              <a:srgbClr val="9AA0A6">
                <a:alpha val="20000"/>
                <a:alpha val="10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3" name="Text 271"/>
          <p:cNvSpPr/>
          <p:nvPr/>
        </p:nvSpPr>
        <p:spPr>
          <a:xfrm>
            <a:off x="4016006" y="525261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SBC102-01/040</a:t>
            </a:r>
            <a:endParaRPr lang="en-US" sz="650" dirty="0"/>
          </a:p>
        </p:txBody>
      </p:sp>
      <p:sp>
        <p:nvSpPr>
          <p:cNvPr id="275" name="Shape 273"/>
          <p:cNvSpPr/>
          <p:nvPr/>
        </p:nvSpPr>
        <p:spPr>
          <a:xfrm>
            <a:off x="3464054" y="5887165"/>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6" name="Text 274"/>
          <p:cNvSpPr/>
          <p:nvPr/>
        </p:nvSpPr>
        <p:spPr>
          <a:xfrm>
            <a:off x="3637790" y="572257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SBC102-01/041</a:t>
            </a:r>
            <a:endParaRPr lang="en-US" sz="650" dirty="0"/>
          </a:p>
        </p:txBody>
      </p:sp>
      <p:sp>
        <p:nvSpPr>
          <p:cNvPr id="278" name="Shape 276"/>
          <p:cNvSpPr/>
          <p:nvPr/>
        </p:nvSpPr>
        <p:spPr>
          <a:xfrm>
            <a:off x="3652460" y="5651884"/>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79" name="Text 277"/>
          <p:cNvSpPr/>
          <p:nvPr/>
        </p:nvSpPr>
        <p:spPr>
          <a:xfrm>
            <a:off x="3826196" y="548729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SBC102-02/037</a:t>
            </a:r>
            <a:endParaRPr lang="en-US" sz="650" dirty="0"/>
          </a:p>
        </p:txBody>
      </p:sp>
      <p:sp>
        <p:nvSpPr>
          <p:cNvPr id="281" name="Shape 279"/>
          <p:cNvSpPr/>
          <p:nvPr/>
        </p:nvSpPr>
        <p:spPr>
          <a:xfrm>
            <a:off x="3276452" y="6122246"/>
            <a:ext cx="109728" cy="109728"/>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282" name="Text 280"/>
          <p:cNvSpPr/>
          <p:nvPr/>
        </p:nvSpPr>
        <p:spPr>
          <a:xfrm>
            <a:off x="3450188" y="595765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SBC102-02/038</a:t>
            </a:r>
            <a:endParaRPr lang="en-US" sz="650" dirty="0"/>
          </a:p>
        </p:txBody>
      </p:sp>
      <p:sp>
        <p:nvSpPr>
          <p:cNvPr id="284" name="Shape 282"/>
          <p:cNvSpPr/>
          <p:nvPr/>
        </p:nvSpPr>
        <p:spPr>
          <a:xfrm>
            <a:off x="3972960" y="5330280"/>
            <a:ext cx="109728" cy="109728"/>
          </a:xfrm>
          <a:prstGeom prst="ellipse">
            <a:avLst/>
          </a:prstGeom>
          <a:solidFill>
            <a:srgbClr val="70AD47">
              <a:alpha val="100000"/>
            </a:srgbClr>
          </a:solidFill>
          <a:ln w="6350">
            <a:solidFill>
              <a:srgbClr val="9AA0A6">
                <a:alpha val="100000"/>
              </a:srgbClr>
            </a:solidFill>
            <a:prstDash val="solid"/>
          </a:ln>
        </p:spPr>
        <p:txBody>
          <a:bodyPr/>
          <a:lstStyle/>
          <a:p>
            <a:endParaRPr lang="en-US"/>
          </a:p>
        </p:txBody>
      </p:sp>
      <p:sp>
        <p:nvSpPr>
          <p:cNvPr id="285" name="Text 283"/>
          <p:cNvSpPr/>
          <p:nvPr/>
        </p:nvSpPr>
        <p:spPr>
          <a:xfrm>
            <a:off x="4146696" y="51656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TCCECH-03/002</a:t>
            </a:r>
            <a:endParaRPr lang="en-US" sz="650" dirty="0"/>
          </a:p>
        </p:txBody>
      </p:sp>
      <p:sp>
        <p:nvSpPr>
          <p:cNvPr id="287" name="Shape 285"/>
          <p:cNvSpPr/>
          <p:nvPr/>
        </p:nvSpPr>
        <p:spPr>
          <a:xfrm>
            <a:off x="4560560" y="5799035"/>
            <a:ext cx="109728" cy="109728"/>
          </a:xfrm>
          <a:prstGeom prst="ellipse">
            <a:avLst/>
          </a:prstGeom>
          <a:solidFill>
            <a:srgbClr val="70AD47">
              <a:alpha val="100000"/>
            </a:srgbClr>
          </a:solidFill>
          <a:ln w="6350">
            <a:solidFill>
              <a:srgbClr val="9AA0A6">
                <a:alpha val="100000"/>
              </a:srgbClr>
            </a:solidFill>
            <a:prstDash val="solid"/>
          </a:ln>
        </p:spPr>
        <p:txBody>
          <a:bodyPr/>
          <a:lstStyle/>
          <a:p>
            <a:endParaRPr lang="en-US"/>
          </a:p>
        </p:txBody>
      </p:sp>
      <p:sp>
        <p:nvSpPr>
          <p:cNvPr id="288" name="Text 286"/>
          <p:cNvSpPr/>
          <p:nvPr/>
        </p:nvSpPr>
        <p:spPr>
          <a:xfrm>
            <a:off x="4734296" y="563444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TCCECH-04/002</a:t>
            </a:r>
            <a:endParaRPr lang="en-US" sz="650" dirty="0"/>
          </a:p>
        </p:txBody>
      </p:sp>
      <p:sp>
        <p:nvSpPr>
          <p:cNvPr id="289" name="Shape 287"/>
          <p:cNvSpPr/>
          <p:nvPr/>
        </p:nvSpPr>
        <p:spPr>
          <a:xfrm>
            <a:off x="5098671" y="6222618"/>
            <a:ext cx="210312" cy="210312"/>
          </a:xfrm>
          <a:prstGeom prst="ellipse">
            <a:avLst/>
          </a:prstGeom>
          <a:noFill/>
          <a:ln w="28575">
            <a:solidFill>
              <a:srgbClr val="CC0000">
                <a:alpha val="100000"/>
              </a:srgbClr>
            </a:solidFill>
            <a:prstDash val="solid"/>
          </a:ln>
        </p:spPr>
        <p:txBody>
          <a:bodyPr/>
          <a:lstStyle/>
          <a:p>
            <a:endParaRPr lang="en-US"/>
          </a:p>
        </p:txBody>
      </p:sp>
      <p:sp>
        <p:nvSpPr>
          <p:cNvPr id="290" name="Shape 288"/>
          <p:cNvSpPr/>
          <p:nvPr/>
        </p:nvSpPr>
        <p:spPr>
          <a:xfrm>
            <a:off x="5148963" y="6294642"/>
            <a:ext cx="109728" cy="109728"/>
          </a:xfrm>
          <a:prstGeom prst="ellipse">
            <a:avLst/>
          </a:prstGeom>
          <a:solidFill>
            <a:srgbClr val="E8710A">
              <a:alpha val="100000"/>
            </a:srgbClr>
          </a:solidFill>
          <a:ln w="6350">
            <a:solidFill>
              <a:srgbClr val="E8710A">
                <a:alpha val="100000"/>
              </a:srgbClr>
            </a:solidFill>
            <a:prstDash val="solid"/>
          </a:ln>
        </p:spPr>
        <p:txBody>
          <a:bodyPr/>
          <a:lstStyle/>
          <a:p>
            <a:endParaRPr lang="en-US"/>
          </a:p>
        </p:txBody>
      </p:sp>
      <p:sp>
        <p:nvSpPr>
          <p:cNvPr id="291" name="Text 289"/>
          <p:cNvSpPr/>
          <p:nvPr/>
        </p:nvSpPr>
        <p:spPr>
          <a:xfrm>
            <a:off x="5322699" y="610831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TCCECH-03/003</a:t>
            </a:r>
            <a:endParaRPr lang="en-US" sz="650" dirty="0"/>
          </a:p>
        </p:txBody>
      </p:sp>
      <p:sp>
        <p:nvSpPr>
          <p:cNvPr id="293" name="Shape 291"/>
          <p:cNvSpPr/>
          <p:nvPr/>
        </p:nvSpPr>
        <p:spPr>
          <a:xfrm>
            <a:off x="5733552" y="6745379"/>
            <a:ext cx="109728" cy="109728"/>
          </a:xfrm>
          <a:prstGeom prst="ellipse">
            <a:avLst/>
          </a:prstGeom>
          <a:solidFill>
            <a:srgbClr val="70AD47">
              <a:alpha val="100000"/>
            </a:srgbClr>
          </a:solidFill>
          <a:ln w="6350">
            <a:solidFill>
              <a:srgbClr val="9AA0A6">
                <a:alpha val="100000"/>
              </a:srgbClr>
            </a:solidFill>
            <a:prstDash val="solid"/>
          </a:ln>
        </p:spPr>
        <p:txBody>
          <a:bodyPr/>
          <a:lstStyle/>
          <a:p>
            <a:endParaRPr lang="en-US"/>
          </a:p>
        </p:txBody>
      </p:sp>
      <p:sp>
        <p:nvSpPr>
          <p:cNvPr id="294" name="Text 292"/>
          <p:cNvSpPr/>
          <p:nvPr/>
        </p:nvSpPr>
        <p:spPr>
          <a:xfrm>
            <a:off x="5907288" y="658078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TCCECH-04/003</a:t>
            </a:r>
            <a:endParaRPr lang="en-US" sz="650" dirty="0"/>
          </a:p>
        </p:txBody>
      </p:sp>
      <p:sp>
        <p:nvSpPr>
          <p:cNvPr id="296" name="Shape 294"/>
          <p:cNvSpPr/>
          <p:nvPr/>
        </p:nvSpPr>
        <p:spPr>
          <a:xfrm>
            <a:off x="6561251" y="5618258"/>
            <a:ext cx="109728" cy="109728"/>
          </a:xfrm>
          <a:prstGeom prst="ellipse">
            <a:avLst/>
          </a:prstGeom>
          <a:solidFill>
            <a:srgbClr val="FFFFFF"/>
          </a:solidFill>
          <a:ln w="6350">
            <a:solidFill>
              <a:srgbClr val="FFFFFF"/>
            </a:solidFill>
            <a:prstDash val="solid"/>
          </a:ln>
        </p:spPr>
        <p:txBody>
          <a:bodyPr/>
          <a:lstStyle/>
          <a:p>
            <a:endParaRPr lang="en-US"/>
          </a:p>
        </p:txBody>
      </p:sp>
      <p:sp>
        <p:nvSpPr>
          <p:cNvPr id="297" name="Text 295"/>
          <p:cNvSpPr/>
          <p:nvPr/>
        </p:nvSpPr>
        <p:spPr>
          <a:xfrm>
            <a:off x="6734987" y="5453666"/>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RRM.557</a:t>
            </a:r>
            <a:endParaRPr lang="en-US" sz="650" dirty="0"/>
          </a:p>
        </p:txBody>
      </p:sp>
      <p:sp>
        <p:nvSpPr>
          <p:cNvPr id="300" name="Text 298"/>
          <p:cNvSpPr/>
          <p:nvPr/>
        </p:nvSpPr>
        <p:spPr>
          <a:xfrm>
            <a:off x="5611280" y="446677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RRM.670</a:t>
            </a:r>
            <a:endParaRPr lang="en-US" sz="650" dirty="0"/>
          </a:p>
        </p:txBody>
      </p:sp>
      <p:sp>
        <p:nvSpPr>
          <p:cNvPr id="301" name="Shape 299"/>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02" name="Text 300"/>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3 — 1003  ·  REV P08 (FINAL SCOPE)</a:t>
            </a:r>
            <a:endParaRPr lang="en-US" sz="1250" dirty="0"/>
          </a:p>
        </p:txBody>
      </p:sp>
      <p:sp>
        <p:nvSpPr>
          <p:cNvPr id="303" name="Text 301"/>
          <p:cNvSpPr/>
          <p:nvPr/>
        </p:nvSpPr>
        <p:spPr>
          <a:xfrm>
            <a:off x="10241280" y="1179576"/>
            <a:ext cx="4434840" cy="384048"/>
          </a:xfrm>
          <a:prstGeom prst="rect">
            <a:avLst/>
          </a:prstGeom>
          <a:noFill/>
          <a:ln/>
        </p:spPr>
        <p:txBody>
          <a:bodyPr wrap="square" lIns="0" tIns="0" rIns="0" bIns="0" rtlCol="0" anchor="ctr"/>
          <a:lstStyle/>
          <a:p>
            <a:pPr marL="0" indent="0">
              <a:buNone/>
            </a:pPr>
            <a:r>
              <a:rPr sz="800">
                <a:solidFill>
                  <a:srgbClr val="CADCFC"/>
                </a:solidFill>
                <a:latin typeface="Arial"/>
              </a:rPr>
              <a:t>FINAL SCOPE OF WORK 30.07.2026 (supersedes the Rev P06/P07 quantities) — FIELD CONDITION GOVERNS</a:t>
            </a:r>
            <a:endParaRPr lang="en-US" sz="800" dirty="0"/>
          </a:p>
        </p:txBody>
      </p:sp>
      <p:sp>
        <p:nvSpPr>
          <p:cNvPr id="304" name="Text 302"/>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p>
        </p:txBody>
      </p:sp>
      <p:sp>
        <p:nvSpPr>
          <p:cNvPr id="305" name="Shape 303"/>
          <p:cNvSpPr/>
          <p:nvPr/>
        </p:nvSpPr>
        <p:spPr>
          <a:xfrm>
            <a:off x="10104120" y="2057400"/>
            <a:ext cx="4709160" cy="2040026"/>
          </a:xfrm>
          <a:prstGeom prst="rect">
            <a:avLst/>
          </a:prstGeom>
          <a:solidFill>
            <a:srgbClr val="F4F6F8"/>
          </a:solidFill>
          <a:ln w="9525">
            <a:solidFill>
              <a:srgbClr val="D5DAE0"/>
            </a:solidFill>
            <a:prstDash val="solid"/>
          </a:ln>
        </p:spPr>
        <p:txBody>
          <a:bodyPr/>
          <a:lstStyle/>
          <a:p>
            <a:endParaRPr lang="en-US"/>
          </a:p>
        </p:txBody>
      </p:sp>
      <p:sp>
        <p:nvSpPr>
          <p:cNvPr id="306" name="Text 304"/>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07" name="Text 305"/>
          <p:cNvSpPr/>
          <p:nvPr/>
        </p:nvSpPr>
        <p:spPr>
          <a:xfrm>
            <a:off x="10241280" y="2386584"/>
            <a:ext cx="4434840" cy="1790700"/>
          </a:xfrm>
          <a:prstGeom prst="rect">
            <a:avLst/>
          </a:prstGeom>
          <a:noFill/>
          <a:ln/>
        </p:spPr>
        <p:txBody>
          <a:bodyPr wrap="square" lIns="0" tIns="0" rIns="0" bIns="0" rtlCol="0" anchor="t"/>
          <a:lstStyle/>
          <a:p>
            <a:pPr marL="0" indent="0">
              <a:lnSpc>
                <a:spcPct val="112000"/>
              </a:lnSpc>
              <a:buNone/>
            </a:pPr>
            <a:r>
              <a:rPr sz="680">
                <a:solidFill>
                  <a:srgbClr val="1F2937"/>
                </a:solidFill>
                <a:latin typeface="Arial"/>
              </a:rPr>
              <a:t>FINAL SCOPE (REV P08) — 4 No. TCC, SAW CUT + NEW CABLE; CORE OUT 12" AT 1 No. ONLY:</a:t>
            </a:r>
            <a:endParaRPr lang="en-US" sz="760" dirty="0"/>
          </a:p>
          <a:p>
            <a:endParaRPr lang="en-US" sz="760" dirty="0"/>
          </a:p>
          <a:p>
            <a:r>
              <a:rPr sz="680">
                <a:solidFill>
                  <a:srgbClr val="1F2937"/>
                </a:solidFill>
                <a:latin typeface="Arial"/>
              </a:rPr>
              <a:t>   • TCCECH-03/003 — CORE OUT 12" + INSTALL NEW 12" SIDE-ENTRY SHALLOW BASE (no side-entry provision in existing base).</a:t>
            </a:r>
            <a:br/>
            <a:r>
              <a:rPr sz="680">
                <a:solidFill>
                  <a:srgbClr val="1F2937"/>
                </a:solidFill>
                <a:latin typeface="Arial"/>
              </a:rPr>
              <a:t>   • TCCECH-03/002, 04/002, 04/003 — SECONDARY CABLE ONLY; existing 12" shallow base accommodates side entry — NO CORING.</a:t>
            </a:r>
          </a:p>
          <a:p>
            <a:r>
              <a:rPr sz="680">
                <a:solidFill>
                  <a:srgbClr val="1F2937"/>
                </a:solidFill>
                <a:latin typeface="Arial"/>
              </a:rPr>
              <a:t>ROUTE: SAW CUT — these 4 No. were carried as VIA DUCT on Rev P06/P07.</a:t>
            </a:r>
          </a:p>
          <a:p>
            <a:r>
              <a:rPr sz="680">
                <a:solidFill>
                  <a:srgbClr val="1F2937"/>
                </a:solidFill>
                <a:latin typeface="Arial"/>
              </a:rPr>
              <a:t>   Saw cut detail per sheet SAW CUT &amp; SIDE-ENTRY SHALLOW BASE DETAIL — detail drawing to be issued.</a:t>
            </a:r>
          </a:p>
          <a:p>
            <a:r>
              <a:rPr sz="680">
                <a:solidFill>
                  <a:srgbClr val="1F2937"/>
                </a:solidFill>
                <a:latin typeface="Arial"/>
              </a:rPr>
              <a:t>REMOVED FROM SCOPE AT REV P08 — no works, 8 No. SBC:</a:t>
            </a:r>
          </a:p>
          <a:p>
            <a:r>
              <a:rPr sz="680">
                <a:solidFill>
                  <a:srgbClr val="1F2937"/>
                </a:solidFill>
                <a:latin typeface="Arial"/>
              </a:rPr>
              <a:t>   • SBC102-01/038, 01/039, 02/035, 02/036 (EP7 STOP BAR — was sawcut, base protect)</a:t>
            </a:r>
          </a:p>
          <a:p>
            <a:r>
              <a:rPr sz="680">
                <a:solidFill>
                  <a:srgbClr val="1F2937"/>
                </a:solidFill>
                <a:latin typeface="Arial"/>
              </a:rPr>
              <a:t>   • SBC102-01/040, 01/041, 02/037, 02/038 (was new cable only, via duct)</a:t>
            </a:r>
          </a:p>
          <a:p>
            <a:r>
              <a:rPr sz="680">
                <a:solidFill>
                  <a:srgbClr val="1F2937"/>
                </a:solidFill>
                <a:latin typeface="Arial"/>
              </a:rPr>
              <a:t>RRM.557 (0.07 m — treat as within works) &amp; RRM.670: REMOVE / PROTECT / RE-FIX</a:t>
            </a:r>
          </a:p>
          <a:p>
            <a:r>
              <a:rPr sz="680">
                <a:solidFill>
                  <a:srgbClr val="1F2937"/>
                </a:solidFill>
                <a:latin typeface="Arial"/>
              </a:rPr>
              <a:t>ISOLATE CIRCUITS: TCCECH.03/.04 — SBC102.01/.02 carries no AGL works here at P08;</a:t>
            </a:r>
          </a:p>
          <a:p>
            <a:r>
              <a:rPr sz="680">
                <a:solidFill>
                  <a:srgbClr val="1F2937"/>
                </a:solidFill>
                <a:latin typeface="Arial"/>
              </a:rPr>
              <a:t>   confirm isolation against the saw cut alignment before works.</a:t>
            </a:r>
          </a:p>
          <a:p>
            <a:r>
              <a:rPr sz="680">
                <a:solidFill>
                  <a:srgbClr val="1F2937"/>
                </a:solidFill>
                <a:latin typeface="Arial"/>
              </a:rPr>
              <a:t>REV P08 SUPERSEDES the Rev P06/P07 quantities. SUPERSEDED = no works; NOT a field verification that the asset is unaffected.</a:t>
            </a:r>
          </a:p>
          <a:p>
            <a:r>
              <a:rPr sz="680">
                <a:solidFill>
                  <a:srgbClr val="1F2937"/>
                </a:solidFill>
                <a:latin typeface="Arial"/>
              </a:rPr>
              <a:t>RED AGL WORKS AREA = Rev P05 field-condition milling extent, UNCHANGED at P08 — the civil milling limit, not a hull of the affected assets.</a:t>
            </a:r>
          </a:p>
        </p:txBody>
      </p:sp>
      <p:sp>
        <p:nvSpPr>
          <p:cNvPr id="308" name="Shape 306"/>
          <p:cNvSpPr/>
          <p:nvPr/>
        </p:nvSpPr>
        <p:spPr>
          <a:xfrm>
            <a:off x="10104120" y="4207154"/>
            <a:ext cx="4709160" cy="2267712"/>
          </a:xfrm>
          <a:prstGeom prst="rect">
            <a:avLst/>
          </a:prstGeom>
          <a:solidFill>
            <a:srgbClr val="FFFFFF"/>
          </a:solidFill>
          <a:ln w="9525">
            <a:solidFill>
              <a:srgbClr val="D5DAE0"/>
            </a:solidFill>
            <a:prstDash val="solid"/>
          </a:ln>
        </p:spPr>
        <p:txBody>
          <a:bodyPr/>
          <a:lstStyle/>
          <a:p>
            <a:endParaRPr lang="en-US"/>
          </a:p>
        </p:txBody>
      </p:sp>
      <p:sp>
        <p:nvSpPr>
          <p:cNvPr id="309" name="Text 307"/>
          <p:cNvSpPr/>
          <p:nvPr/>
        </p:nvSpPr>
        <p:spPr>
          <a:xfrm>
            <a:off x="10241280" y="4280306"/>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0" name="Text 308"/>
          <p:cNvSpPr/>
          <p:nvPr/>
        </p:nvSpPr>
        <p:spPr>
          <a:xfrm>
            <a:off x="10241280" y="4536338"/>
            <a:ext cx="4434840" cy="1883664"/>
          </a:xfrm>
          <a:prstGeom prst="rect">
            <a:avLst/>
          </a:prstGeom>
          <a:noFill/>
          <a:ln/>
        </p:spPr>
        <p:txBody>
          <a:bodyPr wrap="square" lIns="0" tIns="0" rIns="0" bIns="0" rtlCol="0" anchor="t"/>
          <a:lstStyle/>
          <a:p>
            <a:pPr marL="0" indent="0">
              <a:lnSpc>
                <a:spcPct val="110000"/>
              </a:lnSpc>
              <a:buNone/>
            </a:pPr>
            <a:r>
              <a:rPr sz="700">
                <a:solidFill>
                  <a:srgbClr val="5F6368"/>
                </a:solidFill>
                <a:latin typeface="Arial"/>
              </a:rPr>
              <a:t>1. Positions plotted are ZIA LOCAL PROJECT GRID metres — NOT UTM 40N. The Rev P06 "EPSG:32640" label was wrong; no surveyed local-to-UTM transform exists. Do not issue a UTM coordinate from this sheet.</a:t>
            </a:r>
            <a:endParaRPr lang="en-US" sz="680" dirty="0"/>
          </a:p>
          <a:p>
            <a:r>
              <a:rPr sz="700">
                <a:solidFill>
                  <a:srgbClr val="5F6368"/>
                </a:solidFill>
                <a:latin typeface="Arial"/>
              </a:rPr>
              <a:t>2. AGL works area (red) per field condition — the Rev P05 milling extent, UNCHANGED at Rev P08. Coring at P08: LOC-01 3 No. 12" + 6 No. 8" cored, 11 No. 8" side-entry bases installed; LOC-02 12" at TCCECH-03/008; LOC-03 12" at TCCECH-03/003 only — balance 3 No. TCC secondary cable only.</a:t>
            </a:r>
          </a:p>
          <a:p>
            <a:r>
              <a:rPr sz="700">
                <a:solidFill>
                  <a:srgbClr val="5F6368"/>
                </a:solidFill>
                <a:latin typeface="Arial"/>
              </a:rPr>
              <a:t>3. Duct / ductbank / conduit / sawcut lines are REAL as-built geometry from ADA drawing Z1-Z2-Z3-MTA_SEGMENTATION.dxf — not light-to-nearest-pit construction lines. Layer name carries size and way-count; see sheet 6.</a:t>
            </a:r>
          </a:p>
          <a:p>
            <a:r>
              <a:rPr sz="700">
                <a:solidFill>
                  <a:srgbClr val="5F6368"/>
                </a:solidFill>
                <a:latin typeface="Arial"/>
              </a:rPr>
              <a:t>4. Ducts are drawn as the separate segments they are in the source. Continuity NOT proven — do not take a continuous pull length off this sheet.</a:t>
            </a:r>
          </a:p>
          <a:p>
            <a:r>
              <a:rPr sz="700">
                <a:solidFill>
                  <a:srgbClr val="5F6368"/>
                </a:solidFill>
                <a:latin typeface="Arial"/>
              </a:rPr>
              <a:t>5. Isolate, lock out &amp; prove dead all listed circuits at CCR under permit before cutting, coring or excavation.</a:t>
            </a:r>
          </a:p>
          <a:p>
            <a:r>
              <a:rPr sz="700">
                <a:solidFill>
                  <a:srgbClr val="5F6368"/>
                </a:solidFill>
                <a:latin typeface="Arial"/>
              </a:rPr>
              <a:t>6. HH / MH / transformer-pit / RRM symbols sit ~2.1-2.3 m off the source insertion point (sheet 6) — set out civil features from survey.</a:t>
            </a:r>
          </a:p>
          <a:p>
            <a:r>
              <a:rPr sz="700">
                <a:solidFill>
                  <a:srgbClr val="5F6368"/>
                </a:solidFill>
                <a:latin typeface="Arial"/>
              </a:rPr>
              <a:t>7. Centerline &amp; stop bar from as-built TCC / SBC fittings. Edge indicative 23 m — confirm on site.</a:t>
            </a:r>
          </a:p>
          <a:p>
            <a:r>
              <a:rPr sz="700">
                <a:solidFill>
                  <a:srgbClr val="5F6368"/>
                </a:solidFill>
                <a:latin typeface="Arial"/>
              </a:rPr>
              <a:t>8. Every asset in frame carries its own as-built symbol, legended right. Type comes from the source layer, not the label. Assets with a works-action marker keep that marker.</a:t>
            </a:r>
          </a:p>
        </p:txBody>
      </p:sp>
      <p:sp>
        <p:nvSpPr>
          <p:cNvPr id="311" name="Shape 309"/>
          <p:cNvSpPr/>
          <p:nvPr/>
        </p:nvSpPr>
        <p:spPr>
          <a:xfrm>
            <a:off x="10104120" y="6584594"/>
            <a:ext cx="4709160" cy="4104044"/>
          </a:xfrm>
          <a:prstGeom prst="rect">
            <a:avLst/>
          </a:prstGeom>
          <a:solidFill>
            <a:srgbClr val="F4F6F8"/>
          </a:solidFill>
          <a:ln w="9525">
            <a:solidFill>
              <a:srgbClr val="D5DAE0"/>
            </a:solidFill>
            <a:prstDash val="solid"/>
          </a:ln>
        </p:spPr>
        <p:txBody>
          <a:bodyPr/>
          <a:lstStyle/>
          <a:p>
            <a:endParaRPr lang="en-US"/>
          </a:p>
        </p:txBody>
      </p:sp>
      <p:sp>
        <p:nvSpPr>
          <p:cNvPr id="312" name="Text 310"/>
          <p:cNvSpPr/>
          <p:nvPr/>
        </p:nvSpPr>
        <p:spPr>
          <a:xfrm>
            <a:off x="10241280" y="6657746"/>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13" name="Shape 311"/>
          <p:cNvSpPr/>
          <p:nvPr/>
        </p:nvSpPr>
        <p:spPr>
          <a:xfrm>
            <a:off x="10241280" y="7157720"/>
            <a:ext cx="192024" cy="192024"/>
          </a:xfrm>
          <a:prstGeom prst="ellipse">
            <a:avLst/>
          </a:prstGeom>
          <a:noFill/>
          <a:ln w="28575">
            <a:solidFill>
              <a:srgbClr val="CC0000"/>
            </a:solidFill>
            <a:prstDash val="solid"/>
          </a:ln>
        </p:spPr>
        <p:txBody>
          <a:bodyPr/>
          <a:lstStyle/>
          <a:p>
            <a:endParaRPr lang="en-US"/>
          </a:p>
        </p:txBody>
      </p:sp>
      <p:sp>
        <p:nvSpPr>
          <p:cNvPr id="314" name="Shape 312"/>
          <p:cNvSpPr/>
          <p:nvPr/>
        </p:nvSpPr>
        <p:spPr>
          <a:xfrm>
            <a:off x="10287000" y="7203440"/>
            <a:ext cx="100584" cy="100584"/>
          </a:xfrm>
          <a:prstGeom prst="ellipse">
            <a:avLst/>
          </a:prstGeom>
          <a:solidFill>
            <a:srgbClr val="E8710A"/>
          </a:solidFill>
          <a:ln w="6350">
            <a:solidFill>
              <a:srgbClr val="E8710A"/>
            </a:solidFill>
            <a:prstDash val="solid"/>
          </a:ln>
        </p:spPr>
        <p:txBody>
          <a:bodyPr/>
          <a:lstStyle/>
          <a:p>
            <a:endParaRPr lang="en-US"/>
          </a:p>
        </p:txBody>
      </p:sp>
      <p:sp>
        <p:nvSpPr>
          <p:cNvPr id="315" name="Text 313"/>
          <p:cNvSpPr/>
          <p:nvPr/>
        </p:nvSpPr>
        <p:spPr>
          <a:xfrm>
            <a:off x="10552176" y="714502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CORE OUT 12" — NEW 12" SIDE-ENTRY BASE (SAWCUT)</a:t>
            </a:r>
            <a:endParaRPr lang="en-US" sz="740" dirty="0"/>
          </a:p>
        </p:txBody>
      </p:sp>
      <p:sp>
        <p:nvSpPr>
          <p:cNvPr id="319" name="Shape 317"/>
          <p:cNvSpPr/>
          <p:nvPr/>
        </p:nvSpPr>
        <p:spPr>
          <a:xfrm>
            <a:off x="10241280" y="7980680"/>
            <a:ext cx="192024" cy="192024"/>
          </a:xfrm>
          <a:prstGeom prst="ellipse">
            <a:avLst/>
          </a:prstGeom>
          <a:noFill/>
          <a:ln w="28575">
            <a:solidFill>
              <a:srgbClr val="BB00BB"/>
            </a:solidFill>
            <a:prstDash val="solid"/>
          </a:ln>
        </p:spPr>
        <p:txBody>
          <a:bodyPr/>
          <a:lstStyle/>
          <a:p>
            <a:endParaRPr lang="en-US"/>
          </a:p>
        </p:txBody>
      </p:sp>
      <p:sp>
        <p:nvSpPr>
          <p:cNvPr id="320" name="Shape 318"/>
          <p:cNvSpPr/>
          <p:nvPr/>
        </p:nvSpPr>
        <p:spPr>
          <a:xfrm>
            <a:off x="10287000" y="8026400"/>
            <a:ext cx="100584" cy="100584"/>
          </a:xfrm>
          <a:prstGeom prst="ellipse">
            <a:avLst/>
          </a:prstGeom>
          <a:solidFill>
            <a:srgbClr val="FFFFFF"/>
          </a:solidFill>
          <a:ln w="6350">
            <a:solidFill>
              <a:srgbClr val="FFFFFF"/>
            </a:solidFill>
            <a:prstDash val="solid"/>
          </a:ln>
        </p:spPr>
        <p:txBody>
          <a:bodyPr/>
          <a:lstStyle/>
          <a:p>
            <a:endParaRPr lang="en-US"/>
          </a:p>
        </p:txBody>
      </p:sp>
      <p:sp>
        <p:nvSpPr>
          <p:cNvPr id="321" name="Text 319"/>
          <p:cNvSpPr/>
          <p:nvPr/>
        </p:nvSpPr>
        <p:spPr>
          <a:xfrm>
            <a:off x="10552176" y="796798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RRM — REMOVE / PROTECT / RE-FIX</a:t>
            </a:r>
            <a:endParaRPr lang="en-US" sz="740" dirty="0"/>
          </a:p>
        </p:txBody>
      </p:sp>
      <p:sp>
        <p:nvSpPr>
          <p:cNvPr id="324" name="Shape 322"/>
          <p:cNvSpPr/>
          <p:nvPr/>
        </p:nvSpPr>
        <p:spPr>
          <a:xfrm>
            <a:off x="10241280" y="8625840"/>
            <a:ext cx="274320" cy="914"/>
          </a:xfrm>
          <a:prstGeom prst="line">
            <a:avLst/>
          </a:prstGeom>
          <a:noFill/>
          <a:ln w="22225">
            <a:solidFill>
              <a:srgbClr val="0B3D91"/>
            </a:solidFill>
            <a:prstDash val="solid"/>
          </a:ln>
        </p:spPr>
        <p:txBody>
          <a:bodyPr/>
          <a:lstStyle/>
          <a:p>
            <a:endParaRPr lang="en-US"/>
          </a:p>
        </p:txBody>
      </p:sp>
      <p:sp>
        <p:nvSpPr>
          <p:cNvPr id="325" name="Text 323"/>
          <p:cNvSpPr/>
          <p:nvPr/>
        </p:nvSpPr>
        <p:spPr>
          <a:xfrm>
            <a:off x="10588752" y="851662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SECONDARY CABLE — SAW CUT ROUTE (REV P08)</a:t>
            </a:r>
            <a:endParaRPr lang="en-US" sz="740" dirty="0"/>
          </a:p>
        </p:txBody>
      </p:sp>
      <p:sp>
        <p:nvSpPr>
          <p:cNvPr id="328" name="Shape 326"/>
          <p:cNvSpPr/>
          <p:nvPr/>
        </p:nvSpPr>
        <p:spPr>
          <a:xfrm>
            <a:off x="10241280" y="9174480"/>
            <a:ext cx="274320" cy="914"/>
          </a:xfrm>
          <a:prstGeom prst="line">
            <a:avLst/>
          </a:prstGeom>
          <a:noFill/>
          <a:ln w="31750">
            <a:solidFill>
              <a:srgbClr val="CC0000"/>
            </a:solidFill>
            <a:prstDash val="solid"/>
          </a:ln>
        </p:spPr>
        <p:txBody>
          <a:bodyPr/>
          <a:lstStyle/>
          <a:p>
            <a:endParaRPr lang="en-US"/>
          </a:p>
        </p:txBody>
      </p:sp>
      <p:sp>
        <p:nvSpPr>
          <p:cNvPr id="329" name="Text 327"/>
          <p:cNvSpPr/>
          <p:nvPr/>
        </p:nvSpPr>
        <p:spPr>
          <a:xfrm>
            <a:off x="10588752" y="906526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414" name="TextBox 413"/>
          <p:cNvSpPr txBox="1"/>
          <p:nvPr/>
        </p:nvSpPr>
        <p:spPr>
          <a:xfrm>
            <a:off x="10241280" y="6914594"/>
            <a:ext cx="2187420" cy="200000"/>
          </a:xfrm>
          <a:prstGeom prst="rect">
            <a:avLst/>
          </a:prstGeom>
          <a:noFill/>
        </p:spPr>
        <p:txBody>
          <a:bodyPr wrap="square" lIns="0" tIns="0" rIns="0" bIns="0">
            <a:spAutoFit/>
          </a:bodyPr>
          <a:lstStyle/>
          <a:p>
            <a:r>
              <a:rPr sz="750" b="1">
                <a:solidFill>
                  <a:srgbClr val="5F6368"/>
                </a:solidFill>
              </a:rPr>
              <a:t>WORKS ACTIONS &amp; LINEWORK</a:t>
            </a:r>
          </a:p>
        </p:txBody>
      </p:sp>
      <p:sp>
        <p:nvSpPr>
          <p:cNvPr id="415" name="TextBox 414"/>
          <p:cNvSpPr txBox="1"/>
          <p:nvPr/>
        </p:nvSpPr>
        <p:spPr>
          <a:xfrm>
            <a:off x="12488700" y="6914594"/>
            <a:ext cx="2187420" cy="200000"/>
          </a:xfrm>
          <a:prstGeom prst="rect">
            <a:avLst/>
          </a:prstGeom>
          <a:noFill/>
        </p:spPr>
        <p:txBody>
          <a:bodyPr wrap="square" lIns="0" tIns="0" rIns="0" bIns="0">
            <a:spAutoFit/>
          </a:bodyPr>
          <a:lstStyle/>
          <a:p>
            <a:r>
              <a:rPr sz="750" b="1">
                <a:solidFill>
                  <a:srgbClr val="5F6368"/>
                </a:solidFill>
              </a:rPr>
              <a:t>AS-BUILT AGL ASSETS</a:t>
            </a:r>
          </a:p>
        </p:txBody>
      </p:sp>
      <p:sp>
        <p:nvSpPr>
          <p:cNvPr id="420" name="ASBUILT ASSET · Runway guard light / RRM"/>
          <p:cNvSpPr/>
          <p:nvPr/>
        </p:nvSpPr>
        <p:spPr>
          <a:xfrm>
            <a:off x="12548408" y="720917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TextBox 420"/>
          <p:cNvSpPr txBox="1"/>
          <p:nvPr/>
        </p:nvSpPr>
        <p:spPr>
          <a:xfrm>
            <a:off x="12738700" y="7144464"/>
            <a:ext cx="1937420" cy="230000"/>
          </a:xfrm>
          <a:prstGeom prst="rect">
            <a:avLst/>
          </a:prstGeom>
          <a:noFill/>
        </p:spPr>
        <p:txBody>
          <a:bodyPr wrap="square" lIns="0" tIns="0" rIns="0" bIns="0">
            <a:spAutoFit/>
          </a:bodyPr>
          <a:lstStyle/>
          <a:p>
            <a:r>
              <a:rPr sz="700">
                <a:solidFill>
                  <a:srgbClr val="20242A"/>
                </a:solidFill>
              </a:rPr>
              <a:t>RUNWAY GUARD LIGHT / RRM  (9)</a:t>
            </a:r>
          </a:p>
        </p:txBody>
      </p:sp>
      <p:sp>
        <p:nvSpPr>
          <p:cNvPr id="426" name="ASBUILT ASSET · Handhole"/>
          <p:cNvSpPr/>
          <p:nvPr/>
        </p:nvSpPr>
        <p:spPr>
          <a:xfrm>
            <a:off x="12534692" y="746977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TextBox 426"/>
          <p:cNvSpPr txBox="1"/>
          <p:nvPr/>
        </p:nvSpPr>
        <p:spPr>
          <a:xfrm>
            <a:off x="12738700" y="7418784"/>
            <a:ext cx="1937420" cy="230000"/>
          </a:xfrm>
          <a:prstGeom prst="rect">
            <a:avLst/>
          </a:prstGeom>
          <a:noFill/>
        </p:spPr>
        <p:txBody>
          <a:bodyPr wrap="square" lIns="0" tIns="0" rIns="0" bIns="0">
            <a:spAutoFit/>
          </a:bodyPr>
          <a:lstStyle/>
          <a:p>
            <a:r>
              <a:rPr sz="700">
                <a:solidFill>
                  <a:srgbClr val="20242A"/>
                </a:solidFill>
              </a:rPr>
              <a:t>HANDHOLE (HH)  (7)</a:t>
            </a:r>
          </a:p>
        </p:txBody>
      </p:sp>
      <p:sp>
        <p:nvSpPr>
          <p:cNvPr id="428" name="ASBUILT ASSET · Existing transformer handhole"/>
          <p:cNvSpPr/>
          <p:nvPr/>
        </p:nvSpPr>
        <p:spPr>
          <a:xfrm>
            <a:off x="12525548" y="7734952"/>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TextBox 428"/>
          <p:cNvSpPr txBox="1"/>
          <p:nvPr/>
        </p:nvSpPr>
        <p:spPr>
          <a:xfrm>
            <a:off x="12738700" y="7693104"/>
            <a:ext cx="1937420" cy="230000"/>
          </a:xfrm>
          <a:prstGeom prst="rect">
            <a:avLst/>
          </a:prstGeom>
          <a:noFill/>
        </p:spPr>
        <p:txBody>
          <a:bodyPr wrap="square" lIns="0" tIns="0" rIns="0" bIns="0">
            <a:spAutoFit/>
          </a:bodyPr>
          <a:lstStyle/>
          <a:p>
            <a:r>
              <a:rPr sz="700">
                <a:solidFill>
                  <a:srgbClr val="20242A"/>
                </a:solidFill>
              </a:rPr>
              <a:t>TRANSFORMER HH (SEC. FEED HUB)  (2)</a:t>
            </a:r>
          </a:p>
        </p:txBody>
      </p:sp>
      <p:sp>
        <p:nvSpPr>
          <p:cNvPr id="154" name="Shape 303">
            <a:extLst>
              <a:ext uri="{FF2B5EF4-FFF2-40B4-BE49-F238E27FC236}">
                <a16:creationId xmlns:a16="http://schemas.microsoft.com/office/drawing/2014/main" id="{12C259F2-BF1F-8D7F-413C-CB7F1D6345F3}"/>
              </a:ext>
            </a:extLst>
          </p:cNvPr>
          <p:cNvSpPr/>
          <p:nvPr/>
        </p:nvSpPr>
        <p:spPr>
          <a:xfrm>
            <a:off x="4523314" y="6248331"/>
            <a:ext cx="109728" cy="109728"/>
          </a:xfrm>
          <a:prstGeom prst="ellipse">
            <a:avLst/>
          </a:prstGeom>
          <a:solidFill>
            <a:schemeClr val="accent6">
              <a:lumMod val="40000"/>
              <a:lumOff val="60000"/>
            </a:schemeClr>
          </a:solidFill>
          <a:ln w="6350">
            <a:solidFill>
              <a:srgbClr val="9AA0A6"/>
            </a:solidFill>
            <a:prstDash val="solid"/>
          </a:ln>
          <a:effectLst>
            <a:outerShdw blurRad="50800" dist="50800" dir="5400000" sx="1000" sy="1000" algn="ctr" rotWithShape="0">
              <a:schemeClr val="accent5">
                <a:lumMod val="50000"/>
              </a:schemeClr>
            </a:outerShdw>
          </a:effectLst>
        </p:spPr>
        <p:txBody>
          <a:bodyPr/>
          <a:lstStyle/>
          <a:p>
            <a:endParaRPr lang="en-US"/>
          </a:p>
        </p:txBody>
      </p:sp>
      <p:sp>
        <p:nvSpPr>
          <p:cNvPr id="192" name="ASBUILT ASSET · Taxiway centreline light">
            <a:extLst>
              <a:ext uri="{FF2B5EF4-FFF2-40B4-BE49-F238E27FC236}">
                <a16:creationId xmlns:a16="http://schemas.microsoft.com/office/drawing/2014/main" id="{9A7BD354-D4DA-5045-BA37-3FCB8B885CD0}"/>
              </a:ext>
            </a:extLst>
          </p:cNvPr>
          <p:cNvSpPr/>
          <p:nvPr/>
        </p:nvSpPr>
        <p:spPr>
          <a:xfrm>
            <a:off x="4590327" y="4479150"/>
            <a:ext cx="91440" cy="91440"/>
          </a:xfrm>
          <a:prstGeom prst="ellipse">
            <a:avLst/>
          </a:prstGeom>
          <a:solidFill>
            <a:srgbClr val="5B9BD5">
              <a:lumMod val="50000"/>
              <a:alpha val="20000"/>
              <a:alpha val="100000"/>
            </a:srgbClr>
          </a:solidFill>
          <a:ln w="6350">
            <a:solidFill>
              <a:srgbClr val="9AA0A6">
                <a:alpha val="20000"/>
                <a:alpha val="100000"/>
              </a:srgbClr>
            </a:solidFill>
            <a:prstDash val="solid"/>
          </a:ln>
          <a:effectLst>
            <a:outerShdw blurRad="50800" dist="50800" dir="5400000" sx="1000" sy="1000" algn="ctr" rotWithShape="0">
              <a:schemeClr val="accent5">
                <a:lumMod val="50000"/>
              </a:schemeClr>
            </a:outerShdw>
          </a:effectLst>
        </p:spPr>
        <p:txBody>
          <a:bodyPr/>
          <a:lstStyle/>
          <a:p>
            <a:endParaRPr/>
          </a:p>
        </p:txBody>
      </p:sp>
      <p:sp>
        <p:nvSpPr>
          <p:cNvPr id="194" name="AGL WORKS AREA FILL 2">
            <a:extLst>
              <a:ext uri="{FF2B5EF4-FFF2-40B4-BE49-F238E27FC236}">
                <a16:creationId xmlns:a16="http://schemas.microsoft.com/office/drawing/2014/main" id="{62C8BF11-4ADC-D984-5528-4E742D25F292}"/>
              </a:ext>
            </a:extLst>
          </p:cNvPr>
          <p:cNvSpPr/>
          <p:nvPr/>
        </p:nvSpPr>
        <p:spPr>
          <a:xfrm rot="198314">
            <a:off x="4323669" y="4758007"/>
            <a:ext cx="2234379" cy="1624466"/>
          </a:xfrm>
          <a:custGeom>
            <a:avLst/>
            <a:gdLst/>
            <a:ahLst/>
            <a:cxnLst/>
            <a:rect l="0" t="0" r="r" b="b"/>
            <a:pathLst>
              <a:path w="3352800" h="3124200">
                <a:moveTo>
                  <a:pt x="0" y="584200"/>
                </a:moveTo>
                <a:lnTo>
                  <a:pt x="520700" y="0"/>
                </a:lnTo>
                <a:lnTo>
                  <a:pt x="3340100" y="2540000"/>
                </a:lnTo>
                <a:lnTo>
                  <a:pt x="2832100" y="3124200"/>
                </a:lnTo>
                <a:close/>
              </a:path>
            </a:pathLst>
          </a:custGeom>
          <a:solidFill>
            <a:srgbClr val="CC0000">
              <a:alpha val="34000"/>
            </a:srgbClr>
          </a:solidFill>
          <a:ln>
            <a:noFill/>
          </a:ln>
        </p:spPr>
        <p:txBody>
          <a:bodyPr/>
          <a:lstStyle/>
          <a:p>
            <a:endParaRPr dirty="0"/>
          </a:p>
        </p:txBody>
      </p:sp>
      <p:sp>
        <p:nvSpPr>
          <p:cNvPr id="196" name="ASBUILT ASSET · Taxiway centreline light">
            <a:extLst>
              <a:ext uri="{FF2B5EF4-FFF2-40B4-BE49-F238E27FC236}">
                <a16:creationId xmlns:a16="http://schemas.microsoft.com/office/drawing/2014/main" id="{E54385DB-718F-D336-802B-27B4A91AA4B5}"/>
              </a:ext>
            </a:extLst>
          </p:cNvPr>
          <p:cNvSpPr/>
          <p:nvPr/>
        </p:nvSpPr>
        <p:spPr>
          <a:xfrm>
            <a:off x="7491037" y="8150434"/>
            <a:ext cx="91440" cy="91440"/>
          </a:xfrm>
          <a:prstGeom prst="ellipse">
            <a:avLst/>
          </a:prstGeom>
          <a:solidFill>
            <a:srgbClr val="1E8E3E">
              <a:alpha val="20000"/>
            </a:srgbClr>
          </a:solidFill>
          <a:ln w="9525" cap="flat" cmpd="sng" algn="ctr">
            <a:solidFill>
              <a:srgbClr val="0B5323">
                <a:alpha val="20000"/>
              </a:srgbClr>
            </a:solidFill>
            <a:prstDash val="solid"/>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1" name="P08 LEG GREEN DOT"/>
          <p:cNvSpPr/>
          <p:nvPr/>
        </p:nvSpPr>
        <p:spPr>
          <a:xfrm>
            <a:off x="10287000" y="7752080"/>
            <a:ext cx="100584" cy="100584"/>
          </a:xfrm>
          <a:prstGeom prst="ellipse">
            <a:avLst/>
          </a:prstGeom>
          <a:solidFill>
            <a:srgbClr val="70AD47"/>
          </a:solidFill>
          <a:ln w="6350">
            <a:solidFill>
              <a:srgbClr val="9AA0A6"/>
            </a:solidFill>
            <a:prstDash val="solid"/>
          </a:ln>
        </p:spPr>
        <p:txBody>
          <a:bodyPr/>
          <a:lstStyle/>
          <a:p>
            <a:endParaRPr lang="en-US"/>
          </a:p>
        </p:txBody>
      </p:sp>
      <p:sp>
        <p:nvSpPr>
          <p:cNvPr id="9002" name="P08 LEG GREEN TXT"/>
          <p:cNvSpPr/>
          <p:nvPr/>
        </p:nvSpPr>
        <p:spPr>
          <a:xfrm>
            <a:off x="10552430" y="769366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ONLY SECONDARY CABLE AFFECTED (SAWCUT)</a:t>
            </a:r>
            <a:endParaRPr lang="en-US" sz="740" dirty="0"/>
          </a:p>
        </p:txBody>
      </p:sp>
      <p:sp>
        <p:nvSpPr>
          <p:cNvPr id="9003" name="P08 LEG DUMMY DOT"/>
          <p:cNvSpPr/>
          <p:nvPr/>
        </p:nvSpPr>
        <p:spPr>
          <a:xfrm>
            <a:off x="10318750" y="8321040"/>
            <a:ext cx="91440" cy="91440"/>
          </a:xfrm>
          <a:prstGeom prst="ellipse">
            <a:avLst/>
          </a:prstGeom>
          <a:solidFill>
            <a:srgbClr val="1F4E79"/>
          </a:solidFill>
          <a:ln w="6350">
            <a:solidFill>
              <a:srgbClr val="9AA0A6"/>
            </a:solidFill>
            <a:prstDash val="solid"/>
          </a:ln>
        </p:spPr>
        <p:txBody>
          <a:bodyPr/>
          <a:lstStyle/>
          <a:p>
            <a:endParaRPr lang="en-US"/>
          </a:p>
        </p:txBody>
      </p:sp>
      <p:sp>
        <p:nvSpPr>
          <p:cNvPr id="9004" name="P08 LEG DUMMY TXT"/>
          <p:cNvSpPr/>
          <p:nvPr/>
        </p:nvSpPr>
        <p:spPr>
          <a:xfrm>
            <a:off x="10552430" y="824230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DUMMY PLATE</a:t>
            </a:r>
            <a:endParaRPr lang="en-US" sz="740" dirty="0"/>
          </a:p>
        </p:txBody>
      </p:sp>
      <p:sp>
        <p:nvSpPr>
          <p:cNvPr id="9107" name="P08 LEG 8IN RING"/>
          <p:cNvSpPr/>
          <p:nvPr/>
        </p:nvSpPr>
        <p:spPr>
          <a:xfrm>
            <a:off x="10241280" y="7432040"/>
            <a:ext cx="192024" cy="192024"/>
          </a:xfrm>
          <a:prstGeom prst="ellipse">
            <a:avLst/>
          </a:prstGeom>
          <a:noFill/>
          <a:ln w="28575">
            <a:solidFill>
              <a:srgbClr val="0070C0"/>
            </a:solidFill>
            <a:prstDash val="solid"/>
          </a:ln>
        </p:spPr>
        <p:txBody>
          <a:bodyPr/>
          <a:lstStyle/>
          <a:p>
            <a:endParaRPr lang="en-US"/>
          </a:p>
        </p:txBody>
      </p:sp>
      <p:sp>
        <p:nvSpPr>
          <p:cNvPr id="9108" name="P08 LEG 8IN DOT"/>
          <p:cNvSpPr/>
          <p:nvPr/>
        </p:nvSpPr>
        <p:spPr>
          <a:xfrm>
            <a:off x="10287000" y="7477760"/>
            <a:ext cx="100584" cy="100584"/>
          </a:xfrm>
          <a:prstGeom prst="ellipse">
            <a:avLst/>
          </a:prstGeom>
          <a:solidFill>
            <a:srgbClr val="E8710A"/>
          </a:solidFill>
          <a:ln w="6350">
            <a:solidFill>
              <a:srgbClr val="E8710A"/>
            </a:solidFill>
            <a:prstDash val="solid"/>
          </a:ln>
        </p:spPr>
        <p:txBody>
          <a:bodyPr/>
          <a:lstStyle/>
          <a:p>
            <a:endParaRPr lang="en-US"/>
          </a:p>
        </p:txBody>
      </p:sp>
      <p:sp>
        <p:nvSpPr>
          <p:cNvPr id="9109" name="P08 LEG 8IN TXT"/>
          <p:cNvSpPr/>
          <p:nvPr/>
        </p:nvSpPr>
        <p:spPr>
          <a:xfrm>
            <a:off x="10552430" y="7419340"/>
            <a:ext cx="1876524" cy="237744"/>
          </a:xfrm>
          <a:prstGeom prst="rect">
            <a:avLst/>
          </a:prstGeom>
          <a:noFill/>
          <a:ln/>
        </p:spPr>
        <p:txBody>
          <a:bodyPr wrap="square" lIns="0" tIns="0" rIns="0" bIns="0" rtlCol="0" anchor="ctr"/>
          <a:lstStyle/>
          <a:p>
            <a:pPr marL="0" indent="0">
              <a:buNone/>
            </a:pPr>
            <a:r>
              <a:rPr sz="700">
                <a:solidFill>
                  <a:srgbClr val="1F2937"/>
                </a:solidFill>
                <a:latin typeface="Arial"/>
              </a:rPr>
              <a:t>CORE OUT 8" — NEW 8" SIDE-ENTRY BASE (SAWCUT)</a:t>
            </a:r>
            <a:endParaRPr lang="en-US" sz="740" dirty="0"/>
          </a:p>
        </p:txBody>
      </p:sp>
      <p:sp>
        <p:nvSpPr>
          <p:cNvPr id="9201" name="P08 LEG NEWSC LINE"/>
          <p:cNvSpPr/>
          <p:nvPr/>
        </p:nvSpPr>
        <p:spPr>
          <a:xfrm>
            <a:off x="10241280" y="8900160"/>
            <a:ext cx="274320" cy="914"/>
          </a:xfrm>
          <a:prstGeom prst="line">
            <a:avLst/>
          </a:prstGeom>
          <a:noFill/>
          <a:ln w="31750">
            <a:solidFill>
              <a:srgbClr val="7030A0"/>
            </a:solidFill>
            <a:prstDash val="solid"/>
          </a:ln>
        </p:spPr>
        <p:txBody>
          <a:bodyPr/>
          <a:lstStyle/>
          <a:p>
            <a:endParaRPr lang="en-US"/>
          </a:p>
        </p:txBody>
      </p:sp>
      <p:sp>
        <p:nvSpPr>
          <p:cNvPr id="9202" name="P08 LEG NEWSC TXT"/>
          <p:cNvSpPr/>
          <p:nvPr/>
        </p:nvSpPr>
        <p:spPr>
          <a:xfrm>
            <a:off x="10589260" y="8790940"/>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SAW CUT — SECONDARY CABLE (REV P08)</a:t>
            </a:r>
            <a:endParaRPr lang="en-US" sz="740" dirty="0"/>
          </a:p>
        </p:txBody>
      </p:sp>
    </p:spTree>
    <p:extLst>
      <p:ext uri="{BB962C8B-B14F-4D97-AF65-F5344CB8AC3E}">
        <p14:creationId xmlns:p14="http://schemas.microsoft.com/office/powerpoint/2010/main" val="1526166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4173200" cy="502920"/>
          </a:xfrm>
          <a:prstGeom prst="rect">
            <a:avLst/>
          </a:prstGeom>
          <a:noFill/>
          <a:ln/>
        </p:spPr>
        <p:txBody>
          <a:bodyPr wrap="square" lIns="0" tIns="0" rIns="0" bIns="0" rtlCol="0" anchor="ctr"/>
          <a:lstStyle/>
          <a:p>
            <a:pPr marL="0" indent="0">
              <a:buNone/>
            </a:pPr>
            <a:r>
              <a:rPr lang="en-US" sz="2000" b="1" dirty="0">
                <a:solidFill>
                  <a:srgbClr val="1E2761"/>
                </a:solidFill>
                <a:latin typeface="Arial" pitchFamily="34" charset="0"/>
                <a:ea typeface="Arial" pitchFamily="34" charset="-122"/>
                <a:cs typeface="Arial" pitchFamily="34" charset="-120"/>
              </a:rPr>
              <a:t>CONSOLIDATED FIELD-GOVERNED SCOPE — TWY E (E4–E6) · REV P08 (FINAL SCOPE)</a:t>
            </a:r>
            <a:endParaRPr lang="en-US" sz="2000" dirty="0"/>
          </a:p>
        </p:txBody>
      </p:sp>
      <p:graphicFrame>
        <p:nvGraphicFramePr>
          <p:cNvPr id="6" name="Table 0"/>
          <p:cNvGraphicFramePr>
            <a:graphicFrameLocks noGrp="1"/>
          </p:cNvGraphicFramePr>
          <p:nvPr/>
        </p:nvGraphicFramePr>
        <p:xfrm>
          <a:off x="457200" y="960120"/>
          <a:ext cx="14173200" cy="9646920"/>
        </p:xfrm>
        <a:graphic>
          <a:graphicData uri="http://schemas.openxmlformats.org/drawingml/2006/table">
            <a:tbl>
              <a:tblPr/>
              <a:tblGrid>
                <a:gridCol w="1005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6858000">
                  <a:extLst>
                    <a:ext uri="{9D8B030D-6E8A-4147-A177-3AD203B41FA5}">
                      <a16:colId xmlns:a16="http://schemas.microsoft.com/office/drawing/2014/main" val="20004"/>
                    </a:ext>
                  </a:extLst>
                </a:gridCol>
              </a:tblGrid>
              <a:tr h="219456">
                <a:tc>
                  <a:txBody>
                    <a:bodyPr/>
                    <a:lstStyle/>
                    <a:p>
                      <a:pPr marL="0" indent="0">
                        <a:buNone/>
                      </a:pPr>
                      <a:r>
                        <a:rPr lang="en-US" sz="900" b="1" dirty="0">
                          <a:solidFill>
                            <a:srgbClr val="FFFFFF"/>
                          </a:solidFill>
                          <a:latin typeface="Arial" pitchFamily="34" charset="0"/>
                          <a:ea typeface="Arial" pitchFamily="34" charset="-122"/>
                          <a:cs typeface="Arial" pitchFamily="34" charset="-120"/>
                        </a:rPr>
                        <a:t>Loc</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Asset</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Works Action</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Route</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Remarks</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8" + NEW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8" core out; new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6"/>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PRIOR — NEW 8"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prior (2 No.); new 8" base; cable replaced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7"/>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PRIOR — NEW 8"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prior (2 No.); new 8" base; cable replaced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8"/>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PRIOR — NEW 8"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prior (2 No.); new 8" base; cable replaced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9"/>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PRIOR — NEW 8"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prior (2 No.); new 8" base; cable replaced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0"/>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REMOVED PRIOR — NEW 8"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12" base cored (3 No.) or removed prior (2 No.); new 8" base; cable replaced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1"/>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2"/>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3"/>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TCCECH-03/018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4"/>
                  </a:ext>
                </a:extLst>
              </a:tr>
              <a:tr h="219456">
                <a:tc>
                  <a:txBody>
                    <a:bodyPr/>
                    <a:lstStyle/>
                    <a:p>
                      <a:pPr marL="0" indent="0">
                        <a:buNone/>
                      </a:pPr>
                      <a:r>
                        <a:rPr sz="800">
                          <a:solidFill>
                            <a:srgbClr val="1F2937"/>
                          </a:solidFill>
                          <a:latin typeface="Arial"/>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Field verified — no works</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5"/>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EXISTING BASE + NEW 12" SIDE-ENTRY SHALLOW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shallow base cored out; new 12" side-entry shallow base; full manhole-to-light cable replacement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6"/>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7"/>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8"/>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9"/>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0"/>
                  </a:ext>
                </a:extLst>
              </a:tr>
              <a:tr h="219456">
                <a:tc>
                  <a:txBody>
                    <a:bodyPr/>
                    <a:lstStyle/>
                    <a:p>
                      <a:pPr marL="0" indent="0">
                        <a:buNone/>
                      </a:pPr>
                      <a:r>
                        <a:rPr sz="800">
                          <a:solidFill>
                            <a:srgbClr val="1F2937"/>
                          </a:solidFill>
                          <a:latin typeface="Arial"/>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RRM.555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1"/>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EXISTING 12" BASE MAINTAINED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12" base accepts new side-entry cable — no coring;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2"/>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EXISTING 12" BASE MAINTAINED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12" base accepts new side-entry cable — no coring;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3"/>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TCCECH-03/003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CORE OUT 12" + NEW 12" SIDE-ENTRY BASE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 side-entry provision in existing base; 12" core; new 12" base;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4"/>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TCCECH-04/003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SECONDARY CABLE ONLY — EXISTING 12" BASE MAINTAINED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Existing 12" base accepts new side-entry cable — no coring; cable via saw 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5"/>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6"/>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SBC102-01/039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7"/>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8"/>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9"/>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SBC102-01/040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0"/>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SBC102-01/041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1"/>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2"/>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SBC102-02/038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NOT IN REV P08 SCOPE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In the Rev P06/P07 scope; not named in the final scope of work 30.07.2026. No works. Not a field verification of 'not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3"/>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RRM.557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4"/>
                  </a:ext>
                </a:extLst>
              </a:tr>
              <a:tr h="219456">
                <a:tc>
                  <a:txBody>
                    <a:bodyPr/>
                    <a:lstStyle/>
                    <a:p>
                      <a:pPr marL="0" indent="0">
                        <a:buNone/>
                      </a:pPr>
                      <a:r>
                        <a:rPr sz="800">
                          <a:solidFill>
                            <a:srgbClr val="1F2937"/>
                          </a:solidFill>
                          <a:latin typeface="Arial"/>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b="1">
                          <a:solidFill>
                            <a:srgbClr val="1F2937"/>
                          </a:solidFill>
                          <a:latin typeface="Arial"/>
                        </a:rPr>
                        <a:t>RRM.670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sz="800">
                          <a:solidFill>
                            <a:srgbClr val="1F2937"/>
                          </a:solidFill>
                          <a:latin typeface="Arial"/>
                        </a:rPr>
                        <a:t>Remove / protect before saw 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5"/>
                  </a:ext>
                </a:extLst>
              </a:tr>
            </a:tbl>
          </a:graphicData>
        </a:graphic>
      </p:graphicFrame>
      <p:sp>
        <p:nvSpPr>
          <p:cNvPr id="4" name="Text 1"/>
          <p:cNvSpPr/>
          <p:nvPr/>
        </p:nvSpPr>
        <p:spPr>
          <a:xfrm>
            <a:off x="457200" y="10299700"/>
            <a:ext cx="14173200" cy="365760"/>
          </a:xfrm>
          <a:prstGeom prst="rect">
            <a:avLst/>
          </a:prstGeom>
          <a:noFill/>
          <a:ln/>
        </p:spPr>
        <p:txBody>
          <a:bodyPr wrap="square" lIns="0" tIns="0" rIns="0" bIns="0" rtlCol="0" anchor="ctr"/>
          <a:lstStyle/>
          <a:p>
            <a:pPr marL="0" indent="0">
              <a:buNone/>
            </a:pPr>
            <a:r>
              <a:rPr sz="900">
                <a:solidFill>
                  <a:srgbClr val="5F6368"/>
                </a:solidFill>
                <a:latin typeface="Arial"/>
              </a:rPr>
              <a:t>Totals (Rev P08 final scope): 16 fittings — LOC-01 11 (9 cored: 3 No. 12" + 6 No. 8"; 2 No. 12" removed prior; 11 No. new 8" bases); LOC-02 1 (12" core, new 12" base); LOC-03 4 (12" core at 03/003 only; balance 3 secondary cable only) — all new cable via SAW CUT.  ·  15 removed from scope  ·  3 RRMs remove / protect / re-fix  ·  1 field verified not affected  ·  Route column reads Sawcut throughout by instruction.</a:t>
            </a:r>
            <a:endParaRPr lang="en-US" sz="1000" dirty="0"/>
          </a:p>
        </p:txBody>
      </p:sp>
    </p:spTree>
    <p:extLst>
      <p:ext uri="{BB962C8B-B14F-4D97-AF65-F5344CB8AC3E}">
        <p14:creationId xmlns:p14="http://schemas.microsoft.com/office/powerpoint/2010/main" val="316625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4173200" cy="502920"/>
          </a:xfrm>
          <a:prstGeom prst="rect">
            <a:avLst/>
          </a:prstGeom>
          <a:noFill/>
        </p:spPr>
        <p:txBody>
          <a:bodyPr wrap="square" lIns="0" rIns="0" anchor="ctr">
            <a:spAutoFit/>
          </a:bodyPr>
          <a:lstStyle/>
          <a:p>
            <a:r>
              <a:rPr sz="2000" b="1">
                <a:solidFill>
                  <a:srgbClr val="1E2761"/>
                </a:solidFill>
                <a:latin typeface="Arial"/>
              </a:rPr>
              <a:t>SAW CUT &amp; SIDE-ENTRY SHALLOW BASE DETAIL — TWY E (E4–E6)  ·  REV P08  ·  HOLD</a:t>
            </a:r>
          </a:p>
        </p:txBody>
      </p:sp>
      <p:sp>
        <p:nvSpPr>
          <p:cNvPr id="3" name="P08 PANEL · DETAIL — HELD FOR ISSUE"/>
          <p:cNvSpPr/>
          <p:nvPr/>
        </p:nvSpPr>
        <p:spPr>
          <a:xfrm>
            <a:off x="457200" y="914400"/>
            <a:ext cx="6958584" cy="4544567"/>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3504" y="1024128"/>
            <a:ext cx="6665976" cy="237744"/>
          </a:xfrm>
          <a:prstGeom prst="rect">
            <a:avLst/>
          </a:prstGeom>
          <a:noFill/>
        </p:spPr>
        <p:txBody>
          <a:bodyPr wrap="square" lIns="0" tIns="0" rIns="0" bIns="0">
            <a:spAutoFit/>
          </a:bodyPr>
          <a:lstStyle/>
          <a:p>
            <a:r>
              <a:rPr sz="950" b="1">
                <a:solidFill>
                  <a:srgbClr val="1E2761"/>
                </a:solidFill>
                <a:latin typeface="Arial"/>
              </a:rPr>
              <a:t>DETAIL — HELD FOR ISSUE</a:t>
            </a:r>
          </a:p>
        </p:txBody>
      </p:sp>
      <p:sp>
        <p:nvSpPr>
          <p:cNvPr id="5" name="P08 PANEL · SAW CUT &amp; CORING SCHEDULE — "/>
          <p:cNvSpPr/>
          <p:nvPr/>
        </p:nvSpPr>
        <p:spPr>
          <a:xfrm>
            <a:off x="457200" y="5605271"/>
            <a:ext cx="6958584" cy="193852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5714999"/>
            <a:ext cx="6665976" cy="237744"/>
          </a:xfrm>
          <a:prstGeom prst="rect">
            <a:avLst/>
          </a:prstGeom>
          <a:noFill/>
        </p:spPr>
        <p:txBody>
          <a:bodyPr wrap="square" lIns="0" tIns="0" rIns="0" bIns="0">
            <a:spAutoFit/>
          </a:bodyPr>
          <a:lstStyle/>
          <a:p>
            <a:r>
              <a:rPr sz="950" b="1">
                <a:solidFill>
                  <a:srgbClr val="1E2761"/>
                </a:solidFill>
                <a:latin typeface="Arial"/>
              </a:rPr>
              <a:t>SAW CUT &amp; CORING SCHEDULE — REV P08 FINAL SCOPE</a:t>
            </a:r>
          </a:p>
        </p:txBody>
      </p:sp>
      <p:sp>
        <p:nvSpPr>
          <p:cNvPr id="7" name="P08 PANEL · SIDE-ENTRY SHALLOW BASE — WH"/>
          <p:cNvSpPr/>
          <p:nvPr/>
        </p:nvSpPr>
        <p:spPr>
          <a:xfrm>
            <a:off x="457200" y="7690103"/>
            <a:ext cx="6958584" cy="2000250"/>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3504" y="7799831"/>
            <a:ext cx="6665976" cy="237744"/>
          </a:xfrm>
          <a:prstGeom prst="rect">
            <a:avLst/>
          </a:prstGeom>
          <a:noFill/>
        </p:spPr>
        <p:txBody>
          <a:bodyPr wrap="square" lIns="0" tIns="0" rIns="0" bIns="0">
            <a:spAutoFit/>
          </a:bodyPr>
          <a:lstStyle/>
          <a:p>
            <a:r>
              <a:rPr sz="950" b="1">
                <a:solidFill>
                  <a:srgbClr val="1E2761"/>
                </a:solidFill>
                <a:latin typeface="Arial"/>
              </a:rPr>
              <a:t>SIDE-ENTRY SHALLOW BASE — WHAT THE DETAIL MUST ALSO SHOW</a:t>
            </a:r>
          </a:p>
        </p:txBody>
      </p:sp>
      <p:sp>
        <p:nvSpPr>
          <p:cNvPr id="9" name="TextBox 8"/>
          <p:cNvSpPr txBox="1"/>
          <p:nvPr/>
        </p:nvSpPr>
        <p:spPr>
          <a:xfrm>
            <a:off x="603504" y="8092439"/>
            <a:ext cx="6665976" cy="804672"/>
          </a:xfrm>
          <a:prstGeom prst="rect">
            <a:avLst/>
          </a:prstGeom>
          <a:noFill/>
        </p:spPr>
        <p:txBody>
          <a:bodyPr wrap="square" lIns="0" tIns="0" rIns="0" bIns="0">
            <a:spAutoFit/>
          </a:bodyPr>
          <a:lstStyle/>
          <a:p>
            <a:pPr>
              <a:spcAft>
                <a:spcPts val="900"/>
              </a:spcAft>
            </a:pPr>
            <a:r>
              <a:rPr sz="1050" b="0">
                <a:solidFill>
                  <a:srgbClr val="1F2937"/>
                </a:solidFill>
                <a:latin typeface="Arial"/>
              </a:rPr>
              <a:t>10.  Side-entry shallow base — depth, entry height above the base floor, entry bore and the seal at the entry.</a:t>
            </a:r>
          </a:p>
          <a:p>
            <a:pPr>
              <a:spcAft>
                <a:spcPts val="900"/>
              </a:spcAft>
            </a:pPr>
            <a:r>
              <a:rPr sz="1050" b="0">
                <a:solidFill>
                  <a:srgbClr val="1F2937"/>
                </a:solidFill>
                <a:latin typeface="Arial"/>
              </a:rPr>
              <a:t>11.  Core diameter and core depth for 8" and for 12", and the grout / bedding specification for each.</a:t>
            </a:r>
          </a:p>
          <a:p>
            <a:pPr>
              <a:spcAft>
                <a:spcPts val="900"/>
              </a:spcAft>
            </a:pPr>
            <a:r>
              <a:rPr sz="1050" b="0">
                <a:solidFill>
                  <a:srgbClr val="1F2937"/>
                </a:solidFill>
                <a:latin typeface="Arial"/>
              </a:rPr>
              <a:t>12.  At Location 2, the method for coring out the EXISTING shallow base and making good before the new 12" base is set.</a:t>
            </a:r>
          </a:p>
          <a:p>
            <a:pPr>
              <a:spcAft>
                <a:spcPts val="900"/>
              </a:spcAft>
            </a:pPr>
            <a:r>
              <a:rPr sz="1050" b="0">
                <a:solidFill>
                  <a:srgbClr val="1F2937"/>
                </a:solidFill>
                <a:latin typeface="Arial"/>
              </a:rPr>
              <a:t>13.  Setting-out tolerance of the base relative to the as-built fitting position, and the level tolerance to finished pavement.</a:t>
            </a:r>
          </a:p>
        </p:txBody>
      </p:sp>
      <p:sp>
        <p:nvSpPr>
          <p:cNvPr id="10" name="P08 HOLD · SAW CUT DETAIL FRAME"/>
          <p:cNvSpPr/>
          <p:nvPr/>
        </p:nvSpPr>
        <p:spPr>
          <a:xfrm>
            <a:off x="603504" y="1316736"/>
            <a:ext cx="6665976" cy="3977639"/>
          </a:xfrm>
          <a:prstGeom prst="rect">
            <a:avLst/>
          </a:prstGeom>
          <a:solidFill>
            <a:srgbClr val="FBFCFD"/>
          </a:solidFill>
          <a:ln w="19050">
            <a:solidFill>
              <a:srgbClr val="B326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2528315"/>
            <a:ext cx="5934456" cy="1554480"/>
          </a:xfrm>
          <a:prstGeom prst="rect">
            <a:avLst/>
          </a:prstGeom>
          <a:noFill/>
        </p:spPr>
        <p:txBody>
          <a:bodyPr wrap="square" lIns="0" tIns="0" rIns="0" bIns="0" anchor="ctr">
            <a:spAutoFit/>
          </a:bodyPr>
          <a:lstStyle/>
          <a:p>
            <a:pPr algn="ctr">
              <a:spcAft>
                <a:spcPts val="800"/>
              </a:spcAft>
            </a:pPr>
            <a:r>
              <a:rPr sz="1500" b="1">
                <a:solidFill>
                  <a:srgbClr val="B3261E"/>
                </a:solidFill>
                <a:latin typeface="Arial"/>
              </a:rPr>
              <a:t>SAW CUT DETAIL DRAWING TO BE ISSUED</a:t>
            </a:r>
          </a:p>
          <a:p>
            <a:pPr algn="ctr">
              <a:spcAft>
                <a:spcPts val="800"/>
              </a:spcAft>
            </a:pPr>
            <a:r>
              <a:rPr sz="950" b="0">
                <a:solidFill>
                  <a:srgbClr val="1F2937"/>
                </a:solidFill>
                <a:latin typeface="Arial"/>
              </a:rPr>
              <a:t>The final scope of work records that the saw cut detail drawing will be provided. It has not been issued at the date of this revision.</a:t>
            </a:r>
          </a:p>
          <a:p>
            <a:pPr algn="ctr">
              <a:spcAft>
                <a:spcPts val="800"/>
              </a:spcAft>
            </a:pPr>
            <a:r>
              <a:rPr sz="950" b="1">
                <a:solidFill>
                  <a:srgbClr val="B3261E"/>
                </a:solidFill>
                <a:latin typeface="Arial"/>
              </a:rPr>
              <a:t>Paste the issued detail into this frame and re-issue the sheet. Until it is issued and accepted, NO SAW CUTTING IS TO COMMENCE — hold point H6.</a:t>
            </a:r>
          </a:p>
        </p:txBody>
      </p:sp>
      <p:graphicFrame>
        <p:nvGraphicFramePr>
          <p:cNvPr id="12" name="Table 11"/>
          <p:cNvGraphicFramePr>
            <a:graphicFrameLocks noGrp="1"/>
          </p:cNvGraphicFramePr>
          <p:nvPr/>
        </p:nvGraphicFramePr>
        <p:xfrm>
          <a:off x="603504" y="6007607"/>
          <a:ext cx="6958584" cy="1333872"/>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512064">
                  <a:extLst>
                    <a:ext uri="{9D8B030D-6E8A-4147-A177-3AD203B41FA5}">
                      <a16:colId xmlns:a16="http://schemas.microsoft.com/office/drawing/2014/main" val="20005"/>
                    </a:ext>
                  </a:extLst>
                </a:gridCol>
              </a:tblGrid>
              <a:tr h="237744">
                <a:tc>
                  <a:txBody>
                    <a:bodyPr/>
                    <a:lstStyle/>
                    <a:p>
                      <a:r>
                        <a:rPr sz="950" b="1">
                          <a:solidFill>
                            <a:srgbClr val="FFFFFF"/>
                          </a:solidFill>
                          <a:latin typeface="Arial"/>
                        </a:rPr>
                        <a:t>Location</a:t>
                      </a:r>
                    </a:p>
                  </a:txBody>
                  <a:tcPr marL="54864" marR="54864" marT="18000" marB="18000" anchor="ctr">
                    <a:solidFill>
                      <a:srgbClr val="1E2761"/>
                    </a:solidFill>
                  </a:tcPr>
                </a:tc>
                <a:tc>
                  <a:txBody>
                    <a:bodyPr/>
                    <a:lstStyle/>
                    <a:p>
                      <a:r>
                        <a:rPr sz="950" b="1">
                          <a:solidFill>
                            <a:srgbClr val="FFFFFF"/>
                          </a:solidFill>
                          <a:latin typeface="Arial"/>
                        </a:rPr>
                        <a:t>Fittings</a:t>
                      </a:r>
                    </a:p>
                  </a:txBody>
                  <a:tcPr marL="54864" marR="54864" marT="18000" marB="18000" anchor="ctr">
                    <a:solidFill>
                      <a:srgbClr val="1E2761"/>
                    </a:solidFill>
                  </a:tcPr>
                </a:tc>
                <a:tc>
                  <a:txBody>
                    <a:bodyPr/>
                    <a:lstStyle/>
                    <a:p>
                      <a:r>
                        <a:rPr sz="950" b="1">
                          <a:solidFill>
                            <a:srgbClr val="FFFFFF"/>
                          </a:solidFill>
                          <a:latin typeface="Arial"/>
                        </a:rPr>
                        <a:t>Core</a:t>
                      </a:r>
                    </a:p>
                  </a:txBody>
                  <a:tcPr marL="54864" marR="54864" marT="18000" marB="18000" anchor="ctr">
                    <a:solidFill>
                      <a:srgbClr val="1E2761"/>
                    </a:solidFill>
                  </a:tcPr>
                </a:tc>
                <a:tc>
                  <a:txBody>
                    <a:bodyPr/>
                    <a:lstStyle/>
                    <a:p>
                      <a:r>
                        <a:rPr sz="950" b="1">
                          <a:solidFill>
                            <a:srgbClr val="FFFFFF"/>
                          </a:solidFill>
                          <a:latin typeface="Arial"/>
                        </a:rPr>
                        <a:t>New base</a:t>
                      </a:r>
                    </a:p>
                  </a:txBody>
                  <a:tcPr marL="54864" marR="54864" marT="18000" marB="18000" anchor="ctr">
                    <a:solidFill>
                      <a:srgbClr val="1E2761"/>
                    </a:solidFill>
                  </a:tcPr>
                </a:tc>
                <a:tc>
                  <a:txBody>
                    <a:bodyPr/>
                    <a:lstStyle/>
                    <a:p>
                      <a:r>
                        <a:rPr sz="950" b="1">
                          <a:solidFill>
                            <a:srgbClr val="FFFFFF"/>
                          </a:solidFill>
                          <a:latin typeface="Arial"/>
                        </a:rPr>
                        <a:t>Route</a:t>
                      </a:r>
                    </a:p>
                  </a:txBody>
                  <a:tcPr marL="54864" marR="54864" marT="18000" marB="18000" anchor="ctr">
                    <a:solidFill>
                      <a:srgbClr val="1E2761"/>
                    </a:solidFill>
                  </a:tcPr>
                </a:tc>
                <a:tc>
                  <a:txBody>
                    <a:bodyPr/>
                    <a:lstStyle/>
                    <a:p>
                      <a:r>
                        <a:rPr sz="950" b="1">
                          <a:solidFill>
                            <a:srgbClr val="FFFFFF"/>
                          </a:solidFill>
                          <a:latin typeface="Arial"/>
                        </a:rPr>
                        <a:t>Sheet</a:t>
                      </a:r>
                    </a:p>
                  </a:txBody>
                  <a:tcPr marL="54864" marR="54864" marT="18000" marB="18000" anchor="ctr">
                    <a:solidFill>
                      <a:srgbClr val="1E2761"/>
                    </a:solidFill>
                  </a:tcPr>
                </a:tc>
                <a:extLst>
                  <a:ext uri="{0D108BD9-81ED-4DB2-BD59-A6C34878D82A}">
                    <a16:rowId xmlns:a16="http://schemas.microsoft.com/office/drawing/2014/main" val="10000"/>
                  </a:ext>
                </a:extLst>
              </a:tr>
              <a:tr h="237744">
                <a:tc>
                  <a:txBody>
                    <a:bodyPr/>
                    <a:lstStyle/>
                    <a:p>
                      <a:r>
                        <a:rPr sz="900" b="0">
                          <a:solidFill>
                            <a:srgbClr val="1F2937"/>
                          </a:solidFill>
                          <a:latin typeface="Arial"/>
                        </a:rPr>
                        <a:t>LOC-01</a:t>
                      </a:r>
                    </a:p>
                  </a:txBody>
                  <a:tcPr marL="54864" marR="54864" marT="18000" marB="18000" anchor="ctr">
                    <a:noFill/>
                  </a:tcPr>
                </a:tc>
                <a:tc>
                  <a:txBody>
                    <a:bodyPr/>
                    <a:lstStyle/>
                    <a:p>
                      <a:r>
                        <a:rPr sz="900" b="0">
                          <a:solidFill>
                            <a:srgbClr val="1F2937"/>
                          </a:solidFill>
                          <a:latin typeface="Arial"/>
                        </a:rPr>
                        <a:t>11  (6 SBC · 5 TCC)</a:t>
                      </a:r>
                    </a:p>
                  </a:txBody>
                  <a:tcPr marL="54864" marR="54864" marT="18000" marB="18000" anchor="ctr">
                    <a:noFill/>
                  </a:tcPr>
                </a:tc>
                <a:tc>
                  <a:txBody>
                    <a:bodyPr/>
                    <a:lstStyle/>
                    <a:p>
                      <a:r>
                        <a:rPr sz="900" b="0">
                          <a:solidFill>
                            <a:srgbClr val="1F2937"/>
                          </a:solidFill>
                          <a:latin typeface="Arial"/>
                        </a:rPr>
                        <a:t>8"</a:t>
                      </a:r>
                    </a:p>
                  </a:txBody>
                  <a:tcPr marL="54864" marR="54864" marT="18000" marB="18000" anchor="ctr">
                    <a:noFill/>
                  </a:tcPr>
                </a:tc>
                <a:tc>
                  <a:txBody>
                    <a:bodyPr/>
                    <a:lstStyle/>
                    <a:p>
                      <a:r>
                        <a:rPr sz="900" b="0">
                          <a:solidFill>
                            <a:srgbClr val="1F2937"/>
                          </a:solidFill>
                          <a:latin typeface="Arial"/>
                        </a:rPr>
                        <a:t>Side-entry shallow base</a:t>
                      </a:r>
                    </a:p>
                  </a:txBody>
                  <a:tcPr marL="54864" marR="54864" marT="18000" marB="18000" anchor="ctr">
                    <a:noFill/>
                  </a:tcPr>
                </a:tc>
                <a:tc>
                  <a:txBody>
                    <a:bodyPr/>
                    <a:lstStyle/>
                    <a:p>
                      <a:r>
                        <a:rPr sz="900" b="0">
                          <a:solidFill>
                            <a:srgbClr val="1F2937"/>
                          </a:solidFill>
                          <a:latin typeface="Arial"/>
                        </a:rPr>
                        <a:t>Saw cut</a:t>
                      </a:r>
                    </a:p>
                  </a:txBody>
                  <a:tcPr marL="54864" marR="54864" marT="18000" marB="18000" anchor="ctr">
                    <a:noFill/>
                  </a:tcPr>
                </a:tc>
                <a:tc>
                  <a:txBody>
                    <a:bodyPr/>
                    <a:lstStyle/>
                    <a:p>
                      <a:r>
                        <a:rPr sz="900" b="0">
                          <a:solidFill>
                            <a:srgbClr val="1F2937"/>
                          </a:solidFill>
                          <a:latin typeface="Arial"/>
                        </a:rPr>
                        <a:t>1001</a:t>
                      </a:r>
                    </a:p>
                  </a:txBody>
                  <a:tcPr marL="54864" marR="54864" marT="18000" marB="18000" anchor="ctr">
                    <a:noFill/>
                  </a:tcPr>
                </a:tc>
                <a:extLst>
                  <a:ext uri="{0D108BD9-81ED-4DB2-BD59-A6C34878D82A}">
                    <a16:rowId xmlns:a16="http://schemas.microsoft.com/office/drawing/2014/main" val="10001"/>
                  </a:ext>
                </a:extLst>
              </a:tr>
              <a:tr h="237744">
                <a:tc>
                  <a:txBody>
                    <a:bodyPr/>
                    <a:lstStyle/>
                    <a:p>
                      <a:r>
                        <a:rPr sz="900" b="0">
                          <a:solidFill>
                            <a:srgbClr val="1F2937"/>
                          </a:solidFill>
                          <a:latin typeface="Arial"/>
                        </a:rPr>
                        <a:t>LOC-02</a:t>
                      </a:r>
                    </a:p>
                  </a:txBody>
                  <a:tcPr marL="54864" marR="54864" marT="18000" marB="18000" anchor="ctr">
                    <a:noFill/>
                  </a:tcPr>
                </a:tc>
                <a:tc>
                  <a:txBody>
                    <a:bodyPr/>
                    <a:lstStyle/>
                    <a:p>
                      <a:r>
                        <a:rPr sz="900" b="0">
                          <a:solidFill>
                            <a:srgbClr val="1F2937"/>
                          </a:solidFill>
                          <a:latin typeface="Arial"/>
                        </a:rPr>
                        <a:t>1  (TCCECH-03/008)</a:t>
                      </a:r>
                    </a:p>
                  </a:txBody>
                  <a:tcPr marL="54864" marR="54864" marT="18000" marB="18000" anchor="ctr">
                    <a:noFill/>
                  </a:tcPr>
                </a:tc>
                <a:tc>
                  <a:txBody>
                    <a:bodyPr/>
                    <a:lstStyle/>
                    <a:p>
                      <a:r>
                        <a:rPr sz="900" b="0">
                          <a:solidFill>
                            <a:srgbClr val="1F2937"/>
                          </a:solidFill>
                          <a:latin typeface="Arial"/>
                        </a:rPr>
                        <a:t>12"</a:t>
                      </a:r>
                    </a:p>
                  </a:txBody>
                  <a:tcPr marL="54864" marR="54864" marT="18000" marB="18000" anchor="ctr">
                    <a:noFill/>
                  </a:tcPr>
                </a:tc>
                <a:tc>
                  <a:txBody>
                    <a:bodyPr/>
                    <a:lstStyle/>
                    <a:p>
                      <a:r>
                        <a:rPr sz="900" b="0">
                          <a:solidFill>
                            <a:srgbClr val="1F2937"/>
                          </a:solidFill>
                          <a:latin typeface="Arial"/>
                        </a:rPr>
                        <a:t>Side-entry shallow base — existing base cored out</a:t>
                      </a:r>
                    </a:p>
                  </a:txBody>
                  <a:tcPr marL="54864" marR="54864" marT="18000" marB="18000" anchor="ctr">
                    <a:noFill/>
                  </a:tcPr>
                </a:tc>
                <a:tc>
                  <a:txBody>
                    <a:bodyPr/>
                    <a:lstStyle/>
                    <a:p>
                      <a:r>
                        <a:rPr sz="900" b="0">
                          <a:solidFill>
                            <a:srgbClr val="1F2937"/>
                          </a:solidFill>
                          <a:latin typeface="Arial"/>
                        </a:rPr>
                        <a:t>Saw cut</a:t>
                      </a:r>
                    </a:p>
                  </a:txBody>
                  <a:tcPr marL="54864" marR="54864" marT="18000" marB="18000" anchor="ctr">
                    <a:noFill/>
                  </a:tcPr>
                </a:tc>
                <a:tc>
                  <a:txBody>
                    <a:bodyPr/>
                    <a:lstStyle/>
                    <a:p>
                      <a:r>
                        <a:rPr sz="900" b="0">
                          <a:solidFill>
                            <a:srgbClr val="1F2937"/>
                          </a:solidFill>
                          <a:latin typeface="Arial"/>
                        </a:rPr>
                        <a:t>1002</a:t>
                      </a:r>
                    </a:p>
                  </a:txBody>
                  <a:tcPr marL="54864" marR="54864" marT="18000" marB="18000" anchor="ctr">
                    <a:noFill/>
                  </a:tcPr>
                </a:tc>
                <a:extLst>
                  <a:ext uri="{0D108BD9-81ED-4DB2-BD59-A6C34878D82A}">
                    <a16:rowId xmlns:a16="http://schemas.microsoft.com/office/drawing/2014/main" val="10002"/>
                  </a:ext>
                </a:extLst>
              </a:tr>
              <a:tr h="237744">
                <a:tc>
                  <a:txBody>
                    <a:bodyPr/>
                    <a:lstStyle/>
                    <a:p>
                      <a:r>
                        <a:rPr sz="900" b="0">
                          <a:solidFill>
                            <a:srgbClr val="1F2937"/>
                          </a:solidFill>
                          <a:latin typeface="Arial"/>
                        </a:rPr>
                        <a:t>LOC-03</a:t>
                      </a:r>
                    </a:p>
                  </a:txBody>
                  <a:tcPr marL="54864" marR="54864" marT="18000" marB="18000" anchor="ctr">
                    <a:noFill/>
                  </a:tcPr>
                </a:tc>
                <a:tc>
                  <a:txBody>
                    <a:bodyPr/>
                    <a:lstStyle/>
                    <a:p>
                      <a:r>
                        <a:rPr sz="900" b="0" dirty="0">
                          <a:solidFill>
                            <a:srgbClr val="1F2937"/>
                          </a:solidFill>
                          <a:latin typeface="Arial"/>
                        </a:rPr>
                        <a:t>4  (TCC only)</a:t>
                      </a:r>
                    </a:p>
                  </a:txBody>
                  <a:tcPr marL="54864" marR="54864" marT="18000" marB="18000" anchor="ctr">
                    <a:noFill/>
                  </a:tcPr>
                </a:tc>
                <a:tc>
                  <a:txBody>
                    <a:bodyPr/>
                    <a:lstStyle/>
                    <a:p>
                      <a:r>
                        <a:rPr sz="900" b="0">
                          <a:solidFill>
                            <a:srgbClr val="1F2937"/>
                          </a:solidFill>
                          <a:latin typeface="Arial"/>
                        </a:rPr>
                        <a:t>12"</a:t>
                      </a:r>
                    </a:p>
                  </a:txBody>
                  <a:tcPr marL="54864" marR="54864" marT="18000" marB="18000" anchor="ctr">
                    <a:noFill/>
                  </a:tcPr>
                </a:tc>
                <a:tc>
                  <a:txBody>
                    <a:bodyPr/>
                    <a:lstStyle/>
                    <a:p>
                      <a:r>
                        <a:rPr sz="900" b="0">
                          <a:solidFill>
                            <a:srgbClr val="1F2937"/>
                          </a:solidFill>
                          <a:latin typeface="Arial"/>
                        </a:rPr>
                        <a:t>Side-entry shallow base</a:t>
                      </a:r>
                    </a:p>
                  </a:txBody>
                  <a:tcPr marL="54864" marR="54864" marT="18000" marB="18000" anchor="ctr">
                    <a:noFill/>
                  </a:tcPr>
                </a:tc>
                <a:tc>
                  <a:txBody>
                    <a:bodyPr/>
                    <a:lstStyle/>
                    <a:p>
                      <a:r>
                        <a:rPr sz="900" b="0">
                          <a:solidFill>
                            <a:srgbClr val="1F2937"/>
                          </a:solidFill>
                          <a:latin typeface="Arial"/>
                        </a:rPr>
                        <a:t>Saw cut</a:t>
                      </a:r>
                    </a:p>
                  </a:txBody>
                  <a:tcPr marL="54864" marR="54864" marT="18000" marB="18000" anchor="ctr">
                    <a:noFill/>
                  </a:tcPr>
                </a:tc>
                <a:tc>
                  <a:txBody>
                    <a:bodyPr/>
                    <a:lstStyle/>
                    <a:p>
                      <a:r>
                        <a:rPr sz="900" b="0">
                          <a:solidFill>
                            <a:srgbClr val="1F2937"/>
                          </a:solidFill>
                          <a:latin typeface="Arial"/>
                        </a:rPr>
                        <a:t>1003</a:t>
                      </a:r>
                    </a:p>
                  </a:txBody>
                  <a:tcPr marL="54864" marR="54864" marT="18000" marB="18000" anchor="ctr">
                    <a:noFill/>
                  </a:tcPr>
                </a:tc>
                <a:extLst>
                  <a:ext uri="{0D108BD9-81ED-4DB2-BD59-A6C34878D82A}">
                    <a16:rowId xmlns:a16="http://schemas.microsoft.com/office/drawing/2014/main" val="10003"/>
                  </a:ext>
                </a:extLst>
              </a:tr>
              <a:tr h="237744">
                <a:tc>
                  <a:txBody>
                    <a:bodyPr/>
                    <a:lstStyle/>
                    <a:p>
                      <a:r>
                        <a:rPr sz="900" b="0">
                          <a:solidFill>
                            <a:srgbClr val="1F2937"/>
                          </a:solidFill>
                          <a:latin typeface="Arial"/>
                        </a:rPr>
                        <a:t>TOTAL</a:t>
                      </a:r>
                    </a:p>
                  </a:txBody>
                  <a:tcPr marL="54864" marR="54864" marT="18000" marB="18000" anchor="ctr">
                    <a:noFill/>
                  </a:tcPr>
                </a:tc>
                <a:tc>
                  <a:txBody>
                    <a:bodyPr/>
                    <a:lstStyle/>
                    <a:p>
                      <a:r>
                        <a:rPr sz="900" b="0">
                          <a:solidFill>
                            <a:srgbClr val="1F2937"/>
                          </a:solidFill>
                          <a:latin typeface="Arial"/>
                        </a:rPr>
                        <a:t>16</a:t>
                      </a:r>
                    </a:p>
                  </a:txBody>
                  <a:tcPr marL="54864" marR="54864" marT="18000" marB="18000" anchor="ctr">
                    <a:noFill/>
                  </a:tcPr>
                </a:tc>
                <a:tc>
                  <a:txBody>
                    <a:bodyPr/>
                    <a:lstStyle/>
                    <a:p>
                      <a:r>
                        <a:rPr sz="900" b="0">
                          <a:solidFill>
                            <a:srgbClr val="1F2937"/>
                          </a:solidFill>
                          <a:latin typeface="Arial"/>
                        </a:rPr>
                        <a:t>11 @ 8" · 5 @ 12"</a:t>
                      </a:r>
                    </a:p>
                  </a:txBody>
                  <a:tcPr marL="54864" marR="54864" marT="18000" marB="18000" anchor="ctr">
                    <a:noFill/>
                  </a:tcPr>
                </a:tc>
                <a:tc>
                  <a:txBody>
                    <a:bodyPr/>
                    <a:lstStyle/>
                    <a:p>
                      <a:r>
                        <a:rPr sz="900" b="0">
                          <a:solidFill>
                            <a:srgbClr val="1F2937"/>
                          </a:solidFill>
                          <a:latin typeface="Arial"/>
                        </a:rPr>
                        <a:t>16 side-entry shallow bases</a:t>
                      </a:r>
                    </a:p>
                  </a:txBody>
                  <a:tcPr marL="54864" marR="54864" marT="18000" marB="18000" anchor="ctr">
                    <a:noFill/>
                  </a:tcPr>
                </a:tc>
                <a:tc>
                  <a:txBody>
                    <a:bodyPr/>
                    <a:lstStyle/>
                    <a:p>
                      <a:r>
                        <a:rPr sz="900" b="0">
                          <a:solidFill>
                            <a:srgbClr val="1F2937"/>
                          </a:solidFill>
                          <a:latin typeface="Arial"/>
                        </a:rPr>
                        <a:t>Saw cut throughout</a:t>
                      </a:r>
                    </a:p>
                  </a:txBody>
                  <a:tcPr marL="54864" marR="54864" marT="18000" marB="18000" anchor="ctr">
                    <a:noFill/>
                  </a:tcPr>
                </a:tc>
                <a:tc>
                  <a:txBody>
                    <a:bodyPr/>
                    <a:lstStyle/>
                    <a:p>
                      <a:r>
                        <a:rPr sz="900" b="0" dirty="0">
                          <a:solidFill>
                            <a:srgbClr val="1F2937"/>
                          </a:solidFill>
                          <a:latin typeface="Arial"/>
                        </a:rPr>
                        <a:t>—</a:t>
                      </a:r>
                    </a:p>
                  </a:txBody>
                  <a:tcPr marL="54864" marR="54864" marT="18000" marB="18000" anchor="ctr">
                    <a:noFill/>
                  </a:tcPr>
                </a:tc>
                <a:extLst>
                  <a:ext uri="{0D108BD9-81ED-4DB2-BD59-A6C34878D82A}">
                    <a16:rowId xmlns:a16="http://schemas.microsoft.com/office/drawing/2014/main" val="10004"/>
                  </a:ext>
                </a:extLst>
              </a:tr>
            </a:tbl>
          </a:graphicData>
        </a:graphic>
      </p:graphicFrame>
      <p:sp>
        <p:nvSpPr>
          <p:cNvPr id="13" name="P08 PANEL · WHAT THE SAW CUT DETAIL MUST"/>
          <p:cNvSpPr/>
          <p:nvPr/>
        </p:nvSpPr>
        <p:spPr>
          <a:xfrm>
            <a:off x="7699248" y="914400"/>
            <a:ext cx="6958584" cy="5306568"/>
          </a:xfrm>
          <a:prstGeom prst="rect">
            <a:avLst/>
          </a:prstGeom>
          <a:solidFill>
            <a:srgbClr val="FFFFFF"/>
          </a:solidFill>
          <a:ln w="9525">
            <a:solidFill>
              <a:srgbClr val="D3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45552" y="1024128"/>
            <a:ext cx="6665976" cy="237744"/>
          </a:xfrm>
          <a:prstGeom prst="rect">
            <a:avLst/>
          </a:prstGeom>
          <a:noFill/>
        </p:spPr>
        <p:txBody>
          <a:bodyPr wrap="square" lIns="0" tIns="0" rIns="0" bIns="0">
            <a:spAutoFit/>
          </a:bodyPr>
          <a:lstStyle/>
          <a:p>
            <a:r>
              <a:rPr sz="950" b="1">
                <a:solidFill>
                  <a:srgbClr val="1E2761"/>
                </a:solidFill>
                <a:latin typeface="Arial"/>
              </a:rPr>
              <a:t>WHAT THE SAW CUT DETAIL MUST ANSWER BEFORE IT CAN BE BUILT TO</a:t>
            </a:r>
          </a:p>
        </p:txBody>
      </p:sp>
      <p:sp>
        <p:nvSpPr>
          <p:cNvPr id="15" name="TextBox 14"/>
          <p:cNvSpPr txBox="1"/>
          <p:nvPr/>
        </p:nvSpPr>
        <p:spPr>
          <a:xfrm>
            <a:off x="7845552" y="1316736"/>
            <a:ext cx="6665976" cy="2615184"/>
          </a:xfrm>
          <a:prstGeom prst="rect">
            <a:avLst/>
          </a:prstGeom>
          <a:noFill/>
        </p:spPr>
        <p:txBody>
          <a:bodyPr wrap="square" lIns="0" tIns="0" rIns="0" bIns="0">
            <a:spAutoFit/>
          </a:bodyPr>
          <a:lstStyle/>
          <a:p>
            <a:pPr>
              <a:spcAft>
                <a:spcPts val="900"/>
              </a:spcAft>
            </a:pPr>
            <a:r>
              <a:rPr sz="1050" b="1">
                <a:solidFill>
                  <a:srgbClr val="1E2761"/>
                </a:solidFill>
                <a:latin typeface="Arial"/>
              </a:rPr>
              <a:t>Cut geometry</a:t>
            </a:r>
          </a:p>
          <a:p>
            <a:pPr>
              <a:spcAft>
                <a:spcPts val="900"/>
              </a:spcAft>
            </a:pPr>
            <a:r>
              <a:rPr sz="1050" b="0">
                <a:solidFill>
                  <a:srgbClr val="1F2937"/>
                </a:solidFill>
                <a:latin typeface="Arial"/>
              </a:rPr>
              <a:t>1.  Saw cut width and depth, and the tolerance on each.</a:t>
            </a:r>
          </a:p>
          <a:p>
            <a:pPr>
              <a:spcAft>
                <a:spcPts val="900"/>
              </a:spcAft>
            </a:pPr>
            <a:r>
              <a:rPr sz="1050" b="0">
                <a:solidFill>
                  <a:srgbClr val="1F2937"/>
                </a:solidFill>
                <a:latin typeface="Arial"/>
              </a:rPr>
              <a:t>2.  Minimum cover from finished pavement surface to the top of the new secondary cable.</a:t>
            </a:r>
          </a:p>
          <a:p>
            <a:pPr>
              <a:spcAft>
                <a:spcPts val="900"/>
              </a:spcAft>
            </a:pPr>
            <a:r>
              <a:rPr sz="1050" b="0">
                <a:solidFill>
                  <a:srgbClr val="1F2937"/>
                </a:solidFill>
                <a:latin typeface="Arial"/>
              </a:rPr>
              <a:t>3.  Cut termination at the light base — how the cut meets the side entry, and the radius or chamfer at the entry.</a:t>
            </a:r>
          </a:p>
          <a:p>
            <a:pPr>
              <a:spcAft>
                <a:spcPts val="900"/>
              </a:spcAft>
            </a:pPr>
            <a:r>
              <a:rPr sz="1050" b="0">
                <a:solidFill>
                  <a:srgbClr val="1F2937"/>
                </a:solidFill>
                <a:latin typeface="Arial"/>
              </a:rPr>
              <a:t>4.  Minimum offset from slab joints, existing cuts and the milling edge, and what to do where the cut would run within that offset.</a:t>
            </a:r>
          </a:p>
          <a:p>
            <a:pPr>
              <a:spcAft>
                <a:spcPts val="900"/>
              </a:spcAft>
            </a:pPr>
            <a:r>
              <a:rPr sz="1050" b="1">
                <a:solidFill>
                  <a:srgbClr val="1E2761"/>
                </a:solidFill>
                <a:latin typeface="Arial"/>
              </a:rPr>
              <a:t>Cable and backfill</a:t>
            </a:r>
          </a:p>
          <a:p>
            <a:pPr>
              <a:spcAft>
                <a:spcPts val="900"/>
              </a:spcAft>
            </a:pPr>
            <a:r>
              <a:rPr sz="1050" b="0">
                <a:solidFill>
                  <a:srgbClr val="1F2937"/>
                </a:solidFill>
                <a:latin typeface="Arial"/>
              </a:rPr>
              <a:t>5.  Cable protection within the cut — sleeve, tape or direct — and its fixing.</a:t>
            </a:r>
          </a:p>
          <a:p>
            <a:pPr>
              <a:spcAft>
                <a:spcPts val="900"/>
              </a:spcAft>
            </a:pPr>
            <a:r>
              <a:rPr sz="1050" b="0">
                <a:solidFill>
                  <a:srgbClr val="1F2937"/>
                </a:solidFill>
                <a:latin typeface="Arial"/>
              </a:rPr>
              <a:t>6.  Backfill and sealant specification, layer by layer, with cure time before the area returns to operational service.</a:t>
            </a:r>
          </a:p>
          <a:p>
            <a:pPr>
              <a:spcAft>
                <a:spcPts val="900"/>
              </a:spcAft>
            </a:pPr>
            <a:r>
              <a:rPr sz="1050" b="0">
                <a:solidFill>
                  <a:srgbClr val="1F2937"/>
                </a:solidFill>
                <a:latin typeface="Arial"/>
              </a:rPr>
              <a:t>7.  Reinstatement of the pavement surface and the finished surface tolerance.</a:t>
            </a:r>
          </a:p>
          <a:p>
            <a:pPr>
              <a:spcAft>
                <a:spcPts val="900"/>
              </a:spcAft>
            </a:pPr>
            <a:r>
              <a:rPr sz="1050" b="1">
                <a:solidFill>
                  <a:srgbClr val="1E2761"/>
                </a:solidFill>
                <a:latin typeface="Arial"/>
              </a:rPr>
              <a:t>Transition</a:t>
            </a:r>
          </a:p>
          <a:p>
            <a:pPr>
              <a:spcAft>
                <a:spcPts val="900"/>
              </a:spcAft>
            </a:pPr>
            <a:r>
              <a:rPr sz="1050" b="0">
                <a:solidFill>
                  <a:srgbClr val="B3261E"/>
                </a:solidFill>
                <a:latin typeface="Arial"/>
              </a:rPr>
              <a:t>8.  How the saw cut route transitions into the existing duct in the NON-CONSTRUCTION area — this is open technical query Q3 and it governs the ends of every run.</a:t>
            </a:r>
          </a:p>
          <a:p>
            <a:pPr>
              <a:spcAft>
                <a:spcPts val="900"/>
              </a:spcAft>
            </a:pPr>
            <a:r>
              <a:rPr sz="1050" b="0">
                <a:solidFill>
                  <a:srgbClr val="B3261E"/>
                </a:solidFill>
                <a:latin typeface="Arial"/>
              </a:rPr>
              <a:t>9.  Treatment where the saw cut crosses the existing 4 x 110 mm secondary duct bank exposed at 50 mm milling depth.</a:t>
            </a:r>
          </a:p>
          <a:p>
            <a:pPr>
              <a:spcAft>
                <a:spcPts val="900"/>
              </a:spcAft>
            </a:pPr>
            <a:r>
              <a:rPr sz="1050" b="0">
                <a:solidFill>
                  <a:srgbClr val="B3261E"/>
                </a:solidFill>
                <a:latin typeface="Arial"/>
              </a:rPr>
              <a:t>Items 8 and 9 are the two that are not purely detailing. Item 8 is open technical query Q3 — the transition into the non-construction area was never answered, and every run has two ends. Item 9 is a physical clash with a duct bank the field already found at 50 mm. Neither can be closed out on site.</a:t>
            </a:r>
          </a:p>
        </p:txBody>
      </p:sp>
      <p:sp>
        <p:nvSpPr>
          <p:cNvPr id="16" name="TextBox 15"/>
          <p:cNvSpPr txBox="1"/>
          <p:nvPr/>
        </p:nvSpPr>
        <p:spPr>
          <a:xfrm>
            <a:off x="457200" y="10149840"/>
            <a:ext cx="14173200" cy="365760"/>
          </a:xfrm>
          <a:prstGeom prst="rect">
            <a:avLst/>
          </a:prstGeom>
          <a:noFill/>
        </p:spPr>
        <p:txBody>
          <a:bodyPr wrap="square" lIns="0" tIns="0" rIns="0" bIns="0">
            <a:spAutoFit/>
          </a:bodyPr>
          <a:lstStyle/>
          <a:p>
            <a:r>
              <a:rPr sz="750">
                <a:solidFill>
                  <a:srgbClr val="5F6368"/>
                </a:solidFill>
                <a:latin typeface="Arial"/>
              </a:rPr>
              <a:t>This sheet is a HOLD. It states what the awaited detail has to resolve and the quantities that depend on it; it does not show a section, because none has been issued. Quantities are per the Rev P08 final scope of work (30.07.2026) and are FOR CHECK by the Engineer.     ·     AUH-SK-AGL-TWYE-001 REV P08  ·  Prepared: Mohammed, AGL Team Leader — ADB SAFEGATE  ·  Approved: Ragesh Menon, AGL Manager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9937795-E019-4823-81BD-5D59935960C1}">
  <we:reference id="WA200010725" version="1.0.0.1" store="Omex" storeType="OMEX"/>
  <we:alternateReferences>
    <we:reference id="WA200010725" version="1.0.0.1" store="WA200010725" storeType="OMEX"/>
  </we:alternateReferences>
  <we:properties>
    <we:property name="claude.fileId" value="&quot;b6e9a6d8-d2cc-4187-b0ff-5406e1438fd4&quot;"/>
  </we:properties>
  <we:bindings/>
  <we:snapshot xmlns:r="http://schemas.openxmlformats.org/officeDocument/2006/relationships"/>
</we:webextension>
</file>

<file path=docMetadata/LabelInfo.xml><?xml version="1.0" encoding="utf-8"?>
<clbl:labelList xmlns:clbl="http://schemas.microsoft.com/office/2020/mipLabelMetadata">
  <clbl:label id="{94b38ddd-8735-419b-ba7b-70cccd79be33}" enabled="0" method="" siteId="{94b38ddd-8735-419b-ba7b-70cccd79be33}" removed="1"/>
</clbl:labelList>
</file>

<file path=docProps/app.xml><?xml version="1.0" encoding="utf-8"?>
<Properties xmlns="http://schemas.openxmlformats.org/officeDocument/2006/extended-properties" xmlns:vt="http://schemas.openxmlformats.org/officeDocument/2006/docPropsVTypes">
  <TotalTime>241</TotalTime>
  <Words>5874</Words>
  <Application>Microsoft Office PowerPoint</Application>
  <PresentationFormat>Custom</PresentationFormat>
  <Paragraphs>572</Paragraphs>
  <Slides>7</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 Faheem</cp:lastModifiedBy>
  <cp:revision>2</cp:revision>
  <dcterms:created xsi:type="dcterms:W3CDTF">2026-07-28T13:45:45Z</dcterms:created>
  <dcterms:modified xsi:type="dcterms:W3CDTF">2026-07-30T21:01:32Z</dcterms:modified>
</cp:coreProperties>
</file>