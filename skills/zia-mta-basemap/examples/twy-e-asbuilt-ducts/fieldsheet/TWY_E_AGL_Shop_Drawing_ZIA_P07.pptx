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64" r:id="rId3"/>
    <p:sldId id="265" r:id="rId4"/>
    <p:sldId id="266" r:id="rId5"/>
    <p:sldId id="268" r:id="rId6"/>
    <p:sldId id="276" r:id="rId7"/>
  </p:sldIdLst>
  <p:sldSz cx="15124113" cy="10688638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2354CA-3032-45B0-8F31-B682E0E883D8}" v="3" dt="2026-07-28T13:13:55.2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1746" y="-2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966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000">
                <a:solidFill>
                  <a:srgbClr val="CADCFC"/>
                </a:solidFill>
                <a:latin typeface="Arial"/>
              </a:rPr>
              <a:t>RECTIFICATION OF TWY E BETWEEN E4 &amp; E6 (ZIA)</a:t>
            </a:r>
            <a:endParaRPr lang="en-US" sz="2000" dirty="0"/>
          </a:p>
          <a:p>
            <a:r>
              <a:rPr sz="2000">
                <a:solidFill>
                  <a:srgbClr val="CADCFC"/>
                </a:solidFill>
                <a:latin typeface="Arial"/>
              </a:rPr>
              <a:t>AGL WORKS AT THREE (3) MILLING LOCATIONS — FIELD CONDITION SCOPE</a:t>
            </a:r>
          </a:p>
          <a:p>
            <a:r>
              <a:rPr sz="2000">
                <a:solidFill>
                  <a:srgbClr val="CADCFC"/>
                </a:solidFill>
                <a:latin typeface="Arial"/>
              </a:rPr>
              <a:t>REV P07 — SCOPE PER FIELD SHEETS Document_3 (LOC-01) AND Second_milling_area rev _1 (LOC-02 / LOC-03)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AUH-SK-AGL-TWYE-001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6" name="Text 8"/>
          <p:cNvSpPr/>
          <p:nvPr/>
        </p:nvSpPr>
        <p:spPr>
          <a:xfrm>
            <a:off x="914400" y="68397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 · Rev P07 30.07.2026</a:t>
            </a:r>
            <a:endParaRPr lang="en-US" sz="1300" dirty="0"/>
          </a:p>
        </p:txBody>
      </p:sp>
      <p:sp>
        <p:nvSpPr>
          <p:cNvPr id="7" name="Text 9"/>
          <p:cNvSpPr/>
          <p:nvPr/>
        </p:nvSpPr>
        <p:spPr>
          <a:xfrm>
            <a:off x="4023360" y="6839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Ragesh Menon — AGL Manager, ADB SAFEGATE AGL Team</a:t>
            </a:r>
            <a:endParaRPr lang="en-US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BE10B9B-0A3C-F2F4-B56D-5E329DF49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24407" cy="98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452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AUH-SK-AGL-TWYE-001-1001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51025" y="777240"/>
            <a:ext cx="166132" cy="134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17157" y="911348"/>
            <a:ext cx="522676" cy="41748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39833" y="1328834"/>
            <a:ext cx="2059" cy="16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1892" y="1330519"/>
            <a:ext cx="521647" cy="41889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163539" y="1749409"/>
            <a:ext cx="523612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87151" y="2170170"/>
            <a:ext cx="522021" cy="419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9173" y="2589247"/>
            <a:ext cx="523987" cy="42066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33159" y="3009915"/>
            <a:ext cx="522957" cy="4196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56117" y="3429554"/>
            <a:ext cx="566381" cy="455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22497" y="3884661"/>
            <a:ext cx="522957" cy="413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45455" y="4298123"/>
            <a:ext cx="11885" cy="954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357340" y="4307669"/>
            <a:ext cx="544950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02290" y="4751266"/>
            <a:ext cx="76927" cy="69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79217" y="4820332"/>
            <a:ext cx="69909" cy="76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49126" y="4896417"/>
            <a:ext cx="62328" cy="823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11454" y="4978773"/>
            <a:ext cx="21244" cy="345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32698" y="5013306"/>
            <a:ext cx="43237" cy="151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75935" y="5028467"/>
            <a:ext cx="96580" cy="4492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72515" y="5073388"/>
            <a:ext cx="91620" cy="5428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64136" y="5127667"/>
            <a:ext cx="85818" cy="63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49954" y="5190744"/>
            <a:ext cx="544856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94810" y="5634341"/>
            <a:ext cx="79174" cy="712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73984" y="5705559"/>
            <a:ext cx="71780" cy="787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5764" y="5784359"/>
            <a:ext cx="63545" cy="854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209309" y="5869802"/>
            <a:ext cx="14225" cy="236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167403" y="7240459"/>
            <a:ext cx="91340" cy="74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8743" y="7247946"/>
            <a:ext cx="105003" cy="192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363746" y="7267225"/>
            <a:ext cx="338968" cy="79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206522" y="10155469"/>
            <a:ext cx="19907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004371" y="5981825"/>
            <a:ext cx="8891" cy="72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013261" y="5989031"/>
            <a:ext cx="6457" cy="322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762603" y="7118704"/>
            <a:ext cx="58398" cy="47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821000" y="7166620"/>
            <a:ext cx="16845" cy="649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494818" y="8566102"/>
            <a:ext cx="200929" cy="56516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695746" y="9131266"/>
            <a:ext cx="186423" cy="60999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882169" y="9741258"/>
            <a:ext cx="122674" cy="591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 flipV="1">
            <a:off x="9050973" y="10155469"/>
            <a:ext cx="15554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080275" y="7171861"/>
            <a:ext cx="87128" cy="6859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969095" y="7104386"/>
            <a:ext cx="111180" cy="6747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584177" y="6901305"/>
            <a:ext cx="384918" cy="20308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081341" y="6499167"/>
            <a:ext cx="502836" cy="4021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075913" y="6494862"/>
            <a:ext cx="5428" cy="4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524318" y="6059594"/>
            <a:ext cx="551594" cy="435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92846" y="1790079"/>
            <a:ext cx="475228" cy="37962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68075" y="2169702"/>
            <a:ext cx="521647" cy="4188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489722" y="2588592"/>
            <a:ext cx="523519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013240" y="3009260"/>
            <a:ext cx="522209" cy="41926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535449" y="3428524"/>
            <a:ext cx="524080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059529" y="3849192"/>
            <a:ext cx="522957" cy="4197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582486" y="4268925"/>
            <a:ext cx="569189" cy="45735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151675" y="4726278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51675" y="4726278"/>
            <a:ext cx="526233" cy="4160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677908" y="5142360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77908" y="5142360"/>
            <a:ext cx="544950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 flipV="1">
            <a:off x="5063387" y="5585957"/>
            <a:ext cx="159470" cy="172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63387" y="5758716"/>
            <a:ext cx="421229" cy="56188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 flipV="1">
            <a:off x="5484617" y="6025342"/>
            <a:ext cx="285811" cy="2952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770428" y="6025342"/>
            <a:ext cx="544856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 flipV="1">
            <a:off x="5864856" y="6468938"/>
            <a:ext cx="450428" cy="4409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5864856" y="6909915"/>
            <a:ext cx="338874" cy="6152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203730" y="7525147"/>
            <a:ext cx="289741" cy="63722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493471" y="8162373"/>
            <a:ext cx="224419" cy="63114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6717890" y="8793515"/>
            <a:ext cx="208041" cy="68064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925931" y="9474164"/>
            <a:ext cx="140847" cy="67924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066778" y="10153410"/>
            <a:ext cx="25992" cy="1793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 flipV="1">
            <a:off x="7619078" y="8630957"/>
            <a:ext cx="1493390" cy="17017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9112469" y="8630957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 flipV="1">
            <a:off x="9112469" y="8314918"/>
            <a:ext cx="5147" cy="31603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9117616" y="8314918"/>
            <a:ext cx="585098" cy="13744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466914" y="8056246"/>
            <a:ext cx="1235800" cy="110008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7952847" y="7785035"/>
            <a:ext cx="514067" cy="2712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918314" y="7746852"/>
            <a:ext cx="34533" cy="3818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7409208" y="7339754"/>
            <a:ext cx="509107" cy="40709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857613" y="6904487"/>
            <a:ext cx="551594" cy="4352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4384516" y="3796691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 flipV="1">
            <a:off x="4208762" y="4015681"/>
            <a:ext cx="175754" cy="21908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4032914" y="423476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 flipV="1">
            <a:off x="3857067" y="445375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 flipV="1">
            <a:off x="3681313" y="4672747"/>
            <a:ext cx="175754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 flipV="1">
            <a:off x="3505465" y="4891738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 flipV="1">
            <a:off x="3334952" y="5110728"/>
            <a:ext cx="170513" cy="217587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39840" y="3304806"/>
            <a:ext cx="18436" cy="241619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755979" y="8183804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60"/>
          <p:cNvSpPr/>
          <p:nvPr/>
        </p:nvSpPr>
        <p:spPr>
          <a:xfrm>
            <a:off x="2041048" y="340014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(572.6 m²)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>
            <a:off x="5384817" y="9423123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7884024" y="7712562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272342" y="4858852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878756" y="3621742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894334" y="8118444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918558" y="7750745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9013324" y="8632697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374918" y="730546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6420624" y="4692269"/>
            <a:ext cx="68580" cy="68580"/>
          </a:xfrm>
          <a:prstGeom prst="ellipse">
            <a:avLst/>
          </a:prstGeom>
          <a:solidFill>
            <a:srgbClr val="1565C0"/>
          </a:solidFill>
          <a:ln w="508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586796" y="5472026"/>
            <a:ext cx="68580" cy="68580"/>
          </a:xfrm>
          <a:prstGeom prst="ellipse">
            <a:avLst/>
          </a:prstGeom>
          <a:solidFill>
            <a:srgbClr val="1565C0"/>
          </a:solidFill>
          <a:ln w="508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419616" y="5902988"/>
            <a:ext cx="68580" cy="68580"/>
          </a:xfrm>
          <a:prstGeom prst="ellipse">
            <a:avLst/>
          </a:prstGeom>
          <a:solidFill>
            <a:srgbClr val="1565C0"/>
          </a:solidFill>
          <a:ln w="508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463695" y="4248673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3025239" y="3814903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2501159" y="3394235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978950" y="2974970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1455432" y="2554303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933785" y="2135413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300662" y="5294025"/>
            <a:ext cx="68580" cy="68580"/>
          </a:xfrm>
          <a:prstGeom prst="ellipse">
            <a:avLst/>
          </a:prstGeom>
          <a:solidFill>
            <a:srgbClr val="D32F2F"/>
          </a:solidFill>
          <a:ln w="508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9078179" y="8596667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59181" y="8128083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6683600" y="8759225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6891641" y="943987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032488" y="10119120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9083326" y="8280628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8432624" y="8021957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197860" y="3126326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892317" y="5444913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4089805" y="7981649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2247569" y="753085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8459230" y="5639665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5486732" y="2320900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5711899" y="2480276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6724778" y="3213146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690676" y="3924398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93708" y="7138882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3532942" y="8333784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161932" y="9868965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8159541" y="4264208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8996946" y="4714075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1665532" y="5927133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280328" y="1571439"/>
            <a:ext cx="82296" cy="82296"/>
          </a:xfrm>
          <a:prstGeom prst="triangle">
            <a:avLst/>
          </a:prstGeom>
          <a:solidFill>
            <a:srgbClr val="827717"/>
          </a:solidFill>
          <a:ln w="5080">
            <a:solidFill>
              <a:srgbClr val="8277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847980" y="4601973"/>
            <a:ext cx="77724" cy="77724"/>
          </a:xfrm>
          <a:prstGeom prst="rect">
            <a:avLst/>
          </a:prstGeom>
          <a:noFill/>
          <a:ln w="9525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752991" y="5160399"/>
            <a:ext cx="77724" cy="77724"/>
          </a:xfrm>
          <a:prstGeom prst="rect">
            <a:avLst/>
          </a:prstGeom>
          <a:solidFill>
            <a:srgbClr val="455A64"/>
          </a:solidFill>
          <a:ln w="5080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3954092" y="1170276"/>
            <a:ext cx="77724" cy="77724"/>
          </a:xfrm>
          <a:prstGeom prst="rect">
            <a:avLst/>
          </a:prstGeom>
          <a:solidFill>
            <a:srgbClr val="455A64"/>
          </a:solidFill>
          <a:ln w="5080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74968" y="2424433"/>
            <a:ext cx="86868" cy="86868"/>
          </a:xfrm>
          <a:prstGeom prst="diamond">
            <a:avLst/>
          </a:prstGeom>
          <a:noFill/>
          <a:ln w="9525">
            <a:solidFill>
              <a:srgbClr val="8277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1544780" y="6765729"/>
            <a:ext cx="82296" cy="82296"/>
          </a:xfrm>
          <a:prstGeom prst="rect">
            <a:avLst/>
          </a:prstGeom>
          <a:solidFill>
            <a:srgbClr val="5F6368"/>
          </a:solidFill>
          <a:ln w="508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861704" y="2258639"/>
            <a:ext cx="82296" cy="82296"/>
          </a:xfrm>
          <a:prstGeom prst="rect">
            <a:avLst/>
          </a:prstGeom>
          <a:solidFill>
            <a:srgbClr val="5F6368"/>
          </a:solidFill>
          <a:ln w="508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9281915" y="6260766"/>
            <a:ext cx="68580" cy="68580"/>
          </a:xfrm>
          <a:prstGeom prst="ellipse">
            <a:avLst/>
          </a:prstGeom>
          <a:solidFill>
            <a:srgbClr val="1565C0"/>
          </a:solidFill>
          <a:ln w="508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Text 211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85566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8979408" y="852058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8979408" y="820454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46379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8979408" y="618468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262" name="Shape 260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Marker 380"/>
          <p:cNvSpPr/>
          <p:nvPr/>
        </p:nvSpPr>
        <p:spPr>
          <a:xfrm>
            <a:off x="4046494" y="4621103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Marker 378"/>
          <p:cNvSpPr/>
          <p:nvPr/>
        </p:nvSpPr>
        <p:spPr>
          <a:xfrm>
            <a:off x="4001322" y="4627229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Marker 376"/>
          <p:cNvSpPr/>
          <p:nvPr/>
        </p:nvSpPr>
        <p:spPr>
          <a:xfrm>
            <a:off x="3229752" y="5223144"/>
            <a:ext cx="210312" cy="210312"/>
          </a:xfrm>
          <a:prstGeom prst="ellipse">
            <a:avLst/>
          </a:prstGeom>
          <a:noFill/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Marker 381"/>
          <p:cNvSpPr/>
          <p:nvPr/>
        </p:nvSpPr>
        <p:spPr>
          <a:xfrm>
            <a:off x="4096786" y="467139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Marker 379"/>
          <p:cNvSpPr/>
          <p:nvPr/>
        </p:nvSpPr>
        <p:spPr>
          <a:xfrm>
            <a:off x="4051614" y="467752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Marker 377"/>
          <p:cNvSpPr/>
          <p:nvPr/>
        </p:nvSpPr>
        <p:spPr>
          <a:xfrm>
            <a:off x="3280044" y="527343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Text 262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265" name="Shape 263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Text 265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Text 268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Text 274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Text 277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Text 280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Text 283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Text 286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Text 289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Text 292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297" name="Text 295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300" name="Text 298"/>
          <p:cNvSpPr/>
          <p:nvPr/>
        </p:nvSpPr>
        <p:spPr>
          <a:xfrm>
            <a:off x="4225345" y="4512905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50" b="1">
                <a:solidFill>
                  <a:srgbClr val="1F2937"/>
                </a:solidFill>
                <a:latin typeface="Arial"/>
              </a:rPr>
              <a:t>TCCECH-03/035 + 03/018  (0.49 m apart)</a:t>
            </a:r>
            <a:endParaRPr lang="en-US" sz="650" dirty="0"/>
          </a:p>
        </p:txBody>
      </p:sp>
      <p:sp>
        <p:nvSpPr>
          <p:cNvPr id="304" name="Shape 302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Text 303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306" name="Shape 304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P07 (ISSUED)</a:t>
            </a:r>
            <a:endParaRPr lang="en-US" sz="1250" dirty="0"/>
          </a:p>
        </p:txBody>
      </p:sp>
      <p:sp>
        <p:nvSpPr>
          <p:cNvPr id="308" name="Text 306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(15 No. LIGHTS LISTED) — FIELD CONDITION GOVERNS</a:t>
            </a:r>
            <a:endParaRPr lang="en-US" sz="800" dirty="0"/>
          </a:p>
        </p:txBody>
      </p:sp>
      <p:sp>
        <p:nvSpPr>
          <p:cNvPr id="309" name="Text 307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10" name="Shape 308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Text 309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2" name="Text 310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CORE OUT SHALLOW BASE + NEW CABLE: 11 No.   (SEC. CABLE YES / SHALLOW BASE YES)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(6): SBC102-02/024, 01/027, 02/025, 01/028, 02/026, 01/029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(5): TCCECH-04/034, 03/036, 04/035, 03/037, 04/036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— NO CORING: 3 No.   (SEC. CABLE YES / SHALLOW BASE NO)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(1): SBC102-02/027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(2): TCCECH-03/035, 03/018 — 0.49 m apart, one shared label; bases sound, verify at cut line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VERIFIED NOT AFFECTED: SBC102-01/026 (SEC. CABLE NO / SHALLOW BASE NO — no works)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15 No. — 14 secondary cables, 11 core-outs, 0 dummy plates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NOT ON FIELD SHEET — CONFIRM BEFORE WORKS: TCC103-11/021, 11/126, 12/021, 12/022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secondary routes appear to cross the cut; not listed on Document_3 — shown grey, no action assumed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SITE RECORD 23.07.2026: 9 cored + 2 reinstatement completed</a:t>
            </a:r>
          </a:p>
        </p:txBody>
      </p:sp>
      <p:sp>
        <p:nvSpPr>
          <p:cNvPr id="313" name="Shape 311"/>
          <p:cNvSpPr/>
          <p:nvPr/>
        </p:nvSpPr>
        <p:spPr>
          <a:xfrm>
            <a:off x="10104120" y="466984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Text 312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5" name="Text 313"/>
          <p:cNvSpPr/>
          <p:nvPr/>
        </p:nvSpPr>
        <p:spPr>
          <a:xfrm>
            <a:off x="10241280" y="499902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Document_3 — outer ring from the Secondary-cable / Shallow-base columns, inner disc from Duct / Sawcut. Assets not listed on the field sheet are shown grey with no action assumed.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7. Existing assets carry the symbol of their as-built class — see legend. Class is resolved from the AGL asset survey against the AGL duct-layout CAD; where an asset is labelled the label governs. Where a works marker is drawn the asset symbol sits beneath it, so legend counts include assets under works markers. Civil items (handhole / manhole / pits / RRM) plot about 2.1 m from the surveyed insertion point — set out from survey, not from this sheet, and confirm the individual pit before works.</a:t>
            </a:r>
          </a:p>
        </p:txBody>
      </p:sp>
      <p:sp>
        <p:nvSpPr>
          <p:cNvPr id="316" name="Shape 314"/>
          <p:cNvSpPr/>
          <p:nvPr/>
        </p:nvSpPr>
        <p:spPr>
          <a:xfrm>
            <a:off x="10104120" y="7047281"/>
            <a:ext cx="4709160" cy="341985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Grey Highlight">
            <a:extLst>
              <a:ext uri="{FF2B5EF4-FFF2-40B4-BE49-F238E27FC236}">
                <a16:creationId xmlns:a16="http://schemas.microsoft.com/office/drawing/2014/main" id="{246F1E80-1B7C-462F-9F40-F42EF329A5D3}"/>
              </a:ext>
            </a:extLst>
          </p:cNvPr>
          <p:cNvSpPr/>
          <p:nvPr/>
        </p:nvSpPr>
        <p:spPr>
          <a:xfrm rot="18714653">
            <a:off x="3044690" y="4239941"/>
            <a:ext cx="1671160" cy="454665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Shape 170">
            <a:extLst>
              <a:ext uri="{FF2B5EF4-FFF2-40B4-BE49-F238E27FC236}">
                <a16:creationId xmlns:a16="http://schemas.microsoft.com/office/drawing/2014/main" id="{7221B951-0D07-78F9-039D-D3505F67C140}"/>
              </a:ext>
            </a:extLst>
          </p:cNvPr>
          <p:cNvSpPr/>
          <p:nvPr/>
        </p:nvSpPr>
        <p:spPr>
          <a:xfrm>
            <a:off x="6275107" y="6435616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170">
            <a:extLst>
              <a:ext uri="{FF2B5EF4-FFF2-40B4-BE49-F238E27FC236}">
                <a16:creationId xmlns:a16="http://schemas.microsoft.com/office/drawing/2014/main" id="{662DE4F9-B73E-E339-8EE9-3ABDEB5EA08A}"/>
              </a:ext>
            </a:extLst>
          </p:cNvPr>
          <p:cNvSpPr/>
          <p:nvPr/>
        </p:nvSpPr>
        <p:spPr>
          <a:xfrm>
            <a:off x="6824155" y="6870197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00">
            <a:extLst>
              <a:ext uri="{FF2B5EF4-FFF2-40B4-BE49-F238E27FC236}">
                <a16:creationId xmlns:a16="http://schemas.microsoft.com/office/drawing/2014/main" id="{F8F48875-14A6-115D-5973-674769B5723D}"/>
              </a:ext>
            </a:extLst>
          </p:cNvPr>
          <p:cNvSpPr/>
          <p:nvPr/>
        </p:nvSpPr>
        <p:spPr>
          <a:xfrm>
            <a:off x="5690064" y="601792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278">
            <a:extLst>
              <a:ext uri="{FF2B5EF4-FFF2-40B4-BE49-F238E27FC236}">
                <a16:creationId xmlns:a16="http://schemas.microsoft.com/office/drawing/2014/main" id="{4ED85B39-9CA1-594D-C992-008D3625D99B}"/>
              </a:ext>
            </a:extLst>
          </p:cNvPr>
          <p:cNvSpPr/>
          <p:nvPr/>
        </p:nvSpPr>
        <p:spPr>
          <a:xfrm>
            <a:off x="5630525" y="5932162"/>
            <a:ext cx="210312" cy="210312"/>
          </a:xfrm>
          <a:prstGeom prst="ellipse">
            <a:avLst/>
          </a:prstGeom>
          <a:noFill/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146">
            <a:extLst>
              <a:ext uri="{FF2B5EF4-FFF2-40B4-BE49-F238E27FC236}">
                <a16:creationId xmlns:a16="http://schemas.microsoft.com/office/drawing/2014/main" id="{B15E7995-DB0D-EFB0-3600-AA7BC9EFE817}"/>
              </a:ext>
            </a:extLst>
          </p:cNvPr>
          <p:cNvSpPr/>
          <p:nvPr/>
        </p:nvSpPr>
        <p:spPr>
          <a:xfrm flipH="1">
            <a:off x="4327634" y="7470282"/>
            <a:ext cx="1848301" cy="37956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70">
            <a:extLst>
              <a:ext uri="{FF2B5EF4-FFF2-40B4-BE49-F238E27FC236}">
                <a16:creationId xmlns:a16="http://schemas.microsoft.com/office/drawing/2014/main" id="{A8223C1A-FD59-957F-E689-730AD440F6AD}"/>
              </a:ext>
            </a:extLst>
          </p:cNvPr>
          <p:cNvSpPr/>
          <p:nvPr/>
        </p:nvSpPr>
        <p:spPr>
          <a:xfrm>
            <a:off x="4532828" y="3756381"/>
            <a:ext cx="68580" cy="68580"/>
          </a:xfrm>
          <a:prstGeom prst="ellipse">
            <a:avLst/>
          </a:prstGeom>
          <a:solidFill>
            <a:srgbClr val="D32F2F"/>
          </a:solidFill>
          <a:ln w="508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02">
            <a:extLst>
              <a:ext uri="{FF2B5EF4-FFF2-40B4-BE49-F238E27FC236}">
                <a16:creationId xmlns:a16="http://schemas.microsoft.com/office/drawing/2014/main" id="{4ADD28C2-0E55-FA3A-1A77-4EDB5A3435C1}"/>
              </a:ext>
            </a:extLst>
          </p:cNvPr>
          <p:cNvSpPr/>
          <p:nvPr/>
        </p:nvSpPr>
        <p:spPr>
          <a:xfrm>
            <a:off x="5103758" y="5448718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171">
            <a:extLst>
              <a:ext uri="{FF2B5EF4-FFF2-40B4-BE49-F238E27FC236}">
                <a16:creationId xmlns:a16="http://schemas.microsoft.com/office/drawing/2014/main" id="{54D82B85-A5FF-E1D9-9160-FC6CA81B1A65}"/>
              </a:ext>
            </a:extLst>
          </p:cNvPr>
          <p:cNvSpPr/>
          <p:nvPr/>
        </p:nvSpPr>
        <p:spPr>
          <a:xfrm>
            <a:off x="5177743" y="5523170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02">
            <a:extLst>
              <a:ext uri="{FF2B5EF4-FFF2-40B4-BE49-F238E27FC236}">
                <a16:creationId xmlns:a16="http://schemas.microsoft.com/office/drawing/2014/main" id="{14FA482E-7F94-AAB6-D137-D95AAC9E7B05}"/>
              </a:ext>
            </a:extLst>
          </p:cNvPr>
          <p:cNvSpPr/>
          <p:nvPr/>
        </p:nvSpPr>
        <p:spPr>
          <a:xfrm>
            <a:off x="6215341" y="6363782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02">
            <a:extLst>
              <a:ext uri="{FF2B5EF4-FFF2-40B4-BE49-F238E27FC236}">
                <a16:creationId xmlns:a16="http://schemas.microsoft.com/office/drawing/2014/main" id="{4B1B3851-4D63-D8B8-0273-172A4103567C}"/>
              </a:ext>
            </a:extLst>
          </p:cNvPr>
          <p:cNvSpPr/>
          <p:nvPr/>
        </p:nvSpPr>
        <p:spPr>
          <a:xfrm>
            <a:off x="6756893" y="6777533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02">
            <a:extLst>
              <a:ext uri="{FF2B5EF4-FFF2-40B4-BE49-F238E27FC236}">
                <a16:creationId xmlns:a16="http://schemas.microsoft.com/office/drawing/2014/main" id="{D33705A0-B1CE-D896-972C-F3CBA8F6F186}"/>
              </a:ext>
            </a:extLst>
          </p:cNvPr>
          <p:cNvSpPr/>
          <p:nvPr/>
        </p:nvSpPr>
        <p:spPr>
          <a:xfrm>
            <a:off x="7304051" y="7263859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Grey Highlight">
            <a:extLst>
              <a:ext uri="{FF2B5EF4-FFF2-40B4-BE49-F238E27FC236}">
                <a16:creationId xmlns:a16="http://schemas.microsoft.com/office/drawing/2014/main" id="{0A0C7A60-E0FA-4ED9-8E0F-4C2F1A8722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8714653">
            <a:off x="4775653" y="4280508"/>
            <a:ext cx="778021" cy="3765814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7" name="Shape 144">
            <a:extLst>
              <a:ext uri="{FF2B5EF4-FFF2-40B4-BE49-F238E27FC236}">
                <a16:creationId xmlns:a16="http://schemas.microsoft.com/office/drawing/2014/main" id="{5E3C2CB6-75CD-7E8E-ED54-62C7C65286C8}"/>
              </a:ext>
            </a:extLst>
          </p:cNvPr>
          <p:cNvSpPr/>
          <p:nvPr/>
        </p:nvSpPr>
        <p:spPr>
          <a:xfrm flipV="1">
            <a:off x="3624336" y="8042362"/>
            <a:ext cx="474719" cy="30316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149">
            <a:extLst>
              <a:ext uri="{FF2B5EF4-FFF2-40B4-BE49-F238E27FC236}">
                <a16:creationId xmlns:a16="http://schemas.microsoft.com/office/drawing/2014/main" id="{1A51C71C-549F-C5ED-3062-6CC8DFE36A14}"/>
              </a:ext>
            </a:extLst>
          </p:cNvPr>
          <p:cNvSpPr/>
          <p:nvPr/>
        </p:nvSpPr>
        <p:spPr>
          <a:xfrm>
            <a:off x="3487475" y="8280021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149">
            <a:extLst>
              <a:ext uri="{FF2B5EF4-FFF2-40B4-BE49-F238E27FC236}">
                <a16:creationId xmlns:a16="http://schemas.microsoft.com/office/drawing/2014/main" id="{92B39F82-641C-9A6F-074E-96ABC77E3E64}"/>
              </a:ext>
            </a:extLst>
          </p:cNvPr>
          <p:cNvSpPr/>
          <p:nvPr/>
        </p:nvSpPr>
        <p:spPr>
          <a:xfrm>
            <a:off x="4600010" y="6265795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879555BC-1A8C-CABD-F564-6DF188772C03}"/>
              </a:ext>
            </a:extLst>
          </p:cNvPr>
          <p:cNvCxnSpPr/>
          <p:nvPr/>
        </p:nvCxnSpPr>
        <p:spPr>
          <a:xfrm>
            <a:off x="0" y="3038521"/>
            <a:ext cx="4549485" cy="3906304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5" name="Picture 37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37FBC65-0A27-B45C-A746-664A2E926D76}"/>
              </a:ext>
            </a:extLst>
          </p:cNvPr>
          <p:cNvSpPr txBox="1"/>
          <p:nvPr/>
        </p:nvSpPr>
        <p:spPr>
          <a:xfrm>
            <a:off x="5786671" y="5858817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>TCC103-11/021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C693A0-3602-FE91-F942-02715422EA80}"/>
              </a:ext>
            </a:extLst>
          </p:cNvPr>
          <p:cNvSpPr txBox="1"/>
          <p:nvPr/>
        </p:nvSpPr>
        <p:spPr>
          <a:xfrm>
            <a:off x="6366286" y="6340617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 xml:space="preserve">TCC103-11/126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F0B66D-52A1-A49A-7E09-7CB6CCAC5DC7}"/>
              </a:ext>
            </a:extLst>
          </p:cNvPr>
          <p:cNvSpPr txBox="1"/>
          <p:nvPr/>
        </p:nvSpPr>
        <p:spPr>
          <a:xfrm>
            <a:off x="6892547" y="6636083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>TCC103-12/021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FBD051-289C-C914-65AD-808E4BBD068B}"/>
              </a:ext>
            </a:extLst>
          </p:cNvPr>
          <p:cNvSpPr txBox="1"/>
          <p:nvPr/>
        </p:nvSpPr>
        <p:spPr>
          <a:xfrm>
            <a:off x="4655169" y="5143911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>TCC103-12/022</a:t>
            </a:r>
          </a:p>
        </p:txBody>
      </p:sp>
      <p:sp>
        <p:nvSpPr>
          <p:cNvPr id="53" name="Shape 171">
            <a:extLst>
              <a:ext uri="{FF2B5EF4-FFF2-40B4-BE49-F238E27FC236}">
                <a16:creationId xmlns:a16="http://schemas.microsoft.com/office/drawing/2014/main" id="{532F0977-AC9F-5141-D4F2-6F27258D6E1E}"/>
              </a:ext>
            </a:extLst>
          </p:cNvPr>
          <p:cNvSpPr/>
          <p:nvPr/>
        </p:nvSpPr>
        <p:spPr>
          <a:xfrm>
            <a:off x="3547070" y="4235127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302">
            <a:extLst>
              <a:ext uri="{FF2B5EF4-FFF2-40B4-BE49-F238E27FC236}">
                <a16:creationId xmlns:a16="http://schemas.microsoft.com/office/drawing/2014/main" id="{06E9AD3F-234C-0497-7DCA-40053624211B}"/>
              </a:ext>
            </a:extLst>
          </p:cNvPr>
          <p:cNvSpPr/>
          <p:nvPr/>
        </p:nvSpPr>
        <p:spPr>
          <a:xfrm>
            <a:off x="3471001" y="4148546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Legend 382"/>
          <p:cNvSpPr/>
          <p:nvPr/>
        </p:nvSpPr>
        <p:spPr>
          <a:xfrm>
            <a:off x="10305288" y="7339888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WORKS ACTIONS</a:t>
            </a:r>
            <a:endParaRPr lang="en-US" sz="740" dirty="0"/>
          </a:p>
        </p:txBody>
      </p:sp>
      <p:sp>
        <p:nvSpPr>
          <p:cNvPr id="383" name="Legend 383"/>
          <p:cNvSpPr/>
          <p:nvPr/>
        </p:nvSpPr>
        <p:spPr>
          <a:xfrm>
            <a:off x="10305288" y="7511338"/>
            <a:ext cx="192024" cy="192024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Legend 384"/>
          <p:cNvSpPr/>
          <p:nvPr/>
        </p:nvSpPr>
        <p:spPr>
          <a:xfrm>
            <a:off x="10351008" y="7557058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Legend 385"/>
          <p:cNvSpPr/>
          <p:nvPr/>
        </p:nvSpPr>
        <p:spPr>
          <a:xfrm>
            <a:off x="10533888" y="751819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CORE OUT + NEW CABLE (DUCT)</a:t>
            </a:r>
            <a:endParaRPr lang="en-US" sz="740" dirty="0"/>
          </a:p>
        </p:txBody>
      </p:sp>
      <p:sp>
        <p:nvSpPr>
          <p:cNvPr id="386" name="Legend 386"/>
          <p:cNvSpPr/>
          <p:nvPr/>
        </p:nvSpPr>
        <p:spPr>
          <a:xfrm>
            <a:off x="10305288" y="7689646"/>
            <a:ext cx="192024" cy="192024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Legend 387"/>
          <p:cNvSpPr/>
          <p:nvPr/>
        </p:nvSpPr>
        <p:spPr>
          <a:xfrm>
            <a:off x="10351008" y="7735366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Legend 388"/>
          <p:cNvSpPr/>
          <p:nvPr/>
        </p:nvSpPr>
        <p:spPr>
          <a:xfrm>
            <a:off x="10533888" y="769650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CORE OUT + NEW CABLE (SAWCUT)</a:t>
            </a:r>
            <a:endParaRPr lang="en-US" sz="740" dirty="0"/>
          </a:p>
        </p:txBody>
      </p:sp>
      <p:sp>
        <p:nvSpPr>
          <p:cNvPr id="389" name="Legend 389"/>
          <p:cNvSpPr/>
          <p:nvPr/>
        </p:nvSpPr>
        <p:spPr>
          <a:xfrm>
            <a:off x="10305288" y="7867954"/>
            <a:ext cx="192024" cy="192024"/>
          </a:xfrm>
          <a:prstGeom prst="ellipse">
            <a:avLst/>
          </a:prstGeom>
          <a:noFill/>
          <a:ln w="190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Legend 390"/>
          <p:cNvSpPr/>
          <p:nvPr/>
        </p:nvSpPr>
        <p:spPr>
          <a:xfrm>
            <a:off x="10351008" y="7913674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Legend 391"/>
          <p:cNvSpPr/>
          <p:nvPr/>
        </p:nvSpPr>
        <p:spPr>
          <a:xfrm>
            <a:off x="10533888" y="787481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(DUCT)</a:t>
            </a:r>
            <a:endParaRPr lang="en-US" sz="740" dirty="0"/>
          </a:p>
        </p:txBody>
      </p:sp>
      <p:sp>
        <p:nvSpPr>
          <p:cNvPr id="392" name="Legend 392"/>
          <p:cNvSpPr/>
          <p:nvPr/>
        </p:nvSpPr>
        <p:spPr>
          <a:xfrm>
            <a:off x="10305288" y="8046262"/>
            <a:ext cx="192024" cy="192024"/>
          </a:xfrm>
          <a:prstGeom prst="ellipse">
            <a:avLst/>
          </a:prstGeom>
          <a:noFill/>
          <a:ln w="190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Legend 393"/>
          <p:cNvSpPr/>
          <p:nvPr/>
        </p:nvSpPr>
        <p:spPr>
          <a:xfrm>
            <a:off x="10351008" y="8091982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Legend 394"/>
          <p:cNvSpPr/>
          <p:nvPr/>
        </p:nvSpPr>
        <p:spPr>
          <a:xfrm>
            <a:off x="10533888" y="8053120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(SAWCUT)</a:t>
            </a:r>
            <a:endParaRPr lang="en-US" sz="740" dirty="0"/>
          </a:p>
        </p:txBody>
      </p:sp>
      <p:sp>
        <p:nvSpPr>
          <p:cNvPr id="395" name="Legend 395"/>
          <p:cNvSpPr/>
          <p:nvPr/>
        </p:nvSpPr>
        <p:spPr>
          <a:xfrm>
            <a:off x="10305288" y="8224570"/>
            <a:ext cx="192024" cy="192024"/>
          </a:xfrm>
          <a:prstGeom prst="ellipse">
            <a:avLst/>
          </a:prstGeom>
          <a:noFill/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Legend 396"/>
          <p:cNvSpPr/>
          <p:nvPr/>
        </p:nvSpPr>
        <p:spPr>
          <a:xfrm>
            <a:off x="10533888" y="823142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NOT AFFECTED / NOT ON FIELD SHEET</a:t>
            </a:r>
            <a:endParaRPr lang="en-US" sz="740" dirty="0"/>
          </a:p>
        </p:txBody>
      </p:sp>
      <p:sp>
        <p:nvSpPr>
          <p:cNvPr id="397" name="Legend 397"/>
          <p:cNvSpPr/>
          <p:nvPr/>
        </p:nvSpPr>
        <p:spPr>
          <a:xfrm>
            <a:off x="10305288" y="8409736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AREAS &amp; LINEWORK</a:t>
            </a:r>
            <a:endParaRPr lang="en-US" sz="740" dirty="0"/>
          </a:p>
        </p:txBody>
      </p:sp>
      <p:sp>
        <p:nvSpPr>
          <p:cNvPr id="398" name="Legend 398"/>
          <p:cNvSpPr/>
          <p:nvPr/>
        </p:nvSpPr>
        <p:spPr>
          <a:xfrm>
            <a:off x="10305288" y="8617762"/>
            <a:ext cx="201168" cy="118872"/>
          </a:xfrm>
          <a:prstGeom prst="rect">
            <a:avLst/>
          </a:prstGeom>
          <a:solidFill>
            <a:srgbClr val="BFBFBF"/>
          </a:solidFill>
          <a:ln w="6350">
            <a:solidFill>
              <a:srgbClr val="7A82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9" name="Legend 399"/>
          <p:cNvSpPr/>
          <p:nvPr/>
        </p:nvSpPr>
        <p:spPr>
          <a:xfrm>
            <a:off x="10533888" y="858804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MILLING / CUT AREA</a:t>
            </a:r>
            <a:endParaRPr lang="en-US" sz="740" dirty="0"/>
          </a:p>
        </p:txBody>
      </p:sp>
      <p:sp>
        <p:nvSpPr>
          <p:cNvPr id="400" name="Legend 400"/>
          <p:cNvSpPr/>
          <p:nvPr/>
        </p:nvSpPr>
        <p:spPr>
          <a:xfrm>
            <a:off x="10287000" y="8855506"/>
            <a:ext cx="237744" cy="914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Legend 401"/>
          <p:cNvSpPr/>
          <p:nvPr/>
        </p:nvSpPr>
        <p:spPr>
          <a:xfrm>
            <a:off x="10533888" y="876635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WORKS DEMARCATION (GOVERNING)</a:t>
            </a:r>
            <a:endParaRPr lang="en-US" sz="740" dirty="0"/>
          </a:p>
        </p:txBody>
      </p:sp>
      <p:sp>
        <p:nvSpPr>
          <p:cNvPr id="402" name="Legend 402"/>
          <p:cNvSpPr/>
          <p:nvPr/>
        </p:nvSpPr>
        <p:spPr>
          <a:xfrm>
            <a:off x="10287000" y="9033814"/>
            <a:ext cx="237744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3" name="Legend 403"/>
          <p:cNvSpPr/>
          <p:nvPr/>
        </p:nvSpPr>
        <p:spPr>
          <a:xfrm>
            <a:off x="10533888" y="8944660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SECONDARY DUCT CROSSING CUT (INDIC.)</a:t>
            </a:r>
            <a:endParaRPr lang="en-US" sz="740" dirty="0"/>
          </a:p>
        </p:txBody>
      </p:sp>
      <p:sp>
        <p:nvSpPr>
          <p:cNvPr id="404" name="Legend 404"/>
          <p:cNvSpPr/>
          <p:nvPr/>
        </p:nvSpPr>
        <p:spPr>
          <a:xfrm>
            <a:off x="10287000" y="9212122"/>
            <a:ext cx="237744" cy="914"/>
          </a:xfrm>
          <a:prstGeom prst="line">
            <a:avLst/>
          </a:prstGeom>
          <a:noFill/>
          <a:ln w="1905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5" name="Legend 405"/>
          <p:cNvSpPr/>
          <p:nvPr/>
        </p:nvSpPr>
        <p:spPr>
          <a:xfrm>
            <a:off x="10533888" y="912296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INDICATIVE DUCT — LIGHT TO MH / HH</a:t>
            </a:r>
            <a:endParaRPr lang="en-US" sz="740" dirty="0"/>
          </a:p>
        </p:txBody>
      </p:sp>
      <p:sp>
        <p:nvSpPr>
          <p:cNvPr id="406" name="Legend 406"/>
          <p:cNvSpPr/>
          <p:nvPr/>
        </p:nvSpPr>
        <p:spPr>
          <a:xfrm>
            <a:off x="10287000" y="9390430"/>
            <a:ext cx="23774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407" name="Legend 407"/>
          <p:cNvSpPr/>
          <p:nvPr/>
        </p:nvSpPr>
        <p:spPr>
          <a:xfrm>
            <a:off x="10533888" y="930127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TAXIWAY CENTRELINE (THROUGH TCC)</a:t>
            </a:r>
            <a:endParaRPr lang="en-US" sz="740" dirty="0"/>
          </a:p>
        </p:txBody>
      </p:sp>
      <p:sp>
        <p:nvSpPr>
          <p:cNvPr id="408" name="Legend 408"/>
          <p:cNvSpPr/>
          <p:nvPr/>
        </p:nvSpPr>
        <p:spPr>
          <a:xfrm>
            <a:off x="10287000" y="9568738"/>
            <a:ext cx="237744" cy="914"/>
          </a:xfrm>
          <a:prstGeom prst="line">
            <a:avLst/>
          </a:prstGeom>
          <a:noFill/>
          <a:ln w="1905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Legend 409"/>
          <p:cNvSpPr/>
          <p:nvPr/>
        </p:nvSpPr>
        <p:spPr>
          <a:xfrm>
            <a:off x="10533888" y="947958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STOP BAR (THROUGH SBC)</a:t>
            </a:r>
            <a:endParaRPr lang="en-US" sz="740" dirty="0"/>
          </a:p>
        </p:txBody>
      </p:sp>
      <p:sp>
        <p:nvSpPr>
          <p:cNvPr id="410" name="Legend 410"/>
          <p:cNvSpPr/>
          <p:nvPr/>
        </p:nvSpPr>
        <p:spPr>
          <a:xfrm>
            <a:off x="10287000" y="9747046"/>
            <a:ext cx="237744" cy="914"/>
          </a:xfrm>
          <a:prstGeom prst="line">
            <a:avLst/>
          </a:prstGeom>
          <a:noFill/>
          <a:ln w="1905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Legend 411"/>
          <p:cNvSpPr/>
          <p:nvPr/>
        </p:nvSpPr>
        <p:spPr>
          <a:xfrm>
            <a:off x="10533888" y="965789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TWY EDGE / PAVEMENT (INDIC. 23 m)</a:t>
            </a:r>
            <a:endParaRPr lang="en-US" sz="740" dirty="0"/>
          </a:p>
        </p:txBody>
      </p:sp>
      <p:sp>
        <p:nvSpPr>
          <p:cNvPr id="412" name="Legend 412"/>
          <p:cNvSpPr/>
          <p:nvPr/>
        </p:nvSpPr>
        <p:spPr>
          <a:xfrm>
            <a:off x="12454128" y="7339888"/>
            <a:ext cx="231343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EXISTING ASSETS (AS-BUILT)</a:t>
            </a:r>
            <a:endParaRPr lang="en-US" sz="740" dirty="0"/>
          </a:p>
        </p:txBody>
      </p:sp>
      <p:sp>
        <p:nvSpPr>
          <p:cNvPr id="413" name="Legend 413"/>
          <p:cNvSpPr/>
          <p:nvPr/>
        </p:nvSpPr>
        <p:spPr>
          <a:xfrm>
            <a:off x="12491847" y="7549057"/>
            <a:ext cx="116586" cy="116586"/>
          </a:xfrm>
          <a:prstGeom prst="ellipse">
            <a:avLst/>
          </a:prstGeom>
          <a:solidFill>
            <a:srgbClr val="00A650"/>
          </a:solidFill>
          <a:ln w="8128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Legend 414"/>
          <p:cNvSpPr/>
          <p:nvPr/>
        </p:nvSpPr>
        <p:spPr>
          <a:xfrm>
            <a:off x="12682728" y="751819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Taxiway centreline light  ×21</a:t>
            </a:r>
            <a:endParaRPr lang="en-US" sz="740" dirty="0"/>
          </a:p>
        </p:txBody>
      </p:sp>
      <p:sp>
        <p:nvSpPr>
          <p:cNvPr id="415" name="Legend 415"/>
          <p:cNvSpPr/>
          <p:nvPr/>
        </p:nvSpPr>
        <p:spPr>
          <a:xfrm>
            <a:off x="12491847" y="7727365"/>
            <a:ext cx="116586" cy="116586"/>
          </a:xfrm>
          <a:prstGeom prst="ellipse">
            <a:avLst/>
          </a:prstGeom>
          <a:solidFill>
            <a:srgbClr val="D32F2F"/>
          </a:solidFill>
          <a:ln w="8128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Legend 416"/>
          <p:cNvSpPr/>
          <p:nvPr/>
        </p:nvSpPr>
        <p:spPr>
          <a:xfrm>
            <a:off x="12682728" y="769650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Stop bar light  ×2</a:t>
            </a:r>
            <a:endParaRPr lang="en-US" sz="740" dirty="0"/>
          </a:p>
        </p:txBody>
      </p:sp>
      <p:sp>
        <p:nvSpPr>
          <p:cNvPr id="417" name="Legend 417"/>
          <p:cNvSpPr/>
          <p:nvPr/>
        </p:nvSpPr>
        <p:spPr>
          <a:xfrm>
            <a:off x="12491847" y="7905673"/>
            <a:ext cx="116586" cy="116586"/>
          </a:xfrm>
          <a:prstGeom prst="ellipse">
            <a:avLst/>
          </a:prstGeom>
          <a:solidFill>
            <a:srgbClr val="1565C0"/>
          </a:solidFill>
          <a:ln w="8128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Legend 418"/>
          <p:cNvSpPr/>
          <p:nvPr/>
        </p:nvSpPr>
        <p:spPr>
          <a:xfrm>
            <a:off x="12682728" y="7874812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Taxiway edge light  ×4</a:t>
            </a:r>
            <a:endParaRPr lang="en-US" sz="740" dirty="0"/>
          </a:p>
        </p:txBody>
      </p:sp>
      <p:sp>
        <p:nvSpPr>
          <p:cNvPr id="419" name="Legend 419"/>
          <p:cNvSpPr/>
          <p:nvPr/>
        </p:nvSpPr>
        <p:spPr>
          <a:xfrm>
            <a:off x="12491847" y="8083981"/>
            <a:ext cx="116586" cy="116586"/>
          </a:xfrm>
          <a:prstGeom prst="ellipse">
            <a:avLst/>
          </a:prstGeom>
          <a:solidFill>
            <a:srgbClr val="F2C200"/>
          </a:solidFill>
          <a:ln w="1016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Legend 420"/>
          <p:cNvSpPr/>
          <p:nvPr/>
        </p:nvSpPr>
        <p:spPr>
          <a:xfrm>
            <a:off x="12682728" y="8053120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Runway guard light / RRM  ×4</a:t>
            </a:r>
            <a:endParaRPr lang="en-US" sz="740" dirty="0"/>
          </a:p>
        </p:txBody>
      </p:sp>
      <p:sp>
        <p:nvSpPr>
          <p:cNvPr id="421" name="Legend 421"/>
          <p:cNvSpPr/>
          <p:nvPr/>
        </p:nvSpPr>
        <p:spPr>
          <a:xfrm>
            <a:off x="12481560" y="8252002"/>
            <a:ext cx="137160" cy="137160"/>
          </a:xfrm>
          <a:prstGeom prst="rect">
            <a:avLst/>
          </a:prstGeom>
          <a:solidFill>
            <a:srgbClr val="5F6368"/>
          </a:solidFill>
          <a:ln w="8128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Legend 422"/>
          <p:cNvSpPr/>
          <p:nvPr/>
        </p:nvSpPr>
        <p:spPr>
          <a:xfrm>
            <a:off x="12682728" y="8231428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Sign foundation  ×2</a:t>
            </a:r>
            <a:endParaRPr lang="en-US" sz="740" dirty="0"/>
          </a:p>
        </p:txBody>
      </p:sp>
      <p:sp>
        <p:nvSpPr>
          <p:cNvPr id="423" name="Legend 423"/>
          <p:cNvSpPr/>
          <p:nvPr/>
        </p:nvSpPr>
        <p:spPr>
          <a:xfrm>
            <a:off x="12491847" y="8440597"/>
            <a:ext cx="116586" cy="116586"/>
          </a:xfrm>
          <a:prstGeom prst="rect">
            <a:avLst/>
          </a:prstGeom>
          <a:noFill/>
          <a:ln w="1524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Legend 424"/>
          <p:cNvSpPr/>
          <p:nvPr/>
        </p:nvSpPr>
        <p:spPr>
          <a:xfrm>
            <a:off x="12682728" y="840973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Handhole  ×11</a:t>
            </a:r>
            <a:endParaRPr lang="en-US" sz="740" dirty="0"/>
          </a:p>
        </p:txBody>
      </p:sp>
      <p:sp>
        <p:nvSpPr>
          <p:cNvPr id="425" name="Legend 425"/>
          <p:cNvSpPr/>
          <p:nvPr/>
        </p:nvSpPr>
        <p:spPr>
          <a:xfrm>
            <a:off x="12484075" y="8611133"/>
            <a:ext cx="132130" cy="132130"/>
          </a:xfrm>
          <a:prstGeom prst="rect">
            <a:avLst/>
          </a:prstGeom>
          <a:solidFill>
            <a:srgbClr val="455A64"/>
          </a:solidFill>
          <a:ln w="8128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Legend 426"/>
          <p:cNvSpPr/>
          <p:nvPr/>
        </p:nvSpPr>
        <p:spPr>
          <a:xfrm>
            <a:off x="12682728" y="858804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Manhole  ×2</a:t>
            </a:r>
            <a:endParaRPr lang="en-US" sz="740" dirty="0"/>
          </a:p>
        </p:txBody>
      </p:sp>
      <p:sp>
        <p:nvSpPr>
          <p:cNvPr id="427" name="Legend 427"/>
          <p:cNvSpPr/>
          <p:nvPr/>
        </p:nvSpPr>
        <p:spPr>
          <a:xfrm>
            <a:off x="12484075" y="8789441"/>
            <a:ext cx="132130" cy="132130"/>
          </a:xfrm>
          <a:prstGeom prst="rect">
            <a:avLst/>
          </a:prstGeom>
          <a:noFill/>
          <a:ln w="15240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Legend 428"/>
          <p:cNvSpPr/>
          <p:nvPr/>
        </p:nvSpPr>
        <p:spPr>
          <a:xfrm>
            <a:off x="12682728" y="8766352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Existing manhole  ×1</a:t>
            </a:r>
            <a:endParaRPr lang="en-US" sz="740" dirty="0"/>
          </a:p>
        </p:txBody>
      </p:sp>
      <p:sp>
        <p:nvSpPr>
          <p:cNvPr id="429" name="Legend 429"/>
          <p:cNvSpPr/>
          <p:nvPr/>
        </p:nvSpPr>
        <p:spPr>
          <a:xfrm>
            <a:off x="12481560" y="8965234"/>
            <a:ext cx="137160" cy="137160"/>
          </a:xfrm>
          <a:prstGeom prst="diamond">
            <a:avLst/>
          </a:prstGeom>
          <a:solidFill>
            <a:srgbClr val="12A5B8"/>
          </a:solidFill>
          <a:ln w="8128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Legend 430"/>
          <p:cNvSpPr/>
          <p:nvPr/>
        </p:nvSpPr>
        <p:spPr>
          <a:xfrm>
            <a:off x="12682728" y="8944660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Existing transformer handhole  ×5</a:t>
            </a:r>
            <a:endParaRPr lang="en-US" sz="740" dirty="0"/>
          </a:p>
        </p:txBody>
      </p:sp>
      <p:sp>
        <p:nvSpPr>
          <p:cNvPr id="431" name="Legend 431"/>
          <p:cNvSpPr/>
          <p:nvPr/>
        </p:nvSpPr>
        <p:spPr>
          <a:xfrm>
            <a:off x="12481560" y="9143542"/>
            <a:ext cx="137160" cy="137160"/>
          </a:xfrm>
          <a:prstGeom prst="diamond">
            <a:avLst/>
          </a:prstGeom>
          <a:noFill/>
          <a:ln w="15240">
            <a:solidFill>
              <a:srgbClr val="8277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Legend 432"/>
          <p:cNvSpPr/>
          <p:nvPr/>
        </p:nvSpPr>
        <p:spPr>
          <a:xfrm>
            <a:off x="12682728" y="9122968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Earthing pit  ×1</a:t>
            </a:r>
            <a:endParaRPr lang="en-US" sz="740" dirty="0"/>
          </a:p>
        </p:txBody>
      </p:sp>
      <p:sp>
        <p:nvSpPr>
          <p:cNvPr id="433" name="Legend 433"/>
          <p:cNvSpPr/>
          <p:nvPr/>
        </p:nvSpPr>
        <p:spPr>
          <a:xfrm>
            <a:off x="12481560" y="9321850"/>
            <a:ext cx="137160" cy="137160"/>
          </a:xfrm>
          <a:prstGeom prst="triangle">
            <a:avLst/>
          </a:prstGeom>
          <a:solidFill>
            <a:srgbClr val="827717"/>
          </a:solidFill>
          <a:ln w="8128">
            <a:solidFill>
              <a:srgbClr val="8277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Legend 434"/>
          <p:cNvSpPr/>
          <p:nvPr/>
        </p:nvSpPr>
        <p:spPr>
          <a:xfrm>
            <a:off x="12682728" y="930127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Earthing point  ×1</a:t>
            </a:r>
            <a:endParaRPr lang="en-US" sz="740" dirty="0"/>
          </a:p>
        </p:txBody>
      </p:sp>
      <p:sp>
        <p:nvSpPr>
          <p:cNvPr id="435" name="Legend 435"/>
          <p:cNvSpPr/>
          <p:nvPr/>
        </p:nvSpPr>
        <p:spPr>
          <a:xfrm>
            <a:off x="12472416" y="9491014"/>
            <a:ext cx="155448" cy="155448"/>
          </a:xfrm>
          <a:prstGeom prst="rect">
            <a:avLst/>
          </a:prstGeom>
          <a:noFill/>
          <a:ln w="19050">
            <a:solidFill>
              <a:srgbClr val="BB00B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6" name="Legend 436"/>
          <p:cNvSpPr/>
          <p:nvPr/>
        </p:nvSpPr>
        <p:spPr>
          <a:xfrm>
            <a:off x="12682728" y="947958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AGL feed manhole / handhole</a:t>
            </a:r>
            <a:endParaRPr lang="en-US" sz="740" dirty="0"/>
          </a:p>
        </p:txBody>
      </p:sp>
    </p:spTree>
    <p:extLst>
      <p:ext uri="{BB962C8B-B14F-4D97-AF65-F5344CB8AC3E}">
        <p14:creationId xmlns:p14="http://schemas.microsoft.com/office/powerpoint/2010/main" val="3076207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AUH-SK-AGL-TWYE-001-1002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571627" y="10137349"/>
            <a:ext cx="243215" cy="19537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44963" y="9313422"/>
            <a:ext cx="1026664" cy="82392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17861" y="8488268"/>
            <a:ext cx="1027102" cy="825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93477" y="7665744"/>
            <a:ext cx="1024384" cy="82252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66813" y="6842694"/>
            <a:ext cx="1026664" cy="8230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65936" y="6841993"/>
            <a:ext cx="91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39097" y="6016926"/>
            <a:ext cx="1026839" cy="8250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15064" y="5193701"/>
            <a:ext cx="1024033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89277" y="4371879"/>
            <a:ext cx="1025787" cy="8218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5577" y="3590641"/>
            <a:ext cx="973700" cy="7812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807511" y="7740631"/>
            <a:ext cx="972472" cy="78043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80672" y="6915739"/>
            <a:ext cx="1026839" cy="8248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755323" y="6092339"/>
            <a:ext cx="1025349" cy="82340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28747" y="5269377"/>
            <a:ext cx="1026576" cy="8229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2434" y="4444748"/>
            <a:ext cx="1026313" cy="82462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78050" y="3621260"/>
            <a:ext cx="1024384" cy="8234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76734" y="3620208"/>
            <a:ext cx="1315" cy="10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50597" y="2798123"/>
            <a:ext cx="1026138" cy="822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24722" y="1974898"/>
            <a:ext cx="1025875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99198" y="1151146"/>
            <a:ext cx="1025524" cy="823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5577" y="1003267"/>
            <a:ext cx="183621" cy="1478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202989" y="9351041"/>
            <a:ext cx="576994" cy="46351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6149" y="8526939"/>
            <a:ext cx="1026839" cy="82410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9310" y="7702047"/>
            <a:ext cx="1026839" cy="82489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24575" y="6879173"/>
            <a:ext cx="1024735" cy="822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97561" y="6055860"/>
            <a:ext cx="1027015" cy="82331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070722" y="5230793"/>
            <a:ext cx="1026839" cy="8250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46250" y="4407218"/>
            <a:ext cx="1024472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019761" y="3584869"/>
            <a:ext cx="1026488" cy="82234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93361" y="2761293"/>
            <a:ext cx="1026401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15577" y="2297161"/>
            <a:ext cx="577783" cy="4641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 flipV="1">
            <a:off x="7712800" y="8261679"/>
            <a:ext cx="116714" cy="117328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829514" y="8261679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341473" y="292375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(700.3 m²)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768817" y="7877861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355081" y="5128106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114056" y="6200281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637697" y="1802322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461599" y="1982236"/>
            <a:ext cx="86868" cy="86868"/>
          </a:xfrm>
          <a:prstGeom prst="diamond">
            <a:avLst/>
          </a:prstGeom>
          <a:noFill/>
          <a:ln w="9525">
            <a:solidFill>
              <a:srgbClr val="8277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9168699" y="9316751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141860" y="849264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4036432" y="519650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011960" y="4372928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985472" y="355057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59071" y="272700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63271" y="6021570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090286" y="6844883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115020" y="7667758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556235" y="4143596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910786" y="3721310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763462" y="2662026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8979408" y="92424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87" name="Text 85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89" name="Shape 87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P07 (ISSUED)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(5 No. LIGHTS LISTED) — FIELD CONDITION GOVERNS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• TCCECH-03/007, 04/007, 03/008, 04/008, 03/009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SHALLOW BASES AFFECTED — COLUMN BLANK ON FIELD SHEET, CONFIRMED ‘NO’ 30.07.2026; NO ASSET LIES INSIDE THE MILLING POLYGON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114" name="Shape 112"/>
          <p:cNvSpPr/>
          <p:nvPr/>
        </p:nvSpPr>
        <p:spPr>
          <a:xfrm>
            <a:off x="10104120" y="3744468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10241280" y="4073652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(2nd table) — outer ring from the Secondary-cable / Shallow-base columns, inner disc from Duct / Sawcut. Assets not listed on the field sheet are shown grey with no action assumed. Shallow-base column blank on that sheet; confirmed ‘NO’ 30.07.2026.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7. Existing assets carry the symbol of their as-built class — see legend. Class is resolved from the AGL asset survey against the AGL duct-layout CAD; where an asset is labelled the label governs. Where a works marker is drawn the asset symbol sits beneath it, so legend counts include assets under works markers. Civil items (handhole / manhole / pits / RRM) plot about 2.1 m from the surveyed insertion point — set out from survey, not from this sheet, and confirm the individual pit before works.</a:t>
            </a:r>
          </a:p>
        </p:txBody>
      </p:sp>
      <p:sp>
        <p:nvSpPr>
          <p:cNvPr id="117" name="Shape 115"/>
          <p:cNvSpPr/>
          <p:nvPr/>
        </p:nvSpPr>
        <p:spPr>
          <a:xfrm>
            <a:off x="10104120" y="6121908"/>
            <a:ext cx="4709160" cy="259689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40">
            <a:extLst>
              <a:ext uri="{FF2B5EF4-FFF2-40B4-BE49-F238E27FC236}">
                <a16:creationId xmlns:a16="http://schemas.microsoft.com/office/drawing/2014/main" id="{D27C8498-7573-E4E0-41E7-881526D3264B}"/>
              </a:ext>
            </a:extLst>
          </p:cNvPr>
          <p:cNvSpPr/>
          <p:nvPr/>
        </p:nvSpPr>
        <p:spPr>
          <a:xfrm flipV="1">
            <a:off x="3104373" y="4157768"/>
            <a:ext cx="2495295" cy="19458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42">
            <a:extLst>
              <a:ext uri="{FF2B5EF4-FFF2-40B4-BE49-F238E27FC236}">
                <a16:creationId xmlns:a16="http://schemas.microsoft.com/office/drawing/2014/main" id="{03C16E8E-5297-17CC-6AFE-E3926CB1E9DB}"/>
              </a:ext>
            </a:extLst>
          </p:cNvPr>
          <p:cNvSpPr/>
          <p:nvPr/>
        </p:nvSpPr>
        <p:spPr>
          <a:xfrm>
            <a:off x="5657793" y="4198800"/>
            <a:ext cx="1416398" cy="335258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Grey Highlight">
            <a:extLst>
              <a:ext uri="{FF2B5EF4-FFF2-40B4-BE49-F238E27FC236}">
                <a16:creationId xmlns:a16="http://schemas.microsoft.com/office/drawing/2014/main" id="{B88AC3D4-884E-8C4B-0883-3978141A2CB0}"/>
              </a:ext>
            </a:extLst>
          </p:cNvPr>
          <p:cNvSpPr/>
          <p:nvPr/>
        </p:nvSpPr>
        <p:spPr>
          <a:xfrm rot="18714653">
            <a:off x="4996878" y="3549403"/>
            <a:ext cx="525824" cy="3860156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144" name="Legend 144"/>
          <p:cNvSpPr/>
          <p:nvPr/>
        </p:nvSpPr>
        <p:spPr>
          <a:xfrm>
            <a:off x="10305288" y="6414516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WORKS ACTIONS</a:t>
            </a:r>
            <a:endParaRPr lang="en-US" sz="740" dirty="0"/>
          </a:p>
        </p:txBody>
      </p:sp>
      <p:sp>
        <p:nvSpPr>
          <p:cNvPr id="145" name="Legend 145"/>
          <p:cNvSpPr/>
          <p:nvPr/>
        </p:nvSpPr>
        <p:spPr>
          <a:xfrm>
            <a:off x="10305288" y="6585966"/>
            <a:ext cx="192024" cy="192024"/>
          </a:xfrm>
          <a:prstGeom prst="ellipse">
            <a:avLst/>
          </a:prstGeom>
          <a:noFill/>
          <a:ln w="190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Legend 146"/>
          <p:cNvSpPr/>
          <p:nvPr/>
        </p:nvSpPr>
        <p:spPr>
          <a:xfrm>
            <a:off x="10351008" y="6631686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Legend 147"/>
          <p:cNvSpPr/>
          <p:nvPr/>
        </p:nvSpPr>
        <p:spPr>
          <a:xfrm>
            <a:off x="10533888" y="659282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(DUCT)</a:t>
            </a:r>
            <a:endParaRPr lang="en-US" sz="740" dirty="0"/>
          </a:p>
        </p:txBody>
      </p:sp>
      <p:sp>
        <p:nvSpPr>
          <p:cNvPr id="148" name="Legend 148"/>
          <p:cNvSpPr/>
          <p:nvPr/>
        </p:nvSpPr>
        <p:spPr>
          <a:xfrm>
            <a:off x="10305288" y="6764274"/>
            <a:ext cx="192024" cy="192024"/>
          </a:xfrm>
          <a:prstGeom prst="ellipse">
            <a:avLst/>
          </a:prstGeom>
          <a:noFill/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Legend 149"/>
          <p:cNvSpPr/>
          <p:nvPr/>
        </p:nvSpPr>
        <p:spPr>
          <a:xfrm>
            <a:off x="10351008" y="6809994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Legend 150"/>
          <p:cNvSpPr/>
          <p:nvPr/>
        </p:nvSpPr>
        <p:spPr>
          <a:xfrm>
            <a:off x="10533888" y="677113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RRM — REMOVE / PROTECT / RE-FIX</a:t>
            </a:r>
            <a:endParaRPr lang="en-US" sz="740" dirty="0"/>
          </a:p>
        </p:txBody>
      </p:sp>
      <p:sp>
        <p:nvSpPr>
          <p:cNvPr id="151" name="Legend 151"/>
          <p:cNvSpPr/>
          <p:nvPr/>
        </p:nvSpPr>
        <p:spPr>
          <a:xfrm>
            <a:off x="10305288" y="6949440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AREAS &amp; LINEWORK</a:t>
            </a:r>
            <a:endParaRPr lang="en-US" sz="740" dirty="0"/>
          </a:p>
        </p:txBody>
      </p:sp>
      <p:sp>
        <p:nvSpPr>
          <p:cNvPr id="152" name="Legend 152"/>
          <p:cNvSpPr/>
          <p:nvPr/>
        </p:nvSpPr>
        <p:spPr>
          <a:xfrm>
            <a:off x="10305288" y="7157466"/>
            <a:ext cx="201168" cy="118872"/>
          </a:xfrm>
          <a:prstGeom prst="rect">
            <a:avLst/>
          </a:prstGeom>
          <a:solidFill>
            <a:srgbClr val="BFBFBF"/>
          </a:solidFill>
          <a:ln w="6350">
            <a:solidFill>
              <a:srgbClr val="7A82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3" name="Legend 153"/>
          <p:cNvSpPr/>
          <p:nvPr/>
        </p:nvSpPr>
        <p:spPr>
          <a:xfrm>
            <a:off x="10533888" y="712774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MILLING / CUT AREA</a:t>
            </a:r>
            <a:endParaRPr lang="en-US" sz="740" dirty="0"/>
          </a:p>
        </p:txBody>
      </p:sp>
      <p:sp>
        <p:nvSpPr>
          <p:cNvPr id="154" name="Legend 154"/>
          <p:cNvSpPr/>
          <p:nvPr/>
        </p:nvSpPr>
        <p:spPr>
          <a:xfrm>
            <a:off x="10287000" y="7395210"/>
            <a:ext cx="237744" cy="914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Legend 155"/>
          <p:cNvSpPr/>
          <p:nvPr/>
        </p:nvSpPr>
        <p:spPr>
          <a:xfrm>
            <a:off x="10533888" y="730605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WORKS DEMARCATION (GOVERNING)</a:t>
            </a:r>
            <a:endParaRPr lang="en-US" sz="740" dirty="0"/>
          </a:p>
        </p:txBody>
      </p:sp>
      <p:sp>
        <p:nvSpPr>
          <p:cNvPr id="156" name="Legend 156"/>
          <p:cNvSpPr/>
          <p:nvPr/>
        </p:nvSpPr>
        <p:spPr>
          <a:xfrm>
            <a:off x="10287000" y="7573518"/>
            <a:ext cx="237744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7" name="Legend 157"/>
          <p:cNvSpPr/>
          <p:nvPr/>
        </p:nvSpPr>
        <p:spPr>
          <a:xfrm>
            <a:off x="10533888" y="748436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SECONDARY DUCT CROSSING CUT (INDIC.)</a:t>
            </a:r>
            <a:endParaRPr lang="en-US" sz="740" dirty="0"/>
          </a:p>
        </p:txBody>
      </p:sp>
      <p:sp>
        <p:nvSpPr>
          <p:cNvPr id="158" name="Legend 158"/>
          <p:cNvSpPr/>
          <p:nvPr/>
        </p:nvSpPr>
        <p:spPr>
          <a:xfrm>
            <a:off x="10287000" y="7751826"/>
            <a:ext cx="237744" cy="914"/>
          </a:xfrm>
          <a:prstGeom prst="line">
            <a:avLst/>
          </a:prstGeom>
          <a:noFill/>
          <a:ln w="1905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9" name="Legend 159"/>
          <p:cNvSpPr/>
          <p:nvPr/>
        </p:nvSpPr>
        <p:spPr>
          <a:xfrm>
            <a:off x="10533888" y="766267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INDICATIVE DUCT — LIGHT TO MH / HH</a:t>
            </a:r>
            <a:endParaRPr lang="en-US" sz="740" dirty="0"/>
          </a:p>
        </p:txBody>
      </p:sp>
      <p:sp>
        <p:nvSpPr>
          <p:cNvPr id="160" name="Legend 160"/>
          <p:cNvSpPr/>
          <p:nvPr/>
        </p:nvSpPr>
        <p:spPr>
          <a:xfrm>
            <a:off x="10287000" y="7930134"/>
            <a:ext cx="23774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61" name="Legend 161"/>
          <p:cNvSpPr/>
          <p:nvPr/>
        </p:nvSpPr>
        <p:spPr>
          <a:xfrm>
            <a:off x="10533888" y="7840980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TAXIWAY CENTRELINE (THROUGH TCC)</a:t>
            </a:r>
            <a:endParaRPr lang="en-US" sz="740" dirty="0"/>
          </a:p>
        </p:txBody>
      </p:sp>
      <p:sp>
        <p:nvSpPr>
          <p:cNvPr id="162" name="Legend 162"/>
          <p:cNvSpPr/>
          <p:nvPr/>
        </p:nvSpPr>
        <p:spPr>
          <a:xfrm>
            <a:off x="10287000" y="8108442"/>
            <a:ext cx="237744" cy="914"/>
          </a:xfrm>
          <a:prstGeom prst="line">
            <a:avLst/>
          </a:prstGeom>
          <a:noFill/>
          <a:ln w="1905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Legend 163"/>
          <p:cNvSpPr/>
          <p:nvPr/>
        </p:nvSpPr>
        <p:spPr>
          <a:xfrm>
            <a:off x="10533888" y="801928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TWY EDGE / PAVEMENT (INDIC. 23 m)</a:t>
            </a:r>
            <a:endParaRPr lang="en-US" sz="740" dirty="0"/>
          </a:p>
        </p:txBody>
      </p:sp>
      <p:sp>
        <p:nvSpPr>
          <p:cNvPr id="164" name="Legend 164"/>
          <p:cNvSpPr/>
          <p:nvPr/>
        </p:nvSpPr>
        <p:spPr>
          <a:xfrm>
            <a:off x="12454128" y="6414516"/>
            <a:ext cx="231343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EXISTING ASSETS (AS-BUILT)</a:t>
            </a:r>
            <a:endParaRPr lang="en-US" sz="740" dirty="0"/>
          </a:p>
        </p:txBody>
      </p:sp>
      <p:sp>
        <p:nvSpPr>
          <p:cNvPr id="165" name="Legend 165"/>
          <p:cNvSpPr/>
          <p:nvPr/>
        </p:nvSpPr>
        <p:spPr>
          <a:xfrm>
            <a:off x="12491847" y="6623685"/>
            <a:ext cx="116586" cy="116586"/>
          </a:xfrm>
          <a:prstGeom prst="ellipse">
            <a:avLst/>
          </a:prstGeom>
          <a:solidFill>
            <a:srgbClr val="00A650"/>
          </a:solidFill>
          <a:ln w="8128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Legend 166"/>
          <p:cNvSpPr/>
          <p:nvPr/>
        </p:nvSpPr>
        <p:spPr>
          <a:xfrm>
            <a:off x="12682728" y="659282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Taxiway centreline light  ×9</a:t>
            </a:r>
            <a:endParaRPr lang="en-US" sz="740" dirty="0"/>
          </a:p>
        </p:txBody>
      </p:sp>
      <p:sp>
        <p:nvSpPr>
          <p:cNvPr id="167" name="Legend 167"/>
          <p:cNvSpPr/>
          <p:nvPr/>
        </p:nvSpPr>
        <p:spPr>
          <a:xfrm>
            <a:off x="12491847" y="6801993"/>
            <a:ext cx="116586" cy="116586"/>
          </a:xfrm>
          <a:prstGeom prst="ellipse">
            <a:avLst/>
          </a:prstGeom>
          <a:solidFill>
            <a:srgbClr val="F2C200"/>
          </a:solidFill>
          <a:ln w="1016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Legend 168"/>
          <p:cNvSpPr/>
          <p:nvPr/>
        </p:nvSpPr>
        <p:spPr>
          <a:xfrm>
            <a:off x="12682728" y="6771132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Runway guard light / RRM  ×4</a:t>
            </a:r>
            <a:endParaRPr lang="en-US" sz="740" dirty="0"/>
          </a:p>
        </p:txBody>
      </p:sp>
      <p:sp>
        <p:nvSpPr>
          <p:cNvPr id="169" name="Legend 169"/>
          <p:cNvSpPr/>
          <p:nvPr/>
        </p:nvSpPr>
        <p:spPr>
          <a:xfrm>
            <a:off x="12491847" y="6980301"/>
            <a:ext cx="116586" cy="116586"/>
          </a:xfrm>
          <a:prstGeom prst="rect">
            <a:avLst/>
          </a:prstGeom>
          <a:noFill/>
          <a:ln w="1524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Legend 170"/>
          <p:cNvSpPr/>
          <p:nvPr/>
        </p:nvSpPr>
        <p:spPr>
          <a:xfrm>
            <a:off x="12682728" y="6949440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Handhole  ×2</a:t>
            </a:r>
            <a:endParaRPr lang="en-US" sz="740" dirty="0"/>
          </a:p>
        </p:txBody>
      </p:sp>
      <p:sp>
        <p:nvSpPr>
          <p:cNvPr id="171" name="Legend 171"/>
          <p:cNvSpPr/>
          <p:nvPr/>
        </p:nvSpPr>
        <p:spPr>
          <a:xfrm>
            <a:off x="12481560" y="7148322"/>
            <a:ext cx="137160" cy="137160"/>
          </a:xfrm>
          <a:prstGeom prst="diamond">
            <a:avLst/>
          </a:prstGeom>
          <a:solidFill>
            <a:srgbClr val="12A5B8"/>
          </a:solidFill>
          <a:ln w="8128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Legend 172"/>
          <p:cNvSpPr/>
          <p:nvPr/>
        </p:nvSpPr>
        <p:spPr>
          <a:xfrm>
            <a:off x="12682728" y="7127748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Existing transformer handhole  ×1</a:t>
            </a:r>
            <a:endParaRPr lang="en-US" sz="740" dirty="0"/>
          </a:p>
        </p:txBody>
      </p:sp>
      <p:sp>
        <p:nvSpPr>
          <p:cNvPr id="173" name="Legend 173"/>
          <p:cNvSpPr/>
          <p:nvPr/>
        </p:nvSpPr>
        <p:spPr>
          <a:xfrm>
            <a:off x="12481560" y="7326630"/>
            <a:ext cx="137160" cy="137160"/>
          </a:xfrm>
          <a:prstGeom prst="diamond">
            <a:avLst/>
          </a:prstGeom>
          <a:noFill/>
          <a:ln w="15240">
            <a:solidFill>
              <a:srgbClr val="8277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Legend 174"/>
          <p:cNvSpPr/>
          <p:nvPr/>
        </p:nvSpPr>
        <p:spPr>
          <a:xfrm>
            <a:off x="12682728" y="730605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Earthing pit  ×1</a:t>
            </a:r>
            <a:endParaRPr lang="en-US" sz="740" dirty="0"/>
          </a:p>
        </p:txBody>
      </p:sp>
      <p:sp>
        <p:nvSpPr>
          <p:cNvPr id="175" name="Legend 175"/>
          <p:cNvSpPr/>
          <p:nvPr/>
        </p:nvSpPr>
        <p:spPr>
          <a:xfrm>
            <a:off x="12472416" y="7495794"/>
            <a:ext cx="155448" cy="155448"/>
          </a:xfrm>
          <a:prstGeom prst="rect">
            <a:avLst/>
          </a:prstGeom>
          <a:noFill/>
          <a:ln w="19050">
            <a:solidFill>
              <a:srgbClr val="BB00B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6" name="Legend 176"/>
          <p:cNvSpPr/>
          <p:nvPr/>
        </p:nvSpPr>
        <p:spPr>
          <a:xfrm>
            <a:off x="12682728" y="748436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AGL feed manhole / handhole</a:t>
            </a:r>
            <a:endParaRPr lang="en-US" sz="740" dirty="0"/>
          </a:p>
        </p:txBody>
      </p:sp>
    </p:spTree>
    <p:extLst>
      <p:ext uri="{BB962C8B-B14F-4D97-AF65-F5344CB8AC3E}">
        <p14:creationId xmlns:p14="http://schemas.microsoft.com/office/powerpoint/2010/main" val="128035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AUH-SK-AGL-TWYE-001-1003 REV P07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55348" y="1051881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415709" y="9583565"/>
            <a:ext cx="283772" cy="2279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14605" y="9582661"/>
            <a:ext cx="110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30317" y="9112099"/>
            <a:ext cx="584288" cy="4705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44925" y="8643746"/>
            <a:ext cx="585392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43018" y="8642240"/>
            <a:ext cx="1907" cy="15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56723" y="8171377"/>
            <a:ext cx="586295" cy="4708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69022" y="7703023"/>
            <a:ext cx="587701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62799" y="7698004"/>
            <a:ext cx="6223" cy="50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79013" y="7226138"/>
            <a:ext cx="583786" cy="4718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93521" y="6754572"/>
            <a:ext cx="585492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07928" y="6287523"/>
            <a:ext cx="585593" cy="4670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05419" y="6285515"/>
            <a:ext cx="2509" cy="2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23339" y="5818366"/>
            <a:ext cx="5820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520479" y="5656661"/>
            <a:ext cx="202860" cy="1617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15762" y="5652846"/>
            <a:ext cx="4718" cy="38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43141" y="5433124"/>
            <a:ext cx="272621" cy="21972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34233" y="5383137"/>
            <a:ext cx="108908" cy="499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028136" y="5327629"/>
            <a:ext cx="106097" cy="555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28362" y="5261280"/>
            <a:ext cx="99774" cy="6634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836016" y="5185095"/>
            <a:ext cx="92346" cy="761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752002" y="5099675"/>
            <a:ext cx="84015" cy="8542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740358" y="5085121"/>
            <a:ext cx="11644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665076" y="5068659"/>
            <a:ext cx="75282" cy="16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559782" y="5034933"/>
            <a:ext cx="105294" cy="3372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458202" y="4991269"/>
            <a:ext cx="101580" cy="436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361339" y="4938070"/>
            <a:ext cx="96863" cy="531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269897" y="4875837"/>
            <a:ext cx="91442" cy="622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84878" y="4805172"/>
            <a:ext cx="85018" cy="706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148342" y="4768334"/>
            <a:ext cx="36537" cy="368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67639" y="4756490"/>
            <a:ext cx="80702" cy="118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60036" y="4730091"/>
            <a:ext cx="107603" cy="263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55445" y="4693454"/>
            <a:ext cx="104592" cy="3663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54868" y="4646980"/>
            <a:ext cx="100577" cy="464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59210" y="4590970"/>
            <a:ext cx="95658" cy="5601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69374" y="4526128"/>
            <a:ext cx="89836" cy="6484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5145" y="4496115"/>
            <a:ext cx="34228" cy="300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6300" y="4494810"/>
            <a:ext cx="38845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85284" y="4480256"/>
            <a:ext cx="111016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" y="4465190"/>
            <a:ext cx="65244" cy="15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862125" y="7784127"/>
            <a:ext cx="1013395" cy="814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276834" y="7312762"/>
            <a:ext cx="585292" cy="4713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273823" y="7310453"/>
            <a:ext cx="3011" cy="2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687929" y="6841698"/>
            <a:ext cx="585894" cy="468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100830" y="6370132"/>
            <a:ext cx="587098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097317" y="6367221"/>
            <a:ext cx="3513" cy="291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10921" y="5899972"/>
            <a:ext cx="586396" cy="4672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929444" y="5430012"/>
            <a:ext cx="581477" cy="469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927838" y="5428707"/>
            <a:ext cx="1606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39435" y="4954833"/>
            <a:ext cx="588403" cy="4738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335319" y="4951520"/>
            <a:ext cx="4115" cy="33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748924" y="4483769"/>
            <a:ext cx="586396" cy="467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166744" y="4016620"/>
            <a:ext cx="5821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164034" y="4014512"/>
            <a:ext cx="2710" cy="2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962278" y="3853609"/>
            <a:ext cx="201755" cy="1609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579947" y="3545455"/>
            <a:ext cx="382332" cy="308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503259" y="3488643"/>
            <a:ext cx="76687" cy="5681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422156" y="3438455"/>
            <a:ext cx="81104" cy="501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378392" y="3416071"/>
            <a:ext cx="43764" cy="2238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252019" y="3239610"/>
            <a:ext cx="126373" cy="1764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182257" y="3151581"/>
            <a:ext cx="69761" cy="8803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104366" y="3070778"/>
            <a:ext cx="77892" cy="808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018946" y="2997905"/>
            <a:ext cx="85420" cy="7287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926801" y="2933665"/>
            <a:ext cx="92145" cy="64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868683" y="2901042"/>
            <a:ext cx="58118" cy="326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845798" y="2847643"/>
            <a:ext cx="22886" cy="5340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790290" y="2746865"/>
            <a:ext cx="55508" cy="1007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724945" y="2652110"/>
            <a:ext cx="65345" cy="94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650466" y="2564281"/>
            <a:ext cx="74479" cy="8782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567656" y="2484382"/>
            <a:ext cx="82810" cy="798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477318" y="2413115"/>
            <a:ext cx="90338" cy="71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439476" y="2388925"/>
            <a:ext cx="37842" cy="241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413178" y="2315851"/>
            <a:ext cx="26298" cy="730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65599" y="2215475"/>
            <a:ext cx="47578" cy="10037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308486" y="2120018"/>
            <a:ext cx="57114" cy="9545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914812" y="1528102"/>
            <a:ext cx="393674" cy="591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785546" y="1298442"/>
            <a:ext cx="129266" cy="2296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9313315" y="9627228"/>
            <a:ext cx="229676" cy="1842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8138616" y="8683595"/>
            <a:ext cx="1174699" cy="9436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552823" y="8211828"/>
            <a:ext cx="585793" cy="4717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965925" y="7742371"/>
            <a:ext cx="586898" cy="46945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377923" y="7270002"/>
            <a:ext cx="588002" cy="4723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5788416" y="6800243"/>
            <a:ext cx="589507" cy="469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03827" y="6327774"/>
            <a:ext cx="584589" cy="4724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15424" y="5853899"/>
            <a:ext cx="588403" cy="473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027824" y="5385144"/>
            <a:ext cx="587600" cy="46875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444339" y="4916991"/>
            <a:ext cx="583485" cy="46815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3240174" y="4754181"/>
            <a:ext cx="204164" cy="162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855534" y="4444120"/>
            <a:ext cx="384640" cy="31006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615937" y="4334109"/>
            <a:ext cx="239597" cy="1100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313404" y="3911526"/>
            <a:ext cx="302533" cy="4225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313404" y="3911526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 flipV="1">
            <a:off x="1964498" y="3911526"/>
            <a:ext cx="348906" cy="423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808413" y="3353838"/>
            <a:ext cx="156084" cy="60004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1289068" y="3353838"/>
            <a:ext cx="519345" cy="269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090826" y="3028419"/>
            <a:ext cx="198242" cy="59522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1090826" y="2759312"/>
            <a:ext cx="256561" cy="26910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929924" y="2131662"/>
            <a:ext cx="417463" cy="62765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61544" y="1477211"/>
            <a:ext cx="368379" cy="65445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78115" y="1298442"/>
            <a:ext cx="83429" cy="1787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320040" y="3256882"/>
            <a:ext cx="270413" cy="8742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20040" y="3267801"/>
            <a:ext cx="270413" cy="7650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4461748" y="4530444"/>
            <a:ext cx="189108" cy="236285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4273042" y="4766728"/>
            <a:ext cx="188707" cy="236686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4085941" y="5003415"/>
            <a:ext cx="187101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3897134" y="5238696"/>
            <a:ext cx="188807" cy="23337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3707324" y="5472070"/>
            <a:ext cx="189811" cy="234679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3518918" y="5706748"/>
            <a:ext cx="188405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 flipV="1">
            <a:off x="3331316" y="5942029"/>
            <a:ext cx="187602" cy="235080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870122" y="7028096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2191911" y="403690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(614.4 m²)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8097099" y="6954961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4467955" y="2728580"/>
            <a:ext cx="77724" cy="77724"/>
          </a:xfrm>
          <a:prstGeom prst="rect">
            <a:avLst/>
          </a:prstGeom>
          <a:noFill/>
          <a:ln w="9525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8104326" y="8649305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931635" y="7708081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4246882" y="7011673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2545913" y="5836975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242622" y="2600957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2294974" y="1439107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1244540" y="5114068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4324473" y="3653800"/>
            <a:ext cx="68580" cy="68580"/>
          </a:xfrm>
          <a:prstGeom prst="ellipse">
            <a:avLst/>
          </a:prstGeom>
          <a:solidFill>
            <a:srgbClr val="F2C200"/>
          </a:solidFill>
          <a:ln w="635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726088" y="7808858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279025" y="959293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6343634" y="7235712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5754126" y="6765953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5169537" y="629348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581134" y="581960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518533" y="817753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56163" y="3310012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930208" y="3919595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2581647" y="4299819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254779" y="3589358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815858" y="3246999"/>
            <a:ext cx="73152" cy="73152"/>
          </a:xfrm>
          <a:prstGeom prst="ellipse">
            <a:avLst/>
          </a:prstGeom>
          <a:noFill/>
          <a:ln w="9525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492792" y="3558867"/>
            <a:ext cx="73152" cy="73152"/>
          </a:xfrm>
          <a:prstGeom prst="ellipse">
            <a:avLst/>
          </a:prstGeom>
          <a:noFill/>
          <a:ln w="9525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58786" y="3915000"/>
            <a:ext cx="73152" cy="73152"/>
          </a:xfrm>
          <a:prstGeom prst="ellipse">
            <a:avLst/>
          </a:prstGeom>
          <a:noFill/>
          <a:ln w="9525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795849" y="431738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993534" y="5350854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3862844" y="5437780"/>
            <a:ext cx="68580" cy="68580"/>
          </a:xfrm>
          <a:prstGeom prst="ellipse">
            <a:avLst/>
          </a:prstGeom>
          <a:solidFill>
            <a:srgbClr val="D32F2F"/>
          </a:solidFill>
          <a:ln w="508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3673034" y="5672458"/>
            <a:ext cx="68580" cy="68580"/>
          </a:xfrm>
          <a:prstGeom prst="ellipse">
            <a:avLst/>
          </a:prstGeom>
          <a:solidFill>
            <a:srgbClr val="D32F2F"/>
          </a:solidFill>
          <a:ln w="508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3484628" y="5907739"/>
            <a:ext cx="68580" cy="68580"/>
          </a:xfrm>
          <a:prstGeom prst="ellipse">
            <a:avLst/>
          </a:prstGeom>
          <a:solidFill>
            <a:srgbClr val="D32F2F"/>
          </a:solidFill>
          <a:ln w="508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3297026" y="6142820"/>
            <a:ext cx="68580" cy="68580"/>
          </a:xfrm>
          <a:prstGeom prst="ellipse">
            <a:avLst/>
          </a:prstGeom>
          <a:solidFill>
            <a:srgbClr val="D32F2F"/>
          </a:solidFill>
          <a:ln w="508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56536" y="2994130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233242" y="3941577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205884" y="4719892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27255" y="1442921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313097" y="2725022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2818958" y="4407545"/>
            <a:ext cx="73152" cy="73152"/>
          </a:xfrm>
          <a:prstGeom prst="ellipse">
            <a:avLst/>
          </a:prstGeom>
          <a:noFill/>
          <a:ln w="9525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895634" y="2097372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1774123" y="3319548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410049" y="4882701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279114" y="3877236"/>
            <a:ext cx="68580" cy="68580"/>
          </a:xfrm>
          <a:prstGeom prst="ellipse">
            <a:avLst/>
          </a:prstGeom>
          <a:solidFill>
            <a:srgbClr val="00A650"/>
          </a:solidFill>
          <a:ln w="5080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5443052" y="3797428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8675756" y="6510888"/>
            <a:ext cx="86868" cy="86868"/>
          </a:xfrm>
          <a:prstGeom prst="diamond">
            <a:avLst/>
          </a:prstGeom>
          <a:solidFill>
            <a:srgbClr val="12A5B8"/>
          </a:solidFill>
          <a:ln w="5080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9110494" y="6048968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5738066" y="3166274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5948956" y="3336712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275590" y="1739833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8005255" y="5173691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7044357" y="4189606"/>
            <a:ext cx="68580" cy="68580"/>
          </a:xfrm>
          <a:prstGeom prst="rect">
            <a:avLst/>
          </a:prstGeom>
          <a:noFill/>
          <a:ln w="9525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1637858" y="6262011"/>
            <a:ext cx="77724" cy="77724"/>
          </a:xfrm>
          <a:prstGeom prst="rect">
            <a:avLst/>
          </a:prstGeom>
          <a:noFill/>
          <a:ln w="9525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622434" y="2030466"/>
            <a:ext cx="77724" cy="77724"/>
          </a:xfrm>
          <a:prstGeom prst="rect">
            <a:avLst/>
          </a:prstGeom>
          <a:solidFill>
            <a:srgbClr val="455A64"/>
          </a:solidFill>
          <a:ln w="5080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980698" y="6584418"/>
            <a:ext cx="77724" cy="77724"/>
          </a:xfrm>
          <a:prstGeom prst="rect">
            <a:avLst/>
          </a:prstGeom>
          <a:solidFill>
            <a:srgbClr val="455A64"/>
          </a:solidFill>
          <a:ln w="5080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1626438" y="8335096"/>
            <a:ext cx="82296" cy="82296"/>
          </a:xfrm>
          <a:prstGeom prst="rect">
            <a:avLst/>
          </a:prstGeom>
          <a:solidFill>
            <a:srgbClr val="5F6368"/>
          </a:solidFill>
          <a:ln w="508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743755" y="2330814"/>
            <a:ext cx="82296" cy="82296"/>
          </a:xfrm>
          <a:prstGeom prst="rect">
            <a:avLst/>
          </a:prstGeom>
          <a:solidFill>
            <a:srgbClr val="5F6368"/>
          </a:solidFill>
          <a:ln w="508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Text 208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211" name="Text 209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212" name="Text 210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213" name="Text 211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214" name="Text 212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216" name="Text 214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95148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027061" y="391005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351632" y="357981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2892702" y="430784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2330096" y="400061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2918098" y="440029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59708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262" name="Text 260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263" name="Shape 261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Text 263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266" name="Shape 264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Text 266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269" name="Shape 267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Text 269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272" name="Shape 270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Text 272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Text 275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278" name="Shape 276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Text 278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281" name="Shape 279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Text 281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284" name="Shape 282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Text 284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287" name="Shape 285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Text 287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290" name="Shape 288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Text 290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293" name="Shape 291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Text 293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296" name="Shape 294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Text 296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299" name="Shape 297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302" name="Shape 300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Text 302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305" name="Shape 303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Text 304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P07 (ISSUED)</a:t>
            </a:r>
            <a:endParaRPr lang="en-US" sz="1250" dirty="0"/>
          </a:p>
        </p:txBody>
      </p:sp>
      <p:sp>
        <p:nvSpPr>
          <p:cNvPr id="307" name="Text 305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(12 No. LIGHTS LISTED) — FIELD CONDITION GOVERNS (supersedes the earlier no-works revision)</a:t>
            </a:r>
            <a:endParaRPr lang="en-US" sz="800" dirty="0"/>
          </a:p>
        </p:txBody>
      </p:sp>
      <p:sp>
        <p:nvSpPr>
          <p:cNvPr id="308" name="Text 306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09" name="Shape 307"/>
          <p:cNvSpPr/>
          <p:nvPr/>
        </p:nvSpPr>
        <p:spPr>
          <a:xfrm>
            <a:off x="10104120" y="2057400"/>
            <a:ext cx="4709160" cy="180868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Text 308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1" name="Text 309"/>
          <p:cNvSpPr/>
          <p:nvPr/>
        </p:nvSpPr>
        <p:spPr>
          <a:xfrm>
            <a:off x="10241280" y="2386584"/>
            <a:ext cx="4434840" cy="14246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SHALLOW BASE AFFECTED — NO CORING; DUMMY PLATE + CABLE (SAWCUT): 4 No.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SBC102-01/038, 01/039, 02/035, 02/036 (EP7 STOP BAR)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(VIA DUCT): 8 No.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SBC102-01/040, 01/041, 02/037, 02/038, TCCECH-03/002, 04/002, 03/003, 04/003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12 No. — all 12 secondary-cable affected; 4 shallow-base affected (YES)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RRM.557 (0.07 m — treat as within works) &amp; RRM.670: REMOVE / PROTECT / RE-FIX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DUMMY PLATES: 4 No. — NO CORING HERE; BASES RETAINED &amp; BLANKED (BLACK SQUARE)</a:t>
            </a:r>
          </a:p>
        </p:txBody>
      </p:sp>
      <p:sp>
        <p:nvSpPr>
          <p:cNvPr id="312" name="Shape 310"/>
          <p:cNvSpPr/>
          <p:nvPr/>
        </p:nvSpPr>
        <p:spPr>
          <a:xfrm>
            <a:off x="10104120" y="397581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Text 311"/>
          <p:cNvSpPr/>
          <p:nvPr/>
        </p:nvSpPr>
        <p:spPr>
          <a:xfrm>
            <a:off x="10241280" y="404896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4" name="Text 312"/>
          <p:cNvSpPr/>
          <p:nvPr/>
        </p:nvSpPr>
        <p:spPr>
          <a:xfrm>
            <a:off x="10241280" y="430499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(1st table) — outer ring from the Secondary-cable / Shallow-base columns, inner disc from Duct / Sawcut. Assets not listed on the field sheet are shown grey with no action assumed.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7. Existing assets carry the symbol of their as-built class — see legend. Class is resolved from the AGL asset survey against the AGL duct-layout CAD; where an asset is labelled the label governs. Where a works marker is drawn the asset symbol sits beneath it, so legend counts include assets under works markers. Civil items (handhole / manhole / pits / RRM) plot about 2.1 m from the surveyed insertion point — set out from survey, not from this sheet, and confirm the individual pit before works.</a:t>
            </a:r>
          </a:p>
        </p:txBody>
      </p:sp>
      <p:sp>
        <p:nvSpPr>
          <p:cNvPr id="315" name="Shape 313"/>
          <p:cNvSpPr/>
          <p:nvPr/>
        </p:nvSpPr>
        <p:spPr>
          <a:xfrm>
            <a:off x="10104120" y="6353251"/>
            <a:ext cx="4709160" cy="314553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Grey Highlight">
            <a:extLst>
              <a:ext uri="{FF2B5EF4-FFF2-40B4-BE49-F238E27FC236}">
                <a16:creationId xmlns:a16="http://schemas.microsoft.com/office/drawing/2014/main" id="{940090A5-E062-A01F-B9A1-B465A43CBD5C}"/>
              </a:ext>
            </a:extLst>
          </p:cNvPr>
          <p:cNvSpPr/>
          <p:nvPr/>
        </p:nvSpPr>
        <p:spPr>
          <a:xfrm rot="18714653">
            <a:off x="5134381" y="4448720"/>
            <a:ext cx="735481" cy="2651322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0" name="DUMMY PLATE MARKER"/>
          <p:cNvSpPr/>
          <p:nvPr/>
        </p:nvSpPr>
        <p:spPr>
          <a:xfrm>
            <a:off x="4500857" y="4380444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1" name="DUMMY PLATE MARKER"/>
          <p:cNvSpPr/>
          <p:nvPr/>
        </p:nvSpPr>
        <p:spPr>
          <a:xfrm>
            <a:off x="4123042" y="4853415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2" name="DUMMY PLATE MARKER"/>
          <p:cNvSpPr/>
          <p:nvPr/>
        </p:nvSpPr>
        <p:spPr>
          <a:xfrm>
            <a:off x="4311748" y="4616728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3" name="DUMMY PLATE MARKER"/>
          <p:cNvSpPr/>
          <p:nvPr/>
        </p:nvSpPr>
        <p:spPr>
          <a:xfrm>
            <a:off x="3935941" y="5088696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46" name="Picture 34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347" name="Legend 347"/>
          <p:cNvSpPr/>
          <p:nvPr/>
        </p:nvSpPr>
        <p:spPr>
          <a:xfrm>
            <a:off x="10305288" y="6645859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WORKS ACTIONS</a:t>
            </a:r>
            <a:endParaRPr lang="en-US" sz="740" dirty="0"/>
          </a:p>
        </p:txBody>
      </p:sp>
      <p:sp>
        <p:nvSpPr>
          <p:cNvPr id="348" name="Legend 348"/>
          <p:cNvSpPr/>
          <p:nvPr/>
        </p:nvSpPr>
        <p:spPr>
          <a:xfrm>
            <a:off x="10305288" y="6817309"/>
            <a:ext cx="192024" cy="192024"/>
          </a:xfrm>
          <a:prstGeom prst="ellipse">
            <a:avLst/>
          </a:prstGeom>
          <a:noFill/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Legend 349"/>
          <p:cNvSpPr/>
          <p:nvPr/>
        </p:nvSpPr>
        <p:spPr>
          <a:xfrm>
            <a:off x="10351008" y="6863029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Legend 350"/>
          <p:cNvSpPr/>
          <p:nvPr/>
        </p:nvSpPr>
        <p:spPr>
          <a:xfrm>
            <a:off x="10533888" y="6824167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BASE RETAINED + DUMMY PLATE (SAWCUT)</a:t>
            </a:r>
            <a:endParaRPr lang="en-US" sz="740" dirty="0"/>
          </a:p>
        </p:txBody>
      </p:sp>
      <p:sp>
        <p:nvSpPr>
          <p:cNvPr id="351" name="Legend 351"/>
          <p:cNvSpPr/>
          <p:nvPr/>
        </p:nvSpPr>
        <p:spPr>
          <a:xfrm>
            <a:off x="10305288" y="6995617"/>
            <a:ext cx="192024" cy="192024"/>
          </a:xfrm>
          <a:prstGeom prst="ellipse">
            <a:avLst/>
          </a:prstGeom>
          <a:noFill/>
          <a:ln w="190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Legend 352"/>
          <p:cNvSpPr/>
          <p:nvPr/>
        </p:nvSpPr>
        <p:spPr>
          <a:xfrm>
            <a:off x="10351008" y="7041337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Legend 353"/>
          <p:cNvSpPr/>
          <p:nvPr/>
        </p:nvSpPr>
        <p:spPr>
          <a:xfrm>
            <a:off x="10533888" y="7002475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(DUCT)</a:t>
            </a:r>
            <a:endParaRPr lang="en-US" sz="740" dirty="0"/>
          </a:p>
        </p:txBody>
      </p:sp>
      <p:sp>
        <p:nvSpPr>
          <p:cNvPr id="354" name="Legend 354"/>
          <p:cNvSpPr/>
          <p:nvPr/>
        </p:nvSpPr>
        <p:spPr>
          <a:xfrm>
            <a:off x="10305288" y="7173925"/>
            <a:ext cx="192024" cy="192024"/>
          </a:xfrm>
          <a:prstGeom prst="ellipse">
            <a:avLst/>
          </a:prstGeom>
          <a:noFill/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Legend 355"/>
          <p:cNvSpPr/>
          <p:nvPr/>
        </p:nvSpPr>
        <p:spPr>
          <a:xfrm>
            <a:off x="10351008" y="7219645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Legend 356"/>
          <p:cNvSpPr/>
          <p:nvPr/>
        </p:nvSpPr>
        <p:spPr>
          <a:xfrm>
            <a:off x="10533888" y="7180783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RRM — REMOVE / PROTECT / RE-FIX</a:t>
            </a:r>
            <a:endParaRPr lang="en-US" sz="740" dirty="0"/>
          </a:p>
        </p:txBody>
      </p:sp>
      <p:sp>
        <p:nvSpPr>
          <p:cNvPr id="357" name="Legend 357"/>
          <p:cNvSpPr/>
          <p:nvPr/>
        </p:nvSpPr>
        <p:spPr>
          <a:xfrm>
            <a:off x="10323576" y="7370521"/>
            <a:ext cx="155448" cy="155448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8" name="Legend 358"/>
          <p:cNvSpPr/>
          <p:nvPr/>
        </p:nvSpPr>
        <p:spPr>
          <a:xfrm>
            <a:off x="10533888" y="7359091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FITTING LIFTED + OPENING PROTECTED</a:t>
            </a:r>
            <a:endParaRPr lang="en-US" sz="740" dirty="0"/>
          </a:p>
        </p:txBody>
      </p:sp>
      <p:sp>
        <p:nvSpPr>
          <p:cNvPr id="359" name="Legend 359"/>
          <p:cNvSpPr/>
          <p:nvPr/>
        </p:nvSpPr>
        <p:spPr>
          <a:xfrm>
            <a:off x="10305288" y="7537399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AREAS &amp; LINEWORK</a:t>
            </a:r>
            <a:endParaRPr lang="en-US" sz="740" dirty="0"/>
          </a:p>
        </p:txBody>
      </p:sp>
      <p:sp>
        <p:nvSpPr>
          <p:cNvPr id="360" name="Legend 360"/>
          <p:cNvSpPr/>
          <p:nvPr/>
        </p:nvSpPr>
        <p:spPr>
          <a:xfrm>
            <a:off x="10305288" y="7745425"/>
            <a:ext cx="201168" cy="118872"/>
          </a:xfrm>
          <a:prstGeom prst="rect">
            <a:avLst/>
          </a:prstGeom>
          <a:solidFill>
            <a:srgbClr val="BFBFBF"/>
          </a:solidFill>
          <a:ln w="6350">
            <a:solidFill>
              <a:srgbClr val="7A82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1" name="Legend 361"/>
          <p:cNvSpPr/>
          <p:nvPr/>
        </p:nvSpPr>
        <p:spPr>
          <a:xfrm>
            <a:off x="10533888" y="7715707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MILLING / CUT AREA</a:t>
            </a:r>
            <a:endParaRPr lang="en-US" sz="740" dirty="0"/>
          </a:p>
        </p:txBody>
      </p:sp>
      <p:sp>
        <p:nvSpPr>
          <p:cNvPr id="362" name="Legend 362"/>
          <p:cNvSpPr/>
          <p:nvPr/>
        </p:nvSpPr>
        <p:spPr>
          <a:xfrm>
            <a:off x="10287000" y="7983169"/>
            <a:ext cx="237744" cy="914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Legend 363"/>
          <p:cNvSpPr/>
          <p:nvPr/>
        </p:nvSpPr>
        <p:spPr>
          <a:xfrm>
            <a:off x="10533888" y="7894015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WORKS DEMARCATION (GOVERNING)</a:t>
            </a:r>
            <a:endParaRPr lang="en-US" sz="740" dirty="0"/>
          </a:p>
        </p:txBody>
      </p:sp>
      <p:sp>
        <p:nvSpPr>
          <p:cNvPr id="364" name="Legend 364"/>
          <p:cNvSpPr/>
          <p:nvPr/>
        </p:nvSpPr>
        <p:spPr>
          <a:xfrm>
            <a:off x="10287000" y="8161477"/>
            <a:ext cx="237744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5" name="Legend 365"/>
          <p:cNvSpPr/>
          <p:nvPr/>
        </p:nvSpPr>
        <p:spPr>
          <a:xfrm>
            <a:off x="10533888" y="8072323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SECONDARY DUCT CROSSING CUT (INDIC.)</a:t>
            </a:r>
            <a:endParaRPr lang="en-US" sz="740" dirty="0"/>
          </a:p>
        </p:txBody>
      </p:sp>
      <p:sp>
        <p:nvSpPr>
          <p:cNvPr id="366" name="Legend 366"/>
          <p:cNvSpPr/>
          <p:nvPr/>
        </p:nvSpPr>
        <p:spPr>
          <a:xfrm>
            <a:off x="10287000" y="8339785"/>
            <a:ext cx="237744" cy="914"/>
          </a:xfrm>
          <a:prstGeom prst="line">
            <a:avLst/>
          </a:prstGeom>
          <a:noFill/>
          <a:ln w="1905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7" name="Legend 367"/>
          <p:cNvSpPr/>
          <p:nvPr/>
        </p:nvSpPr>
        <p:spPr>
          <a:xfrm>
            <a:off x="10533888" y="8250631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INDICATIVE DUCT — LIGHT TO MH / HH</a:t>
            </a:r>
            <a:endParaRPr lang="en-US" sz="740" dirty="0"/>
          </a:p>
        </p:txBody>
      </p:sp>
      <p:sp>
        <p:nvSpPr>
          <p:cNvPr id="368" name="Legend 368"/>
          <p:cNvSpPr/>
          <p:nvPr/>
        </p:nvSpPr>
        <p:spPr>
          <a:xfrm>
            <a:off x="10287000" y="8518093"/>
            <a:ext cx="23774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69" name="Legend 369"/>
          <p:cNvSpPr/>
          <p:nvPr/>
        </p:nvSpPr>
        <p:spPr>
          <a:xfrm>
            <a:off x="10533888" y="8428939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TAXIWAY CENTRELINE (THROUGH TCC)</a:t>
            </a:r>
            <a:endParaRPr lang="en-US" sz="740" dirty="0"/>
          </a:p>
        </p:txBody>
      </p:sp>
      <p:sp>
        <p:nvSpPr>
          <p:cNvPr id="370" name="Legend 370"/>
          <p:cNvSpPr/>
          <p:nvPr/>
        </p:nvSpPr>
        <p:spPr>
          <a:xfrm>
            <a:off x="10287000" y="8696401"/>
            <a:ext cx="237744" cy="914"/>
          </a:xfrm>
          <a:prstGeom prst="line">
            <a:avLst/>
          </a:prstGeom>
          <a:noFill/>
          <a:ln w="1905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Legend 371"/>
          <p:cNvSpPr/>
          <p:nvPr/>
        </p:nvSpPr>
        <p:spPr>
          <a:xfrm>
            <a:off x="10533888" y="8607247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STOP BAR (THROUGH SBC)</a:t>
            </a:r>
            <a:endParaRPr lang="en-US" sz="740" dirty="0"/>
          </a:p>
        </p:txBody>
      </p:sp>
      <p:sp>
        <p:nvSpPr>
          <p:cNvPr id="372" name="Legend 372"/>
          <p:cNvSpPr/>
          <p:nvPr/>
        </p:nvSpPr>
        <p:spPr>
          <a:xfrm>
            <a:off x="10287000" y="8874709"/>
            <a:ext cx="237744" cy="914"/>
          </a:xfrm>
          <a:prstGeom prst="line">
            <a:avLst/>
          </a:prstGeom>
          <a:noFill/>
          <a:ln w="1905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Legend 373"/>
          <p:cNvSpPr/>
          <p:nvPr/>
        </p:nvSpPr>
        <p:spPr>
          <a:xfrm>
            <a:off x="10533888" y="8785555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TWY EDGE / PAVEMENT (INDIC. 23 m)</a:t>
            </a:r>
            <a:endParaRPr lang="en-US" sz="740" dirty="0"/>
          </a:p>
        </p:txBody>
      </p:sp>
      <p:sp>
        <p:nvSpPr>
          <p:cNvPr id="374" name="Legend 374"/>
          <p:cNvSpPr/>
          <p:nvPr/>
        </p:nvSpPr>
        <p:spPr>
          <a:xfrm>
            <a:off x="12454128" y="6645859"/>
            <a:ext cx="231343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EXISTING ASSETS (AS-BUILT)</a:t>
            </a:r>
            <a:endParaRPr lang="en-US" sz="740" dirty="0"/>
          </a:p>
        </p:txBody>
      </p:sp>
      <p:sp>
        <p:nvSpPr>
          <p:cNvPr id="375" name="Legend 375"/>
          <p:cNvSpPr/>
          <p:nvPr/>
        </p:nvSpPr>
        <p:spPr>
          <a:xfrm>
            <a:off x="12491847" y="6855028"/>
            <a:ext cx="116586" cy="116586"/>
          </a:xfrm>
          <a:prstGeom prst="ellipse">
            <a:avLst/>
          </a:prstGeom>
          <a:solidFill>
            <a:srgbClr val="00A650"/>
          </a:solidFill>
          <a:ln w="8128">
            <a:solidFill>
              <a:srgbClr val="00A6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Legend 376"/>
          <p:cNvSpPr/>
          <p:nvPr/>
        </p:nvSpPr>
        <p:spPr>
          <a:xfrm>
            <a:off x="12682728" y="6824167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Taxiway centreline light  ×23</a:t>
            </a:r>
            <a:endParaRPr lang="en-US" sz="740" dirty="0"/>
          </a:p>
        </p:txBody>
      </p:sp>
      <p:sp>
        <p:nvSpPr>
          <p:cNvPr id="377" name="Legend 377"/>
          <p:cNvSpPr/>
          <p:nvPr/>
        </p:nvSpPr>
        <p:spPr>
          <a:xfrm>
            <a:off x="12491847" y="7033336"/>
            <a:ext cx="116586" cy="116586"/>
          </a:xfrm>
          <a:prstGeom prst="ellipse">
            <a:avLst/>
          </a:prstGeom>
          <a:solidFill>
            <a:srgbClr val="D32F2F"/>
          </a:solidFill>
          <a:ln w="8128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Legend 378"/>
          <p:cNvSpPr/>
          <p:nvPr/>
        </p:nvSpPr>
        <p:spPr>
          <a:xfrm>
            <a:off x="12682728" y="7002475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Stop bar light  ×4</a:t>
            </a:r>
            <a:endParaRPr lang="en-US" sz="740" dirty="0"/>
          </a:p>
        </p:txBody>
      </p:sp>
      <p:sp>
        <p:nvSpPr>
          <p:cNvPr id="379" name="Legend 379"/>
          <p:cNvSpPr/>
          <p:nvPr/>
        </p:nvSpPr>
        <p:spPr>
          <a:xfrm>
            <a:off x="12491847" y="7211644"/>
            <a:ext cx="116586" cy="116586"/>
          </a:xfrm>
          <a:prstGeom prst="ellipse">
            <a:avLst/>
          </a:prstGeom>
          <a:solidFill>
            <a:srgbClr val="F2C200"/>
          </a:solidFill>
          <a:ln w="10160">
            <a:solidFill>
              <a:srgbClr val="9A7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Legend 380"/>
          <p:cNvSpPr/>
          <p:nvPr/>
        </p:nvSpPr>
        <p:spPr>
          <a:xfrm>
            <a:off x="12682728" y="7180783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Runway guard light / RRM  ×7</a:t>
            </a:r>
            <a:endParaRPr lang="en-US" sz="740" dirty="0"/>
          </a:p>
        </p:txBody>
      </p:sp>
      <p:sp>
        <p:nvSpPr>
          <p:cNvPr id="381" name="Legend 381"/>
          <p:cNvSpPr/>
          <p:nvPr/>
        </p:nvSpPr>
        <p:spPr>
          <a:xfrm>
            <a:off x="12487961" y="7386066"/>
            <a:ext cx="124358" cy="124358"/>
          </a:xfrm>
          <a:prstGeom prst="ellipse">
            <a:avLst/>
          </a:prstGeom>
          <a:noFill/>
          <a:ln w="1524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Legend 382"/>
          <p:cNvSpPr/>
          <p:nvPr/>
        </p:nvSpPr>
        <p:spPr>
          <a:xfrm>
            <a:off x="12682728" y="7359091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Existing light base  ×4</a:t>
            </a:r>
            <a:endParaRPr lang="en-US" sz="740" dirty="0"/>
          </a:p>
        </p:txBody>
      </p:sp>
      <p:sp>
        <p:nvSpPr>
          <p:cNvPr id="383" name="Legend 383"/>
          <p:cNvSpPr/>
          <p:nvPr/>
        </p:nvSpPr>
        <p:spPr>
          <a:xfrm>
            <a:off x="12481560" y="7557973"/>
            <a:ext cx="137160" cy="137160"/>
          </a:xfrm>
          <a:prstGeom prst="rect">
            <a:avLst/>
          </a:prstGeom>
          <a:solidFill>
            <a:srgbClr val="5F6368"/>
          </a:solidFill>
          <a:ln w="8128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Legend 384"/>
          <p:cNvSpPr/>
          <p:nvPr/>
        </p:nvSpPr>
        <p:spPr>
          <a:xfrm>
            <a:off x="12682728" y="7537399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Sign foundation  ×2</a:t>
            </a:r>
            <a:endParaRPr lang="en-US" sz="740" dirty="0"/>
          </a:p>
        </p:txBody>
      </p:sp>
      <p:sp>
        <p:nvSpPr>
          <p:cNvPr id="385" name="Legend 385"/>
          <p:cNvSpPr/>
          <p:nvPr/>
        </p:nvSpPr>
        <p:spPr>
          <a:xfrm>
            <a:off x="12491847" y="7746568"/>
            <a:ext cx="116586" cy="116586"/>
          </a:xfrm>
          <a:prstGeom prst="rect">
            <a:avLst/>
          </a:prstGeom>
          <a:noFill/>
          <a:ln w="1524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Legend 386"/>
          <p:cNvSpPr/>
          <p:nvPr/>
        </p:nvSpPr>
        <p:spPr>
          <a:xfrm>
            <a:off x="12682728" y="7715707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Handhole  ×7</a:t>
            </a:r>
            <a:endParaRPr lang="en-US" sz="740" dirty="0"/>
          </a:p>
        </p:txBody>
      </p:sp>
      <p:sp>
        <p:nvSpPr>
          <p:cNvPr id="387" name="Legend 387"/>
          <p:cNvSpPr/>
          <p:nvPr/>
        </p:nvSpPr>
        <p:spPr>
          <a:xfrm>
            <a:off x="12484075" y="7917104"/>
            <a:ext cx="132130" cy="132130"/>
          </a:xfrm>
          <a:prstGeom prst="rect">
            <a:avLst/>
          </a:prstGeom>
          <a:solidFill>
            <a:srgbClr val="455A64"/>
          </a:solidFill>
          <a:ln w="8128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Legend 388"/>
          <p:cNvSpPr/>
          <p:nvPr/>
        </p:nvSpPr>
        <p:spPr>
          <a:xfrm>
            <a:off x="12682728" y="7894015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Manhole  ×2</a:t>
            </a:r>
            <a:endParaRPr lang="en-US" sz="740" dirty="0"/>
          </a:p>
        </p:txBody>
      </p:sp>
      <p:sp>
        <p:nvSpPr>
          <p:cNvPr id="389" name="Legend 389"/>
          <p:cNvSpPr/>
          <p:nvPr/>
        </p:nvSpPr>
        <p:spPr>
          <a:xfrm>
            <a:off x="12484075" y="8095412"/>
            <a:ext cx="132130" cy="132130"/>
          </a:xfrm>
          <a:prstGeom prst="rect">
            <a:avLst/>
          </a:prstGeom>
          <a:noFill/>
          <a:ln w="15240">
            <a:solidFill>
              <a:srgbClr val="455A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Legend 390"/>
          <p:cNvSpPr/>
          <p:nvPr/>
        </p:nvSpPr>
        <p:spPr>
          <a:xfrm>
            <a:off x="12682728" y="8072323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Existing manhole  ×2</a:t>
            </a:r>
            <a:endParaRPr lang="en-US" sz="740" dirty="0"/>
          </a:p>
        </p:txBody>
      </p:sp>
      <p:sp>
        <p:nvSpPr>
          <p:cNvPr id="391" name="Legend 391"/>
          <p:cNvSpPr/>
          <p:nvPr/>
        </p:nvSpPr>
        <p:spPr>
          <a:xfrm>
            <a:off x="12481560" y="8271205"/>
            <a:ext cx="137160" cy="137160"/>
          </a:xfrm>
          <a:prstGeom prst="diamond">
            <a:avLst/>
          </a:prstGeom>
          <a:solidFill>
            <a:srgbClr val="12A5B8"/>
          </a:solidFill>
          <a:ln w="8128">
            <a:solidFill>
              <a:srgbClr val="0B7C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Legend 392"/>
          <p:cNvSpPr/>
          <p:nvPr/>
        </p:nvSpPr>
        <p:spPr>
          <a:xfrm>
            <a:off x="12682728" y="8250631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Existing transformer handhole  ×2</a:t>
            </a:r>
            <a:endParaRPr lang="en-US" sz="740" dirty="0"/>
          </a:p>
        </p:txBody>
      </p:sp>
      <p:sp>
        <p:nvSpPr>
          <p:cNvPr id="393" name="Legend 393"/>
          <p:cNvSpPr/>
          <p:nvPr/>
        </p:nvSpPr>
        <p:spPr>
          <a:xfrm>
            <a:off x="12472416" y="8440369"/>
            <a:ext cx="155448" cy="155448"/>
          </a:xfrm>
          <a:prstGeom prst="rect">
            <a:avLst/>
          </a:prstGeom>
          <a:noFill/>
          <a:ln w="19050">
            <a:solidFill>
              <a:srgbClr val="BB00B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4" name="Legend 394"/>
          <p:cNvSpPr/>
          <p:nvPr/>
        </p:nvSpPr>
        <p:spPr>
          <a:xfrm>
            <a:off x="12682728" y="8428939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AGL feed manhole / handhole</a:t>
            </a:r>
            <a:endParaRPr lang="en-US" sz="740" dirty="0"/>
          </a:p>
        </p:txBody>
      </p:sp>
    </p:spTree>
    <p:extLst>
      <p:ext uri="{BB962C8B-B14F-4D97-AF65-F5344CB8AC3E}">
        <p14:creationId xmlns:p14="http://schemas.microsoft.com/office/powerpoint/2010/main" val="362851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39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CONSOLIDATED FIELD-GOVERNED SCOPE — TWY E (E4–E6) 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960120"/>
          <a:ext cx="14173200" cy="878738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36495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TCC103-11/126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45766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095166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(7.8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2754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9AA0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"/>
                  </a:ext>
                </a:extLst>
              </a:tr>
            </a:tbl>
          </a:graphicData>
        </a:graphic>
      </p:graphicFrame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65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64C71C-4823-4E6E-A2E5-D30CB068CC73}"/>
              </a:ext>
            </a:extLst>
          </p:cNvPr>
          <p:cNvSpPr txBox="1"/>
          <p:nvPr/>
        </p:nvSpPr>
        <p:spPr>
          <a:xfrm>
            <a:off x="635000" y="558800"/>
            <a:ext cx="1220724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it-IT" sz="3000" b="1">
                <a:solidFill>
                  <a:srgbClr val="1E2761"/>
                </a:solidFill>
                <a:latin typeface="Arial"/>
                <a:cs typeface="Arial"/>
              </a:rPr>
              <a:t>CONSOLIDATED SCOPE TOTALS — TWY E (E4–E6)</a:t>
            </a:r>
            <a:endParaRPr lang="en-US" sz="3000" b="1">
              <a:solidFill>
                <a:srgbClr val="1E2761"/>
              </a:solidFill>
              <a:latin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1600200"/>
            <a:ext cx="13843000" cy="381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1,887.3 m²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Total demarcation area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D3515D-A408-4D20-964B-8B7FFA89F85C}"/>
              </a:ext>
            </a:extLst>
          </p:cNvPr>
          <p:cNvSpPr/>
          <p:nvPr/>
        </p:nvSpPr>
        <p:spPr>
          <a:xfrm>
            <a:off x="297688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98FDE-D149-4DAF-933A-07D34D0AE3ED}"/>
              </a:ext>
            </a:extLst>
          </p:cNvPr>
          <p:cNvSpPr txBox="1"/>
          <p:nvPr/>
        </p:nvSpPr>
        <p:spPr>
          <a:xfrm>
            <a:off x="310388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3D804C-C201-4129-9F55-6E763FB12022}"/>
              </a:ext>
            </a:extLst>
          </p:cNvPr>
          <p:cNvSpPr txBox="1"/>
          <p:nvPr/>
        </p:nvSpPr>
        <p:spPr>
          <a:xfrm>
            <a:off x="310388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Core-outs (LOC-01 only)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7EEF5BC-7BBF-4079-A614-E159C57A8A27}"/>
              </a:ext>
            </a:extLst>
          </p:cNvPr>
          <p:cNvSpPr/>
          <p:nvPr/>
        </p:nvSpPr>
        <p:spPr>
          <a:xfrm>
            <a:off x="531876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D2AE9-AC18-4930-9FCB-6D778E945BD9}"/>
              </a:ext>
            </a:extLst>
          </p:cNvPr>
          <p:cNvSpPr txBox="1"/>
          <p:nvPr/>
        </p:nvSpPr>
        <p:spPr>
          <a:xfrm>
            <a:off x="544576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B64035-9F2C-44E4-AE5D-49A236C43BE9}"/>
              </a:ext>
            </a:extLst>
          </p:cNvPr>
          <p:cNvSpPr txBox="1"/>
          <p:nvPr/>
        </p:nvSpPr>
        <p:spPr>
          <a:xfrm>
            <a:off x="544576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Dummy plates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LOC-03 only  ·  4 TCC103 not counted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27571B-E830-45F3-A0A1-D82B30658066}"/>
              </a:ext>
            </a:extLst>
          </p:cNvPr>
          <p:cNvSpPr/>
          <p:nvPr/>
        </p:nvSpPr>
        <p:spPr>
          <a:xfrm>
            <a:off x="766064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7D6579-DFCC-4E05-8FE7-3296DEEE0618}"/>
              </a:ext>
            </a:extLst>
          </p:cNvPr>
          <p:cNvSpPr txBox="1"/>
          <p:nvPr/>
        </p:nvSpPr>
        <p:spPr>
          <a:xfrm>
            <a:off x="778764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31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BCADC-822A-41C4-8151-C9D1320592BA}"/>
              </a:ext>
            </a:extLst>
          </p:cNvPr>
          <p:cNvSpPr txBox="1"/>
          <p:nvPr/>
        </p:nvSpPr>
        <p:spPr>
          <a:xfrm>
            <a:off x="778764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Secondary cable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per field sheets; +4 TCC103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4BDB0D6-A966-4D06-9C68-50523166BE06}"/>
              </a:ext>
            </a:extLst>
          </p:cNvPr>
          <p:cNvSpPr/>
          <p:nvPr/>
        </p:nvSpPr>
        <p:spPr>
          <a:xfrm>
            <a:off x="1000252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0B2F54-E0D0-44E6-B1ED-01D235974062}"/>
              </a:ext>
            </a:extLst>
          </p:cNvPr>
          <p:cNvSpPr txBox="1"/>
          <p:nvPr/>
        </p:nvSpPr>
        <p:spPr>
          <a:xfrm>
            <a:off x="1012952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7B36F8-47FD-4FB1-8C1A-E83774CF9C05}"/>
              </a:ext>
            </a:extLst>
          </p:cNvPr>
          <p:cNvSpPr txBox="1"/>
          <p:nvPr/>
        </p:nvSpPr>
        <p:spPr>
          <a:xfrm>
            <a:off x="1012952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RRMs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D0AEED-7842-4384-BC4A-930C3D293E0D}"/>
              </a:ext>
            </a:extLst>
          </p:cNvPr>
          <p:cNvSpPr/>
          <p:nvPr/>
        </p:nvSpPr>
        <p:spPr>
          <a:xfrm>
            <a:off x="123444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0A9873-3F4A-4184-A2BF-F060E490D88F}"/>
              </a:ext>
            </a:extLst>
          </p:cNvPr>
          <p:cNvSpPr txBox="1"/>
          <p:nvPr/>
        </p:nvSpPr>
        <p:spPr>
          <a:xfrm>
            <a:off x="124714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6209E3-F1B1-48E9-A1FB-E200B70B60F9}"/>
              </a:ext>
            </a:extLst>
          </p:cNvPr>
          <p:cNvSpPr txBox="1"/>
          <p:nvPr/>
        </p:nvSpPr>
        <p:spPr>
          <a:xfrm>
            <a:off x="124714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Field-verified not affected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8377AA-4956-4270-AB99-B49F946217AE}"/>
              </a:ext>
            </a:extLst>
          </p:cNvPr>
          <p:cNvSpPr txBox="1"/>
          <p:nvPr/>
        </p:nvSpPr>
        <p:spPr>
          <a:xfrm>
            <a:off x="6350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dirty="0">
                <a:solidFill>
                  <a:srgbClr val="1E2761"/>
                </a:solidFill>
                <a:latin typeface="Arial"/>
                <a:cs typeface="Arial"/>
              </a:rPr>
              <a:t>NOT ON FIELD SHEET — TCC103 (4 No.)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9B95B9-12BA-4BEC-9CC3-D5A93E08CE07}"/>
              </a:ext>
            </a:extLst>
          </p:cNvPr>
          <p:cNvSpPr txBox="1"/>
          <p:nvPr/>
        </p:nvSpPr>
        <p:spPr>
          <a:xfrm>
            <a:off x="76581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E2761"/>
                </a:solidFill>
                <a:latin typeface="Arial"/>
                <a:cs typeface="Arial"/>
              </a:rPr>
              <a:t>DEMARCATION AREA BY LOCATION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76581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 (sheet 1001)  —  572.6 m²
LOC-02 (sheet 1002)  —  700.3 m²
LOC-03 (sheet 1003)  —  614.4 m²
Total  —  1,887.3 m²</a:t>
            </a:r>
          </a:p>
        </p:txBody>
      </p:sp>
      <p:sp>
        <p:nvSpPr>
          <p:cNvPr id="40" name="Footer Rule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9347200"/>
            <a:ext cx="13843000" cy="12700"/>
          </a:xfrm>
          <a:prstGeom prst="rect">
            <a:avLst/>
          </a:prstGeom>
          <a:solidFill>
            <a:srgbClr val="D5DB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  <p:sp>
        <p:nvSpPr>
          <p:cNvPr id="101" name="New 101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2" name="New 102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11</a:t>
            </a:r>
          </a:p>
        </p:txBody>
      </p:sp>
      <p:sp>
        <p:nvSpPr>
          <p:cNvPr id="103" name="New 103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F2937"/>
                </a:solidFill>
                <a:latin typeface="Arial"/>
              </a:rPr>
              <a:t>Saw-cut route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LOC-01: 7  •  LOC-03: 4  •  +4 TCC103 not on field sheet  •  13.8 m of secondary cable inside the cut</a:t>
            </a:r>
          </a:p>
        </p:txBody>
      </p:sp>
      <p:sp>
        <p:nvSpPr>
          <p:cNvPr id="104" name="New 10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76581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New 10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7851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06" name="New 10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7851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Duct route runs (secondary cable)</a:t>
            </a:r>
          </a:p>
          <a:p>
            <a:pPr algn="l"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LOC-01: 7  •  LOC-02: 5  •  LOC-03: 8  •  existing duct, pulled manhole-to-light</a:t>
            </a:r>
          </a:p>
        </p:txBody>
      </p:sp>
      <p:sp>
        <p:nvSpPr>
          <p:cNvPr id="110" name="Provisional List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6350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  <a:buNone/>
            </a:pPr>
            <a:r>
              <a:rPr sz="1400">
                <a:solidFill>
                  <a:srgbClr val="1F2937"/>
                </a:solidFill>
                <a:latin typeface="Arial"/>
              </a:rPr>
              <a:t>TCC103-11/021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TCC103-11/126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TCC103-12/022  —  not listed; cable may cross cut (7.8 m) — confirm</a:t>
            </a:r>
          </a:p>
        </p:txBody>
      </p:sp>
    </p:spTree>
    <p:extLst>
      <p:ext uri="{BB962C8B-B14F-4D97-AF65-F5344CB8AC3E}">
        <p14:creationId xmlns:p14="http://schemas.microsoft.com/office/powerpoint/2010/main" val="3334523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7B12BC7-8DD8-4081-AE81-DB10199A045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6e185103-5b1b-48c7-a2d0-0b4f1fed373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2661</Words>
  <Application>Microsoft Office PowerPoint</Application>
  <PresentationFormat>Custom</PresentationFormat>
  <Paragraphs>473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Faheem</cp:lastModifiedBy>
  <cp:revision>5</cp:revision>
  <dcterms:created xsi:type="dcterms:W3CDTF">2026-07-28T13:06:18Z</dcterms:created>
  <dcterms:modified xsi:type="dcterms:W3CDTF">2026-07-29T08:53:30Z</dcterms:modified>
</cp:coreProperties>
</file>