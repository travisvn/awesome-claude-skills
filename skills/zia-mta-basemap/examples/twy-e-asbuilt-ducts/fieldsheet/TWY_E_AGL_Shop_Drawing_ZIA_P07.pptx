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7" r:id="rId2"/>
    <p:sldId id="264" r:id="rId3"/>
    <p:sldId id="265" r:id="rId4"/>
    <p:sldId id="266" r:id="rId5"/>
    <p:sldId id="268" r:id="rId6"/>
    <p:sldId id="276" r:id="rId7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354CA-3032-45B0-8F31-B682E0E883D8}" v="3" dt="2026-07-28T13:13:55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746" y="-2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9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DRAWINGS — ELECTRICAL / AGL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325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000">
                <a:solidFill>
                  <a:srgbClr val="CADCFC"/>
                </a:solidFill>
                <a:latin typeface="Arial"/>
              </a:rPr>
              <a:t>RECTIFICATION OF TWY E BETWEEN E4 &amp; E6 (ZIA)</a:t>
            </a:r>
            <a:endParaRPr lang="en-US" sz="2000" dirty="0"/>
          </a:p>
          <a:p>
            <a:r>
              <a:rPr sz="2000">
                <a:solidFill>
                  <a:srgbClr val="CADCFC"/>
                </a:solidFill>
                <a:latin typeface="Arial"/>
              </a:rPr>
              <a:t>AGL WORKS AT THREE (3) MILLING LOCATIONS — FIELD CONDITION SCOPE</a:t>
            </a:r>
          </a:p>
          <a:p>
            <a:r>
              <a:rPr sz="2000">
                <a:solidFill>
                  <a:srgbClr val="CADCFC"/>
                </a:solidFill>
                <a:latin typeface="Arial"/>
              </a:rPr>
              <a:t>REV P07 — SCOPE PER FIELD SHEETS Document_3 (LOC-01) AND Second_milling_area rev _1 (LOC-02 / LOC-03)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4937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23360" y="49377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AUH-SK-AGL-TWYE-001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8887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588873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As-built AGL asset survey assets_20260726120533.xlsx — UTM 40N (EPSG:32640)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3642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300" dirty="0"/>
          </a:p>
        </p:txBody>
      </p:sp>
      <p:sp>
        <p:nvSpPr>
          <p:cNvPr id="6" name="Text 8"/>
          <p:cNvSpPr/>
          <p:nvPr/>
        </p:nvSpPr>
        <p:spPr>
          <a:xfrm>
            <a:off x="914400" y="68397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636422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— AGL Team Leader, ADB SAFEGATE AGL Team  ·  Issued 28.07.2026 · Rev P07 30.07.2026</a:t>
            </a:r>
            <a:endParaRPr lang="en-US" sz="1300" dirty="0"/>
          </a:p>
        </p:txBody>
      </p:sp>
      <p:sp>
        <p:nvSpPr>
          <p:cNvPr id="7" name="Text 9"/>
          <p:cNvSpPr/>
          <p:nvPr/>
        </p:nvSpPr>
        <p:spPr>
          <a:xfrm>
            <a:off x="4023360" y="683971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Ragesh Menon — AGL Manager, ADB SAFEGATE AGL Team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E10B9B-0A3C-F2F4-B56D-5E329DF49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24407" cy="9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257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1   ·   DWG NO AUH-SK-AGL-TWYE-001-1001 REV P07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DO NOT SCALE FROM DRAWING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951025" y="777240"/>
            <a:ext cx="166132" cy="134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7157" y="911348"/>
            <a:ext cx="522676" cy="41748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39833" y="1328834"/>
            <a:ext cx="2059" cy="16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1892" y="1330519"/>
            <a:ext cx="521647" cy="41889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63539" y="1749409"/>
            <a:ext cx="523612" cy="4207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87151" y="2170170"/>
            <a:ext cx="522021" cy="419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9173" y="2589247"/>
            <a:ext cx="523987" cy="42066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33159" y="3009915"/>
            <a:ext cx="522957" cy="41963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6117" y="3429554"/>
            <a:ext cx="566381" cy="455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22497" y="3884661"/>
            <a:ext cx="522957" cy="413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45455" y="4298123"/>
            <a:ext cx="11885" cy="954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57340" y="4307669"/>
            <a:ext cx="544950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02290" y="4751266"/>
            <a:ext cx="76927" cy="69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79217" y="4820332"/>
            <a:ext cx="69909" cy="76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49126" y="4896417"/>
            <a:ext cx="62328" cy="823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11454" y="4978773"/>
            <a:ext cx="21244" cy="345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32698" y="5013306"/>
            <a:ext cx="43237" cy="151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5935" y="5028467"/>
            <a:ext cx="96580" cy="4492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72515" y="5073388"/>
            <a:ext cx="91620" cy="5428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64136" y="5127667"/>
            <a:ext cx="85818" cy="630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49954" y="5190744"/>
            <a:ext cx="544856" cy="443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4810" y="5634341"/>
            <a:ext cx="79174" cy="712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73984" y="5705559"/>
            <a:ext cx="71780" cy="787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45764" y="5784359"/>
            <a:ext cx="63545" cy="854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09309" y="5869802"/>
            <a:ext cx="14225" cy="236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167403" y="7240459"/>
            <a:ext cx="91340" cy="74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58743" y="7247946"/>
            <a:ext cx="105003" cy="192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63746" y="7267225"/>
            <a:ext cx="338968" cy="7959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206522" y="10155469"/>
            <a:ext cx="19907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004371" y="5981825"/>
            <a:ext cx="8891" cy="72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13261" y="5989031"/>
            <a:ext cx="6457" cy="322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62603" y="7118704"/>
            <a:ext cx="58398" cy="47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21000" y="7166620"/>
            <a:ext cx="16845" cy="649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94818" y="8566102"/>
            <a:ext cx="200929" cy="56516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695746" y="9131266"/>
            <a:ext cx="186423" cy="60999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882169" y="9741258"/>
            <a:ext cx="122674" cy="591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 flipV="1">
            <a:off x="9050973" y="10155469"/>
            <a:ext cx="155549" cy="1772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080275" y="7171861"/>
            <a:ext cx="87128" cy="6859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969095" y="7104386"/>
            <a:ext cx="111180" cy="6747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584177" y="6901305"/>
            <a:ext cx="384918" cy="20308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081341" y="6499167"/>
            <a:ext cx="502836" cy="4021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075913" y="6494862"/>
            <a:ext cx="5428" cy="4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524318" y="6059594"/>
            <a:ext cx="551594" cy="435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92846" y="1790079"/>
            <a:ext cx="475228" cy="37962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68075" y="2169702"/>
            <a:ext cx="521647" cy="4188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489722" y="2588592"/>
            <a:ext cx="523519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013240" y="3009260"/>
            <a:ext cx="522209" cy="41926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535449" y="3428524"/>
            <a:ext cx="524080" cy="42066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059529" y="3849192"/>
            <a:ext cx="522957" cy="4197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582486" y="4268925"/>
            <a:ext cx="569189" cy="45735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151675" y="4726278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151675" y="4726278"/>
            <a:ext cx="526233" cy="4160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677908" y="5142360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677908" y="5142360"/>
            <a:ext cx="544950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V="1">
            <a:off x="5063387" y="5585957"/>
            <a:ext cx="159470" cy="172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063387" y="5758716"/>
            <a:ext cx="421229" cy="56188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 flipV="1">
            <a:off x="5484617" y="6025342"/>
            <a:ext cx="285811" cy="2952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5770428" y="6025342"/>
            <a:ext cx="544856" cy="44359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 flipV="1">
            <a:off x="5864856" y="6468938"/>
            <a:ext cx="450428" cy="4409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864856" y="6909915"/>
            <a:ext cx="338874" cy="6152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203730" y="7525147"/>
            <a:ext cx="289741" cy="63722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493471" y="8162373"/>
            <a:ext cx="224419" cy="63114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717890" y="8793515"/>
            <a:ext cx="208041" cy="68064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925931" y="9474164"/>
            <a:ext cx="140847" cy="67924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7066778" y="10153410"/>
            <a:ext cx="25992" cy="1793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 flipV="1">
            <a:off x="7619078" y="8630957"/>
            <a:ext cx="1493390" cy="170176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9112469" y="8630957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 flipV="1">
            <a:off x="9112469" y="8314918"/>
            <a:ext cx="5147" cy="31603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9117616" y="8314918"/>
            <a:ext cx="585098" cy="13744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8466914" y="8056246"/>
            <a:ext cx="1235800" cy="110008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7952847" y="7785035"/>
            <a:ext cx="514067" cy="2712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918314" y="7746852"/>
            <a:ext cx="34533" cy="3818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409208" y="7339754"/>
            <a:ext cx="509107" cy="40709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857613" y="6904487"/>
            <a:ext cx="551594" cy="4352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 flipV="1">
            <a:off x="4384516" y="3796691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 flipV="1">
            <a:off x="4208762" y="4015681"/>
            <a:ext cx="175754" cy="21908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V="1">
            <a:off x="4032914" y="423476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 flipV="1">
            <a:off x="3857067" y="4453756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 flipV="1">
            <a:off x="3681313" y="4672747"/>
            <a:ext cx="175754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 flipV="1">
            <a:off x="3505465" y="4891738"/>
            <a:ext cx="175848" cy="21899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 flipV="1">
            <a:off x="3334952" y="5110728"/>
            <a:ext cx="170513" cy="217587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 flipV="1">
            <a:off x="7918314" y="5683099"/>
            <a:ext cx="584349" cy="2063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3582486" y="2467867"/>
            <a:ext cx="635915" cy="18010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 flipV="1">
            <a:off x="6857613" y="5683099"/>
            <a:ext cx="1645050" cy="12213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 flipV="1">
            <a:off x="7952847" y="5683099"/>
            <a:ext cx="549816" cy="210193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 flipV="1">
            <a:off x="9047614" y="6944825"/>
            <a:ext cx="655100" cy="172216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7409208" y="5683099"/>
            <a:ext cx="1093456" cy="165665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 flipV="1">
            <a:off x="6454914" y="3958688"/>
            <a:ext cx="1270052" cy="7678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7621086" y="5506315"/>
            <a:ext cx="881578" cy="17678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 flipV="1">
            <a:off x="8453906" y="5683099"/>
            <a:ext cx="48758" cy="25417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 flipV="1">
            <a:off x="3059529" y="2467867"/>
            <a:ext cx="1158872" cy="138132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 flipV="1">
            <a:off x="2535449" y="2467867"/>
            <a:ext cx="1682953" cy="96065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2013240" y="1612586"/>
            <a:ext cx="1308235" cy="13966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 flipV="1">
            <a:off x="1489722" y="796519"/>
            <a:ext cx="801281" cy="179207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 flipV="1">
            <a:off x="968075" y="796519"/>
            <a:ext cx="1322928" cy="137318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 flipV="1">
            <a:off x="492846" y="796519"/>
            <a:ext cx="1798157" cy="92845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492846" y="796519"/>
            <a:ext cx="1798157" cy="4607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 flipV="1">
            <a:off x="1935751" y="5328315"/>
            <a:ext cx="1399201" cy="16003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 flipV="1">
            <a:off x="1935751" y="5110728"/>
            <a:ext cx="1569714" cy="37761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 flipV="1">
            <a:off x="9112469" y="6996736"/>
            <a:ext cx="590245" cy="163422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 flipV="1">
            <a:off x="492846" y="796519"/>
            <a:ext cx="1798157" cy="38641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133238" y="8025082"/>
            <a:ext cx="2360233" cy="13729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 flipV="1">
            <a:off x="4965966" y="8793515"/>
            <a:ext cx="1751924" cy="153920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 flipV="1">
            <a:off x="5068702" y="9474164"/>
            <a:ext cx="1857229" cy="85855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 flipV="1">
            <a:off x="6530809" y="10153410"/>
            <a:ext cx="535968" cy="17931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 flipV="1">
            <a:off x="9117616" y="6879600"/>
            <a:ext cx="585098" cy="143531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8466914" y="5683099"/>
            <a:ext cx="35750" cy="237314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 flipV="1">
            <a:off x="9316205" y="6128775"/>
            <a:ext cx="386509" cy="16628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 flipV="1">
            <a:off x="4133238" y="6025342"/>
            <a:ext cx="1637189" cy="199974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 flipV="1">
            <a:off x="6315284" y="5683099"/>
            <a:ext cx="2187380" cy="78584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 flipV="1">
            <a:off x="4677908" y="3169760"/>
            <a:ext cx="563386" cy="197260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 flipV="1">
            <a:off x="5239840" y="3304806"/>
            <a:ext cx="18436" cy="241619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 flipV="1">
            <a:off x="4106473" y="3169760"/>
            <a:ext cx="1134821" cy="156260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 flipV="1">
            <a:off x="1935751" y="4891738"/>
            <a:ext cx="1745562" cy="59660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 flipV="1">
            <a:off x="3857067" y="3169760"/>
            <a:ext cx="1384227" cy="150298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 flipV="1">
            <a:off x="4032914" y="3169760"/>
            <a:ext cx="1208379" cy="128399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 flipV="1">
            <a:off x="4208762" y="3169760"/>
            <a:ext cx="1032532" cy="106500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 flipV="1">
            <a:off x="4384516" y="3169760"/>
            <a:ext cx="856778" cy="84592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 flipV="1">
            <a:off x="4560364" y="3169760"/>
            <a:ext cx="680930" cy="62693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 flipV="1">
            <a:off x="4151675" y="3169760"/>
            <a:ext cx="1089619" cy="15565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 flipV="1">
            <a:off x="4604349" y="3169760"/>
            <a:ext cx="636945" cy="205832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 flipV="1">
            <a:off x="4133238" y="5758716"/>
            <a:ext cx="930149" cy="2266366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 flipV="1">
            <a:off x="4133238" y="6320605"/>
            <a:ext cx="1351378" cy="170447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 flipV="1">
            <a:off x="4133238" y="6909915"/>
            <a:ext cx="1731617" cy="111516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1870241" y="5422837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5175784" y="3104250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8437154" y="5617589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755979" y="8183804"/>
            <a:ext cx="914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/>
          <p:nvPr/>
        </p:nvSpPr>
        <p:spPr>
          <a:xfrm>
            <a:off x="2041048" y="3400148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(572.6 m²)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5389846" y="942815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7889053" y="771759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277371" y="48638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883785" y="362677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4899363" y="812347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7923587" y="77557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9018353" y="86377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7379947" y="731049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425653" y="469729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7591825" y="547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424645" y="590801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468724" y="4253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3030268" y="38199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2506188" y="339926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1983979" y="29799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1460461" y="255933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38814" y="214044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3305691" y="52990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9083208" y="860169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6464210" y="81331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6688629" y="876425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6896670" y="94449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037517" y="101241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9088355" y="82856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8437653" y="8026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212033" y="31404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906490" y="54590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103978" y="799582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2261742" y="76725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8473403" y="56538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5491761" y="23259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5716928" y="248530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6729807" y="321817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695705" y="392942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2798737" y="714391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3537971" y="83388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4166961" y="987399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8164570" y="426923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9001975" y="47191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1670561" y="59321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3292215" y="15833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857581" y="461157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762592" y="517000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3963693" y="11798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4189141" y="2438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1556667" y="677761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5873591" y="22705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9286944" y="626579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5479294" y="934704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RRM.76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7978501" y="763648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TCCECH.04.018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2366819" y="478277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RRM.540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973233" y="354566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RRM.541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4988811" y="804236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RRM.636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8013034" y="767466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TCC103.12.019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8979408" y="855661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TCC103.11.019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7469395" y="722938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TCC103.11.020</a:t>
            </a:r>
            <a:endParaRPr lang="en-US" sz="500" dirty="0"/>
          </a:p>
        </p:txBody>
      </p:sp>
      <p:sp>
        <p:nvSpPr>
          <p:cNvPr id="223" name="Text 221"/>
          <p:cNvSpPr/>
          <p:nvPr/>
        </p:nvSpPr>
        <p:spPr>
          <a:xfrm>
            <a:off x="6515101" y="461618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TEC102.02.047</a:t>
            </a:r>
            <a:endParaRPr lang="en-US" sz="500" dirty="0"/>
          </a:p>
        </p:txBody>
      </p:sp>
      <p:sp>
        <p:nvSpPr>
          <p:cNvPr id="224" name="Text 222"/>
          <p:cNvSpPr/>
          <p:nvPr/>
        </p:nvSpPr>
        <p:spPr>
          <a:xfrm>
            <a:off x="7681273" y="539594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TEC102.02.048</a:t>
            </a:r>
            <a:endParaRPr lang="en-US" sz="500" dirty="0"/>
          </a:p>
        </p:txBody>
      </p:sp>
      <p:sp>
        <p:nvSpPr>
          <p:cNvPr id="225" name="Text 223"/>
          <p:cNvSpPr/>
          <p:nvPr/>
        </p:nvSpPr>
        <p:spPr>
          <a:xfrm>
            <a:off x="8514093" y="582690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TEC102.02.049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8558171" y="417259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HH.E6.033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3119716" y="373882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TCCECH.03.017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2595636" y="33181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TCCECH.04.016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073427" y="289888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TCCECH.03.016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1549909" y="247822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TCCECH.04.015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1028262" y="205933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TCCECH.03.015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8979408" y="852058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TCC103.11.027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6553658" y="805200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TCCECH.03.038</a:t>
            </a:r>
            <a:endParaRPr lang="en-US" sz="500" dirty="0"/>
          </a:p>
        </p:txBody>
      </p:sp>
      <p:sp>
        <p:nvSpPr>
          <p:cNvPr id="235" name="Text 233"/>
          <p:cNvSpPr/>
          <p:nvPr/>
        </p:nvSpPr>
        <p:spPr>
          <a:xfrm>
            <a:off x="6778077" y="868314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TCCECH.04.037</a:t>
            </a:r>
            <a:endParaRPr lang="en-US" sz="500" dirty="0"/>
          </a:p>
        </p:txBody>
      </p:sp>
      <p:sp>
        <p:nvSpPr>
          <p:cNvPr id="236" name="Text 234"/>
          <p:cNvSpPr/>
          <p:nvPr/>
        </p:nvSpPr>
        <p:spPr>
          <a:xfrm>
            <a:off x="6986118" y="93637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TCCECH.03.039</a:t>
            </a:r>
            <a:endParaRPr lang="en-US" sz="500" dirty="0"/>
          </a:p>
        </p:txBody>
      </p:sp>
      <p:sp>
        <p:nvSpPr>
          <p:cNvPr id="237" name="Text 235"/>
          <p:cNvSpPr/>
          <p:nvPr/>
        </p:nvSpPr>
        <p:spPr>
          <a:xfrm>
            <a:off x="7126965" y="1004303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TCCECH.04.038</a:t>
            </a:r>
            <a:endParaRPr lang="en-US" sz="500" dirty="0"/>
          </a:p>
        </p:txBody>
      </p:sp>
      <p:sp>
        <p:nvSpPr>
          <p:cNvPr id="238" name="Text 236"/>
          <p:cNvSpPr/>
          <p:nvPr/>
        </p:nvSpPr>
        <p:spPr>
          <a:xfrm>
            <a:off x="8979408" y="820454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TCCECH.04.019</a:t>
            </a:r>
            <a:endParaRPr lang="en-US" sz="500" dirty="0"/>
          </a:p>
        </p:txBody>
      </p:sp>
      <p:sp>
        <p:nvSpPr>
          <p:cNvPr id="239" name="Text 237"/>
          <p:cNvSpPr/>
          <p:nvPr/>
        </p:nvSpPr>
        <p:spPr>
          <a:xfrm>
            <a:off x="8527101" y="794587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TCCECH.03.020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5301481" y="305938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&amp;.27152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1995938" y="537797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&amp;.27153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4193425" y="791471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&amp;.27154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8562851" y="557272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&amp;.27162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5581209" y="224481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HH.E6.038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5806376" y="240419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HH.E6.037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6819255" y="313706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HH.E6.036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7785153" y="384831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HH.E6.035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3627419" y="825770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HH.E6.041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4256409" y="979288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HH.E6.042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8254018" y="418812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HH.E6.034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8979408" y="46379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HH.E6.032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1760009" y="585105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HH.E6.039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3381663" y="150221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P6.009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947029" y="453046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P6.038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852040" y="508888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MH.E.024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4053140" y="10987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MH.E.014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4278588" y="235749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&amp;.23918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1646115" y="669650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SGC102.02.017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5963038" y="218941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SGC102.02.016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8979408" y="618468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TEC102.02.050</a:t>
            </a:r>
            <a:endParaRPr lang="en-US" sz="500" dirty="0"/>
          </a:p>
        </p:txBody>
      </p:sp>
      <p:sp>
        <p:nvSpPr>
          <p:cNvPr id="262" name="Shape 260"/>
          <p:cNvSpPr/>
          <p:nvPr/>
        </p:nvSpPr>
        <p:spPr>
          <a:xfrm>
            <a:off x="4279360" y="3910525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Marker 380"/>
          <p:cNvSpPr/>
          <p:nvPr/>
        </p:nvSpPr>
        <p:spPr>
          <a:xfrm>
            <a:off x="4046494" y="4621103"/>
            <a:ext cx="210312" cy="210312"/>
          </a:xfrm>
          <a:prstGeom prst="ellipse">
            <a:avLst/>
          </a:prstGeom>
          <a:noFill/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Marker 378"/>
          <p:cNvSpPr/>
          <p:nvPr/>
        </p:nvSpPr>
        <p:spPr>
          <a:xfrm>
            <a:off x="4001322" y="4627229"/>
            <a:ext cx="210312" cy="210312"/>
          </a:xfrm>
          <a:prstGeom prst="ellipse">
            <a:avLst/>
          </a:prstGeom>
          <a:noFill/>
          <a:ln w="28575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Marker 376"/>
          <p:cNvSpPr/>
          <p:nvPr/>
        </p:nvSpPr>
        <p:spPr>
          <a:xfrm>
            <a:off x="3229752" y="5223144"/>
            <a:ext cx="210312" cy="210312"/>
          </a:xfrm>
          <a:prstGeom prst="ellipse">
            <a:avLst/>
          </a:prstGeom>
          <a:noFill/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4329652" y="3960817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Marker 381"/>
          <p:cNvSpPr/>
          <p:nvPr/>
        </p:nvSpPr>
        <p:spPr>
          <a:xfrm>
            <a:off x="4096786" y="467139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Marker 379"/>
          <p:cNvSpPr/>
          <p:nvPr/>
        </p:nvSpPr>
        <p:spPr>
          <a:xfrm>
            <a:off x="4051614" y="4677521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Marker 377"/>
          <p:cNvSpPr/>
          <p:nvPr/>
        </p:nvSpPr>
        <p:spPr>
          <a:xfrm>
            <a:off x="3280044" y="527343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 262"/>
          <p:cNvSpPr/>
          <p:nvPr/>
        </p:nvSpPr>
        <p:spPr>
          <a:xfrm>
            <a:off x="4503388" y="3796225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SBC102-02/024</a:t>
            </a:r>
            <a:endParaRPr lang="en-US" sz="650" dirty="0"/>
          </a:p>
        </p:txBody>
      </p:sp>
      <p:sp>
        <p:nvSpPr>
          <p:cNvPr id="265" name="Shape 263"/>
          <p:cNvSpPr/>
          <p:nvPr/>
        </p:nvSpPr>
        <p:spPr>
          <a:xfrm>
            <a:off x="4103606" y="412961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4153898" y="417990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Text 265"/>
          <p:cNvSpPr/>
          <p:nvPr/>
        </p:nvSpPr>
        <p:spPr>
          <a:xfrm>
            <a:off x="4327634" y="401531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SBC102-01/027</a:t>
            </a:r>
            <a:endParaRPr lang="en-US" sz="650" dirty="0"/>
          </a:p>
        </p:txBody>
      </p:sp>
      <p:sp>
        <p:nvSpPr>
          <p:cNvPr id="268" name="Shape 266"/>
          <p:cNvSpPr/>
          <p:nvPr/>
        </p:nvSpPr>
        <p:spPr>
          <a:xfrm>
            <a:off x="3927758" y="434860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3978050" y="4398892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 268"/>
          <p:cNvSpPr/>
          <p:nvPr/>
        </p:nvSpPr>
        <p:spPr>
          <a:xfrm>
            <a:off x="4151786" y="423430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SBC102-02/025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3751911" y="45675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3802203" y="4617883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/>
          <p:nvPr/>
        </p:nvSpPr>
        <p:spPr>
          <a:xfrm>
            <a:off x="3975939" y="445329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SBC102-01/028</a:t>
            </a:r>
            <a:endParaRPr lang="en-US" sz="650" dirty="0"/>
          </a:p>
        </p:txBody>
      </p:sp>
      <p:sp>
        <p:nvSpPr>
          <p:cNvPr id="274" name="Shape 272"/>
          <p:cNvSpPr/>
          <p:nvPr/>
        </p:nvSpPr>
        <p:spPr>
          <a:xfrm>
            <a:off x="3576157" y="478658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3626449" y="483687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Text 274"/>
          <p:cNvSpPr/>
          <p:nvPr/>
        </p:nvSpPr>
        <p:spPr>
          <a:xfrm>
            <a:off x="3800185" y="467228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SBC102-02/026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3400309" y="5005572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3450601" y="5055864"/>
            <a:ext cx="109728" cy="109728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277"/>
          <p:cNvSpPr/>
          <p:nvPr/>
        </p:nvSpPr>
        <p:spPr>
          <a:xfrm>
            <a:off x="3624337" y="489127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SBC102-01/029</a:t>
            </a:r>
            <a:endParaRPr lang="en-US" sz="650" dirty="0"/>
          </a:p>
        </p:txBody>
      </p:sp>
      <p:sp>
        <p:nvSpPr>
          <p:cNvPr id="280" name="Shape 278"/>
          <p:cNvSpPr/>
          <p:nvPr/>
        </p:nvSpPr>
        <p:spPr>
          <a:xfrm>
            <a:off x="4499193" y="512292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4549485" y="517322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Text 280"/>
          <p:cNvSpPr/>
          <p:nvPr/>
        </p:nvSpPr>
        <p:spPr>
          <a:xfrm>
            <a:off x="4723221" y="500862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TCCECH-04/034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4958231" y="5653560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5008523" y="570385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Text 283"/>
          <p:cNvSpPr/>
          <p:nvPr/>
        </p:nvSpPr>
        <p:spPr>
          <a:xfrm>
            <a:off x="5182259" y="553926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TCCECH-03/036</a:t>
            </a:r>
            <a:endParaRPr lang="en-US" sz="650" dirty="0"/>
          </a:p>
        </p:txBody>
      </p:sp>
      <p:sp>
        <p:nvSpPr>
          <p:cNvPr id="286" name="Shape 284"/>
          <p:cNvSpPr/>
          <p:nvPr/>
        </p:nvSpPr>
        <p:spPr>
          <a:xfrm>
            <a:off x="5379461" y="621544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5429753" y="626574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Text 286"/>
          <p:cNvSpPr/>
          <p:nvPr/>
        </p:nvSpPr>
        <p:spPr>
          <a:xfrm>
            <a:off x="5603489" y="610114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TCCECH-04/035</a:t>
            </a:r>
            <a:endParaRPr lang="en-US" sz="650" dirty="0"/>
          </a:p>
        </p:txBody>
      </p:sp>
      <p:sp>
        <p:nvSpPr>
          <p:cNvPr id="289" name="Shape 287"/>
          <p:cNvSpPr/>
          <p:nvPr/>
        </p:nvSpPr>
        <p:spPr>
          <a:xfrm>
            <a:off x="5759700" y="6804759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5809992" y="68550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 289"/>
          <p:cNvSpPr/>
          <p:nvPr/>
        </p:nvSpPr>
        <p:spPr>
          <a:xfrm>
            <a:off x="5983728" y="669045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TCCECH-03/037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6098574" y="7419991"/>
            <a:ext cx="210312" cy="210312"/>
          </a:xfrm>
          <a:prstGeom prst="ellipse">
            <a:avLst/>
          </a:prstGeom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6148866" y="7470283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Text 292"/>
          <p:cNvSpPr/>
          <p:nvPr/>
        </p:nvSpPr>
        <p:spPr>
          <a:xfrm>
            <a:off x="6322602" y="730569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TCCECH-04/036</a:t>
            </a:r>
            <a:endParaRPr lang="en-US" sz="650" dirty="0"/>
          </a:p>
        </p:txBody>
      </p:sp>
      <p:sp>
        <p:nvSpPr>
          <p:cNvPr id="297" name="Text 295"/>
          <p:cNvSpPr/>
          <p:nvPr/>
        </p:nvSpPr>
        <p:spPr>
          <a:xfrm>
            <a:off x="3453824" y="510885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SBC102-02/027</a:t>
            </a:r>
            <a:endParaRPr lang="en-US" sz="650" dirty="0"/>
          </a:p>
        </p:txBody>
      </p:sp>
      <p:sp>
        <p:nvSpPr>
          <p:cNvPr id="300" name="Text 298"/>
          <p:cNvSpPr/>
          <p:nvPr/>
        </p:nvSpPr>
        <p:spPr>
          <a:xfrm>
            <a:off x="4225345" y="4512905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50" b="1">
                <a:solidFill>
                  <a:srgbClr val="1F2937"/>
                </a:solidFill>
                <a:latin typeface="Arial"/>
              </a:rPr>
              <a:t>TCCECH-03/035 + 03/018  (0.49 m apart)</a:t>
            </a:r>
            <a:endParaRPr lang="en-US" sz="650" dirty="0"/>
          </a:p>
        </p:txBody>
      </p:sp>
      <p:sp>
        <p:nvSpPr>
          <p:cNvPr id="304" name="Shape 302"/>
          <p:cNvSpPr/>
          <p:nvPr/>
        </p:nvSpPr>
        <p:spPr>
          <a:xfrm>
            <a:off x="4455208" y="3691535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Text 303"/>
          <p:cNvSpPr/>
          <p:nvPr/>
        </p:nvSpPr>
        <p:spPr>
          <a:xfrm>
            <a:off x="4679236" y="3577235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SBC102-01/026</a:t>
            </a:r>
            <a:endParaRPr lang="en-US" sz="650" dirty="0"/>
          </a:p>
        </p:txBody>
      </p:sp>
      <p:sp>
        <p:nvSpPr>
          <p:cNvPr id="306" name="Shape 304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Text 305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1 — 1001  ·  REV P07 (ISSUED)</a:t>
            </a:r>
            <a:endParaRPr lang="en-US" sz="1250" dirty="0"/>
          </a:p>
        </p:txBody>
      </p:sp>
      <p:sp>
        <p:nvSpPr>
          <p:cNvPr id="308" name="Text 306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Document_3 (15 No. LIGHTS LISTED) — FIELD CONDITION GOVERNS</a:t>
            </a:r>
            <a:endParaRPr lang="en-US" sz="800" dirty="0"/>
          </a:p>
        </p:txBody>
      </p:sp>
      <p:sp>
        <p:nvSpPr>
          <p:cNvPr id="309" name="Text 307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A3 (420 x 297 mm) · NOT TO SCALE — approx. 1:465 as plotted · UTM 40N · Issued 28.07.2026 · Rev P07 30.07.2026 · Prepared: Mohammed, AGL Team Leader — ADB SAFEGATE · Approved: Ragesh Menon, AGL Manager</a:t>
            </a:r>
            <a:endParaRPr lang="en-US" sz="700" dirty="0"/>
          </a:p>
        </p:txBody>
      </p:sp>
      <p:sp>
        <p:nvSpPr>
          <p:cNvPr id="310" name="Shape 308"/>
          <p:cNvSpPr/>
          <p:nvPr/>
        </p:nvSpPr>
        <p:spPr>
          <a:xfrm>
            <a:off x="10104120" y="2057400"/>
            <a:ext cx="4709160" cy="2502713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Text 309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2" name="Text 310"/>
          <p:cNvSpPr/>
          <p:nvPr/>
        </p:nvSpPr>
        <p:spPr>
          <a:xfrm>
            <a:off x="10241280" y="2386584"/>
            <a:ext cx="4434840" cy="2118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760">
                <a:solidFill>
                  <a:srgbClr val="1F2937"/>
                </a:solidFill>
                <a:latin typeface="Arial"/>
              </a:rPr>
              <a:t>CORE OUT SHALLOW BASE + NEW CABLE: 11 No.   (SEC. CABLE YES / SHALLOW BASE YES)</a:t>
            </a:r>
            <a:endParaRPr lang="en-US" sz="760" dirty="0"/>
          </a:p>
          <a:p>
            <a:r>
              <a:rPr sz="760">
                <a:solidFill>
                  <a:srgbClr val="1F2937"/>
                </a:solidFill>
                <a:latin typeface="Arial"/>
              </a:rPr>
              <a:t>   • VIA DUCT (6): SBC102-02/024, 01/027, 02/025, 01/028, 02/026, 01/029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   • VIA SAWCUT (5): TCCECH-04/034, 03/036, 04/035, 03/037, 04/036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NEW SECONDARY CABLE ONLY — NO CORING: 3 No.   (SEC. CABLE YES / SHALLOW BASE NO)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   • VIA DUCT (1): SBC102-02/027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   • VIA SAWCUT (2): TCCECH-03/035, 03/018 — 0.49 m apart, one shared label; bases sound, verify at cut line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FIELD VERIFIED NOT AFFECTED: SBC102-01/026 (SEC. CABLE NO / SHALLOW BASE NO — no works)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FIELD SHEET TOTAL: 15 No. — 14 secondary cables, 11 core-outs, 0 dummy plates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NOT ON FIELD SHEET — CONFIRM BEFORE WORKS: TCC103-11/021, 11/126, 12/021, 12/022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   • secondary routes appear to cross the cut; not listed on Document_3 — shown grey, no action assumed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ISOLATE CIRCUITS: SBC102.01/.02, TCCECH.03/.04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SITE RECORD 23.07.2026: 9 cored + 2 reinstatement completed</a:t>
            </a:r>
          </a:p>
        </p:txBody>
      </p:sp>
      <p:sp>
        <p:nvSpPr>
          <p:cNvPr id="313" name="Shape 311"/>
          <p:cNvSpPr/>
          <p:nvPr/>
        </p:nvSpPr>
        <p:spPr>
          <a:xfrm>
            <a:off x="10104120" y="466984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Text 312"/>
          <p:cNvSpPr/>
          <p:nvPr/>
        </p:nvSpPr>
        <p:spPr>
          <a:xfrm>
            <a:off x="10241280" y="4742993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5" name="Text 313"/>
          <p:cNvSpPr/>
          <p:nvPr/>
        </p:nvSpPr>
        <p:spPr>
          <a:xfrm>
            <a:off x="10241280" y="4999025"/>
            <a:ext cx="4434840" cy="1883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680">
                <a:solidFill>
                  <a:srgbClr val="5F6368"/>
                </a:solidFill>
                <a:latin typeface="Arial"/>
              </a:rPr>
              <a:t>1. All asset positions as-built (asset survey assets_20260726120533.xlsx, UTM 40N / EPSG:32640).</a:t>
            </a:r>
            <a:endParaRPr lang="en-US" sz="680" dirty="0"/>
          </a:p>
          <a:p>
            <a:r>
              <a:rPr sz="680">
                <a:solidFill>
                  <a:srgbClr val="5F6368"/>
                </a:solidFill>
                <a:latin typeface="Arial"/>
              </a:rPr>
              <a:t>2. AGL works demarcation (red) drawn around field-verified affected assets (+2.0 m) — field condition governs.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3. Secondary cables: no joints — full manhole-to-light replacement. Confirm routes vs AGL duct-layout CAD (Rev C) before works.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4. Isolate, lock out &amp; prove dead all listed circuits at CCR under permit before any cutting, coring or excavation.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5. Reinstatement setting-out by civil survey from as-built E/N, checked against adjacent undisturbed fittings before coring.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6. Rev P07: every asset on this sheet re-marked directly from field sheet Document_3 — outer ring from the Secondary-cable / Shallow-base columns, inner disc from Duct / Sawcut. Assets not listed on the field sheet are shown grey with no action assumed.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7. Asset key: label prefix to as-built class, from the AGL asset survey checked against the AGL duct-layout CAD. Civil items (HH / MH / pits / RRM) plot about 2.1 m from the surveyed insertion point — set out from survey, not from this sheet. A pit prefix can cover more than one civil class (manhole, transformer handhole, earthing); confirm the individual pit before works.</a:t>
            </a:r>
          </a:p>
        </p:txBody>
      </p:sp>
      <p:sp>
        <p:nvSpPr>
          <p:cNvPr id="316" name="Shape 314"/>
          <p:cNvSpPr/>
          <p:nvPr/>
        </p:nvSpPr>
        <p:spPr>
          <a:xfrm>
            <a:off x="10104120" y="7047281"/>
            <a:ext cx="4709160" cy="3419856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Grey Highlight">
            <a:extLst>
              <a:ext uri="{FF2B5EF4-FFF2-40B4-BE49-F238E27FC236}">
                <a16:creationId xmlns:a16="http://schemas.microsoft.com/office/drawing/2014/main" id="{246F1E80-1B7C-462F-9F40-F42EF329A5D3}"/>
              </a:ext>
            </a:extLst>
          </p:cNvPr>
          <p:cNvSpPr/>
          <p:nvPr/>
        </p:nvSpPr>
        <p:spPr>
          <a:xfrm rot="18714653">
            <a:off x="3044690" y="4239941"/>
            <a:ext cx="1671160" cy="454665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Shape 170">
            <a:extLst>
              <a:ext uri="{FF2B5EF4-FFF2-40B4-BE49-F238E27FC236}">
                <a16:creationId xmlns:a16="http://schemas.microsoft.com/office/drawing/2014/main" id="{7221B951-0D07-78F9-039D-D3505F67C140}"/>
              </a:ext>
            </a:extLst>
          </p:cNvPr>
          <p:cNvSpPr/>
          <p:nvPr/>
        </p:nvSpPr>
        <p:spPr>
          <a:xfrm>
            <a:off x="6280136" y="644064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170">
            <a:extLst>
              <a:ext uri="{FF2B5EF4-FFF2-40B4-BE49-F238E27FC236}">
                <a16:creationId xmlns:a16="http://schemas.microsoft.com/office/drawing/2014/main" id="{662DE4F9-B73E-E339-8EE9-3ABDEB5EA08A}"/>
              </a:ext>
            </a:extLst>
          </p:cNvPr>
          <p:cNvSpPr/>
          <p:nvPr/>
        </p:nvSpPr>
        <p:spPr>
          <a:xfrm>
            <a:off x="6829184" y="687522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00">
            <a:extLst>
              <a:ext uri="{FF2B5EF4-FFF2-40B4-BE49-F238E27FC236}">
                <a16:creationId xmlns:a16="http://schemas.microsoft.com/office/drawing/2014/main" id="{F8F48875-14A6-115D-5973-674769B5723D}"/>
              </a:ext>
            </a:extLst>
          </p:cNvPr>
          <p:cNvSpPr/>
          <p:nvPr/>
        </p:nvSpPr>
        <p:spPr>
          <a:xfrm>
            <a:off x="5695094" y="6022959"/>
            <a:ext cx="58521" cy="58521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278">
            <a:extLst>
              <a:ext uri="{FF2B5EF4-FFF2-40B4-BE49-F238E27FC236}">
                <a16:creationId xmlns:a16="http://schemas.microsoft.com/office/drawing/2014/main" id="{4ED85B39-9CA1-594D-C992-008D3625D99B}"/>
              </a:ext>
            </a:extLst>
          </p:cNvPr>
          <p:cNvSpPr/>
          <p:nvPr/>
        </p:nvSpPr>
        <p:spPr>
          <a:xfrm>
            <a:off x="5630525" y="5932162"/>
            <a:ext cx="210312" cy="210312"/>
          </a:xfrm>
          <a:prstGeom prst="ellipse">
            <a:avLst/>
          </a:prstGeom>
          <a:noFill/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146">
            <a:extLst>
              <a:ext uri="{FF2B5EF4-FFF2-40B4-BE49-F238E27FC236}">
                <a16:creationId xmlns:a16="http://schemas.microsoft.com/office/drawing/2014/main" id="{B15E7995-DB0D-EFB0-3600-AA7BC9EFE817}"/>
              </a:ext>
            </a:extLst>
          </p:cNvPr>
          <p:cNvSpPr/>
          <p:nvPr/>
        </p:nvSpPr>
        <p:spPr>
          <a:xfrm flipH="1">
            <a:off x="4327634" y="7470282"/>
            <a:ext cx="1848301" cy="37956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70">
            <a:extLst>
              <a:ext uri="{FF2B5EF4-FFF2-40B4-BE49-F238E27FC236}">
                <a16:creationId xmlns:a16="http://schemas.microsoft.com/office/drawing/2014/main" id="{A8223C1A-FD59-957F-E689-730AD440F6AD}"/>
              </a:ext>
            </a:extLst>
          </p:cNvPr>
          <p:cNvSpPr/>
          <p:nvPr/>
        </p:nvSpPr>
        <p:spPr>
          <a:xfrm>
            <a:off x="4537857" y="37614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02">
            <a:extLst>
              <a:ext uri="{FF2B5EF4-FFF2-40B4-BE49-F238E27FC236}">
                <a16:creationId xmlns:a16="http://schemas.microsoft.com/office/drawing/2014/main" id="{4ADD28C2-0E55-FA3A-1A77-4EDB5A3435C1}"/>
              </a:ext>
            </a:extLst>
          </p:cNvPr>
          <p:cNvSpPr/>
          <p:nvPr/>
        </p:nvSpPr>
        <p:spPr>
          <a:xfrm>
            <a:off x="5103758" y="5448718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171">
            <a:extLst>
              <a:ext uri="{FF2B5EF4-FFF2-40B4-BE49-F238E27FC236}">
                <a16:creationId xmlns:a16="http://schemas.microsoft.com/office/drawing/2014/main" id="{54D82B85-A5FF-E1D9-9160-FC6CA81B1A65}"/>
              </a:ext>
            </a:extLst>
          </p:cNvPr>
          <p:cNvSpPr/>
          <p:nvPr/>
        </p:nvSpPr>
        <p:spPr>
          <a:xfrm>
            <a:off x="5182772" y="55281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02">
            <a:extLst>
              <a:ext uri="{FF2B5EF4-FFF2-40B4-BE49-F238E27FC236}">
                <a16:creationId xmlns:a16="http://schemas.microsoft.com/office/drawing/2014/main" id="{14FA482E-7F94-AAB6-D137-D95AAC9E7B05}"/>
              </a:ext>
            </a:extLst>
          </p:cNvPr>
          <p:cNvSpPr/>
          <p:nvPr/>
        </p:nvSpPr>
        <p:spPr>
          <a:xfrm>
            <a:off x="6215341" y="6363782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02">
            <a:extLst>
              <a:ext uri="{FF2B5EF4-FFF2-40B4-BE49-F238E27FC236}">
                <a16:creationId xmlns:a16="http://schemas.microsoft.com/office/drawing/2014/main" id="{4B1B3851-4D63-D8B8-0273-172A4103567C}"/>
              </a:ext>
            </a:extLst>
          </p:cNvPr>
          <p:cNvSpPr/>
          <p:nvPr/>
        </p:nvSpPr>
        <p:spPr>
          <a:xfrm>
            <a:off x="6756893" y="6777533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02">
            <a:extLst>
              <a:ext uri="{FF2B5EF4-FFF2-40B4-BE49-F238E27FC236}">
                <a16:creationId xmlns:a16="http://schemas.microsoft.com/office/drawing/2014/main" id="{D33705A0-B1CE-D896-972C-F3CBA8F6F186}"/>
              </a:ext>
            </a:extLst>
          </p:cNvPr>
          <p:cNvSpPr/>
          <p:nvPr/>
        </p:nvSpPr>
        <p:spPr>
          <a:xfrm>
            <a:off x="7304051" y="7263859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Grey Highlight">
            <a:extLst>
              <a:ext uri="{FF2B5EF4-FFF2-40B4-BE49-F238E27FC236}">
                <a16:creationId xmlns:a16="http://schemas.microsoft.com/office/drawing/2014/main" id="{0A0C7A60-E0FA-4ED9-8E0F-4C2F1A872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8714653">
            <a:off x="4775653" y="4280508"/>
            <a:ext cx="778021" cy="3765814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37" name="Shape 144">
            <a:extLst>
              <a:ext uri="{FF2B5EF4-FFF2-40B4-BE49-F238E27FC236}">
                <a16:creationId xmlns:a16="http://schemas.microsoft.com/office/drawing/2014/main" id="{5E3C2CB6-75CD-7E8E-ED54-62C7C65286C8}"/>
              </a:ext>
            </a:extLst>
          </p:cNvPr>
          <p:cNvSpPr/>
          <p:nvPr/>
        </p:nvSpPr>
        <p:spPr>
          <a:xfrm flipV="1">
            <a:off x="3624336" y="8042362"/>
            <a:ext cx="474719" cy="303169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149">
            <a:extLst>
              <a:ext uri="{FF2B5EF4-FFF2-40B4-BE49-F238E27FC236}">
                <a16:creationId xmlns:a16="http://schemas.microsoft.com/office/drawing/2014/main" id="{1A51C71C-549F-C5ED-3062-6CC8DFE36A14}"/>
              </a:ext>
            </a:extLst>
          </p:cNvPr>
          <p:cNvSpPr/>
          <p:nvPr/>
        </p:nvSpPr>
        <p:spPr>
          <a:xfrm>
            <a:off x="3487475" y="8280021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149">
            <a:extLst>
              <a:ext uri="{FF2B5EF4-FFF2-40B4-BE49-F238E27FC236}">
                <a16:creationId xmlns:a16="http://schemas.microsoft.com/office/drawing/2014/main" id="{92B39F82-641C-9A6F-074E-96ABC77E3E64}"/>
              </a:ext>
            </a:extLst>
          </p:cNvPr>
          <p:cNvSpPr/>
          <p:nvPr/>
        </p:nvSpPr>
        <p:spPr>
          <a:xfrm>
            <a:off x="4600010" y="6265795"/>
            <a:ext cx="131020" cy="131020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879555BC-1A8C-CABD-F564-6DF188772C03}"/>
              </a:ext>
            </a:extLst>
          </p:cNvPr>
          <p:cNvCxnSpPr/>
          <p:nvPr/>
        </p:nvCxnSpPr>
        <p:spPr>
          <a:xfrm>
            <a:off x="0" y="3038521"/>
            <a:ext cx="4549485" cy="3906304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5" name="Picture 3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37FBC65-0A27-B45C-A746-664A2E926D76}"/>
              </a:ext>
            </a:extLst>
          </p:cNvPr>
          <p:cNvSpPr txBox="1"/>
          <p:nvPr/>
        </p:nvSpPr>
        <p:spPr>
          <a:xfrm>
            <a:off x="5786671" y="5858817"/>
            <a:ext cx="1143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650" b="1" dirty="0">
                <a:solidFill>
                  <a:srgbClr val="1F2937"/>
                </a:solidFill>
                <a:latin typeface="Arial"/>
                <a:cs typeface="Arial"/>
              </a:rPr>
              <a:t>TCC103-11/021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C693A0-3602-FE91-F942-02715422EA80}"/>
              </a:ext>
            </a:extLst>
          </p:cNvPr>
          <p:cNvSpPr txBox="1"/>
          <p:nvPr/>
        </p:nvSpPr>
        <p:spPr>
          <a:xfrm>
            <a:off x="6366286" y="6340617"/>
            <a:ext cx="1143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50" b="1" dirty="0">
                <a:solidFill>
                  <a:srgbClr val="1F2937"/>
                </a:solidFill>
                <a:latin typeface="Arial"/>
                <a:cs typeface="Arial"/>
              </a:rPr>
              <a:t xml:space="preserve">TCC103-11/126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F0B66D-52A1-A49A-7E09-7CB6CCAC5DC7}"/>
              </a:ext>
            </a:extLst>
          </p:cNvPr>
          <p:cNvSpPr txBox="1"/>
          <p:nvPr/>
        </p:nvSpPr>
        <p:spPr>
          <a:xfrm>
            <a:off x="6892547" y="6636083"/>
            <a:ext cx="1143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50" b="1" dirty="0">
                <a:solidFill>
                  <a:srgbClr val="1F2937"/>
                </a:solidFill>
                <a:latin typeface="Arial"/>
                <a:cs typeface="Arial"/>
              </a:rPr>
              <a:t>TCC103-12/021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FBD051-289C-C914-65AD-808E4BBD068B}"/>
              </a:ext>
            </a:extLst>
          </p:cNvPr>
          <p:cNvSpPr txBox="1"/>
          <p:nvPr/>
        </p:nvSpPr>
        <p:spPr>
          <a:xfrm>
            <a:off x="4655169" y="5143911"/>
            <a:ext cx="1143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50" b="1" dirty="0">
                <a:solidFill>
                  <a:srgbClr val="1F2937"/>
                </a:solidFill>
                <a:latin typeface="Arial"/>
                <a:cs typeface="Arial"/>
              </a:rPr>
              <a:t>TCC103-12/022</a:t>
            </a:r>
          </a:p>
        </p:txBody>
      </p:sp>
      <p:sp>
        <p:nvSpPr>
          <p:cNvPr id="53" name="Shape 171">
            <a:extLst>
              <a:ext uri="{FF2B5EF4-FFF2-40B4-BE49-F238E27FC236}">
                <a16:creationId xmlns:a16="http://schemas.microsoft.com/office/drawing/2014/main" id="{532F0977-AC9F-5141-D4F2-6F27258D6E1E}"/>
              </a:ext>
            </a:extLst>
          </p:cNvPr>
          <p:cNvSpPr/>
          <p:nvPr/>
        </p:nvSpPr>
        <p:spPr>
          <a:xfrm>
            <a:off x="3552099" y="424015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302">
            <a:extLst>
              <a:ext uri="{FF2B5EF4-FFF2-40B4-BE49-F238E27FC236}">
                <a16:creationId xmlns:a16="http://schemas.microsoft.com/office/drawing/2014/main" id="{06E9AD3F-234C-0497-7DCA-40053624211B}"/>
              </a:ext>
            </a:extLst>
          </p:cNvPr>
          <p:cNvSpPr/>
          <p:nvPr/>
        </p:nvSpPr>
        <p:spPr>
          <a:xfrm>
            <a:off x="3471001" y="4148546"/>
            <a:ext cx="210312" cy="210312"/>
          </a:xfrm>
          <a:prstGeom prst="ellipse">
            <a:avLst/>
          </a:prstGeom>
          <a:ln w="28575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Legend 382"/>
          <p:cNvSpPr/>
          <p:nvPr/>
        </p:nvSpPr>
        <p:spPr>
          <a:xfrm>
            <a:off x="10305288" y="7339888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WORKS ACTIONS</a:t>
            </a:r>
            <a:endParaRPr lang="en-US" sz="740" dirty="0"/>
          </a:p>
        </p:txBody>
      </p:sp>
      <p:sp>
        <p:nvSpPr>
          <p:cNvPr id="383" name="Legend 383"/>
          <p:cNvSpPr/>
          <p:nvPr/>
        </p:nvSpPr>
        <p:spPr>
          <a:xfrm>
            <a:off x="10305288" y="7511338"/>
            <a:ext cx="192024" cy="192024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Legend 384"/>
          <p:cNvSpPr/>
          <p:nvPr/>
        </p:nvSpPr>
        <p:spPr>
          <a:xfrm>
            <a:off x="10351008" y="7557058"/>
            <a:ext cx="100584" cy="100584"/>
          </a:xfrm>
          <a:prstGeom prst="ellipse">
            <a:avLst/>
          </a:prstGeom>
          <a:solidFill>
            <a:srgbClr val="0055CC"/>
          </a:solidFill>
          <a:ln w="63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Legend 385"/>
          <p:cNvSpPr/>
          <p:nvPr/>
        </p:nvSpPr>
        <p:spPr>
          <a:xfrm>
            <a:off x="10533888" y="7518196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CORE OUT + NEW CABLE (DUCT)</a:t>
            </a:r>
            <a:endParaRPr lang="en-US" sz="740" dirty="0"/>
          </a:p>
        </p:txBody>
      </p:sp>
      <p:sp>
        <p:nvSpPr>
          <p:cNvPr id="386" name="Legend 386"/>
          <p:cNvSpPr/>
          <p:nvPr/>
        </p:nvSpPr>
        <p:spPr>
          <a:xfrm>
            <a:off x="10305288" y="7689646"/>
            <a:ext cx="192024" cy="192024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Legend 387"/>
          <p:cNvSpPr/>
          <p:nvPr/>
        </p:nvSpPr>
        <p:spPr>
          <a:xfrm>
            <a:off x="10351008" y="7735366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Legend 388"/>
          <p:cNvSpPr/>
          <p:nvPr/>
        </p:nvSpPr>
        <p:spPr>
          <a:xfrm>
            <a:off x="10533888" y="7696504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CORE OUT + NEW CABLE (SAWCUT)</a:t>
            </a:r>
            <a:endParaRPr lang="en-US" sz="740" dirty="0"/>
          </a:p>
        </p:txBody>
      </p:sp>
      <p:sp>
        <p:nvSpPr>
          <p:cNvPr id="389" name="Legend 389"/>
          <p:cNvSpPr/>
          <p:nvPr/>
        </p:nvSpPr>
        <p:spPr>
          <a:xfrm>
            <a:off x="10305288" y="7867954"/>
            <a:ext cx="192024" cy="192024"/>
          </a:xfrm>
          <a:prstGeom prst="ellipse">
            <a:avLst/>
          </a:prstGeom>
          <a:noFill/>
          <a:ln w="190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Legend 390"/>
          <p:cNvSpPr/>
          <p:nvPr/>
        </p:nvSpPr>
        <p:spPr>
          <a:xfrm>
            <a:off x="10351008" y="7913674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Legend 391"/>
          <p:cNvSpPr/>
          <p:nvPr/>
        </p:nvSpPr>
        <p:spPr>
          <a:xfrm>
            <a:off x="10533888" y="7874812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NEW SEC. CABLE ONLY (DUCT)</a:t>
            </a:r>
            <a:endParaRPr lang="en-US" sz="740" dirty="0"/>
          </a:p>
        </p:txBody>
      </p:sp>
      <p:sp>
        <p:nvSpPr>
          <p:cNvPr id="392" name="Legend 392"/>
          <p:cNvSpPr/>
          <p:nvPr/>
        </p:nvSpPr>
        <p:spPr>
          <a:xfrm>
            <a:off x="10305288" y="8046262"/>
            <a:ext cx="192024" cy="192024"/>
          </a:xfrm>
          <a:prstGeom prst="ellipse">
            <a:avLst/>
          </a:prstGeom>
          <a:noFill/>
          <a:ln w="190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Legend 393"/>
          <p:cNvSpPr/>
          <p:nvPr/>
        </p:nvSpPr>
        <p:spPr>
          <a:xfrm>
            <a:off x="10351008" y="8091982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Legend 394"/>
          <p:cNvSpPr/>
          <p:nvPr/>
        </p:nvSpPr>
        <p:spPr>
          <a:xfrm>
            <a:off x="10533888" y="8053120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NEW SEC. CABLE ONLY (SAWCUT)</a:t>
            </a:r>
            <a:endParaRPr lang="en-US" sz="740" dirty="0"/>
          </a:p>
        </p:txBody>
      </p:sp>
      <p:sp>
        <p:nvSpPr>
          <p:cNvPr id="395" name="Legend 395"/>
          <p:cNvSpPr/>
          <p:nvPr/>
        </p:nvSpPr>
        <p:spPr>
          <a:xfrm>
            <a:off x="10305288" y="8224570"/>
            <a:ext cx="192024" cy="192024"/>
          </a:xfrm>
          <a:prstGeom prst="ellipse">
            <a:avLst/>
          </a:prstGeom>
          <a:noFill/>
          <a:ln w="19050">
            <a:solidFill>
              <a:srgbClr val="9AA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Legend 396"/>
          <p:cNvSpPr/>
          <p:nvPr/>
        </p:nvSpPr>
        <p:spPr>
          <a:xfrm>
            <a:off x="10533888" y="8231428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NOT AFFECTED / NOT ON FIELD SHEET</a:t>
            </a:r>
            <a:endParaRPr lang="en-US" sz="740" dirty="0"/>
          </a:p>
        </p:txBody>
      </p:sp>
      <p:sp>
        <p:nvSpPr>
          <p:cNvPr id="397" name="Legend 397"/>
          <p:cNvSpPr/>
          <p:nvPr/>
        </p:nvSpPr>
        <p:spPr>
          <a:xfrm>
            <a:off x="10305288" y="8409736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EXISTING ASSETS (AS-BUILT)</a:t>
            </a:r>
            <a:endParaRPr lang="en-US" sz="740" dirty="0"/>
          </a:p>
        </p:txBody>
      </p:sp>
      <p:sp>
        <p:nvSpPr>
          <p:cNvPr id="398" name="Legend 398"/>
          <p:cNvSpPr/>
          <p:nvPr/>
        </p:nvSpPr>
        <p:spPr>
          <a:xfrm>
            <a:off x="10355580" y="8631478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Legend 399"/>
          <p:cNvSpPr/>
          <p:nvPr/>
        </p:nvSpPr>
        <p:spPr>
          <a:xfrm>
            <a:off x="10533888" y="8588044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EXISTING AGL ASSET — see asset key</a:t>
            </a:r>
            <a:endParaRPr lang="en-US" sz="740" dirty="0"/>
          </a:p>
        </p:txBody>
      </p:sp>
      <p:sp>
        <p:nvSpPr>
          <p:cNvPr id="400" name="Legend 400"/>
          <p:cNvSpPr/>
          <p:nvPr/>
        </p:nvSpPr>
        <p:spPr>
          <a:xfrm>
            <a:off x="10323576" y="8777782"/>
            <a:ext cx="155448" cy="155448"/>
          </a:xfrm>
          <a:prstGeom prst="rect">
            <a:avLst/>
          </a:prstGeom>
          <a:noFill/>
          <a:ln w="19050">
            <a:solidFill>
              <a:srgbClr val="BB00B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1" name="Legend 401"/>
          <p:cNvSpPr/>
          <p:nvPr/>
        </p:nvSpPr>
        <p:spPr>
          <a:xfrm>
            <a:off x="10533888" y="8766352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AGL FEED MANHOLE / HANDHOLE</a:t>
            </a:r>
            <a:endParaRPr lang="en-US" sz="740" dirty="0"/>
          </a:p>
        </p:txBody>
      </p:sp>
      <p:sp>
        <p:nvSpPr>
          <p:cNvPr id="402" name="Legend 402"/>
          <p:cNvSpPr/>
          <p:nvPr/>
        </p:nvSpPr>
        <p:spPr>
          <a:xfrm>
            <a:off x="10305288" y="8944660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AREAS &amp; LINEWORK</a:t>
            </a:r>
            <a:endParaRPr lang="en-US" sz="740" dirty="0"/>
          </a:p>
        </p:txBody>
      </p:sp>
      <p:sp>
        <p:nvSpPr>
          <p:cNvPr id="403" name="Legend 403"/>
          <p:cNvSpPr/>
          <p:nvPr/>
        </p:nvSpPr>
        <p:spPr>
          <a:xfrm>
            <a:off x="10305288" y="9152686"/>
            <a:ext cx="201168" cy="118872"/>
          </a:xfrm>
          <a:prstGeom prst="rect">
            <a:avLst/>
          </a:prstGeom>
          <a:solidFill>
            <a:srgbClr val="BFBFBF"/>
          </a:solidFill>
          <a:ln w="6350">
            <a:solidFill>
              <a:srgbClr val="7A82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4" name="Legend 404"/>
          <p:cNvSpPr/>
          <p:nvPr/>
        </p:nvSpPr>
        <p:spPr>
          <a:xfrm>
            <a:off x="10533888" y="9122968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MILLING / CUT AREA</a:t>
            </a:r>
            <a:endParaRPr lang="en-US" sz="740" dirty="0"/>
          </a:p>
        </p:txBody>
      </p:sp>
      <p:sp>
        <p:nvSpPr>
          <p:cNvPr id="405" name="Legend 405"/>
          <p:cNvSpPr/>
          <p:nvPr/>
        </p:nvSpPr>
        <p:spPr>
          <a:xfrm>
            <a:off x="10287000" y="9390430"/>
            <a:ext cx="237744" cy="914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Legend 406"/>
          <p:cNvSpPr/>
          <p:nvPr/>
        </p:nvSpPr>
        <p:spPr>
          <a:xfrm>
            <a:off x="10533888" y="9301276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AGL WORKS DEMARCATION (GOVERNING)</a:t>
            </a:r>
            <a:endParaRPr lang="en-US" sz="740" dirty="0"/>
          </a:p>
        </p:txBody>
      </p:sp>
      <p:sp>
        <p:nvSpPr>
          <p:cNvPr id="407" name="Legend 407"/>
          <p:cNvSpPr/>
          <p:nvPr/>
        </p:nvSpPr>
        <p:spPr>
          <a:xfrm>
            <a:off x="10287000" y="9568738"/>
            <a:ext cx="237744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8" name="Legend 408"/>
          <p:cNvSpPr/>
          <p:nvPr/>
        </p:nvSpPr>
        <p:spPr>
          <a:xfrm>
            <a:off x="10533888" y="9479584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SECONDARY DUCT CROSSING CUT (INDIC.)</a:t>
            </a:r>
            <a:endParaRPr lang="en-US" sz="740" dirty="0"/>
          </a:p>
        </p:txBody>
      </p:sp>
      <p:sp>
        <p:nvSpPr>
          <p:cNvPr id="409" name="Legend 409"/>
          <p:cNvSpPr/>
          <p:nvPr/>
        </p:nvSpPr>
        <p:spPr>
          <a:xfrm>
            <a:off x="10287000" y="9747046"/>
            <a:ext cx="237744" cy="914"/>
          </a:xfrm>
          <a:prstGeom prst="line">
            <a:avLst/>
          </a:prstGeom>
          <a:noFill/>
          <a:ln w="19050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0" name="Legend 410"/>
          <p:cNvSpPr/>
          <p:nvPr/>
        </p:nvSpPr>
        <p:spPr>
          <a:xfrm>
            <a:off x="10533888" y="9657892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INDICATIVE DUCT — LIGHT TO MH / HH</a:t>
            </a:r>
            <a:endParaRPr lang="en-US" sz="740" dirty="0"/>
          </a:p>
        </p:txBody>
      </p:sp>
      <p:sp>
        <p:nvSpPr>
          <p:cNvPr id="411" name="Legend 411"/>
          <p:cNvSpPr/>
          <p:nvPr/>
        </p:nvSpPr>
        <p:spPr>
          <a:xfrm>
            <a:off x="10287000" y="9925354"/>
            <a:ext cx="23774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412" name="Legend 412"/>
          <p:cNvSpPr/>
          <p:nvPr/>
        </p:nvSpPr>
        <p:spPr>
          <a:xfrm>
            <a:off x="10533888" y="9836200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TAXIWAY CENTRELINE (THROUGH TCC)</a:t>
            </a:r>
            <a:endParaRPr lang="en-US" sz="740" dirty="0"/>
          </a:p>
        </p:txBody>
      </p:sp>
      <p:sp>
        <p:nvSpPr>
          <p:cNvPr id="413" name="Legend 413"/>
          <p:cNvSpPr/>
          <p:nvPr/>
        </p:nvSpPr>
        <p:spPr>
          <a:xfrm>
            <a:off x="10287000" y="10103662"/>
            <a:ext cx="237744" cy="914"/>
          </a:xfrm>
          <a:prstGeom prst="line">
            <a:avLst/>
          </a:prstGeom>
          <a:noFill/>
          <a:ln w="1905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Legend 414"/>
          <p:cNvSpPr/>
          <p:nvPr/>
        </p:nvSpPr>
        <p:spPr>
          <a:xfrm>
            <a:off x="10533888" y="10014508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STOP BAR (THROUGH SBC)</a:t>
            </a:r>
            <a:endParaRPr lang="en-US" sz="740" dirty="0"/>
          </a:p>
        </p:txBody>
      </p:sp>
      <p:sp>
        <p:nvSpPr>
          <p:cNvPr id="415" name="Legend 415"/>
          <p:cNvSpPr/>
          <p:nvPr/>
        </p:nvSpPr>
        <p:spPr>
          <a:xfrm>
            <a:off x="10287000" y="10281970"/>
            <a:ext cx="237744" cy="914"/>
          </a:xfrm>
          <a:prstGeom prst="line">
            <a:avLst/>
          </a:prstGeom>
          <a:noFill/>
          <a:ln w="1905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Legend 416"/>
          <p:cNvSpPr/>
          <p:nvPr/>
        </p:nvSpPr>
        <p:spPr>
          <a:xfrm>
            <a:off x="10533888" y="10192816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TWY EDGE / PAVEMENT (INDIC. 23 m)</a:t>
            </a:r>
            <a:endParaRPr lang="en-US" sz="740" dirty="0"/>
          </a:p>
        </p:txBody>
      </p:sp>
      <p:sp>
        <p:nvSpPr>
          <p:cNvPr id="417" name="Legend 417"/>
          <p:cNvSpPr/>
          <p:nvPr/>
        </p:nvSpPr>
        <p:spPr>
          <a:xfrm>
            <a:off x="12454128" y="7339888"/>
            <a:ext cx="2313431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ASSET KEY (AS-BUILT LABEL PREFIX)</a:t>
            </a:r>
            <a:endParaRPr lang="en-US" sz="740" dirty="0"/>
          </a:p>
        </p:txBody>
      </p:sp>
      <p:sp>
        <p:nvSpPr>
          <p:cNvPr id="418" name="Legend 418"/>
          <p:cNvSpPr/>
          <p:nvPr/>
        </p:nvSpPr>
        <p:spPr>
          <a:xfrm>
            <a:off x="12682728" y="7518196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SBC102  —  Stop bar light  ×8</a:t>
            </a:r>
            <a:endParaRPr lang="en-US" sz="740" dirty="0"/>
          </a:p>
        </p:txBody>
      </p:sp>
      <p:sp>
        <p:nvSpPr>
          <p:cNvPr id="419" name="Legend 419"/>
          <p:cNvSpPr/>
          <p:nvPr/>
        </p:nvSpPr>
        <p:spPr>
          <a:xfrm>
            <a:off x="12682728" y="7696504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SGC102  —  Sign foundation  ×2</a:t>
            </a:r>
            <a:endParaRPr lang="en-US" sz="740" dirty="0"/>
          </a:p>
        </p:txBody>
      </p:sp>
      <p:sp>
        <p:nvSpPr>
          <p:cNvPr id="420" name="Legend 420"/>
          <p:cNvSpPr/>
          <p:nvPr/>
        </p:nvSpPr>
        <p:spPr>
          <a:xfrm>
            <a:off x="12682728" y="7874812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TCC103  —  Taxiway centreline light  ×8</a:t>
            </a:r>
            <a:endParaRPr lang="en-US" sz="740" dirty="0"/>
          </a:p>
        </p:txBody>
      </p:sp>
      <p:sp>
        <p:nvSpPr>
          <p:cNvPr id="421" name="Legend 421"/>
          <p:cNvSpPr/>
          <p:nvPr/>
        </p:nvSpPr>
        <p:spPr>
          <a:xfrm>
            <a:off x="12682728" y="8053120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TCCECH  —  Taxiway centreline light  ×17</a:t>
            </a:r>
            <a:endParaRPr lang="en-US" sz="740" dirty="0"/>
          </a:p>
        </p:txBody>
      </p:sp>
      <p:sp>
        <p:nvSpPr>
          <p:cNvPr id="422" name="Legend 422"/>
          <p:cNvSpPr/>
          <p:nvPr/>
        </p:nvSpPr>
        <p:spPr>
          <a:xfrm>
            <a:off x="12682728" y="8231428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TEC102  —  Taxiway edge light  ×4</a:t>
            </a:r>
            <a:endParaRPr lang="en-US" sz="740" dirty="0"/>
          </a:p>
        </p:txBody>
      </p:sp>
      <p:sp>
        <p:nvSpPr>
          <p:cNvPr id="423" name="Legend 423"/>
          <p:cNvSpPr/>
          <p:nvPr/>
        </p:nvSpPr>
        <p:spPr>
          <a:xfrm>
            <a:off x="12682728" y="8409736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HH  —  Handhole  ×10</a:t>
            </a:r>
            <a:endParaRPr lang="en-US" sz="740" dirty="0"/>
          </a:p>
        </p:txBody>
      </p:sp>
      <p:sp>
        <p:nvSpPr>
          <p:cNvPr id="424" name="Legend 424"/>
          <p:cNvSpPr/>
          <p:nvPr/>
        </p:nvSpPr>
        <p:spPr>
          <a:xfrm>
            <a:off x="12682728" y="8588044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MH  —  Manhole  ×2</a:t>
            </a:r>
            <a:endParaRPr lang="en-US" sz="740" dirty="0"/>
          </a:p>
        </p:txBody>
      </p:sp>
      <p:sp>
        <p:nvSpPr>
          <p:cNvPr id="425" name="Legend 425"/>
          <p:cNvSpPr/>
          <p:nvPr/>
        </p:nvSpPr>
        <p:spPr>
          <a:xfrm>
            <a:off x="12682728" y="8766352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P6  —  Civil pit (manhole / earthing point)  ×2</a:t>
            </a:r>
            <a:endParaRPr lang="en-US" sz="740" dirty="0"/>
          </a:p>
        </p:txBody>
      </p:sp>
      <p:sp>
        <p:nvSpPr>
          <p:cNvPr id="426" name="Legend 426"/>
          <p:cNvSpPr/>
          <p:nvPr/>
        </p:nvSpPr>
        <p:spPr>
          <a:xfrm>
            <a:off x="12682728" y="8944660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RRM  —  Runway guard light / RRM  ×4</a:t>
            </a:r>
            <a:endParaRPr lang="en-US" sz="740" dirty="0"/>
          </a:p>
        </p:txBody>
      </p:sp>
      <p:sp>
        <p:nvSpPr>
          <p:cNvPr id="427" name="Legend 427"/>
          <p:cNvSpPr/>
          <p:nvPr/>
        </p:nvSpPr>
        <p:spPr>
          <a:xfrm>
            <a:off x="12682728" y="9122968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X_CV_STH_PITS  —  Civil pit / transformer HH  ×5</a:t>
            </a:r>
            <a:endParaRPr lang="en-US" sz="740" dirty="0"/>
          </a:p>
        </p:txBody>
      </p:sp>
    </p:spTree>
    <p:extLst>
      <p:ext uri="{BB962C8B-B14F-4D97-AF65-F5344CB8AC3E}">
        <p14:creationId xmlns:p14="http://schemas.microsoft.com/office/powerpoint/2010/main" val="307620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257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2   ·   DWG NO AUH-SK-AGL-TWYE-001-1002 REV P07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DO NOT SCALE FROM DRAWING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571627" y="10137349"/>
            <a:ext cx="243215" cy="19537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4963" y="9313422"/>
            <a:ext cx="1026664" cy="82392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17861" y="8488268"/>
            <a:ext cx="1027102" cy="825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93477" y="7665744"/>
            <a:ext cx="1024384" cy="82252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6813" y="6842694"/>
            <a:ext cx="1026664" cy="8230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65936" y="6841993"/>
            <a:ext cx="91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39097" y="6016926"/>
            <a:ext cx="1026839" cy="8250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15064" y="5193701"/>
            <a:ext cx="1024033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89277" y="4371879"/>
            <a:ext cx="1025787" cy="8218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5577" y="3590641"/>
            <a:ext cx="973700" cy="7812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07511" y="7740631"/>
            <a:ext cx="972472" cy="78043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80672" y="6915739"/>
            <a:ext cx="1026839" cy="8248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55323" y="6092339"/>
            <a:ext cx="1025349" cy="82340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28747" y="5269377"/>
            <a:ext cx="1026576" cy="8229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2434" y="4444748"/>
            <a:ext cx="1026313" cy="82462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78050" y="3621260"/>
            <a:ext cx="1024384" cy="8234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76734" y="3620208"/>
            <a:ext cx="1315" cy="105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50597" y="2798123"/>
            <a:ext cx="1026138" cy="8220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24722" y="1974898"/>
            <a:ext cx="1025875" cy="82322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9198" y="1151146"/>
            <a:ext cx="1025524" cy="823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5577" y="1003267"/>
            <a:ext cx="183621" cy="14787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02989" y="9351041"/>
            <a:ext cx="576994" cy="46351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76149" y="8526939"/>
            <a:ext cx="1026839" cy="82410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149310" y="7702047"/>
            <a:ext cx="1026839" cy="82489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4575" y="6879173"/>
            <a:ext cx="1024735" cy="822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97561" y="6055860"/>
            <a:ext cx="1027015" cy="82331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70722" y="5230793"/>
            <a:ext cx="1026839" cy="8250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46250" y="4407218"/>
            <a:ext cx="1024472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019761" y="3584869"/>
            <a:ext cx="1026488" cy="82234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93361" y="2761293"/>
            <a:ext cx="1026401" cy="823576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5577" y="2297161"/>
            <a:ext cx="577783" cy="46413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9202989" y="8952823"/>
            <a:ext cx="576994" cy="39821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8176149" y="8387952"/>
            <a:ext cx="1603833" cy="13898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2019761" y="2025670"/>
            <a:ext cx="485271" cy="155920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993361" y="2025670"/>
            <a:ext cx="1511672" cy="73562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4070722" y="4187030"/>
            <a:ext cx="1528947" cy="104376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5097561" y="4187030"/>
            <a:ext cx="502108" cy="1868830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599668" y="4187030"/>
            <a:ext cx="524907" cy="269214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38286" y="4125648"/>
            <a:ext cx="122765" cy="122765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 flipV="1">
            <a:off x="7712800" y="8261679"/>
            <a:ext cx="116714" cy="117328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829514" y="8261679"/>
            <a:ext cx="914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341473" y="2923753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(700.3 m²)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773846" y="78828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360110" y="51331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119085" y="62053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642726" y="18073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475772" y="19964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173728" y="932178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146889" y="849767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041461" y="52015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016989" y="437795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990501" y="355560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64100" y="273203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068300" y="602659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095315" y="68499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120049" y="76727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570408" y="415776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915815" y="372633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768491" y="266705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861230" y="780354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RRM.545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2447494" y="50537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RRM.546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7206469" y="612596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RRM.554</a:t>
            </a:r>
            <a:endParaRPr lang="en-US" sz="500" dirty="0"/>
          </a:p>
        </p:txBody>
      </p:sp>
      <p:sp>
        <p:nvSpPr>
          <p:cNvPr id="75" name="Text 73"/>
          <p:cNvSpPr/>
          <p:nvPr/>
        </p:nvSpPr>
        <p:spPr>
          <a:xfrm>
            <a:off x="1730110" y="172800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RRM.556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2563156" y="19170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X_CV_STH_PITS &amp;.24043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8979408" y="924243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TCCECH.03.010</a:t>
            </a:r>
            <a:endParaRPr lang="en-US" sz="500" dirty="0"/>
          </a:p>
        </p:txBody>
      </p:sp>
      <p:sp>
        <p:nvSpPr>
          <p:cNvPr id="78" name="Text 76"/>
          <p:cNvSpPr/>
          <p:nvPr/>
        </p:nvSpPr>
        <p:spPr>
          <a:xfrm>
            <a:off x="8234272" y="841833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TCCECH.04.009</a:t>
            </a:r>
            <a:endParaRPr lang="en-US" sz="500" dirty="0"/>
          </a:p>
        </p:txBody>
      </p:sp>
      <p:sp>
        <p:nvSpPr>
          <p:cNvPr id="81" name="Text 79"/>
          <p:cNvSpPr/>
          <p:nvPr/>
        </p:nvSpPr>
        <p:spPr>
          <a:xfrm>
            <a:off x="2077885" y="34762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TCCECH.04.006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1051484" y="265269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86" name="Text 84"/>
          <p:cNvSpPr/>
          <p:nvPr/>
        </p:nvSpPr>
        <p:spPr>
          <a:xfrm>
            <a:off x="5657792" y="407842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P2.002</a:t>
            </a:r>
            <a:endParaRPr lang="en-US" sz="500" dirty="0"/>
          </a:p>
        </p:txBody>
      </p:sp>
      <p:sp>
        <p:nvSpPr>
          <p:cNvPr id="87" name="Text 85"/>
          <p:cNvSpPr/>
          <p:nvPr/>
        </p:nvSpPr>
        <p:spPr>
          <a:xfrm>
            <a:off x="6003199" y="364699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HH.E.055</a:t>
            </a:r>
            <a:endParaRPr lang="en-US" sz="500" dirty="0"/>
          </a:p>
        </p:txBody>
      </p:sp>
      <p:sp>
        <p:nvSpPr>
          <p:cNvPr id="88" name="Text 86"/>
          <p:cNvSpPr/>
          <p:nvPr/>
        </p:nvSpPr>
        <p:spPr>
          <a:xfrm>
            <a:off x="4855875" y="258771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HH.E.056</a:t>
            </a:r>
            <a:endParaRPr lang="en-US" sz="500" dirty="0"/>
          </a:p>
        </p:txBody>
      </p:sp>
      <p:sp>
        <p:nvSpPr>
          <p:cNvPr id="89" name="Shape 87"/>
          <p:cNvSpPr/>
          <p:nvPr/>
        </p:nvSpPr>
        <p:spPr>
          <a:xfrm>
            <a:off x="2941094" y="430206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991386" y="435235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165122" y="418776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TCCECH-03/007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3965566" y="512563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015858" y="517592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189594" y="5011337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TCCECH-04/007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4992405" y="595070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042697" y="600099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216433" y="583640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TCCECH-03/008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6019419" y="677401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069711" y="682430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243447" y="6659717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TCCECH-04/008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7044154" y="7596891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7094446" y="7647183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268182" y="748259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TCCECH-03/009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3620509" y="3379485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670801" y="3429777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844537" y="3265185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2 — 1002  ·  REV P07 (ISSUED)</a:t>
            </a:r>
            <a:endParaRPr lang="en-US" sz="1250" dirty="0"/>
          </a:p>
        </p:txBody>
      </p:sp>
      <p:sp>
        <p:nvSpPr>
          <p:cNvPr id="109" name="Text 107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(5 No. LIGHTS LISTED) — FIELD CONDITION GOVERNS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A3 (420 x 297 mm) · NOT TO SCALE — approx. 1:465 as plotted · UTM 40N · Issued 28.07.2026 · Rev P07 30.07.2026 · Prepared: Mohammed, AGL Team Leader — ADB SAFEGATE · Approved: Ragesh Menon, AGL Manager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0104120" y="2057400"/>
            <a:ext cx="4709160" cy="1577340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10241280" y="2386584"/>
            <a:ext cx="4434840" cy="11932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SECONDARY CABLE ONLY (VIA DUCT): 5 No.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 • TCCECH-03/007, 04/007, 03/008, 04/008, 03/009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SHALLOW BASES AFFECTED — COLUMN BLANK ON FIELD SHEET, CONFIRMED ‘NO’ 30.07.2026; NO ASSET LIES INSIDE THE MILLING POLYGON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RRM.555 (0.41 m from cut): REMOVE / PROTECT BEFORE SAWCUT, RE-FIX AFTER PAVING</a:t>
            </a:r>
            <a:endParaRPr lang="en-US" sz="7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CIRCUITS: TCCECH.03, TCCECH.04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10104120" y="3744468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0241280" y="3817620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10241280" y="4073652"/>
            <a:ext cx="4434840" cy="1883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680">
                <a:solidFill>
                  <a:srgbClr val="5F6368"/>
                </a:solidFill>
                <a:latin typeface="Arial"/>
              </a:rPr>
              <a:t>1. All asset positions as-built (asset survey assets_20260726120533.xlsx, UTM 40N / EPSG:32640).</a:t>
            </a:r>
            <a:endParaRPr lang="en-US" sz="680" dirty="0"/>
          </a:p>
          <a:p>
            <a:r>
              <a:rPr sz="680">
                <a:solidFill>
                  <a:srgbClr val="5F6368"/>
                </a:solidFill>
                <a:latin typeface="Arial"/>
              </a:rPr>
              <a:t>2. AGL works demarcation (red) drawn around field-verified affected assets (+2.0 m) — field condition governs.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3. Secondary cables: no joints — full manhole-to-light replacement. Confirm routes vs AGL duct-layout CAD (Rev C) before works.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4. Isolate, lock out &amp; prove dead all listed circuits at CCR under permit before any cutting, coring or excavation.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5. Reinstatement setting-out by civil survey from as-built E/N, checked against adjacent undisturbed fittings before coring.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6. Rev P07: every asset on this sheet re-marked directly from field sheet Second_milling_area rev _1 (2nd table) — outer ring from the Secondary-cable / Shallow-base columns, inner disc from Duct / Sawcut. Assets not listed on the field sheet are shown grey with no action assumed. Shallow-base column blank on that sheet; confirmed ‘NO’ 30.07.2026.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7. Asset key: label prefix to as-built class, from the AGL asset survey checked against the AGL duct-layout CAD. Civil items (HH / MH / pits / RRM) plot about 2.1 m from the surveyed insertion point — set out from survey, not from this sheet. A pit prefix can cover more than one civil class (manhole, transformer handhole, earthing); confirm the individual pit before works.</a:t>
            </a:r>
          </a:p>
        </p:txBody>
      </p:sp>
      <p:sp>
        <p:nvSpPr>
          <p:cNvPr id="117" name="Shape 115"/>
          <p:cNvSpPr/>
          <p:nvPr/>
        </p:nvSpPr>
        <p:spPr>
          <a:xfrm>
            <a:off x="10104120" y="6121908"/>
            <a:ext cx="4709160" cy="2702052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40">
            <a:extLst>
              <a:ext uri="{FF2B5EF4-FFF2-40B4-BE49-F238E27FC236}">
                <a16:creationId xmlns:a16="http://schemas.microsoft.com/office/drawing/2014/main" id="{D27C8498-7573-E4E0-41E7-881526D3264B}"/>
              </a:ext>
            </a:extLst>
          </p:cNvPr>
          <p:cNvSpPr/>
          <p:nvPr/>
        </p:nvSpPr>
        <p:spPr>
          <a:xfrm flipV="1">
            <a:off x="3104373" y="4157768"/>
            <a:ext cx="2495295" cy="194585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42">
            <a:extLst>
              <a:ext uri="{FF2B5EF4-FFF2-40B4-BE49-F238E27FC236}">
                <a16:creationId xmlns:a16="http://schemas.microsoft.com/office/drawing/2014/main" id="{03C16E8E-5297-17CC-6AFE-E3926CB1E9DB}"/>
              </a:ext>
            </a:extLst>
          </p:cNvPr>
          <p:cNvSpPr/>
          <p:nvPr/>
        </p:nvSpPr>
        <p:spPr>
          <a:xfrm>
            <a:off x="5657793" y="4198800"/>
            <a:ext cx="1416398" cy="3352581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Grey Highlight">
            <a:extLst>
              <a:ext uri="{FF2B5EF4-FFF2-40B4-BE49-F238E27FC236}">
                <a16:creationId xmlns:a16="http://schemas.microsoft.com/office/drawing/2014/main" id="{B88AC3D4-884E-8C4B-0883-3978141A2CB0}"/>
              </a:ext>
            </a:extLst>
          </p:cNvPr>
          <p:cNvSpPr/>
          <p:nvPr/>
        </p:nvSpPr>
        <p:spPr>
          <a:xfrm rot="18714653">
            <a:off x="4996878" y="3549403"/>
            <a:ext cx="525824" cy="3860156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43" name="Picture 14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  <a:ln>
            <a:noFill/>
          </a:ln>
        </p:spPr>
      </p:pic>
      <p:sp>
        <p:nvSpPr>
          <p:cNvPr id="144" name="Legend 144"/>
          <p:cNvSpPr/>
          <p:nvPr/>
        </p:nvSpPr>
        <p:spPr>
          <a:xfrm>
            <a:off x="10305288" y="6414516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WORKS ACTIONS</a:t>
            </a:r>
            <a:endParaRPr lang="en-US" sz="740" dirty="0"/>
          </a:p>
        </p:txBody>
      </p:sp>
      <p:sp>
        <p:nvSpPr>
          <p:cNvPr id="145" name="Legend 145"/>
          <p:cNvSpPr/>
          <p:nvPr/>
        </p:nvSpPr>
        <p:spPr>
          <a:xfrm>
            <a:off x="10305288" y="6585966"/>
            <a:ext cx="192024" cy="192024"/>
          </a:xfrm>
          <a:prstGeom prst="ellipse">
            <a:avLst/>
          </a:prstGeom>
          <a:noFill/>
          <a:ln w="190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Legend 146"/>
          <p:cNvSpPr/>
          <p:nvPr/>
        </p:nvSpPr>
        <p:spPr>
          <a:xfrm>
            <a:off x="10351008" y="6631686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Legend 147"/>
          <p:cNvSpPr/>
          <p:nvPr/>
        </p:nvSpPr>
        <p:spPr>
          <a:xfrm>
            <a:off x="10533888" y="6592824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NEW SEC. CABLE ONLY (DUCT)</a:t>
            </a:r>
            <a:endParaRPr lang="en-US" sz="740" dirty="0"/>
          </a:p>
        </p:txBody>
      </p:sp>
      <p:sp>
        <p:nvSpPr>
          <p:cNvPr id="148" name="Legend 148"/>
          <p:cNvSpPr/>
          <p:nvPr/>
        </p:nvSpPr>
        <p:spPr>
          <a:xfrm>
            <a:off x="10305288" y="6764274"/>
            <a:ext cx="192024" cy="192024"/>
          </a:xfrm>
          <a:prstGeom prst="ellipse">
            <a:avLst/>
          </a:prstGeom>
          <a:noFill/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Legend 149"/>
          <p:cNvSpPr/>
          <p:nvPr/>
        </p:nvSpPr>
        <p:spPr>
          <a:xfrm>
            <a:off x="10351008" y="680999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Legend 150"/>
          <p:cNvSpPr/>
          <p:nvPr/>
        </p:nvSpPr>
        <p:spPr>
          <a:xfrm>
            <a:off x="10533888" y="6771132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RRM — REMOVE / PROTECT / RE-FIX</a:t>
            </a:r>
            <a:endParaRPr lang="en-US" sz="740" dirty="0"/>
          </a:p>
        </p:txBody>
      </p:sp>
      <p:sp>
        <p:nvSpPr>
          <p:cNvPr id="151" name="Legend 151"/>
          <p:cNvSpPr/>
          <p:nvPr/>
        </p:nvSpPr>
        <p:spPr>
          <a:xfrm>
            <a:off x="10305288" y="6949440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EXISTING ASSETS (AS-BUILT)</a:t>
            </a:r>
            <a:endParaRPr lang="en-US" sz="740" dirty="0"/>
          </a:p>
        </p:txBody>
      </p:sp>
      <p:sp>
        <p:nvSpPr>
          <p:cNvPr id="152" name="Legend 152"/>
          <p:cNvSpPr/>
          <p:nvPr/>
        </p:nvSpPr>
        <p:spPr>
          <a:xfrm>
            <a:off x="10355580" y="7171182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Legend 153"/>
          <p:cNvSpPr/>
          <p:nvPr/>
        </p:nvSpPr>
        <p:spPr>
          <a:xfrm>
            <a:off x="10533888" y="7127748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EXISTING AGL ASSET — see asset key</a:t>
            </a:r>
            <a:endParaRPr lang="en-US" sz="740" dirty="0"/>
          </a:p>
        </p:txBody>
      </p:sp>
      <p:sp>
        <p:nvSpPr>
          <p:cNvPr id="154" name="Legend 154"/>
          <p:cNvSpPr/>
          <p:nvPr/>
        </p:nvSpPr>
        <p:spPr>
          <a:xfrm>
            <a:off x="10323576" y="7317486"/>
            <a:ext cx="155448" cy="155448"/>
          </a:xfrm>
          <a:prstGeom prst="rect">
            <a:avLst/>
          </a:prstGeom>
          <a:noFill/>
          <a:ln w="19050">
            <a:solidFill>
              <a:srgbClr val="BB00B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5" name="Legend 155"/>
          <p:cNvSpPr/>
          <p:nvPr/>
        </p:nvSpPr>
        <p:spPr>
          <a:xfrm>
            <a:off x="10533888" y="7306056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AGL FEED MANHOLE / HANDHOLE</a:t>
            </a:r>
            <a:endParaRPr lang="en-US" sz="740" dirty="0"/>
          </a:p>
        </p:txBody>
      </p:sp>
      <p:sp>
        <p:nvSpPr>
          <p:cNvPr id="156" name="Legend 156"/>
          <p:cNvSpPr/>
          <p:nvPr/>
        </p:nvSpPr>
        <p:spPr>
          <a:xfrm>
            <a:off x="10305288" y="7484364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AREAS &amp; LINEWORK</a:t>
            </a:r>
            <a:endParaRPr lang="en-US" sz="740" dirty="0"/>
          </a:p>
        </p:txBody>
      </p:sp>
      <p:sp>
        <p:nvSpPr>
          <p:cNvPr id="157" name="Legend 157"/>
          <p:cNvSpPr/>
          <p:nvPr/>
        </p:nvSpPr>
        <p:spPr>
          <a:xfrm>
            <a:off x="10305288" y="7692390"/>
            <a:ext cx="201168" cy="118872"/>
          </a:xfrm>
          <a:prstGeom prst="rect">
            <a:avLst/>
          </a:prstGeom>
          <a:solidFill>
            <a:srgbClr val="BFBFBF"/>
          </a:solidFill>
          <a:ln w="6350">
            <a:solidFill>
              <a:srgbClr val="7A82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Legend 158"/>
          <p:cNvSpPr/>
          <p:nvPr/>
        </p:nvSpPr>
        <p:spPr>
          <a:xfrm>
            <a:off x="10533888" y="7662672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MILLING / CUT AREA</a:t>
            </a:r>
            <a:endParaRPr lang="en-US" sz="740" dirty="0"/>
          </a:p>
        </p:txBody>
      </p:sp>
      <p:sp>
        <p:nvSpPr>
          <p:cNvPr id="159" name="Legend 159"/>
          <p:cNvSpPr/>
          <p:nvPr/>
        </p:nvSpPr>
        <p:spPr>
          <a:xfrm>
            <a:off x="10287000" y="7930134"/>
            <a:ext cx="237744" cy="914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Legend 160"/>
          <p:cNvSpPr/>
          <p:nvPr/>
        </p:nvSpPr>
        <p:spPr>
          <a:xfrm>
            <a:off x="10533888" y="7840980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AGL WORKS DEMARCATION (GOVERNING)</a:t>
            </a:r>
            <a:endParaRPr lang="en-US" sz="740" dirty="0"/>
          </a:p>
        </p:txBody>
      </p:sp>
      <p:sp>
        <p:nvSpPr>
          <p:cNvPr id="161" name="Legend 161"/>
          <p:cNvSpPr/>
          <p:nvPr/>
        </p:nvSpPr>
        <p:spPr>
          <a:xfrm>
            <a:off x="10287000" y="8108442"/>
            <a:ext cx="237744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2" name="Legend 162"/>
          <p:cNvSpPr/>
          <p:nvPr/>
        </p:nvSpPr>
        <p:spPr>
          <a:xfrm>
            <a:off x="10533888" y="8019288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SECONDARY DUCT CROSSING CUT (INDIC.)</a:t>
            </a:r>
            <a:endParaRPr lang="en-US" sz="740" dirty="0"/>
          </a:p>
        </p:txBody>
      </p:sp>
      <p:sp>
        <p:nvSpPr>
          <p:cNvPr id="163" name="Legend 163"/>
          <p:cNvSpPr/>
          <p:nvPr/>
        </p:nvSpPr>
        <p:spPr>
          <a:xfrm>
            <a:off x="10287000" y="8286750"/>
            <a:ext cx="237744" cy="914"/>
          </a:xfrm>
          <a:prstGeom prst="line">
            <a:avLst/>
          </a:prstGeom>
          <a:noFill/>
          <a:ln w="19050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4" name="Legend 164"/>
          <p:cNvSpPr/>
          <p:nvPr/>
        </p:nvSpPr>
        <p:spPr>
          <a:xfrm>
            <a:off x="10533888" y="8197596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INDICATIVE DUCT — LIGHT TO MH / HH</a:t>
            </a:r>
            <a:endParaRPr lang="en-US" sz="740" dirty="0"/>
          </a:p>
        </p:txBody>
      </p:sp>
      <p:sp>
        <p:nvSpPr>
          <p:cNvPr id="165" name="Legend 165"/>
          <p:cNvSpPr/>
          <p:nvPr/>
        </p:nvSpPr>
        <p:spPr>
          <a:xfrm>
            <a:off x="10287000" y="8465058"/>
            <a:ext cx="23774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66" name="Legend 166"/>
          <p:cNvSpPr/>
          <p:nvPr/>
        </p:nvSpPr>
        <p:spPr>
          <a:xfrm>
            <a:off x="10533888" y="8375904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TAXIWAY CENTRELINE (THROUGH TCC)</a:t>
            </a:r>
            <a:endParaRPr lang="en-US" sz="740" dirty="0"/>
          </a:p>
        </p:txBody>
      </p:sp>
      <p:sp>
        <p:nvSpPr>
          <p:cNvPr id="167" name="Legend 167"/>
          <p:cNvSpPr/>
          <p:nvPr/>
        </p:nvSpPr>
        <p:spPr>
          <a:xfrm>
            <a:off x="10287000" y="8643366"/>
            <a:ext cx="237744" cy="914"/>
          </a:xfrm>
          <a:prstGeom prst="line">
            <a:avLst/>
          </a:prstGeom>
          <a:noFill/>
          <a:ln w="1905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Legend 168"/>
          <p:cNvSpPr/>
          <p:nvPr/>
        </p:nvSpPr>
        <p:spPr>
          <a:xfrm>
            <a:off x="10533888" y="8554212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TWY EDGE / PAVEMENT (INDIC. 23 m)</a:t>
            </a:r>
            <a:endParaRPr lang="en-US" sz="740" dirty="0"/>
          </a:p>
        </p:txBody>
      </p:sp>
      <p:sp>
        <p:nvSpPr>
          <p:cNvPr id="169" name="Legend 169"/>
          <p:cNvSpPr/>
          <p:nvPr/>
        </p:nvSpPr>
        <p:spPr>
          <a:xfrm>
            <a:off x="12454128" y="6414516"/>
            <a:ext cx="2313431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ASSET KEY (AS-BUILT LABEL PREFIX)</a:t>
            </a:r>
            <a:endParaRPr lang="en-US" sz="740" dirty="0"/>
          </a:p>
        </p:txBody>
      </p:sp>
      <p:sp>
        <p:nvSpPr>
          <p:cNvPr id="170" name="Legend 170"/>
          <p:cNvSpPr/>
          <p:nvPr/>
        </p:nvSpPr>
        <p:spPr>
          <a:xfrm>
            <a:off x="12682728" y="6592824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TCCECH  —  Taxiway centreline light  ×9</a:t>
            </a:r>
            <a:endParaRPr lang="en-US" sz="740" dirty="0"/>
          </a:p>
        </p:txBody>
      </p:sp>
      <p:sp>
        <p:nvSpPr>
          <p:cNvPr id="171" name="Legend 171"/>
          <p:cNvSpPr/>
          <p:nvPr/>
        </p:nvSpPr>
        <p:spPr>
          <a:xfrm>
            <a:off x="12682728" y="6771132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HH  —  Handhole  ×2</a:t>
            </a:r>
            <a:endParaRPr lang="en-US" sz="740" dirty="0"/>
          </a:p>
        </p:txBody>
      </p:sp>
      <p:sp>
        <p:nvSpPr>
          <p:cNvPr id="172" name="Legend 172"/>
          <p:cNvSpPr/>
          <p:nvPr/>
        </p:nvSpPr>
        <p:spPr>
          <a:xfrm>
            <a:off x="12682728" y="6949440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P2  —  Civil pit (transformer handhole)  ×1</a:t>
            </a:r>
            <a:endParaRPr lang="en-US" sz="740" dirty="0"/>
          </a:p>
        </p:txBody>
      </p:sp>
      <p:sp>
        <p:nvSpPr>
          <p:cNvPr id="173" name="Legend 173"/>
          <p:cNvSpPr/>
          <p:nvPr/>
        </p:nvSpPr>
        <p:spPr>
          <a:xfrm>
            <a:off x="12682728" y="7127748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RRM  —  Runway guard light / RRM  ×5</a:t>
            </a:r>
            <a:endParaRPr lang="en-US" sz="740" dirty="0"/>
          </a:p>
        </p:txBody>
      </p:sp>
      <p:sp>
        <p:nvSpPr>
          <p:cNvPr id="174" name="Legend 174"/>
          <p:cNvSpPr/>
          <p:nvPr/>
        </p:nvSpPr>
        <p:spPr>
          <a:xfrm>
            <a:off x="12682728" y="7306056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X_CV_STH_PITS  —  Civil pit / transformer HH  ×1</a:t>
            </a:r>
            <a:endParaRPr lang="en-US" sz="740" dirty="0"/>
          </a:p>
        </p:txBody>
      </p:sp>
    </p:spTree>
    <p:extLst>
      <p:ext uri="{BB962C8B-B14F-4D97-AF65-F5344CB8AC3E}">
        <p14:creationId xmlns:p14="http://schemas.microsoft.com/office/powerpoint/2010/main" val="128035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257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 — ELECTRICAL / AGL SCOPE (FIELD-GOVERNED)   ·   TAXIWAY E (E4–E6) — LOCATION 3   ·   DWG NO AUH-SK-AGL-TWYE-001-1003 REV P07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5348" y="1051881"/>
            <a:ext cx="9555480" cy="955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005840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40N (EPSG:32640) — AS-BUILT POSITIONS · DO NOT SCALE FROM DRAWING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415709" y="9583565"/>
            <a:ext cx="283772" cy="2279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14605" y="9582661"/>
            <a:ext cx="1104" cy="9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30317" y="9112099"/>
            <a:ext cx="584288" cy="4705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44925" y="8643746"/>
            <a:ext cx="585392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43018" y="8642240"/>
            <a:ext cx="1907" cy="150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56723" y="8171377"/>
            <a:ext cx="586295" cy="4708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69022" y="7703023"/>
            <a:ext cx="587701" cy="4683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62799" y="7698004"/>
            <a:ext cx="6223" cy="501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79013" y="7226138"/>
            <a:ext cx="583786" cy="4718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93521" y="6754572"/>
            <a:ext cx="585492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07928" y="6287523"/>
            <a:ext cx="585593" cy="4670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05419" y="6285515"/>
            <a:ext cx="2509" cy="2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23339" y="5818366"/>
            <a:ext cx="5820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20479" y="5656661"/>
            <a:ext cx="202860" cy="1617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5762" y="5652846"/>
            <a:ext cx="4718" cy="381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43141" y="5433124"/>
            <a:ext cx="272621" cy="21972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34233" y="5383137"/>
            <a:ext cx="108908" cy="4998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28136" y="5327629"/>
            <a:ext cx="106097" cy="555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928362" y="5261280"/>
            <a:ext cx="99774" cy="6634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36016" y="5185095"/>
            <a:ext cx="92346" cy="7618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52002" y="5099675"/>
            <a:ext cx="84015" cy="8542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40358" y="5085121"/>
            <a:ext cx="11644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65076" y="5068659"/>
            <a:ext cx="75282" cy="1646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59782" y="5034933"/>
            <a:ext cx="105294" cy="3372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58202" y="4991269"/>
            <a:ext cx="101580" cy="4366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61339" y="4938070"/>
            <a:ext cx="96863" cy="531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69897" y="4875837"/>
            <a:ext cx="91442" cy="6223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84878" y="4805172"/>
            <a:ext cx="85018" cy="706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48342" y="4768334"/>
            <a:ext cx="36537" cy="3683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67639" y="4756490"/>
            <a:ext cx="80702" cy="1184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0036" y="4730091"/>
            <a:ext cx="107603" cy="263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55445" y="4693454"/>
            <a:ext cx="104592" cy="3663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4868" y="4646980"/>
            <a:ext cx="100577" cy="464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9210" y="4590970"/>
            <a:ext cx="95658" cy="5601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9374" y="4526128"/>
            <a:ext cx="89836" cy="6484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35145" y="4496115"/>
            <a:ext cx="34228" cy="300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6300" y="4494810"/>
            <a:ext cx="38845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5284" y="4480256"/>
            <a:ext cx="111016" cy="145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" y="4465190"/>
            <a:ext cx="65244" cy="150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862125" y="7784127"/>
            <a:ext cx="1013395" cy="8140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276834" y="7312762"/>
            <a:ext cx="585292" cy="47136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273823" y="7310453"/>
            <a:ext cx="3011" cy="230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687929" y="6841698"/>
            <a:ext cx="585894" cy="468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100830" y="6370132"/>
            <a:ext cx="587098" cy="47156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97317" y="6367221"/>
            <a:ext cx="3513" cy="291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10921" y="5899972"/>
            <a:ext cx="586396" cy="46725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29444" y="5430012"/>
            <a:ext cx="581477" cy="4699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927838" y="5428707"/>
            <a:ext cx="1606" cy="130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39435" y="4954833"/>
            <a:ext cx="588403" cy="4738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35319" y="4951520"/>
            <a:ext cx="4115" cy="331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748924" y="4483769"/>
            <a:ext cx="586396" cy="46775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66744" y="4016620"/>
            <a:ext cx="582180" cy="46714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164034" y="4014512"/>
            <a:ext cx="2710" cy="210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962278" y="3853609"/>
            <a:ext cx="201755" cy="16090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579947" y="3545455"/>
            <a:ext cx="382332" cy="30815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503259" y="3488643"/>
            <a:ext cx="76687" cy="5681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422156" y="3438455"/>
            <a:ext cx="81104" cy="50188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378392" y="3416071"/>
            <a:ext cx="43764" cy="2238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252019" y="3239610"/>
            <a:ext cx="126373" cy="17646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182257" y="3151581"/>
            <a:ext cx="69761" cy="8803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104366" y="3070778"/>
            <a:ext cx="77892" cy="8080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018946" y="2997905"/>
            <a:ext cx="85420" cy="72873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926801" y="2933665"/>
            <a:ext cx="92145" cy="6424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68683" y="2901042"/>
            <a:ext cx="58118" cy="32622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845798" y="2847643"/>
            <a:ext cx="22886" cy="5340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790290" y="2746865"/>
            <a:ext cx="55508" cy="10077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724945" y="2652110"/>
            <a:ext cx="65345" cy="94755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650466" y="2564281"/>
            <a:ext cx="74479" cy="8782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567656" y="2484382"/>
            <a:ext cx="82810" cy="79899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477318" y="2413115"/>
            <a:ext cx="90338" cy="7126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439476" y="2388925"/>
            <a:ext cx="37842" cy="24191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413178" y="2315851"/>
            <a:ext cx="26298" cy="73074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365599" y="2215475"/>
            <a:ext cx="47578" cy="10037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308486" y="2120018"/>
            <a:ext cx="57114" cy="95457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914812" y="1528102"/>
            <a:ext cx="393674" cy="591916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785546" y="1298442"/>
            <a:ext cx="129266" cy="229660"/>
          </a:xfrm>
          <a:prstGeom prst="line">
            <a:avLst/>
          </a:prstGeom>
          <a:noFill/>
          <a:ln w="1270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9313315" y="9627228"/>
            <a:ext cx="229676" cy="18429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138616" y="8683595"/>
            <a:ext cx="1174699" cy="94363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552823" y="8211828"/>
            <a:ext cx="585793" cy="47176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965925" y="7742371"/>
            <a:ext cx="586898" cy="46945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377923" y="7270002"/>
            <a:ext cx="588002" cy="4723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788416" y="6800243"/>
            <a:ext cx="589507" cy="4697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5203827" y="6327774"/>
            <a:ext cx="584589" cy="4724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4615424" y="5853899"/>
            <a:ext cx="588403" cy="47387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4027824" y="5385144"/>
            <a:ext cx="587600" cy="468755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444339" y="4916991"/>
            <a:ext cx="583485" cy="468153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240174" y="4754181"/>
            <a:ext cx="204164" cy="162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855534" y="4444120"/>
            <a:ext cx="384640" cy="31006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615937" y="4334109"/>
            <a:ext cx="239597" cy="11001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313404" y="3911526"/>
            <a:ext cx="302533" cy="422582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313404" y="3911526"/>
            <a:ext cx="91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 flipV="1">
            <a:off x="1964498" y="3911526"/>
            <a:ext cx="348906" cy="4235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808413" y="3353838"/>
            <a:ext cx="156084" cy="600047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 flipV="1">
            <a:off x="1289068" y="3353838"/>
            <a:ext cx="519345" cy="26981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090826" y="3028419"/>
            <a:ext cx="198242" cy="59522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 flipV="1">
            <a:off x="1090826" y="2759312"/>
            <a:ext cx="256561" cy="269108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29924" y="2131662"/>
            <a:ext cx="417463" cy="627650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61544" y="1477211"/>
            <a:ext cx="368379" cy="65445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478115" y="1298442"/>
            <a:ext cx="83429" cy="178769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20040" y="3256882"/>
            <a:ext cx="270413" cy="8742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20040" y="3267801"/>
            <a:ext cx="270413" cy="76501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 flipV="1">
            <a:off x="4461748" y="4530444"/>
            <a:ext cx="189108" cy="236285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 flipV="1">
            <a:off x="4273042" y="4766728"/>
            <a:ext cx="188707" cy="236686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 flipV="1">
            <a:off x="4085941" y="5003415"/>
            <a:ext cx="187101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 flipV="1">
            <a:off x="3897134" y="5238696"/>
            <a:ext cx="188807" cy="233374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3707324" y="5472070"/>
            <a:ext cx="189811" cy="234679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 flipV="1">
            <a:off x="3518918" y="5706748"/>
            <a:ext cx="188405" cy="235281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 flipV="1">
            <a:off x="3331316" y="5942029"/>
            <a:ext cx="187602" cy="235080"/>
          </a:xfrm>
          <a:prstGeom prst="line">
            <a:avLst/>
          </a:prstGeom>
          <a:noFill/>
          <a:ln w="28575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 flipV="1">
            <a:off x="8138616" y="6554322"/>
            <a:ext cx="580574" cy="212927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 flipV="1">
            <a:off x="6965925" y="6554322"/>
            <a:ext cx="1753265" cy="118804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 flipV="1">
            <a:off x="9313315" y="9353643"/>
            <a:ext cx="562205" cy="27358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 flipV="1">
            <a:off x="6377923" y="6554322"/>
            <a:ext cx="2341267" cy="71568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 flipV="1">
            <a:off x="7552823" y="6554322"/>
            <a:ext cx="1166367" cy="16575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 flipV="1">
            <a:off x="320040" y="3344302"/>
            <a:ext cx="270413" cy="192111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 flipV="1">
            <a:off x="1676720" y="3953885"/>
            <a:ext cx="287778" cy="234698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 flipV="1">
            <a:off x="1676720" y="4334109"/>
            <a:ext cx="939217" cy="196676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1289068" y="3623648"/>
            <a:ext cx="387652" cy="26772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 flipV="1">
            <a:off x="1676720" y="5706748"/>
            <a:ext cx="2030603" cy="594125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 flipV="1">
            <a:off x="1676720" y="5942029"/>
            <a:ext cx="1842198" cy="358844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 flipV="1">
            <a:off x="1676720" y="6177110"/>
            <a:ext cx="1654596" cy="12376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 flipV="1">
            <a:off x="1090826" y="1298442"/>
            <a:ext cx="800030" cy="1729978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 flipV="1">
            <a:off x="1676720" y="3975867"/>
            <a:ext cx="590812" cy="232500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 flipV="1">
            <a:off x="1676720" y="4754181"/>
            <a:ext cx="1563454" cy="154669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 flipV="1">
            <a:off x="561544" y="1298442"/>
            <a:ext cx="266014" cy="178769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 flipV="1">
            <a:off x="1347387" y="1298442"/>
            <a:ext cx="598309" cy="146087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 flipV="1">
            <a:off x="1676720" y="4444120"/>
            <a:ext cx="1178814" cy="1856753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 flipV="1">
            <a:off x="929924" y="1298442"/>
            <a:ext cx="641799" cy="833220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 flipV="1">
            <a:off x="1808413" y="2767442"/>
            <a:ext cx="2698404" cy="586396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 flipV="1">
            <a:off x="1676720" y="4916991"/>
            <a:ext cx="1767619" cy="1383882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 flipV="1">
            <a:off x="1676720" y="3911526"/>
            <a:ext cx="636684" cy="2389347"/>
          </a:xfrm>
          <a:prstGeom prst="line">
            <a:avLst/>
          </a:prstGeom>
          <a:noFill/>
          <a:ln w="9525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 flipV="1">
            <a:off x="5788416" y="5207981"/>
            <a:ext cx="2251129" cy="159226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 flipV="1">
            <a:off x="5203827" y="3840862"/>
            <a:ext cx="282658" cy="248691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 flipV="1">
            <a:off x="4615424" y="3840862"/>
            <a:ext cx="871062" cy="201303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 flipV="1">
            <a:off x="4027824" y="3840862"/>
            <a:ext cx="1458662" cy="15442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 flipV="1">
            <a:off x="4650857" y="3840862"/>
            <a:ext cx="835629" cy="689582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 flipV="1">
            <a:off x="4461748" y="3840862"/>
            <a:ext cx="1024737" cy="925867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 flipV="1">
            <a:off x="4273042" y="3840862"/>
            <a:ext cx="1213444" cy="1162553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 flipV="1">
            <a:off x="4085941" y="3840862"/>
            <a:ext cx="1400544" cy="139783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 flipV="1">
            <a:off x="3897134" y="3840862"/>
            <a:ext cx="1589351" cy="1631208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416222" y="377059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7969282" y="5137718"/>
            <a:ext cx="140526" cy="140526"/>
          </a:xfrm>
          <a:prstGeom prst="rect">
            <a:avLst/>
          </a:prstGeom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870122" y="7028096"/>
            <a:ext cx="914" cy="914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/>
          <p:nvPr/>
        </p:nvSpPr>
        <p:spPr>
          <a:xfrm>
            <a:off x="2191911" y="4036903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AGL WORKS DEMARCATION — PER FIELD-VERIFIED AFFECTED ASSETS (614.4 m²)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8102128" y="695999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477556" y="273818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8109355" y="865433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6936664" y="771311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251911" y="701670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2550942" y="584200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3247651" y="260598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2300003" y="144413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249569" y="51190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329502" y="365882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731117" y="78138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9284054" y="95979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6348663" y="7240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5759155" y="67709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5174566" y="62985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586163" y="582463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7523562" y="81825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561192" y="33150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1935237" y="392462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2586676" y="430484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1259808" y="35943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823173" y="3254314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1500107" y="356618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166101" y="392231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2800878" y="432241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3998563" y="53558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3867873" y="544280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3678063" y="567748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3489657" y="5912768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3302055" y="614784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1061565" y="299915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238271" y="3946606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210913" y="472492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532284" y="144795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318126" y="273005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2826273" y="441486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900663" y="21024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779152" y="332457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3415078" y="488773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2284143" y="388226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5457225" y="38116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8689929" y="652506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9115523" y="605399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5743095" y="317130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5953985" y="334174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4280619" y="174486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8010284" y="5178720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7049386" y="4194635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647459" y="6271612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4632035" y="2040067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990299" y="6594019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1638325" y="8346983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5755642" y="2342701"/>
            <a:ext cx="58522" cy="58522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/>
          <p:nvPr/>
        </p:nvSpPr>
        <p:spPr>
          <a:xfrm>
            <a:off x="8193953" y="687684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RRM.283</a:t>
            </a:r>
            <a:endParaRPr lang="en-US" sz="500" dirty="0"/>
          </a:p>
        </p:txBody>
      </p:sp>
      <p:sp>
        <p:nvSpPr>
          <p:cNvPr id="211" name="Text 209"/>
          <p:cNvSpPr/>
          <p:nvPr/>
        </p:nvSpPr>
        <p:spPr>
          <a:xfrm>
            <a:off x="4569381" y="265503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P4.036.399</a:t>
            </a:r>
            <a:endParaRPr lang="en-US" sz="500" dirty="0"/>
          </a:p>
        </p:txBody>
      </p:sp>
      <p:sp>
        <p:nvSpPr>
          <p:cNvPr id="212" name="Text 210"/>
          <p:cNvSpPr/>
          <p:nvPr/>
        </p:nvSpPr>
        <p:spPr>
          <a:xfrm>
            <a:off x="8201180" y="857118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TCCECH.04.005</a:t>
            </a:r>
            <a:endParaRPr lang="en-US" sz="500" dirty="0"/>
          </a:p>
        </p:txBody>
      </p:sp>
      <p:sp>
        <p:nvSpPr>
          <p:cNvPr id="213" name="Text 211"/>
          <p:cNvSpPr/>
          <p:nvPr/>
        </p:nvSpPr>
        <p:spPr>
          <a:xfrm>
            <a:off x="7028489" y="762996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TCCECH.04.004</a:t>
            </a:r>
            <a:endParaRPr lang="en-US" sz="500" dirty="0"/>
          </a:p>
        </p:txBody>
      </p:sp>
      <p:sp>
        <p:nvSpPr>
          <p:cNvPr id="214" name="Text 212"/>
          <p:cNvSpPr/>
          <p:nvPr/>
        </p:nvSpPr>
        <p:spPr>
          <a:xfrm>
            <a:off x="4343736" y="693355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RRM.547</a:t>
            </a:r>
            <a:endParaRPr lang="en-US" sz="500" dirty="0"/>
          </a:p>
        </p:txBody>
      </p:sp>
      <p:sp>
        <p:nvSpPr>
          <p:cNvPr id="215" name="Text 213"/>
          <p:cNvSpPr/>
          <p:nvPr/>
        </p:nvSpPr>
        <p:spPr>
          <a:xfrm>
            <a:off x="2642767" y="575885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RRM.548</a:t>
            </a:r>
            <a:endParaRPr lang="en-US" sz="500" dirty="0"/>
          </a:p>
        </p:txBody>
      </p:sp>
      <p:sp>
        <p:nvSpPr>
          <p:cNvPr id="216" name="Text 214"/>
          <p:cNvSpPr/>
          <p:nvPr/>
        </p:nvSpPr>
        <p:spPr>
          <a:xfrm>
            <a:off x="3339475" y="252283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RRM.558</a:t>
            </a:r>
            <a:endParaRPr lang="en-US" sz="500" dirty="0"/>
          </a:p>
        </p:txBody>
      </p:sp>
      <p:sp>
        <p:nvSpPr>
          <p:cNvPr id="217" name="Text 215"/>
          <p:cNvSpPr/>
          <p:nvPr/>
        </p:nvSpPr>
        <p:spPr>
          <a:xfrm>
            <a:off x="2391827" y="136098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RRM.559</a:t>
            </a:r>
            <a:endParaRPr lang="en-US" sz="500" dirty="0"/>
          </a:p>
        </p:txBody>
      </p:sp>
      <p:sp>
        <p:nvSpPr>
          <p:cNvPr id="218" name="Text 216"/>
          <p:cNvSpPr/>
          <p:nvPr/>
        </p:nvSpPr>
        <p:spPr>
          <a:xfrm>
            <a:off x="1341394" y="503594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RRM.655</a:t>
            </a:r>
            <a:endParaRPr lang="en-US" sz="500" dirty="0"/>
          </a:p>
        </p:txBody>
      </p:sp>
      <p:sp>
        <p:nvSpPr>
          <p:cNvPr id="219" name="Text 217"/>
          <p:cNvSpPr/>
          <p:nvPr/>
        </p:nvSpPr>
        <p:spPr>
          <a:xfrm>
            <a:off x="4421326" y="357568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RRM.669</a:t>
            </a:r>
            <a:endParaRPr lang="en-US" sz="500" dirty="0"/>
          </a:p>
        </p:txBody>
      </p:sp>
      <p:sp>
        <p:nvSpPr>
          <p:cNvPr id="220" name="Text 218"/>
          <p:cNvSpPr/>
          <p:nvPr/>
        </p:nvSpPr>
        <p:spPr>
          <a:xfrm>
            <a:off x="2822941" y="773073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HH.E.144</a:t>
            </a:r>
            <a:endParaRPr lang="en-US" sz="500" dirty="0"/>
          </a:p>
        </p:txBody>
      </p:sp>
      <p:sp>
        <p:nvSpPr>
          <p:cNvPr id="221" name="Text 219"/>
          <p:cNvSpPr/>
          <p:nvPr/>
        </p:nvSpPr>
        <p:spPr>
          <a:xfrm>
            <a:off x="8979408" y="951482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TCCECH.03.006</a:t>
            </a:r>
            <a:endParaRPr lang="en-US" sz="500" dirty="0"/>
          </a:p>
        </p:txBody>
      </p:sp>
      <p:sp>
        <p:nvSpPr>
          <p:cNvPr id="222" name="Text 220"/>
          <p:cNvSpPr/>
          <p:nvPr/>
        </p:nvSpPr>
        <p:spPr>
          <a:xfrm>
            <a:off x="6440487" y="71575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TCCECH.03.004</a:t>
            </a:r>
            <a:endParaRPr lang="en-US" sz="500" dirty="0"/>
          </a:p>
        </p:txBody>
      </p:sp>
      <p:sp>
        <p:nvSpPr>
          <p:cNvPr id="226" name="Text 224"/>
          <p:cNvSpPr/>
          <p:nvPr/>
        </p:nvSpPr>
        <p:spPr>
          <a:xfrm>
            <a:off x="7615386" y="809942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TCCECH.03.005</a:t>
            </a:r>
            <a:endParaRPr lang="en-US" sz="500" dirty="0"/>
          </a:p>
        </p:txBody>
      </p:sp>
      <p:sp>
        <p:nvSpPr>
          <p:cNvPr id="227" name="Text 225"/>
          <p:cNvSpPr/>
          <p:nvPr/>
        </p:nvSpPr>
        <p:spPr>
          <a:xfrm>
            <a:off x="653016" y="32318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TCCECH.05.034</a:t>
            </a:r>
            <a:endParaRPr lang="en-US" sz="500" dirty="0"/>
          </a:p>
        </p:txBody>
      </p:sp>
      <p:sp>
        <p:nvSpPr>
          <p:cNvPr id="228" name="Text 226"/>
          <p:cNvSpPr/>
          <p:nvPr/>
        </p:nvSpPr>
        <p:spPr>
          <a:xfrm>
            <a:off x="2027061" y="384147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TCCECH.05.033</a:t>
            </a:r>
            <a:endParaRPr lang="en-US" sz="500" dirty="0"/>
          </a:p>
        </p:txBody>
      </p:sp>
      <p:sp>
        <p:nvSpPr>
          <p:cNvPr id="229" name="Text 227"/>
          <p:cNvSpPr/>
          <p:nvPr/>
        </p:nvSpPr>
        <p:spPr>
          <a:xfrm>
            <a:off x="2678500" y="4221700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TCCECH.06.035</a:t>
            </a:r>
            <a:endParaRPr lang="en-US" sz="500" dirty="0"/>
          </a:p>
        </p:txBody>
      </p:sp>
      <p:sp>
        <p:nvSpPr>
          <p:cNvPr id="230" name="Text 228"/>
          <p:cNvSpPr/>
          <p:nvPr/>
        </p:nvSpPr>
        <p:spPr>
          <a:xfrm>
            <a:off x="1351632" y="351123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TCCECH.06.036</a:t>
            </a:r>
            <a:endParaRPr lang="en-US" sz="500" dirty="0"/>
          </a:p>
        </p:txBody>
      </p:sp>
      <p:sp>
        <p:nvSpPr>
          <p:cNvPr id="231" name="Text 229"/>
          <p:cNvSpPr/>
          <p:nvPr/>
        </p:nvSpPr>
        <p:spPr>
          <a:xfrm>
            <a:off x="914997" y="317116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EL.EBASE.13328</a:t>
            </a:r>
            <a:endParaRPr lang="en-US" sz="500" dirty="0"/>
          </a:p>
        </p:txBody>
      </p:sp>
      <p:sp>
        <p:nvSpPr>
          <p:cNvPr id="232" name="Text 230"/>
          <p:cNvSpPr/>
          <p:nvPr/>
        </p:nvSpPr>
        <p:spPr>
          <a:xfrm>
            <a:off x="1591932" y="348303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EL.EBASE.13329</a:t>
            </a:r>
            <a:endParaRPr lang="en-US" sz="500" dirty="0"/>
          </a:p>
        </p:txBody>
      </p:sp>
      <p:sp>
        <p:nvSpPr>
          <p:cNvPr id="233" name="Text 231"/>
          <p:cNvSpPr/>
          <p:nvPr/>
        </p:nvSpPr>
        <p:spPr>
          <a:xfrm>
            <a:off x="2257926" y="383916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EL.EBASE.13330</a:t>
            </a:r>
            <a:endParaRPr lang="en-US" sz="500" dirty="0"/>
          </a:p>
        </p:txBody>
      </p:sp>
      <p:sp>
        <p:nvSpPr>
          <p:cNvPr id="234" name="Text 232"/>
          <p:cNvSpPr/>
          <p:nvPr/>
        </p:nvSpPr>
        <p:spPr>
          <a:xfrm>
            <a:off x="2892702" y="4239266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EL.EBASE.13331</a:t>
            </a:r>
            <a:endParaRPr lang="en-US" sz="500" dirty="0"/>
          </a:p>
        </p:txBody>
      </p:sp>
      <p:sp>
        <p:nvSpPr>
          <p:cNvPr id="240" name="Text 238"/>
          <p:cNvSpPr/>
          <p:nvPr/>
        </p:nvSpPr>
        <p:spPr>
          <a:xfrm>
            <a:off x="1153390" y="291601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TCC102.01.052</a:t>
            </a:r>
            <a:endParaRPr lang="en-US" sz="500" dirty="0"/>
          </a:p>
        </p:txBody>
      </p:sp>
      <p:sp>
        <p:nvSpPr>
          <p:cNvPr id="241" name="Text 239"/>
          <p:cNvSpPr/>
          <p:nvPr/>
        </p:nvSpPr>
        <p:spPr>
          <a:xfrm>
            <a:off x="2330096" y="3863458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TCC102.02.050</a:t>
            </a:r>
            <a:endParaRPr lang="en-US" sz="500" dirty="0"/>
          </a:p>
        </p:txBody>
      </p:sp>
      <p:sp>
        <p:nvSpPr>
          <p:cNvPr id="242" name="Text 240"/>
          <p:cNvSpPr/>
          <p:nvPr/>
        </p:nvSpPr>
        <p:spPr>
          <a:xfrm>
            <a:off x="3302738" y="464177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TCCECH.03.001</a:t>
            </a:r>
            <a:endParaRPr lang="en-US" sz="500" dirty="0"/>
          </a:p>
        </p:txBody>
      </p:sp>
      <p:sp>
        <p:nvSpPr>
          <p:cNvPr id="243" name="Text 241"/>
          <p:cNvSpPr/>
          <p:nvPr/>
        </p:nvSpPr>
        <p:spPr>
          <a:xfrm>
            <a:off x="624108" y="136480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TCCECH.05.016</a:t>
            </a:r>
            <a:endParaRPr lang="en-US" sz="500" dirty="0"/>
          </a:p>
        </p:txBody>
      </p:sp>
      <p:sp>
        <p:nvSpPr>
          <p:cNvPr id="244" name="Text 242"/>
          <p:cNvSpPr/>
          <p:nvPr/>
        </p:nvSpPr>
        <p:spPr>
          <a:xfrm>
            <a:off x="1409950" y="264690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TCCECH.05.017</a:t>
            </a:r>
            <a:endParaRPr lang="en-US" sz="500" dirty="0"/>
          </a:p>
        </p:txBody>
      </p:sp>
      <p:sp>
        <p:nvSpPr>
          <p:cNvPr id="245" name="Text 243"/>
          <p:cNvSpPr/>
          <p:nvPr/>
        </p:nvSpPr>
        <p:spPr>
          <a:xfrm>
            <a:off x="2918098" y="433171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TCCECH.06.019</a:t>
            </a:r>
            <a:endParaRPr lang="en-US" sz="500" dirty="0"/>
          </a:p>
        </p:txBody>
      </p:sp>
      <p:sp>
        <p:nvSpPr>
          <p:cNvPr id="246" name="Text 244"/>
          <p:cNvSpPr/>
          <p:nvPr/>
        </p:nvSpPr>
        <p:spPr>
          <a:xfrm>
            <a:off x="992487" y="20192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TCCECH.06.017</a:t>
            </a:r>
            <a:endParaRPr lang="en-US" sz="500" dirty="0"/>
          </a:p>
        </p:txBody>
      </p:sp>
      <p:sp>
        <p:nvSpPr>
          <p:cNvPr id="247" name="Text 245"/>
          <p:cNvSpPr/>
          <p:nvPr/>
        </p:nvSpPr>
        <p:spPr>
          <a:xfrm>
            <a:off x="1870977" y="324142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TCCECH.06.018</a:t>
            </a:r>
            <a:endParaRPr lang="en-US" sz="500" dirty="0"/>
          </a:p>
        </p:txBody>
      </p:sp>
      <p:sp>
        <p:nvSpPr>
          <p:cNvPr id="248" name="Text 246"/>
          <p:cNvSpPr/>
          <p:nvPr/>
        </p:nvSpPr>
        <p:spPr>
          <a:xfrm>
            <a:off x="3506902" y="480458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TCCECH.04.001</a:t>
            </a:r>
            <a:endParaRPr lang="en-US" sz="500" dirty="0"/>
          </a:p>
        </p:txBody>
      </p:sp>
      <p:sp>
        <p:nvSpPr>
          <p:cNvPr id="249" name="Text 247"/>
          <p:cNvSpPr/>
          <p:nvPr/>
        </p:nvSpPr>
        <p:spPr>
          <a:xfrm>
            <a:off x="2375968" y="379911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TCCECH.05.018</a:t>
            </a:r>
            <a:endParaRPr lang="en-US" sz="500" dirty="0"/>
          </a:p>
        </p:txBody>
      </p:sp>
      <p:sp>
        <p:nvSpPr>
          <p:cNvPr id="250" name="Text 248"/>
          <p:cNvSpPr/>
          <p:nvPr/>
        </p:nvSpPr>
        <p:spPr>
          <a:xfrm>
            <a:off x="5549049" y="37284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P4.037</a:t>
            </a:r>
            <a:endParaRPr lang="en-US" sz="500" dirty="0"/>
          </a:p>
        </p:txBody>
      </p:sp>
      <p:sp>
        <p:nvSpPr>
          <p:cNvPr id="251" name="Text 249"/>
          <p:cNvSpPr/>
          <p:nvPr/>
        </p:nvSpPr>
        <p:spPr>
          <a:xfrm>
            <a:off x="8781754" y="644191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P4.039</a:t>
            </a:r>
            <a:endParaRPr lang="en-US" sz="500" dirty="0"/>
          </a:p>
        </p:txBody>
      </p:sp>
      <p:sp>
        <p:nvSpPr>
          <p:cNvPr id="252" name="Text 250"/>
          <p:cNvSpPr/>
          <p:nvPr/>
        </p:nvSpPr>
        <p:spPr>
          <a:xfrm>
            <a:off x="8979408" y="597084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HH.E.057</a:t>
            </a:r>
            <a:endParaRPr lang="en-US" sz="500" dirty="0"/>
          </a:p>
        </p:txBody>
      </p:sp>
      <p:sp>
        <p:nvSpPr>
          <p:cNvPr id="253" name="Text 251"/>
          <p:cNvSpPr/>
          <p:nvPr/>
        </p:nvSpPr>
        <p:spPr>
          <a:xfrm>
            <a:off x="5834919" y="308815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HH.E.061</a:t>
            </a:r>
            <a:endParaRPr lang="en-US" sz="500" dirty="0"/>
          </a:p>
        </p:txBody>
      </p:sp>
      <p:sp>
        <p:nvSpPr>
          <p:cNvPr id="254" name="Text 252"/>
          <p:cNvSpPr/>
          <p:nvPr/>
        </p:nvSpPr>
        <p:spPr>
          <a:xfrm>
            <a:off x="6045809" y="325859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HH.E.060</a:t>
            </a:r>
            <a:endParaRPr lang="en-US" sz="500" dirty="0"/>
          </a:p>
        </p:txBody>
      </p:sp>
      <p:sp>
        <p:nvSpPr>
          <p:cNvPr id="255" name="Text 253"/>
          <p:cNvSpPr/>
          <p:nvPr/>
        </p:nvSpPr>
        <p:spPr>
          <a:xfrm>
            <a:off x="4372443" y="166171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HH.E4.010</a:t>
            </a:r>
            <a:endParaRPr lang="en-US" sz="500" dirty="0"/>
          </a:p>
        </p:txBody>
      </p:sp>
      <p:sp>
        <p:nvSpPr>
          <p:cNvPr id="256" name="Text 254"/>
          <p:cNvSpPr/>
          <p:nvPr/>
        </p:nvSpPr>
        <p:spPr>
          <a:xfrm>
            <a:off x="8102109" y="5095572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HH.E.058</a:t>
            </a:r>
            <a:endParaRPr lang="en-US" sz="500" dirty="0"/>
          </a:p>
        </p:txBody>
      </p:sp>
      <p:sp>
        <p:nvSpPr>
          <p:cNvPr id="257" name="Text 255"/>
          <p:cNvSpPr/>
          <p:nvPr/>
        </p:nvSpPr>
        <p:spPr>
          <a:xfrm>
            <a:off x="7141211" y="4111487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HH.E.059</a:t>
            </a:r>
            <a:endParaRPr lang="en-US" sz="500" dirty="0"/>
          </a:p>
        </p:txBody>
      </p:sp>
      <p:sp>
        <p:nvSpPr>
          <p:cNvPr id="258" name="Text 256"/>
          <p:cNvSpPr/>
          <p:nvPr/>
        </p:nvSpPr>
        <p:spPr>
          <a:xfrm>
            <a:off x="1739284" y="618846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P4.041</a:t>
            </a:r>
            <a:endParaRPr lang="en-US" sz="500" dirty="0"/>
          </a:p>
        </p:txBody>
      </p:sp>
      <p:sp>
        <p:nvSpPr>
          <p:cNvPr id="259" name="Text 257"/>
          <p:cNvSpPr/>
          <p:nvPr/>
        </p:nvSpPr>
        <p:spPr>
          <a:xfrm>
            <a:off x="4723859" y="1956919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MH.E.015</a:t>
            </a:r>
            <a:endParaRPr lang="en-US" sz="500" dirty="0"/>
          </a:p>
        </p:txBody>
      </p:sp>
      <p:sp>
        <p:nvSpPr>
          <p:cNvPr id="260" name="Text 258"/>
          <p:cNvSpPr/>
          <p:nvPr/>
        </p:nvSpPr>
        <p:spPr>
          <a:xfrm>
            <a:off x="1082123" y="6510871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MH.E.023</a:t>
            </a:r>
            <a:endParaRPr lang="en-US" sz="500" dirty="0"/>
          </a:p>
        </p:txBody>
      </p:sp>
      <p:sp>
        <p:nvSpPr>
          <p:cNvPr id="261" name="Text 259"/>
          <p:cNvSpPr/>
          <p:nvPr/>
        </p:nvSpPr>
        <p:spPr>
          <a:xfrm>
            <a:off x="1730149" y="8263835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SGC102.02.015</a:t>
            </a:r>
            <a:endParaRPr lang="en-US" sz="500" dirty="0"/>
          </a:p>
        </p:txBody>
      </p:sp>
      <p:sp>
        <p:nvSpPr>
          <p:cNvPr id="262" name="Text 260"/>
          <p:cNvSpPr/>
          <p:nvPr/>
        </p:nvSpPr>
        <p:spPr>
          <a:xfrm>
            <a:off x="5847466" y="2259553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AEB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SGC102.02.014</a:t>
            </a:r>
            <a:endParaRPr lang="en-US" sz="500" dirty="0"/>
          </a:p>
        </p:txBody>
      </p:sp>
      <p:sp>
        <p:nvSpPr>
          <p:cNvPr id="263" name="Shape 261"/>
          <p:cNvSpPr/>
          <p:nvPr/>
        </p:nvSpPr>
        <p:spPr>
          <a:xfrm>
            <a:off x="4545701" y="4425288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4595993" y="4475580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Text 263"/>
          <p:cNvSpPr/>
          <p:nvPr/>
        </p:nvSpPr>
        <p:spPr>
          <a:xfrm>
            <a:off x="4769729" y="431098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SBC102-01/038</a:t>
            </a:r>
            <a:endParaRPr lang="en-US" sz="650" dirty="0"/>
          </a:p>
        </p:txBody>
      </p:sp>
      <p:sp>
        <p:nvSpPr>
          <p:cNvPr id="266" name="Shape 264"/>
          <p:cNvSpPr/>
          <p:nvPr/>
        </p:nvSpPr>
        <p:spPr>
          <a:xfrm>
            <a:off x="4167886" y="4898259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4218178" y="4948551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 266"/>
          <p:cNvSpPr/>
          <p:nvPr/>
        </p:nvSpPr>
        <p:spPr>
          <a:xfrm>
            <a:off x="4391914" y="4783959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SBC102-01/039</a:t>
            </a:r>
            <a:endParaRPr lang="en-US" sz="650" dirty="0"/>
          </a:p>
        </p:txBody>
      </p:sp>
      <p:sp>
        <p:nvSpPr>
          <p:cNvPr id="269" name="Shape 267"/>
          <p:cNvSpPr/>
          <p:nvPr/>
        </p:nvSpPr>
        <p:spPr>
          <a:xfrm>
            <a:off x="4356592" y="4661572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4406884" y="4711864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Text 269"/>
          <p:cNvSpPr/>
          <p:nvPr/>
        </p:nvSpPr>
        <p:spPr>
          <a:xfrm>
            <a:off x="4580620" y="454727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SBC102-02/035</a:t>
            </a:r>
            <a:endParaRPr lang="en-US" sz="650" dirty="0"/>
          </a:p>
        </p:txBody>
      </p:sp>
      <p:sp>
        <p:nvSpPr>
          <p:cNvPr id="272" name="Shape 270"/>
          <p:cNvSpPr/>
          <p:nvPr/>
        </p:nvSpPr>
        <p:spPr>
          <a:xfrm>
            <a:off x="3980785" y="5133540"/>
            <a:ext cx="210312" cy="210312"/>
          </a:xfrm>
          <a:prstGeom prst="ellipse">
            <a:avLst/>
          </a:prstGeom>
          <a:ln w="28575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4031077" y="5183832"/>
            <a:ext cx="109728" cy="109728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Text 272"/>
          <p:cNvSpPr/>
          <p:nvPr/>
        </p:nvSpPr>
        <p:spPr>
          <a:xfrm>
            <a:off x="4204813" y="5019240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SBC102-02/036</a:t>
            </a:r>
            <a:endParaRPr lang="en-US" sz="650" dirty="0"/>
          </a:p>
        </p:txBody>
      </p:sp>
      <p:sp>
        <p:nvSpPr>
          <p:cNvPr id="275" name="Shape 273"/>
          <p:cNvSpPr/>
          <p:nvPr/>
        </p:nvSpPr>
        <p:spPr>
          <a:xfrm>
            <a:off x="3791978" y="536691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3842270" y="541720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Text 275"/>
          <p:cNvSpPr/>
          <p:nvPr/>
        </p:nvSpPr>
        <p:spPr>
          <a:xfrm>
            <a:off x="4016006" y="525261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SBC102-01/040</a:t>
            </a:r>
            <a:endParaRPr lang="en-US" sz="650" dirty="0"/>
          </a:p>
        </p:txBody>
      </p:sp>
      <p:sp>
        <p:nvSpPr>
          <p:cNvPr id="278" name="Shape 276"/>
          <p:cNvSpPr/>
          <p:nvPr/>
        </p:nvSpPr>
        <p:spPr>
          <a:xfrm>
            <a:off x="3413762" y="583687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3464054" y="588716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Text 278"/>
          <p:cNvSpPr/>
          <p:nvPr/>
        </p:nvSpPr>
        <p:spPr>
          <a:xfrm>
            <a:off x="3637790" y="5722573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SBC102-01/041</a:t>
            </a:r>
            <a:endParaRPr lang="en-US" sz="650" dirty="0"/>
          </a:p>
        </p:txBody>
      </p:sp>
      <p:sp>
        <p:nvSpPr>
          <p:cNvPr id="281" name="Shape 279"/>
          <p:cNvSpPr/>
          <p:nvPr/>
        </p:nvSpPr>
        <p:spPr>
          <a:xfrm>
            <a:off x="3602168" y="5601592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3652460" y="5651884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Text 281"/>
          <p:cNvSpPr/>
          <p:nvPr/>
        </p:nvSpPr>
        <p:spPr>
          <a:xfrm>
            <a:off x="3826196" y="5487292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SBC102-02/037</a:t>
            </a:r>
            <a:endParaRPr lang="en-US" sz="650" dirty="0"/>
          </a:p>
        </p:txBody>
      </p:sp>
      <p:sp>
        <p:nvSpPr>
          <p:cNvPr id="284" name="Shape 282"/>
          <p:cNvSpPr/>
          <p:nvPr/>
        </p:nvSpPr>
        <p:spPr>
          <a:xfrm>
            <a:off x="3226160" y="6071954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3276452" y="6122246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Text 284"/>
          <p:cNvSpPr/>
          <p:nvPr/>
        </p:nvSpPr>
        <p:spPr>
          <a:xfrm>
            <a:off x="3450188" y="595765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SBC102-02/038</a:t>
            </a:r>
            <a:endParaRPr lang="en-US" sz="650" dirty="0"/>
          </a:p>
        </p:txBody>
      </p:sp>
      <p:sp>
        <p:nvSpPr>
          <p:cNvPr id="287" name="Shape 285"/>
          <p:cNvSpPr/>
          <p:nvPr/>
        </p:nvSpPr>
        <p:spPr>
          <a:xfrm>
            <a:off x="3922668" y="527998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3972960" y="533028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Text 287"/>
          <p:cNvSpPr/>
          <p:nvPr/>
        </p:nvSpPr>
        <p:spPr>
          <a:xfrm>
            <a:off x="4146696" y="516568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TCCECH-03/002</a:t>
            </a:r>
            <a:endParaRPr lang="en-US" sz="650" dirty="0"/>
          </a:p>
        </p:txBody>
      </p:sp>
      <p:sp>
        <p:nvSpPr>
          <p:cNvPr id="290" name="Shape 288"/>
          <p:cNvSpPr/>
          <p:nvPr/>
        </p:nvSpPr>
        <p:spPr>
          <a:xfrm>
            <a:off x="4510268" y="5748743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4560560" y="5799035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Text 290"/>
          <p:cNvSpPr/>
          <p:nvPr/>
        </p:nvSpPr>
        <p:spPr>
          <a:xfrm>
            <a:off x="4734296" y="5634443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TCCECH-04/002</a:t>
            </a:r>
            <a:endParaRPr lang="en-US" sz="650" dirty="0"/>
          </a:p>
        </p:txBody>
      </p:sp>
      <p:sp>
        <p:nvSpPr>
          <p:cNvPr id="293" name="Shape 291"/>
          <p:cNvSpPr/>
          <p:nvPr/>
        </p:nvSpPr>
        <p:spPr>
          <a:xfrm>
            <a:off x="5098671" y="6222618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5148963" y="6272910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Text 293"/>
          <p:cNvSpPr/>
          <p:nvPr/>
        </p:nvSpPr>
        <p:spPr>
          <a:xfrm>
            <a:off x="5322699" y="610831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TCCECH-03/003</a:t>
            </a:r>
            <a:endParaRPr lang="en-US" sz="650" dirty="0"/>
          </a:p>
        </p:txBody>
      </p:sp>
      <p:sp>
        <p:nvSpPr>
          <p:cNvPr id="296" name="Shape 294"/>
          <p:cNvSpPr/>
          <p:nvPr/>
        </p:nvSpPr>
        <p:spPr>
          <a:xfrm>
            <a:off x="5683260" y="6695087"/>
            <a:ext cx="210312" cy="210312"/>
          </a:xfrm>
          <a:prstGeom prst="ellipse">
            <a:avLst/>
          </a:prstGeom>
          <a:ln w="28575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5733552" y="6745379"/>
            <a:ext cx="109728" cy="109728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Text 296"/>
          <p:cNvSpPr/>
          <p:nvPr/>
        </p:nvSpPr>
        <p:spPr>
          <a:xfrm>
            <a:off x="5907288" y="6580787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TCCECH-04/003</a:t>
            </a:r>
            <a:endParaRPr lang="en-US" sz="650" dirty="0"/>
          </a:p>
        </p:txBody>
      </p:sp>
      <p:sp>
        <p:nvSpPr>
          <p:cNvPr id="299" name="Shape 297"/>
          <p:cNvSpPr/>
          <p:nvPr/>
        </p:nvSpPr>
        <p:spPr>
          <a:xfrm>
            <a:off x="6510959" y="5567966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6561251" y="5618258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Text 299"/>
          <p:cNvSpPr/>
          <p:nvPr/>
        </p:nvSpPr>
        <p:spPr>
          <a:xfrm>
            <a:off x="6734987" y="5453666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RRM.557</a:t>
            </a:r>
            <a:endParaRPr lang="en-US" sz="650" dirty="0"/>
          </a:p>
        </p:txBody>
      </p:sp>
      <p:sp>
        <p:nvSpPr>
          <p:cNvPr id="302" name="Shape 300"/>
          <p:cNvSpPr/>
          <p:nvPr/>
        </p:nvSpPr>
        <p:spPr>
          <a:xfrm>
            <a:off x="5387252" y="4581071"/>
            <a:ext cx="210312" cy="210312"/>
          </a:xfrm>
          <a:prstGeom prst="ellipse">
            <a:avLst/>
          </a:prstGeom>
          <a:ln w="28575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5437544" y="4631363"/>
            <a:ext cx="109728" cy="10972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Text 302"/>
          <p:cNvSpPr/>
          <p:nvPr/>
        </p:nvSpPr>
        <p:spPr>
          <a:xfrm>
            <a:off x="5611280" y="4466771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RRM.670</a:t>
            </a:r>
            <a:endParaRPr lang="en-US" sz="650" dirty="0"/>
          </a:p>
        </p:txBody>
      </p:sp>
      <p:sp>
        <p:nvSpPr>
          <p:cNvPr id="305" name="Shape 303"/>
          <p:cNvSpPr/>
          <p:nvPr/>
        </p:nvSpPr>
        <p:spPr>
          <a:xfrm>
            <a:off x="10104120" y="777240"/>
            <a:ext cx="4709160" cy="1170432"/>
          </a:xfrm>
          <a:prstGeom prst="rect">
            <a:avLst/>
          </a:prstGeom>
          <a:solidFill>
            <a:srgbClr val="1E2761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Text 304"/>
          <p:cNvSpPr/>
          <p:nvPr/>
        </p:nvSpPr>
        <p:spPr>
          <a:xfrm>
            <a:off x="10241280" y="86868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3 — 1003  ·  REV P07 (ISSUED)</a:t>
            </a:r>
            <a:endParaRPr lang="en-US" sz="1250" dirty="0"/>
          </a:p>
        </p:txBody>
      </p:sp>
      <p:sp>
        <p:nvSpPr>
          <p:cNvPr id="307" name="Text 305"/>
          <p:cNvSpPr/>
          <p:nvPr/>
        </p:nvSpPr>
        <p:spPr>
          <a:xfrm>
            <a:off x="10241280" y="1179576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PER FIELD SHEET Second_milling_area rev _1 (12 No. LIGHTS LISTED) — FIELD CONDITION GOVERNS (supersedes the earlier no-works revision)</a:t>
            </a:r>
            <a:endParaRPr lang="en-US" sz="800" dirty="0"/>
          </a:p>
        </p:txBody>
      </p:sp>
      <p:sp>
        <p:nvSpPr>
          <p:cNvPr id="308" name="Text 306"/>
          <p:cNvSpPr/>
          <p:nvPr/>
        </p:nvSpPr>
        <p:spPr>
          <a:xfrm>
            <a:off x="10241280" y="1600200"/>
            <a:ext cx="4434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A3 (420 x 297 mm) · NOT TO SCALE — approx. 1:465 as plotted · UTM 40N · Issued 28.07.2026 · Rev P07 30.07.2026 · Prepared: Mohammed, AGL Team Leader — ADB SAFEGATE · Approved: Ragesh Menon, AGL Manager</a:t>
            </a:r>
            <a:endParaRPr lang="en-US" sz="700" dirty="0"/>
          </a:p>
        </p:txBody>
      </p:sp>
      <p:sp>
        <p:nvSpPr>
          <p:cNvPr id="309" name="Shape 307"/>
          <p:cNvSpPr/>
          <p:nvPr/>
        </p:nvSpPr>
        <p:spPr>
          <a:xfrm>
            <a:off x="10104120" y="2057400"/>
            <a:ext cx="4709160" cy="1808683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Text 308"/>
          <p:cNvSpPr/>
          <p:nvPr/>
        </p:nvSpPr>
        <p:spPr>
          <a:xfrm>
            <a:off x="10241280" y="2130552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/ QUANTITIES (PER FIELD VERIFICATION)</a:t>
            </a:r>
            <a:endParaRPr lang="en-US" sz="950" dirty="0"/>
          </a:p>
        </p:txBody>
      </p:sp>
      <p:sp>
        <p:nvSpPr>
          <p:cNvPr id="311" name="Text 309"/>
          <p:cNvSpPr/>
          <p:nvPr/>
        </p:nvSpPr>
        <p:spPr>
          <a:xfrm>
            <a:off x="10241280" y="2386584"/>
            <a:ext cx="4434840" cy="14246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760">
                <a:solidFill>
                  <a:srgbClr val="1F2937"/>
                </a:solidFill>
                <a:latin typeface="Arial"/>
              </a:rPr>
              <a:t>SHALLOW BASE AFFECTED — NO CORING; DUMMY PLATE + CABLE (SAWCUT): 4 No.</a:t>
            </a:r>
            <a:endParaRPr lang="en-US" sz="760" dirty="0"/>
          </a:p>
          <a:p>
            <a:r>
              <a:rPr sz="760">
                <a:solidFill>
                  <a:srgbClr val="1F2937"/>
                </a:solidFill>
                <a:latin typeface="Arial"/>
              </a:rPr>
              <a:t>   • SBC102-01/038, 01/039, 02/035, 02/036 (EP7 STOP BAR)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NEW SECONDARY CABLE ONLY (VIA DUCT): 8 No.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   • SBC102-01/040, 01/041, 02/037, 02/038, TCCECH-03/002, 04/002, 03/003, 04/003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FIELD SHEET TOTAL: 12 No. — all 12 secondary-cable affected; 4 shallow-base affected (YES)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RRM.557 (0.07 m — treat as within works) &amp; RRM.670: REMOVE / PROTECT / RE-FIX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ISOLATE CIRCUITS: SBC102.01/.02, TCCECH.03/.04</a:t>
            </a:r>
          </a:p>
          <a:p>
            <a:r>
              <a:rPr sz="760">
                <a:solidFill>
                  <a:srgbClr val="1F2937"/>
                </a:solidFill>
                <a:latin typeface="Arial"/>
              </a:rPr>
              <a:t>DUMMY PLATES: 4 No. — NO CORING HERE; BASES RETAINED &amp; BLANKED (BLACK SQUARE)</a:t>
            </a:r>
          </a:p>
        </p:txBody>
      </p:sp>
      <p:sp>
        <p:nvSpPr>
          <p:cNvPr id="312" name="Shape 310"/>
          <p:cNvSpPr/>
          <p:nvPr/>
        </p:nvSpPr>
        <p:spPr>
          <a:xfrm>
            <a:off x="10104120" y="3975811"/>
            <a:ext cx="470916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Text 311"/>
          <p:cNvSpPr/>
          <p:nvPr/>
        </p:nvSpPr>
        <p:spPr>
          <a:xfrm>
            <a:off x="10241280" y="4048963"/>
            <a:ext cx="443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NOTES</a:t>
            </a:r>
            <a:endParaRPr lang="en-US" sz="950" dirty="0"/>
          </a:p>
        </p:txBody>
      </p:sp>
      <p:sp>
        <p:nvSpPr>
          <p:cNvPr id="314" name="Text 312"/>
          <p:cNvSpPr/>
          <p:nvPr/>
        </p:nvSpPr>
        <p:spPr>
          <a:xfrm>
            <a:off x="10241280" y="4304995"/>
            <a:ext cx="4434840" cy="1883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680">
                <a:solidFill>
                  <a:srgbClr val="5F6368"/>
                </a:solidFill>
                <a:latin typeface="Arial"/>
              </a:rPr>
              <a:t>1. All asset positions as-built (asset survey assets_20260726120533.xlsx, UTM 40N / EPSG:32640).</a:t>
            </a:r>
            <a:endParaRPr lang="en-US" sz="680" dirty="0"/>
          </a:p>
          <a:p>
            <a:r>
              <a:rPr sz="680">
                <a:solidFill>
                  <a:srgbClr val="5F6368"/>
                </a:solidFill>
                <a:latin typeface="Arial"/>
              </a:rPr>
              <a:t>2. AGL works demarcation (red) drawn around field-verified affected assets (+2.0 m) — field condition governs.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3. Secondary cables: no joints — full manhole-to-light replacement. Confirm routes vs AGL duct-layout CAD (Rev C) before works.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4. Isolate, lock out &amp; prove dead all listed circuits at CCR under permit before any cutting, coring or excavation.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5. Reinstatement setting-out by civil survey from as-built E/N, checked against adjacent undisturbed fittings before coring.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6. Rev P07: every asset on this sheet re-marked directly from field sheet Second_milling_area rev _1 (1st table) — outer ring from the Secondary-cable / Shallow-base columns, inner disc from Duct / Sawcut. Assets not listed on the field sheet are shown grey with no action assumed.</a:t>
            </a:r>
          </a:p>
          <a:p>
            <a:r>
              <a:rPr sz="680">
                <a:solidFill>
                  <a:srgbClr val="5F6368"/>
                </a:solidFill>
                <a:latin typeface="Arial"/>
              </a:rPr>
              <a:t>7. Asset key: label prefix to as-built class, from the AGL asset survey checked against the AGL duct-layout CAD. Civil items (HH / MH / pits / RRM) plot about 2.1 m from the surveyed insertion point — set out from survey, not from this sheet. A pit prefix can cover more than one civil class (manhole, transformer handhole, earthing); confirm the individual pit before works.</a:t>
            </a:r>
          </a:p>
        </p:txBody>
      </p:sp>
      <p:sp>
        <p:nvSpPr>
          <p:cNvPr id="315" name="Shape 313"/>
          <p:cNvSpPr/>
          <p:nvPr/>
        </p:nvSpPr>
        <p:spPr>
          <a:xfrm>
            <a:off x="10104120" y="6353251"/>
            <a:ext cx="4709160" cy="3236976"/>
          </a:xfrm>
          <a:prstGeom prst="rect">
            <a:avLst/>
          </a:prstGeom>
          <a:solidFill>
            <a:srgbClr val="F4F6F8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Grey Highlight">
            <a:extLst>
              <a:ext uri="{FF2B5EF4-FFF2-40B4-BE49-F238E27FC236}">
                <a16:creationId xmlns:a16="http://schemas.microsoft.com/office/drawing/2014/main" id="{940090A5-E062-A01F-B9A1-B465A43CBD5C}"/>
              </a:ext>
            </a:extLst>
          </p:cNvPr>
          <p:cNvSpPr/>
          <p:nvPr/>
        </p:nvSpPr>
        <p:spPr>
          <a:xfrm rot="18714653">
            <a:off x="5134381" y="4448720"/>
            <a:ext cx="735481" cy="2651322"/>
          </a:xfrm>
          <a:prstGeom prst="rect">
            <a:avLst/>
          </a:prstGeom>
          <a:solidFill>
            <a:srgbClr val="BFBFBF">
              <a:alpha val="18000"/>
            </a:srgbClr>
          </a:solidFill>
          <a:ln w="12700" cap="flat" cmpd="sng" algn="ctr">
            <a:solidFill>
              <a:srgbClr val="7A82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0" name="DUMMY PLATE MARKER"/>
          <p:cNvSpPr/>
          <p:nvPr/>
        </p:nvSpPr>
        <p:spPr>
          <a:xfrm>
            <a:off x="4500857" y="4380444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" name="DUMMY PLATE MARKER"/>
          <p:cNvSpPr/>
          <p:nvPr/>
        </p:nvSpPr>
        <p:spPr>
          <a:xfrm>
            <a:off x="4123042" y="4853415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2" name="DUMMY PLATE MARKER"/>
          <p:cNvSpPr/>
          <p:nvPr/>
        </p:nvSpPr>
        <p:spPr>
          <a:xfrm>
            <a:off x="4311748" y="4616728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3" name="DUMMY PLATE MARKER"/>
          <p:cNvSpPr/>
          <p:nvPr/>
        </p:nvSpPr>
        <p:spPr>
          <a:xfrm>
            <a:off x="3935941" y="5088696"/>
            <a:ext cx="300000" cy="30000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46" name="Picture 34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  <a:ln>
            <a:noFill/>
          </a:ln>
        </p:spPr>
      </p:pic>
      <p:sp>
        <p:nvSpPr>
          <p:cNvPr id="347" name="Legend 347"/>
          <p:cNvSpPr/>
          <p:nvPr/>
        </p:nvSpPr>
        <p:spPr>
          <a:xfrm>
            <a:off x="10305288" y="6645859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WORKS ACTIONS</a:t>
            </a:r>
            <a:endParaRPr lang="en-US" sz="740" dirty="0"/>
          </a:p>
        </p:txBody>
      </p:sp>
      <p:sp>
        <p:nvSpPr>
          <p:cNvPr id="348" name="Legend 348"/>
          <p:cNvSpPr/>
          <p:nvPr/>
        </p:nvSpPr>
        <p:spPr>
          <a:xfrm>
            <a:off x="10305288" y="6817309"/>
            <a:ext cx="192024" cy="192024"/>
          </a:xfrm>
          <a:prstGeom prst="ellipse">
            <a:avLst/>
          </a:prstGeom>
          <a:noFill/>
          <a:ln w="19050">
            <a:solidFill>
              <a:srgbClr val="F9A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Legend 349"/>
          <p:cNvSpPr/>
          <p:nvPr/>
        </p:nvSpPr>
        <p:spPr>
          <a:xfrm>
            <a:off x="10351008" y="6863029"/>
            <a:ext cx="100584" cy="100584"/>
          </a:xfrm>
          <a:prstGeom prst="ellipse">
            <a:avLst/>
          </a:prstGeom>
          <a:solidFill>
            <a:srgbClr val="E8710A"/>
          </a:solidFill>
          <a:ln w="6350">
            <a:solidFill>
              <a:srgbClr val="E871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Legend 350"/>
          <p:cNvSpPr/>
          <p:nvPr/>
        </p:nvSpPr>
        <p:spPr>
          <a:xfrm>
            <a:off x="10533888" y="6824167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BASE RETAINED + DUMMY PLATE (SAWCUT)</a:t>
            </a:r>
            <a:endParaRPr lang="en-US" sz="740" dirty="0"/>
          </a:p>
        </p:txBody>
      </p:sp>
      <p:sp>
        <p:nvSpPr>
          <p:cNvPr id="351" name="Legend 351"/>
          <p:cNvSpPr/>
          <p:nvPr/>
        </p:nvSpPr>
        <p:spPr>
          <a:xfrm>
            <a:off x="10305288" y="6995617"/>
            <a:ext cx="192024" cy="192024"/>
          </a:xfrm>
          <a:prstGeom prst="ellipse">
            <a:avLst/>
          </a:prstGeom>
          <a:noFill/>
          <a:ln w="19050">
            <a:solidFill>
              <a:srgbClr val="00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Legend 352"/>
          <p:cNvSpPr/>
          <p:nvPr/>
        </p:nvSpPr>
        <p:spPr>
          <a:xfrm>
            <a:off x="10351008" y="7041337"/>
            <a:ext cx="100584" cy="100584"/>
          </a:xfrm>
          <a:prstGeom prst="ellipse">
            <a:avLst/>
          </a:prstGeom>
          <a:solidFill>
            <a:srgbClr val="1E8E3E"/>
          </a:solidFill>
          <a:ln w="6350">
            <a:solidFill>
              <a:srgbClr val="1E8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Legend 353"/>
          <p:cNvSpPr/>
          <p:nvPr/>
        </p:nvSpPr>
        <p:spPr>
          <a:xfrm>
            <a:off x="10533888" y="7002475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NEW SEC. CABLE ONLY (DUCT)</a:t>
            </a:r>
            <a:endParaRPr lang="en-US" sz="740" dirty="0"/>
          </a:p>
        </p:txBody>
      </p:sp>
      <p:sp>
        <p:nvSpPr>
          <p:cNvPr id="354" name="Legend 354"/>
          <p:cNvSpPr/>
          <p:nvPr/>
        </p:nvSpPr>
        <p:spPr>
          <a:xfrm>
            <a:off x="10305288" y="7173925"/>
            <a:ext cx="192024" cy="192024"/>
          </a:xfrm>
          <a:prstGeom prst="ellipse">
            <a:avLst/>
          </a:prstGeom>
          <a:noFill/>
          <a:ln w="19050">
            <a:solidFill>
              <a:srgbClr val="BB00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Legend 355"/>
          <p:cNvSpPr/>
          <p:nvPr/>
        </p:nvSpPr>
        <p:spPr>
          <a:xfrm>
            <a:off x="10351008" y="7219645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Legend 356"/>
          <p:cNvSpPr/>
          <p:nvPr/>
        </p:nvSpPr>
        <p:spPr>
          <a:xfrm>
            <a:off x="10533888" y="7180783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RRM — REMOVE / PROTECT / RE-FIX</a:t>
            </a:r>
            <a:endParaRPr lang="en-US" sz="740" dirty="0"/>
          </a:p>
        </p:txBody>
      </p:sp>
      <p:sp>
        <p:nvSpPr>
          <p:cNvPr id="357" name="Legend 357"/>
          <p:cNvSpPr/>
          <p:nvPr/>
        </p:nvSpPr>
        <p:spPr>
          <a:xfrm>
            <a:off x="10323576" y="7370521"/>
            <a:ext cx="155448" cy="155448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8" name="Legend 358"/>
          <p:cNvSpPr/>
          <p:nvPr/>
        </p:nvSpPr>
        <p:spPr>
          <a:xfrm>
            <a:off x="10533888" y="7359091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FITTING LIFTED + OPENING PROTECTED</a:t>
            </a:r>
            <a:endParaRPr lang="en-US" sz="740" dirty="0"/>
          </a:p>
        </p:txBody>
      </p:sp>
      <p:sp>
        <p:nvSpPr>
          <p:cNvPr id="359" name="Legend 359"/>
          <p:cNvSpPr/>
          <p:nvPr/>
        </p:nvSpPr>
        <p:spPr>
          <a:xfrm>
            <a:off x="10305288" y="7537399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EXISTING ASSETS (AS-BUILT)</a:t>
            </a:r>
            <a:endParaRPr lang="en-US" sz="740" dirty="0"/>
          </a:p>
        </p:txBody>
      </p:sp>
      <p:sp>
        <p:nvSpPr>
          <p:cNvPr id="360" name="Legend 360"/>
          <p:cNvSpPr/>
          <p:nvPr/>
        </p:nvSpPr>
        <p:spPr>
          <a:xfrm>
            <a:off x="10355580" y="7759141"/>
            <a:ext cx="91440" cy="91440"/>
          </a:xfrm>
          <a:prstGeom prst="ellipse">
            <a:avLst/>
          </a:prstGeom>
          <a:solidFill>
            <a:srgbClr val="12A5B8"/>
          </a:solidFill>
          <a:ln w="6350">
            <a:solidFill>
              <a:srgbClr val="12A5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Legend 361"/>
          <p:cNvSpPr/>
          <p:nvPr/>
        </p:nvSpPr>
        <p:spPr>
          <a:xfrm>
            <a:off x="10533888" y="7715707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EXISTING AGL ASSET — see asset key</a:t>
            </a:r>
            <a:endParaRPr lang="en-US" sz="740" dirty="0"/>
          </a:p>
        </p:txBody>
      </p:sp>
      <p:sp>
        <p:nvSpPr>
          <p:cNvPr id="362" name="Legend 362"/>
          <p:cNvSpPr/>
          <p:nvPr/>
        </p:nvSpPr>
        <p:spPr>
          <a:xfrm>
            <a:off x="10323576" y="7905445"/>
            <a:ext cx="155448" cy="155448"/>
          </a:xfrm>
          <a:prstGeom prst="rect">
            <a:avLst/>
          </a:prstGeom>
          <a:noFill/>
          <a:ln w="19050">
            <a:solidFill>
              <a:srgbClr val="BB00B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3" name="Legend 363"/>
          <p:cNvSpPr/>
          <p:nvPr/>
        </p:nvSpPr>
        <p:spPr>
          <a:xfrm>
            <a:off x="10533888" y="7894015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AGL FEED MANHOLE / HANDHOLE</a:t>
            </a:r>
            <a:endParaRPr lang="en-US" sz="740" dirty="0"/>
          </a:p>
        </p:txBody>
      </p:sp>
      <p:sp>
        <p:nvSpPr>
          <p:cNvPr id="364" name="Legend 364"/>
          <p:cNvSpPr/>
          <p:nvPr/>
        </p:nvSpPr>
        <p:spPr>
          <a:xfrm>
            <a:off x="10305288" y="8072323"/>
            <a:ext cx="2103119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AREAS &amp; LINEWORK</a:t>
            </a:r>
            <a:endParaRPr lang="en-US" sz="740" dirty="0"/>
          </a:p>
        </p:txBody>
      </p:sp>
      <p:sp>
        <p:nvSpPr>
          <p:cNvPr id="365" name="Legend 365"/>
          <p:cNvSpPr/>
          <p:nvPr/>
        </p:nvSpPr>
        <p:spPr>
          <a:xfrm>
            <a:off x="10305288" y="8280349"/>
            <a:ext cx="201168" cy="118872"/>
          </a:xfrm>
          <a:prstGeom prst="rect">
            <a:avLst/>
          </a:prstGeom>
          <a:solidFill>
            <a:srgbClr val="BFBFBF"/>
          </a:solidFill>
          <a:ln w="6350">
            <a:solidFill>
              <a:srgbClr val="7A828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6" name="Legend 366"/>
          <p:cNvSpPr/>
          <p:nvPr/>
        </p:nvSpPr>
        <p:spPr>
          <a:xfrm>
            <a:off x="10533888" y="8250631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MILLING / CUT AREA</a:t>
            </a:r>
            <a:endParaRPr lang="en-US" sz="740" dirty="0"/>
          </a:p>
        </p:txBody>
      </p:sp>
      <p:sp>
        <p:nvSpPr>
          <p:cNvPr id="367" name="Legend 367"/>
          <p:cNvSpPr/>
          <p:nvPr/>
        </p:nvSpPr>
        <p:spPr>
          <a:xfrm>
            <a:off x="10287000" y="8518093"/>
            <a:ext cx="237744" cy="914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Legend 368"/>
          <p:cNvSpPr/>
          <p:nvPr/>
        </p:nvSpPr>
        <p:spPr>
          <a:xfrm>
            <a:off x="10533888" y="8428939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AGL WORKS DEMARCATION (GOVERNING)</a:t>
            </a:r>
            <a:endParaRPr lang="en-US" sz="740" dirty="0"/>
          </a:p>
        </p:txBody>
      </p:sp>
      <p:sp>
        <p:nvSpPr>
          <p:cNvPr id="369" name="Legend 369"/>
          <p:cNvSpPr/>
          <p:nvPr/>
        </p:nvSpPr>
        <p:spPr>
          <a:xfrm>
            <a:off x="10287000" y="8696401"/>
            <a:ext cx="237744" cy="914"/>
          </a:xfrm>
          <a:prstGeom prst="line">
            <a:avLst/>
          </a:prstGeom>
          <a:noFill/>
          <a:ln w="19050">
            <a:solidFill>
              <a:srgbClr val="BB00B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0" name="Legend 370"/>
          <p:cNvSpPr/>
          <p:nvPr/>
        </p:nvSpPr>
        <p:spPr>
          <a:xfrm>
            <a:off x="10533888" y="8607247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SECONDARY DUCT CROSSING CUT (INDIC.)</a:t>
            </a:r>
            <a:endParaRPr lang="en-US" sz="740" dirty="0"/>
          </a:p>
        </p:txBody>
      </p:sp>
      <p:sp>
        <p:nvSpPr>
          <p:cNvPr id="371" name="Legend 371"/>
          <p:cNvSpPr/>
          <p:nvPr/>
        </p:nvSpPr>
        <p:spPr>
          <a:xfrm>
            <a:off x="10287000" y="8874709"/>
            <a:ext cx="237744" cy="914"/>
          </a:xfrm>
          <a:prstGeom prst="line">
            <a:avLst/>
          </a:prstGeom>
          <a:noFill/>
          <a:ln w="19050">
            <a:solidFill>
              <a:srgbClr val="C9CDD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2" name="Legend 372"/>
          <p:cNvSpPr/>
          <p:nvPr/>
        </p:nvSpPr>
        <p:spPr>
          <a:xfrm>
            <a:off x="10533888" y="8785555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INDICATIVE DUCT — LIGHT TO MH / HH</a:t>
            </a:r>
            <a:endParaRPr lang="en-US" sz="740" dirty="0"/>
          </a:p>
        </p:txBody>
      </p:sp>
      <p:sp>
        <p:nvSpPr>
          <p:cNvPr id="373" name="Legend 373"/>
          <p:cNvSpPr/>
          <p:nvPr/>
        </p:nvSpPr>
        <p:spPr>
          <a:xfrm>
            <a:off x="10287000" y="9053017"/>
            <a:ext cx="237744" cy="914"/>
          </a:xfrm>
          <a:prstGeom prst="line">
            <a:avLst/>
          </a:prstGeom>
          <a:noFill/>
          <a:ln w="19050">
            <a:solidFill>
              <a:srgbClr val="C7A400"/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374" name="Legend 374"/>
          <p:cNvSpPr/>
          <p:nvPr/>
        </p:nvSpPr>
        <p:spPr>
          <a:xfrm>
            <a:off x="10533888" y="8963863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TAXIWAY CENTRELINE (THROUGH TCC)</a:t>
            </a:r>
            <a:endParaRPr lang="en-US" sz="740" dirty="0"/>
          </a:p>
        </p:txBody>
      </p:sp>
      <p:sp>
        <p:nvSpPr>
          <p:cNvPr id="375" name="Legend 375"/>
          <p:cNvSpPr/>
          <p:nvPr/>
        </p:nvSpPr>
        <p:spPr>
          <a:xfrm>
            <a:off x="10287000" y="9231325"/>
            <a:ext cx="237744" cy="914"/>
          </a:xfrm>
          <a:prstGeom prst="line">
            <a:avLst/>
          </a:prstGeom>
          <a:noFill/>
          <a:ln w="1905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Legend 376"/>
          <p:cNvSpPr/>
          <p:nvPr/>
        </p:nvSpPr>
        <p:spPr>
          <a:xfrm>
            <a:off x="10533888" y="9142171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STOP BAR (THROUGH SBC)</a:t>
            </a:r>
            <a:endParaRPr lang="en-US" sz="740" dirty="0"/>
          </a:p>
        </p:txBody>
      </p:sp>
      <p:sp>
        <p:nvSpPr>
          <p:cNvPr id="377" name="Legend 377"/>
          <p:cNvSpPr/>
          <p:nvPr/>
        </p:nvSpPr>
        <p:spPr>
          <a:xfrm>
            <a:off x="10287000" y="9409633"/>
            <a:ext cx="237744" cy="914"/>
          </a:xfrm>
          <a:prstGeom prst="line">
            <a:avLst/>
          </a:prstGeom>
          <a:noFill/>
          <a:ln w="19050">
            <a:solidFill>
              <a:srgbClr val="7A82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Legend 378"/>
          <p:cNvSpPr/>
          <p:nvPr/>
        </p:nvSpPr>
        <p:spPr>
          <a:xfrm>
            <a:off x="10533888" y="9320479"/>
            <a:ext cx="1874519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40">
                <a:solidFill>
                  <a:srgbClr val="1F2937"/>
                </a:solidFill>
                <a:latin typeface="Arial"/>
              </a:rPr>
              <a:t>TWY EDGE / PAVEMENT (INDIC. 23 m)</a:t>
            </a:r>
            <a:endParaRPr lang="en-US" sz="740" dirty="0"/>
          </a:p>
        </p:txBody>
      </p:sp>
      <p:sp>
        <p:nvSpPr>
          <p:cNvPr id="379" name="Legend 379"/>
          <p:cNvSpPr/>
          <p:nvPr/>
        </p:nvSpPr>
        <p:spPr>
          <a:xfrm>
            <a:off x="12454128" y="6645859"/>
            <a:ext cx="2313431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60" b="1">
                <a:solidFill>
                  <a:srgbClr val="1E2761"/>
                </a:solidFill>
                <a:latin typeface="Arial"/>
              </a:rPr>
              <a:t>ASSET KEY (AS-BUILT LABEL PREFIX)</a:t>
            </a:r>
            <a:endParaRPr lang="en-US" sz="740" dirty="0"/>
          </a:p>
        </p:txBody>
      </p:sp>
      <p:sp>
        <p:nvSpPr>
          <p:cNvPr id="380" name="Legend 380"/>
          <p:cNvSpPr/>
          <p:nvPr/>
        </p:nvSpPr>
        <p:spPr>
          <a:xfrm>
            <a:off x="12682728" y="6824167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EL  —  Existing light base (EBASE)  ×4</a:t>
            </a:r>
            <a:endParaRPr lang="en-US" sz="740" dirty="0"/>
          </a:p>
        </p:txBody>
      </p:sp>
      <p:sp>
        <p:nvSpPr>
          <p:cNvPr id="381" name="Legend 381"/>
          <p:cNvSpPr/>
          <p:nvPr/>
        </p:nvSpPr>
        <p:spPr>
          <a:xfrm>
            <a:off x="12682728" y="7002475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SBC102  —  Stop bar light  ×8</a:t>
            </a:r>
            <a:endParaRPr lang="en-US" sz="740" dirty="0"/>
          </a:p>
        </p:txBody>
      </p:sp>
      <p:sp>
        <p:nvSpPr>
          <p:cNvPr id="382" name="Legend 382"/>
          <p:cNvSpPr/>
          <p:nvPr/>
        </p:nvSpPr>
        <p:spPr>
          <a:xfrm>
            <a:off x="12682728" y="7180783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SGC102  —  Sign foundation  ×2</a:t>
            </a:r>
            <a:endParaRPr lang="en-US" sz="740" dirty="0"/>
          </a:p>
        </p:txBody>
      </p:sp>
      <p:sp>
        <p:nvSpPr>
          <p:cNvPr id="383" name="Legend 383"/>
          <p:cNvSpPr/>
          <p:nvPr/>
        </p:nvSpPr>
        <p:spPr>
          <a:xfrm>
            <a:off x="12682728" y="7359091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TCC102  —  Taxiway centreline light  ×2</a:t>
            </a:r>
            <a:endParaRPr lang="en-US" sz="740" dirty="0"/>
          </a:p>
        </p:txBody>
      </p:sp>
      <p:sp>
        <p:nvSpPr>
          <p:cNvPr id="384" name="Legend 384"/>
          <p:cNvSpPr/>
          <p:nvPr/>
        </p:nvSpPr>
        <p:spPr>
          <a:xfrm>
            <a:off x="12682728" y="7537399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TCCECH  —  Taxiway centreline light  ×21</a:t>
            </a:r>
            <a:endParaRPr lang="en-US" sz="740" dirty="0"/>
          </a:p>
        </p:txBody>
      </p:sp>
      <p:sp>
        <p:nvSpPr>
          <p:cNvPr id="385" name="Legend 385"/>
          <p:cNvSpPr/>
          <p:nvPr/>
        </p:nvSpPr>
        <p:spPr>
          <a:xfrm>
            <a:off x="12682728" y="7715707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HH  —  Handhole  ×7</a:t>
            </a:r>
            <a:endParaRPr lang="en-US" sz="740" dirty="0"/>
          </a:p>
        </p:txBody>
      </p:sp>
      <p:sp>
        <p:nvSpPr>
          <p:cNvPr id="386" name="Legend 386"/>
          <p:cNvSpPr/>
          <p:nvPr/>
        </p:nvSpPr>
        <p:spPr>
          <a:xfrm>
            <a:off x="12682728" y="7894015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MH  —  Manhole  ×2</a:t>
            </a:r>
            <a:endParaRPr lang="en-US" sz="740" dirty="0"/>
          </a:p>
        </p:txBody>
      </p:sp>
      <p:sp>
        <p:nvSpPr>
          <p:cNvPr id="387" name="Legend 387"/>
          <p:cNvSpPr/>
          <p:nvPr/>
        </p:nvSpPr>
        <p:spPr>
          <a:xfrm>
            <a:off x="12682728" y="8072323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P4  —  Civil pit (manhole / transformer HH)  ×4</a:t>
            </a:r>
            <a:endParaRPr lang="en-US" sz="740" dirty="0"/>
          </a:p>
        </p:txBody>
      </p:sp>
      <p:sp>
        <p:nvSpPr>
          <p:cNvPr id="388" name="Legend 388"/>
          <p:cNvSpPr/>
          <p:nvPr/>
        </p:nvSpPr>
        <p:spPr>
          <a:xfrm>
            <a:off x="12682728" y="8250631"/>
            <a:ext cx="2084831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">
                <a:solidFill>
                  <a:srgbClr val="1F2937"/>
                </a:solidFill>
                <a:latin typeface="Arial"/>
              </a:rPr>
              <a:t>RRM  —  Runway guard light / RRM  ×9</a:t>
            </a:r>
            <a:endParaRPr lang="en-US" sz="740" dirty="0"/>
          </a:p>
        </p:txBody>
      </p:sp>
    </p:spTree>
    <p:extLst>
      <p:ext uri="{BB962C8B-B14F-4D97-AF65-F5344CB8AC3E}">
        <p14:creationId xmlns:p14="http://schemas.microsoft.com/office/powerpoint/2010/main" val="3628517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239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CONSOLIDATED FIELD-GOVERNED SCOPE — TWY E (E4–E6) 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960120"/>
          <a:ext cx="14173200" cy="878738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out shallow base +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SBC102-02/027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>
                          <a:solidFill>
                            <a:srgbClr val="1F2937"/>
                          </a:solidFill>
                          <a:latin typeface="Arial"/>
                        </a:rPr>
                        <a:t>Field sheet: sec. cable YES / shallow base NO — no coring, no dummy plate; full cable replacement via 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>
                          <a:solidFill>
                            <a:srgbClr val="1F2937"/>
                          </a:solidFill>
                          <a:latin typeface="Arial"/>
                        </a:rPr>
                        <a:t>Field sheet: sec. cable YES / shallow base NO — no coring, no dummy plate; full cable replacement via 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TCC103-11/021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NOT ON FIELD SHEET — CONFIRM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>
                          <a:solidFill>
                            <a:srgbClr val="1F2937"/>
                          </a:solidFill>
                          <a:latin typeface="Arial"/>
                        </a:rPr>
                        <a:t>Not listed on Document_3. Secondary route appears to cross the cut (2.0 m in cut) — confirm scope before works; no action assumed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6495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TCC103-11/126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NOT ON FIELD SHEET — CONFIRM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>
                          <a:solidFill>
                            <a:srgbClr val="1F2937"/>
                          </a:solidFill>
                          <a:latin typeface="Arial"/>
                        </a:rPr>
                        <a:t>Not listed on Document_3. Secondary route appears to cross the cut (2.0 m in cut) — confirm scope before works; no action assumed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45766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TCC103-12/021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NOT ON FIELD SHEET — CONFIRM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>
                          <a:solidFill>
                            <a:srgbClr val="1F2937"/>
                          </a:solidFill>
                          <a:latin typeface="Arial"/>
                        </a:rPr>
                        <a:t>Not listed on Document_3. Secondary route appears to cross the cut (2.0 m in cut) — confirm scope before works; no action assumed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95166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TCC103-12/022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NOT ON FIELD SHEET — CONFIRM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 b="1">
                          <a:solidFill>
                            <a:srgbClr val="E8710A"/>
                          </a:solidFill>
                          <a:latin typeface="Arial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00">
                          <a:solidFill>
                            <a:srgbClr val="1F2937"/>
                          </a:solidFill>
                          <a:latin typeface="Arial"/>
                        </a:rPr>
                        <a:t>Not listed on Document_3. Secondary route appears to cross the cut (7.8 m in cut) — confirm scope before works; no action assumed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2754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9AA0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AFFECTED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B00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SBC102-01/039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DUMMY PLATE + NEW CABLE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Sawcut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retained — fitting lifted, dummy plate fitted, full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SBC102-01/041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SBC102-02/038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TCCECH-03/003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TCCECH-04/003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CABLE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55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manhole-to-light cable replacement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RRM.557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B00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LOC-03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RRM.670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BB00B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RRM REMOVE / 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/ protect before sawcut, re-fix after paving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6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4C71C-4823-4E6E-A2E5-D30CB068CC73}"/>
              </a:ext>
            </a:extLst>
          </p:cNvPr>
          <p:cNvSpPr txBox="1"/>
          <p:nvPr/>
        </p:nvSpPr>
        <p:spPr>
          <a:xfrm>
            <a:off x="635000" y="558800"/>
            <a:ext cx="1220724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it-IT" sz="3000" b="1">
                <a:solidFill>
                  <a:srgbClr val="1E2761"/>
                </a:solidFill>
                <a:latin typeface="Arial"/>
                <a:cs typeface="Arial"/>
              </a:rPr>
              <a:t>CONSOLIDATED SCOPE TOTALS — TWY E (E4–E6)</a:t>
            </a:r>
            <a:endParaRPr lang="en-US" sz="3000" b="1">
              <a:solidFill>
                <a:srgbClr val="1E2761"/>
              </a:solidFill>
              <a:latin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DB50F5-660A-4B81-A5BA-B782CDD2E785}"/>
              </a:ext>
            </a:extLst>
          </p:cNvPr>
          <p:cNvSpPr/>
          <p:nvPr/>
        </p:nvSpPr>
        <p:spPr>
          <a:xfrm>
            <a:off x="635000" y="1600200"/>
            <a:ext cx="13843000" cy="38100"/>
          </a:xfrm>
          <a:prstGeom prst="rect">
            <a:avLst/>
          </a:prstGeom>
          <a:solidFill>
            <a:srgbClr val="1E27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225F12-54F5-42AB-899D-75ED2CE109E4}"/>
              </a:ext>
            </a:extLst>
          </p:cNvPr>
          <p:cNvSpPr/>
          <p:nvPr/>
        </p:nvSpPr>
        <p:spPr>
          <a:xfrm>
            <a:off x="63500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5B0DA-CBA7-456F-BF00-CA179CF9ABF6}"/>
              </a:ext>
            </a:extLst>
          </p:cNvPr>
          <p:cNvSpPr txBox="1"/>
          <p:nvPr/>
        </p:nvSpPr>
        <p:spPr>
          <a:xfrm>
            <a:off x="76200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1,887.3 m²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B5399-D465-4FE4-AE3D-6DFF645F6B64}"/>
              </a:ext>
            </a:extLst>
          </p:cNvPr>
          <p:cNvSpPr txBox="1"/>
          <p:nvPr/>
        </p:nvSpPr>
        <p:spPr>
          <a:xfrm>
            <a:off x="76200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Total demarcation area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D3515D-A408-4D20-964B-8B7FFA89F85C}"/>
              </a:ext>
            </a:extLst>
          </p:cNvPr>
          <p:cNvSpPr/>
          <p:nvPr/>
        </p:nvSpPr>
        <p:spPr>
          <a:xfrm>
            <a:off x="297688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98FDE-D149-4DAF-933A-07D34D0AE3ED}"/>
              </a:ext>
            </a:extLst>
          </p:cNvPr>
          <p:cNvSpPr txBox="1"/>
          <p:nvPr/>
        </p:nvSpPr>
        <p:spPr>
          <a:xfrm>
            <a:off x="310388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D804C-C201-4129-9F55-6E763FB12022}"/>
              </a:ext>
            </a:extLst>
          </p:cNvPr>
          <p:cNvSpPr txBox="1"/>
          <p:nvPr/>
        </p:nvSpPr>
        <p:spPr>
          <a:xfrm>
            <a:off x="310388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Core-outs (LOC-01 only)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EEF5BC-7BBF-4079-A614-E159C57A8A27}"/>
              </a:ext>
            </a:extLst>
          </p:cNvPr>
          <p:cNvSpPr/>
          <p:nvPr/>
        </p:nvSpPr>
        <p:spPr>
          <a:xfrm>
            <a:off x="531876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D2AE9-AC18-4930-9FCB-6D778E945BD9}"/>
              </a:ext>
            </a:extLst>
          </p:cNvPr>
          <p:cNvSpPr txBox="1"/>
          <p:nvPr/>
        </p:nvSpPr>
        <p:spPr>
          <a:xfrm>
            <a:off x="544576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Arial"/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64035-9F2C-44E4-AE5D-49A236C43BE9}"/>
              </a:ext>
            </a:extLst>
          </p:cNvPr>
          <p:cNvSpPr txBox="1"/>
          <p:nvPr/>
        </p:nvSpPr>
        <p:spPr>
          <a:xfrm>
            <a:off x="544576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Dummy plates</a:t>
            </a:r>
          </a:p>
          <a:p>
            <a:r>
              <a:rPr sz="1400">
                <a:solidFill>
                  <a:srgbClr val="1F2937"/>
                </a:solidFill>
                <a:latin typeface="Arial"/>
              </a:rPr>
              <a:t>4 (LOC-03) + 4 TCC103 unconfirmed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27571B-E830-45F3-A0A1-D82B30658066}"/>
              </a:ext>
            </a:extLst>
          </p:cNvPr>
          <p:cNvSpPr/>
          <p:nvPr/>
        </p:nvSpPr>
        <p:spPr>
          <a:xfrm>
            <a:off x="766064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7D6579-DFCC-4E05-8FE7-3296DEEE0618}"/>
              </a:ext>
            </a:extLst>
          </p:cNvPr>
          <p:cNvSpPr txBox="1"/>
          <p:nvPr/>
        </p:nvSpPr>
        <p:spPr>
          <a:xfrm>
            <a:off x="778764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Arial"/>
              </a:rPr>
              <a:t>31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2BCADC-822A-41C4-8151-C9D1320592BA}"/>
              </a:ext>
            </a:extLst>
          </p:cNvPr>
          <p:cNvSpPr txBox="1"/>
          <p:nvPr/>
        </p:nvSpPr>
        <p:spPr>
          <a:xfrm>
            <a:off x="778764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Arial"/>
              </a:rPr>
              <a:t>Secondary cable runs</a:t>
            </a:r>
          </a:p>
          <a:p>
            <a:r>
              <a:rPr sz="1400">
                <a:solidFill>
                  <a:srgbClr val="1F2937"/>
                </a:solidFill>
                <a:latin typeface="Arial"/>
              </a:rPr>
              <a:t>per field sheets; +4 TCC103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BDB0D6-A966-4D06-9C68-50523166BE06}"/>
              </a:ext>
            </a:extLst>
          </p:cNvPr>
          <p:cNvSpPr/>
          <p:nvPr/>
        </p:nvSpPr>
        <p:spPr>
          <a:xfrm>
            <a:off x="1000252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0B2F54-E0D0-44E6-B1ED-01D235974062}"/>
              </a:ext>
            </a:extLst>
          </p:cNvPr>
          <p:cNvSpPr txBox="1"/>
          <p:nvPr/>
        </p:nvSpPr>
        <p:spPr>
          <a:xfrm>
            <a:off x="1012952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7B36F8-47FD-4FB1-8C1A-E83774CF9C05}"/>
              </a:ext>
            </a:extLst>
          </p:cNvPr>
          <p:cNvSpPr txBox="1"/>
          <p:nvPr/>
        </p:nvSpPr>
        <p:spPr>
          <a:xfrm>
            <a:off x="1012952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F2937"/>
                </a:solidFill>
                <a:latin typeface="Arial"/>
                <a:cs typeface="Arial"/>
              </a:rPr>
              <a:t>RRMs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D0AEED-7842-4384-BC4A-930C3D293E0D}"/>
              </a:ext>
            </a:extLst>
          </p:cNvPr>
          <p:cNvSpPr/>
          <p:nvPr/>
        </p:nvSpPr>
        <p:spPr>
          <a:xfrm>
            <a:off x="12344400" y="1905000"/>
            <a:ext cx="21336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0A9873-3F4A-4184-A2BF-F060E490D88F}"/>
              </a:ext>
            </a:extLst>
          </p:cNvPr>
          <p:cNvSpPr txBox="1"/>
          <p:nvPr/>
        </p:nvSpPr>
        <p:spPr>
          <a:xfrm>
            <a:off x="12471400" y="2082800"/>
            <a:ext cx="1879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6209E3-F1B1-48E9-A1FB-E200B70B60F9}"/>
              </a:ext>
            </a:extLst>
          </p:cNvPr>
          <p:cNvSpPr txBox="1"/>
          <p:nvPr/>
        </p:nvSpPr>
        <p:spPr>
          <a:xfrm>
            <a:off x="12471400" y="2717800"/>
            <a:ext cx="18796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Field-verified not affected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8377AA-4956-4270-AB99-B49F946217AE}"/>
              </a:ext>
            </a:extLst>
          </p:cNvPr>
          <p:cNvSpPr txBox="1"/>
          <p:nvPr/>
        </p:nvSpPr>
        <p:spPr>
          <a:xfrm>
            <a:off x="635000" y="5943600"/>
            <a:ext cx="6819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 dirty="0">
                <a:solidFill>
                  <a:srgbClr val="1E2761"/>
                </a:solidFill>
                <a:latin typeface="Arial"/>
                <a:cs typeface="Arial"/>
              </a:rPr>
              <a:t>NOT ON FIELD SHEET — TCC103 (4 No.)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9B95B9-12BA-4BEC-9CC3-D5A93E08CE07}"/>
              </a:ext>
            </a:extLst>
          </p:cNvPr>
          <p:cNvSpPr txBox="1"/>
          <p:nvPr/>
        </p:nvSpPr>
        <p:spPr>
          <a:xfrm>
            <a:off x="7658100" y="5943600"/>
            <a:ext cx="68199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1E2761"/>
                </a:solidFill>
                <a:latin typeface="Arial"/>
                <a:cs typeface="Arial"/>
              </a:rPr>
              <a:t>DEMARCATION AREA BY LOCATION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42667E-1E45-4B4F-B7A7-DDFB06FCB981}"/>
              </a:ext>
            </a:extLst>
          </p:cNvPr>
          <p:cNvSpPr txBox="1"/>
          <p:nvPr/>
        </p:nvSpPr>
        <p:spPr>
          <a:xfrm>
            <a:off x="7658100" y="6350000"/>
            <a:ext cx="6819900" cy="196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LOC-01 (sheet 1001)  —  572.6 m²
LOC-02 (sheet 1002)  —  700.3 m²
LOC-03 (sheet 1003)  —  614.4 m²
Total  —  1,887.3 m²</a:t>
            </a:r>
          </a:p>
        </p:txBody>
      </p:sp>
      <p:sp>
        <p:nvSpPr>
          <p:cNvPr id="40" name="Footer Rule">
            <a:extLst>
              <a:ext uri="{FF2B5EF4-FFF2-40B4-BE49-F238E27FC236}">
                <a16:creationId xmlns:a16="http://schemas.microsoft.com/office/drawing/2014/main" id="{04DB50F5-660A-4B81-A5BA-B782CDD2E785}"/>
              </a:ext>
            </a:extLst>
          </p:cNvPr>
          <p:cNvSpPr/>
          <p:nvPr/>
        </p:nvSpPr>
        <p:spPr>
          <a:xfrm>
            <a:off x="635000" y="9347200"/>
            <a:ext cx="13843000" cy="12700"/>
          </a:xfrm>
          <a:prstGeom prst="rect">
            <a:avLst/>
          </a:prstGeom>
          <a:solidFill>
            <a:srgbClr val="D5DB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648" y="146304"/>
            <a:ext cx="1691640" cy="553627"/>
          </a:xfrm>
          <a:prstGeom prst="rect">
            <a:avLst/>
          </a:prstGeom>
        </p:spPr>
      </p:pic>
      <p:sp>
        <p:nvSpPr>
          <p:cNvPr id="101" name="New 101">
            <a:extLst>
              <a:ext uri="{FF2B5EF4-FFF2-40B4-BE49-F238E27FC236}">
                <a16:creationId xmlns:a16="http://schemas.microsoft.com/office/drawing/2014/main" id="{E3225F12-54F5-42AB-899D-75ED2CE109E4}"/>
              </a:ext>
            </a:extLst>
          </p:cNvPr>
          <p:cNvSpPr/>
          <p:nvPr/>
        </p:nvSpPr>
        <p:spPr>
          <a:xfrm>
            <a:off x="635000" y="3810000"/>
            <a:ext cx="68199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2" name="New 102">
            <a:extLst>
              <a:ext uri="{FF2B5EF4-FFF2-40B4-BE49-F238E27FC236}">
                <a16:creationId xmlns:a16="http://schemas.microsoft.com/office/drawing/2014/main" id="{DFD5B0DA-CBA7-456F-BF00-CA179CF9ABF6}"/>
              </a:ext>
            </a:extLst>
          </p:cNvPr>
          <p:cNvSpPr txBox="1"/>
          <p:nvPr/>
        </p:nvSpPr>
        <p:spPr>
          <a:xfrm>
            <a:off x="762000" y="3987800"/>
            <a:ext cx="65659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Arial"/>
              </a:rPr>
              <a:t>11</a:t>
            </a:r>
          </a:p>
        </p:txBody>
      </p:sp>
      <p:sp>
        <p:nvSpPr>
          <p:cNvPr id="103" name="New 103">
            <a:extLst>
              <a:ext uri="{FF2B5EF4-FFF2-40B4-BE49-F238E27FC236}">
                <a16:creationId xmlns:a16="http://schemas.microsoft.com/office/drawing/2014/main" id="{E4DB5399-D465-4FE4-AE3D-6DFF645F6B64}"/>
              </a:ext>
            </a:extLst>
          </p:cNvPr>
          <p:cNvSpPr txBox="1"/>
          <p:nvPr/>
        </p:nvSpPr>
        <p:spPr>
          <a:xfrm>
            <a:off x="762000" y="4622800"/>
            <a:ext cx="65659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sz="1400" b="1">
                <a:solidFill>
                  <a:srgbClr val="1F2937"/>
                </a:solidFill>
                <a:latin typeface="Arial"/>
              </a:rPr>
              <a:t>Saw-cut route runs</a:t>
            </a:r>
          </a:p>
          <a:p>
            <a:r>
              <a:rPr sz="1400">
                <a:solidFill>
                  <a:srgbClr val="1F2937"/>
                </a:solidFill>
                <a:latin typeface="Arial"/>
              </a:rPr>
              <a:t>LOC-01: 7  •  LOC-03: 4  •  +4 TCC103 not on field sheet  •  13.8 m of secondary cable inside the cut</a:t>
            </a:r>
          </a:p>
        </p:txBody>
      </p:sp>
      <p:sp>
        <p:nvSpPr>
          <p:cNvPr id="104" name="New 104">
            <a:extLst>
              <a:ext uri="{FF2B5EF4-FFF2-40B4-BE49-F238E27FC236}">
                <a16:creationId xmlns:a16="http://schemas.microsoft.com/office/drawing/2014/main" id="{E3225F12-54F5-42AB-899D-75ED2CE109E4}"/>
              </a:ext>
            </a:extLst>
          </p:cNvPr>
          <p:cNvSpPr/>
          <p:nvPr/>
        </p:nvSpPr>
        <p:spPr>
          <a:xfrm>
            <a:off x="7658100" y="3810000"/>
            <a:ext cx="6819900" cy="1778000"/>
          </a:xfrm>
          <a:prstGeom prst="roundRect">
            <a:avLst/>
          </a:prstGeom>
          <a:solidFill>
            <a:srgbClr val="F4F7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New 105">
            <a:extLst>
              <a:ext uri="{FF2B5EF4-FFF2-40B4-BE49-F238E27FC236}">
                <a16:creationId xmlns:a16="http://schemas.microsoft.com/office/drawing/2014/main" id="{DFD5B0DA-CBA7-456F-BF00-CA179CF9ABF6}"/>
              </a:ext>
            </a:extLst>
          </p:cNvPr>
          <p:cNvSpPr txBox="1"/>
          <p:nvPr/>
        </p:nvSpPr>
        <p:spPr>
          <a:xfrm>
            <a:off x="7785100" y="3987800"/>
            <a:ext cx="65659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1E2761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06" name="New 106">
            <a:extLst>
              <a:ext uri="{FF2B5EF4-FFF2-40B4-BE49-F238E27FC236}">
                <a16:creationId xmlns:a16="http://schemas.microsoft.com/office/drawing/2014/main" id="{E4DB5399-D465-4FE4-AE3D-6DFF645F6B64}"/>
              </a:ext>
            </a:extLst>
          </p:cNvPr>
          <p:cNvSpPr txBox="1"/>
          <p:nvPr/>
        </p:nvSpPr>
        <p:spPr>
          <a:xfrm>
            <a:off x="7785100" y="4622800"/>
            <a:ext cx="6565900" cy="863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Duct route runs (secondary cable)</a:t>
            </a:r>
          </a:p>
          <a:p>
            <a:pPr algn="l"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LOC-01: 7  •  LOC-02: 5  •  LOC-03: 8  •  existing duct, pulled manhole-to-light</a:t>
            </a:r>
          </a:p>
        </p:txBody>
      </p:sp>
      <p:sp>
        <p:nvSpPr>
          <p:cNvPr id="110" name="Provisional List">
            <a:extLst>
              <a:ext uri="{FF2B5EF4-FFF2-40B4-BE49-F238E27FC236}">
                <a16:creationId xmlns:a16="http://schemas.microsoft.com/office/drawing/2014/main" id="{2642667E-1E45-4B4F-B7A7-DDFB06FCB981}"/>
              </a:ext>
            </a:extLst>
          </p:cNvPr>
          <p:cNvSpPr txBox="1"/>
          <p:nvPr/>
        </p:nvSpPr>
        <p:spPr>
          <a:xfrm>
            <a:off x="635000" y="6350000"/>
            <a:ext cx="6819900" cy="1968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70000"/>
              </a:lnSpc>
              <a:spcBef>
                <a:spcPts val="1000"/>
              </a:spcBef>
              <a:buNone/>
            </a:pPr>
            <a:r>
              <a:rPr sz="1400">
                <a:solidFill>
                  <a:srgbClr val="1F2937"/>
                </a:solidFill>
                <a:latin typeface="Arial"/>
              </a:rPr>
              <a:t>TCC103-11/021  —  not listed; cable may cross cut (2.0 m) — confirm</a:t>
            </a:r>
          </a:p>
          <a:p>
            <a:r>
              <a:rPr sz="1400">
                <a:solidFill>
                  <a:srgbClr val="1F2937"/>
                </a:solidFill>
                <a:latin typeface="Arial"/>
              </a:rPr>
              <a:t>TCC103-11/126  —  not listed; cable may cross cut (2.0 m) — confirm</a:t>
            </a:r>
          </a:p>
          <a:p>
            <a:r>
              <a:rPr sz="1400">
                <a:solidFill>
                  <a:srgbClr val="1F2937"/>
                </a:solidFill>
                <a:latin typeface="Arial"/>
              </a:rPr>
              <a:t>TCC103-12/021  —  not listed; cable may cross cut (2.0 m) — confirm</a:t>
            </a:r>
          </a:p>
          <a:p>
            <a:r>
              <a:rPr sz="1400">
                <a:solidFill>
                  <a:srgbClr val="1F2937"/>
                </a:solidFill>
                <a:latin typeface="Arial"/>
              </a:rPr>
              <a:t>TCC103-12/022  —  not listed; cable may cross cut (7.8 m) — confirm</a:t>
            </a:r>
          </a:p>
        </p:txBody>
      </p:sp>
    </p:spTree>
    <p:extLst>
      <p:ext uri="{BB962C8B-B14F-4D97-AF65-F5344CB8AC3E}">
        <p14:creationId xmlns:p14="http://schemas.microsoft.com/office/powerpoint/2010/main" val="333452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7B12BC7-8DD8-4081-AE81-DB10199A045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6e185103-5b1b-48c7-a2d0-0b4f1fed37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2661</Words>
  <Application>Microsoft Office PowerPoint</Application>
  <PresentationFormat>Custom</PresentationFormat>
  <Paragraphs>473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Faheem</cp:lastModifiedBy>
  <cp:revision>5</cp:revision>
  <dcterms:created xsi:type="dcterms:W3CDTF">2026-07-28T13:06:18Z</dcterms:created>
  <dcterms:modified xsi:type="dcterms:W3CDTF">2026-07-29T08:53:30Z</dcterms:modified>
</cp:coreProperties>
</file>