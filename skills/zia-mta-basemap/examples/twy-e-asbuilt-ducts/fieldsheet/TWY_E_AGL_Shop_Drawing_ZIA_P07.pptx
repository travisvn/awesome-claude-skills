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64" r:id="rId3"/>
    <p:sldId id="265" r:id="rId4"/>
    <p:sldId id="266" r:id="rId5"/>
    <p:sldId id="268" r:id="rId6"/>
    <p:sldId id="276" r:id="rId7"/>
  </p:sldIdLst>
  <p:sldSz cx="15124113" cy="10688638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2354CA-3032-45B0-8F31-B682E0E883D8}" v="3" dt="2026-07-28T13:13:55.2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1746" y="-27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966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DRAWINGS — ELECTRICAL / AGL SCOPE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000">
                <a:solidFill>
                  <a:srgbClr val="CADCFC"/>
                </a:solidFill>
                <a:latin typeface="Arial"/>
              </a:rPr>
              <a:t>RECTIFICATION OF TWY E BETWEEN E4 &amp; E6 (ZIA)</a:t>
            </a:r>
            <a:endParaRPr lang="en-US" sz="2000" dirty="0"/>
          </a:p>
          <a:p>
            <a:r>
              <a:rPr sz="2000">
                <a:solidFill>
                  <a:srgbClr val="CADCFC"/>
                </a:solidFill>
                <a:latin typeface="Arial"/>
              </a:rPr>
              <a:t>AGL WORKS AT THREE (3) MILLING LOCATIONS — FIELD CONDITION SCOPE</a:t>
            </a:r>
          </a:p>
          <a:p>
            <a:r>
              <a:rPr sz="2000">
                <a:solidFill>
                  <a:srgbClr val="CADCFC"/>
                </a:solidFill>
                <a:latin typeface="Arial"/>
              </a:rPr>
              <a:t>REV P07 — SCOPE PER FIELD SHEETS Document_3 (LOC-01) AND Second_milling_area rev _1 (LOC-02 / LOC-03)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49377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AUH-SK-AGL-TWYE-001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8887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588873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AGL asset survey assets_20260726120533.xlsx — UTM 40N (EPSG:32640)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3642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6" name="Text 8"/>
          <p:cNvSpPr/>
          <p:nvPr/>
        </p:nvSpPr>
        <p:spPr>
          <a:xfrm>
            <a:off x="914400" y="68397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636422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Mohammed — AGL Team Leader, ADB SAFEGATE AGL Team  ·  Issued 28.07.2026 · Rev P07 30.07.2026</a:t>
            </a:r>
            <a:endParaRPr lang="en-US" sz="1300" dirty="0"/>
          </a:p>
        </p:txBody>
      </p:sp>
      <p:sp>
        <p:nvSpPr>
          <p:cNvPr id="7" name="Text 9"/>
          <p:cNvSpPr/>
          <p:nvPr/>
        </p:nvSpPr>
        <p:spPr>
          <a:xfrm>
            <a:off x="4023360" y="68397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Ragesh Menon — AGL Manager, ADB SAFEGATE AGL Team</a:t>
            </a:r>
            <a:endParaRPr lang="en-US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BE10B9B-0A3C-F2F4-B56D-5E329DF49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24407" cy="98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452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1   ·   DWG NO AUH-SK-AGL-TWYE-001-1001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51025" y="777240"/>
            <a:ext cx="166132" cy="134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17157" y="911348"/>
            <a:ext cx="522676" cy="41748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39833" y="1328834"/>
            <a:ext cx="2059" cy="16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41892" y="1330519"/>
            <a:ext cx="521647" cy="41889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163539" y="1749409"/>
            <a:ext cx="523612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87151" y="2170170"/>
            <a:ext cx="522021" cy="419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9173" y="2589247"/>
            <a:ext cx="523987" cy="42066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33159" y="3009915"/>
            <a:ext cx="522957" cy="4196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56117" y="3429554"/>
            <a:ext cx="566381" cy="455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22497" y="3884661"/>
            <a:ext cx="522957" cy="413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45455" y="4298123"/>
            <a:ext cx="11885" cy="954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357340" y="4307669"/>
            <a:ext cx="544950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02290" y="4751266"/>
            <a:ext cx="76927" cy="69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79217" y="4820332"/>
            <a:ext cx="69909" cy="76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49126" y="4896417"/>
            <a:ext cx="62328" cy="823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11454" y="4978773"/>
            <a:ext cx="21244" cy="345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32698" y="5013306"/>
            <a:ext cx="43237" cy="151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75935" y="5028467"/>
            <a:ext cx="96580" cy="4492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72515" y="5073388"/>
            <a:ext cx="91620" cy="5428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64136" y="5127667"/>
            <a:ext cx="85818" cy="63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449954" y="5190744"/>
            <a:ext cx="544856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94810" y="5634341"/>
            <a:ext cx="79174" cy="712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73984" y="5705559"/>
            <a:ext cx="71780" cy="787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5764" y="5784359"/>
            <a:ext cx="63545" cy="854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209309" y="5869802"/>
            <a:ext cx="14225" cy="236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167403" y="7240459"/>
            <a:ext cx="91340" cy="74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8743" y="7247946"/>
            <a:ext cx="105003" cy="192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363746" y="7267225"/>
            <a:ext cx="338968" cy="79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206522" y="10155469"/>
            <a:ext cx="19907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004371" y="5981825"/>
            <a:ext cx="8891" cy="72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013261" y="5989031"/>
            <a:ext cx="6457" cy="322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762603" y="7118704"/>
            <a:ext cx="58398" cy="47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821000" y="7166620"/>
            <a:ext cx="16845" cy="649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494818" y="8566102"/>
            <a:ext cx="200929" cy="56516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695746" y="9131266"/>
            <a:ext cx="186423" cy="60999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882169" y="9741258"/>
            <a:ext cx="122674" cy="591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 flipV="1">
            <a:off x="9050973" y="10155469"/>
            <a:ext cx="15554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080275" y="7171861"/>
            <a:ext cx="87128" cy="6859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969095" y="7104386"/>
            <a:ext cx="111180" cy="6747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584177" y="6901305"/>
            <a:ext cx="384918" cy="20308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081341" y="6499167"/>
            <a:ext cx="502836" cy="4021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075913" y="6494862"/>
            <a:ext cx="5428" cy="4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524318" y="6059594"/>
            <a:ext cx="551594" cy="435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92846" y="1790079"/>
            <a:ext cx="475228" cy="37962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68075" y="2169702"/>
            <a:ext cx="521647" cy="4188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489722" y="2588592"/>
            <a:ext cx="523519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013240" y="3009260"/>
            <a:ext cx="522209" cy="41926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535449" y="3428524"/>
            <a:ext cx="524080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059529" y="3849192"/>
            <a:ext cx="522957" cy="4197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582486" y="4268925"/>
            <a:ext cx="569189" cy="45735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151675" y="4726278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151675" y="4726278"/>
            <a:ext cx="526233" cy="4160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677908" y="5142360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77908" y="5142360"/>
            <a:ext cx="544950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 flipV="1">
            <a:off x="5063387" y="5585957"/>
            <a:ext cx="159470" cy="172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63387" y="5758716"/>
            <a:ext cx="421229" cy="56188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 flipV="1">
            <a:off x="5484617" y="6025342"/>
            <a:ext cx="285811" cy="2952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5770428" y="6025342"/>
            <a:ext cx="544856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 flipV="1">
            <a:off x="5864856" y="6468938"/>
            <a:ext cx="450428" cy="4409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5864856" y="6909915"/>
            <a:ext cx="338874" cy="6152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203730" y="7525147"/>
            <a:ext cx="289741" cy="63722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493471" y="8162373"/>
            <a:ext cx="224419" cy="63114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6717890" y="8793515"/>
            <a:ext cx="208041" cy="68064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925931" y="9474164"/>
            <a:ext cx="140847" cy="67924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066778" y="10153410"/>
            <a:ext cx="25992" cy="1793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 flipV="1">
            <a:off x="7619078" y="8630957"/>
            <a:ext cx="1493390" cy="17017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9112469" y="8630957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 flipV="1">
            <a:off x="9112469" y="8314918"/>
            <a:ext cx="5147" cy="31603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9117616" y="8314918"/>
            <a:ext cx="585098" cy="13744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8466914" y="8056246"/>
            <a:ext cx="1235800" cy="110008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7952847" y="7785035"/>
            <a:ext cx="514067" cy="2712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918314" y="7746852"/>
            <a:ext cx="34533" cy="3818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7409208" y="7339754"/>
            <a:ext cx="509107" cy="40709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6857613" y="6904487"/>
            <a:ext cx="551594" cy="4352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4384516" y="3796691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 flipV="1">
            <a:off x="4208762" y="4015681"/>
            <a:ext cx="175754" cy="21908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4032914" y="423476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 flipV="1">
            <a:off x="3857067" y="445375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 flipV="1">
            <a:off x="3681313" y="4672747"/>
            <a:ext cx="175754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 flipV="1">
            <a:off x="3505465" y="4891738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 flipV="1">
            <a:off x="3334952" y="5110728"/>
            <a:ext cx="170513" cy="217587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 flipV="1">
            <a:off x="7918314" y="5683099"/>
            <a:ext cx="584349" cy="2063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3582486" y="2467867"/>
            <a:ext cx="635915" cy="18010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6857613" y="5683099"/>
            <a:ext cx="1645050" cy="12213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7952847" y="5683099"/>
            <a:ext cx="549816" cy="210193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9047614" y="6944825"/>
            <a:ext cx="655100" cy="172216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7409208" y="5683099"/>
            <a:ext cx="1093456" cy="165665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6454914" y="3958688"/>
            <a:ext cx="1270052" cy="7678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7621086" y="5506315"/>
            <a:ext cx="881578" cy="17678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453906" y="5683099"/>
            <a:ext cx="48758" cy="25417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3059529" y="2467867"/>
            <a:ext cx="1158872" cy="138132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2535449" y="2467867"/>
            <a:ext cx="1682953" cy="9606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2013240" y="1612586"/>
            <a:ext cx="1308235" cy="13966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1489722" y="796519"/>
            <a:ext cx="801281" cy="17920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968075" y="796519"/>
            <a:ext cx="1322928" cy="137318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492846" y="796519"/>
            <a:ext cx="1798157" cy="92845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492846" y="796519"/>
            <a:ext cx="1798157" cy="460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 flipV="1">
            <a:off x="1935751" y="5328315"/>
            <a:ext cx="1399201" cy="16003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935751" y="5110728"/>
            <a:ext cx="1569714" cy="37761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9112469" y="6996736"/>
            <a:ext cx="590245" cy="163422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492846" y="796519"/>
            <a:ext cx="1798157" cy="38641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4133238" y="8025082"/>
            <a:ext cx="2360233" cy="13729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4965966" y="8793515"/>
            <a:ext cx="1751924" cy="153920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068702" y="9474164"/>
            <a:ext cx="1857229" cy="85855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6530809" y="10153410"/>
            <a:ext cx="535968" cy="17931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9117616" y="6879600"/>
            <a:ext cx="585098" cy="143531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8466914" y="5683099"/>
            <a:ext cx="35750" cy="23731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9316205" y="6128775"/>
            <a:ext cx="386509" cy="16628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4133238" y="6025342"/>
            <a:ext cx="1637189" cy="19997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6315284" y="5683099"/>
            <a:ext cx="2187380" cy="78584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4677908" y="3169760"/>
            <a:ext cx="563386" cy="197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39840" y="3304806"/>
            <a:ext cx="18436" cy="241619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106473" y="3169760"/>
            <a:ext cx="1134821" cy="156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1935751" y="4891738"/>
            <a:ext cx="1745562" cy="59660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3857067" y="3169760"/>
            <a:ext cx="1384227" cy="150298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032914" y="3169760"/>
            <a:ext cx="1208379" cy="12839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08762" y="3169760"/>
            <a:ext cx="1032532" cy="106500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384516" y="3169760"/>
            <a:ext cx="856778" cy="84592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4560364" y="3169760"/>
            <a:ext cx="680930" cy="62693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 flipV="1">
            <a:off x="4151675" y="3169760"/>
            <a:ext cx="1089619" cy="15565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 flipV="1">
            <a:off x="4604349" y="3169760"/>
            <a:ext cx="636945" cy="205832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 flipV="1">
            <a:off x="4133238" y="5758716"/>
            <a:ext cx="930149" cy="226636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 flipV="1">
            <a:off x="4133238" y="6320605"/>
            <a:ext cx="1351378" cy="170447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 flipV="1">
            <a:off x="4133238" y="6909915"/>
            <a:ext cx="1731617" cy="111516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1870241" y="5422837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175784" y="3104250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8437154" y="5617589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755979" y="8183804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Text 160"/>
          <p:cNvSpPr/>
          <p:nvPr/>
        </p:nvSpPr>
        <p:spPr>
          <a:xfrm>
            <a:off x="2041048" y="340014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(572.6 m²)</a:t>
            </a:r>
            <a:endParaRPr lang="en-US" sz="800" dirty="0"/>
          </a:p>
        </p:txBody>
      </p:sp>
      <p:sp>
        <p:nvSpPr>
          <p:cNvPr id="163" name="Shape 161"/>
          <p:cNvSpPr/>
          <p:nvPr/>
        </p:nvSpPr>
        <p:spPr>
          <a:xfrm>
            <a:off x="5389846" y="942815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7889053" y="771759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277371" y="48638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883785" y="362677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4899363" y="812347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7923587" y="77557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9018353" y="86377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7379947" y="731049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6425653" y="469729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7591825" y="547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424645" y="590801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468724" y="4253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3030268" y="38199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2506188" y="339926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983979" y="29799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1460461" y="25593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938814" y="214044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305691" y="52990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9083208" y="860169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464210" y="81331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6688629" y="87642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6896670" y="94449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037517" y="101241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9088355" y="82856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8437653" y="8026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212033" y="31404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906490" y="54590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4103978" y="799582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2261742" y="76725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8473403" y="56538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5491761" y="23259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5716928" y="248530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6729807" y="321817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7695705" y="392942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798737" y="714391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3537971" y="83388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166961" y="987399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8164570" y="426923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9001975" y="47191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1670561" y="59321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292215" y="15833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857581" y="46115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762592" y="51700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3963693" y="11798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4189141" y="2438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1556667" y="677761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873591" y="22705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9286944" y="626579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Text 211"/>
          <p:cNvSpPr/>
          <p:nvPr/>
        </p:nvSpPr>
        <p:spPr>
          <a:xfrm>
            <a:off x="5479294" y="934704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RRM.76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7978501" y="763648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66819" y="478277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RRM.540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973233" y="354566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RRM.541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988811" y="80423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RRM.636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8013034" y="76746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TCC103.12.019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85566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TCC103.11.019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7469395" y="72293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TCC103.11.020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6515101" y="46161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TEC102.02.047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7681273" y="539594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TEC102.02.048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8514093" y="582690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TEC102.02.049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8558171" y="41725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HH.E6.033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3119716" y="37388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TCCECH.03.017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595636" y="33181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TCCECH.04.016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073427" y="289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TCCECH.03.016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549909" y="24782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TCCECH.04.015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1028262" y="205933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TCCECH.03.015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8979408" y="852058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TCC103.11.027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6553658" y="805200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TCCECH.03.038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6778077" y="868314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TCCECH.04.037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6986118" y="936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TCCECH.03.039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7126965" y="100430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TCCECH.04.038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8979408" y="820454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TCCECH.04.019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8527101" y="79458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TCCECH.03.020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5301481" y="30593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1995938" y="53779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4193425" y="79147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8562851" y="55727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5581209" y="224481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HH.E6.038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5806376" y="240419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HH.E6.037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6819255" y="31370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HH.E6.036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7785153" y="384831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HH.E6.035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3627419" y="82577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HH.E6.041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4256409" y="979288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HH.E6.042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254018" y="418812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HH.E6.034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46379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HH.E6.032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1760009" y="585105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HH.E6.039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3381663" y="15022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P6.009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947029" y="45304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P6.038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52040" y="508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MH.E.024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4053140" y="10987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MH.E.014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4278588" y="235749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&amp;.23918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1646115" y="669650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SGC102.02.017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5963038" y="21894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SGC102.02.016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8979408" y="618468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TEC102.02.050</a:t>
            </a:r>
            <a:endParaRPr lang="en-US" sz="500" dirty="0"/>
          </a:p>
        </p:txBody>
      </p:sp>
      <p:sp>
        <p:nvSpPr>
          <p:cNvPr id="262" name="Shape 260"/>
          <p:cNvSpPr/>
          <p:nvPr/>
        </p:nvSpPr>
        <p:spPr>
          <a:xfrm>
            <a:off x="4279360" y="3910525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Marker 380"/>
          <p:cNvSpPr/>
          <p:nvPr/>
        </p:nvSpPr>
        <p:spPr>
          <a:xfrm>
            <a:off x="4046494" y="4621103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Marker 378"/>
          <p:cNvSpPr/>
          <p:nvPr/>
        </p:nvSpPr>
        <p:spPr>
          <a:xfrm>
            <a:off x="4001322" y="4627229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Marker 376"/>
          <p:cNvSpPr/>
          <p:nvPr/>
        </p:nvSpPr>
        <p:spPr>
          <a:xfrm>
            <a:off x="3229752" y="5223144"/>
            <a:ext cx="210312" cy="210312"/>
          </a:xfrm>
          <a:prstGeom prst="ellipse">
            <a:avLst/>
          </a:prstGeom>
          <a:noFill/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4329652" y="3960817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Marker 381"/>
          <p:cNvSpPr/>
          <p:nvPr/>
        </p:nvSpPr>
        <p:spPr>
          <a:xfrm>
            <a:off x="4096786" y="467139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Marker 379"/>
          <p:cNvSpPr/>
          <p:nvPr/>
        </p:nvSpPr>
        <p:spPr>
          <a:xfrm>
            <a:off x="4051614" y="467752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Marker 377"/>
          <p:cNvSpPr/>
          <p:nvPr/>
        </p:nvSpPr>
        <p:spPr>
          <a:xfrm>
            <a:off x="3280044" y="527343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Text 262"/>
          <p:cNvSpPr/>
          <p:nvPr/>
        </p:nvSpPr>
        <p:spPr>
          <a:xfrm>
            <a:off x="4503388" y="379622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SBC102-02/024</a:t>
            </a:r>
            <a:endParaRPr lang="en-US" sz="650" dirty="0"/>
          </a:p>
        </p:txBody>
      </p:sp>
      <p:sp>
        <p:nvSpPr>
          <p:cNvPr id="265" name="Shape 263"/>
          <p:cNvSpPr/>
          <p:nvPr/>
        </p:nvSpPr>
        <p:spPr>
          <a:xfrm>
            <a:off x="4103606" y="412961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4153898" y="417990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Text 265"/>
          <p:cNvSpPr/>
          <p:nvPr/>
        </p:nvSpPr>
        <p:spPr>
          <a:xfrm>
            <a:off x="4327634" y="401531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SBC102-01/027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3927758" y="434860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3978050" y="439889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Text 268"/>
          <p:cNvSpPr/>
          <p:nvPr/>
        </p:nvSpPr>
        <p:spPr>
          <a:xfrm>
            <a:off x="4151786" y="423430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SBC102-02/025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751911" y="45675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3802203" y="4617883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3975939" y="44532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SBC102-01/028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576157" y="478658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3626449" y="483687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Text 274"/>
          <p:cNvSpPr/>
          <p:nvPr/>
        </p:nvSpPr>
        <p:spPr>
          <a:xfrm>
            <a:off x="3800185" y="467228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SBC102-02/026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400309" y="5005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3450601" y="505586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Text 277"/>
          <p:cNvSpPr/>
          <p:nvPr/>
        </p:nvSpPr>
        <p:spPr>
          <a:xfrm>
            <a:off x="3624337" y="4891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SBC102-01/029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4499193" y="512292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4549485" y="517322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Text 280"/>
          <p:cNvSpPr/>
          <p:nvPr/>
        </p:nvSpPr>
        <p:spPr>
          <a:xfrm>
            <a:off x="4723221" y="500862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TCCECH-04/034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4958231" y="565356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5008523" y="570385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Text 283"/>
          <p:cNvSpPr/>
          <p:nvPr/>
        </p:nvSpPr>
        <p:spPr>
          <a:xfrm>
            <a:off x="5182259" y="553926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TCCECH-03/036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5379461" y="621544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5429753" y="626574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Text 286"/>
          <p:cNvSpPr/>
          <p:nvPr/>
        </p:nvSpPr>
        <p:spPr>
          <a:xfrm>
            <a:off x="5603489" y="610114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TCCECH-04/035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759700" y="68047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5809992" y="68550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Text 289"/>
          <p:cNvSpPr/>
          <p:nvPr/>
        </p:nvSpPr>
        <p:spPr>
          <a:xfrm>
            <a:off x="5983728" y="66904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TCCECH-03/037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6098574" y="74199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6148866" y="7470283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Text 292"/>
          <p:cNvSpPr/>
          <p:nvPr/>
        </p:nvSpPr>
        <p:spPr>
          <a:xfrm>
            <a:off x="6322602" y="73056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TCCECH-04/036</a:t>
            </a:r>
            <a:endParaRPr lang="en-US" sz="650" dirty="0"/>
          </a:p>
        </p:txBody>
      </p:sp>
      <p:sp>
        <p:nvSpPr>
          <p:cNvPr id="297" name="Text 295"/>
          <p:cNvSpPr/>
          <p:nvPr/>
        </p:nvSpPr>
        <p:spPr>
          <a:xfrm>
            <a:off x="3453824" y="51088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SBC102-02/027</a:t>
            </a:r>
            <a:endParaRPr lang="en-US" sz="650" dirty="0"/>
          </a:p>
        </p:txBody>
      </p:sp>
      <p:sp>
        <p:nvSpPr>
          <p:cNvPr id="300" name="Text 298"/>
          <p:cNvSpPr/>
          <p:nvPr/>
        </p:nvSpPr>
        <p:spPr>
          <a:xfrm>
            <a:off x="4225345" y="4512905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50" b="1">
                <a:solidFill>
                  <a:srgbClr val="1F2937"/>
                </a:solidFill>
                <a:latin typeface="Arial"/>
              </a:rPr>
              <a:t>TCCECH-03/035 + 03/018  (0.49 m apart)</a:t>
            </a:r>
            <a:endParaRPr lang="en-US" sz="650" dirty="0"/>
          </a:p>
        </p:txBody>
      </p:sp>
      <p:sp>
        <p:nvSpPr>
          <p:cNvPr id="304" name="Shape 302"/>
          <p:cNvSpPr/>
          <p:nvPr/>
        </p:nvSpPr>
        <p:spPr>
          <a:xfrm>
            <a:off x="4455208" y="3691535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Text 303"/>
          <p:cNvSpPr/>
          <p:nvPr/>
        </p:nvSpPr>
        <p:spPr>
          <a:xfrm>
            <a:off x="4679236" y="357723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SBC102-01/026</a:t>
            </a:r>
            <a:endParaRPr lang="en-US" sz="650" dirty="0"/>
          </a:p>
        </p:txBody>
      </p:sp>
      <p:sp>
        <p:nvSpPr>
          <p:cNvPr id="306" name="Shape 304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Text 305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1 — 1001  ·  REV P07 (ISSUED)</a:t>
            </a:r>
            <a:endParaRPr lang="en-US" sz="1250" dirty="0"/>
          </a:p>
        </p:txBody>
      </p:sp>
      <p:sp>
        <p:nvSpPr>
          <p:cNvPr id="308" name="Text 306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Document_3 (15 No. LIGHTS LISTED) — FIELD CONDITION GOVERNS</a:t>
            </a:r>
            <a:endParaRPr lang="en-US" sz="800" dirty="0"/>
          </a:p>
        </p:txBody>
      </p:sp>
      <p:sp>
        <p:nvSpPr>
          <p:cNvPr id="309" name="Text 307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10" name="Shape 308"/>
          <p:cNvSpPr/>
          <p:nvPr/>
        </p:nvSpPr>
        <p:spPr>
          <a:xfrm>
            <a:off x="10104120" y="2057400"/>
            <a:ext cx="4709160" cy="250271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Text 309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2" name="Text 310"/>
          <p:cNvSpPr/>
          <p:nvPr/>
        </p:nvSpPr>
        <p:spPr>
          <a:xfrm>
            <a:off x="10241280" y="2386584"/>
            <a:ext cx="4434840" cy="2118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CORE OUT SHALLOW BASE + NEW CABLE: 11 No.   (SEC. CABLE YES / SHALLOW BASE YES)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(6): SBC102-02/024, 01/027, 02/025, 01/028, 02/026, 01/029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(5): TCCECH-04/034, 03/036, 04/035, 03/037, 04/036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— NO CORING: 3 No.   (SEC. CABLE YES / SHALLOW BASE NO)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(1): SBC102-02/027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(2): TCCECH-03/035, 03/018 — 0.49 m apart, one shared label; bases sound, verify at cut line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VERIFIED NOT AFFECTED: SBC102-01/026 (SEC. CABLE NO / SHALLOW BASE NO — no works)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15 No. — 14 secondary cables, 11 core-outs, 0 dummy plates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NOT ON FIELD SHEET — CONFIRM BEFORE WORKS: TCC103-11/021, 11/126, 12/021, 12/022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secondary routes appear to cross the cut; not listed on Document_3 — shown grey, no action assumed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SITE RECORD 23.07.2026: 9 cored + 2 reinstatement completed</a:t>
            </a:r>
          </a:p>
        </p:txBody>
      </p:sp>
      <p:sp>
        <p:nvSpPr>
          <p:cNvPr id="313" name="Shape 311"/>
          <p:cNvSpPr/>
          <p:nvPr/>
        </p:nvSpPr>
        <p:spPr>
          <a:xfrm>
            <a:off x="10104120" y="466984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Text 312"/>
          <p:cNvSpPr/>
          <p:nvPr/>
        </p:nvSpPr>
        <p:spPr>
          <a:xfrm>
            <a:off x="10241280" y="474299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5" name="Text 313"/>
          <p:cNvSpPr/>
          <p:nvPr/>
        </p:nvSpPr>
        <p:spPr>
          <a:xfrm>
            <a:off x="10241280" y="499902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Document_3 — outer ring from the Secondary-cable / Shallow-base columns, inner disc from Duct / Sawcut. Assets not listed on the field sheet are shown grey with no action assumed.</a:t>
            </a:r>
          </a:p>
        </p:txBody>
      </p:sp>
      <p:sp>
        <p:nvSpPr>
          <p:cNvPr id="316" name="Shape 314"/>
          <p:cNvSpPr/>
          <p:nvPr/>
        </p:nvSpPr>
        <p:spPr>
          <a:xfrm>
            <a:off x="10104120" y="7047281"/>
            <a:ext cx="4709160" cy="341985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Text 315"/>
          <p:cNvSpPr/>
          <p:nvPr/>
        </p:nvSpPr>
        <p:spPr>
          <a:xfrm>
            <a:off x="10241280" y="712043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18" name="Shape 316"/>
          <p:cNvSpPr/>
          <p:nvPr/>
        </p:nvSpPr>
        <p:spPr>
          <a:xfrm>
            <a:off x="10305288" y="744504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10351008" y="7490765"/>
            <a:ext cx="100584" cy="100584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Text 318"/>
          <p:cNvSpPr/>
          <p:nvPr/>
        </p:nvSpPr>
        <p:spPr>
          <a:xfrm>
            <a:off x="10616184" y="743132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(DUCT) — outer red / inner blue</a:t>
            </a:r>
            <a:endParaRPr lang="en-US" sz="740" dirty="0"/>
          </a:p>
        </p:txBody>
      </p:sp>
      <p:sp>
        <p:nvSpPr>
          <p:cNvPr id="321" name="Shape 319"/>
          <p:cNvSpPr/>
          <p:nvPr/>
        </p:nvSpPr>
        <p:spPr>
          <a:xfrm>
            <a:off x="10305288" y="771936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10351008" y="7765085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Text 321"/>
          <p:cNvSpPr/>
          <p:nvPr/>
        </p:nvSpPr>
        <p:spPr>
          <a:xfrm>
            <a:off x="10616184" y="770564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(SAWCUT) — outer red / inner orange</a:t>
            </a:r>
            <a:endParaRPr lang="en-US" sz="740" dirty="0"/>
          </a:p>
        </p:txBody>
      </p:sp>
      <p:sp>
        <p:nvSpPr>
          <p:cNvPr id="324" name="Shape 322"/>
          <p:cNvSpPr/>
          <p:nvPr/>
        </p:nvSpPr>
        <p:spPr>
          <a:xfrm>
            <a:off x="10305288" y="7993685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10351008" y="803940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Text 324"/>
          <p:cNvSpPr/>
          <p:nvPr/>
        </p:nvSpPr>
        <p:spPr>
          <a:xfrm>
            <a:off x="10616184" y="797996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27" name="Shape 325"/>
          <p:cNvSpPr/>
          <p:nvPr/>
        </p:nvSpPr>
        <p:spPr>
          <a:xfrm>
            <a:off x="10305288" y="8268005"/>
            <a:ext cx="192024" cy="192024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10351008" y="831372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10616184" y="825428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(SAWCUT) — outer orange / inner green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305288" y="8542325"/>
            <a:ext cx="192024" cy="192024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Text 329"/>
          <p:cNvSpPr/>
          <p:nvPr/>
        </p:nvSpPr>
        <p:spPr>
          <a:xfrm>
            <a:off x="10616184" y="852860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FIELD VERIFIED NOT AFFECTED / NOT ON FIELD SHEET (grey ring)</a:t>
            </a:r>
          </a:p>
        </p:txBody>
      </p:sp>
      <p:sp>
        <p:nvSpPr>
          <p:cNvPr id="332" name="Shape 330"/>
          <p:cNvSpPr/>
          <p:nvPr/>
        </p:nvSpPr>
        <p:spPr>
          <a:xfrm>
            <a:off x="10351008" y="8866937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Text 331"/>
          <p:cNvSpPr/>
          <p:nvPr/>
        </p:nvSpPr>
        <p:spPr>
          <a:xfrm>
            <a:off x="10616184" y="880292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34" name="Shape 332"/>
          <p:cNvSpPr/>
          <p:nvPr/>
        </p:nvSpPr>
        <p:spPr>
          <a:xfrm>
            <a:off x="10268712" y="9186977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35" name="Text 333"/>
          <p:cNvSpPr/>
          <p:nvPr/>
        </p:nvSpPr>
        <p:spPr>
          <a:xfrm>
            <a:off x="10616184" y="907724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36" name="Shape 334"/>
          <p:cNvSpPr/>
          <p:nvPr/>
        </p:nvSpPr>
        <p:spPr>
          <a:xfrm>
            <a:off x="10268712" y="9461297"/>
            <a:ext cx="274320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Text 335"/>
          <p:cNvSpPr/>
          <p:nvPr/>
        </p:nvSpPr>
        <p:spPr>
          <a:xfrm>
            <a:off x="10616184" y="935156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  <p:sp>
        <p:nvSpPr>
          <p:cNvPr id="338" name="Shape 336"/>
          <p:cNvSpPr/>
          <p:nvPr/>
        </p:nvSpPr>
        <p:spPr>
          <a:xfrm>
            <a:off x="10268712" y="9735617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9" name="Text 337"/>
          <p:cNvSpPr/>
          <p:nvPr/>
        </p:nvSpPr>
        <p:spPr>
          <a:xfrm>
            <a:off x="10616184" y="962588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40" name="Shape 338"/>
          <p:cNvSpPr/>
          <p:nvPr/>
        </p:nvSpPr>
        <p:spPr>
          <a:xfrm>
            <a:off x="10268712" y="10009937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Text 339"/>
          <p:cNvSpPr/>
          <p:nvPr/>
        </p:nvSpPr>
        <p:spPr>
          <a:xfrm>
            <a:off x="10616184" y="990020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42" name="Shape 340"/>
          <p:cNvSpPr/>
          <p:nvPr/>
        </p:nvSpPr>
        <p:spPr>
          <a:xfrm>
            <a:off x="10268712" y="10284257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Text 341"/>
          <p:cNvSpPr/>
          <p:nvPr/>
        </p:nvSpPr>
        <p:spPr>
          <a:xfrm>
            <a:off x="10616184" y="1017452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35" name="Grey Highlight">
            <a:extLst>
              <a:ext uri="{FF2B5EF4-FFF2-40B4-BE49-F238E27FC236}">
                <a16:creationId xmlns:a16="http://schemas.microsoft.com/office/drawing/2014/main" id="{246F1E80-1B7C-462F-9F40-F42EF329A5D3}"/>
              </a:ext>
            </a:extLst>
          </p:cNvPr>
          <p:cNvSpPr/>
          <p:nvPr/>
        </p:nvSpPr>
        <p:spPr>
          <a:xfrm rot="18714653">
            <a:off x="3044690" y="4239941"/>
            <a:ext cx="1671160" cy="454665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Shape 170">
            <a:extLst>
              <a:ext uri="{FF2B5EF4-FFF2-40B4-BE49-F238E27FC236}">
                <a16:creationId xmlns:a16="http://schemas.microsoft.com/office/drawing/2014/main" id="{7221B951-0D07-78F9-039D-D3505F67C140}"/>
              </a:ext>
            </a:extLst>
          </p:cNvPr>
          <p:cNvSpPr/>
          <p:nvPr/>
        </p:nvSpPr>
        <p:spPr>
          <a:xfrm>
            <a:off x="6280136" y="644064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170">
            <a:extLst>
              <a:ext uri="{FF2B5EF4-FFF2-40B4-BE49-F238E27FC236}">
                <a16:creationId xmlns:a16="http://schemas.microsoft.com/office/drawing/2014/main" id="{662DE4F9-B73E-E339-8EE9-3ABDEB5EA08A}"/>
              </a:ext>
            </a:extLst>
          </p:cNvPr>
          <p:cNvSpPr/>
          <p:nvPr/>
        </p:nvSpPr>
        <p:spPr>
          <a:xfrm>
            <a:off x="6829184" y="68752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00">
            <a:extLst>
              <a:ext uri="{FF2B5EF4-FFF2-40B4-BE49-F238E27FC236}">
                <a16:creationId xmlns:a16="http://schemas.microsoft.com/office/drawing/2014/main" id="{F8F48875-14A6-115D-5973-674769B5723D}"/>
              </a:ext>
            </a:extLst>
          </p:cNvPr>
          <p:cNvSpPr/>
          <p:nvPr/>
        </p:nvSpPr>
        <p:spPr>
          <a:xfrm>
            <a:off x="5695094" y="6022959"/>
            <a:ext cx="58521" cy="58521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278">
            <a:extLst>
              <a:ext uri="{FF2B5EF4-FFF2-40B4-BE49-F238E27FC236}">
                <a16:creationId xmlns:a16="http://schemas.microsoft.com/office/drawing/2014/main" id="{4ED85B39-9CA1-594D-C992-008D3625D99B}"/>
              </a:ext>
            </a:extLst>
          </p:cNvPr>
          <p:cNvSpPr/>
          <p:nvPr/>
        </p:nvSpPr>
        <p:spPr>
          <a:xfrm>
            <a:off x="5630525" y="5932162"/>
            <a:ext cx="210312" cy="210312"/>
          </a:xfrm>
          <a:prstGeom prst="ellipse">
            <a:avLst/>
          </a:prstGeom>
          <a:noFill/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146">
            <a:extLst>
              <a:ext uri="{FF2B5EF4-FFF2-40B4-BE49-F238E27FC236}">
                <a16:creationId xmlns:a16="http://schemas.microsoft.com/office/drawing/2014/main" id="{B15E7995-DB0D-EFB0-3600-AA7BC9EFE817}"/>
              </a:ext>
            </a:extLst>
          </p:cNvPr>
          <p:cNvSpPr/>
          <p:nvPr/>
        </p:nvSpPr>
        <p:spPr>
          <a:xfrm flipH="1">
            <a:off x="4327634" y="7470282"/>
            <a:ext cx="1848301" cy="37956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70">
            <a:extLst>
              <a:ext uri="{FF2B5EF4-FFF2-40B4-BE49-F238E27FC236}">
                <a16:creationId xmlns:a16="http://schemas.microsoft.com/office/drawing/2014/main" id="{A8223C1A-FD59-957F-E689-730AD440F6AD}"/>
              </a:ext>
            </a:extLst>
          </p:cNvPr>
          <p:cNvSpPr/>
          <p:nvPr/>
        </p:nvSpPr>
        <p:spPr>
          <a:xfrm>
            <a:off x="4537857" y="37614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02">
            <a:extLst>
              <a:ext uri="{FF2B5EF4-FFF2-40B4-BE49-F238E27FC236}">
                <a16:creationId xmlns:a16="http://schemas.microsoft.com/office/drawing/2014/main" id="{4ADD28C2-0E55-FA3A-1A77-4EDB5A3435C1}"/>
              </a:ext>
            </a:extLst>
          </p:cNvPr>
          <p:cNvSpPr/>
          <p:nvPr/>
        </p:nvSpPr>
        <p:spPr>
          <a:xfrm>
            <a:off x="5103758" y="5448718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171">
            <a:extLst>
              <a:ext uri="{FF2B5EF4-FFF2-40B4-BE49-F238E27FC236}">
                <a16:creationId xmlns:a16="http://schemas.microsoft.com/office/drawing/2014/main" id="{54D82B85-A5FF-E1D9-9160-FC6CA81B1A65}"/>
              </a:ext>
            </a:extLst>
          </p:cNvPr>
          <p:cNvSpPr/>
          <p:nvPr/>
        </p:nvSpPr>
        <p:spPr>
          <a:xfrm>
            <a:off x="5182772" y="55281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02">
            <a:extLst>
              <a:ext uri="{FF2B5EF4-FFF2-40B4-BE49-F238E27FC236}">
                <a16:creationId xmlns:a16="http://schemas.microsoft.com/office/drawing/2014/main" id="{14FA482E-7F94-AAB6-D137-D95AAC9E7B05}"/>
              </a:ext>
            </a:extLst>
          </p:cNvPr>
          <p:cNvSpPr/>
          <p:nvPr/>
        </p:nvSpPr>
        <p:spPr>
          <a:xfrm>
            <a:off x="6215341" y="6363782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02">
            <a:extLst>
              <a:ext uri="{FF2B5EF4-FFF2-40B4-BE49-F238E27FC236}">
                <a16:creationId xmlns:a16="http://schemas.microsoft.com/office/drawing/2014/main" id="{4B1B3851-4D63-D8B8-0273-172A4103567C}"/>
              </a:ext>
            </a:extLst>
          </p:cNvPr>
          <p:cNvSpPr/>
          <p:nvPr/>
        </p:nvSpPr>
        <p:spPr>
          <a:xfrm>
            <a:off x="6756893" y="6777533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02">
            <a:extLst>
              <a:ext uri="{FF2B5EF4-FFF2-40B4-BE49-F238E27FC236}">
                <a16:creationId xmlns:a16="http://schemas.microsoft.com/office/drawing/2014/main" id="{D33705A0-B1CE-D896-972C-F3CBA8F6F186}"/>
              </a:ext>
            </a:extLst>
          </p:cNvPr>
          <p:cNvSpPr/>
          <p:nvPr/>
        </p:nvSpPr>
        <p:spPr>
          <a:xfrm>
            <a:off x="7304051" y="7263859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Grey Highlight">
            <a:extLst>
              <a:ext uri="{FF2B5EF4-FFF2-40B4-BE49-F238E27FC236}">
                <a16:creationId xmlns:a16="http://schemas.microsoft.com/office/drawing/2014/main" id="{0A0C7A60-E0FA-4ED9-8E0F-4C2F1A8722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8714653">
            <a:off x="4775653" y="4280508"/>
            <a:ext cx="778021" cy="3765814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7" name="Shape 144">
            <a:extLst>
              <a:ext uri="{FF2B5EF4-FFF2-40B4-BE49-F238E27FC236}">
                <a16:creationId xmlns:a16="http://schemas.microsoft.com/office/drawing/2014/main" id="{5E3C2CB6-75CD-7E8E-ED54-62C7C65286C8}"/>
              </a:ext>
            </a:extLst>
          </p:cNvPr>
          <p:cNvSpPr/>
          <p:nvPr/>
        </p:nvSpPr>
        <p:spPr>
          <a:xfrm flipV="1">
            <a:off x="3624336" y="8042362"/>
            <a:ext cx="474719" cy="30316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149">
            <a:extLst>
              <a:ext uri="{FF2B5EF4-FFF2-40B4-BE49-F238E27FC236}">
                <a16:creationId xmlns:a16="http://schemas.microsoft.com/office/drawing/2014/main" id="{1A51C71C-549F-C5ED-3062-6CC8DFE36A14}"/>
              </a:ext>
            </a:extLst>
          </p:cNvPr>
          <p:cNvSpPr/>
          <p:nvPr/>
        </p:nvSpPr>
        <p:spPr>
          <a:xfrm>
            <a:off x="3487475" y="8280021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149">
            <a:extLst>
              <a:ext uri="{FF2B5EF4-FFF2-40B4-BE49-F238E27FC236}">
                <a16:creationId xmlns:a16="http://schemas.microsoft.com/office/drawing/2014/main" id="{92B39F82-641C-9A6F-074E-96ABC77E3E64}"/>
              </a:ext>
            </a:extLst>
          </p:cNvPr>
          <p:cNvSpPr/>
          <p:nvPr/>
        </p:nvSpPr>
        <p:spPr>
          <a:xfrm>
            <a:off x="4600010" y="6265795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879555BC-1A8C-CABD-F564-6DF188772C03}"/>
              </a:ext>
            </a:extLst>
          </p:cNvPr>
          <p:cNvCxnSpPr/>
          <p:nvPr/>
        </p:nvCxnSpPr>
        <p:spPr>
          <a:xfrm>
            <a:off x="0" y="3038521"/>
            <a:ext cx="4549485" cy="3906304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5" name="Picture 37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37FBC65-0A27-B45C-A746-664A2E926D76}"/>
              </a:ext>
            </a:extLst>
          </p:cNvPr>
          <p:cNvSpPr txBox="1"/>
          <p:nvPr/>
        </p:nvSpPr>
        <p:spPr>
          <a:xfrm>
            <a:off x="5786671" y="5858817"/>
            <a:ext cx="99140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>TCC103-11/021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C693A0-3602-FE91-F942-02715422EA80}"/>
              </a:ext>
            </a:extLst>
          </p:cNvPr>
          <p:cNvSpPr txBox="1"/>
          <p:nvPr/>
        </p:nvSpPr>
        <p:spPr>
          <a:xfrm>
            <a:off x="6366286" y="6340617"/>
            <a:ext cx="93776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 xml:space="preserve">TCC103-11/126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F0B66D-52A1-A49A-7E09-7CB6CCAC5DC7}"/>
              </a:ext>
            </a:extLst>
          </p:cNvPr>
          <p:cNvSpPr txBox="1"/>
          <p:nvPr/>
        </p:nvSpPr>
        <p:spPr>
          <a:xfrm>
            <a:off x="6892547" y="6636083"/>
            <a:ext cx="110467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>TCC103-12/021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FBD051-289C-C914-65AD-808E4BBD068B}"/>
              </a:ext>
            </a:extLst>
          </p:cNvPr>
          <p:cNvSpPr txBox="1"/>
          <p:nvPr/>
        </p:nvSpPr>
        <p:spPr>
          <a:xfrm>
            <a:off x="4655169" y="5143911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b="1" dirty="0">
                <a:solidFill>
                  <a:srgbClr val="1E2761"/>
                </a:solidFill>
                <a:latin typeface="Arial"/>
                <a:cs typeface="Arial"/>
              </a:rPr>
              <a:t>TCC103-12/022</a:t>
            </a:r>
          </a:p>
        </p:txBody>
      </p:sp>
      <p:sp>
        <p:nvSpPr>
          <p:cNvPr id="53" name="Shape 171">
            <a:extLst>
              <a:ext uri="{FF2B5EF4-FFF2-40B4-BE49-F238E27FC236}">
                <a16:creationId xmlns:a16="http://schemas.microsoft.com/office/drawing/2014/main" id="{532F0977-AC9F-5141-D4F2-6F27258D6E1E}"/>
              </a:ext>
            </a:extLst>
          </p:cNvPr>
          <p:cNvSpPr/>
          <p:nvPr/>
        </p:nvSpPr>
        <p:spPr>
          <a:xfrm>
            <a:off x="3552099" y="424015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302">
            <a:extLst>
              <a:ext uri="{FF2B5EF4-FFF2-40B4-BE49-F238E27FC236}">
                <a16:creationId xmlns:a16="http://schemas.microsoft.com/office/drawing/2014/main" id="{06E9AD3F-234C-0497-7DCA-40053624211B}"/>
              </a:ext>
            </a:extLst>
          </p:cNvPr>
          <p:cNvSpPr/>
          <p:nvPr/>
        </p:nvSpPr>
        <p:spPr>
          <a:xfrm>
            <a:off x="3471001" y="4148546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207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2   ·   DWG NO AUH-SK-AGL-TWYE-001-1002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571627" y="10137349"/>
            <a:ext cx="243215" cy="19537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44963" y="9313422"/>
            <a:ext cx="1026664" cy="82392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17861" y="8488268"/>
            <a:ext cx="1027102" cy="825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93477" y="7665744"/>
            <a:ext cx="1024384" cy="82252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66813" y="6842694"/>
            <a:ext cx="1026664" cy="8230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65936" y="6841993"/>
            <a:ext cx="91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39097" y="6016926"/>
            <a:ext cx="1026839" cy="8250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15064" y="5193701"/>
            <a:ext cx="1024033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89277" y="4371879"/>
            <a:ext cx="1025787" cy="8218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5577" y="3590641"/>
            <a:ext cx="973700" cy="7812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807511" y="7740631"/>
            <a:ext cx="972472" cy="78043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80672" y="6915739"/>
            <a:ext cx="1026839" cy="8248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755323" y="6092339"/>
            <a:ext cx="1025349" cy="82340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28747" y="5269377"/>
            <a:ext cx="1026576" cy="8229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2434" y="4444748"/>
            <a:ext cx="1026313" cy="82462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78050" y="3621260"/>
            <a:ext cx="1024384" cy="8234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76734" y="3620208"/>
            <a:ext cx="1315" cy="10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650597" y="2798123"/>
            <a:ext cx="1026138" cy="822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624722" y="1974898"/>
            <a:ext cx="1025875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99198" y="1151146"/>
            <a:ext cx="1025524" cy="823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5577" y="1003267"/>
            <a:ext cx="183621" cy="1478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202989" y="9351041"/>
            <a:ext cx="576994" cy="46351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6149" y="8526939"/>
            <a:ext cx="1026839" cy="82410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9310" y="7702047"/>
            <a:ext cx="1026839" cy="82489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124575" y="6879173"/>
            <a:ext cx="1024735" cy="822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97561" y="6055860"/>
            <a:ext cx="1027015" cy="82331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070722" y="5230793"/>
            <a:ext cx="1026839" cy="8250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046250" y="4407218"/>
            <a:ext cx="1024472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019761" y="3584869"/>
            <a:ext cx="1026488" cy="82234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93361" y="2761293"/>
            <a:ext cx="1026401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15577" y="2297161"/>
            <a:ext cx="577783" cy="4641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 flipV="1">
            <a:off x="9202989" y="8952823"/>
            <a:ext cx="576994" cy="3982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 flipV="1">
            <a:off x="8176149" y="8387952"/>
            <a:ext cx="1603833" cy="13898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2019761" y="2025670"/>
            <a:ext cx="485271" cy="155920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993361" y="2025670"/>
            <a:ext cx="1511672" cy="73562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 flipV="1">
            <a:off x="4070722" y="4187030"/>
            <a:ext cx="1528947" cy="104376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 flipV="1">
            <a:off x="5097561" y="4187030"/>
            <a:ext cx="502108" cy="186883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599668" y="4187030"/>
            <a:ext cx="524907" cy="269214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538286" y="4125648"/>
            <a:ext cx="122765" cy="122765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 flipV="1">
            <a:off x="7712800" y="8261679"/>
            <a:ext cx="116714" cy="117328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829514" y="8261679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341473" y="292375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(700.3 m²)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773846" y="78828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360110" y="51331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119085" y="62053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642726" y="18073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475772" y="19964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9173728" y="932178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146889" y="849767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4041461" y="52015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016989" y="43779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990501" y="355560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64100" y="27320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68300" y="60265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095315" y="68499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120049" y="76727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570408" y="415776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915815" y="372633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768491" y="266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5861230" y="780354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RRM.545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2447494" y="505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RRM.546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7206469" y="612596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RRM.554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1730110" y="172800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RRM.556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2563156" y="19170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&amp;.24043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8979408" y="92424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TCCECH.03.010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8234272" y="841833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TCCECH.04.009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2077885" y="34762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TCCECH.04.006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1051484" y="26526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5657792" y="40784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500" dirty="0"/>
          </a:p>
        </p:txBody>
      </p:sp>
      <p:sp>
        <p:nvSpPr>
          <p:cNvPr id="87" name="Text 85"/>
          <p:cNvSpPr/>
          <p:nvPr/>
        </p:nvSpPr>
        <p:spPr>
          <a:xfrm>
            <a:off x="6003199" y="364699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HH.E.055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4855875" y="25877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HH.E.056</a:t>
            </a:r>
            <a:endParaRPr lang="en-US" sz="500" dirty="0"/>
          </a:p>
        </p:txBody>
      </p:sp>
      <p:sp>
        <p:nvSpPr>
          <p:cNvPr id="89" name="Shape 87"/>
          <p:cNvSpPr/>
          <p:nvPr/>
        </p:nvSpPr>
        <p:spPr>
          <a:xfrm>
            <a:off x="2941094" y="430206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991386" y="435235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3165122" y="418776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TCCECH-03/007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3965566" y="512563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4015858" y="517592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4189594" y="501133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TCCECH-04/007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992405" y="595070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42697" y="600099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5216433" y="583640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TCCECH-03/008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6019419" y="677401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069711" y="682430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6243447" y="665971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TCCECH-04/008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7044154" y="7596891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7094446" y="7647183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7268182" y="74825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TCCECH-03/009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620509" y="3379485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670801" y="3429777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3844537" y="326518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2 — 1002  ·  REV P07 (ISSUED)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(5 No. LIGHTS LISTED) — FIELD CONDITION GOVERNS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10104120" y="2057400"/>
            <a:ext cx="4709160" cy="1577340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10241280" y="2386584"/>
            <a:ext cx="4434840" cy="11932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5 No.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• TCCECH-03/007, 04/007, 03/008, 04/008, 03/009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 BASE COLUMN LEFT BLANK ON FIELD SHEET — READ AS NOT AFFECTED; NO ASSET LIES INSIDE THE MILLING POLYGON. CONFIRM AT CUT LINE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 (0.41 m from cut): REMOVE / PROTECT BEFORE SAWCUT, RE-FIX AFTER PAVING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TCCECH.03, TCCECH.04</a:t>
            </a:r>
            <a:endParaRPr lang="en-US" sz="760" dirty="0"/>
          </a:p>
        </p:txBody>
      </p:sp>
      <p:sp>
        <p:nvSpPr>
          <p:cNvPr id="114" name="Shape 112"/>
          <p:cNvSpPr/>
          <p:nvPr/>
        </p:nvSpPr>
        <p:spPr>
          <a:xfrm>
            <a:off x="10104120" y="3744468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10241280" y="3817620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10241280" y="4073652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(2nd table) — outer ring from the Secondary-cable / Shallow-base columns, inner disc from Duct / Sawcut. Assets not listed on the field sheet are shown grey with no action assumed.</a:t>
            </a:r>
          </a:p>
        </p:txBody>
      </p:sp>
      <p:sp>
        <p:nvSpPr>
          <p:cNvPr id="117" name="Shape 115"/>
          <p:cNvSpPr/>
          <p:nvPr/>
        </p:nvSpPr>
        <p:spPr>
          <a:xfrm>
            <a:off x="10104120" y="6121908"/>
            <a:ext cx="4709160" cy="259689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16"/>
          <p:cNvSpPr/>
          <p:nvPr/>
        </p:nvSpPr>
        <p:spPr>
          <a:xfrm>
            <a:off x="10241280" y="6195060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10305288" y="6519672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10351008" y="6565392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10616184" y="650595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122" name="Shape 120"/>
          <p:cNvSpPr/>
          <p:nvPr/>
        </p:nvSpPr>
        <p:spPr>
          <a:xfrm>
            <a:off x="10305288" y="6793992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0351008" y="6839712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22"/>
          <p:cNvSpPr/>
          <p:nvPr/>
        </p:nvSpPr>
        <p:spPr>
          <a:xfrm>
            <a:off x="10616184" y="678027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125" name="Shape 123"/>
          <p:cNvSpPr/>
          <p:nvPr/>
        </p:nvSpPr>
        <p:spPr>
          <a:xfrm>
            <a:off x="10351008" y="7118604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10616184" y="705459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127" name="Shape 125"/>
          <p:cNvSpPr/>
          <p:nvPr/>
        </p:nvSpPr>
        <p:spPr>
          <a:xfrm>
            <a:off x="10268712" y="7438644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126"/>
          <p:cNvSpPr/>
          <p:nvPr/>
        </p:nvSpPr>
        <p:spPr>
          <a:xfrm>
            <a:off x="10616184" y="732891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129" name="Shape 127"/>
          <p:cNvSpPr/>
          <p:nvPr/>
        </p:nvSpPr>
        <p:spPr>
          <a:xfrm>
            <a:off x="10268712" y="7712964"/>
            <a:ext cx="274320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10616184" y="760323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  <p:sp>
        <p:nvSpPr>
          <p:cNvPr id="131" name="Shape 129"/>
          <p:cNvSpPr/>
          <p:nvPr/>
        </p:nvSpPr>
        <p:spPr>
          <a:xfrm>
            <a:off x="10268712" y="7987284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30"/>
          <p:cNvSpPr/>
          <p:nvPr/>
        </p:nvSpPr>
        <p:spPr>
          <a:xfrm>
            <a:off x="10616184" y="787755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133" name="Shape 131"/>
          <p:cNvSpPr/>
          <p:nvPr/>
        </p:nvSpPr>
        <p:spPr>
          <a:xfrm>
            <a:off x="10268712" y="8261604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132"/>
          <p:cNvSpPr/>
          <p:nvPr/>
        </p:nvSpPr>
        <p:spPr>
          <a:xfrm>
            <a:off x="10616184" y="815187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135" name="Shape 133"/>
          <p:cNvSpPr/>
          <p:nvPr/>
        </p:nvSpPr>
        <p:spPr>
          <a:xfrm>
            <a:off x="10268712" y="8535924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10616184" y="8426196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138" name="Shape 40">
            <a:extLst>
              <a:ext uri="{FF2B5EF4-FFF2-40B4-BE49-F238E27FC236}">
                <a16:creationId xmlns:a16="http://schemas.microsoft.com/office/drawing/2014/main" id="{D27C8498-7573-E4E0-41E7-881526D3264B}"/>
              </a:ext>
            </a:extLst>
          </p:cNvPr>
          <p:cNvSpPr/>
          <p:nvPr/>
        </p:nvSpPr>
        <p:spPr>
          <a:xfrm flipV="1">
            <a:off x="3104373" y="4157768"/>
            <a:ext cx="2495295" cy="19458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42">
            <a:extLst>
              <a:ext uri="{FF2B5EF4-FFF2-40B4-BE49-F238E27FC236}">
                <a16:creationId xmlns:a16="http://schemas.microsoft.com/office/drawing/2014/main" id="{03C16E8E-5297-17CC-6AFE-E3926CB1E9DB}"/>
              </a:ext>
            </a:extLst>
          </p:cNvPr>
          <p:cNvSpPr/>
          <p:nvPr/>
        </p:nvSpPr>
        <p:spPr>
          <a:xfrm>
            <a:off x="5657793" y="4198800"/>
            <a:ext cx="1416398" cy="335258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Grey Highlight">
            <a:extLst>
              <a:ext uri="{FF2B5EF4-FFF2-40B4-BE49-F238E27FC236}">
                <a16:creationId xmlns:a16="http://schemas.microsoft.com/office/drawing/2014/main" id="{B88AC3D4-884E-8C4B-0883-3978141A2CB0}"/>
              </a:ext>
            </a:extLst>
          </p:cNvPr>
          <p:cNvSpPr/>
          <p:nvPr/>
        </p:nvSpPr>
        <p:spPr>
          <a:xfrm rot="18714653">
            <a:off x="4996878" y="3549403"/>
            <a:ext cx="525824" cy="3860156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0354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3   ·   DWG NO AUH-SK-AGL-TWYE-001-1003 REV P07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55348" y="1051881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415709" y="9583565"/>
            <a:ext cx="283772" cy="2279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14605" y="9582661"/>
            <a:ext cx="110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30317" y="9112099"/>
            <a:ext cx="584288" cy="4705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44925" y="8643746"/>
            <a:ext cx="585392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43018" y="8642240"/>
            <a:ext cx="1907" cy="15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56723" y="8171377"/>
            <a:ext cx="586295" cy="4708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69022" y="7703023"/>
            <a:ext cx="587701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62799" y="7698004"/>
            <a:ext cx="6223" cy="50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79013" y="7226138"/>
            <a:ext cx="583786" cy="4718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93521" y="6754572"/>
            <a:ext cx="585492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07928" y="6287523"/>
            <a:ext cx="585593" cy="4670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05419" y="6285515"/>
            <a:ext cx="2509" cy="2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23339" y="5818366"/>
            <a:ext cx="5820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520479" y="5656661"/>
            <a:ext cx="202860" cy="1617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15762" y="5652846"/>
            <a:ext cx="4718" cy="38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43141" y="5433124"/>
            <a:ext cx="272621" cy="21972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34233" y="5383137"/>
            <a:ext cx="108908" cy="499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028136" y="5327629"/>
            <a:ext cx="106097" cy="555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928362" y="5261280"/>
            <a:ext cx="99774" cy="6634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836016" y="5185095"/>
            <a:ext cx="92346" cy="761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752002" y="5099675"/>
            <a:ext cx="84015" cy="8542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740358" y="5085121"/>
            <a:ext cx="11644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665076" y="5068659"/>
            <a:ext cx="75282" cy="16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559782" y="5034933"/>
            <a:ext cx="105294" cy="3372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458202" y="4991269"/>
            <a:ext cx="101580" cy="436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361339" y="4938070"/>
            <a:ext cx="96863" cy="531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269897" y="4875837"/>
            <a:ext cx="91442" cy="622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184878" y="4805172"/>
            <a:ext cx="85018" cy="706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148342" y="4768334"/>
            <a:ext cx="36537" cy="368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67639" y="4756490"/>
            <a:ext cx="80702" cy="118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60036" y="4730091"/>
            <a:ext cx="107603" cy="263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55445" y="4693454"/>
            <a:ext cx="104592" cy="3663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54868" y="4646980"/>
            <a:ext cx="100577" cy="464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59210" y="4590970"/>
            <a:ext cx="95658" cy="5601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69374" y="4526128"/>
            <a:ext cx="89836" cy="6484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5145" y="4496115"/>
            <a:ext cx="34228" cy="300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6300" y="4494810"/>
            <a:ext cx="38845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85284" y="4480256"/>
            <a:ext cx="111016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" y="4465190"/>
            <a:ext cx="65244" cy="15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862125" y="7784127"/>
            <a:ext cx="1013395" cy="814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276834" y="7312762"/>
            <a:ext cx="585292" cy="4713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273823" y="7310453"/>
            <a:ext cx="3011" cy="2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687929" y="6841698"/>
            <a:ext cx="585894" cy="468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100830" y="6370132"/>
            <a:ext cx="587098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097317" y="6367221"/>
            <a:ext cx="3513" cy="291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10921" y="5899972"/>
            <a:ext cx="586396" cy="4672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929444" y="5430012"/>
            <a:ext cx="581477" cy="469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927838" y="5428707"/>
            <a:ext cx="1606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39435" y="4954833"/>
            <a:ext cx="588403" cy="4738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335319" y="4951520"/>
            <a:ext cx="4115" cy="33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748924" y="4483769"/>
            <a:ext cx="586396" cy="467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166744" y="4016620"/>
            <a:ext cx="5821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164034" y="4014512"/>
            <a:ext cx="2710" cy="2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962278" y="3853609"/>
            <a:ext cx="201755" cy="1609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579947" y="3545455"/>
            <a:ext cx="382332" cy="308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503259" y="3488643"/>
            <a:ext cx="76687" cy="5681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422156" y="3438455"/>
            <a:ext cx="81104" cy="501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378392" y="3416071"/>
            <a:ext cx="43764" cy="2238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252019" y="3239610"/>
            <a:ext cx="126373" cy="1764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182257" y="3151581"/>
            <a:ext cx="69761" cy="8803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104366" y="3070778"/>
            <a:ext cx="77892" cy="808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018946" y="2997905"/>
            <a:ext cx="85420" cy="7287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2926801" y="2933665"/>
            <a:ext cx="92145" cy="64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868683" y="2901042"/>
            <a:ext cx="58118" cy="326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845798" y="2847643"/>
            <a:ext cx="22886" cy="5340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790290" y="2746865"/>
            <a:ext cx="55508" cy="1007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724945" y="2652110"/>
            <a:ext cx="65345" cy="94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650466" y="2564281"/>
            <a:ext cx="74479" cy="8782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567656" y="2484382"/>
            <a:ext cx="82810" cy="798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477318" y="2413115"/>
            <a:ext cx="90338" cy="71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439476" y="2388925"/>
            <a:ext cx="37842" cy="241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413178" y="2315851"/>
            <a:ext cx="26298" cy="730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365599" y="2215475"/>
            <a:ext cx="47578" cy="10037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308486" y="2120018"/>
            <a:ext cx="57114" cy="9545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914812" y="1528102"/>
            <a:ext cx="393674" cy="591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785546" y="1298442"/>
            <a:ext cx="129266" cy="2296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9313315" y="9627228"/>
            <a:ext cx="229676" cy="1842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8138616" y="8683595"/>
            <a:ext cx="1174699" cy="9436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552823" y="8211828"/>
            <a:ext cx="585793" cy="4717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965925" y="7742371"/>
            <a:ext cx="586898" cy="46945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377923" y="7270002"/>
            <a:ext cx="588002" cy="4723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5788416" y="6800243"/>
            <a:ext cx="589507" cy="469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5203827" y="6327774"/>
            <a:ext cx="584589" cy="4724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615424" y="5853899"/>
            <a:ext cx="588403" cy="473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027824" y="5385144"/>
            <a:ext cx="587600" cy="46875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444339" y="4916991"/>
            <a:ext cx="583485" cy="46815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3240174" y="4754181"/>
            <a:ext cx="204164" cy="162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855534" y="4444120"/>
            <a:ext cx="384640" cy="31006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615937" y="4334109"/>
            <a:ext cx="239597" cy="1100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2313404" y="3911526"/>
            <a:ext cx="302533" cy="4225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313404" y="3911526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 flipV="1">
            <a:off x="1964498" y="3911526"/>
            <a:ext cx="348906" cy="423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808413" y="3353838"/>
            <a:ext cx="156084" cy="60004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1289068" y="3353838"/>
            <a:ext cx="519345" cy="269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090826" y="3028419"/>
            <a:ext cx="198242" cy="59522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1090826" y="2759312"/>
            <a:ext cx="256561" cy="26910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929924" y="2131662"/>
            <a:ext cx="417463" cy="62765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61544" y="1477211"/>
            <a:ext cx="368379" cy="65445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78115" y="1298442"/>
            <a:ext cx="83429" cy="1787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320040" y="3256882"/>
            <a:ext cx="270413" cy="8742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20040" y="3267801"/>
            <a:ext cx="270413" cy="7650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4461748" y="4530444"/>
            <a:ext cx="189108" cy="236285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4273042" y="4766728"/>
            <a:ext cx="188707" cy="236686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4085941" y="5003415"/>
            <a:ext cx="187101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3897134" y="5238696"/>
            <a:ext cx="188807" cy="23337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3707324" y="5472070"/>
            <a:ext cx="189811" cy="234679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3518918" y="5706748"/>
            <a:ext cx="188405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 flipV="1">
            <a:off x="3331316" y="5942029"/>
            <a:ext cx="187602" cy="235080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138616" y="6554322"/>
            <a:ext cx="580574" cy="212927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6965925" y="6554322"/>
            <a:ext cx="1753265" cy="118804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9313315" y="9353643"/>
            <a:ext cx="562205" cy="27358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6377923" y="6554322"/>
            <a:ext cx="2341267" cy="71568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7552823" y="6554322"/>
            <a:ext cx="1166367" cy="16575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320040" y="3344302"/>
            <a:ext cx="270413" cy="19211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1676720" y="3953885"/>
            <a:ext cx="287778" cy="23469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1676720" y="4334109"/>
            <a:ext cx="939217" cy="196676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1289068" y="3623648"/>
            <a:ext cx="387652" cy="26772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676720" y="5706748"/>
            <a:ext cx="2030603" cy="5941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1676720" y="5942029"/>
            <a:ext cx="1842198" cy="35884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1676720" y="6177110"/>
            <a:ext cx="1654596" cy="12376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 flipV="1">
            <a:off x="1090826" y="1298442"/>
            <a:ext cx="800030" cy="172997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 flipV="1">
            <a:off x="1676720" y="3975867"/>
            <a:ext cx="590812" cy="23250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1676720" y="4754181"/>
            <a:ext cx="1563454" cy="154669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61544" y="1298442"/>
            <a:ext cx="266014" cy="17876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1347387" y="1298442"/>
            <a:ext cx="598309" cy="146087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1676720" y="4444120"/>
            <a:ext cx="1178814" cy="1856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929924" y="1298442"/>
            <a:ext cx="641799" cy="83322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1808413" y="2767442"/>
            <a:ext cx="2698404" cy="58639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1676720" y="4916991"/>
            <a:ext cx="1767619" cy="138388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1676720" y="3911526"/>
            <a:ext cx="636684" cy="238934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5788416" y="5207981"/>
            <a:ext cx="2251129" cy="159226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03827" y="3840862"/>
            <a:ext cx="282658" cy="248691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615424" y="3840862"/>
            <a:ext cx="871062" cy="201303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4027824" y="3840862"/>
            <a:ext cx="1458662" cy="15442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4650857" y="3840862"/>
            <a:ext cx="835629" cy="6895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461748" y="3840862"/>
            <a:ext cx="1024737" cy="92586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73042" y="3840862"/>
            <a:ext cx="1213444" cy="116255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085941" y="3840862"/>
            <a:ext cx="1400544" cy="139783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3897134" y="3840862"/>
            <a:ext cx="1589351" cy="163120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5416222" y="377059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7969282" y="513771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870122" y="7028096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2191911" y="403690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(614.4 m²)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8102128" y="69599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4477556" y="27381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8109355" y="865433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936664" y="77131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4251911" y="7016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2550942" y="58420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247651" y="2605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2300003" y="14441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1249569" y="51190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4329502" y="36588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731117" y="78138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284054" y="95979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6348663" y="7240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5759155" y="67709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5174566" y="62985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586163" y="58246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7523562" y="81825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561192" y="33150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935237" y="392462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2586676" y="430484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259808" y="35943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823173" y="325431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500107" y="35661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66101" y="392231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800878" y="43224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998563" y="53558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3867873" y="54428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3678063" y="56774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3489657" y="59127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3302055" y="61478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1061565" y="299915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238271" y="3946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210913" y="472492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32284" y="144795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318126" y="27300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2826273" y="441486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900663" y="21024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1779152" y="33245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415078" y="488773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284143" y="388226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5457225" y="38116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8689929" y="652506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9115523" y="60539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5743095" y="31713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5953985" y="3341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280619" y="17448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8010284" y="517872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7049386" y="41946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1647459" y="62716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632035" y="204006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990299" y="659401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1638325" y="83469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755642" y="23427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Text 208"/>
          <p:cNvSpPr/>
          <p:nvPr/>
        </p:nvSpPr>
        <p:spPr>
          <a:xfrm>
            <a:off x="8193953" y="687684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RRM.283</a:t>
            </a:r>
            <a:endParaRPr lang="en-US" sz="500" dirty="0"/>
          </a:p>
        </p:txBody>
      </p:sp>
      <p:sp>
        <p:nvSpPr>
          <p:cNvPr id="211" name="Text 209"/>
          <p:cNvSpPr/>
          <p:nvPr/>
        </p:nvSpPr>
        <p:spPr>
          <a:xfrm>
            <a:off x="4569381" y="265503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P4.036.399</a:t>
            </a:r>
            <a:endParaRPr lang="en-US" sz="500" dirty="0"/>
          </a:p>
        </p:txBody>
      </p:sp>
      <p:sp>
        <p:nvSpPr>
          <p:cNvPr id="212" name="Text 210"/>
          <p:cNvSpPr/>
          <p:nvPr/>
        </p:nvSpPr>
        <p:spPr>
          <a:xfrm>
            <a:off x="8201180" y="857118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TCCECH.04.005</a:t>
            </a:r>
            <a:endParaRPr lang="en-US" sz="500" dirty="0"/>
          </a:p>
        </p:txBody>
      </p:sp>
      <p:sp>
        <p:nvSpPr>
          <p:cNvPr id="213" name="Text 211"/>
          <p:cNvSpPr/>
          <p:nvPr/>
        </p:nvSpPr>
        <p:spPr>
          <a:xfrm>
            <a:off x="7028489" y="76299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TCCECH.04.004</a:t>
            </a:r>
            <a:endParaRPr lang="en-US" sz="500" dirty="0"/>
          </a:p>
        </p:txBody>
      </p:sp>
      <p:sp>
        <p:nvSpPr>
          <p:cNvPr id="214" name="Text 212"/>
          <p:cNvSpPr/>
          <p:nvPr/>
        </p:nvSpPr>
        <p:spPr>
          <a:xfrm>
            <a:off x="4343736" y="693355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RRM.547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2642767" y="575885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RRM.548</a:t>
            </a:r>
            <a:endParaRPr lang="en-US" sz="500" dirty="0"/>
          </a:p>
        </p:txBody>
      </p:sp>
      <p:sp>
        <p:nvSpPr>
          <p:cNvPr id="216" name="Text 214"/>
          <p:cNvSpPr/>
          <p:nvPr/>
        </p:nvSpPr>
        <p:spPr>
          <a:xfrm>
            <a:off x="3339475" y="25228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91827" y="13609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RRM.559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1341394" y="50359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RRM.655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421326" y="357568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RRM.669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2822941" y="773073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HH.E.144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95148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6440487" y="7157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TCCECH.03.004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7615386" y="80994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TCCECH.03.005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653016" y="32318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TCCECH.05.034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027061" y="384147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TCCECH.05.033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678500" y="422170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TCCECH.06.035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351632" y="351123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TCCECH.06.036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914997" y="317116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EL.EBASE.13328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1591932" y="348303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EL.EBASE.13329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2257926" y="38391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EL.EBASE.13330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2892702" y="423926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EL.EBASE.13331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1153390" y="29160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TCC102.01.052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2330096" y="386345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TCC102.02.050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3302738" y="464177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TCCECH.03.001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624108" y="136480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TCCECH.05.016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1409950" y="26469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TCCECH.05.017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2918098" y="433171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TCCECH.06.019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992487" y="20192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TCCECH.06.017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1870977" y="324142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TCCECH.06.018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3506902" y="48045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TCCECH.04.001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2375968" y="379911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TCCECH.05.018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5549049" y="37284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781754" y="64419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P4.039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59708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HH.E.057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5834919" y="308815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HH.E.061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6045809" y="3258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HH.E.060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4372443" y="166171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HH.E4.010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102109" y="509557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7141211" y="41114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HH.E.059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1739284" y="61884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P4.041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4723859" y="195691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MH.E.015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1082123" y="651087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MH.E.023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1730149" y="826383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SGC102.02.015</a:t>
            </a:r>
            <a:endParaRPr lang="en-US" sz="500" dirty="0"/>
          </a:p>
        </p:txBody>
      </p:sp>
      <p:sp>
        <p:nvSpPr>
          <p:cNvPr id="262" name="Text 260"/>
          <p:cNvSpPr/>
          <p:nvPr/>
        </p:nvSpPr>
        <p:spPr>
          <a:xfrm>
            <a:off x="5847466" y="22595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SGC102.02.014</a:t>
            </a:r>
            <a:endParaRPr lang="en-US" sz="500" dirty="0"/>
          </a:p>
        </p:txBody>
      </p:sp>
      <p:sp>
        <p:nvSpPr>
          <p:cNvPr id="263" name="Shape 261"/>
          <p:cNvSpPr/>
          <p:nvPr/>
        </p:nvSpPr>
        <p:spPr>
          <a:xfrm>
            <a:off x="4545701" y="4425288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4595993" y="4475580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Text 263"/>
          <p:cNvSpPr/>
          <p:nvPr/>
        </p:nvSpPr>
        <p:spPr>
          <a:xfrm>
            <a:off x="4769729" y="43109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SBC102-01/038</a:t>
            </a:r>
            <a:endParaRPr lang="en-US" sz="650" dirty="0"/>
          </a:p>
        </p:txBody>
      </p:sp>
      <p:sp>
        <p:nvSpPr>
          <p:cNvPr id="266" name="Shape 264"/>
          <p:cNvSpPr/>
          <p:nvPr/>
        </p:nvSpPr>
        <p:spPr>
          <a:xfrm>
            <a:off x="4167886" y="4898259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4218178" y="49485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Text 266"/>
          <p:cNvSpPr/>
          <p:nvPr/>
        </p:nvSpPr>
        <p:spPr>
          <a:xfrm>
            <a:off x="4391914" y="47839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SBC102-01/039</a:t>
            </a:r>
            <a:endParaRPr lang="en-US" sz="650" dirty="0"/>
          </a:p>
        </p:txBody>
      </p:sp>
      <p:sp>
        <p:nvSpPr>
          <p:cNvPr id="269" name="Shape 267"/>
          <p:cNvSpPr/>
          <p:nvPr/>
        </p:nvSpPr>
        <p:spPr>
          <a:xfrm>
            <a:off x="4356592" y="4661572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4406884" y="4711864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Text 269"/>
          <p:cNvSpPr/>
          <p:nvPr/>
        </p:nvSpPr>
        <p:spPr>
          <a:xfrm>
            <a:off x="4580620" y="4547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SBC102-02/035</a:t>
            </a:r>
            <a:endParaRPr lang="en-US" sz="650" dirty="0"/>
          </a:p>
        </p:txBody>
      </p:sp>
      <p:sp>
        <p:nvSpPr>
          <p:cNvPr id="272" name="Shape 270"/>
          <p:cNvSpPr/>
          <p:nvPr/>
        </p:nvSpPr>
        <p:spPr>
          <a:xfrm>
            <a:off x="3980785" y="5133540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4031077" y="518383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Text 272"/>
          <p:cNvSpPr/>
          <p:nvPr/>
        </p:nvSpPr>
        <p:spPr>
          <a:xfrm>
            <a:off x="4204813" y="501924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SBC102-02/036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3791978" y="536691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3842270" y="541720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Text 275"/>
          <p:cNvSpPr/>
          <p:nvPr/>
        </p:nvSpPr>
        <p:spPr>
          <a:xfrm>
            <a:off x="4016006" y="525261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SBC102-01/040</a:t>
            </a:r>
            <a:endParaRPr lang="en-US" sz="650" dirty="0"/>
          </a:p>
        </p:txBody>
      </p:sp>
      <p:sp>
        <p:nvSpPr>
          <p:cNvPr id="278" name="Shape 276"/>
          <p:cNvSpPr/>
          <p:nvPr/>
        </p:nvSpPr>
        <p:spPr>
          <a:xfrm>
            <a:off x="3413762" y="583687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3464054" y="588716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Text 278"/>
          <p:cNvSpPr/>
          <p:nvPr/>
        </p:nvSpPr>
        <p:spPr>
          <a:xfrm>
            <a:off x="3637790" y="572257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SBC102-01/041</a:t>
            </a:r>
            <a:endParaRPr lang="en-US" sz="650" dirty="0"/>
          </a:p>
        </p:txBody>
      </p:sp>
      <p:sp>
        <p:nvSpPr>
          <p:cNvPr id="281" name="Shape 279"/>
          <p:cNvSpPr/>
          <p:nvPr/>
        </p:nvSpPr>
        <p:spPr>
          <a:xfrm>
            <a:off x="3602168" y="560159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3652460" y="565188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Text 281"/>
          <p:cNvSpPr/>
          <p:nvPr/>
        </p:nvSpPr>
        <p:spPr>
          <a:xfrm>
            <a:off x="3826196" y="548729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SBC102-02/037</a:t>
            </a:r>
            <a:endParaRPr lang="en-US" sz="650" dirty="0"/>
          </a:p>
        </p:txBody>
      </p:sp>
      <p:sp>
        <p:nvSpPr>
          <p:cNvPr id="284" name="Shape 282"/>
          <p:cNvSpPr/>
          <p:nvPr/>
        </p:nvSpPr>
        <p:spPr>
          <a:xfrm>
            <a:off x="3226160" y="607195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3276452" y="612224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Text 284"/>
          <p:cNvSpPr/>
          <p:nvPr/>
        </p:nvSpPr>
        <p:spPr>
          <a:xfrm>
            <a:off x="3450188" y="595765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SBC102-02/038</a:t>
            </a:r>
            <a:endParaRPr lang="en-US" sz="650" dirty="0"/>
          </a:p>
        </p:txBody>
      </p:sp>
      <p:sp>
        <p:nvSpPr>
          <p:cNvPr id="287" name="Shape 285"/>
          <p:cNvSpPr/>
          <p:nvPr/>
        </p:nvSpPr>
        <p:spPr>
          <a:xfrm>
            <a:off x="3922668" y="527998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3972960" y="53302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Text 287"/>
          <p:cNvSpPr/>
          <p:nvPr/>
        </p:nvSpPr>
        <p:spPr>
          <a:xfrm>
            <a:off x="4146696" y="51656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TCCECH-03/002</a:t>
            </a:r>
            <a:endParaRPr lang="en-US" sz="650" dirty="0"/>
          </a:p>
        </p:txBody>
      </p:sp>
      <p:sp>
        <p:nvSpPr>
          <p:cNvPr id="290" name="Shape 288"/>
          <p:cNvSpPr/>
          <p:nvPr/>
        </p:nvSpPr>
        <p:spPr>
          <a:xfrm>
            <a:off x="4510268" y="574874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4560560" y="579903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Text 290"/>
          <p:cNvSpPr/>
          <p:nvPr/>
        </p:nvSpPr>
        <p:spPr>
          <a:xfrm>
            <a:off x="4734296" y="563444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TCCECH-04/002</a:t>
            </a:r>
            <a:endParaRPr lang="en-US" sz="650" dirty="0"/>
          </a:p>
        </p:txBody>
      </p:sp>
      <p:sp>
        <p:nvSpPr>
          <p:cNvPr id="293" name="Shape 291"/>
          <p:cNvSpPr/>
          <p:nvPr/>
        </p:nvSpPr>
        <p:spPr>
          <a:xfrm>
            <a:off x="5098671" y="622261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5148963" y="627291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Text 293"/>
          <p:cNvSpPr/>
          <p:nvPr/>
        </p:nvSpPr>
        <p:spPr>
          <a:xfrm>
            <a:off x="5322699" y="610831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TCCECH-03/003</a:t>
            </a:r>
            <a:endParaRPr lang="en-US" sz="650" dirty="0"/>
          </a:p>
        </p:txBody>
      </p:sp>
      <p:sp>
        <p:nvSpPr>
          <p:cNvPr id="296" name="Shape 294"/>
          <p:cNvSpPr/>
          <p:nvPr/>
        </p:nvSpPr>
        <p:spPr>
          <a:xfrm>
            <a:off x="5683260" y="669508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5733552" y="674537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Text 296"/>
          <p:cNvSpPr/>
          <p:nvPr/>
        </p:nvSpPr>
        <p:spPr>
          <a:xfrm>
            <a:off x="5907288" y="658078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TCCECH-04/003</a:t>
            </a:r>
            <a:endParaRPr lang="en-US" sz="650" dirty="0"/>
          </a:p>
        </p:txBody>
      </p:sp>
      <p:sp>
        <p:nvSpPr>
          <p:cNvPr id="299" name="Shape 297"/>
          <p:cNvSpPr/>
          <p:nvPr/>
        </p:nvSpPr>
        <p:spPr>
          <a:xfrm>
            <a:off x="6510959" y="5567966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6561251" y="5618258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6734987" y="5453666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</a:t>
            </a:r>
            <a:endParaRPr lang="en-US" sz="650" dirty="0"/>
          </a:p>
        </p:txBody>
      </p:sp>
      <p:sp>
        <p:nvSpPr>
          <p:cNvPr id="302" name="Shape 300"/>
          <p:cNvSpPr/>
          <p:nvPr/>
        </p:nvSpPr>
        <p:spPr>
          <a:xfrm>
            <a:off x="5387252" y="4581071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5437544" y="4631363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Text 302"/>
          <p:cNvSpPr/>
          <p:nvPr/>
        </p:nvSpPr>
        <p:spPr>
          <a:xfrm>
            <a:off x="5611280" y="446677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RRM.670</a:t>
            </a:r>
            <a:endParaRPr lang="en-US" sz="650" dirty="0"/>
          </a:p>
        </p:txBody>
      </p:sp>
      <p:sp>
        <p:nvSpPr>
          <p:cNvPr id="305" name="Shape 303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Text 304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3 — 1003  ·  REV P07 (ISSUED)</a:t>
            </a:r>
            <a:endParaRPr lang="en-US" sz="1250" dirty="0"/>
          </a:p>
        </p:txBody>
      </p:sp>
      <p:sp>
        <p:nvSpPr>
          <p:cNvPr id="307" name="Text 305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(12 No. LIGHTS LISTED) — FIELD CONDITION GOVERNS (supersedes the earlier no-works revision)</a:t>
            </a:r>
            <a:endParaRPr lang="en-US" sz="800" dirty="0"/>
          </a:p>
        </p:txBody>
      </p:sp>
      <p:sp>
        <p:nvSpPr>
          <p:cNvPr id="308" name="Text 306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09" name="Shape 307"/>
          <p:cNvSpPr/>
          <p:nvPr/>
        </p:nvSpPr>
        <p:spPr>
          <a:xfrm>
            <a:off x="10104120" y="2057400"/>
            <a:ext cx="4709160" cy="180868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Text 308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1" name="Text 309"/>
          <p:cNvSpPr/>
          <p:nvPr/>
        </p:nvSpPr>
        <p:spPr>
          <a:xfrm>
            <a:off x="10241280" y="2386584"/>
            <a:ext cx="4434840" cy="14246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SHALLOW BASE AFFECTED — NO CORING; DUMMY PLATE + CABLE (SAWCUT): 4 No.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SBC102-01/038, 01/039, 02/035, 02/036 (EP7 STOP BAR)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(VIA DUCT): 8 No.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SBC102-01/040, 01/041, 02/037, 02/038, TCCECH-03/002, 04/002, 03/003, 04/003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12 No. — all 12 secondary-cable affected; 4 shallow-base affected (YES)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RRM.557 (0.07 m — treat as within works) &amp; RRM.670: REMOVE / PROTECT / RE-FIX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DUMMY PLATES: 4 No. — NO CORING HERE; BASES RETAINED &amp; BLANKED (BLACK SQUARE)</a:t>
            </a:r>
          </a:p>
        </p:txBody>
      </p:sp>
      <p:sp>
        <p:nvSpPr>
          <p:cNvPr id="312" name="Shape 310"/>
          <p:cNvSpPr/>
          <p:nvPr/>
        </p:nvSpPr>
        <p:spPr>
          <a:xfrm>
            <a:off x="10104120" y="397581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Text 311"/>
          <p:cNvSpPr/>
          <p:nvPr/>
        </p:nvSpPr>
        <p:spPr>
          <a:xfrm>
            <a:off x="10241280" y="404896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4" name="Text 312"/>
          <p:cNvSpPr/>
          <p:nvPr/>
        </p:nvSpPr>
        <p:spPr>
          <a:xfrm>
            <a:off x="10241280" y="430499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(1st table) — outer ring from the Secondary-cable / Shallow-base columns, inner disc from Duct / Sawcut. Assets not listed on the field sheet are shown grey with no action assumed.</a:t>
            </a:r>
          </a:p>
        </p:txBody>
      </p:sp>
      <p:sp>
        <p:nvSpPr>
          <p:cNvPr id="315" name="Shape 313"/>
          <p:cNvSpPr/>
          <p:nvPr/>
        </p:nvSpPr>
        <p:spPr>
          <a:xfrm>
            <a:off x="10104120" y="6353251"/>
            <a:ext cx="4709160" cy="314553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Text 314"/>
          <p:cNvSpPr/>
          <p:nvPr/>
        </p:nvSpPr>
        <p:spPr>
          <a:xfrm>
            <a:off x="10241280" y="642640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17" name="Shape 315"/>
          <p:cNvSpPr/>
          <p:nvPr/>
        </p:nvSpPr>
        <p:spPr>
          <a:xfrm>
            <a:off x="10305288" y="6751015"/>
            <a:ext cx="192024" cy="192024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10351008" y="6796735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Text 317"/>
          <p:cNvSpPr/>
          <p:nvPr/>
        </p:nvSpPr>
        <p:spPr>
          <a:xfrm>
            <a:off x="10616184" y="673729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RETAINED + DUMMY PLATE + NEW CABLE (SAWCUT) — outer amber / inner orange</a:t>
            </a:r>
            <a:endParaRPr lang="en-US" sz="740" dirty="0"/>
          </a:p>
        </p:txBody>
      </p:sp>
      <p:sp>
        <p:nvSpPr>
          <p:cNvPr id="320" name="Shape 318"/>
          <p:cNvSpPr/>
          <p:nvPr/>
        </p:nvSpPr>
        <p:spPr>
          <a:xfrm>
            <a:off x="10305288" y="7025335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10351008" y="707105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Text 320"/>
          <p:cNvSpPr/>
          <p:nvPr/>
        </p:nvSpPr>
        <p:spPr>
          <a:xfrm>
            <a:off x="10616184" y="701161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23" name="Shape 321"/>
          <p:cNvSpPr/>
          <p:nvPr/>
        </p:nvSpPr>
        <p:spPr>
          <a:xfrm>
            <a:off x="10305288" y="7299655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10351008" y="7345375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Text 323"/>
          <p:cNvSpPr/>
          <p:nvPr/>
        </p:nvSpPr>
        <p:spPr>
          <a:xfrm>
            <a:off x="10616184" y="728593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326" name="Shape 324"/>
          <p:cNvSpPr/>
          <p:nvPr/>
        </p:nvSpPr>
        <p:spPr>
          <a:xfrm>
            <a:off x="10351008" y="7624267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Text 325"/>
          <p:cNvSpPr/>
          <p:nvPr/>
        </p:nvSpPr>
        <p:spPr>
          <a:xfrm>
            <a:off x="10616184" y="756025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28" name="Shape 326"/>
          <p:cNvSpPr/>
          <p:nvPr/>
        </p:nvSpPr>
        <p:spPr>
          <a:xfrm>
            <a:off x="10268712" y="7944307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10616184" y="783457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268712" y="8218627"/>
            <a:ext cx="274320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Text 329"/>
          <p:cNvSpPr/>
          <p:nvPr/>
        </p:nvSpPr>
        <p:spPr>
          <a:xfrm>
            <a:off x="10616184" y="810889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(GOVERNING)</a:t>
            </a:r>
            <a:endParaRPr lang="en-US" sz="740" dirty="0"/>
          </a:p>
        </p:txBody>
      </p:sp>
      <p:sp>
        <p:nvSpPr>
          <p:cNvPr id="332" name="Shape 330"/>
          <p:cNvSpPr/>
          <p:nvPr/>
        </p:nvSpPr>
        <p:spPr>
          <a:xfrm>
            <a:off x="10268712" y="8492947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3" name="Text 331"/>
          <p:cNvSpPr/>
          <p:nvPr/>
        </p:nvSpPr>
        <p:spPr>
          <a:xfrm>
            <a:off x="10616184" y="838321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34" name="Shape 332"/>
          <p:cNvSpPr/>
          <p:nvPr/>
        </p:nvSpPr>
        <p:spPr>
          <a:xfrm>
            <a:off x="10268712" y="8767267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Text 333"/>
          <p:cNvSpPr/>
          <p:nvPr/>
        </p:nvSpPr>
        <p:spPr>
          <a:xfrm>
            <a:off x="10616184" y="865753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36" name="Shape 334"/>
          <p:cNvSpPr/>
          <p:nvPr/>
        </p:nvSpPr>
        <p:spPr>
          <a:xfrm>
            <a:off x="10268712" y="9041587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Text 335"/>
          <p:cNvSpPr/>
          <p:nvPr/>
        </p:nvSpPr>
        <p:spPr>
          <a:xfrm>
            <a:off x="10616184" y="893185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339" name="Grey Highlight">
            <a:extLst>
              <a:ext uri="{FF2B5EF4-FFF2-40B4-BE49-F238E27FC236}">
                <a16:creationId xmlns:a16="http://schemas.microsoft.com/office/drawing/2014/main" id="{940090A5-E062-A01F-B9A1-B465A43CBD5C}"/>
              </a:ext>
            </a:extLst>
          </p:cNvPr>
          <p:cNvSpPr/>
          <p:nvPr/>
        </p:nvSpPr>
        <p:spPr>
          <a:xfrm rot="18714653">
            <a:off x="5134381" y="4448720"/>
            <a:ext cx="735481" cy="2651322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0" name="DUMMY PLATE MARKER"/>
          <p:cNvSpPr/>
          <p:nvPr/>
        </p:nvSpPr>
        <p:spPr>
          <a:xfrm>
            <a:off x="4500857" y="4380444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1" name="DUMMY PLATE MARKER"/>
          <p:cNvSpPr/>
          <p:nvPr/>
        </p:nvSpPr>
        <p:spPr>
          <a:xfrm>
            <a:off x="4123042" y="4853415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2" name="DUMMY PLATE MARKER"/>
          <p:cNvSpPr/>
          <p:nvPr/>
        </p:nvSpPr>
        <p:spPr>
          <a:xfrm>
            <a:off x="4311748" y="4616728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3" name="DUMMY PLATE MARKER"/>
          <p:cNvSpPr/>
          <p:nvPr/>
        </p:nvSpPr>
        <p:spPr>
          <a:xfrm>
            <a:off x="3935941" y="5088696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4" name="DUMMY PLATE MARKER"/>
          <p:cNvSpPr/>
          <p:nvPr/>
        </p:nvSpPr>
        <p:spPr>
          <a:xfrm>
            <a:off x="10305288" y="9219895"/>
            <a:ext cx="192024" cy="192024"/>
          </a:xfrm>
          <a:prstGeom prst="rect">
            <a:avLst/>
          </a:prstGeom>
          <a:noFill/>
          <a:ln w="15875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5" name="Text 335"/>
          <p:cNvSpPr/>
          <p:nvPr/>
        </p:nvSpPr>
        <p:spPr>
          <a:xfrm>
            <a:off x="10616184" y="9206179"/>
            <a:ext cx="40507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FITTING LIFTED, OPENING PROTECTED DURING MILLING — black square</a:t>
            </a:r>
            <a:endParaRPr lang="en-US" sz="740" dirty="0"/>
          </a:p>
        </p:txBody>
      </p:sp>
      <p:pic>
        <p:nvPicPr>
          <p:cNvPr id="346" name="Picture 34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851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39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CONSOLIDATED FIELD-GOVERNED SCOPE — TWY E (E4–E6) 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457200" y="960120"/>
          <a:ext cx="14173200" cy="878738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Remarks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36495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TCC103-11/126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45766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095166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(7.8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2754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9AA0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AFFECTED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"/>
                  </a:ext>
                </a:extLst>
              </a:tr>
            </a:tbl>
          </a:graphicData>
        </a:graphic>
      </p:graphicFrame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865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64C71C-4823-4E6E-A2E5-D30CB068CC73}"/>
              </a:ext>
            </a:extLst>
          </p:cNvPr>
          <p:cNvSpPr txBox="1"/>
          <p:nvPr/>
        </p:nvSpPr>
        <p:spPr>
          <a:xfrm>
            <a:off x="635000" y="558800"/>
            <a:ext cx="1220724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it-IT" sz="3000" b="1">
                <a:solidFill>
                  <a:srgbClr val="1E2761"/>
                </a:solidFill>
                <a:latin typeface="Arial"/>
                <a:cs typeface="Arial"/>
              </a:rPr>
              <a:t>CONSOLIDATED SCOPE TOTALS — TWY E (E4–E6)</a:t>
            </a:r>
            <a:endParaRPr lang="en-US" sz="3000" b="1">
              <a:solidFill>
                <a:srgbClr val="1E2761"/>
              </a:solidFill>
              <a:latin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1600200"/>
            <a:ext cx="13843000" cy="38100"/>
          </a:xfrm>
          <a:prstGeom prst="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1,887.3 m²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Total demarcation area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D3515D-A408-4D20-964B-8B7FFA89F85C}"/>
              </a:ext>
            </a:extLst>
          </p:cNvPr>
          <p:cNvSpPr/>
          <p:nvPr/>
        </p:nvSpPr>
        <p:spPr>
          <a:xfrm>
            <a:off x="297688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98FDE-D149-4DAF-933A-07D34D0AE3ED}"/>
              </a:ext>
            </a:extLst>
          </p:cNvPr>
          <p:cNvSpPr txBox="1"/>
          <p:nvPr/>
        </p:nvSpPr>
        <p:spPr>
          <a:xfrm>
            <a:off x="310388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3D804C-C201-4129-9F55-6E763FB12022}"/>
              </a:ext>
            </a:extLst>
          </p:cNvPr>
          <p:cNvSpPr txBox="1"/>
          <p:nvPr/>
        </p:nvSpPr>
        <p:spPr>
          <a:xfrm>
            <a:off x="310388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Core-outs (LOC-01 only)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7EEF5BC-7BBF-4079-A614-E159C57A8A27}"/>
              </a:ext>
            </a:extLst>
          </p:cNvPr>
          <p:cNvSpPr/>
          <p:nvPr/>
        </p:nvSpPr>
        <p:spPr>
          <a:xfrm>
            <a:off x="531876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D2AE9-AC18-4930-9FCB-6D778E945BD9}"/>
              </a:ext>
            </a:extLst>
          </p:cNvPr>
          <p:cNvSpPr txBox="1"/>
          <p:nvPr/>
        </p:nvSpPr>
        <p:spPr>
          <a:xfrm>
            <a:off x="544576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B64035-9F2C-44E4-AE5D-49A236C43BE9}"/>
              </a:ext>
            </a:extLst>
          </p:cNvPr>
          <p:cNvSpPr txBox="1"/>
          <p:nvPr/>
        </p:nvSpPr>
        <p:spPr>
          <a:xfrm>
            <a:off x="544576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Dummy plates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4 (LOC-03) + 4 TCC103 unconfirmed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27571B-E830-45F3-A0A1-D82B30658066}"/>
              </a:ext>
            </a:extLst>
          </p:cNvPr>
          <p:cNvSpPr/>
          <p:nvPr/>
        </p:nvSpPr>
        <p:spPr>
          <a:xfrm>
            <a:off x="766064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7D6579-DFCC-4E05-8FE7-3296DEEE0618}"/>
              </a:ext>
            </a:extLst>
          </p:cNvPr>
          <p:cNvSpPr txBox="1"/>
          <p:nvPr/>
        </p:nvSpPr>
        <p:spPr>
          <a:xfrm>
            <a:off x="778764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31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BCADC-822A-41C4-8151-C9D1320592BA}"/>
              </a:ext>
            </a:extLst>
          </p:cNvPr>
          <p:cNvSpPr txBox="1"/>
          <p:nvPr/>
        </p:nvSpPr>
        <p:spPr>
          <a:xfrm>
            <a:off x="778764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Secondary cable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per field sheets; +4 TCC103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4BDB0D6-A966-4D06-9C68-50523166BE06}"/>
              </a:ext>
            </a:extLst>
          </p:cNvPr>
          <p:cNvSpPr/>
          <p:nvPr/>
        </p:nvSpPr>
        <p:spPr>
          <a:xfrm>
            <a:off x="1000252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0B2F54-E0D0-44E6-B1ED-01D235974062}"/>
              </a:ext>
            </a:extLst>
          </p:cNvPr>
          <p:cNvSpPr txBox="1"/>
          <p:nvPr/>
        </p:nvSpPr>
        <p:spPr>
          <a:xfrm>
            <a:off x="1012952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7B36F8-47FD-4FB1-8C1A-E83774CF9C05}"/>
              </a:ext>
            </a:extLst>
          </p:cNvPr>
          <p:cNvSpPr txBox="1"/>
          <p:nvPr/>
        </p:nvSpPr>
        <p:spPr>
          <a:xfrm>
            <a:off x="1012952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RRMs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D0AEED-7842-4384-BC4A-930C3D293E0D}"/>
              </a:ext>
            </a:extLst>
          </p:cNvPr>
          <p:cNvSpPr/>
          <p:nvPr/>
        </p:nvSpPr>
        <p:spPr>
          <a:xfrm>
            <a:off x="123444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0A9873-3F4A-4184-A2BF-F060E490D88F}"/>
              </a:ext>
            </a:extLst>
          </p:cNvPr>
          <p:cNvSpPr txBox="1"/>
          <p:nvPr/>
        </p:nvSpPr>
        <p:spPr>
          <a:xfrm>
            <a:off x="124714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6209E3-F1B1-48E9-A1FB-E200B70B60F9}"/>
              </a:ext>
            </a:extLst>
          </p:cNvPr>
          <p:cNvSpPr txBox="1"/>
          <p:nvPr/>
        </p:nvSpPr>
        <p:spPr>
          <a:xfrm>
            <a:off x="124714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Field-verified not affected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8377AA-4956-4270-AB99-B49F946217AE}"/>
              </a:ext>
            </a:extLst>
          </p:cNvPr>
          <p:cNvSpPr txBox="1"/>
          <p:nvPr/>
        </p:nvSpPr>
        <p:spPr>
          <a:xfrm>
            <a:off x="6350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dirty="0">
                <a:solidFill>
                  <a:srgbClr val="1E2761"/>
                </a:solidFill>
                <a:latin typeface="Arial"/>
                <a:cs typeface="Arial"/>
              </a:rPr>
              <a:t>NOT ON FIELD SHEET — TCC103 (4 No.)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9B95B9-12BA-4BEC-9CC3-D5A93E08CE07}"/>
              </a:ext>
            </a:extLst>
          </p:cNvPr>
          <p:cNvSpPr txBox="1"/>
          <p:nvPr/>
        </p:nvSpPr>
        <p:spPr>
          <a:xfrm>
            <a:off x="76581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E2761"/>
                </a:solidFill>
                <a:latin typeface="Arial"/>
                <a:cs typeface="Arial"/>
              </a:rPr>
              <a:t>DEMARCATION AREA BY LOCATION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76581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 (sheet 1001)  —  572.6 m²
LOC-02 (sheet 1002)  —  700.3 m²
LOC-03 (sheet 1003)  —  614.4 m²
Total  —  1,887.3 m²</a:t>
            </a:r>
          </a:p>
        </p:txBody>
      </p:sp>
      <p:sp>
        <p:nvSpPr>
          <p:cNvPr id="40" name="Footer Rule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9347200"/>
            <a:ext cx="13843000" cy="12700"/>
          </a:xfrm>
          <a:prstGeom prst="rect">
            <a:avLst/>
          </a:prstGeom>
          <a:solidFill>
            <a:srgbClr val="D5DB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  <p:sp>
        <p:nvSpPr>
          <p:cNvPr id="101" name="New 101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2" name="New 102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11</a:t>
            </a:r>
          </a:p>
        </p:txBody>
      </p:sp>
      <p:sp>
        <p:nvSpPr>
          <p:cNvPr id="103" name="New 103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sz="1400" b="1">
                <a:solidFill>
                  <a:srgbClr val="1F2937"/>
                </a:solidFill>
                <a:latin typeface="Arial"/>
              </a:rPr>
              <a:t>Saw-cut route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LOC-01: 7  •  LOC-03: 4  •  +4 TCC103 not on field sheet  •  13.8 m of secondary cable inside the cut</a:t>
            </a:r>
          </a:p>
        </p:txBody>
      </p:sp>
      <p:sp>
        <p:nvSpPr>
          <p:cNvPr id="104" name="New 10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76581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New 10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7851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106" name="New 10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7851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Duct route runs (secondary cable)</a:t>
            </a:r>
          </a:p>
          <a:p>
            <a:pPr algn="l"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LOC-01: 7  •  LOC-02: 5  •  LOC-03: 8  •  existing duct, pulled manhole-to-light</a:t>
            </a:r>
          </a:p>
        </p:txBody>
      </p:sp>
      <p:sp>
        <p:nvSpPr>
          <p:cNvPr id="110" name="Provisional List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6350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  <a:buNone/>
            </a:pPr>
            <a:r>
              <a:rPr sz="1400">
                <a:solidFill>
                  <a:srgbClr val="1F2937"/>
                </a:solidFill>
                <a:latin typeface="Arial"/>
              </a:rPr>
              <a:t>TCC103-11/021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TCC103-11/126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TCC103-12/022  —  not listed; cable may cross cut (7.8 m) — confirm</a:t>
            </a:r>
          </a:p>
        </p:txBody>
      </p:sp>
    </p:spTree>
    <p:extLst>
      <p:ext uri="{BB962C8B-B14F-4D97-AF65-F5344CB8AC3E}">
        <p14:creationId xmlns:p14="http://schemas.microsoft.com/office/powerpoint/2010/main" val="3334523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7B12BC7-8DD8-4081-AE81-DB10199A045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6e185103-5b1b-48c7-a2d0-0b4f1fed373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2661</Words>
  <Application>Microsoft Office PowerPoint</Application>
  <PresentationFormat>Custom</PresentationFormat>
  <Paragraphs>473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Mohammed Faheem</cp:lastModifiedBy>
  <cp:revision>5</cp:revision>
  <dcterms:created xsi:type="dcterms:W3CDTF">2026-07-28T13:06:18Z</dcterms:created>
  <dcterms:modified xsi:type="dcterms:W3CDTF">2026-07-29T08:53:30Z</dcterms:modified>
</cp:coreProperties>
</file>